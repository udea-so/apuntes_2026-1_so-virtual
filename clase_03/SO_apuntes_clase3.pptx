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61" r:id="rId4"/>
    <p:sldId id="306" r:id="rId5"/>
    <p:sldId id="305" r:id="rId6"/>
    <p:sldId id="307" r:id="rId7"/>
    <p:sldId id="308" r:id="rId8"/>
    <p:sldId id="309" r:id="rId9"/>
    <p:sldId id="312" r:id="rId10"/>
    <p:sldId id="311" r:id="rId11"/>
    <p:sldId id="310" r:id="rId12"/>
    <p:sldId id="313" r:id="rId13"/>
    <p:sldId id="286" r:id="rId14"/>
    <p:sldId id="287" r:id="rId15"/>
    <p:sldId id="314" r:id="rId16"/>
    <p:sldId id="315" r:id="rId17"/>
    <p:sldId id="317" r:id="rId18"/>
    <p:sldId id="316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CB702-8691-46C7-8F45-ADD5335D54F9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6D2D5-9B13-49F8-9469-365765D818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775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043d1bb18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043d1bb18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156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5429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6501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639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5704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6736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80793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66148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8400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926a7ab31e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g926a7ab31e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0060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5294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064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562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830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4217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262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125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2937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737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515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647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390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7924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9216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44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6B0E4-4CCB-48D1-A5C1-115A94BC8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289684-AD7E-4316-8A8E-534359C30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73C3BE-968B-4C97-8EFA-749852F3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5A52B-CFD8-49AC-86DC-EC141742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7C14C-7628-48A6-A904-63CBC1B5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2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87F80-E586-408F-94C9-C6B5E1F7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DEFC0-9632-4EFF-A664-1183042A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A6805-EB42-4FB1-9608-FF6A31DE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D60AFE-FFF4-4965-BB6C-FE63F0EF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0D805F-7C01-40E7-A9B2-2BCC5D25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494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F25AE-70AA-4FB6-A27D-8654ECDB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200CAB-70CE-4497-8202-607CEBC8A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A1ADA1-4662-48DC-8C61-4C65CD1F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BF3722-D966-4C62-A47D-D951FFFD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24B6FC-DC7B-48BC-AD71-9451282C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2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B2C8F-7ECE-497C-B4AE-A2E1C472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711547-65B8-4370-BECA-EBF686205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08BD90-D73C-44DA-8C09-5CE388C91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A94904-A258-473C-8C3D-E52669F3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6C4AD2-57AE-4A7F-BB67-065D1631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C10A5B-E5EC-41B2-A474-C6D6DAB7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92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A493F-71B4-49D3-B420-A853364D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5AE0E9-D091-4187-9BF3-81BC58FE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0F8000-426E-4E86-B194-BB0B8737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5C6653-BF91-428A-AA4D-658D89499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B1BC6E3-A2B6-4424-B6ED-4A54F3BB3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C58AA-1774-4E23-8DE7-69668026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769982-E056-4764-8A15-90693F61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A4881F-11C8-4B11-88A5-8E7DD6D7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771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DEA83-A8BB-45AF-BA73-03966D23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131FDE-2624-4805-9F2B-97C43D05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D0F4AD-46AC-4150-AFEB-EAC6E4A1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FCD112-01B1-4B8F-A661-7FB4475B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81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510EFDB-CF54-4088-876F-9C29BC95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237CD1-23CE-4491-AD31-40A37481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4F5BC6-BFDD-426C-AA7A-31668900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713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08855-742D-47B9-BA65-CD0DBF4A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A72C3-9E7A-49EC-AAF7-5AFE2273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09F4EB-ED15-4EE1-B8BE-C91B4B5EE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7B17BF-6D8D-4B8D-8D88-394807D8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17B5C-1147-4B85-A66B-954A390F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09119B-725F-43BF-8F8D-539E5580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100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5A0E0-B3EE-4E08-AC5B-349F25F0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FA9914-C878-45DB-9A39-B6A6495F6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5EB442-6957-408F-9774-2A573886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844344-C805-42B9-8903-CD39CE10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CA5327-205D-4B56-9181-05517379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7AB0DF-D923-46D0-A74E-952BAC92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1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F7DA8-8673-4445-B06D-507FCABD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9C2AF5-B9B3-4862-8839-1C2B92327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CA92C-4FF7-4689-9C0B-AD302E22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1D513D-0D39-4672-BBC1-79A1B1E3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D47F4-076C-480E-A020-C3F2EB61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188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2D661D-32B9-4CFF-BDFF-275235F92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C3FE65-2ABE-4D24-B596-9A697E927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74561-325E-4604-AE23-8840D165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5F3D1-3F61-43F9-8C0C-16F368CD2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A20AE-2A52-446D-91D2-0FD1DB8C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11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4140AE-AF72-4A07-A9D9-E0AEAFBD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17B839-F54D-47E7-930B-5B1A9EE6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E411D-9D4D-40ED-9E67-511193494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C41C-8DAC-4880-9EBF-4A80A4FB989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2A6400-F2A1-4716-919F-F5A3FD099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82287-5880-40B7-BE7B-2DE282045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50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tutor.com/render.html#code=%23include%20%3Cstdio.h%3E%0A%0Aint%20x%3B%0Aint%20y%20%3D%2015%3B%0A%0Aint%20main%28%29%20%7B%0A%20%20int%20*values%3B%0A%20%20int%20i%3B%0A%20%20%0A%20%20values%20%3D%20%28int%20*%29malloc%28sizeof%28int%29*5%29%3B%0A%20%20%0A%20%20for%28i%20%3D%200%3B%20i%20%3C%205%3B%20i%2B%2B%29%20%7B%0A%20%20%20%20values%5Bi%5D%20%3D%20i%3B%20%20%20%20%0A%20%20%7D%0A%20%20%0A%20%20return%200%3B%0A%7D&amp;cumulative=false&amp;curInstr=0&amp;heapPrimitives=nevernest&amp;mode=display&amp;origin=opt-frontend.js&amp;py=c_gcc9.3.0&amp;rawInputLstJSON=%5B%5D&amp;textReferences=false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hyperlink" Target="https://github.com/mit-pdos/xv6-public/blob/master/proc.h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hyperlink" Target="https://github.com/mit-pdos/xv6-public/blob/master/proc.h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proc.h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proc.h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85FF3-2D97-4FD2-BC3C-E37402062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Apuntes clase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5AAC6F-29B1-4561-BED7-077A25CE9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3200" dirty="0"/>
              <a:t>Sistemas Operativos</a:t>
            </a:r>
          </a:p>
          <a:p>
            <a:r>
              <a:rPr lang="es-CO" dirty="0"/>
              <a:t>17/02/2026</a:t>
            </a:r>
          </a:p>
        </p:txBody>
      </p:sp>
    </p:spTree>
    <p:extLst>
      <p:ext uri="{BB962C8B-B14F-4D97-AF65-F5344CB8AC3E}">
        <p14:creationId xmlns:p14="http://schemas.microsoft.com/office/powerpoint/2010/main" val="34925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Agenda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464126" y="999450"/>
            <a:ext cx="11173691" cy="34062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457200">
              <a:buSzPts val="2700"/>
            </a:pPr>
            <a:r>
              <a:rPr lang="es-ES" sz="2700" dirty="0"/>
              <a:t>Repaso clase anterior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Contexto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¿Que es un proceso?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¿Como se crea un proceso?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Elementos de los sistemas operativos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API de procesos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Estados de un proceso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Estructuras de datos de sistemas operativos</a:t>
            </a:r>
            <a:endParaRPr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1938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Instruction fecth</a:t>
            </a:r>
            <a:endParaRPr dirty="0"/>
          </a:p>
        </p:txBody>
      </p:sp>
      <p:sp>
        <p:nvSpPr>
          <p:cNvPr id="182" name="Google Shape;182;p21"/>
          <p:cNvSpPr/>
          <p:nvPr/>
        </p:nvSpPr>
        <p:spPr>
          <a:xfrm>
            <a:off x="3084075" y="1437774"/>
            <a:ext cx="1123200" cy="1063259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862675" y="2849271"/>
            <a:ext cx="1568700" cy="3585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2865525" y="3538371"/>
            <a:ext cx="1568700" cy="3585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Decode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865525" y="4227471"/>
            <a:ext cx="1568700" cy="3585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693925" y="4916571"/>
            <a:ext cx="1911900" cy="523800"/>
          </a:xfrm>
          <a:prstGeom prst="diamond">
            <a:avLst/>
          </a:prstGeom>
          <a:solidFill>
            <a:srgbClr val="F9CB9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095775" y="5700604"/>
            <a:ext cx="1080900" cy="1073187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8" name="Google Shape;188;p21"/>
          <p:cNvCxnSpPr>
            <a:cxnSpLocks/>
            <a:stCxn id="182" idx="4"/>
            <a:endCxn id="183" idx="0"/>
          </p:cNvCxnSpPr>
          <p:nvPr/>
        </p:nvCxnSpPr>
        <p:spPr>
          <a:xfrm>
            <a:off x="3645675" y="2501033"/>
            <a:ext cx="1350" cy="34823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1"/>
          <p:cNvCxnSpPr>
            <a:stCxn id="183" idx="2"/>
            <a:endCxn id="184" idx="0"/>
          </p:cNvCxnSpPr>
          <p:nvPr/>
        </p:nvCxnSpPr>
        <p:spPr>
          <a:xfrm>
            <a:off x="3647025" y="3207771"/>
            <a:ext cx="3000" cy="33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21"/>
          <p:cNvCxnSpPr>
            <a:stCxn id="184" idx="2"/>
            <a:endCxn id="185" idx="0"/>
          </p:cNvCxnSpPr>
          <p:nvPr/>
        </p:nvCxnSpPr>
        <p:spPr>
          <a:xfrm>
            <a:off x="3649875" y="3896871"/>
            <a:ext cx="0" cy="33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21"/>
          <p:cNvCxnSpPr>
            <a:stCxn id="185" idx="2"/>
            <a:endCxn id="186" idx="0"/>
          </p:cNvCxnSpPr>
          <p:nvPr/>
        </p:nvCxnSpPr>
        <p:spPr>
          <a:xfrm>
            <a:off x="3649875" y="4585971"/>
            <a:ext cx="0" cy="33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1"/>
          <p:cNvCxnSpPr>
            <a:cxnSpLocks/>
            <a:stCxn id="186" idx="2"/>
            <a:endCxn id="187" idx="0"/>
          </p:cNvCxnSpPr>
          <p:nvPr/>
        </p:nvCxnSpPr>
        <p:spPr>
          <a:xfrm flipH="1">
            <a:off x="3636225" y="5440371"/>
            <a:ext cx="13650" cy="2602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1"/>
          <p:cNvCxnSpPr/>
          <p:nvPr/>
        </p:nvCxnSpPr>
        <p:spPr>
          <a:xfrm rot="-5400000" flipH="1">
            <a:off x="1021125" y="3505671"/>
            <a:ext cx="2535000" cy="810600"/>
          </a:xfrm>
          <a:prstGeom prst="bentConnector3">
            <a:avLst>
              <a:gd name="adj1" fmla="val 9995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1"/>
          <p:cNvCxnSpPr/>
          <p:nvPr/>
        </p:nvCxnSpPr>
        <p:spPr>
          <a:xfrm>
            <a:off x="1864425" y="2643621"/>
            <a:ext cx="177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1"/>
          <p:cNvSpPr txBox="1"/>
          <p:nvPr/>
        </p:nvSpPr>
        <p:spPr>
          <a:xfrm>
            <a:off x="3763709" y="5390946"/>
            <a:ext cx="47951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027325" y="4885371"/>
            <a:ext cx="6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E6F3BCA-8953-4BB6-B023-06A39845F5FC}"/>
              </a:ext>
            </a:extLst>
          </p:cNvPr>
          <p:cNvSpPr txBox="1"/>
          <p:nvPr/>
        </p:nvSpPr>
        <p:spPr>
          <a:xfrm>
            <a:off x="5570047" y="1212639"/>
            <a:ext cx="262060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.data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var_x</a:t>
            </a:r>
            <a:r>
              <a:rPr lang="es-CO" sz="1400" dirty="0">
                <a:latin typeface="Consolas" panose="020B0609020204030204" pitchFamily="49" charset="0"/>
              </a:rPr>
              <a:t>: .</a:t>
            </a:r>
            <a:r>
              <a:rPr lang="es-CO" sz="1400" dirty="0" err="1">
                <a:latin typeface="Consolas" panose="020B0609020204030204" pitchFamily="49" charset="0"/>
              </a:rPr>
              <a:t>word</a:t>
            </a:r>
            <a:r>
              <a:rPr lang="es-CO" sz="1400" dirty="0">
                <a:latin typeface="Consolas" panose="020B0609020204030204" pitchFamily="49" charset="0"/>
              </a:rPr>
              <a:t> 30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.</a:t>
            </a:r>
            <a:r>
              <a:rPr lang="es-CO" sz="1400" dirty="0" err="1">
                <a:latin typeface="Consolas" panose="020B0609020204030204" pitchFamily="49" charset="0"/>
              </a:rPr>
              <a:t>text</a:t>
            </a:r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 err="1">
                <a:latin typeface="Consolas" panose="020B0609020204030204" pitchFamily="49" charset="0"/>
              </a:rPr>
              <a:t>main</a:t>
            </a:r>
            <a:r>
              <a:rPr lang="es-CO" sz="14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la $t1, </a:t>
            </a:r>
            <a:r>
              <a:rPr lang="es-CO" sz="1400" dirty="0" err="1">
                <a:latin typeface="Consolas" panose="020B0609020204030204" pitchFamily="49" charset="0"/>
              </a:rPr>
              <a:t>var_x</a:t>
            </a:r>
            <a:r>
              <a:rPr lang="es-CO" sz="1400" dirty="0">
                <a:latin typeface="Consolas" panose="020B0609020204030204" pitchFamily="49" charset="0"/>
              </a:rPr>
              <a:t>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lw</a:t>
            </a:r>
            <a:r>
              <a:rPr lang="es-CO" sz="1400" dirty="0">
                <a:latin typeface="Consolas" panose="020B0609020204030204" pitchFamily="49" charset="0"/>
              </a:rPr>
              <a:t> $t0, 0($t1)    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addi</a:t>
            </a:r>
            <a:r>
              <a:rPr lang="es-CO" sz="1400" dirty="0">
                <a:latin typeface="Consolas" panose="020B0609020204030204" pitchFamily="49" charset="0"/>
              </a:rPr>
              <a:t> $t0, $t0, 1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sw</a:t>
            </a:r>
            <a:r>
              <a:rPr lang="es-CO" sz="1400" dirty="0">
                <a:latin typeface="Consolas" panose="020B0609020204030204" pitchFamily="49" charset="0"/>
              </a:rPr>
              <a:t> $t0, 0($t1) </a:t>
            </a:r>
          </a:p>
        </p:txBody>
      </p:sp>
      <p:pic>
        <p:nvPicPr>
          <p:cNvPr id="48" name="Google Shape;225;p23">
            <a:extLst>
              <a:ext uri="{FF2B5EF4-FFF2-40B4-BE49-F238E27FC236}">
                <a16:creationId xmlns:a16="http://schemas.microsoft.com/office/drawing/2014/main" id="{E525A3FF-FFE5-4399-BD5C-6A50F32C45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325" y="1572602"/>
            <a:ext cx="914963" cy="9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Contraste</a:t>
            </a:r>
            <a:endParaRPr dirty="0"/>
          </a:p>
        </p:txBody>
      </p:sp>
      <p:pic>
        <p:nvPicPr>
          <p:cNvPr id="11" name="Google Shape;330;p29">
            <a:extLst>
              <a:ext uri="{FF2B5EF4-FFF2-40B4-BE49-F238E27FC236}">
                <a16:creationId xmlns:a16="http://schemas.microsoft.com/office/drawing/2014/main" id="{984F2F3F-AD09-4946-BAD0-3F8271201B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084" y="1769565"/>
            <a:ext cx="4105551" cy="192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AC62D7-7CD9-4FBD-8648-30A719F0F196}"/>
              </a:ext>
            </a:extLst>
          </p:cNvPr>
          <p:cNvSpPr txBox="1"/>
          <p:nvPr/>
        </p:nvSpPr>
        <p:spPr>
          <a:xfrm>
            <a:off x="6982691" y="1228169"/>
            <a:ext cx="363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/>
              <a:t>Con sistema Operativo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29DAB69-D538-4B5D-8E84-4D9E425B0BC3}"/>
              </a:ext>
            </a:extLst>
          </p:cNvPr>
          <p:cNvSpPr txBox="1"/>
          <p:nvPr/>
        </p:nvSpPr>
        <p:spPr>
          <a:xfrm>
            <a:off x="1741313" y="1192067"/>
            <a:ext cx="3313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/>
              <a:t>Sin sistema Operativo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83FCD2-7407-498A-924C-ECC33323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258" y="1999864"/>
            <a:ext cx="2631823" cy="2584450"/>
          </a:xfrm>
          <a:prstGeom prst="rect">
            <a:avLst/>
          </a:prstGeom>
        </p:spPr>
      </p:pic>
      <p:pic>
        <p:nvPicPr>
          <p:cNvPr id="22" name="Google Shape;347;p30">
            <a:extLst>
              <a:ext uri="{FF2B5EF4-FFF2-40B4-BE49-F238E27FC236}">
                <a16:creationId xmlns:a16="http://schemas.microsoft.com/office/drawing/2014/main" id="{F885AD9E-6A49-46F4-AC16-4AB2CA4EB8D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76662" y="5629831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348;p30">
            <a:extLst>
              <a:ext uri="{FF2B5EF4-FFF2-40B4-BE49-F238E27FC236}">
                <a16:creationId xmlns:a16="http://schemas.microsoft.com/office/drawing/2014/main" id="{11C89CC7-4BC7-4543-9DC0-A9E3890606F6}"/>
              </a:ext>
            </a:extLst>
          </p:cNvPr>
          <p:cNvCxnSpPr>
            <a:cxnSpLocks/>
          </p:cNvCxnSpPr>
          <p:nvPr/>
        </p:nvCxnSpPr>
        <p:spPr>
          <a:xfrm>
            <a:off x="7248891" y="5486372"/>
            <a:ext cx="3494337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Google Shape;349;p30">
            <a:extLst>
              <a:ext uri="{FF2B5EF4-FFF2-40B4-BE49-F238E27FC236}">
                <a16:creationId xmlns:a16="http://schemas.microsoft.com/office/drawing/2014/main" id="{432A2C81-41A9-4156-A192-79CEB00B671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8198" y="5486372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350;p30">
            <a:extLst>
              <a:ext uri="{FF2B5EF4-FFF2-40B4-BE49-F238E27FC236}">
                <a16:creationId xmlns:a16="http://schemas.microsoft.com/office/drawing/2014/main" id="{5D4267FD-88F1-4CD3-81FA-A9CA7224C836}"/>
              </a:ext>
            </a:extLst>
          </p:cNvPr>
          <p:cNvCxnSpPr>
            <a:cxnSpLocks/>
          </p:cNvCxnSpPr>
          <p:nvPr/>
        </p:nvCxnSpPr>
        <p:spPr>
          <a:xfrm>
            <a:off x="2050473" y="5312076"/>
            <a:ext cx="3534979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Google Shape;351;p30">
            <a:extLst>
              <a:ext uri="{FF2B5EF4-FFF2-40B4-BE49-F238E27FC236}">
                <a16:creationId xmlns:a16="http://schemas.microsoft.com/office/drawing/2014/main" id="{CAAD765B-584B-4AB8-AD7F-231DE15D0A8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303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52;p30">
            <a:extLst>
              <a:ext uri="{FF2B5EF4-FFF2-40B4-BE49-F238E27FC236}">
                <a16:creationId xmlns:a16="http://schemas.microsoft.com/office/drawing/2014/main" id="{331D929C-E9D1-4FF6-82E5-3EE9F00A5A3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698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53;p30">
            <a:extLst>
              <a:ext uri="{FF2B5EF4-FFF2-40B4-BE49-F238E27FC236}">
                <a16:creationId xmlns:a16="http://schemas.microsoft.com/office/drawing/2014/main" id="{DA48FD32-569D-491B-9127-E520E89E83A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8093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54;p30">
            <a:extLst>
              <a:ext uri="{FF2B5EF4-FFF2-40B4-BE49-F238E27FC236}">
                <a16:creationId xmlns:a16="http://schemas.microsoft.com/office/drawing/2014/main" id="{0EF6AFD3-20FB-4B2F-B494-28C7C7236F5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6615" y="4584314"/>
            <a:ext cx="701567" cy="552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75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9FDFBF-51EB-446C-8616-607A4D9D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68" y="1949400"/>
            <a:ext cx="4695064" cy="18469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406A98-1E23-446D-A5CA-33B886E69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206" y="1841726"/>
            <a:ext cx="2980952" cy="20912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5AD63C-52E3-4B37-94E9-0E9376683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842" y="4700246"/>
            <a:ext cx="2715400" cy="13746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09E9AF-2C83-4520-B4D1-E90C57A5D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09" y="4636928"/>
            <a:ext cx="3640281" cy="190892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4D42BCF-535F-47E4-950D-2721E55F3FFD}"/>
              </a:ext>
            </a:extLst>
          </p:cNvPr>
          <p:cNvSpPr txBox="1"/>
          <p:nvPr/>
        </p:nvSpPr>
        <p:spPr>
          <a:xfrm>
            <a:off x="1989842" y="1471095"/>
            <a:ext cx="223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Virtualización de CPU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26432A-CFB9-4E64-A6BE-09C11B509E57}"/>
              </a:ext>
            </a:extLst>
          </p:cNvPr>
          <p:cNvSpPr txBox="1"/>
          <p:nvPr/>
        </p:nvSpPr>
        <p:spPr>
          <a:xfrm>
            <a:off x="7487697" y="1395038"/>
            <a:ext cx="271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Virtualización de Memoria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D6EDAA0-3790-4E52-813A-431168D9EF5B}"/>
              </a:ext>
            </a:extLst>
          </p:cNvPr>
          <p:cNvSpPr txBox="1"/>
          <p:nvPr/>
        </p:nvSpPr>
        <p:spPr>
          <a:xfrm>
            <a:off x="1990781" y="4267596"/>
            <a:ext cx="276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Concurrencia y paralelismo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94F3312-B0F9-4441-8C43-AE5C39818737}"/>
              </a:ext>
            </a:extLst>
          </p:cNvPr>
          <p:cNvSpPr txBox="1"/>
          <p:nvPr/>
        </p:nvSpPr>
        <p:spPr>
          <a:xfrm>
            <a:off x="7221206" y="4267596"/>
            <a:ext cx="1317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Persistencia</a:t>
            </a:r>
          </a:p>
        </p:txBody>
      </p:sp>
    </p:spTree>
    <p:extLst>
      <p:ext uri="{BB962C8B-B14F-4D97-AF65-F5344CB8AC3E}">
        <p14:creationId xmlns:p14="http://schemas.microsoft.com/office/powerpoint/2010/main" val="221380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pic>
        <p:nvPicPr>
          <p:cNvPr id="11" name="Google Shape;361;p31">
            <a:extLst>
              <a:ext uri="{FF2B5EF4-FFF2-40B4-BE49-F238E27FC236}">
                <a16:creationId xmlns:a16="http://schemas.microsoft.com/office/drawing/2014/main" id="{69E2D9B0-00B2-41F6-A008-D41F2A9F58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681" y="2460847"/>
            <a:ext cx="5419005" cy="43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60;p31">
            <a:extLst>
              <a:ext uri="{FF2B5EF4-FFF2-40B4-BE49-F238E27FC236}">
                <a16:creationId xmlns:a16="http://schemas.microsoft.com/office/drawing/2014/main" id="{FBA9FAF8-507F-489E-B3FF-EBD7D9FEA39A}"/>
              </a:ext>
            </a:extLst>
          </p:cNvPr>
          <p:cNvSpPr txBox="1">
            <a:spLocks/>
          </p:cNvSpPr>
          <p:nvPr/>
        </p:nvSpPr>
        <p:spPr>
          <a:xfrm>
            <a:off x="722686" y="1161847"/>
            <a:ext cx="10746628" cy="1299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rgbClr val="FF9900"/>
                </a:solidFill>
              </a:rPr>
              <a:t>Virtualización de CPU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400" dirty="0">
                <a:solidFill>
                  <a:srgbClr val="FF0000"/>
                </a:solidFill>
              </a:rPr>
              <a:t>¿Cómo es que teniendo una sola CPU (en teoría) puedo correr varias tareas a la vez?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65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Programa .vs. Proceso</a:t>
            </a:r>
            <a:endParaRPr dirty="0"/>
          </a:p>
        </p:txBody>
      </p:sp>
      <p:sp>
        <p:nvSpPr>
          <p:cNvPr id="11" name="Google Shape;368;p32">
            <a:extLst>
              <a:ext uri="{FF2B5EF4-FFF2-40B4-BE49-F238E27FC236}">
                <a16:creationId xmlns:a16="http://schemas.microsoft.com/office/drawing/2014/main" id="{B298AA17-C483-4A1B-BA69-ED5FDB760061}"/>
              </a:ext>
            </a:extLst>
          </p:cNvPr>
          <p:cNvSpPr txBox="1"/>
          <p:nvPr/>
        </p:nvSpPr>
        <p:spPr>
          <a:xfrm>
            <a:off x="1283145" y="1535525"/>
            <a:ext cx="191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FF0000"/>
                </a:solidFill>
              </a:rPr>
              <a:t>Programa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2" name="Google Shape;369;p32">
            <a:extLst>
              <a:ext uri="{FF2B5EF4-FFF2-40B4-BE49-F238E27FC236}">
                <a16:creationId xmlns:a16="http://schemas.microsoft.com/office/drawing/2014/main" id="{82F1400E-DA4C-4533-9238-B002B86BD91E}"/>
              </a:ext>
            </a:extLst>
          </p:cNvPr>
          <p:cNvSpPr txBox="1"/>
          <p:nvPr/>
        </p:nvSpPr>
        <p:spPr>
          <a:xfrm>
            <a:off x="7762750" y="1535525"/>
            <a:ext cx="376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</a:rPr>
              <a:t>Proceso</a:t>
            </a:r>
            <a:endParaRPr sz="2400" b="1">
              <a:solidFill>
                <a:srgbClr val="0B6937"/>
              </a:solidFill>
            </a:endParaRPr>
          </a:p>
        </p:txBody>
      </p:sp>
      <p:pic>
        <p:nvPicPr>
          <p:cNvPr id="13" name="Google Shape;370;p32">
            <a:extLst>
              <a:ext uri="{FF2B5EF4-FFF2-40B4-BE49-F238E27FC236}">
                <a16:creationId xmlns:a16="http://schemas.microsoft.com/office/drawing/2014/main" id="{846C41FA-3F04-47B5-B9FE-B2BF264913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395" y="2219325"/>
            <a:ext cx="24098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1;p32">
            <a:extLst>
              <a:ext uri="{FF2B5EF4-FFF2-40B4-BE49-F238E27FC236}">
                <a16:creationId xmlns:a16="http://schemas.microsoft.com/office/drawing/2014/main" id="{1E1CF0B0-5AD2-4B3D-ACF6-C829F160AF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545" y="4892538"/>
            <a:ext cx="625398" cy="5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72;p32">
            <a:extLst>
              <a:ext uri="{FF2B5EF4-FFF2-40B4-BE49-F238E27FC236}">
                <a16:creationId xmlns:a16="http://schemas.microsoft.com/office/drawing/2014/main" id="{2ECDA432-3FF3-4164-932F-8AA56539228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2370" y="4892525"/>
            <a:ext cx="533400" cy="56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73;p32">
            <a:extLst>
              <a:ext uri="{FF2B5EF4-FFF2-40B4-BE49-F238E27FC236}">
                <a16:creationId xmlns:a16="http://schemas.microsoft.com/office/drawing/2014/main" id="{80671E60-10F0-443B-A4AE-5F7241E0E65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9970" y="2597763"/>
            <a:ext cx="35433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74;p32">
            <a:extLst>
              <a:ext uri="{FF2B5EF4-FFF2-40B4-BE49-F238E27FC236}">
                <a16:creationId xmlns:a16="http://schemas.microsoft.com/office/drawing/2014/main" id="{273624A3-4FD0-4D13-AD2F-2EEBB40D0DD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2320" y="5458046"/>
            <a:ext cx="726525" cy="7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75;p32">
            <a:extLst>
              <a:ext uri="{FF2B5EF4-FFF2-40B4-BE49-F238E27FC236}">
                <a16:creationId xmlns:a16="http://schemas.microsoft.com/office/drawing/2014/main" id="{4AF7F8B1-FA1F-40B4-8B14-3DE5B922FB2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04983" y="5372538"/>
            <a:ext cx="1084725" cy="8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76;p32">
            <a:extLst>
              <a:ext uri="{FF2B5EF4-FFF2-40B4-BE49-F238E27FC236}">
                <a16:creationId xmlns:a16="http://schemas.microsoft.com/office/drawing/2014/main" id="{B0892C11-F84C-4E30-9645-00C63A1C022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7420" y="5631438"/>
            <a:ext cx="3543300" cy="36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788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Programa. vs. proceso</a:t>
            </a:r>
            <a:endParaRPr dirty="0"/>
          </a:p>
        </p:txBody>
      </p:sp>
      <p:pic>
        <p:nvPicPr>
          <p:cNvPr id="3" name="Google Shape;383;p33">
            <a:extLst>
              <a:ext uri="{FF2B5EF4-FFF2-40B4-BE49-F238E27FC236}">
                <a16:creationId xmlns:a16="http://schemas.microsoft.com/office/drawing/2014/main" id="{ED81858A-2947-4E68-96C1-6B572F5F46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2607" y="1059804"/>
            <a:ext cx="1001045" cy="144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84;p33">
            <a:extLst>
              <a:ext uri="{FF2B5EF4-FFF2-40B4-BE49-F238E27FC236}">
                <a16:creationId xmlns:a16="http://schemas.microsoft.com/office/drawing/2014/main" id="{262AB248-BD9F-4DF7-A212-359FDC637F8C}"/>
              </a:ext>
            </a:extLst>
          </p:cNvPr>
          <p:cNvGrpSpPr/>
          <p:nvPr/>
        </p:nvGrpSpPr>
        <p:grpSpPr>
          <a:xfrm>
            <a:off x="7283965" y="644427"/>
            <a:ext cx="2595827" cy="2527604"/>
            <a:chOff x="7105058" y="2798800"/>
            <a:chExt cx="3632892" cy="3017775"/>
          </a:xfrm>
        </p:grpSpPr>
        <p:pic>
          <p:nvPicPr>
            <p:cNvPr id="5" name="Google Shape;385;p33">
              <a:extLst>
                <a:ext uri="{FF2B5EF4-FFF2-40B4-BE49-F238E27FC236}">
                  <a16:creationId xmlns:a16="http://schemas.microsoft.com/office/drawing/2014/main" id="{2905952B-84F4-47E2-9640-E0221338D2C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05058" y="2798800"/>
              <a:ext cx="3632892" cy="30177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86;p33">
              <a:extLst>
                <a:ext uri="{FF2B5EF4-FFF2-40B4-BE49-F238E27FC236}">
                  <a16:creationId xmlns:a16="http://schemas.microsoft.com/office/drawing/2014/main" id="{661E5AF3-C147-4E53-8FBA-F00C8B731AC4}"/>
                </a:ext>
              </a:extLst>
            </p:cNvPr>
            <p:cNvGrpSpPr/>
            <p:nvPr/>
          </p:nvGrpSpPr>
          <p:grpSpPr>
            <a:xfrm>
              <a:off x="7884925" y="4237125"/>
              <a:ext cx="1553700" cy="949500"/>
              <a:chOff x="7884925" y="4237125"/>
              <a:chExt cx="1553700" cy="949500"/>
            </a:xfrm>
          </p:grpSpPr>
          <p:sp>
            <p:nvSpPr>
              <p:cNvPr id="7" name="Google Shape;387;p33">
                <a:extLst>
                  <a:ext uri="{FF2B5EF4-FFF2-40B4-BE49-F238E27FC236}">
                    <a16:creationId xmlns:a16="http://schemas.microsoft.com/office/drawing/2014/main" id="{C4F370F4-0F37-4AEE-A401-7353A4FDD3B2}"/>
                  </a:ext>
                </a:extLst>
              </p:cNvPr>
              <p:cNvSpPr/>
              <p:nvPr/>
            </p:nvSpPr>
            <p:spPr>
              <a:xfrm>
                <a:off x="7884925" y="4237125"/>
                <a:ext cx="1553700" cy="949500"/>
              </a:xfrm>
              <a:prstGeom prst="foldedCorner">
                <a:avLst>
                  <a:gd name="adj" fmla="val 16667"/>
                </a:avLst>
              </a:prstGeom>
              <a:solidFill>
                <a:srgbClr val="F3F3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88;p33">
                <a:extLst>
                  <a:ext uri="{FF2B5EF4-FFF2-40B4-BE49-F238E27FC236}">
                    <a16:creationId xmlns:a16="http://schemas.microsoft.com/office/drawing/2014/main" id="{C3D192B3-016D-4977-8AFD-2FB98C907E9D}"/>
                  </a:ext>
                </a:extLst>
              </p:cNvPr>
              <p:cNvSpPr/>
              <p:nvPr/>
            </p:nvSpPr>
            <p:spPr>
              <a:xfrm>
                <a:off x="8059050" y="4335075"/>
                <a:ext cx="1161600" cy="3081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/>
                  <a:t>Code</a:t>
                </a:r>
                <a:endParaRPr dirty="0"/>
              </a:p>
            </p:txBody>
          </p:sp>
          <p:sp>
            <p:nvSpPr>
              <p:cNvPr id="9" name="Google Shape;389;p33">
                <a:extLst>
                  <a:ext uri="{FF2B5EF4-FFF2-40B4-BE49-F238E27FC236}">
                    <a16:creationId xmlns:a16="http://schemas.microsoft.com/office/drawing/2014/main" id="{46A71541-529D-403A-8204-3566CDEBA5F8}"/>
                  </a:ext>
                </a:extLst>
              </p:cNvPr>
              <p:cNvSpPr/>
              <p:nvPr/>
            </p:nvSpPr>
            <p:spPr>
              <a:xfrm>
                <a:off x="8061050" y="4711300"/>
                <a:ext cx="1161600" cy="3081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Data</a:t>
                </a:r>
                <a:endParaRPr/>
              </a:p>
            </p:txBody>
          </p:sp>
        </p:grpSp>
      </p:grpSp>
      <p:pic>
        <p:nvPicPr>
          <p:cNvPr id="11" name="Google Shape;396;p34">
            <a:extLst>
              <a:ext uri="{FF2B5EF4-FFF2-40B4-BE49-F238E27FC236}">
                <a16:creationId xmlns:a16="http://schemas.microsoft.com/office/drawing/2014/main" id="{6138591C-2D86-4857-81D5-800004FF847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6416" y="1235872"/>
            <a:ext cx="1275435" cy="91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;p34">
            <a:extLst>
              <a:ext uri="{FF2B5EF4-FFF2-40B4-BE49-F238E27FC236}">
                <a16:creationId xmlns:a16="http://schemas.microsoft.com/office/drawing/2014/main" id="{F7DFA442-1243-4BA4-BCE9-276186E8D87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0249" y="1243254"/>
            <a:ext cx="1275435" cy="91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00;p34">
            <a:extLst>
              <a:ext uri="{FF2B5EF4-FFF2-40B4-BE49-F238E27FC236}">
                <a16:creationId xmlns:a16="http://schemas.microsoft.com/office/drawing/2014/main" id="{6222702B-81B6-41AA-AB4B-3A973BFD6C0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4865" y="2177644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401;p34">
            <a:extLst>
              <a:ext uri="{FF2B5EF4-FFF2-40B4-BE49-F238E27FC236}">
                <a16:creationId xmlns:a16="http://schemas.microsoft.com/office/drawing/2014/main" id="{00E46F4C-D807-45A3-9249-5B06E4DF8AF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8424" y="2147702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49;p30">
            <a:extLst>
              <a:ext uri="{FF2B5EF4-FFF2-40B4-BE49-F238E27FC236}">
                <a16:creationId xmlns:a16="http://schemas.microsoft.com/office/drawing/2014/main" id="{2F3CB0D0-465A-43A1-97E7-727A367D820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11173" y="2950249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350;p30">
            <a:extLst>
              <a:ext uri="{FF2B5EF4-FFF2-40B4-BE49-F238E27FC236}">
                <a16:creationId xmlns:a16="http://schemas.microsoft.com/office/drawing/2014/main" id="{7211F6C6-9404-4A5A-9E60-7EAD1D38C3DC}"/>
              </a:ext>
            </a:extLst>
          </p:cNvPr>
          <p:cNvCxnSpPr>
            <a:cxnSpLocks/>
          </p:cNvCxnSpPr>
          <p:nvPr/>
        </p:nvCxnSpPr>
        <p:spPr>
          <a:xfrm>
            <a:off x="2087672" y="2864218"/>
            <a:ext cx="3534979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Google Shape;485;p40">
            <a:extLst>
              <a:ext uri="{FF2B5EF4-FFF2-40B4-BE49-F238E27FC236}">
                <a16:creationId xmlns:a16="http://schemas.microsoft.com/office/drawing/2014/main" id="{7B9AB86B-AD42-41BA-B41E-8626EE8CD3A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12330" y="3814398"/>
            <a:ext cx="4708713" cy="2639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Proceso: Abstracción</a:t>
            </a:r>
            <a:endParaRPr dirty="0"/>
          </a:p>
        </p:txBody>
      </p:sp>
      <p:pic>
        <p:nvPicPr>
          <p:cNvPr id="4" name="Google Shape;414;p36">
            <a:extLst>
              <a:ext uri="{FF2B5EF4-FFF2-40B4-BE49-F238E27FC236}">
                <a16:creationId xmlns:a16="http://schemas.microsoft.com/office/drawing/2014/main" id="{EF16DF98-A379-4061-867F-CF0C31F8C7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37" y="1253919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415;p36">
            <a:extLst>
              <a:ext uri="{FF2B5EF4-FFF2-40B4-BE49-F238E27FC236}">
                <a16:creationId xmlns:a16="http://schemas.microsoft.com/office/drawing/2014/main" id="{B318C87C-616C-4755-8961-034BEE1C4943}"/>
              </a:ext>
            </a:extLst>
          </p:cNvPr>
          <p:cNvGrpSpPr/>
          <p:nvPr/>
        </p:nvGrpSpPr>
        <p:grpSpPr>
          <a:xfrm>
            <a:off x="5896000" y="1239044"/>
            <a:ext cx="4549500" cy="4393500"/>
            <a:chOff x="5458950" y="1790200"/>
            <a:chExt cx="4549500" cy="4393500"/>
          </a:xfrm>
        </p:grpSpPr>
        <p:sp>
          <p:nvSpPr>
            <p:cNvPr id="6" name="Google Shape;416;p36">
              <a:extLst>
                <a:ext uri="{FF2B5EF4-FFF2-40B4-BE49-F238E27FC236}">
                  <a16:creationId xmlns:a16="http://schemas.microsoft.com/office/drawing/2014/main" id="{848D0F09-BDAD-4517-A4CA-8EC5295AE65D}"/>
                </a:ext>
              </a:extLst>
            </p:cNvPr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417;p36">
              <a:extLst>
                <a:ext uri="{FF2B5EF4-FFF2-40B4-BE49-F238E27FC236}">
                  <a16:creationId xmlns:a16="http://schemas.microsoft.com/office/drawing/2014/main" id="{D57D7915-98C8-4EA7-B0F9-729FD9E32433}"/>
                </a:ext>
              </a:extLst>
            </p:cNvPr>
            <p:cNvGrpSpPr/>
            <p:nvPr/>
          </p:nvGrpSpPr>
          <p:grpSpPr>
            <a:xfrm>
              <a:off x="5922575" y="2608725"/>
              <a:ext cx="1518300" cy="2104675"/>
              <a:chOff x="6011800" y="2642175"/>
              <a:chExt cx="1518300" cy="2104675"/>
            </a:xfrm>
          </p:grpSpPr>
          <p:sp>
            <p:nvSpPr>
              <p:cNvPr id="20" name="Google Shape;418;p36">
                <a:extLst>
                  <a:ext uri="{FF2B5EF4-FFF2-40B4-BE49-F238E27FC236}">
                    <a16:creationId xmlns:a16="http://schemas.microsoft.com/office/drawing/2014/main" id="{3554D3AB-1A3D-488A-9958-6E8C25EEDC6F}"/>
                  </a:ext>
                </a:extLst>
              </p:cNvPr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21" name="Google Shape;419;p36">
                <a:extLst>
                  <a:ext uri="{FF2B5EF4-FFF2-40B4-BE49-F238E27FC236}">
                    <a16:creationId xmlns:a16="http://schemas.microsoft.com/office/drawing/2014/main" id="{A3A55228-2DAB-440E-A40D-17FE22D8553C}"/>
                  </a:ext>
                </a:extLst>
              </p:cNvPr>
              <p:cNvGrpSpPr/>
              <p:nvPr/>
            </p:nvGrpSpPr>
            <p:grpSpPr>
              <a:xfrm>
                <a:off x="6011800" y="3042363"/>
                <a:ext cx="1488000" cy="1401900"/>
                <a:chOff x="6011800" y="3042363"/>
                <a:chExt cx="1488000" cy="1401900"/>
              </a:xfrm>
            </p:grpSpPr>
            <p:sp>
              <p:nvSpPr>
                <p:cNvPr id="23" name="Google Shape;420;p36">
                  <a:extLst>
                    <a:ext uri="{FF2B5EF4-FFF2-40B4-BE49-F238E27FC236}">
                      <a16:creationId xmlns:a16="http://schemas.microsoft.com/office/drawing/2014/main" id="{A8A3D515-B37C-4001-977F-470339D48CA5}"/>
                    </a:ext>
                  </a:extLst>
                </p:cNvPr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" name="Google Shape;421;p36">
                  <a:extLst>
                    <a:ext uri="{FF2B5EF4-FFF2-40B4-BE49-F238E27FC236}">
                      <a16:creationId xmlns:a16="http://schemas.microsoft.com/office/drawing/2014/main" id="{B2C807A8-2BD0-4A4C-BE3F-DD2FDF7337EB}"/>
                    </a:ext>
                  </a:extLst>
                </p:cNvPr>
                <p:cNvGrpSpPr/>
                <p:nvPr/>
              </p:nvGrpSpPr>
              <p:grpSpPr>
                <a:xfrm>
                  <a:off x="6011800" y="3096950"/>
                  <a:ext cx="1298325" cy="461635"/>
                  <a:chOff x="6011800" y="3096950"/>
                  <a:chExt cx="1298325" cy="461635"/>
                </a:xfrm>
              </p:grpSpPr>
              <p:sp>
                <p:nvSpPr>
                  <p:cNvPr id="29" name="Google Shape;422;p36">
                    <a:extLst>
                      <a:ext uri="{FF2B5EF4-FFF2-40B4-BE49-F238E27FC236}">
                        <a16:creationId xmlns:a16="http://schemas.microsoft.com/office/drawing/2014/main" id="{E417B36E-39F8-4E80-B4FA-71777F98B6DD}"/>
                      </a:ext>
                    </a:extLst>
                  </p:cNvPr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423;p36">
                    <a:extLst>
                      <a:ext uri="{FF2B5EF4-FFF2-40B4-BE49-F238E27FC236}">
                        <a16:creationId xmlns:a16="http://schemas.microsoft.com/office/drawing/2014/main" id="{6A954445-9C1A-42EC-90F9-EB1F06CE4EA9}"/>
                      </a:ext>
                    </a:extLst>
                  </p:cNvPr>
                  <p:cNvSpPr txBox="1"/>
                  <p:nvPr/>
                </p:nvSpPr>
                <p:spPr>
                  <a:xfrm>
                    <a:off x="6011800" y="3096950"/>
                    <a:ext cx="6292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25" name="Google Shape;424;p36">
                  <a:extLst>
                    <a:ext uri="{FF2B5EF4-FFF2-40B4-BE49-F238E27FC236}">
                      <a16:creationId xmlns:a16="http://schemas.microsoft.com/office/drawing/2014/main" id="{A7298E64-397C-4701-8B81-6400C9D60353}"/>
                    </a:ext>
                  </a:extLst>
                </p:cNvPr>
                <p:cNvGrpSpPr/>
                <p:nvPr/>
              </p:nvGrpSpPr>
              <p:grpSpPr>
                <a:xfrm>
                  <a:off x="6034900" y="3412550"/>
                  <a:ext cx="1275225" cy="461635"/>
                  <a:chOff x="6034900" y="3412550"/>
                  <a:chExt cx="1275225" cy="461635"/>
                </a:xfrm>
              </p:grpSpPr>
              <p:sp>
                <p:nvSpPr>
                  <p:cNvPr id="27" name="Google Shape;425;p36">
                    <a:extLst>
                      <a:ext uri="{FF2B5EF4-FFF2-40B4-BE49-F238E27FC236}">
                        <a16:creationId xmlns:a16="http://schemas.microsoft.com/office/drawing/2014/main" id="{7CE908D1-43A6-47CC-8EB8-B9116934D68B}"/>
                      </a:ext>
                    </a:extLst>
                  </p:cNvPr>
                  <p:cNvSpPr txBox="1"/>
                  <p:nvPr/>
                </p:nvSpPr>
                <p:spPr>
                  <a:xfrm>
                    <a:off x="6034900" y="3412550"/>
                    <a:ext cx="6061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28" name="Google Shape;426;p36">
                    <a:extLst>
                      <a:ext uri="{FF2B5EF4-FFF2-40B4-BE49-F238E27FC236}">
                        <a16:creationId xmlns:a16="http://schemas.microsoft.com/office/drawing/2014/main" id="{0635EC95-625A-4997-82EB-435487E2587E}"/>
                      </a:ext>
                    </a:extLst>
                  </p:cNvPr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6" name="Google Shape;427;p36">
                  <a:extLst>
                    <a:ext uri="{FF2B5EF4-FFF2-40B4-BE49-F238E27FC236}">
                      <a16:creationId xmlns:a16="http://schemas.microsoft.com/office/drawing/2014/main" id="{29DC0EB0-E975-4F0E-8BCC-10CA9027191E}"/>
                    </a:ext>
                  </a:extLst>
                </p:cNvPr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2" name="Google Shape;428;p36">
                <a:extLst>
                  <a:ext uri="{FF2B5EF4-FFF2-40B4-BE49-F238E27FC236}">
                    <a16:creationId xmlns:a16="http://schemas.microsoft.com/office/drawing/2014/main" id="{DCADB482-F440-44D7-AD4C-8C5DDEDBF522}"/>
                  </a:ext>
                </a:extLst>
              </p:cNvPr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8" name="Google Shape;429;p36">
              <a:extLst>
                <a:ext uri="{FF2B5EF4-FFF2-40B4-BE49-F238E27FC236}">
                  <a16:creationId xmlns:a16="http://schemas.microsoft.com/office/drawing/2014/main" id="{33B69E90-E4CB-4BDA-A3E3-9F94577091E8}"/>
                </a:ext>
              </a:extLst>
            </p:cNvPr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430;p36">
              <a:extLst>
                <a:ext uri="{FF2B5EF4-FFF2-40B4-BE49-F238E27FC236}">
                  <a16:creationId xmlns:a16="http://schemas.microsoft.com/office/drawing/2014/main" id="{C3EF860A-A512-4A83-A226-10E738DD3335}"/>
                </a:ext>
              </a:extLst>
            </p:cNvPr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1" name="Google Shape;431;p36">
                <a:extLst>
                  <a:ext uri="{FF2B5EF4-FFF2-40B4-BE49-F238E27FC236}">
                    <a16:creationId xmlns:a16="http://schemas.microsoft.com/office/drawing/2014/main" id="{7864A725-A315-4354-BD74-CBEA55575BA0}"/>
                  </a:ext>
                </a:extLst>
              </p:cNvPr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4" name="Google Shape;432;p36">
                  <a:extLst>
                    <a:ext uri="{FF2B5EF4-FFF2-40B4-BE49-F238E27FC236}">
                      <a16:creationId xmlns:a16="http://schemas.microsoft.com/office/drawing/2014/main" id="{A0AF8BE9-28B5-4C49-B766-E5D189643848}"/>
                    </a:ext>
                  </a:extLst>
                </p:cNvPr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5" name="Google Shape;433;p36">
                  <a:extLst>
                    <a:ext uri="{FF2B5EF4-FFF2-40B4-BE49-F238E27FC236}">
                      <a16:creationId xmlns:a16="http://schemas.microsoft.com/office/drawing/2014/main" id="{628A5C30-DCC6-427F-A089-D33769344DF7}"/>
                    </a:ext>
                  </a:extLst>
                </p:cNvPr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6" name="Google Shape;434;p36">
                  <a:extLst>
                    <a:ext uri="{FF2B5EF4-FFF2-40B4-BE49-F238E27FC236}">
                      <a16:creationId xmlns:a16="http://schemas.microsoft.com/office/drawing/2014/main" id="{4F25807F-F4AB-416B-9D6D-71C566305338}"/>
                    </a:ext>
                  </a:extLst>
                </p:cNvPr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7" name="Google Shape;435;p36">
                  <a:extLst>
                    <a:ext uri="{FF2B5EF4-FFF2-40B4-BE49-F238E27FC236}">
                      <a16:creationId xmlns:a16="http://schemas.microsoft.com/office/drawing/2014/main" id="{B9F8F989-EBF0-4375-B81D-40A01887ACC6}"/>
                    </a:ext>
                  </a:extLst>
                </p:cNvPr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18" name="Google Shape;436;p36">
                  <a:extLst>
                    <a:ext uri="{FF2B5EF4-FFF2-40B4-BE49-F238E27FC236}">
                      <a16:creationId xmlns:a16="http://schemas.microsoft.com/office/drawing/2014/main" id="{66009678-0D48-4339-B092-D5109966CC17}"/>
                    </a:ext>
                  </a:extLst>
                </p:cNvPr>
                <p:cNvCxnSpPr>
                  <a:stCxn id="16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" name="Google Shape;437;p36">
                  <a:extLst>
                    <a:ext uri="{FF2B5EF4-FFF2-40B4-BE49-F238E27FC236}">
                      <a16:creationId xmlns:a16="http://schemas.microsoft.com/office/drawing/2014/main" id="{40430746-1600-40A6-A152-0ADD2E1A9BD7}"/>
                    </a:ext>
                  </a:extLst>
                </p:cNvPr>
                <p:cNvCxnSpPr>
                  <a:stCxn id="17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2" name="Google Shape;438;p36">
                <a:extLst>
                  <a:ext uri="{FF2B5EF4-FFF2-40B4-BE49-F238E27FC236}">
                    <a16:creationId xmlns:a16="http://schemas.microsoft.com/office/drawing/2014/main" id="{F6CD2280-0B7C-4D8A-98D0-04E5BF987626}"/>
                  </a:ext>
                </a:extLst>
              </p:cNvPr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3" name="Google Shape;439;p36">
                <a:extLst>
                  <a:ext uri="{FF2B5EF4-FFF2-40B4-BE49-F238E27FC236}">
                    <a16:creationId xmlns:a16="http://schemas.microsoft.com/office/drawing/2014/main" id="{2C7FA328-8CEB-49AE-BF78-0D805BE5C82A}"/>
                  </a:ext>
                </a:extLst>
              </p:cNvPr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0" name="Google Shape;440;p36">
              <a:extLst>
                <a:ext uri="{FF2B5EF4-FFF2-40B4-BE49-F238E27FC236}">
                  <a16:creationId xmlns:a16="http://schemas.microsoft.com/office/drawing/2014/main" id="{E6D70364-E286-4118-8303-55E2DC1BE9F2}"/>
                </a:ext>
              </a:extLst>
            </p:cNvPr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1" name="Google Shape;441;p36">
            <a:extLst>
              <a:ext uri="{FF2B5EF4-FFF2-40B4-BE49-F238E27FC236}">
                <a16:creationId xmlns:a16="http://schemas.microsoft.com/office/drawing/2014/main" id="{160DC7E5-DBD5-4FE2-8A2C-5D463102C12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45896" y="2040932"/>
            <a:ext cx="1958100" cy="57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2" name="Google Shape;442;p36">
            <a:extLst>
              <a:ext uri="{FF2B5EF4-FFF2-40B4-BE49-F238E27FC236}">
                <a16:creationId xmlns:a16="http://schemas.microsoft.com/office/drawing/2014/main" id="{7946699D-8770-4B44-901A-B3280719C5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31464" y="1363057"/>
            <a:ext cx="787000" cy="7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450;p37">
            <a:extLst>
              <a:ext uri="{FF2B5EF4-FFF2-40B4-BE49-F238E27FC236}">
                <a16:creationId xmlns:a16="http://schemas.microsoft.com/office/drawing/2014/main" id="{F280CFB7-3BFD-4E44-9BE3-31F559C9090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6462" y="5815976"/>
            <a:ext cx="949500" cy="9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37">
            <a:extLst>
              <a:ext uri="{FF2B5EF4-FFF2-40B4-BE49-F238E27FC236}">
                <a16:creationId xmlns:a16="http://schemas.microsoft.com/office/drawing/2014/main" id="{9C241068-733F-45CF-A76E-C0889E63BB8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9562" y="5836336"/>
            <a:ext cx="949500" cy="90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452;p37">
            <a:extLst>
              <a:ext uri="{FF2B5EF4-FFF2-40B4-BE49-F238E27FC236}">
                <a16:creationId xmlns:a16="http://schemas.microsoft.com/office/drawing/2014/main" id="{C756429E-73F5-4D73-AA8E-ABC13328254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40662" y="5738876"/>
            <a:ext cx="914950" cy="9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453;p37">
            <a:extLst>
              <a:ext uri="{FF2B5EF4-FFF2-40B4-BE49-F238E27FC236}">
                <a16:creationId xmlns:a16="http://schemas.microsoft.com/office/drawing/2014/main" id="{4E950140-C554-47A8-AEDA-F859F964CF96}"/>
              </a:ext>
            </a:extLst>
          </p:cNvPr>
          <p:cNvSpPr/>
          <p:nvPr/>
        </p:nvSpPr>
        <p:spPr>
          <a:xfrm>
            <a:off x="5790525" y="6014726"/>
            <a:ext cx="569100" cy="5520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54;p37">
            <a:extLst>
              <a:ext uri="{FF2B5EF4-FFF2-40B4-BE49-F238E27FC236}">
                <a16:creationId xmlns:a16="http://schemas.microsoft.com/office/drawing/2014/main" id="{5E6AA142-7A7D-4FA4-9A54-67075A91EF89}"/>
              </a:ext>
            </a:extLst>
          </p:cNvPr>
          <p:cNvSpPr/>
          <p:nvPr/>
        </p:nvSpPr>
        <p:spPr>
          <a:xfrm>
            <a:off x="8688975" y="6014726"/>
            <a:ext cx="569100" cy="5520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455;p37">
            <a:extLst>
              <a:ext uri="{FF2B5EF4-FFF2-40B4-BE49-F238E27FC236}">
                <a16:creationId xmlns:a16="http://schemas.microsoft.com/office/drawing/2014/main" id="{C0125CFF-FBB2-43D8-AEE6-EB28A078A1EF}"/>
              </a:ext>
            </a:extLst>
          </p:cNvPr>
          <p:cNvSpPr/>
          <p:nvPr/>
        </p:nvSpPr>
        <p:spPr>
          <a:xfrm>
            <a:off x="3182650" y="6014726"/>
            <a:ext cx="569100" cy="5520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49;p37">
            <a:extLst>
              <a:ext uri="{FF2B5EF4-FFF2-40B4-BE49-F238E27FC236}">
                <a16:creationId xmlns:a16="http://schemas.microsoft.com/office/drawing/2014/main" id="{1CF3D15E-D1EC-49F9-8F63-8A14C12D83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249" y="5538052"/>
            <a:ext cx="1555045" cy="1227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78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</a:t>
            </a:r>
            <a:endParaRPr dirty="0"/>
          </a:p>
        </p:txBody>
      </p:sp>
      <p:pic>
        <p:nvPicPr>
          <p:cNvPr id="4" name="Google Shape;492;p41">
            <a:extLst>
              <a:ext uri="{FF2B5EF4-FFF2-40B4-BE49-F238E27FC236}">
                <a16:creationId xmlns:a16="http://schemas.microsoft.com/office/drawing/2014/main" id="{4658890E-6BD4-4EFD-8D79-ECA36EADAC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382" y="2022544"/>
            <a:ext cx="8159750" cy="387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93;p41">
            <a:extLst>
              <a:ext uri="{FF2B5EF4-FFF2-40B4-BE49-F238E27FC236}">
                <a16:creationId xmlns:a16="http://schemas.microsoft.com/office/drawing/2014/main" id="{A7A3D64B-7169-4AD3-827F-BED0B7BEF59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3607" y="1239044"/>
            <a:ext cx="589175" cy="5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95;p41">
            <a:extLst>
              <a:ext uri="{FF2B5EF4-FFF2-40B4-BE49-F238E27FC236}">
                <a16:creationId xmlns:a16="http://schemas.microsoft.com/office/drawing/2014/main" id="{7300FC67-C23B-4A9D-863A-31E35E0EF9E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6618" y="2022540"/>
            <a:ext cx="1517425" cy="1169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496;p41">
            <a:extLst>
              <a:ext uri="{FF2B5EF4-FFF2-40B4-BE49-F238E27FC236}">
                <a16:creationId xmlns:a16="http://schemas.microsoft.com/office/drawing/2014/main" id="{13818DF9-6B88-436F-B8C7-FE819EE96648}"/>
              </a:ext>
            </a:extLst>
          </p:cNvPr>
          <p:cNvGrpSpPr/>
          <p:nvPr/>
        </p:nvGrpSpPr>
        <p:grpSpPr>
          <a:xfrm>
            <a:off x="1567282" y="3739894"/>
            <a:ext cx="1076100" cy="1739700"/>
            <a:chOff x="1775100" y="4022850"/>
            <a:chExt cx="1076100" cy="1739700"/>
          </a:xfrm>
        </p:grpSpPr>
        <p:sp>
          <p:nvSpPr>
            <p:cNvPr id="8" name="Google Shape;497;p41">
              <a:extLst>
                <a:ext uri="{FF2B5EF4-FFF2-40B4-BE49-F238E27FC236}">
                  <a16:creationId xmlns:a16="http://schemas.microsoft.com/office/drawing/2014/main" id="{F14D610F-0B12-48C3-90C3-2C6DC7F3A78E}"/>
                </a:ext>
              </a:extLst>
            </p:cNvPr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498;p41">
              <a:extLst>
                <a:ext uri="{FF2B5EF4-FFF2-40B4-BE49-F238E27FC236}">
                  <a16:creationId xmlns:a16="http://schemas.microsoft.com/office/drawing/2014/main" id="{7F3037D0-AB17-4FC1-9FF0-3B8FC8C632A5}"/>
                </a:ext>
              </a:extLst>
            </p:cNvPr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0" name="Google Shape;499;p41">
                <a:extLst>
                  <a:ext uri="{FF2B5EF4-FFF2-40B4-BE49-F238E27FC236}">
                    <a16:creationId xmlns:a16="http://schemas.microsoft.com/office/drawing/2014/main" id="{F08BE760-B8A9-4BB5-BDEA-ADA771B0D746}"/>
                  </a:ext>
                </a:extLst>
              </p:cNvPr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" name="Google Shape;500;p41">
                <a:extLst>
                  <a:ext uri="{FF2B5EF4-FFF2-40B4-BE49-F238E27FC236}">
                    <a16:creationId xmlns:a16="http://schemas.microsoft.com/office/drawing/2014/main" id="{AB36E447-BC6F-465D-900A-A056273060C0}"/>
                  </a:ext>
                </a:extLst>
              </p:cNvPr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2" name="Google Shape;501;p41">
                <a:extLst>
                  <a:ext uri="{FF2B5EF4-FFF2-40B4-BE49-F238E27FC236}">
                    <a16:creationId xmlns:a16="http://schemas.microsoft.com/office/drawing/2014/main" id="{F79393D5-4C3A-4959-A281-B554A8B89B0F}"/>
                  </a:ext>
                </a:extLst>
              </p:cNvPr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13" name="Google Shape;502;p41">
                <a:extLst>
                  <a:ext uri="{FF2B5EF4-FFF2-40B4-BE49-F238E27FC236}">
                    <a16:creationId xmlns:a16="http://schemas.microsoft.com/office/drawing/2014/main" id="{167204E9-8D66-4C67-A14A-95C8FFA93566}"/>
                  </a:ext>
                </a:extLst>
              </p:cNvPr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14" name="Google Shape;503;p41">
                <a:extLst>
                  <a:ext uri="{FF2B5EF4-FFF2-40B4-BE49-F238E27FC236}">
                    <a16:creationId xmlns:a16="http://schemas.microsoft.com/office/drawing/2014/main" id="{A849407A-5E3D-441B-A8BA-1ED4C2ACBE7A}"/>
                  </a:ext>
                </a:extLst>
              </p:cNvPr>
              <p:cNvCxnSpPr>
                <a:stCxn id="12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" name="Google Shape;504;p41">
                <a:extLst>
                  <a:ext uri="{FF2B5EF4-FFF2-40B4-BE49-F238E27FC236}">
                    <a16:creationId xmlns:a16="http://schemas.microsoft.com/office/drawing/2014/main" id="{E4361165-3E15-44E1-AFAB-CFF19145277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6" name="Google Shape;505;p41">
            <a:extLst>
              <a:ext uri="{FF2B5EF4-FFF2-40B4-BE49-F238E27FC236}">
                <a16:creationId xmlns:a16="http://schemas.microsoft.com/office/drawing/2014/main" id="{6D988828-BED9-4C26-8956-C771EE481E40}"/>
              </a:ext>
            </a:extLst>
          </p:cNvPr>
          <p:cNvSpPr txBox="1"/>
          <p:nvPr/>
        </p:nvSpPr>
        <p:spPr>
          <a:xfrm>
            <a:off x="5734370" y="6000619"/>
            <a:ext cx="3484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/>
              <a:t>Simulación online</a:t>
            </a:r>
            <a:r>
              <a:rPr lang="es-ES"/>
              <a:t> (</a:t>
            </a:r>
            <a:r>
              <a:rPr lang="es-ES" u="sng">
                <a:solidFill>
                  <a:schemeClr val="hlink"/>
                </a:solidFill>
                <a:hlinkClick r:id="rId6"/>
              </a:rPr>
              <a:t>link</a:t>
            </a:r>
            <a:r>
              <a:rPr lang="es-ES"/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033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998687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Carga: De un programa a un proceso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971358-C4A6-4D32-A9DD-1104BC49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125" y="1239044"/>
            <a:ext cx="4889739" cy="4986088"/>
          </a:xfrm>
          <a:prstGeom prst="rect">
            <a:avLst/>
          </a:prstGeom>
        </p:spPr>
      </p:pic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10265CF8-73BD-488C-A7EF-F039C076A729}"/>
              </a:ext>
            </a:extLst>
          </p:cNvPr>
          <p:cNvSpPr txBox="1">
            <a:spLocks/>
          </p:cNvSpPr>
          <p:nvPr/>
        </p:nvSpPr>
        <p:spPr>
          <a:xfrm>
            <a:off x="722686" y="1239044"/>
            <a:ext cx="4675909" cy="3825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MX" sz="2400" b="1" dirty="0"/>
              <a:t>Pasos </a:t>
            </a:r>
          </a:p>
          <a:p>
            <a:pPr marL="457200" indent="-355600">
              <a:lnSpc>
                <a:spcPct val="100000"/>
              </a:lnSpc>
              <a:spcBef>
                <a:spcPts val="600"/>
              </a:spcBef>
              <a:buSzPts val="2000"/>
              <a:buFont typeface="Arial"/>
              <a:buAutoNum type="arabicPeriod"/>
            </a:pPr>
            <a:r>
              <a:rPr lang="es-CO" sz="1800" b="0" i="0" u="none" strike="noStrike" dirty="0">
                <a:solidFill>
                  <a:srgbClr val="000000"/>
                </a:solidFill>
                <a:effectLst/>
              </a:rPr>
              <a:t>del código del programa a memoria en forma diferida</a:t>
            </a:r>
          </a:p>
          <a:p>
            <a:pPr marL="457200" indent="-355600">
              <a:lnSpc>
                <a:spcPct val="100000"/>
              </a:lnSpc>
              <a:spcBef>
                <a:spcPts val="600"/>
              </a:spcBef>
              <a:buSzPts val="2000"/>
              <a:buFont typeface="Arial"/>
              <a:buAutoNum type="arabicPeriod"/>
            </a:pP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Asignación de memoria en la pila (</a:t>
            </a:r>
            <a:r>
              <a:rPr lang="es-MX" sz="1800" b="1" i="0" u="none" strike="noStrike" dirty="0" err="1">
                <a:solidFill>
                  <a:srgbClr val="000000"/>
                </a:solidFill>
                <a:effectLst/>
              </a:rPr>
              <a:t>stack</a:t>
            </a: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) en tiempo de ejecución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2000" dirty="0"/>
              <a:t>Creación del espacio de memoria </a:t>
            </a:r>
            <a:r>
              <a:rPr lang="es-MX" sz="2000" b="1" dirty="0" err="1"/>
              <a:t>heap</a:t>
            </a:r>
            <a:endParaRPr lang="es-MX" sz="2000" b="1" dirty="0"/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Realización de tareas de inicialización I/O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1800" dirty="0"/>
              <a:t>Inicio del programa ejecutando el punto de entrada </a:t>
            </a:r>
            <a:r>
              <a:rPr lang="es-MX" sz="1800" dirty="0">
                <a:ea typeface="Courier New"/>
                <a:cs typeface="Courier New"/>
                <a:sym typeface="Courier New"/>
              </a:rPr>
              <a:t>main()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18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2000" dirty="0"/>
          </a:p>
          <a:p>
            <a:pPr marL="9144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s-MX" sz="2000" dirty="0"/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MX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2140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998687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Volvamos a la pregunta</a:t>
            </a:r>
            <a:endParaRPr dirty="0"/>
          </a:p>
        </p:txBody>
      </p:sp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10265CF8-73BD-488C-A7EF-F039C076A729}"/>
              </a:ext>
            </a:extLst>
          </p:cNvPr>
          <p:cNvSpPr txBox="1">
            <a:spLocks/>
          </p:cNvSpPr>
          <p:nvPr/>
        </p:nvSpPr>
        <p:spPr>
          <a:xfrm>
            <a:off x="722686" y="1239044"/>
            <a:ext cx="10746628" cy="672883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0000"/>
                </a:solidFill>
              </a:rPr>
              <a:t>¿Cómo es que teniendo una sola CPU (en teoría) puedo correr varias tareas a la vez?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18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2000" dirty="0"/>
          </a:p>
          <a:p>
            <a:pPr marL="9144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s-MX" sz="2000" dirty="0"/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MX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cxnSp>
        <p:nvCxnSpPr>
          <p:cNvPr id="5" name="Google Shape;536;p45">
            <a:extLst>
              <a:ext uri="{FF2B5EF4-FFF2-40B4-BE49-F238E27FC236}">
                <a16:creationId xmlns:a16="http://schemas.microsoft.com/office/drawing/2014/main" id="{DA8B72F9-8253-449F-BCE2-3DF77B63A440}"/>
              </a:ext>
            </a:extLst>
          </p:cNvPr>
          <p:cNvCxnSpPr/>
          <p:nvPr/>
        </p:nvCxnSpPr>
        <p:spPr>
          <a:xfrm rot="10800000" flipH="1">
            <a:off x="1158053" y="5166210"/>
            <a:ext cx="3501900" cy="23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538;p45">
            <a:extLst>
              <a:ext uri="{FF2B5EF4-FFF2-40B4-BE49-F238E27FC236}">
                <a16:creationId xmlns:a16="http://schemas.microsoft.com/office/drawing/2014/main" id="{1A649EA8-D04A-4C09-AF2B-F901BB12AA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950" y="4486448"/>
            <a:ext cx="520440" cy="5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39;p45">
            <a:extLst>
              <a:ext uri="{FF2B5EF4-FFF2-40B4-BE49-F238E27FC236}">
                <a16:creationId xmlns:a16="http://schemas.microsoft.com/office/drawing/2014/main" id="{024F3560-7172-4B56-94B2-C04A85F96B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9765" y="4371572"/>
            <a:ext cx="701575" cy="7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40;p45">
            <a:extLst>
              <a:ext uri="{FF2B5EF4-FFF2-40B4-BE49-F238E27FC236}">
                <a16:creationId xmlns:a16="http://schemas.microsoft.com/office/drawing/2014/main" id="{948DEB3F-D005-4D83-8980-131E601523E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818" y="4486781"/>
            <a:ext cx="520450" cy="47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41;p45">
            <a:extLst>
              <a:ext uri="{FF2B5EF4-FFF2-40B4-BE49-F238E27FC236}">
                <a16:creationId xmlns:a16="http://schemas.microsoft.com/office/drawing/2014/main" id="{73BB7E0A-B482-449E-8C9F-04CC5F837D8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9767" y="5282998"/>
            <a:ext cx="701574" cy="83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37;p45">
            <a:extLst>
              <a:ext uri="{FF2B5EF4-FFF2-40B4-BE49-F238E27FC236}">
                <a16:creationId xmlns:a16="http://schemas.microsoft.com/office/drawing/2014/main" id="{89544D6A-1A82-4943-8DED-17ED55E80E4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2786362"/>
            <a:ext cx="5852826" cy="14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1D0DC7-E204-4890-93EF-98D6DCB6C68E}"/>
              </a:ext>
            </a:extLst>
          </p:cNvPr>
          <p:cNvSpPr txBox="1"/>
          <p:nvPr/>
        </p:nvSpPr>
        <p:spPr>
          <a:xfrm>
            <a:off x="7647709" y="2113479"/>
            <a:ext cx="3821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Técnica de</a:t>
            </a:r>
            <a:r>
              <a:rPr lang="es-MX" sz="2000" b="1" dirty="0"/>
              <a:t> time </a:t>
            </a:r>
            <a:r>
              <a:rPr lang="es-MX" sz="2000" b="1" dirty="0" err="1"/>
              <a:t>sharing</a:t>
            </a:r>
            <a:endParaRPr lang="es-CO" sz="2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D500C06-1E35-40D6-9BD7-6F317797D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38" y="1865962"/>
            <a:ext cx="3968828" cy="22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/>
              <a:t>Agenda</a:t>
            </a:r>
            <a:endParaRPr lang="es-ES" b="1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7" name="Google Shape;547;p46"/>
          <p:cNvSpPr txBox="1">
            <a:spLocks noGrp="1"/>
          </p:cNvSpPr>
          <p:nvPr>
            <p:ph type="body" idx="1"/>
          </p:nvPr>
        </p:nvSpPr>
        <p:spPr>
          <a:xfrm>
            <a:off x="838200" y="1013201"/>
            <a:ext cx="10515600" cy="485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0050" algn="l" rtl="0">
              <a:spcBef>
                <a:spcPts val="1000"/>
              </a:spcBef>
              <a:spcAft>
                <a:spcPts val="0"/>
              </a:spcAft>
              <a:buSzPts val="2700"/>
              <a:buChar char="●"/>
            </a:pPr>
            <a:r>
              <a:rPr lang="es-MX" sz="2700"/>
              <a:t>Repaso clase anterior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s-MX" sz="2700"/>
              <a:t>Contexto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s-MX" sz="2700"/>
              <a:t>¿Que es un proceso?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s-MX" sz="2700"/>
              <a:t>¿Como se crea un proceso?</a:t>
            </a: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700"/>
              <a:buChar char="●"/>
            </a:pPr>
            <a:r>
              <a:rPr lang="es-MX" sz="2700" b="1">
                <a:solidFill>
                  <a:srgbClr val="FF9900"/>
                </a:solidFill>
              </a:rPr>
              <a:t>Elementos de los sistemas operativos</a:t>
            </a: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MX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Elementos de los sistemas operativos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498764" y="1010300"/>
            <a:ext cx="11042072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2000" dirty="0"/>
              <a:t>Estos tres conceptos son los pilares que permiten que el software interactúe con el hardware sin caos</a:t>
            </a:r>
            <a:r>
              <a:rPr lang="es-ES" sz="2000" dirty="0"/>
              <a:t>: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Abstracción (lo que “ve” el usuario)</a:t>
            </a:r>
            <a:r>
              <a:rPr lang="es-ES" sz="2000" dirty="0"/>
              <a:t>: </a:t>
            </a:r>
            <a:r>
              <a:rPr lang="es-MX" sz="2000" dirty="0"/>
              <a:t>Interfaz simplificada que oculta la complejidad física del hardware.</a:t>
            </a:r>
          </a:p>
          <a:p>
            <a:pPr marL="914400" lvl="1" indent="-368300">
              <a:lnSpc>
                <a:spcPct val="100000"/>
              </a:lnSpc>
              <a:spcBef>
                <a:spcPts val="600"/>
              </a:spcBef>
              <a:buSzPts val="2200"/>
            </a:pPr>
            <a:r>
              <a:rPr lang="es-ES" sz="2000" dirty="0"/>
              <a:t>process, thread, file, socket, memory page.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Mecanismos (el “como” se hace): </a:t>
            </a:r>
            <a:r>
              <a:rPr lang="es-MX" sz="2000" dirty="0"/>
              <a:t>representa las herramientas o funciones de bajo nivel que permiten implementar una operación.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create</a:t>
            </a:r>
            <a:r>
              <a:rPr lang="es-ES" sz="2000" dirty="0"/>
              <a:t>, </a:t>
            </a:r>
            <a:r>
              <a:rPr lang="es-ES" sz="2000" dirty="0" err="1"/>
              <a:t>schedule</a:t>
            </a:r>
            <a:r>
              <a:rPr lang="es-ES" sz="2000" dirty="0"/>
              <a:t>, open, </a:t>
            </a:r>
            <a:r>
              <a:rPr lang="es-ES" sz="2000" dirty="0" err="1"/>
              <a:t>write</a:t>
            </a:r>
            <a:r>
              <a:rPr lang="es-ES" sz="2000" dirty="0"/>
              <a:t>, </a:t>
            </a:r>
            <a:r>
              <a:rPr lang="es-ES" sz="2000" dirty="0" err="1"/>
              <a:t>locate</a:t>
            </a:r>
            <a:r>
              <a:rPr lang="es-ES" sz="2000" dirty="0"/>
              <a:t>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Políticas (El “quien” y “cuando”)</a:t>
            </a:r>
            <a:r>
              <a:rPr lang="es-ES" sz="2000" dirty="0"/>
              <a:t>: </a:t>
            </a:r>
            <a:r>
              <a:rPr lang="es-MX" sz="2000" dirty="0"/>
              <a:t>es el conjunto de reglas o algoritmos que deciden cómo se utilizan los mecanismos para cumplir un objetivo.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Last</a:t>
            </a:r>
            <a:r>
              <a:rPr lang="es-ES" sz="2000" dirty="0"/>
              <a:t> Recently Used (LRU), Earliest </a:t>
            </a:r>
            <a:r>
              <a:rPr lang="es-ES" sz="2000" dirty="0" err="1"/>
              <a:t>Deadline</a:t>
            </a:r>
            <a:r>
              <a:rPr lang="es-ES" sz="2000" dirty="0"/>
              <a:t> </a:t>
            </a:r>
            <a:r>
              <a:rPr lang="es-ES" sz="2000" dirty="0" err="1"/>
              <a:t>First</a:t>
            </a:r>
            <a:r>
              <a:rPr lang="es-ES" sz="2000" dirty="0"/>
              <a:t> (EDF), etc.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graphicFrame>
        <p:nvGraphicFramePr>
          <p:cNvPr id="554" name="Google Shape;554;p47"/>
          <p:cNvGraphicFramePr/>
          <p:nvPr>
            <p:extLst>
              <p:ext uri="{D42A27DB-BD31-4B8C-83A1-F6EECF244321}">
                <p14:modId xmlns:p14="http://schemas.microsoft.com/office/powerpoint/2010/main" val="858836648"/>
              </p:ext>
            </p:extLst>
          </p:nvPr>
        </p:nvGraphicFramePr>
        <p:xfrm>
          <a:off x="3385997" y="4932050"/>
          <a:ext cx="7967803" cy="1462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7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/>
                        <a:t>Process management</a:t>
                      </a:r>
                      <a:endParaRPr sz="22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Abstracción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Proceso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Mecanismos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create, destroy, wait, status,...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Políticas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</a:rPr>
                        <a:t>FIFO, RR,...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Google Shape;450;p37">
            <a:extLst>
              <a:ext uri="{FF2B5EF4-FFF2-40B4-BE49-F238E27FC236}">
                <a16:creationId xmlns:a16="http://schemas.microsoft.com/office/drawing/2014/main" id="{070461D4-9EB4-42DF-B68B-A1B548142D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225" y="5188775"/>
            <a:ext cx="949500" cy="9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Elementos de los sistemas operativos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498764" y="1010300"/>
            <a:ext cx="11042072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2000" dirty="0"/>
              <a:t>Estos tres conceptos son los pilares que permiten que el software interactúe con el hardware sin caos</a:t>
            </a:r>
            <a:r>
              <a:rPr lang="es-ES" sz="2000" dirty="0"/>
              <a:t>: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Abstracción (lo que “ve” el usuario)</a:t>
            </a:r>
            <a:r>
              <a:rPr lang="es-ES" sz="2000" dirty="0"/>
              <a:t>: </a:t>
            </a:r>
            <a:r>
              <a:rPr lang="es-MX" sz="2000" dirty="0"/>
              <a:t>Interfaz simplificada que oculta la complejidad física del hardware.</a:t>
            </a:r>
          </a:p>
          <a:p>
            <a:pPr marL="914400" lvl="1" indent="-368300">
              <a:lnSpc>
                <a:spcPct val="100000"/>
              </a:lnSpc>
              <a:spcBef>
                <a:spcPts val="600"/>
              </a:spcBef>
              <a:buSzPts val="2200"/>
            </a:pPr>
            <a:r>
              <a:rPr lang="es-ES" sz="2000" dirty="0"/>
              <a:t>process, thread, file, socket, memory page.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Mecanismos (el “como” se hace): </a:t>
            </a:r>
            <a:r>
              <a:rPr lang="es-MX" sz="2000" dirty="0"/>
              <a:t>representa las herramientas o funciones de bajo nivel que permiten implementar una operación.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create</a:t>
            </a:r>
            <a:r>
              <a:rPr lang="es-ES" sz="2000" dirty="0"/>
              <a:t>, </a:t>
            </a:r>
            <a:r>
              <a:rPr lang="es-ES" sz="2000" dirty="0" err="1"/>
              <a:t>schedule</a:t>
            </a:r>
            <a:r>
              <a:rPr lang="es-ES" sz="2000" dirty="0"/>
              <a:t>, open, </a:t>
            </a:r>
            <a:r>
              <a:rPr lang="es-ES" sz="2000" dirty="0" err="1"/>
              <a:t>write</a:t>
            </a:r>
            <a:r>
              <a:rPr lang="es-ES" sz="2000" dirty="0"/>
              <a:t>, </a:t>
            </a:r>
            <a:r>
              <a:rPr lang="es-ES" sz="2000" dirty="0" err="1"/>
              <a:t>locate</a:t>
            </a:r>
            <a:r>
              <a:rPr lang="es-ES" sz="2000" dirty="0"/>
              <a:t>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Políticas (El “quien” y “cuando”)</a:t>
            </a:r>
            <a:r>
              <a:rPr lang="es-ES" sz="2000" dirty="0"/>
              <a:t>: </a:t>
            </a:r>
            <a:r>
              <a:rPr lang="es-MX" sz="2000" dirty="0"/>
              <a:t>es el conjunto de reglas o algoritmos que deciden cómo se utilizan los mecanismos para cumplir un objetivo.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Last</a:t>
            </a:r>
            <a:r>
              <a:rPr lang="es-ES" sz="2000" dirty="0"/>
              <a:t> Recently Used (LRU), Earliest </a:t>
            </a:r>
            <a:r>
              <a:rPr lang="es-ES" sz="2000" dirty="0" err="1"/>
              <a:t>Deadline</a:t>
            </a:r>
            <a:r>
              <a:rPr lang="es-ES" sz="2000" dirty="0"/>
              <a:t> </a:t>
            </a:r>
            <a:r>
              <a:rPr lang="es-ES" sz="2000" dirty="0" err="1"/>
              <a:t>First</a:t>
            </a:r>
            <a:r>
              <a:rPr lang="es-ES" sz="2000" dirty="0"/>
              <a:t> (EDF), etc.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graphicFrame>
        <p:nvGraphicFramePr>
          <p:cNvPr id="554" name="Google Shape;554;p47"/>
          <p:cNvGraphicFramePr/>
          <p:nvPr/>
        </p:nvGraphicFramePr>
        <p:xfrm>
          <a:off x="3385997" y="4932050"/>
          <a:ext cx="7967803" cy="1462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7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/>
                        <a:t>Process management</a:t>
                      </a:r>
                      <a:endParaRPr sz="22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Abstracción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Proceso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Mecanismos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create, destroy, wait, status,...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Políticas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</a:rPr>
                        <a:t>FIFO, RR,...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Google Shape;450;p37">
            <a:extLst>
              <a:ext uri="{FF2B5EF4-FFF2-40B4-BE49-F238E27FC236}">
                <a16:creationId xmlns:a16="http://schemas.microsoft.com/office/drawing/2014/main" id="{070461D4-9EB4-42DF-B68B-A1B548142D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225" y="5188775"/>
            <a:ext cx="949500" cy="94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940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Como implementar la Abstracción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332510" y="1081755"/>
            <a:ext cx="5541818" cy="27304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 b="1" dirty="0"/>
              <a:t>La Abstracción (El "Qué")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Definición:</a:t>
            </a:r>
            <a:r>
              <a:rPr lang="es-MX" sz="2000" dirty="0"/>
              <a:t> Modelo simplificado que oculta la complejidad del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Objetivo:</a:t>
            </a:r>
            <a:r>
              <a:rPr lang="es-MX" sz="2000" dirty="0"/>
              <a:t> Transformar recursos físicos (voltajes, sectores) en objetos lógicos.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Ejemplos:</a:t>
            </a:r>
            <a:r>
              <a:rPr lang="es-MX" sz="2000" dirty="0"/>
              <a:t> Archivos, Procesos, Espacios de Direccionamiento.</a:t>
            </a: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sp>
        <p:nvSpPr>
          <p:cNvPr id="8" name="Google Shape;553;p47">
            <a:extLst>
              <a:ext uri="{FF2B5EF4-FFF2-40B4-BE49-F238E27FC236}">
                <a16:creationId xmlns:a16="http://schemas.microsoft.com/office/drawing/2014/main" id="{44A36B86-4315-41B1-9567-DB30590BDC3C}"/>
              </a:ext>
            </a:extLst>
          </p:cNvPr>
          <p:cNvSpPr txBox="1">
            <a:spLocks/>
          </p:cNvSpPr>
          <p:nvPr/>
        </p:nvSpPr>
        <p:spPr>
          <a:xfrm>
            <a:off x="6096000" y="973103"/>
            <a:ext cx="5375564" cy="287529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La API (El "Contrato")</a:t>
            </a:r>
          </a:p>
          <a:p>
            <a:r>
              <a:rPr lang="es-MX" sz="2000" b="1" dirty="0"/>
              <a:t>Definición:</a:t>
            </a:r>
            <a:r>
              <a:rPr lang="es-MX" sz="2000" dirty="0"/>
              <a:t> Conjunto de funciones y protocolos (</a:t>
            </a:r>
            <a:r>
              <a:rPr lang="es-MX" sz="2000" b="1" dirty="0"/>
              <a:t>punto de entrada</a:t>
            </a:r>
            <a:r>
              <a:rPr lang="es-MX" sz="2000" dirty="0"/>
              <a:t>) para interactuar con el Kernel.</a:t>
            </a:r>
          </a:p>
          <a:p>
            <a:r>
              <a:rPr lang="es-MX" sz="2000" b="1" dirty="0"/>
              <a:t>Rol:</a:t>
            </a:r>
            <a:r>
              <a:rPr lang="es-MX" sz="2000" dirty="0"/>
              <a:t> Es la </a:t>
            </a:r>
            <a:r>
              <a:rPr lang="es-MX" sz="2000" b="1" dirty="0"/>
              <a:t>formalización de la abstracción</a:t>
            </a:r>
            <a:r>
              <a:rPr lang="es-MX" sz="2000" dirty="0"/>
              <a:t>. Permite la portabilidad (ej. POSIX).</a:t>
            </a:r>
          </a:p>
          <a:p>
            <a:r>
              <a:rPr lang="es-MX" sz="2000" b="1" dirty="0"/>
              <a:t>Seguridad:</a:t>
            </a:r>
            <a:r>
              <a:rPr lang="es-MX" sz="2000" dirty="0"/>
              <a:t> Única vía legal para pasar de </a:t>
            </a:r>
            <a:r>
              <a:rPr lang="es-MX" sz="2000" i="1" dirty="0"/>
              <a:t>Modo Usuario</a:t>
            </a:r>
            <a:r>
              <a:rPr lang="es-MX" sz="2000" dirty="0"/>
              <a:t> a </a:t>
            </a:r>
            <a:r>
              <a:rPr lang="es-MX" sz="2000" i="1" dirty="0"/>
              <a:t>Modo Privilegiado</a:t>
            </a:r>
            <a:r>
              <a:rPr lang="es-MX" sz="2000" dirty="0"/>
              <a:t>.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s-ES" dirty="0"/>
          </a:p>
        </p:txBody>
      </p:sp>
      <p:graphicFrame>
        <p:nvGraphicFramePr>
          <p:cNvPr id="9" name="Google Shape;573;p49">
            <a:extLst>
              <a:ext uri="{FF2B5EF4-FFF2-40B4-BE49-F238E27FC236}">
                <a16:creationId xmlns:a16="http://schemas.microsoft.com/office/drawing/2014/main" id="{9D258CAB-F7EB-45DD-86D2-DC610D7A3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955911"/>
              </p:ext>
            </p:extLst>
          </p:nvPr>
        </p:nvGraphicFramePr>
        <p:xfrm>
          <a:off x="5591434" y="4037018"/>
          <a:ext cx="6289964" cy="2560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Función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Descripción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Crea un nuevo proceso para ejecutar un programa.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Eliminar (destroy)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Forzar la detención de un programa en ejecución.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Esperar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Espera que un proceso termine su ejecución.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Operaciones de control	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Ej. Suspender un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 (status)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Información de estado del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2" descr="processlifecycle">
            <a:extLst>
              <a:ext uri="{FF2B5EF4-FFF2-40B4-BE49-F238E27FC236}">
                <a16:creationId xmlns:a16="http://schemas.microsoft.com/office/drawing/2014/main" id="{22CC7EA7-E9C0-494C-845B-A0496714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50" y="4037018"/>
            <a:ext cx="3754149" cy="212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762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Como implementar la Abstracción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332510" y="1081755"/>
            <a:ext cx="5541818" cy="27304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 b="1" dirty="0"/>
              <a:t>La Abstracción (El "Qué")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Definición:</a:t>
            </a:r>
            <a:r>
              <a:rPr lang="es-MX" sz="2000" dirty="0"/>
              <a:t> Modelo simplificado que oculta la complejidad del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Objetivo:</a:t>
            </a:r>
            <a:r>
              <a:rPr lang="es-MX" sz="2000" dirty="0"/>
              <a:t> Transformar recursos físicos (voltajes, sectores) en objetos lógicos.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Ejemplos:</a:t>
            </a:r>
            <a:r>
              <a:rPr lang="es-MX" sz="2000" dirty="0"/>
              <a:t> Archivos, Procesos, Espacios de Direccionamiento.</a:t>
            </a: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sp>
        <p:nvSpPr>
          <p:cNvPr id="8" name="Google Shape;553;p47">
            <a:extLst>
              <a:ext uri="{FF2B5EF4-FFF2-40B4-BE49-F238E27FC236}">
                <a16:creationId xmlns:a16="http://schemas.microsoft.com/office/drawing/2014/main" id="{44A36B86-4315-41B1-9567-DB30590BDC3C}"/>
              </a:ext>
            </a:extLst>
          </p:cNvPr>
          <p:cNvSpPr txBox="1">
            <a:spLocks/>
          </p:cNvSpPr>
          <p:nvPr/>
        </p:nvSpPr>
        <p:spPr>
          <a:xfrm>
            <a:off x="6096000" y="973103"/>
            <a:ext cx="5375564" cy="287529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La API (El "Contrato")</a:t>
            </a:r>
          </a:p>
          <a:p>
            <a:r>
              <a:rPr lang="es-MX" sz="2000" b="1" dirty="0"/>
              <a:t>Definición:</a:t>
            </a:r>
            <a:r>
              <a:rPr lang="es-MX" sz="2000" dirty="0"/>
              <a:t> Conjunto de funciones y protocolos (</a:t>
            </a:r>
            <a:r>
              <a:rPr lang="es-MX" sz="2000" b="1" dirty="0"/>
              <a:t>punto de entrada</a:t>
            </a:r>
            <a:r>
              <a:rPr lang="es-MX" sz="2000" dirty="0"/>
              <a:t>) para interactuar con el Kernel.</a:t>
            </a:r>
          </a:p>
          <a:p>
            <a:r>
              <a:rPr lang="es-MX" sz="2000" b="1" dirty="0"/>
              <a:t>Rol:</a:t>
            </a:r>
            <a:r>
              <a:rPr lang="es-MX" sz="2000" dirty="0"/>
              <a:t> Es la </a:t>
            </a:r>
            <a:r>
              <a:rPr lang="es-MX" sz="2000" b="1" dirty="0"/>
              <a:t>formalización de la abstracción</a:t>
            </a:r>
            <a:r>
              <a:rPr lang="es-MX" sz="2000" dirty="0"/>
              <a:t>. Permite la portabilidad (ej. POSIX).</a:t>
            </a:r>
          </a:p>
          <a:p>
            <a:r>
              <a:rPr lang="es-MX" sz="2000" b="1" dirty="0"/>
              <a:t>Seguridad:</a:t>
            </a:r>
            <a:r>
              <a:rPr lang="es-MX" sz="2000" dirty="0"/>
              <a:t> Única vía legal para pasar de </a:t>
            </a:r>
            <a:r>
              <a:rPr lang="es-MX" sz="2000" i="1" dirty="0"/>
              <a:t>Modo Usuario</a:t>
            </a:r>
            <a:r>
              <a:rPr lang="es-MX" sz="2000" dirty="0"/>
              <a:t> a </a:t>
            </a:r>
            <a:r>
              <a:rPr lang="es-MX" sz="2000" i="1" dirty="0"/>
              <a:t>Modo Privilegiado</a:t>
            </a:r>
            <a:r>
              <a:rPr lang="es-MX" sz="2000" dirty="0"/>
              <a:t>.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s-ES" dirty="0"/>
          </a:p>
        </p:txBody>
      </p:sp>
      <p:graphicFrame>
        <p:nvGraphicFramePr>
          <p:cNvPr id="9" name="Google Shape;573;p49">
            <a:extLst>
              <a:ext uri="{FF2B5EF4-FFF2-40B4-BE49-F238E27FC236}">
                <a16:creationId xmlns:a16="http://schemas.microsoft.com/office/drawing/2014/main" id="{9D258CAB-F7EB-45DD-86D2-DC610D7A34A2}"/>
              </a:ext>
            </a:extLst>
          </p:cNvPr>
          <p:cNvGraphicFramePr/>
          <p:nvPr/>
        </p:nvGraphicFramePr>
        <p:xfrm>
          <a:off x="5591434" y="4037018"/>
          <a:ext cx="6289964" cy="2560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Función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Descripción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Crea un nuevo proceso para ejecutar un programa.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Eliminar (destroy)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Forzar la detención de un programa en ejecución.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Esperar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Espera que un proceso termine su ejecución.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Operaciones de control	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Ej. Suspender un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 (status)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Información de estado del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2" descr="processlifecycle">
            <a:extLst>
              <a:ext uri="{FF2B5EF4-FFF2-40B4-BE49-F238E27FC236}">
                <a16:creationId xmlns:a16="http://schemas.microsoft.com/office/drawing/2014/main" id="{22CC7EA7-E9C0-494C-845B-A0496714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50" y="4037018"/>
            <a:ext cx="3754149" cy="212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600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de tres estados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8" name="Google Shape;586;p51">
            <a:extLst>
              <a:ext uri="{FF2B5EF4-FFF2-40B4-BE49-F238E27FC236}">
                <a16:creationId xmlns:a16="http://schemas.microsoft.com/office/drawing/2014/main" id="{769BE2A6-2251-4633-91AB-9143E8A3D3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624" y="1135593"/>
            <a:ext cx="6467475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87;p51">
            <a:extLst>
              <a:ext uri="{FF2B5EF4-FFF2-40B4-BE49-F238E27FC236}">
                <a16:creationId xmlns:a16="http://schemas.microsoft.com/office/drawing/2014/main" id="{84CB9574-27F5-4A10-9A5B-91D6283B808A}"/>
              </a:ext>
            </a:extLst>
          </p:cNvPr>
          <p:cNvSpPr txBox="1"/>
          <p:nvPr/>
        </p:nvSpPr>
        <p:spPr>
          <a:xfrm>
            <a:off x="8814186" y="2194292"/>
            <a:ext cx="2596800" cy="677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se ejecuta en el procesador</a:t>
            </a:r>
            <a:endParaRPr sz="1600"/>
          </a:p>
        </p:txBody>
      </p:sp>
      <p:sp>
        <p:nvSpPr>
          <p:cNvPr id="10" name="Google Shape;588;p51">
            <a:extLst>
              <a:ext uri="{FF2B5EF4-FFF2-40B4-BE49-F238E27FC236}">
                <a16:creationId xmlns:a16="http://schemas.microsoft.com/office/drawing/2014/main" id="{385DBF42-9098-4D46-83B0-E4C679679A6F}"/>
              </a:ext>
            </a:extLst>
          </p:cNvPr>
          <p:cNvSpPr txBox="1"/>
          <p:nvPr/>
        </p:nvSpPr>
        <p:spPr>
          <a:xfrm>
            <a:off x="656936" y="2037217"/>
            <a:ext cx="2914800" cy="1280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está listo para ser ejecutado pero el SO ha decidido no ejecutarlo en este momento.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" name="Google Shape;589;p51">
            <a:extLst>
              <a:ext uri="{FF2B5EF4-FFF2-40B4-BE49-F238E27FC236}">
                <a16:creationId xmlns:a16="http://schemas.microsoft.com/office/drawing/2014/main" id="{73DC3FAB-7C84-46A7-A84C-81BA0D1CEDF7}"/>
              </a:ext>
            </a:extLst>
          </p:cNvPr>
          <p:cNvSpPr txBox="1"/>
          <p:nvPr/>
        </p:nvSpPr>
        <p:spPr>
          <a:xfrm>
            <a:off x="4890686" y="5247242"/>
            <a:ext cx="2781600" cy="71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desarrolla alguna operación (I/O disco).</a:t>
            </a:r>
            <a:endParaRPr sz="16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4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de tres estados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098" name="Picture 2" descr="io">
            <a:extLst>
              <a:ext uri="{FF2B5EF4-FFF2-40B4-BE49-F238E27FC236}">
                <a16:creationId xmlns:a16="http://schemas.microsoft.com/office/drawing/2014/main" id="{34B46307-2531-4459-9158-78BBCB758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78096"/>
            <a:ext cx="7098288" cy="342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586;p51">
            <a:extLst>
              <a:ext uri="{FF2B5EF4-FFF2-40B4-BE49-F238E27FC236}">
                <a16:creationId xmlns:a16="http://schemas.microsoft.com/office/drawing/2014/main" id="{61682E9E-595B-498A-A016-111649B309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402" y="2161611"/>
            <a:ext cx="3717779" cy="2534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463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Estados de un proceso – Ejemplo 1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" name="Google Shape;596;p52">
            <a:extLst>
              <a:ext uri="{FF2B5EF4-FFF2-40B4-BE49-F238E27FC236}">
                <a16:creationId xmlns:a16="http://schemas.microsoft.com/office/drawing/2014/main" id="{3A502652-2E09-494A-94BF-6130F804F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34" y="1135593"/>
            <a:ext cx="3637502" cy="241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97;p52">
            <a:extLst>
              <a:ext uri="{FF2B5EF4-FFF2-40B4-BE49-F238E27FC236}">
                <a16:creationId xmlns:a16="http://schemas.microsoft.com/office/drawing/2014/main" id="{37CEE171-6A97-4EFC-8027-E214B06358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650" y="1045538"/>
            <a:ext cx="5179350" cy="2692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092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Estados de un proceso – Ejemplo 2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" name="Google Shape;596;p52">
            <a:extLst>
              <a:ext uri="{FF2B5EF4-FFF2-40B4-BE49-F238E27FC236}">
                <a16:creationId xmlns:a16="http://schemas.microsoft.com/office/drawing/2014/main" id="{3A502652-2E09-494A-94BF-6130F804F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34" y="1135593"/>
            <a:ext cx="3637502" cy="241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05;p53">
            <a:extLst>
              <a:ext uri="{FF2B5EF4-FFF2-40B4-BE49-F238E27FC236}">
                <a16:creationId xmlns:a16="http://schemas.microsoft.com/office/drawing/2014/main" id="{AE4795EA-8EE8-4049-8A2E-F5F4B9A7C0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4147" y="1045538"/>
            <a:ext cx="4727164" cy="27462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76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Linux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5" name="Google Shape;612;p54">
            <a:extLst>
              <a:ext uri="{FF2B5EF4-FFF2-40B4-BE49-F238E27FC236}">
                <a16:creationId xmlns:a16="http://schemas.microsoft.com/office/drawing/2014/main" id="{E46D3F2B-AF8A-4F50-9745-CA1E40C791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836" y="1045538"/>
            <a:ext cx="6432150" cy="48221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13;p54">
            <a:extLst>
              <a:ext uri="{FF2B5EF4-FFF2-40B4-BE49-F238E27FC236}">
                <a16:creationId xmlns:a16="http://schemas.microsoft.com/office/drawing/2014/main" id="{8DEC5FE3-CB87-4989-85CD-870B12F5522D}"/>
              </a:ext>
            </a:extLst>
          </p:cNvPr>
          <p:cNvSpPr txBox="1"/>
          <p:nvPr/>
        </p:nvSpPr>
        <p:spPr>
          <a:xfrm>
            <a:off x="3248386" y="5867687"/>
            <a:ext cx="577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Imagen realizada por Adrián Martínez </a:t>
            </a: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726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Pasando al código – Estructuras de datos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51594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342900">
              <a:lnSpc>
                <a:spcPct val="100000"/>
              </a:lnSpc>
              <a:spcBef>
                <a:spcPts val="600"/>
              </a:spcBef>
              <a:buSzPts val="2400"/>
            </a:pPr>
            <a:r>
              <a:rPr lang="es-MX" sz="2000" dirty="0"/>
              <a:t>El sistema operativo requiere </a:t>
            </a:r>
            <a:r>
              <a:rPr lang="es-MX" sz="2000" b="1" dirty="0"/>
              <a:t>estructuras de datos</a:t>
            </a:r>
            <a:r>
              <a:rPr lang="es-MX" sz="2000" dirty="0"/>
              <a:t> para rastrear los elementos claves.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8" name="Google Shape;620;p55">
            <a:extLst>
              <a:ext uri="{FF2B5EF4-FFF2-40B4-BE49-F238E27FC236}">
                <a16:creationId xmlns:a16="http://schemas.microsoft.com/office/drawing/2014/main" id="{95932945-E8D2-4394-8193-0B9D04C2E7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59" y="1845746"/>
            <a:ext cx="2768175" cy="438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1;p55">
            <a:extLst>
              <a:ext uri="{FF2B5EF4-FFF2-40B4-BE49-F238E27FC236}">
                <a16:creationId xmlns:a16="http://schemas.microsoft.com/office/drawing/2014/main" id="{54E46627-CAC0-4FFC-8E86-B354F36D1F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639" y="2089942"/>
            <a:ext cx="7296425" cy="8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22;p55">
            <a:extLst>
              <a:ext uri="{FF2B5EF4-FFF2-40B4-BE49-F238E27FC236}">
                <a16:creationId xmlns:a16="http://schemas.microsoft.com/office/drawing/2014/main" id="{E9DEE977-BDC2-41D2-804E-609E5B819EA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9540" y="3523667"/>
            <a:ext cx="7432901" cy="1005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23;p55">
            <a:extLst>
              <a:ext uri="{FF2B5EF4-FFF2-40B4-BE49-F238E27FC236}">
                <a16:creationId xmlns:a16="http://schemas.microsoft.com/office/drawing/2014/main" id="{555F8B30-472A-48D1-84B6-B849A600BBC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9403" y="5141675"/>
            <a:ext cx="7432899" cy="122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624;p55">
            <a:extLst>
              <a:ext uri="{FF2B5EF4-FFF2-40B4-BE49-F238E27FC236}">
                <a16:creationId xmlns:a16="http://schemas.microsoft.com/office/drawing/2014/main" id="{C6D69EB1-83C2-4AE4-BAFF-DD1F4C7F1D96}"/>
              </a:ext>
            </a:extLst>
          </p:cNvPr>
          <p:cNvSpPr txBox="1"/>
          <p:nvPr/>
        </p:nvSpPr>
        <p:spPr>
          <a:xfrm>
            <a:off x="3921465" y="1658842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1"/>
                </a:solidFill>
              </a:rPr>
              <a:t>Single linked list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3" name="Google Shape;625;p55">
            <a:extLst>
              <a:ext uri="{FF2B5EF4-FFF2-40B4-BE49-F238E27FC236}">
                <a16:creationId xmlns:a16="http://schemas.microsoft.com/office/drawing/2014/main" id="{AB94BFE4-A09D-4C4D-8E2C-48544D102E0C}"/>
              </a:ext>
            </a:extLst>
          </p:cNvPr>
          <p:cNvSpPr txBox="1"/>
          <p:nvPr/>
        </p:nvSpPr>
        <p:spPr>
          <a:xfrm>
            <a:off x="3989415" y="4710567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1"/>
                </a:solidFill>
              </a:rPr>
              <a:t>Circular linked list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4" name="Google Shape;626;p55">
            <a:extLst>
              <a:ext uri="{FF2B5EF4-FFF2-40B4-BE49-F238E27FC236}">
                <a16:creationId xmlns:a16="http://schemas.microsoft.com/office/drawing/2014/main" id="{847F692C-8FA2-4FBB-B5F9-33DEACE2BB40}"/>
              </a:ext>
            </a:extLst>
          </p:cNvPr>
          <p:cNvSpPr txBox="1"/>
          <p:nvPr/>
        </p:nvSpPr>
        <p:spPr>
          <a:xfrm>
            <a:off x="3989415" y="3052992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1"/>
                </a:solidFill>
              </a:rPr>
              <a:t>Double linked list</a:t>
            </a:r>
            <a:endParaRPr sz="16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44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Pasando al código – Estructuras de datos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51594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342900">
              <a:lnSpc>
                <a:spcPct val="100000"/>
              </a:lnSpc>
              <a:spcBef>
                <a:spcPts val="600"/>
              </a:spcBef>
              <a:buSzPts val="2400"/>
            </a:pPr>
            <a:r>
              <a:rPr lang="es-MX" sz="2000" dirty="0"/>
              <a:t>El sistema operativo requiere </a:t>
            </a:r>
            <a:r>
              <a:rPr lang="es-MX" sz="2000" b="1" dirty="0"/>
              <a:t>estructuras de datos</a:t>
            </a:r>
            <a:r>
              <a:rPr lang="es-MX" sz="2000" dirty="0"/>
              <a:t> para rastrear los elementos claves.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15" name="Google Shape;634;p56">
            <a:extLst>
              <a:ext uri="{FF2B5EF4-FFF2-40B4-BE49-F238E27FC236}">
                <a16:creationId xmlns:a16="http://schemas.microsoft.com/office/drawing/2014/main" id="{9A80F222-7A14-4BC3-9899-174D02B909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225" y="2776573"/>
            <a:ext cx="3716875" cy="28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635;p56">
            <a:extLst>
              <a:ext uri="{FF2B5EF4-FFF2-40B4-BE49-F238E27FC236}">
                <a16:creationId xmlns:a16="http://schemas.microsoft.com/office/drawing/2014/main" id="{1F4F652E-03EE-46DC-B59C-031F811ED145}"/>
              </a:ext>
            </a:extLst>
          </p:cNvPr>
          <p:cNvSpPr txBox="1"/>
          <p:nvPr/>
        </p:nvSpPr>
        <p:spPr>
          <a:xfrm>
            <a:off x="4292375" y="2065200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accent1"/>
                </a:solidFill>
              </a:rPr>
              <a:t>Binary</a:t>
            </a:r>
            <a:r>
              <a:rPr lang="es-ES" sz="1600" b="1" dirty="0">
                <a:solidFill>
                  <a:schemeClr val="accent1"/>
                </a:solidFill>
              </a:rPr>
              <a:t> </a:t>
            </a:r>
            <a:r>
              <a:rPr lang="es-ES" sz="1600" b="1" dirty="0" err="1">
                <a:solidFill>
                  <a:schemeClr val="accent1"/>
                </a:solidFill>
              </a:rPr>
              <a:t>search</a:t>
            </a:r>
            <a:r>
              <a:rPr lang="es-ES" sz="1600" b="1" dirty="0">
                <a:solidFill>
                  <a:schemeClr val="accent1"/>
                </a:solidFill>
              </a:rPr>
              <a:t> </a:t>
            </a:r>
            <a:r>
              <a:rPr lang="es-ES" sz="1600" b="1" dirty="0" err="1">
                <a:solidFill>
                  <a:schemeClr val="accent1"/>
                </a:solidFill>
              </a:rPr>
              <a:t>three</a:t>
            </a:r>
            <a:endParaRPr sz="1600" b="1" dirty="0">
              <a:solidFill>
                <a:schemeClr val="accent1"/>
              </a:solidFill>
            </a:endParaRPr>
          </a:p>
        </p:txBody>
      </p:sp>
      <p:pic>
        <p:nvPicPr>
          <p:cNvPr id="17" name="Google Shape;633;p56">
            <a:extLst>
              <a:ext uri="{FF2B5EF4-FFF2-40B4-BE49-F238E27FC236}">
                <a16:creationId xmlns:a16="http://schemas.microsoft.com/office/drawing/2014/main" id="{250EC1A6-8524-40BC-B090-EBB69E05814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4075" y="1990150"/>
            <a:ext cx="2572275" cy="4072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08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Lista de procesos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146633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listos</a:t>
            </a:r>
          </a:p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bloqueados</a:t>
            </a:r>
          </a:p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en ejecución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8" name="Google Shape;649;p58">
            <a:extLst>
              <a:ext uri="{FF2B5EF4-FFF2-40B4-BE49-F238E27FC236}">
                <a16:creationId xmlns:a16="http://schemas.microsoft.com/office/drawing/2014/main" id="{14EFCF5E-167C-46FE-886E-6022F4DE09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687" y="2556713"/>
            <a:ext cx="6076950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io">
            <a:extLst>
              <a:ext uri="{FF2B5EF4-FFF2-40B4-BE49-F238E27FC236}">
                <a16:creationId xmlns:a16="http://schemas.microsoft.com/office/drawing/2014/main" id="{0F4B93CB-E4D3-44D0-8A8C-B9CD03458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6" y="3344509"/>
            <a:ext cx="4604905" cy="222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341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443345" y="1029966"/>
            <a:ext cx="5430982" cy="566272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sz="2000" dirty="0"/>
              <a:t>Información acerca de cada proceso (estructura en C).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Estado de ejecución del programa</a:t>
            </a:r>
            <a:r>
              <a:rPr lang="es-MX" sz="1800" dirty="0"/>
              <a:t>: running, </a:t>
            </a:r>
            <a:r>
              <a:rPr lang="es-MX" sz="1800" dirty="0" err="1"/>
              <a:t>ready</a:t>
            </a:r>
            <a:r>
              <a:rPr lang="es-MX" sz="1800" dirty="0"/>
              <a:t>, etc.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 err="1"/>
              <a:t>Program</a:t>
            </a:r>
            <a:r>
              <a:rPr lang="es-MX" sz="1800" b="1" dirty="0"/>
              <a:t> </a:t>
            </a:r>
            <a:r>
              <a:rPr lang="es-MX" sz="1800" b="1" dirty="0" err="1"/>
              <a:t>counter</a:t>
            </a:r>
            <a:r>
              <a:rPr lang="es-MX" sz="1800" dirty="0"/>
              <a:t>: Localización de la próxima instrucción a ejecutar.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Registros de la CPU</a:t>
            </a:r>
            <a:r>
              <a:rPr lang="es-MX" sz="1800" dirty="0"/>
              <a:t>: Contenido de todos registros asociados al proceso.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</a:t>
            </a:r>
            <a:r>
              <a:rPr lang="es-MX" sz="1800" b="1" dirty="0" err="1"/>
              <a:t>scheduling</a:t>
            </a:r>
            <a:r>
              <a:rPr lang="es-MX" sz="1800" b="1" dirty="0"/>
              <a:t> de la CPU</a:t>
            </a:r>
            <a:r>
              <a:rPr lang="es-MX" sz="1800" dirty="0"/>
              <a:t>: Prioridades, etc.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manejo de memoria</a:t>
            </a:r>
            <a:r>
              <a:rPr lang="es-MX" sz="1800" dirty="0"/>
              <a:t>: Memoria asignada por el proceso.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(</a:t>
            </a:r>
            <a:r>
              <a:rPr lang="es-MX" sz="1800" b="1" dirty="0" err="1"/>
              <a:t>Accounting</a:t>
            </a:r>
            <a:r>
              <a:rPr lang="es-MX" sz="1800" b="1" dirty="0"/>
              <a:t> </a:t>
            </a:r>
            <a:r>
              <a:rPr lang="es-MX" sz="1800" b="1" dirty="0" err="1"/>
              <a:t>information</a:t>
            </a:r>
            <a:r>
              <a:rPr lang="es-MX" sz="1800" b="1" dirty="0"/>
              <a:t>)</a:t>
            </a:r>
            <a:r>
              <a:rPr lang="es-MX" sz="1800" dirty="0"/>
              <a:t>: CPU usada, tiempo gastado desde el inicio, limites de tiempo.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estado de I/O</a:t>
            </a:r>
            <a:r>
              <a:rPr lang="es-MX" sz="1800" dirty="0"/>
              <a:t>: Dispositivos I/O asociados al proceso, lista de archivos abiertos.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6146" name="Picture 2" descr="PCB">
            <a:extLst>
              <a:ext uri="{FF2B5EF4-FFF2-40B4-BE49-F238E27FC236}">
                <a16:creationId xmlns:a16="http://schemas.microsoft.com/office/drawing/2014/main" id="{855FD261-79CD-41FA-A9F5-14416E45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128" y="1637867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131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Google Shape;664;p60">
            <a:extLst>
              <a:ext uri="{FF2B5EF4-FFF2-40B4-BE49-F238E27FC236}">
                <a16:creationId xmlns:a16="http://schemas.microsoft.com/office/drawing/2014/main" id="{07C971BE-81A6-4E07-8A62-F86FC5B0E208}"/>
              </a:ext>
            </a:extLst>
          </p:cNvPr>
          <p:cNvSpPr txBox="1"/>
          <p:nvPr/>
        </p:nvSpPr>
        <p:spPr>
          <a:xfrm>
            <a:off x="4040569" y="3734850"/>
            <a:ext cx="7760400" cy="1908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t_pid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process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time_slice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scheduling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*files;/*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 files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*mm;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space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dirty="0"/>
          </a:p>
        </p:txBody>
      </p:sp>
      <p:pic>
        <p:nvPicPr>
          <p:cNvPr id="6" name="Google Shape;665;p60">
            <a:extLst>
              <a:ext uri="{FF2B5EF4-FFF2-40B4-BE49-F238E27FC236}">
                <a16:creationId xmlns:a16="http://schemas.microsoft.com/office/drawing/2014/main" id="{196BE5E5-F89F-4F60-B844-58BA036C66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443" y="1387650"/>
            <a:ext cx="6430137" cy="2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66;p60">
            <a:extLst>
              <a:ext uri="{FF2B5EF4-FFF2-40B4-BE49-F238E27FC236}">
                <a16:creationId xmlns:a16="http://schemas.microsoft.com/office/drawing/2014/main" id="{A81218B9-B138-400D-960D-BBD23A4D93F0}"/>
              </a:ext>
            </a:extLst>
          </p:cNvPr>
          <p:cNvSpPr txBox="1"/>
          <p:nvPr/>
        </p:nvSpPr>
        <p:spPr>
          <a:xfrm>
            <a:off x="6096000" y="5773050"/>
            <a:ext cx="38454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Picture 2" descr="PCB">
            <a:extLst>
              <a:ext uri="{FF2B5EF4-FFF2-40B4-BE49-F238E27FC236}">
                <a16:creationId xmlns:a16="http://schemas.microsoft.com/office/drawing/2014/main" id="{0B83E267-5231-469D-A8A1-BE56EFEF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88" y="1485618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10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Google Shape;664;p60">
            <a:extLst>
              <a:ext uri="{FF2B5EF4-FFF2-40B4-BE49-F238E27FC236}">
                <a16:creationId xmlns:a16="http://schemas.microsoft.com/office/drawing/2014/main" id="{07C971BE-81A6-4E07-8A62-F86FC5B0E208}"/>
              </a:ext>
            </a:extLst>
          </p:cNvPr>
          <p:cNvSpPr txBox="1"/>
          <p:nvPr/>
        </p:nvSpPr>
        <p:spPr>
          <a:xfrm>
            <a:off x="4040569" y="3734850"/>
            <a:ext cx="7760400" cy="1908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t_pid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process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time_slice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scheduling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*files;/*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 files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*mm;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space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dirty="0"/>
          </a:p>
        </p:txBody>
      </p:sp>
      <p:pic>
        <p:nvPicPr>
          <p:cNvPr id="6" name="Google Shape;665;p60">
            <a:extLst>
              <a:ext uri="{FF2B5EF4-FFF2-40B4-BE49-F238E27FC236}">
                <a16:creationId xmlns:a16="http://schemas.microsoft.com/office/drawing/2014/main" id="{196BE5E5-F89F-4F60-B844-58BA036C66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443" y="1387650"/>
            <a:ext cx="6430137" cy="2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66;p60">
            <a:extLst>
              <a:ext uri="{FF2B5EF4-FFF2-40B4-BE49-F238E27FC236}">
                <a16:creationId xmlns:a16="http://schemas.microsoft.com/office/drawing/2014/main" id="{A81218B9-B138-400D-960D-BBD23A4D93F0}"/>
              </a:ext>
            </a:extLst>
          </p:cNvPr>
          <p:cNvSpPr txBox="1"/>
          <p:nvPr/>
        </p:nvSpPr>
        <p:spPr>
          <a:xfrm>
            <a:off x="6096000" y="5773050"/>
            <a:ext cx="38454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Picture 2" descr="PCB">
            <a:extLst>
              <a:ext uri="{FF2B5EF4-FFF2-40B4-BE49-F238E27FC236}">
                <a16:creationId xmlns:a16="http://schemas.microsoft.com/office/drawing/2014/main" id="{0B83E267-5231-469D-A8A1-BE56EFEF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88" y="1485618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450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47143" y="31475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73;p61">
            <a:extLst>
              <a:ext uri="{FF2B5EF4-FFF2-40B4-BE49-F238E27FC236}">
                <a16:creationId xmlns:a16="http://schemas.microsoft.com/office/drawing/2014/main" id="{378D5D9D-ECD9-4F60-9E61-C6442DA7B4A1}"/>
              </a:ext>
            </a:extLst>
          </p:cNvPr>
          <p:cNvSpPr txBox="1"/>
          <p:nvPr/>
        </p:nvSpPr>
        <p:spPr>
          <a:xfrm>
            <a:off x="1371225" y="1943500"/>
            <a:ext cx="10249800" cy="4125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registers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will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save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restore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stop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subsequently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restart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 process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eip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esp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ebx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ecx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edx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esi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edi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ebp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different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 process can be in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 UNUSED, EMBRYO, SLEEPING,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RUNNABLE, RUNNING, ZOMBIE };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674;p61">
            <a:extLst>
              <a:ext uri="{FF2B5EF4-FFF2-40B4-BE49-F238E27FC236}">
                <a16:creationId xmlns:a16="http://schemas.microsoft.com/office/drawing/2014/main" id="{79EA56F2-0238-4EE4-B405-2E84FC368B28}"/>
              </a:ext>
            </a:extLst>
          </p:cNvPr>
          <p:cNvSpPr txBox="1"/>
          <p:nvPr/>
        </p:nvSpPr>
        <p:spPr>
          <a:xfrm>
            <a:off x="4433455" y="6102950"/>
            <a:ext cx="37546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28955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Google Shape;674;p61">
            <a:extLst>
              <a:ext uri="{FF2B5EF4-FFF2-40B4-BE49-F238E27FC236}">
                <a16:creationId xmlns:a16="http://schemas.microsoft.com/office/drawing/2014/main" id="{79EA56F2-0238-4EE4-B405-2E84FC368B28}"/>
              </a:ext>
            </a:extLst>
          </p:cNvPr>
          <p:cNvSpPr txBox="1"/>
          <p:nvPr/>
        </p:nvSpPr>
        <p:spPr>
          <a:xfrm>
            <a:off x="4433455" y="6102950"/>
            <a:ext cx="37546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681;p62">
            <a:extLst>
              <a:ext uri="{FF2B5EF4-FFF2-40B4-BE49-F238E27FC236}">
                <a16:creationId xmlns:a16="http://schemas.microsoft.com/office/drawing/2014/main" id="{C6177FCA-5F43-4C86-9607-CFF986E59EA8}"/>
              </a:ext>
            </a:extLst>
          </p:cNvPr>
          <p:cNvSpPr txBox="1"/>
          <p:nvPr/>
        </p:nvSpPr>
        <p:spPr>
          <a:xfrm>
            <a:off x="1415700" y="1300080"/>
            <a:ext cx="10249800" cy="461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tracks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about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including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its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// Start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 memory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uint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sz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 memory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kstack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kernel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// Process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  // Process ID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*chan;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!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zero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, sleeping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chan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killed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!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zero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, has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been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killed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file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ofile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[NOFILE];      // Open files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cwd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here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run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trapframe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interrupt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29188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2222</Words>
  <Application>Microsoft Office PowerPoint</Application>
  <PresentationFormat>Panorámica</PresentationFormat>
  <Paragraphs>310</Paragraphs>
  <Slides>30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Courier New</vt:lpstr>
      <vt:lpstr>Roboto</vt:lpstr>
      <vt:lpstr>Roboto Slab</vt:lpstr>
      <vt:lpstr>Times New Roman</vt:lpstr>
      <vt:lpstr>Tema de Office</vt:lpstr>
      <vt:lpstr>Apuntes clase 3</vt:lpstr>
      <vt:lpstr>Agenda</vt:lpstr>
      <vt:lpstr>Instruction fecth</vt:lpstr>
      <vt:lpstr>Contraste</vt:lpstr>
      <vt:lpstr>Virtualización</vt:lpstr>
      <vt:lpstr>Contextualización</vt:lpstr>
      <vt:lpstr>Programa .vs. Proceso</vt:lpstr>
      <vt:lpstr>Programa. vs. proceso</vt:lpstr>
      <vt:lpstr>Proceso: Abstracción</vt:lpstr>
      <vt:lpstr>Virtualización</vt:lpstr>
      <vt:lpstr>Carga: De un programa a un proceso</vt:lpstr>
      <vt:lpstr>Volvamos a la pregunta</vt:lpstr>
      <vt:lpstr>Agenda</vt:lpstr>
      <vt:lpstr>Elementos de los sistemas operativos</vt:lpstr>
      <vt:lpstr>Elementos de los sistemas operativos</vt:lpstr>
      <vt:lpstr>Como implementar la Abstracción</vt:lpstr>
      <vt:lpstr>Como implementar la Abstracción</vt:lpstr>
      <vt:lpstr>Modelo de tres estados</vt:lpstr>
      <vt:lpstr>Modelo de tres estados</vt:lpstr>
      <vt:lpstr>Estados de un proceso – Ejemplo 1</vt:lpstr>
      <vt:lpstr>Estados de un proceso – Ejemplo 2</vt:lpstr>
      <vt:lpstr>Modelo Linux</vt:lpstr>
      <vt:lpstr>Pasando al código – Estructuras de datos</vt:lpstr>
      <vt:lpstr>Pasando al código – Estructuras de datos</vt:lpstr>
      <vt:lpstr>Lista de procesos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2</dc:title>
  <dc:creator>Henry Arcila</dc:creator>
  <cp:lastModifiedBy>Henry Arcila</cp:lastModifiedBy>
  <cp:revision>2</cp:revision>
  <dcterms:created xsi:type="dcterms:W3CDTF">2026-02-17T03:53:21Z</dcterms:created>
  <dcterms:modified xsi:type="dcterms:W3CDTF">2026-02-17T05:34:11Z</dcterms:modified>
</cp:coreProperties>
</file>