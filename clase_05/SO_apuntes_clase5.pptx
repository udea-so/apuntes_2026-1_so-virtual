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64"/>
  </p:notesMasterIdLst>
  <p:sldIdLst>
    <p:sldId id="256" r:id="rId2"/>
    <p:sldId id="261" r:id="rId3"/>
    <p:sldId id="262" r:id="rId4"/>
    <p:sldId id="264" r:id="rId5"/>
    <p:sldId id="265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7" r:id="rId15"/>
    <p:sldId id="278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27" r:id="rId51"/>
    <p:sldId id="314" r:id="rId52"/>
    <p:sldId id="315" r:id="rId53"/>
    <p:sldId id="316" r:id="rId54"/>
    <p:sldId id="317" r:id="rId55"/>
    <p:sldId id="318" r:id="rId56"/>
    <p:sldId id="320" r:id="rId57"/>
    <p:sldId id="321" r:id="rId58"/>
    <p:sldId id="328" r:id="rId59"/>
    <p:sldId id="322" r:id="rId60"/>
    <p:sldId id="323" r:id="rId61"/>
    <p:sldId id="324" r:id="rId62"/>
    <p:sldId id="325" r:id="rId63"/>
  </p:sldIdLst>
  <p:sldSz cx="12192000" cy="6858000"/>
  <p:notesSz cx="6858000" cy="9144000"/>
  <p:embeddedFontLs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Calibri Light" panose="020F0302020204030204" pitchFamily="34" charset="0"/>
      <p:regular r:id="rId69"/>
      <p:italic r:id="rId70"/>
    </p:embeddedFont>
    <p:embeddedFont>
      <p:font typeface="Cambria Math" panose="02040503050406030204" pitchFamily="18" charset="0"/>
      <p:regular r:id="rId71"/>
    </p:embeddedFont>
    <p:embeddedFont>
      <p:font typeface="Roboto" panose="02000000000000000000" pitchFamily="2" charset="0"/>
      <p:regular r:id="rId72"/>
      <p:bold r:id="rId73"/>
      <p:italic r:id="rId74"/>
      <p:boldItalic r:id="rId75"/>
    </p:embeddedFont>
    <p:embeddedFont>
      <p:font typeface="Roboto Slab" panose="020B0604020202020204" charset="0"/>
      <p:regular r:id="rId76"/>
      <p:bold r:id="rId7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NAL DAVILMAR MONTOYA MONTOY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5993CE-88FD-44DD-ABEB-49CEDA6F9533}">
  <a:tblStyle styleId="{925993CE-88FD-44DD-ABEB-49CEDA6F9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3738" autoAdjust="0"/>
  </p:normalViewPr>
  <p:slideViewPr>
    <p:cSldViewPr snapToGrid="0">
      <p:cViewPr varScale="1">
        <p:scale>
          <a:sx n="64" d="100"/>
          <a:sy n="64" d="100"/>
        </p:scale>
        <p:origin x="9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0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2fc7111b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2fc7111b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53c374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53c374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53c374b7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53c374b7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02fc7111b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g102fc7111b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53c374b7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053c374b7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53c374b7c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53c374b7c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53c374b7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053c374b7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53c374b7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053c374b7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53c374b7c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53c374b7c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06d68668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06d68668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6d686689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g106d686689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02fc7111b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g102fc7111b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06d686689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g106d686689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06d686689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g106d686689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6d686689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106d686689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06d686689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g106d686689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06d686689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g106d686689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06d6866891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g106d6866891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06d6866891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g106d6866891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06d686689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106d686689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6d686689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106d686689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06d6866891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g106d6866891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06d6866891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106d6866891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06d6866891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106d6866891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06d6866891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g106d6866891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106d686689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g106d686689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06d6866891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g106d6866891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06d6866891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g106d6866891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06d6866891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g106d6866891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06d6866891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g106d6866891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06d6866891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g106d6866891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106d686689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g106d686689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06d6866891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g106d6866891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106d6866891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g106d6866891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06d6866891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g106d6866891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06d6866891_0_8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g106d6866891_0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06d686689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g106d686689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06d6866891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g106d6866891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06d6866891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g106d6866891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06d6866891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g106d6866891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06d6866891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g106d6866891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06d6866891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g106d6866891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06d6866891_0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g106d6866891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06d6866891_0_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g106d6866891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06d6866891_0_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g106d6866891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9606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106d6866891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g106d6866891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06d6866891_0_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g106d6866891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106d6866891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g106d68668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106d6866891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g106d6866891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06d6866891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g106d6866891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02fc7111bf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02fc7111bf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06d6866891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06d6866891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06d6866891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06d6866891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770717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02fc7111b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02fc7111b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106d6866891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106d6866891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653a128e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653a128e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5" name="Google Shape;1325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92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3462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32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65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788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593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6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76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8307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09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873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530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861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735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23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2tV9q6784k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jpg"/><Relationship Id="rId4" Type="http://schemas.openxmlformats.org/officeDocument/2006/relationships/hyperlink" Target="http://www.youtube.com/watch?v=O2tV9q6784k" TargetMode="Externa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18" Type="http://schemas.openxmlformats.org/officeDocument/2006/relationships/hyperlink" Target="https://www.merlot.org/merlot/viewMaterial.htm?id=773407108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://cpuburst.com/" TargetMode="External"/><Relationship Id="rId2" Type="http://schemas.openxmlformats.org/officeDocument/2006/relationships/notesSlide" Target="../notesSlides/notesSlide62.xml"/><Relationship Id="rId16" Type="http://schemas.openxmlformats.org/officeDocument/2006/relationships/hyperlink" Target="https://os-lab-simulator.vercel.app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257249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clase 5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764270"/>
            <a:ext cx="9144000" cy="16557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Planificación de procesos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>
                <a:latin typeface="Roboto"/>
                <a:ea typeface="Roboto"/>
                <a:cs typeface="Roboto"/>
                <a:sym typeface="Roboto"/>
              </a:rPr>
              <a:t>03/03/2026</a:t>
            </a:r>
            <a:endParaRPr lang="es-ES" sz="16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</a:t>
            </a:r>
            <a:endParaRPr dirty="0"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225" y="3247555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22"/>
          <p:cNvGrpSpPr/>
          <p:nvPr/>
        </p:nvGrpSpPr>
        <p:grpSpPr>
          <a:xfrm>
            <a:off x="6849600" y="1790200"/>
            <a:ext cx="4549500" cy="4393500"/>
            <a:chOff x="5458950" y="1790200"/>
            <a:chExt cx="4549500" cy="4393500"/>
          </a:xfrm>
        </p:grpSpPr>
        <p:sp>
          <p:nvSpPr>
            <p:cNvPr id="204" name="Google Shape;204;p22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22"/>
            <p:cNvGrpSpPr/>
            <p:nvPr/>
          </p:nvGrpSpPr>
          <p:grpSpPr>
            <a:xfrm>
              <a:off x="6022625" y="2608725"/>
              <a:ext cx="1418250" cy="2104675"/>
              <a:chOff x="6111850" y="2642175"/>
              <a:chExt cx="1418250" cy="2104675"/>
            </a:xfrm>
          </p:grpSpPr>
          <p:sp>
            <p:nvSpPr>
              <p:cNvPr id="206" name="Google Shape;206;p22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207" name="Google Shape;207;p22"/>
              <p:cNvGrpSpPr/>
              <p:nvPr/>
            </p:nvGrpSpPr>
            <p:grpSpPr>
              <a:xfrm>
                <a:off x="6111850" y="3042363"/>
                <a:ext cx="1387950" cy="1401900"/>
                <a:chOff x="6111850" y="3042363"/>
                <a:chExt cx="1387950" cy="1401900"/>
              </a:xfrm>
            </p:grpSpPr>
            <p:sp>
              <p:nvSpPr>
                <p:cNvPr id="208" name="Google Shape;208;p22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9" name="Google Shape;209;p22"/>
                <p:cNvGrpSpPr/>
                <p:nvPr/>
              </p:nvGrpSpPr>
              <p:grpSpPr>
                <a:xfrm>
                  <a:off x="6111850" y="3096950"/>
                  <a:ext cx="1198275" cy="461635"/>
                  <a:chOff x="6111850" y="3096950"/>
                  <a:chExt cx="1198275" cy="461635"/>
                </a:xfrm>
              </p:grpSpPr>
              <p:sp>
                <p:nvSpPr>
                  <p:cNvPr id="210" name="Google Shape;210;p22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211;p22"/>
                  <p:cNvSpPr txBox="1"/>
                  <p:nvPr/>
                </p:nvSpPr>
                <p:spPr>
                  <a:xfrm>
                    <a:off x="6111850" y="3096950"/>
                    <a:ext cx="52920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212" name="Google Shape;212;p22"/>
                <p:cNvGrpSpPr/>
                <p:nvPr/>
              </p:nvGrpSpPr>
              <p:grpSpPr>
                <a:xfrm>
                  <a:off x="6125463" y="3409088"/>
                  <a:ext cx="1184662" cy="461635"/>
                  <a:chOff x="6125463" y="3409088"/>
                  <a:chExt cx="1184662" cy="461635"/>
                </a:xfrm>
              </p:grpSpPr>
              <p:sp>
                <p:nvSpPr>
                  <p:cNvPr id="213" name="Google Shape;213;p22"/>
                  <p:cNvSpPr txBox="1"/>
                  <p:nvPr/>
                </p:nvSpPr>
                <p:spPr>
                  <a:xfrm>
                    <a:off x="6125463" y="3409088"/>
                    <a:ext cx="52920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214" name="Google Shape;214;p22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15" name="Google Shape;215;p22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16" name="Google Shape;216;p22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17" name="Google Shape;217;p22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" name="Google Shape;218;p22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219" name="Google Shape;219;p22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20" name="Google Shape;220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21" name="Google Shape;221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22" name="Google Shape;222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23" name="Google Shape;223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224" name="Google Shape;224;p22"/>
                <p:cNvCxnSpPr>
                  <a:stCxn id="22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25" name="Google Shape;225;p22"/>
                <p:cNvCxnSpPr>
                  <a:stCxn id="22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26" name="Google Shape;226;p22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27" name="Google Shape;227;p22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28" name="Google Shape;228;p22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29" name="Google Shape;229;p22"/>
          <p:cNvCxnSpPr>
            <a:stCxn id="202" idx="3"/>
          </p:cNvCxnSpPr>
          <p:nvPr/>
        </p:nvCxnSpPr>
        <p:spPr>
          <a:xfrm rot="10800000" flipH="1">
            <a:off x="4153984" y="3710567"/>
            <a:ext cx="2035200" cy="324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78075" y="4075975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026575" y="2376250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</a:t>
            </a:r>
            <a:endParaRPr dirty="0"/>
          </a:p>
        </p:txBody>
      </p:sp>
      <p:pic>
        <p:nvPicPr>
          <p:cNvPr id="238" name="Google Shape;2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251562"/>
            <a:ext cx="4692445" cy="3161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8;p24">
            <a:extLst>
              <a:ext uri="{FF2B5EF4-FFF2-40B4-BE49-F238E27FC236}">
                <a16:creationId xmlns:a16="http://schemas.microsoft.com/office/drawing/2014/main" id="{06E3691A-F915-4ADF-9237-7C1A0A437B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9095" y="2100638"/>
            <a:ext cx="5971550" cy="34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/>
        </p:nvSpPr>
        <p:spPr>
          <a:xfrm>
            <a:off x="1241775" y="2256575"/>
            <a:ext cx="245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s-ES" sz="4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imited</a:t>
            </a:r>
            <a:endParaRPr sz="400"/>
          </a:p>
        </p:txBody>
      </p:sp>
      <p:sp>
        <p:nvSpPr>
          <p:cNvPr id="258" name="Google Shape;258;p25"/>
          <p:cNvSpPr txBox="1"/>
          <p:nvPr/>
        </p:nvSpPr>
        <p:spPr>
          <a:xfrm>
            <a:off x="765575" y="47127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irect</a:t>
            </a:r>
            <a:r>
              <a:rPr lang="es-ES" sz="4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xecution</a:t>
            </a:r>
            <a:endParaRPr sz="40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59" name="Google Shape;259;p25"/>
          <p:cNvGrpSpPr/>
          <p:nvPr/>
        </p:nvGrpSpPr>
        <p:grpSpPr>
          <a:xfrm>
            <a:off x="4859787" y="4636525"/>
            <a:ext cx="4071387" cy="2104725"/>
            <a:chOff x="6078988" y="4636525"/>
            <a:chExt cx="4071387" cy="2104725"/>
          </a:xfrm>
        </p:grpSpPr>
        <p:pic>
          <p:nvPicPr>
            <p:cNvPr id="260" name="Google Shape;26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21725" y="5112600"/>
              <a:ext cx="1628650" cy="1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5"/>
            <p:cNvSpPr/>
            <p:nvPr/>
          </p:nvSpPr>
          <p:spPr>
            <a:xfrm>
              <a:off x="6101388" y="4712736"/>
              <a:ext cx="675000" cy="67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6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6078988" y="5839750"/>
              <a:ext cx="699000" cy="6729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3" name="Google Shape;26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0012" y="4636525"/>
              <a:ext cx="952287" cy="949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" name="Google Shape;264;p25"/>
            <p:cNvGrpSpPr/>
            <p:nvPr/>
          </p:nvGrpSpPr>
          <p:grpSpPr>
            <a:xfrm>
              <a:off x="6887900" y="5260475"/>
              <a:ext cx="1523925" cy="672900"/>
              <a:chOff x="5897300" y="5184275"/>
              <a:chExt cx="1523925" cy="672900"/>
            </a:xfrm>
          </p:grpSpPr>
          <p:cxnSp>
            <p:nvCxnSpPr>
              <p:cNvPr id="265" name="Google Shape;265;p25"/>
              <p:cNvCxnSpPr/>
              <p:nvPr/>
            </p:nvCxnSpPr>
            <p:spPr>
              <a:xfrm>
                <a:off x="5897300" y="5184275"/>
                <a:ext cx="543600" cy="67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66" name="Google Shape;266;p25"/>
              <p:cNvCxnSpPr/>
              <p:nvPr/>
            </p:nvCxnSpPr>
            <p:spPr>
              <a:xfrm>
                <a:off x="6449225" y="5827413"/>
                <a:ext cx="972000" cy="45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67" name="Google Shape;267;p25"/>
            <p:cNvSpPr/>
            <p:nvPr/>
          </p:nvSpPr>
          <p:spPr>
            <a:xfrm>
              <a:off x="8998538" y="5590486"/>
              <a:ext cx="675000" cy="6729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7045838" y="5260475"/>
              <a:ext cx="1206462" cy="495300"/>
            </a:xfrm>
            <a:custGeom>
              <a:avLst/>
              <a:gdLst/>
              <a:ahLst/>
              <a:cxnLst/>
              <a:rect l="l" t="t" r="r" b="b"/>
              <a:pathLst>
                <a:path w="41656" h="19812" extrusionOk="0">
                  <a:moveTo>
                    <a:pt x="0" y="0"/>
                  </a:moveTo>
                  <a:cubicBezTo>
                    <a:pt x="1947" y="2201"/>
                    <a:pt x="7705" y="10075"/>
                    <a:pt x="11684" y="13208"/>
                  </a:cubicBezTo>
                  <a:cubicBezTo>
                    <a:pt x="15663" y="16341"/>
                    <a:pt x="18881" y="17695"/>
                    <a:pt x="23876" y="18796"/>
                  </a:cubicBezTo>
                  <a:cubicBezTo>
                    <a:pt x="28871" y="19897"/>
                    <a:pt x="38693" y="19643"/>
                    <a:pt x="41656" y="19812"/>
                  </a:cubicBezTo>
                </a:path>
              </a:pathLst>
            </a:cu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69" name="Google Shape;269;p25"/>
          <p:cNvGrpSpPr/>
          <p:nvPr/>
        </p:nvGrpSpPr>
        <p:grpSpPr>
          <a:xfrm>
            <a:off x="3807175" y="2256563"/>
            <a:ext cx="5905400" cy="2132413"/>
            <a:chOff x="4721575" y="2256563"/>
            <a:chExt cx="5905400" cy="2132413"/>
          </a:xfrm>
        </p:grpSpPr>
        <p:cxnSp>
          <p:nvCxnSpPr>
            <p:cNvPr id="270" name="Google Shape;270;p25"/>
            <p:cNvCxnSpPr/>
            <p:nvPr/>
          </p:nvCxnSpPr>
          <p:spPr>
            <a:xfrm>
              <a:off x="5756100" y="2622113"/>
              <a:ext cx="1061100" cy="4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1" name="Google Shape;271;p25"/>
            <p:cNvSpPr/>
            <p:nvPr/>
          </p:nvSpPr>
          <p:spPr>
            <a:xfrm>
              <a:off x="4721575" y="3248975"/>
              <a:ext cx="5880000" cy="11400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2" name="Google Shape;272;p25"/>
            <p:cNvCxnSpPr/>
            <p:nvPr/>
          </p:nvCxnSpPr>
          <p:spPr>
            <a:xfrm rot="10800000" flipH="1">
              <a:off x="7074225" y="3864188"/>
              <a:ext cx="1054500" cy="51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3" name="Google Shape;273;p25"/>
            <p:cNvCxnSpPr/>
            <p:nvPr/>
          </p:nvCxnSpPr>
          <p:spPr>
            <a:xfrm>
              <a:off x="6817200" y="2607825"/>
              <a:ext cx="247200" cy="1317900"/>
            </a:xfrm>
            <a:prstGeom prst="straightConnector1">
              <a:avLst/>
            </a:pr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4" name="Google Shape;274;p25"/>
            <p:cNvCxnSpPr/>
            <p:nvPr/>
          </p:nvCxnSpPr>
          <p:spPr>
            <a:xfrm rot="10800000" flipH="1">
              <a:off x="8128725" y="2570263"/>
              <a:ext cx="247200" cy="1317900"/>
            </a:xfrm>
            <a:prstGeom prst="straightConnector1">
              <a:avLst/>
            </a:prstGeom>
            <a:noFill/>
            <a:ln w="19050" cap="flat" cmpd="sng">
              <a:solidFill>
                <a:srgbClr val="3A81B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5" name="Google Shape;275;p25"/>
            <p:cNvCxnSpPr/>
            <p:nvPr/>
          </p:nvCxnSpPr>
          <p:spPr>
            <a:xfrm>
              <a:off x="8375925" y="2617463"/>
              <a:ext cx="992100" cy="9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6" name="Google Shape;276;p25"/>
            <p:cNvSpPr/>
            <p:nvPr/>
          </p:nvSpPr>
          <p:spPr>
            <a:xfrm>
              <a:off x="4973450" y="3501200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4973438" y="22565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78" name="Google Shape;278;p25"/>
            <p:cNvCxnSpPr/>
            <p:nvPr/>
          </p:nvCxnSpPr>
          <p:spPr>
            <a:xfrm rot="10800000" flipH="1">
              <a:off x="4746975" y="3236175"/>
              <a:ext cx="5880000" cy="2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79" name="Google Shape;279;p25"/>
            <p:cNvSpPr txBox="1"/>
            <p:nvPr/>
          </p:nvSpPr>
          <p:spPr>
            <a:xfrm>
              <a:off x="9339525" y="2763175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Usuario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0" name="Google Shape;280;p25"/>
            <p:cNvSpPr txBox="1"/>
            <p:nvPr/>
          </p:nvSpPr>
          <p:spPr>
            <a:xfrm>
              <a:off x="9364050" y="3289650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Kernel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81" name="Google Shape;281;p25"/>
          <p:cNvSpPr txBox="1"/>
          <p:nvPr/>
        </p:nvSpPr>
        <p:spPr>
          <a:xfrm>
            <a:off x="9823975" y="3044975"/>
            <a:ext cx="2111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Eventos:</a:t>
            </a:r>
            <a:endParaRPr sz="1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Excepción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Interrupción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991575" y="2256575"/>
            <a:ext cx="457218" cy="409752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3" name="Google Shape;283;p25"/>
          <p:cNvCxnSpPr/>
          <p:nvPr/>
        </p:nvCxnSpPr>
        <p:spPr>
          <a:xfrm>
            <a:off x="6588325" y="2448875"/>
            <a:ext cx="3784800" cy="635100"/>
          </a:xfrm>
          <a:prstGeom prst="bentConnector3">
            <a:avLst>
              <a:gd name="adj1" fmla="val 9999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EA20DEC1-7E5F-4012-B182-C7C99E75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Ejecución directa limitada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Aproximaciones – Cambio de contexto</a:t>
            </a:r>
            <a:endParaRPr dirty="0"/>
          </a:p>
        </p:txBody>
      </p:sp>
      <p:graphicFrame>
        <p:nvGraphicFramePr>
          <p:cNvPr id="289" name="Google Shape;289;p26"/>
          <p:cNvGraphicFramePr/>
          <p:nvPr>
            <p:extLst>
              <p:ext uri="{D42A27DB-BD31-4B8C-83A1-F6EECF244321}">
                <p14:modId xmlns:p14="http://schemas.microsoft.com/office/powerpoint/2010/main" val="3403232071"/>
              </p:ext>
            </p:extLst>
          </p:nvPr>
        </p:nvGraphicFramePr>
        <p:xfrm>
          <a:off x="1597962" y="3199058"/>
          <a:ext cx="181537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0" name="Google Shape;290;p26"/>
          <p:cNvCxnSpPr/>
          <p:nvPr/>
        </p:nvCxnSpPr>
        <p:spPr>
          <a:xfrm>
            <a:off x="1595187" y="2928922"/>
            <a:ext cx="2275200" cy="1116900"/>
          </a:xfrm>
          <a:prstGeom prst="bentConnector3">
            <a:avLst>
              <a:gd name="adj1" fmla="val 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1" name="Google Shape;291;p26"/>
          <p:cNvSpPr txBox="1"/>
          <p:nvPr/>
        </p:nvSpPr>
        <p:spPr>
          <a:xfrm>
            <a:off x="784337" y="3304485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3299962" y="3979672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6245024" y="1839275"/>
            <a:ext cx="432300" cy="4178400"/>
          </a:xfrm>
          <a:prstGeom prst="leftBrace">
            <a:avLst>
              <a:gd name="adj1" fmla="val 50000"/>
              <a:gd name="adj2" fmla="val 47336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3857774" y="3439683"/>
            <a:ext cx="2603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/>
              <a:t>Propuestas</a:t>
            </a:r>
            <a:endParaRPr sz="2800" b="1"/>
          </a:p>
        </p:txBody>
      </p:sp>
      <p:sp>
        <p:nvSpPr>
          <p:cNvPr id="295" name="Google Shape;295;p26"/>
          <p:cNvSpPr txBox="1"/>
          <p:nvPr/>
        </p:nvSpPr>
        <p:spPr>
          <a:xfrm>
            <a:off x="6918224" y="1839275"/>
            <a:ext cx="485207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b="1" dirty="0"/>
              <a:t>Cooperativa</a:t>
            </a:r>
            <a:r>
              <a:rPr lang="es-ES" sz="2400" dirty="0"/>
              <a:t>: El proceso cede la CPU al SO.</a:t>
            </a:r>
            <a:endParaRPr sz="24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 err="1"/>
              <a:t>yield</a:t>
            </a:r>
            <a:r>
              <a:rPr lang="es-ES" sz="2200" dirty="0"/>
              <a:t>.</a:t>
            </a:r>
            <a:endParaRPr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Excepción.</a:t>
            </a:r>
            <a:endParaRPr sz="2200" dirty="0"/>
          </a:p>
        </p:txBody>
      </p:sp>
      <p:sp>
        <p:nvSpPr>
          <p:cNvPr id="296" name="Google Shape;296;p26"/>
          <p:cNvSpPr txBox="1"/>
          <p:nvPr/>
        </p:nvSpPr>
        <p:spPr>
          <a:xfrm>
            <a:off x="6710515" y="4297119"/>
            <a:ext cx="5172555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b="1" dirty="0"/>
              <a:t>No cooperativa</a:t>
            </a:r>
            <a:r>
              <a:rPr lang="es-ES" sz="2400" dirty="0"/>
              <a:t>: El SO toma el control de la CPU</a:t>
            </a:r>
            <a:endParaRPr sz="24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Interrupciones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dirty="0"/>
              <a:t>timer</a:t>
            </a: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 txBox="1">
            <a:spLocks noGrp="1"/>
          </p:cNvSpPr>
          <p:nvPr>
            <p:ph type="title"/>
          </p:nvPr>
        </p:nvSpPr>
        <p:spPr>
          <a:xfrm>
            <a:off x="545689" y="96038"/>
            <a:ext cx="994041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4" name="Google Shape;314;p28"/>
          <p:cNvSpPr txBox="1">
            <a:spLocks noGrp="1"/>
          </p:cNvSpPr>
          <p:nvPr>
            <p:ph type="body" idx="1"/>
          </p:nvPr>
        </p:nvSpPr>
        <p:spPr>
          <a:xfrm>
            <a:off x="686850" y="1073811"/>
            <a:ext cx="10818300" cy="2583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Cómo desarrollar una política de Scheduling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¿Cómo desarrollar un framework básico para tratar con las políticas de scheduling?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¿Qué suposiciones claves usar?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¿Cuáles son las métricas más importantes?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¿Cuáles son los enfoques básicos utilizados en los primeros sistemas informáticos?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5" name="Google Shape;315;p28"/>
          <p:cNvSpPr/>
          <p:nvPr/>
        </p:nvSpPr>
        <p:spPr>
          <a:xfrm>
            <a:off x="1016000" y="47803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1016000" y="58204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100" y="52284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413" y="45513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28"/>
          <p:cNvCxnSpPr/>
          <p:nvPr/>
        </p:nvCxnSpPr>
        <p:spPr>
          <a:xfrm>
            <a:off x="1991075" y="52301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" name="Google Shape;320;p28"/>
          <p:cNvCxnSpPr/>
          <p:nvPr/>
        </p:nvCxnSpPr>
        <p:spPr>
          <a:xfrm>
            <a:off x="2862275" y="58204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1" name="Google Shape;321;p28"/>
          <p:cNvSpPr/>
          <p:nvPr/>
        </p:nvSpPr>
        <p:spPr>
          <a:xfrm>
            <a:off x="2530078" y="53158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22" name="Google Shape;322;p28"/>
          <p:cNvGraphicFramePr/>
          <p:nvPr>
            <p:extLst>
              <p:ext uri="{D42A27DB-BD31-4B8C-83A1-F6EECF244321}">
                <p14:modId xmlns:p14="http://schemas.microsoft.com/office/powerpoint/2010/main" val="1718411246"/>
              </p:ext>
            </p:extLst>
          </p:nvPr>
        </p:nvGraphicFramePr>
        <p:xfrm>
          <a:off x="7772300" y="5409534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3" name="Google Shape;323;p28"/>
          <p:cNvCxnSpPr/>
          <p:nvPr/>
        </p:nvCxnSpPr>
        <p:spPr>
          <a:xfrm>
            <a:off x="7769525" y="51294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4" name="Google Shape;324;p28"/>
          <p:cNvSpPr txBox="1"/>
          <p:nvPr/>
        </p:nvSpPr>
        <p:spPr>
          <a:xfrm>
            <a:off x="6896775" y="55002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11144175" y="57737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8221400" y="49658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7" name="Google Shape;327;p28"/>
          <p:cNvSpPr/>
          <p:nvPr/>
        </p:nvSpPr>
        <p:spPr>
          <a:xfrm>
            <a:off x="8803325" y="49555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8" name="Google Shape;328;p28"/>
          <p:cNvSpPr/>
          <p:nvPr/>
        </p:nvSpPr>
        <p:spPr>
          <a:xfrm>
            <a:off x="9385250" y="49461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9" name="Google Shape;329;p28"/>
          <p:cNvSpPr txBox="1"/>
          <p:nvPr/>
        </p:nvSpPr>
        <p:spPr>
          <a:xfrm>
            <a:off x="8160025" y="46365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8741575" y="461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9305600" y="461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2030800" y="55267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 flipH="1">
            <a:off x="2829499" y="41534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8404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/>
          </a:p>
        </p:txBody>
      </p:sp>
      <p:graphicFrame>
        <p:nvGraphicFramePr>
          <p:cNvPr id="342" name="Google Shape;342;p29"/>
          <p:cNvGraphicFramePr/>
          <p:nvPr/>
        </p:nvGraphicFramePr>
        <p:xfrm>
          <a:off x="1144750" y="1989525"/>
          <a:ext cx="2771725" cy="35476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277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Sistema Operativo</a:t>
                      </a:r>
                      <a:endParaRPr sz="21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Proceso 1 (P1)</a:t>
                      </a: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Proceso 2 (P2)</a:t>
                      </a: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3" name="Google Shape;343;p29"/>
          <p:cNvSpPr/>
          <p:nvPr/>
        </p:nvSpPr>
        <p:spPr>
          <a:xfrm>
            <a:off x="4851850" y="3675788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4851850" y="47158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950" y="4123813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63" y="3446735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29"/>
          <p:cNvCxnSpPr/>
          <p:nvPr/>
        </p:nvCxnSpPr>
        <p:spPr>
          <a:xfrm>
            <a:off x="5826925" y="4125588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48" name="Google Shape;348;p29"/>
          <p:cNvCxnSpPr/>
          <p:nvPr/>
        </p:nvCxnSpPr>
        <p:spPr>
          <a:xfrm>
            <a:off x="6698125" y="4715825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9" name="Google Shape;349;p29"/>
          <p:cNvSpPr/>
          <p:nvPr/>
        </p:nvSpPr>
        <p:spPr>
          <a:xfrm>
            <a:off x="6365928" y="4211238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50" name="Google Shape;350;p29"/>
          <p:cNvSpPr txBox="1"/>
          <p:nvPr/>
        </p:nvSpPr>
        <p:spPr>
          <a:xfrm>
            <a:off x="5866650" y="4422113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353725" y="1989513"/>
            <a:ext cx="7172400" cy="1155600"/>
          </a:xfrm>
          <a:prstGeom prst="wedgeRectCallout">
            <a:avLst>
              <a:gd name="adj1" fmla="val 1881"/>
              <a:gd name="adj2" fmla="val 91771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Algunas preguntas claves</a:t>
            </a:r>
            <a:r>
              <a:rPr lang="es-ES" sz="2000" dirty="0"/>
              <a:t>: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¿Qué proceso elegir?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¿Teniendo en cuenta que aspectos? → Métricas</a:t>
            </a:r>
            <a:endParaRPr sz="2000" dirty="0"/>
          </a:p>
        </p:txBody>
      </p:sp>
      <p:pic>
        <p:nvPicPr>
          <p:cNvPr id="352" name="Google Shape;3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156" y="2068201"/>
            <a:ext cx="685319" cy="6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103046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4" name="Google Shape;364;p31"/>
          <p:cNvSpPr txBox="1">
            <a:spLocks noGrp="1"/>
          </p:cNvSpPr>
          <p:nvPr>
            <p:ph type="body" idx="1"/>
          </p:nvPr>
        </p:nvSpPr>
        <p:spPr>
          <a:xfrm>
            <a:off x="457200" y="1102100"/>
            <a:ext cx="11356258" cy="171472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Conceptos importantes</a:t>
            </a:r>
            <a:r>
              <a:rPr lang="es-ES" sz="2800" dirty="0">
                <a:solidFill>
                  <a:schemeClr val="accent1"/>
                </a:solidFill>
                <a:latin typeface="+mn-lt"/>
              </a:rPr>
              <a:t>: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E06666"/>
                </a:solidFill>
                <a:latin typeface="+mn-lt"/>
              </a:rPr>
              <a:t>Scheduler (planificador)</a:t>
            </a:r>
            <a:r>
              <a:rPr lang="es-ES" sz="2200" dirty="0">
                <a:latin typeface="+mn-lt"/>
              </a:rPr>
              <a:t>: Decide como y cuando los procesos acceden a la CPU (o CPUs compartidas) de acuerdo a unas </a:t>
            </a:r>
            <a:r>
              <a:rPr lang="es-ES" sz="2200" b="1" dirty="0">
                <a:latin typeface="+mn-lt"/>
              </a:rPr>
              <a:t>métricas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E06666"/>
                </a:solidFill>
                <a:latin typeface="+mn-lt"/>
              </a:rPr>
              <a:t>Workload (carga de trabajo)</a:t>
            </a:r>
            <a:r>
              <a:rPr lang="es-ES" sz="2200" dirty="0">
                <a:latin typeface="+mn-lt"/>
              </a:rPr>
              <a:t>: Procesos en ejecución en un sistema.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31"/>
          <p:cNvSpPr/>
          <p:nvPr/>
        </p:nvSpPr>
        <p:spPr>
          <a:xfrm>
            <a:off x="11525718" y="512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11219981" y="511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10914244" y="512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31"/>
          <p:cNvGraphicFramePr/>
          <p:nvPr/>
        </p:nvGraphicFramePr>
        <p:xfrm>
          <a:off x="7950100" y="4110038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9" name="Google Shape;369;p31"/>
          <p:cNvCxnSpPr/>
          <p:nvPr/>
        </p:nvCxnSpPr>
        <p:spPr>
          <a:xfrm>
            <a:off x="7947325" y="38594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0" name="Google Shape;370;p31"/>
          <p:cNvSpPr txBox="1"/>
          <p:nvPr/>
        </p:nvSpPr>
        <p:spPr>
          <a:xfrm>
            <a:off x="7074575" y="42302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11321975" y="45037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1018825" y="3185475"/>
            <a:ext cx="1066800" cy="297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9E9E9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8399200" y="36958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4" name="Google Shape;374;p31"/>
          <p:cNvSpPr/>
          <p:nvPr/>
        </p:nvSpPr>
        <p:spPr>
          <a:xfrm>
            <a:off x="8981125" y="36855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5" name="Google Shape;375;p31"/>
          <p:cNvSpPr/>
          <p:nvPr/>
        </p:nvSpPr>
        <p:spPr>
          <a:xfrm>
            <a:off x="9563050" y="36761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6" name="Google Shape;376;p31"/>
          <p:cNvSpPr txBox="1"/>
          <p:nvPr/>
        </p:nvSpPr>
        <p:spPr>
          <a:xfrm>
            <a:off x="8337825" y="33665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8919375" y="334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9483400" y="334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1186675" y="35103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1193800" y="45504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1" name="Google Shape;3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900" y="39584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213" y="32813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1"/>
          <p:cNvCxnSpPr/>
          <p:nvPr/>
        </p:nvCxnSpPr>
        <p:spPr>
          <a:xfrm>
            <a:off x="2168875" y="39601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84" name="Google Shape;384;p31"/>
          <p:cNvCxnSpPr/>
          <p:nvPr/>
        </p:nvCxnSpPr>
        <p:spPr>
          <a:xfrm>
            <a:off x="3040075" y="45504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1"/>
          <p:cNvSpPr/>
          <p:nvPr/>
        </p:nvSpPr>
        <p:spPr>
          <a:xfrm>
            <a:off x="2707878" y="40458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6" name="Google Shape;386;p31"/>
          <p:cNvSpPr txBox="1"/>
          <p:nvPr/>
        </p:nvSpPr>
        <p:spPr>
          <a:xfrm>
            <a:off x="2208600" y="42567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 flipH="1">
            <a:off x="3007299" y="28834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1190275" y="547617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 flipH="1">
            <a:off x="2707875" y="5755675"/>
            <a:ext cx="15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Workload</a:t>
            </a:r>
            <a:endParaRPr sz="1800" b="1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0" name="Google Shape;390;p31"/>
          <p:cNvCxnSpPr>
            <a:stCxn id="389" idx="3"/>
          </p:cNvCxnSpPr>
          <p:nvPr/>
        </p:nvCxnSpPr>
        <p:spPr>
          <a:xfrm rot="10800000">
            <a:off x="2194275" y="5839825"/>
            <a:ext cx="513600" cy="14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1" name="Google Shape;39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9675" y="5429466"/>
            <a:ext cx="1429200" cy="111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397" name="Google Shape;397;p32"/>
          <p:cNvSpPr txBox="1">
            <a:spLocks noGrp="1"/>
          </p:cNvSpPr>
          <p:nvPr>
            <p:ph type="body" idx="1"/>
          </p:nvPr>
        </p:nvSpPr>
        <p:spPr>
          <a:xfrm>
            <a:off x="838200" y="1102100"/>
            <a:ext cx="10690500" cy="111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Suposiciones iniciales</a:t>
            </a:r>
            <a:r>
              <a:rPr lang="es-ES" sz="2800" dirty="0">
                <a:latin typeface="+mn-lt"/>
              </a:rPr>
              <a:t>: Son “ideales y poco realistas”.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Cada trabajo se ejecuta por la misma cantidad de tiempo.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398" name="Google Shape;398;p32"/>
          <p:cNvGraphicFramePr/>
          <p:nvPr>
            <p:extLst>
              <p:ext uri="{D42A27DB-BD31-4B8C-83A1-F6EECF244321}">
                <p14:modId xmlns:p14="http://schemas.microsoft.com/office/powerpoint/2010/main" val="3745327488"/>
              </p:ext>
            </p:extLst>
          </p:nvPr>
        </p:nvGraphicFramePr>
        <p:xfrm>
          <a:off x="5016400" y="3411538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Pn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9" name="Google Shape;399;p32"/>
          <p:cNvCxnSpPr/>
          <p:nvPr/>
        </p:nvCxnSpPr>
        <p:spPr>
          <a:xfrm>
            <a:off x="5013625" y="3148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0" name="Google Shape;400;p32"/>
          <p:cNvSpPr txBox="1"/>
          <p:nvPr/>
        </p:nvSpPr>
        <p:spPr>
          <a:xfrm>
            <a:off x="4140875" y="3519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32"/>
          <p:cNvSpPr txBox="1"/>
          <p:nvPr/>
        </p:nvSpPr>
        <p:spPr>
          <a:xfrm>
            <a:off x="8460150" y="439272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2" name="Google Shape;402;p32"/>
          <p:cNvCxnSpPr/>
          <p:nvPr/>
        </p:nvCxnSpPr>
        <p:spPr>
          <a:xfrm rot="10800000" flipH="1">
            <a:off x="6834530" y="4392125"/>
            <a:ext cx="600600" cy="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03" name="Google Shape;403;p32"/>
          <p:cNvCxnSpPr/>
          <p:nvPr/>
        </p:nvCxnSpPr>
        <p:spPr>
          <a:xfrm flipH="1">
            <a:off x="6828630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2"/>
          <p:cNvCxnSpPr/>
          <p:nvPr/>
        </p:nvCxnSpPr>
        <p:spPr>
          <a:xfrm flipH="1">
            <a:off x="7433705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5" name="Google Shape;405;p32" descr="T_{run}" title="MathEquation,#ff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679" y="4494383"/>
            <a:ext cx="484300" cy="2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11" name="Google Shape;411;p33"/>
          <p:cNvSpPr txBox="1">
            <a:spLocks noGrp="1"/>
          </p:cNvSpPr>
          <p:nvPr>
            <p:ph type="body" idx="1"/>
          </p:nvPr>
        </p:nvSpPr>
        <p:spPr>
          <a:xfrm>
            <a:off x="838200" y="1102100"/>
            <a:ext cx="106905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Suposiciones iniciales</a:t>
            </a:r>
            <a:r>
              <a:rPr lang="es-ES" sz="2800" dirty="0">
                <a:latin typeface="+mn-lt"/>
              </a:rPr>
              <a:t>: Son “ideales y poco realistas”.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dirty="0">
                <a:latin typeface="+mn-lt"/>
              </a:rPr>
              <a:t>Todos los trabajos son iniciados al mismo tiempo (arrival time).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12" name="Google Shape;412;p33"/>
          <p:cNvCxnSpPr/>
          <p:nvPr/>
        </p:nvCxnSpPr>
        <p:spPr>
          <a:xfrm>
            <a:off x="4743500" y="2461575"/>
            <a:ext cx="3992700" cy="16389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3" name="Google Shape;413;p33"/>
          <p:cNvSpPr txBox="1"/>
          <p:nvPr/>
        </p:nvSpPr>
        <p:spPr>
          <a:xfrm>
            <a:off x="3921550" y="30194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4" name="Google Shape;414;p33"/>
          <p:cNvSpPr txBox="1"/>
          <p:nvPr/>
        </p:nvSpPr>
        <p:spPr>
          <a:xfrm>
            <a:off x="8736200" y="41659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15" name="Google Shape;415;p33"/>
          <p:cNvCxnSpPr/>
          <p:nvPr/>
        </p:nvCxnSpPr>
        <p:spPr>
          <a:xfrm>
            <a:off x="5619800" y="2702875"/>
            <a:ext cx="0" cy="1955700"/>
          </a:xfrm>
          <a:prstGeom prst="straightConnector1">
            <a:avLst/>
          </a:prstGeom>
          <a:noFill/>
          <a:ln w="19050" cap="flat" cmpd="sng">
            <a:solidFill>
              <a:srgbClr val="ED7D3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6" name="Google Shape;416;p33"/>
          <p:cNvSpPr/>
          <p:nvPr/>
        </p:nvSpPr>
        <p:spPr>
          <a:xfrm>
            <a:off x="5254250" y="47295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5254250" y="5681588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838200" y="1102099"/>
            <a:ext cx="10690500" cy="14199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Suposiciones iniciales</a:t>
            </a:r>
            <a:r>
              <a:rPr lang="es-ES" sz="2800" dirty="0">
                <a:latin typeface="+mn-lt"/>
              </a:rPr>
              <a:t>: Son “ideales y poco realistas”.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s-ES" sz="2400" dirty="0">
                <a:latin typeface="+mn-lt"/>
              </a:rPr>
              <a:t>Una vez iniciado, cada trabajo se ejecuta hasta su finalización (no se puede interrumpir).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cxnSp>
        <p:nvCxnSpPr>
          <p:cNvPr id="424" name="Google Shape;424;p34"/>
          <p:cNvCxnSpPr/>
          <p:nvPr/>
        </p:nvCxnSpPr>
        <p:spPr>
          <a:xfrm>
            <a:off x="4743500" y="2696927"/>
            <a:ext cx="3992700" cy="16389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5" name="Google Shape;425;p34"/>
          <p:cNvSpPr txBox="1"/>
          <p:nvPr/>
        </p:nvSpPr>
        <p:spPr>
          <a:xfrm>
            <a:off x="3983000" y="3527440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8736200" y="4401327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7" name="Google Shape;427;p34"/>
          <p:cNvCxnSpPr/>
          <p:nvPr/>
        </p:nvCxnSpPr>
        <p:spPr>
          <a:xfrm>
            <a:off x="5619800" y="2938227"/>
            <a:ext cx="0" cy="1955700"/>
          </a:xfrm>
          <a:prstGeom prst="straightConnector1">
            <a:avLst/>
          </a:prstGeom>
          <a:noFill/>
          <a:ln w="19050" cap="flat" cmpd="sng">
            <a:solidFill>
              <a:srgbClr val="ED7D3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28" name="Google Shape;428;p34"/>
          <p:cNvSpPr/>
          <p:nvPr/>
        </p:nvSpPr>
        <p:spPr>
          <a:xfrm>
            <a:off x="5254250" y="4964927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5254250" y="591694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5635925" y="3386427"/>
            <a:ext cx="1447800" cy="9495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36" name="Google Shape;436;p35"/>
          <p:cNvSpPr txBox="1">
            <a:spLocks noGrp="1"/>
          </p:cNvSpPr>
          <p:nvPr>
            <p:ph type="body" idx="1"/>
          </p:nvPr>
        </p:nvSpPr>
        <p:spPr>
          <a:xfrm>
            <a:off x="838200" y="1102100"/>
            <a:ext cx="10690500" cy="10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Suposiciones iniciales</a:t>
            </a:r>
            <a:r>
              <a:rPr lang="es-ES" sz="2800" dirty="0">
                <a:latin typeface="+mn-lt"/>
              </a:rPr>
              <a:t>: Son “ideales y poco realistas”.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4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437" name="Google Shape;437;p35"/>
          <p:cNvGrpSpPr/>
          <p:nvPr/>
        </p:nvGrpSpPr>
        <p:grpSpPr>
          <a:xfrm>
            <a:off x="838202" y="2440550"/>
            <a:ext cx="5145700" cy="3818750"/>
            <a:chOff x="1158027" y="2440550"/>
            <a:chExt cx="5145700" cy="3818750"/>
          </a:xfrm>
        </p:grpSpPr>
        <p:sp>
          <p:nvSpPr>
            <p:cNvPr id="438" name="Google Shape;438;p35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41" name="Google Shape;441;p35"/>
            <p:cNvCxnSpPr>
              <a:stCxn id="438" idx="7"/>
              <a:endCxn id="439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35205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2" name="Google Shape;442;p35"/>
            <p:cNvCxnSpPr>
              <a:stCxn id="439" idx="3"/>
              <a:endCxn id="438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343078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3" name="Google Shape;443;p35"/>
            <p:cNvCxnSpPr>
              <a:stCxn id="439" idx="4"/>
              <a:endCxn id="440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4" name="Google Shape;444;p35"/>
            <p:cNvCxnSpPr>
              <a:stCxn id="440" idx="2"/>
              <a:endCxn id="438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5" name="Google Shape;445;p35"/>
            <p:cNvSpPr txBox="1"/>
            <p:nvPr/>
          </p:nvSpPr>
          <p:spPr>
            <a:xfrm>
              <a:off x="3032425" y="2440550"/>
              <a:ext cx="126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6" name="Google Shape;446;p35"/>
            <p:cNvSpPr txBox="1"/>
            <p:nvPr/>
          </p:nvSpPr>
          <p:spPr>
            <a:xfrm>
              <a:off x="2909675" y="4207750"/>
              <a:ext cx="157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7" name="Google Shape;447;p35"/>
            <p:cNvSpPr txBox="1"/>
            <p:nvPr/>
          </p:nvSpPr>
          <p:spPr>
            <a:xfrm>
              <a:off x="4819927" y="4671788"/>
              <a:ext cx="1483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I/O or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event wait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8" name="Google Shape;448;p35"/>
            <p:cNvSpPr txBox="1"/>
            <p:nvPr/>
          </p:nvSpPr>
          <p:spPr>
            <a:xfrm>
              <a:off x="1158027" y="4571738"/>
              <a:ext cx="14838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I/O or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event completion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7892325" y="2700100"/>
            <a:ext cx="4017375" cy="2666400"/>
            <a:chOff x="7134525" y="2255600"/>
            <a:chExt cx="4017375" cy="2666400"/>
          </a:xfrm>
        </p:grpSpPr>
        <p:sp>
          <p:nvSpPr>
            <p:cNvPr id="450" name="Google Shape;450;p35"/>
            <p:cNvSpPr/>
            <p:nvPr/>
          </p:nvSpPr>
          <p:spPr>
            <a:xfrm>
              <a:off x="7134525" y="2880150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9882000" y="2949925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52" name="Google Shape;452;p35"/>
            <p:cNvCxnSpPr>
              <a:stCxn id="450" idx="7"/>
              <a:endCxn id="451" idx="1"/>
            </p:cNvCxnSpPr>
            <p:nvPr/>
          </p:nvCxnSpPr>
          <p:spPr>
            <a:xfrm rot="-5400000" flipH="1">
              <a:off x="9108252" y="2185637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3" name="Google Shape;453;p35"/>
            <p:cNvCxnSpPr>
              <a:stCxn id="451" idx="3"/>
              <a:endCxn id="450" idx="5"/>
            </p:cNvCxnSpPr>
            <p:nvPr/>
          </p:nvCxnSpPr>
          <p:spPr>
            <a:xfrm rot="5400000" flipH="1">
              <a:off x="9108273" y="3128438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4" name="Google Shape;454;p35"/>
            <p:cNvSpPr txBox="1"/>
            <p:nvPr/>
          </p:nvSpPr>
          <p:spPr>
            <a:xfrm>
              <a:off x="8508275" y="2255600"/>
              <a:ext cx="126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5" name="Google Shape;455;p35"/>
            <p:cNvSpPr txBox="1"/>
            <p:nvPr/>
          </p:nvSpPr>
          <p:spPr>
            <a:xfrm>
              <a:off x="8278025" y="4521800"/>
              <a:ext cx="173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6" name="Google Shape;456;p35"/>
          <p:cNvSpPr/>
          <p:nvPr/>
        </p:nvSpPr>
        <p:spPr>
          <a:xfrm>
            <a:off x="5686725" y="3680775"/>
            <a:ext cx="2006700" cy="51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5801025" y="3213450"/>
            <a:ext cx="154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Simplificación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63" name="Google Shape;463;p36"/>
          <p:cNvSpPr txBox="1">
            <a:spLocks noGrp="1"/>
          </p:cNvSpPr>
          <p:nvPr>
            <p:ph type="body" idx="1"/>
          </p:nvPr>
        </p:nvSpPr>
        <p:spPr>
          <a:xfrm>
            <a:off x="838200" y="1102100"/>
            <a:ext cx="106905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Suposiciones iniciales</a:t>
            </a:r>
            <a:r>
              <a:rPr lang="es-ES" sz="2800" dirty="0">
                <a:latin typeface="+mn-lt"/>
              </a:rPr>
              <a:t>: Son “ideales y poco realistas”.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5"/>
            </a:pPr>
            <a:r>
              <a:rPr lang="es-ES" sz="2400" dirty="0">
                <a:latin typeface="+mn-lt"/>
              </a:rPr>
              <a:t>El tiempo de ejecución de cada trabajo es conocido (</a:t>
            </a:r>
            <a:r>
              <a:rPr lang="es-ES" sz="2400" dirty="0" err="1">
                <a:latin typeface="+mn-lt"/>
              </a:rPr>
              <a:t>runtime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464" name="Google Shape;464;p36"/>
          <p:cNvGraphicFramePr/>
          <p:nvPr>
            <p:extLst>
              <p:ext uri="{D42A27DB-BD31-4B8C-83A1-F6EECF244321}">
                <p14:modId xmlns:p14="http://schemas.microsoft.com/office/powerpoint/2010/main" val="3035574278"/>
              </p:ext>
            </p:extLst>
          </p:nvPr>
        </p:nvGraphicFramePr>
        <p:xfrm>
          <a:off x="5016400" y="3405981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Pn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5" name="Google Shape;465;p36"/>
          <p:cNvCxnSpPr/>
          <p:nvPr/>
        </p:nvCxnSpPr>
        <p:spPr>
          <a:xfrm>
            <a:off x="5013625" y="3148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6" name="Google Shape;466;p36"/>
          <p:cNvSpPr txBox="1"/>
          <p:nvPr/>
        </p:nvSpPr>
        <p:spPr>
          <a:xfrm>
            <a:off x="4140875" y="3519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8460150" y="439272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68" name="Google Shape;468;p36"/>
          <p:cNvCxnSpPr/>
          <p:nvPr/>
        </p:nvCxnSpPr>
        <p:spPr>
          <a:xfrm rot="10800000" flipH="1">
            <a:off x="6842158" y="4392125"/>
            <a:ext cx="600600" cy="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69" name="Google Shape;469;p36"/>
          <p:cNvCxnSpPr/>
          <p:nvPr/>
        </p:nvCxnSpPr>
        <p:spPr>
          <a:xfrm flipH="1">
            <a:off x="6836258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36"/>
          <p:cNvCxnSpPr/>
          <p:nvPr/>
        </p:nvCxnSpPr>
        <p:spPr>
          <a:xfrm flipH="1">
            <a:off x="7441333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71" name="Google Shape;471;p36" descr="T_{run}" title="MathEquation,#ff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307" y="4503725"/>
            <a:ext cx="4843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857" y="4822431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"/>
          <p:cNvSpPr txBox="1">
            <a:spLocks noGrp="1"/>
          </p:cNvSpPr>
          <p:nvPr>
            <p:ph type="title"/>
          </p:nvPr>
        </p:nvSpPr>
        <p:spPr>
          <a:xfrm>
            <a:off x="838200" y="98106"/>
            <a:ext cx="10515600" cy="108039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planificación</a:t>
            </a:r>
            <a:endParaRPr dirty="0"/>
          </a:p>
        </p:txBody>
      </p:sp>
      <p:sp>
        <p:nvSpPr>
          <p:cNvPr id="484" name="Google Shape;484;p38"/>
          <p:cNvSpPr txBox="1">
            <a:spLocks noGrp="1"/>
          </p:cNvSpPr>
          <p:nvPr>
            <p:ph idx="1"/>
          </p:nvPr>
        </p:nvSpPr>
        <p:spPr>
          <a:xfrm>
            <a:off x="885275" y="912200"/>
            <a:ext cx="10749300" cy="25365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2"/>
                </a:solidFill>
              </a:rPr>
              <a:t>Métrica</a:t>
            </a:r>
            <a:endParaRPr b="1" dirty="0">
              <a:solidFill>
                <a:schemeClr val="accent2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dirty="0"/>
              <a:t>Una métrica es una medida de desempeño.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dirty="0"/>
              <a:t>Métricas de desempeño usadas para scheduling: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400" dirty="0"/>
              <a:t>Turn around time.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400" dirty="0"/>
              <a:t>Fairness (equidad).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400" dirty="0"/>
              <a:t>Response time.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85" name="Google Shape;485;p38"/>
          <p:cNvGrpSpPr/>
          <p:nvPr/>
        </p:nvGrpSpPr>
        <p:grpSpPr>
          <a:xfrm>
            <a:off x="2118075" y="3833175"/>
            <a:ext cx="8371075" cy="2861100"/>
            <a:chOff x="2118075" y="3528375"/>
            <a:chExt cx="8371075" cy="2861100"/>
          </a:xfrm>
        </p:grpSpPr>
        <p:cxnSp>
          <p:nvCxnSpPr>
            <p:cNvPr id="486" name="Google Shape;486;p38"/>
            <p:cNvCxnSpPr/>
            <p:nvPr/>
          </p:nvCxnSpPr>
          <p:spPr>
            <a:xfrm>
              <a:off x="3829100" y="3528375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87" name="Google Shape;487;p38"/>
            <p:cNvSpPr txBox="1"/>
            <p:nvPr/>
          </p:nvSpPr>
          <p:spPr>
            <a:xfrm>
              <a:off x="3068600" y="40862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8" name="Google Shape;488;p38"/>
            <p:cNvSpPr txBox="1"/>
            <p:nvPr/>
          </p:nvSpPr>
          <p:spPr>
            <a:xfrm>
              <a:off x="9728650" y="52327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89" name="Google Shape;489;p38"/>
            <p:cNvCxnSpPr/>
            <p:nvPr/>
          </p:nvCxnSpPr>
          <p:spPr>
            <a:xfrm>
              <a:off x="4692700" y="371477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0" name="Google Shape;490;p38"/>
            <p:cNvSpPr/>
            <p:nvPr/>
          </p:nvSpPr>
          <p:spPr>
            <a:xfrm>
              <a:off x="4438750" y="5852175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6131225" y="4204575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2" name="Google Shape;492;p38"/>
            <p:cNvSpPr txBox="1"/>
            <p:nvPr/>
          </p:nvSpPr>
          <p:spPr>
            <a:xfrm>
              <a:off x="2118075" y="5232775"/>
              <a:ext cx="132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status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3" name="Google Shape;493;p38"/>
            <p:cNvSpPr txBox="1"/>
            <p:nvPr/>
          </p:nvSpPr>
          <p:spPr>
            <a:xfrm>
              <a:off x="3829100" y="52327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---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4" name="Google Shape;494;p38"/>
            <p:cNvSpPr txBox="1"/>
            <p:nvPr/>
          </p:nvSpPr>
          <p:spPr>
            <a:xfrm>
              <a:off x="4799400" y="5256825"/>
              <a:ext cx="114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8A0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2000" b="1">
                <a:solidFill>
                  <a:srgbClr val="F8A02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95" name="Google Shape;495;p38"/>
            <p:cNvCxnSpPr/>
            <p:nvPr/>
          </p:nvCxnSpPr>
          <p:spPr>
            <a:xfrm>
              <a:off x="6127800" y="379097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6" name="Google Shape;496;p38"/>
            <p:cNvSpPr txBox="1"/>
            <p:nvPr/>
          </p:nvSpPr>
          <p:spPr>
            <a:xfrm>
              <a:off x="6259925" y="5232775"/>
              <a:ext cx="885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2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97" name="Google Shape;497;p38"/>
            <p:cNvCxnSpPr/>
            <p:nvPr/>
          </p:nvCxnSpPr>
          <p:spPr>
            <a:xfrm>
              <a:off x="7274050" y="371842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8" name="Google Shape;498;p38"/>
            <p:cNvSpPr txBox="1"/>
            <p:nvPr/>
          </p:nvSpPr>
          <p:spPr>
            <a:xfrm>
              <a:off x="7406175" y="525682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---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99" name="Google Shape;499;p38"/>
          <p:cNvSpPr/>
          <p:nvPr/>
        </p:nvSpPr>
        <p:spPr>
          <a:xfrm>
            <a:off x="7286975" y="4963475"/>
            <a:ext cx="1219200" cy="508000"/>
          </a:xfrm>
          <a:custGeom>
            <a:avLst/>
            <a:gdLst/>
            <a:ahLst/>
            <a:cxnLst/>
            <a:rect l="l" t="t" r="r" b="b"/>
            <a:pathLst>
              <a:path w="48768" h="20320" extrusionOk="0">
                <a:moveTo>
                  <a:pt x="0" y="20320"/>
                </a:moveTo>
                <a:lnTo>
                  <a:pt x="15240" y="0"/>
                </a:lnTo>
                <a:lnTo>
                  <a:pt x="48768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500" name="Google Shape;500;p38"/>
          <p:cNvSpPr/>
          <p:nvPr/>
        </p:nvSpPr>
        <p:spPr>
          <a:xfrm>
            <a:off x="6143975" y="3871275"/>
            <a:ext cx="2362200" cy="1600200"/>
          </a:xfrm>
          <a:custGeom>
            <a:avLst/>
            <a:gdLst/>
            <a:ahLst/>
            <a:cxnLst/>
            <a:rect l="l" t="t" r="r" b="b"/>
            <a:pathLst>
              <a:path w="94488" h="64008" extrusionOk="0">
                <a:moveTo>
                  <a:pt x="0" y="64008"/>
                </a:moveTo>
                <a:lnTo>
                  <a:pt x="28448" y="0"/>
                </a:lnTo>
                <a:lnTo>
                  <a:pt x="94488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501" name="Google Shape;501;p38"/>
          <p:cNvSpPr/>
          <p:nvPr/>
        </p:nvSpPr>
        <p:spPr>
          <a:xfrm>
            <a:off x="4721575" y="3261675"/>
            <a:ext cx="3784600" cy="2209800"/>
          </a:xfrm>
          <a:custGeom>
            <a:avLst/>
            <a:gdLst/>
            <a:ahLst/>
            <a:cxnLst/>
            <a:rect l="l" t="t" r="r" b="b"/>
            <a:pathLst>
              <a:path w="151384" h="88392" extrusionOk="0">
                <a:moveTo>
                  <a:pt x="0" y="88392"/>
                </a:moveTo>
                <a:lnTo>
                  <a:pt x="41656" y="508"/>
                </a:lnTo>
                <a:lnTo>
                  <a:pt x="151384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pic>
        <p:nvPicPr>
          <p:cNvPr id="502" name="Google Shape;502;p38" descr="T_{arrival}" title="MathEquation,#ff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700" y="3111500"/>
            <a:ext cx="962324" cy="3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8" descr="T_{firstrun}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700" y="3655526"/>
            <a:ext cx="1140124" cy="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8" descr="T_{completion}" title="MathEquation,#ff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8700" y="4800600"/>
            <a:ext cx="1468824" cy="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9"/>
          <p:cNvSpPr txBox="1">
            <a:spLocks noGrp="1"/>
          </p:cNvSpPr>
          <p:nvPr>
            <p:ph type="title"/>
          </p:nvPr>
        </p:nvSpPr>
        <p:spPr>
          <a:xfrm>
            <a:off x="838200" y="56182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planificación</a:t>
            </a:r>
            <a:endParaRPr dirty="0"/>
          </a:p>
        </p:txBody>
      </p:sp>
      <p:sp>
        <p:nvSpPr>
          <p:cNvPr id="510" name="Google Shape;510;p39"/>
          <p:cNvSpPr txBox="1">
            <a:spLocks noGrp="1"/>
          </p:cNvSpPr>
          <p:nvPr>
            <p:ph idx="1"/>
          </p:nvPr>
        </p:nvSpPr>
        <p:spPr>
          <a:xfrm>
            <a:off x="941488" y="944211"/>
            <a:ext cx="10749300" cy="254939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2"/>
                </a:solidFill>
              </a:rPr>
              <a:t>Turnarround Time</a:t>
            </a:r>
            <a:endParaRPr b="1" dirty="0">
              <a:solidFill>
                <a:schemeClr val="accent2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dirty="0"/>
              <a:t>Tiempo comprendido entre la llegada y la finalización de un proceso.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1" name="Google Shape;511;p39"/>
          <p:cNvGrpSpPr/>
          <p:nvPr/>
        </p:nvGrpSpPr>
        <p:grpSpPr>
          <a:xfrm>
            <a:off x="2174288" y="2171125"/>
            <a:ext cx="8371075" cy="3545950"/>
            <a:chOff x="2174288" y="2131800"/>
            <a:chExt cx="8371075" cy="3545950"/>
          </a:xfrm>
        </p:grpSpPr>
        <p:grpSp>
          <p:nvGrpSpPr>
            <p:cNvPr id="512" name="Google Shape;512;p39"/>
            <p:cNvGrpSpPr/>
            <p:nvPr/>
          </p:nvGrpSpPr>
          <p:grpSpPr>
            <a:xfrm>
              <a:off x="2174288" y="2131800"/>
              <a:ext cx="8371075" cy="2985925"/>
              <a:chOff x="2118075" y="3111500"/>
              <a:chExt cx="8371075" cy="2985925"/>
            </a:xfrm>
          </p:grpSpPr>
          <p:grpSp>
            <p:nvGrpSpPr>
              <p:cNvPr id="513" name="Google Shape;513;p39"/>
              <p:cNvGrpSpPr/>
              <p:nvPr/>
            </p:nvGrpSpPr>
            <p:grpSpPr>
              <a:xfrm>
                <a:off x="2118075" y="3261675"/>
                <a:ext cx="8371075" cy="2835750"/>
                <a:chOff x="2118075" y="2956875"/>
                <a:chExt cx="8371075" cy="2835750"/>
              </a:xfrm>
            </p:grpSpPr>
            <p:cxnSp>
              <p:nvCxnSpPr>
                <p:cNvPr id="514" name="Google Shape;514;p39"/>
                <p:cNvCxnSpPr/>
                <p:nvPr/>
              </p:nvCxnSpPr>
              <p:spPr>
                <a:xfrm>
                  <a:off x="3829100" y="3528375"/>
                  <a:ext cx="6404400" cy="1625700"/>
                </a:xfrm>
                <a:prstGeom prst="bentConnector3">
                  <a:avLst>
                    <a:gd name="adj1" fmla="val 54"/>
                  </a:avLst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515" name="Google Shape;515;p39"/>
                <p:cNvSpPr txBox="1"/>
                <p:nvPr/>
              </p:nvSpPr>
              <p:spPr>
                <a:xfrm>
                  <a:off x="3068600" y="4086213"/>
                  <a:ext cx="7605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CPU</a:t>
                  </a:r>
                  <a:endParaRPr sz="22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16" name="Google Shape;516;p39"/>
                <p:cNvSpPr txBox="1"/>
                <p:nvPr/>
              </p:nvSpPr>
              <p:spPr>
                <a:xfrm>
                  <a:off x="9728650" y="523277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t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17" name="Google Shape;517;p39"/>
                <p:cNvCxnSpPr/>
                <p:nvPr/>
              </p:nvCxnSpPr>
              <p:spPr>
                <a:xfrm>
                  <a:off x="4692700" y="3714775"/>
                  <a:ext cx="3600" cy="207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ED7D3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8" name="Google Shape;518;p39"/>
                <p:cNvSpPr/>
                <p:nvPr/>
              </p:nvSpPr>
              <p:spPr>
                <a:xfrm>
                  <a:off x="4440550" y="2956875"/>
                  <a:ext cx="507900" cy="537300"/>
                </a:xfrm>
                <a:prstGeom prst="ellipse">
                  <a:avLst/>
                </a:prstGeom>
                <a:solidFill>
                  <a:srgbClr val="C9DAF8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urier New"/>
                      <a:ea typeface="Courier New"/>
                      <a:cs typeface="Courier New"/>
                      <a:sym typeface="Courier New"/>
                    </a:rPr>
                    <a:t>A</a:t>
                  </a:r>
                  <a:endParaRPr sz="180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19" name="Google Shape;519;p39"/>
                <p:cNvSpPr/>
                <p:nvPr/>
              </p:nvSpPr>
              <p:spPr>
                <a:xfrm>
                  <a:off x="6131225" y="4204575"/>
                  <a:ext cx="1143000" cy="949500"/>
                </a:xfrm>
                <a:prstGeom prst="rect">
                  <a:avLst/>
                </a:prstGeom>
                <a:solidFill>
                  <a:srgbClr val="C9DAF8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>
                      <a:latin typeface="Courier New"/>
                      <a:ea typeface="Courier New"/>
                      <a:cs typeface="Courier New"/>
                      <a:sym typeface="Courier New"/>
                    </a:rPr>
                    <a:t>A</a:t>
                  </a:r>
                  <a:endParaRPr sz="220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0" name="Google Shape;520;p39"/>
                <p:cNvSpPr txBox="1"/>
                <p:nvPr/>
              </p:nvSpPr>
              <p:spPr>
                <a:xfrm>
                  <a:off x="2118075" y="5232775"/>
                  <a:ext cx="13299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status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1" name="Google Shape;521;p39"/>
                <p:cNvSpPr txBox="1"/>
                <p:nvPr/>
              </p:nvSpPr>
              <p:spPr>
                <a:xfrm>
                  <a:off x="3829100" y="523277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---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2" name="Google Shape;522;p39"/>
                <p:cNvSpPr txBox="1"/>
                <p:nvPr/>
              </p:nvSpPr>
              <p:spPr>
                <a:xfrm>
                  <a:off x="4799400" y="5256825"/>
                  <a:ext cx="11430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rgbClr val="F8A02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Ready</a:t>
                  </a:r>
                  <a:endParaRPr sz="2000" b="1">
                    <a:solidFill>
                      <a:srgbClr val="F8A02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23" name="Google Shape;523;p39"/>
                <p:cNvCxnSpPr/>
                <p:nvPr/>
              </p:nvCxnSpPr>
              <p:spPr>
                <a:xfrm>
                  <a:off x="6127800" y="3790975"/>
                  <a:ext cx="9300" cy="1932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B693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4" name="Google Shape;524;p39"/>
                <p:cNvSpPr txBox="1"/>
                <p:nvPr/>
              </p:nvSpPr>
              <p:spPr>
                <a:xfrm>
                  <a:off x="6259925" y="5232775"/>
                  <a:ext cx="8856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rgbClr val="0B6937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Run</a:t>
                  </a:r>
                  <a:endParaRPr sz="2000" b="1">
                    <a:solidFill>
                      <a:srgbClr val="0B6937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25" name="Google Shape;525;p39"/>
                <p:cNvCxnSpPr/>
                <p:nvPr/>
              </p:nvCxnSpPr>
              <p:spPr>
                <a:xfrm>
                  <a:off x="7274050" y="3718425"/>
                  <a:ext cx="3600" cy="207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B693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6" name="Google Shape;526;p39"/>
                <p:cNvSpPr txBox="1"/>
                <p:nvPr/>
              </p:nvSpPr>
              <p:spPr>
                <a:xfrm>
                  <a:off x="7406175" y="525682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---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527" name="Google Shape;527;p39"/>
              <p:cNvSpPr/>
              <p:nvPr/>
            </p:nvSpPr>
            <p:spPr>
              <a:xfrm>
                <a:off x="7286975" y="4963475"/>
                <a:ext cx="121920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48768" h="20320" extrusionOk="0">
                    <a:moveTo>
                      <a:pt x="0" y="20320"/>
                    </a:moveTo>
                    <a:lnTo>
                      <a:pt x="15240" y="0"/>
                    </a:lnTo>
                    <a:lnTo>
                      <a:pt x="48768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28" name="Google Shape;528;p39"/>
              <p:cNvSpPr/>
              <p:nvPr/>
            </p:nvSpPr>
            <p:spPr>
              <a:xfrm>
                <a:off x="6143975" y="3871275"/>
                <a:ext cx="2362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94488" h="64008" extrusionOk="0">
                    <a:moveTo>
                      <a:pt x="0" y="64008"/>
                    </a:moveTo>
                    <a:lnTo>
                      <a:pt x="28448" y="0"/>
                    </a:lnTo>
                    <a:lnTo>
                      <a:pt x="94488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29" name="Google Shape;529;p39"/>
              <p:cNvSpPr/>
              <p:nvPr/>
            </p:nvSpPr>
            <p:spPr>
              <a:xfrm>
                <a:off x="4721575" y="3261675"/>
                <a:ext cx="3784600" cy="2209800"/>
              </a:xfrm>
              <a:custGeom>
                <a:avLst/>
                <a:gdLst/>
                <a:ahLst/>
                <a:cxnLst/>
                <a:rect l="l" t="t" r="r" b="b"/>
                <a:pathLst>
                  <a:path w="151384" h="88392" extrusionOk="0">
                    <a:moveTo>
                      <a:pt x="0" y="88392"/>
                    </a:moveTo>
                    <a:lnTo>
                      <a:pt x="41656" y="508"/>
                    </a:lnTo>
                    <a:lnTo>
                      <a:pt x="151384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pic>
            <p:nvPicPr>
              <p:cNvPr id="530" name="Google Shape;530;p39" descr="T_{arrival}" title="MathEquation,#ff000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648700" y="3111500"/>
                <a:ext cx="962324" cy="344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1" name="Google Shape;531;p39" descr="T_{firstrun}" title="MathEquation,#ff000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48700" y="3655526"/>
                <a:ext cx="1140124" cy="407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2" name="Google Shape;532;p39" descr="T_{completion}" title="MathEquation,#ff000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648700" y="4800600"/>
                <a:ext cx="1468824" cy="407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33" name="Google Shape;533;p39"/>
            <p:cNvCxnSpPr/>
            <p:nvPr/>
          </p:nvCxnSpPr>
          <p:spPr>
            <a:xfrm>
              <a:off x="4760050" y="5181350"/>
              <a:ext cx="2570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534" name="Google Shape;534;p39" descr="T_{turnarround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10825" y="5308600"/>
              <a:ext cx="1668550" cy="369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5" name="Google Shape;535;p39"/>
          <p:cNvGrpSpPr/>
          <p:nvPr/>
        </p:nvGrpSpPr>
        <p:grpSpPr>
          <a:xfrm>
            <a:off x="1994775" y="5991450"/>
            <a:ext cx="8054100" cy="712500"/>
            <a:chOff x="1892975" y="5850600"/>
            <a:chExt cx="8054100" cy="712500"/>
          </a:xfrm>
        </p:grpSpPr>
        <p:sp>
          <p:nvSpPr>
            <p:cNvPr id="536" name="Google Shape;536;p39"/>
            <p:cNvSpPr/>
            <p:nvPr/>
          </p:nvSpPr>
          <p:spPr>
            <a:xfrm>
              <a:off x="1892975" y="5850600"/>
              <a:ext cx="80541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7" name="Google Shape;537;p39" descr="T_{turnarround}=T_{completion}-T_{arrival}" title="MathEquation,#0000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94551" y="5919737"/>
              <a:ext cx="7067526" cy="574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1"/>
          <p:cNvSpPr txBox="1">
            <a:spLocks noGrp="1"/>
          </p:cNvSpPr>
          <p:nvPr>
            <p:ph type="title"/>
          </p:nvPr>
        </p:nvSpPr>
        <p:spPr>
          <a:xfrm>
            <a:off x="383457" y="96038"/>
            <a:ext cx="108881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planificación de procesos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55" name="Google Shape;555;p41"/>
          <p:cNvSpPr txBox="1">
            <a:spLocks noGrp="1"/>
          </p:cNvSpPr>
          <p:nvPr>
            <p:ph type="body" idx="1"/>
          </p:nvPr>
        </p:nvSpPr>
        <p:spPr>
          <a:xfrm>
            <a:off x="487717" y="1045538"/>
            <a:ext cx="5746407" cy="57239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El planificador de procesos depende del algoritmo de planificación de procesos, el cual, basado en una política específica, asigna la CPU y mueve los diferentes trabajos a través del sistema.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Algoritmos (no todos) de planificación de procesos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 err="1"/>
              <a:t>First</a:t>
            </a:r>
            <a:r>
              <a:rPr lang="es-ES" b="1" dirty="0"/>
              <a:t>-Come, </a:t>
            </a:r>
            <a:r>
              <a:rPr lang="es-ES" b="1" dirty="0" err="1"/>
              <a:t>First-Served</a:t>
            </a:r>
            <a:r>
              <a:rPr lang="es-ES" b="1" dirty="0"/>
              <a:t> (FCFS)</a:t>
            </a:r>
            <a:r>
              <a:rPr lang="es-ES" dirty="0"/>
              <a:t>.</a:t>
            </a:r>
            <a:endParaRPr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 err="1"/>
              <a:t>Shortest</a:t>
            </a:r>
            <a:r>
              <a:rPr lang="es-ES" b="1" dirty="0"/>
              <a:t> Job First (SJF)</a:t>
            </a:r>
            <a:r>
              <a:rPr lang="es-ES" dirty="0"/>
              <a:t>.</a:t>
            </a:r>
            <a:endParaRPr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 err="1"/>
              <a:t>Shortest</a:t>
            </a:r>
            <a:r>
              <a:rPr lang="es-ES" b="1" dirty="0"/>
              <a:t> time </a:t>
            </a:r>
            <a:r>
              <a:rPr lang="es-ES" b="1" dirty="0" err="1"/>
              <a:t>to</a:t>
            </a:r>
            <a:r>
              <a:rPr lang="es-ES" b="1" dirty="0"/>
              <a:t> </a:t>
            </a:r>
            <a:r>
              <a:rPr lang="es-ES" b="1" dirty="0" err="1"/>
              <a:t>completion</a:t>
            </a:r>
            <a:r>
              <a:rPr lang="es-ES" b="1" dirty="0"/>
              <a:t> First (STCF)</a:t>
            </a:r>
            <a:r>
              <a:rPr lang="es-ES" dirty="0"/>
              <a:t>.</a:t>
            </a:r>
            <a:endParaRPr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/>
              <a:t>Round </a:t>
            </a:r>
            <a:r>
              <a:rPr lang="es-ES" b="1" dirty="0" err="1"/>
              <a:t>robin</a:t>
            </a:r>
            <a:r>
              <a:rPr lang="es-ES" b="1" dirty="0"/>
              <a:t> (RR)</a:t>
            </a:r>
            <a:r>
              <a:rPr lang="es-ES" dirty="0"/>
              <a:t>.</a:t>
            </a:r>
            <a:endParaRPr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41"/>
          <p:cNvSpPr/>
          <p:nvPr/>
        </p:nvSpPr>
        <p:spPr>
          <a:xfrm>
            <a:off x="6930779" y="34290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6937904" y="4469038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58" name="Google Shape;5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9829" y="3970663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4517" y="3189660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" name="Google Shape;560;p41"/>
          <p:cNvCxnSpPr/>
          <p:nvPr/>
        </p:nvCxnSpPr>
        <p:spPr>
          <a:xfrm>
            <a:off x="7912979" y="3878800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61" name="Google Shape;561;p41"/>
          <p:cNvCxnSpPr/>
          <p:nvPr/>
        </p:nvCxnSpPr>
        <p:spPr>
          <a:xfrm>
            <a:off x="8784179" y="4469038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2" name="Google Shape;562;p41"/>
          <p:cNvSpPr/>
          <p:nvPr/>
        </p:nvSpPr>
        <p:spPr>
          <a:xfrm>
            <a:off x="8451982" y="3964450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63" name="Google Shape;563;p41"/>
          <p:cNvSpPr txBox="1"/>
          <p:nvPr/>
        </p:nvSpPr>
        <p:spPr>
          <a:xfrm>
            <a:off x="7952704" y="41753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4" name="Google Shape;564;p41"/>
          <p:cNvSpPr txBox="1"/>
          <p:nvPr/>
        </p:nvSpPr>
        <p:spPr>
          <a:xfrm>
            <a:off x="6934379" y="5394800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5" name="Google Shape;5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1856" y="2346721"/>
            <a:ext cx="731100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10090704" y="1487763"/>
            <a:ext cx="258300" cy="2364000"/>
          </a:xfrm>
          <a:prstGeom prst="leftBrace">
            <a:avLst>
              <a:gd name="adj1" fmla="val 76994"/>
              <a:gd name="adj2" fmla="val 4985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10347229" y="1684950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FCFS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8" name="Google Shape;568;p41"/>
          <p:cNvSpPr/>
          <p:nvPr/>
        </p:nvSpPr>
        <p:spPr>
          <a:xfrm>
            <a:off x="10360554" y="2244925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SJF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41"/>
          <p:cNvSpPr/>
          <p:nvPr/>
        </p:nvSpPr>
        <p:spPr>
          <a:xfrm>
            <a:off x="10360554" y="2780988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STCF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41"/>
          <p:cNvSpPr/>
          <p:nvPr/>
        </p:nvSpPr>
        <p:spPr>
          <a:xfrm>
            <a:off x="10360554" y="3329000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RR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2"/>
          <p:cNvSpPr txBox="1">
            <a:spLocks noGrp="1"/>
          </p:cNvSpPr>
          <p:nvPr>
            <p:ph type="title"/>
          </p:nvPr>
        </p:nvSpPr>
        <p:spPr>
          <a:xfrm>
            <a:off x="547940" y="287767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-Come, 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</a:p>
        </p:txBody>
      </p:sp>
      <p:sp>
        <p:nvSpPr>
          <p:cNvPr id="579" name="Google Shape;579;p42"/>
          <p:cNvSpPr txBox="1">
            <a:spLocks noGrp="1"/>
          </p:cNvSpPr>
          <p:nvPr>
            <p:ph type="body" idx="1"/>
          </p:nvPr>
        </p:nvSpPr>
        <p:spPr>
          <a:xfrm>
            <a:off x="526880" y="1237267"/>
            <a:ext cx="11117179" cy="24498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Los procesos son manejados de acuerdo al tiempo de llegada.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El primer trabajo que llega, es el primero en ser atendido.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Simple y fácil de implementar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Cola </a:t>
            </a:r>
            <a:r>
              <a:rPr lang="es-ES" b="1" dirty="0"/>
              <a:t>FifoFIFO (First-In, First-Out)</a:t>
            </a:r>
            <a:r>
              <a:rPr lang="es-ES" dirty="0"/>
              <a:t>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No apropiativo (Non preemptive</a:t>
            </a:r>
            <a:r>
              <a:rPr lang="es-ES" sz="2400" dirty="0"/>
              <a:t>): Solo se selecciona un nuevo proceso cuando el proceso anterior acaba.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3B3CCC0-FC4B-4CE8-AF4A-9B6A4B0768E0}"/>
              </a:ext>
            </a:extLst>
          </p:cNvPr>
          <p:cNvGrpSpPr/>
          <p:nvPr/>
        </p:nvGrpSpPr>
        <p:grpSpPr>
          <a:xfrm>
            <a:off x="3022600" y="4414559"/>
            <a:ext cx="5466824" cy="1206174"/>
            <a:chOff x="3022600" y="4414559"/>
            <a:chExt cx="5466824" cy="120617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793C70B9-61DE-452C-8B56-CED7986801E1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E0D9FFBB-E63D-43CA-86F4-BA49106F91CB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D099C15-DCA1-4E84-9F77-55BBCC7DAAB0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65D2E28-AC64-4E20-938C-60C9768433C5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1D4F2B18-4B7A-4866-A6E7-6FDF2ED561E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CEA03138-197A-4BC3-B642-EE9F81FA2213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70A763A7-B4C1-4D99-8C76-1CBE15BFE01F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D1C2EFB3-73F2-49C2-B2A5-C514BAF650D2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" name="Conector recto 2">
                  <a:extLst>
                    <a:ext uri="{FF2B5EF4-FFF2-40B4-BE49-F238E27FC236}">
                      <a16:creationId xmlns:a16="http://schemas.microsoft.com/office/drawing/2014/main" id="{9D1B0D4D-FB17-492F-96A8-84C2195DB209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Conector recto 13">
                  <a:extLst>
                    <a:ext uri="{FF2B5EF4-FFF2-40B4-BE49-F238E27FC236}">
                      <a16:creationId xmlns:a16="http://schemas.microsoft.com/office/drawing/2014/main" id="{EBB33848-B2F6-475D-8269-EB34500717F3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Conector recto 14">
                  <a:extLst>
                    <a:ext uri="{FF2B5EF4-FFF2-40B4-BE49-F238E27FC236}">
                      <a16:creationId xmlns:a16="http://schemas.microsoft.com/office/drawing/2014/main" id="{9312B520-8CB2-41F1-8C9C-788FBE36E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5CE9893-6104-443B-A96E-8EEAB0E69A66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3"/>
          <p:cNvSpPr txBox="1">
            <a:spLocks noGrp="1"/>
          </p:cNvSpPr>
          <p:nvPr>
            <p:ph type="body" idx="1"/>
          </p:nvPr>
        </p:nvSpPr>
        <p:spPr>
          <a:xfrm>
            <a:off x="381000" y="1056200"/>
            <a:ext cx="11140050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Cada proceso se ejecuta por 10 segundos.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D7D31"/>
                </a:solidFill>
                <a:latin typeface="+mn-lt"/>
              </a:rPr>
              <a:t>¿Cual es el </a:t>
            </a:r>
            <a:r>
              <a:rPr lang="es-ES" sz="2200" b="1" dirty="0" err="1">
                <a:solidFill>
                  <a:srgbClr val="ED7D31"/>
                </a:solidFill>
                <a:latin typeface="+mn-lt"/>
              </a:rPr>
              <a:t>turnarround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 time promedio?</a:t>
            </a: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89" name="Google Shape;589;p43"/>
          <p:cNvGraphicFramePr/>
          <p:nvPr>
            <p:extLst>
              <p:ext uri="{D42A27DB-BD31-4B8C-83A1-F6EECF244321}">
                <p14:modId xmlns:p14="http://schemas.microsoft.com/office/powerpoint/2010/main" val="4280262061"/>
              </p:ext>
            </p:extLst>
          </p:nvPr>
        </p:nvGraphicFramePr>
        <p:xfrm>
          <a:off x="1873550" y="3742725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0" name="Google Shape;590;p43"/>
          <p:cNvSpPr txBox="1"/>
          <p:nvPr/>
        </p:nvSpPr>
        <p:spPr>
          <a:xfrm>
            <a:off x="7059344" y="3978300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Orden de llegada: </a:t>
            </a:r>
            <a:endParaRPr sz="20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Google Shape;578;p42">
            <a:extLst>
              <a:ext uri="{FF2B5EF4-FFF2-40B4-BE49-F238E27FC236}">
                <a16:creationId xmlns:a16="http://schemas.microsoft.com/office/drawing/2014/main" id="{C49B38B3-D520-4C46-9193-4AC1ADE89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240" y="106700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-Come, 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"/>
          <p:cNvSpPr txBox="1">
            <a:spLocks noGrp="1"/>
          </p:cNvSpPr>
          <p:nvPr>
            <p:ph type="title"/>
          </p:nvPr>
        </p:nvSpPr>
        <p:spPr>
          <a:xfrm>
            <a:off x="824250" y="10668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dirty="0"/>
          </a:p>
        </p:txBody>
      </p:sp>
      <p:graphicFrame>
        <p:nvGraphicFramePr>
          <p:cNvPr id="601" name="Google Shape;601;p44"/>
          <p:cNvGraphicFramePr/>
          <p:nvPr>
            <p:extLst>
              <p:ext uri="{D42A27DB-BD31-4B8C-83A1-F6EECF244321}">
                <p14:modId xmlns:p14="http://schemas.microsoft.com/office/powerpoint/2010/main" val="3733788305"/>
              </p:ext>
            </p:extLst>
          </p:nvPr>
        </p:nvGraphicFramePr>
        <p:xfrm>
          <a:off x="7453319" y="1801523"/>
          <a:ext cx="40051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33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A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C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29530204-40A6-4D0D-ACE4-D11C757296DF}"/>
              </a:ext>
            </a:extLst>
          </p:cNvPr>
          <p:cNvGrpSpPr/>
          <p:nvPr/>
        </p:nvGrpSpPr>
        <p:grpSpPr>
          <a:xfrm>
            <a:off x="911582" y="1790351"/>
            <a:ext cx="5466824" cy="1206174"/>
            <a:chOff x="3022600" y="4414559"/>
            <a:chExt cx="5466824" cy="120617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22506169-DB33-4DC4-9E43-25EA8FA791FC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0C506896-3429-42AB-9AD3-4ED28E0B5ED0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183EB4D-1BB0-476D-B73A-FA27E6EABD56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A806F6FB-86FA-4F43-B367-ECD1EA5C6F2E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E0AEC68B-447B-408F-963A-1AEEB61E2AB4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D82322D4-F82F-44E3-B53D-D907EA146AD0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44ACBB2B-1507-4E82-A33D-18D0C7D6EADC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0F59A2DE-C4AE-45D7-8286-7BE7B10E1CD4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17" name="Conector recto 16">
                  <a:extLst>
                    <a:ext uri="{FF2B5EF4-FFF2-40B4-BE49-F238E27FC236}">
                      <a16:creationId xmlns:a16="http://schemas.microsoft.com/office/drawing/2014/main" id="{2725D0C9-A732-4B10-B13F-575FD34B7561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ector recto 17">
                  <a:extLst>
                    <a:ext uri="{FF2B5EF4-FFF2-40B4-BE49-F238E27FC236}">
                      <a16:creationId xmlns:a16="http://schemas.microsoft.com/office/drawing/2014/main" id="{7077ECFD-B9AD-46A9-9CB5-C4C098E40E9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Conector recto 18">
                  <a:extLst>
                    <a:ext uri="{FF2B5EF4-FFF2-40B4-BE49-F238E27FC236}">
                      <a16:creationId xmlns:a16="http://schemas.microsoft.com/office/drawing/2014/main" id="{A46E5D0C-7993-4933-B05E-8EB95390F2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3EB2880-3D15-4C51-9289-204B0FA62FDD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9AD1AD9-DC22-4314-AF83-79C617D4FF4A}"/>
              </a:ext>
            </a:extLst>
          </p:cNvPr>
          <p:cNvGrpSpPr/>
          <p:nvPr/>
        </p:nvGrpSpPr>
        <p:grpSpPr>
          <a:xfrm>
            <a:off x="768333" y="3861475"/>
            <a:ext cx="9828360" cy="1415826"/>
            <a:chOff x="739934" y="5150492"/>
            <a:chExt cx="9828360" cy="1415826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CFC2CBAB-6922-415F-8C73-2FF3681048D5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59A97350-1858-4B27-BED8-2B40BED02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de flecha 25">
                <a:extLst>
                  <a:ext uri="{FF2B5EF4-FFF2-40B4-BE49-F238E27FC236}">
                    <a16:creationId xmlns:a16="http://schemas.microsoft.com/office/drawing/2014/main" id="{3BFD3FD0-7BED-4699-9059-B3042761B0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19A4752-8B5F-451C-9EDA-97D58E9D603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D53FDD9-E451-4DC7-B14A-88A5EF432AD3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B13B13AA-D54E-49D5-BC8C-04F030F9286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1EEB6090-5454-4B79-A56D-151F2C4AA74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6535C3B-207D-4DD9-99B5-4FE584199EFD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D489B30-41AB-4E54-890C-C3BC414DA8A0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2CF81E98-6A1A-4071-BC5E-0BCBC6F3190C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004297C9-C555-4C1A-A5F2-69900410019B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3750F962-57EA-4989-87A8-6846D36C2FC7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4CDDB22-3BDF-418F-ACC1-10A4C68B025D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66F376F-0141-4B57-8157-4A781E2C007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4201B37D-E227-48CF-976E-7181EB68A2AA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D9D1115-6B9B-48C7-8339-C848828DB9B5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37AFBE39-12EF-4F06-831E-D07B1549E46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C2C2832-CA72-41C0-8371-A41BC1888A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2852F758-44AC-413F-883F-EC7AAF92E103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1EFD141-92C4-4CB5-83B7-E4C636A6EF7B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04AA0B0-392B-4B44-93E8-D9EEE43FA598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B4F3B15F-A7A5-447B-B94D-100D2120E2EE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129950A-7082-4D99-B0A3-D0DF36C2D426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AB53322-8190-475B-9D1E-2A163C4AC36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1A87D3DC-FDC9-4190-8497-76A93FF1C34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45E4F622-7D90-45E2-9FEA-2A9247A9E3BB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366DEE4A-1ADC-43C1-B132-9AFCAB6D8FBA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0FC24EBD-31BB-4839-9A98-B61554DC232D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1620A9EB-3317-40B6-9DE5-3723451FBC8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A49FAECB-030A-4C4D-9F01-8D90A1975AFC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D042D86-8FA4-49D1-ADB2-AD9FBBBFA707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2681CDE9-B6C6-466A-B552-37D322A50DC3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F73291F-7204-4516-AF51-A3C53626528E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-Come, 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36C260E-58CE-4B30-B63E-D899B70E0279}"/>
              </a:ext>
            </a:extLst>
          </p:cNvPr>
          <p:cNvGrpSpPr/>
          <p:nvPr/>
        </p:nvGrpSpPr>
        <p:grpSpPr>
          <a:xfrm>
            <a:off x="118234" y="1725715"/>
            <a:ext cx="9195368" cy="1415826"/>
            <a:chOff x="1372926" y="5150492"/>
            <a:chExt cx="9195368" cy="141582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34538D30-9912-4919-81B2-7A774A6D226A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956A3EED-B6C1-4453-B249-44779BB9E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de flecha 46">
                <a:extLst>
                  <a:ext uri="{FF2B5EF4-FFF2-40B4-BE49-F238E27FC236}">
                    <a16:creationId xmlns:a16="http://schemas.microsoft.com/office/drawing/2014/main" id="{BEEF167E-298E-40E9-9155-6C9C9CBBC6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9DDCAFD-E20B-47AB-B0A5-62AD59661877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10F6CF4-3289-4A68-8DF9-837C6F97EBAB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FFC02D04-9148-4009-B34F-9E804E75440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C153DCFF-385E-4058-B565-6A3DEB2029BC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B1837F4E-6338-46E4-B473-F295E59EC710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792CB19-4BA1-46BE-AB80-0FE72CEE7E4A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04792ACB-1EEA-45E4-87A6-453A51432128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4B76D493-495A-4D3B-B215-5131E94365B4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90BCF57-7FDD-48A9-A110-C35673833496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B249F0A-99A6-421E-9EF3-73681820C61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3D5D163-F32E-4C98-967A-FE68DADFAAA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C2DB85C-FCA6-4BA9-805F-C359F11EC8D5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2E2F8452-E834-40B1-9F88-A04BEC1FAC1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18394108-4966-441F-B5A8-781975D1803D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8B3239D9-54D7-4B43-A312-356B24F4F6AF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619BFC80-7F29-4D37-B883-02602139D690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B50B0E30-11D5-4ACE-A75F-45D40B42F86D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CA706EE5-804C-4750-978F-B8CDE80ED91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16772EAA-0AAF-43FD-B657-CA93429B5C0D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4AB5CECC-A1F7-44A4-AFEF-407B3FDBDD2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B35F7E1B-C1C9-4A63-B0CE-2C5949F21019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7B99E82-9584-4EF5-84EB-D6B091873DCD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B2ECFCEE-D18C-4805-AB11-91F1E87D23E1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6399546-94FA-43D9-8B11-C871756C1C7F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1DE3EC3-AAC8-4735-8F39-60C6DEAAD27D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145BC664-4ECF-4669-9D85-31876A171D79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D5254727-7DE4-4B58-9763-CEE68C2F18E7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74533225-A934-4B89-9C6E-9473F0BFBEE5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3B3B2B7-3A68-46E4-B500-2D1CD1F4E8F5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EDBC44E3-A9A1-4D4C-83E4-B5BB6D51E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5313113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EDBC44E3-A9A1-4D4C-83E4-B5BB6D51E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5313113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6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6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6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8197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Relajación de las suposiciones ideales</a:t>
            </a:r>
            <a:endParaRPr dirty="0"/>
          </a:p>
        </p:txBody>
      </p:sp>
      <p:sp>
        <p:nvSpPr>
          <p:cNvPr id="624" name="Google Shape;624;p46"/>
          <p:cNvSpPr txBox="1">
            <a:spLocks noGrp="1"/>
          </p:cNvSpPr>
          <p:nvPr>
            <p:ph type="body" idx="1"/>
          </p:nvPr>
        </p:nvSpPr>
        <p:spPr>
          <a:xfrm>
            <a:off x="916650" y="992244"/>
            <a:ext cx="10604400" cy="22879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son iniciados al mismo tiempo (arrival time).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Una vez iniciado, cada trabajo se ejecuta hasta su finalización.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</a:t>
            </a:r>
            <a:r>
              <a:rPr lang="es-ES" sz="2400" dirty="0" err="1">
                <a:latin typeface="+mn-lt"/>
              </a:rPr>
              <a:t>runtime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25" name="Google Shape;625;p46"/>
          <p:cNvGrpSpPr/>
          <p:nvPr/>
        </p:nvGrpSpPr>
        <p:grpSpPr>
          <a:xfrm>
            <a:off x="2770900" y="4196550"/>
            <a:ext cx="6526100" cy="1270013"/>
            <a:chOff x="2770900" y="4196550"/>
            <a:chExt cx="6526100" cy="1270013"/>
          </a:xfrm>
        </p:grpSpPr>
        <p:sp>
          <p:nvSpPr>
            <p:cNvPr id="626" name="Google Shape;626;p46"/>
            <p:cNvSpPr/>
            <p:nvPr/>
          </p:nvSpPr>
          <p:spPr>
            <a:xfrm>
              <a:off x="2770900" y="4196550"/>
              <a:ext cx="623400" cy="6489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1</a:t>
              </a:r>
              <a:endParaRPr sz="2000" b="1"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4246575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2</a:t>
              </a:r>
              <a:endParaRPr sz="2000" b="1"/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5722250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3</a:t>
              </a:r>
              <a:endParaRPr sz="2000" b="1"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7197925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4</a:t>
              </a:r>
              <a:endParaRPr sz="2000" b="1"/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8673600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5</a:t>
              </a:r>
              <a:endParaRPr sz="2000" b="1"/>
            </a:p>
          </p:txBody>
        </p:sp>
        <p:pic>
          <p:nvPicPr>
            <p:cNvPr id="631" name="Google Shape;631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01650" y="5024500"/>
              <a:ext cx="443225" cy="438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66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12338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4" name="Google Shape;634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8801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5" name="Google Shape;635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2301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dirty="0"/>
          </a:p>
        </p:txBody>
      </p:sp>
      <p:sp>
        <p:nvSpPr>
          <p:cNvPr id="644" name="Google Shape;644;p47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A se ejecuta por 100 seg</a:t>
            </a:r>
            <a:r>
              <a:rPr lang="es-ES" sz="2000" dirty="0">
                <a:latin typeface="+mn-lt"/>
              </a:rPr>
              <a:t>, B y C por 10 seg cada uno.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D7D31"/>
                </a:solidFill>
                <a:latin typeface="+mn-lt"/>
              </a:rPr>
              <a:t>¿Cual es el </a:t>
            </a:r>
            <a:r>
              <a:rPr lang="es-ES" sz="2200" b="1" dirty="0" err="1">
                <a:solidFill>
                  <a:srgbClr val="ED7D31"/>
                </a:solidFill>
                <a:latin typeface="+mn-lt"/>
              </a:rPr>
              <a:t>turnarround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 time promedio?</a:t>
            </a: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45" name="Google Shape;645;p47"/>
          <p:cNvGraphicFramePr/>
          <p:nvPr/>
        </p:nvGraphicFramePr>
        <p:xfrm>
          <a:off x="2038650" y="4142925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6" name="Google Shape;646;p47"/>
          <p:cNvSpPr txBox="1"/>
          <p:nvPr/>
        </p:nvSpPr>
        <p:spPr>
          <a:xfrm>
            <a:off x="7110250" y="4195925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Orden de llegada: </a:t>
            </a:r>
            <a:endParaRPr sz="2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8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8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dirty="0"/>
          </a:p>
        </p:txBody>
      </p:sp>
      <p:graphicFrame>
        <p:nvGraphicFramePr>
          <p:cNvPr id="657" name="Google Shape;657;p48"/>
          <p:cNvGraphicFramePr/>
          <p:nvPr/>
        </p:nvGraphicFramePr>
        <p:xfrm>
          <a:off x="7428800" y="1381838"/>
          <a:ext cx="4201875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81141A37-97BA-4E3B-AD8F-FC5705E44A9B}"/>
              </a:ext>
            </a:extLst>
          </p:cNvPr>
          <p:cNvGrpSpPr/>
          <p:nvPr/>
        </p:nvGrpSpPr>
        <p:grpSpPr>
          <a:xfrm>
            <a:off x="911582" y="1549051"/>
            <a:ext cx="5466824" cy="1206174"/>
            <a:chOff x="3022600" y="4414559"/>
            <a:chExt cx="5466824" cy="120617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79DC342-4C66-4166-AC53-9A16113EA447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D78BFB74-56B8-4B34-9AA8-20BB38ED0BE3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F93DB83-29E3-4271-89DA-E8F5C2ACB30B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A0E611C1-C0B4-4E60-AC12-DD5426A217FA}"/>
                </a:ext>
              </a:extLst>
            </p:cNvPr>
            <p:cNvCxnSpPr>
              <a:endCxn id="22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88FF921B-A5FE-4D24-BA36-3322A6312A58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41654B0F-03CF-48C5-8F0D-ED9943250DAE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076F125C-050C-4047-876F-1664AF0C6723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722972E7-AAD1-4C37-8965-0D8CDA9C6987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19" name="Conector recto 18">
                  <a:extLst>
                    <a:ext uri="{FF2B5EF4-FFF2-40B4-BE49-F238E27FC236}">
                      <a16:creationId xmlns:a16="http://schemas.microsoft.com/office/drawing/2014/main" id="{B34261AE-FE35-4CE8-A303-AEFB1BCD7A12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recto 19">
                  <a:extLst>
                    <a:ext uri="{FF2B5EF4-FFF2-40B4-BE49-F238E27FC236}">
                      <a16:creationId xmlns:a16="http://schemas.microsoft.com/office/drawing/2014/main" id="{80C4C4EA-BB97-4824-B8E4-249127E339A2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recto 20">
                  <a:extLst>
                    <a:ext uri="{FF2B5EF4-FFF2-40B4-BE49-F238E27FC236}">
                      <a16:creationId xmlns:a16="http://schemas.microsoft.com/office/drawing/2014/main" id="{FA268716-8E06-4F52-A6E0-07D6A60E2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65D40C6-F632-48BD-BDB8-4D77AFE49612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0CB2E02-1E61-4A26-B28B-7362E973D766}"/>
              </a:ext>
            </a:extLst>
          </p:cNvPr>
          <p:cNvGrpSpPr/>
          <p:nvPr/>
        </p:nvGrpSpPr>
        <p:grpSpPr>
          <a:xfrm>
            <a:off x="768333" y="3861475"/>
            <a:ext cx="9828360" cy="1415826"/>
            <a:chOff x="739934" y="5150492"/>
            <a:chExt cx="9828360" cy="1415826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8669289-324E-41F5-9718-29B8A1663CF6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56" name="Conector recto de flecha 55">
                <a:extLst>
                  <a:ext uri="{FF2B5EF4-FFF2-40B4-BE49-F238E27FC236}">
                    <a16:creationId xmlns:a16="http://schemas.microsoft.com/office/drawing/2014/main" id="{A9A445B9-705C-4B96-AD3D-AD27A4CAA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de flecha 56">
                <a:extLst>
                  <a:ext uri="{FF2B5EF4-FFF2-40B4-BE49-F238E27FC236}">
                    <a16:creationId xmlns:a16="http://schemas.microsoft.com/office/drawing/2014/main" id="{9CE0BE65-150E-432F-B366-BE193C3B9C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EF216FA0-6810-4567-801B-89C54AD2D805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EBC96DD-F1B4-4C0E-B3CD-951F42AAB025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29461AE2-BB73-4C45-8791-D6902DAE1BC9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EC87796-79CB-4A0E-859B-D41B8A4FA8AD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7FC1F377-1EFA-48EF-8251-D75CA9D9BDC3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76AA2C9B-8EC4-475D-8F14-282A2D0D3E22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80F9A149-8DC3-4026-9D2E-E0FAD28ADD39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A1116596-E49E-41FC-A42F-E705E299A7CC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D4401CD-7B36-4298-95C8-C119F564B2B5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DB61EC2-A19A-4666-B2C9-24D50B82C4E0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77C679C5-F367-4D27-B16C-0943CDB998C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241696ED-DB27-469B-A395-A291D8D9E847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A1024C5-3D51-4EE4-AD59-E5558BA002CF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DDAD8F0-CE67-4F18-9BDE-572A96FECF29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695EC05-D60A-4880-AFA9-4FD3118839E6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711B378B-3AB2-4D90-80AB-777C98C2F65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037D0E2-D9CE-4965-8C07-5AC8394F0EDF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4A402D2-F2B1-4F2C-8FFE-802851300BC4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BA534B3E-4E57-4A71-A2FD-49F5FAE36D61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C57661F3-4B3E-4631-9304-1E950E80DB61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7C1A9A2-88BC-41B6-87C4-7C611EDA592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E64283F-1FB8-48CE-ACD7-A9FF2D1734A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5DD271B6-BE9D-4D4D-8376-51E406615CE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0C907CC7-9A6E-48A3-805B-6837F97D5AD0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1ABF6215-1E2F-4DE7-A813-1CCC2E1DC9C1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C3B60D50-FFAF-45A5-B573-50672FFE68E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5ECDAA87-40E0-426F-A269-62D8AA8E6388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6F3724E7-3E84-49F3-A42A-310C3620FF38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BE3AFBB3-649D-48E5-A4B8-1865786AEC2A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4DFC586F-67E5-4454-A499-28A2F59BEC59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96FE25A-ABE0-4E17-8FAA-1874DBD439F3}"/>
              </a:ext>
            </a:extLst>
          </p:cNvPr>
          <p:cNvGrpSpPr/>
          <p:nvPr/>
        </p:nvGrpSpPr>
        <p:grpSpPr>
          <a:xfrm>
            <a:off x="118234" y="1725715"/>
            <a:ext cx="9195368" cy="1415826"/>
            <a:chOff x="1372926" y="5150492"/>
            <a:chExt cx="9195368" cy="141582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08F0FB0-AAE0-46AD-B4AD-582BDA08D84F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5" name="Conector recto de flecha 44">
                <a:extLst>
                  <a:ext uri="{FF2B5EF4-FFF2-40B4-BE49-F238E27FC236}">
                    <a16:creationId xmlns:a16="http://schemas.microsoft.com/office/drawing/2014/main" id="{013D94A8-6434-4A46-9B65-1C10E4290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8F77814B-B38F-4B7F-87AC-1151268633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48D1F59-0578-468C-959C-1C0166C257CB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8743B0F-E0BC-4C4F-ADAF-A134FA0C2859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3AE7333-56DA-430B-8441-F3B7BDA14F64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70E68DE4-F74A-43B9-A77A-601F1BCF0D26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DA0A9FE-0367-4E2E-B63B-BAC30C3F4983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F4BC3C58-5DA0-4935-84DE-0D1BE6790E5A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0DA805E6-C4A7-40CC-8B7B-6691119BA8BC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E401D434-4D4A-405F-9050-990F4C3FF45E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6623B4A0-001B-43FD-BCCC-A9A033D6EE11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11CB8410-5058-44EE-BB5E-9B9F5FF3DDC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8A9FF0F0-E3AE-4F89-9A49-4BE43442977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FD1FADFF-F6CD-41E9-B8FE-06C80DD57E77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995CDB5-CEDC-41C4-8454-B8F7782A76A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D63A0BEA-B90C-4845-871F-C124F2C877A2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993E7288-F8B6-4B42-81E4-32CEB604F2C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8185239-DB9C-4038-8FF7-5A1C348ACD35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5BDF5F1B-2775-4126-A726-0791CB7C322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E24C41A-B7D1-4254-B877-C5D1D6583CA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462FC8A-B666-4A24-B840-22659B1C7F62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85AF4864-20B6-4294-8308-AD8E6F6F976B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BAC892C1-2E3C-4367-9FD8-B8C54CC5F4E3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F8B40B9-85EA-4AD4-9367-923C85C54BC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6891D67-D1A9-4D2E-B9B4-749C7A10695E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3ADEE78-FED0-4ED5-BAB9-0A7CB08FBF0B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4C9C840E-EDE5-407F-B1E9-46841AD19B50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F3E63E8D-5D59-46FA-B07A-8D7ABE08F4C8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E29E2D70-4CE3-44BF-9017-1F7B3B132BD9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EF6B7CD0-D3B7-44F3-B7A2-B4857D4F73A0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FB4A2F07-B625-4763-BE34-711F1D5C43DE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AB5B6597-F052-450D-9F19-CFB5C23D1A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290377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AB5B6597-F052-450D-9F19-CFB5C23D1A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290377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0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0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0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E06666"/>
                </a:solidFill>
                <a:latin typeface="+mn-lt"/>
              </a:rPr>
              <a:t>Comparación</a:t>
            </a:r>
            <a:endParaRPr sz="2800"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681" name="Google Shape;6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750" y="4294525"/>
            <a:ext cx="4978725" cy="23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072" y="4294525"/>
            <a:ext cx="4526778" cy="23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0"/>
          <p:cNvSpPr txBox="1"/>
          <p:nvPr/>
        </p:nvSpPr>
        <p:spPr>
          <a:xfrm>
            <a:off x="7378675" y="2016350"/>
            <a:ext cx="184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accent6"/>
                </a:solidFill>
              </a:rPr>
              <a:t>Caso 2: </a:t>
            </a:r>
            <a:r>
              <a:rPr lang="es-ES" sz="2000" b="1">
                <a:solidFill>
                  <a:schemeClr val="accent2"/>
                </a:solidFill>
              </a:rPr>
              <a:t>FCFS</a:t>
            </a:r>
            <a:endParaRPr sz="2000" b="1">
              <a:solidFill>
                <a:schemeClr val="accent2"/>
              </a:solidFill>
            </a:endParaRPr>
          </a:p>
        </p:txBody>
      </p:sp>
      <p:sp>
        <p:nvSpPr>
          <p:cNvPr id="684" name="Google Shape;684;p50"/>
          <p:cNvSpPr txBox="1"/>
          <p:nvPr/>
        </p:nvSpPr>
        <p:spPr>
          <a:xfrm>
            <a:off x="1619425" y="2016350"/>
            <a:ext cx="221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</a:rPr>
              <a:t>Caso 1: </a:t>
            </a:r>
            <a:r>
              <a:rPr lang="es-ES" sz="2000" b="1" dirty="0">
                <a:solidFill>
                  <a:schemeClr val="accent2"/>
                </a:solidFill>
              </a:rPr>
              <a:t>FCFS</a:t>
            </a:r>
            <a:endParaRPr sz="2000" b="1" dirty="0">
              <a:solidFill>
                <a:schemeClr val="accent2"/>
              </a:solidFill>
            </a:endParaRPr>
          </a:p>
        </p:txBody>
      </p:sp>
      <p:grpSp>
        <p:nvGrpSpPr>
          <p:cNvPr id="685" name="Google Shape;685;p50"/>
          <p:cNvGrpSpPr/>
          <p:nvPr/>
        </p:nvGrpSpPr>
        <p:grpSpPr>
          <a:xfrm>
            <a:off x="1510300" y="2855488"/>
            <a:ext cx="3933600" cy="1247163"/>
            <a:chOff x="1510300" y="2603975"/>
            <a:chExt cx="3933600" cy="1247163"/>
          </a:xfrm>
        </p:grpSpPr>
        <p:grpSp>
          <p:nvGrpSpPr>
            <p:cNvPr id="686" name="Google Shape;686;p50"/>
            <p:cNvGrpSpPr/>
            <p:nvPr/>
          </p:nvGrpSpPr>
          <p:grpSpPr>
            <a:xfrm>
              <a:off x="1510300" y="2603975"/>
              <a:ext cx="3933600" cy="648900"/>
              <a:chOff x="1510300" y="2603975"/>
              <a:chExt cx="3933600" cy="648900"/>
            </a:xfrm>
          </p:grpSpPr>
          <p:sp>
            <p:nvSpPr>
              <p:cNvPr id="687" name="Google Shape;687;p5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688" name="Google Shape;688;p5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689" name="Google Shape;689;p5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690" name="Google Shape;690;p5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691" name="Google Shape;691;p5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692" name="Google Shape;692;p50"/>
            <p:cNvGrpSpPr/>
            <p:nvPr/>
          </p:nvGrpSpPr>
          <p:grpSpPr>
            <a:xfrm>
              <a:off x="1600388" y="3405437"/>
              <a:ext cx="3753425" cy="445700"/>
              <a:chOff x="1600388" y="3405437"/>
              <a:chExt cx="3753425" cy="445700"/>
            </a:xfrm>
          </p:grpSpPr>
          <p:pic>
            <p:nvPicPr>
              <p:cNvPr id="693" name="Google Shape;693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42793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4" name="Google Shape;694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5487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5" name="Google Shape;695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8303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6" name="Google Shape;696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91058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7" name="Google Shape;697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0038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98" name="Google Shape;698;p50"/>
          <p:cNvGrpSpPr/>
          <p:nvPr/>
        </p:nvGrpSpPr>
        <p:grpSpPr>
          <a:xfrm>
            <a:off x="7378663" y="2979688"/>
            <a:ext cx="3933600" cy="1247163"/>
            <a:chOff x="7350150" y="2667300"/>
            <a:chExt cx="3933600" cy="1247163"/>
          </a:xfrm>
        </p:grpSpPr>
        <p:grpSp>
          <p:nvGrpSpPr>
            <p:cNvPr id="699" name="Google Shape;699;p50"/>
            <p:cNvGrpSpPr/>
            <p:nvPr/>
          </p:nvGrpSpPr>
          <p:grpSpPr>
            <a:xfrm>
              <a:off x="7350150" y="2667300"/>
              <a:ext cx="3933600" cy="648900"/>
              <a:chOff x="1510300" y="2603975"/>
              <a:chExt cx="3933600" cy="648900"/>
            </a:xfrm>
          </p:grpSpPr>
          <p:sp>
            <p:nvSpPr>
              <p:cNvPr id="700" name="Google Shape;700;p5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701" name="Google Shape;701;p5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702" name="Google Shape;702;p5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703" name="Google Shape;703;p5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704" name="Google Shape;704;p5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705" name="Google Shape;705;p50"/>
            <p:cNvGrpSpPr/>
            <p:nvPr/>
          </p:nvGrpSpPr>
          <p:grpSpPr>
            <a:xfrm>
              <a:off x="7461788" y="3468762"/>
              <a:ext cx="3731875" cy="445700"/>
              <a:chOff x="7461788" y="3468762"/>
              <a:chExt cx="3731875" cy="445700"/>
            </a:xfrm>
          </p:grpSpPr>
          <p:pic>
            <p:nvPicPr>
              <p:cNvPr id="706" name="Google Shape;706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2677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7" name="Google Shape;707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0953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8" name="Google Shape;708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228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9" name="Google Shape;709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504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0" name="Google Shape;710;p5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61788" y="34724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11" name="Google Shape;711;p50"/>
          <p:cNvSpPr/>
          <p:nvPr/>
        </p:nvSpPr>
        <p:spPr>
          <a:xfrm>
            <a:off x="9500950" y="1219938"/>
            <a:ext cx="2401110" cy="1585386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</a:rPr>
              <a:t>Efecto Convoy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38" name="Google Shape;654;p48">
            <a:extLst>
              <a:ext uri="{FF2B5EF4-FFF2-40B4-BE49-F238E27FC236}">
                <a16:creationId xmlns:a16="http://schemas.microsoft.com/office/drawing/2014/main" id="{33560DEE-5649-447D-9FF7-94650A23B886}"/>
              </a:ext>
            </a:extLst>
          </p:cNvPr>
          <p:cNvSpPr txBox="1">
            <a:spLocks/>
          </p:cNvSpPr>
          <p:nvPr/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1" kern="1200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Served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(FCFS)</a:t>
            </a:r>
            <a:endParaRPr lang="es-MX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Efecto Convoy</a:t>
            </a:r>
            <a:endParaRPr lang="es-MX" dirty="0"/>
          </a:p>
        </p:txBody>
      </p:sp>
      <p:sp>
        <p:nvSpPr>
          <p:cNvPr id="720" name="Google Shape;720;p51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8025300" cy="303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da cuando un proceso que requiere mucho tiempo de CPU va por delante (se ejecuta primero) de procesos ligeros.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Hace que los tiempos de respuesta (más adelante hablaremos de esta métrica) y finalización se resientan.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trabajo más grande es el que más influye en el tiempo de respuesta (turnaround time).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21" name="Google Shape;7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875" y="4482738"/>
            <a:ext cx="92583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1"/>
          <p:cNvSpPr/>
          <p:nvPr/>
        </p:nvSpPr>
        <p:spPr>
          <a:xfrm>
            <a:off x="9388764" y="1351891"/>
            <a:ext cx="2401110" cy="1585386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</a:rPr>
              <a:t>Efecto Convoy</a:t>
            </a:r>
            <a:endParaRPr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5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lang="es-MX" dirty="0"/>
          </a:p>
        </p:txBody>
      </p:sp>
      <p:sp>
        <p:nvSpPr>
          <p:cNvPr id="731" name="Google Shape;731;p52"/>
          <p:cNvSpPr txBox="1">
            <a:spLocks noGrp="1"/>
          </p:cNvSpPr>
          <p:nvPr>
            <p:ph type="body" idx="1"/>
          </p:nvPr>
        </p:nvSpPr>
        <p:spPr>
          <a:xfrm>
            <a:off x="793800" y="1045538"/>
            <a:ext cx="10604400" cy="317811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tiempo de ejecución de cada tarea es variable 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(relajación de la suposición 1)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planificación de las tareas se hace de acuerdo a su tiempo de ejecución.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400" dirty="0">
                <a:latin typeface="+mn-lt"/>
              </a:rPr>
              <a:t>El Scheduler (planificador) pone a ejecutar primero los procesos más cortos.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latin typeface="+mn-lt"/>
              </a:rPr>
              <a:t>No apropiativo (Non preemptive)</a:t>
            </a:r>
            <a:r>
              <a:rPr lang="es-ES" sz="2400" dirty="0">
                <a:latin typeface="+mn-lt"/>
              </a:rPr>
              <a:t>: Solo se selecciona un nuevo proceso cuando el proceso anterior acaba.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0" name="Google Shape;740;p53"/>
          <p:cNvSpPr txBox="1">
            <a:spLocks noGrp="1"/>
          </p:cNvSpPr>
          <p:nvPr>
            <p:ph type="body" idx="1"/>
          </p:nvPr>
        </p:nvSpPr>
        <p:spPr>
          <a:xfrm>
            <a:off x="522513" y="1056200"/>
            <a:ext cx="11030857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j-lt"/>
              </a:rPr>
              <a:t>Ejemplo</a:t>
            </a:r>
            <a:r>
              <a:rPr lang="es-ES" sz="2200" dirty="0">
                <a:solidFill>
                  <a:srgbClr val="FF0000"/>
                </a:solidFill>
                <a:latin typeface="+mj-lt"/>
              </a:rPr>
              <a:t>: </a:t>
            </a:r>
            <a:r>
              <a:rPr lang="es-ES" sz="2200" dirty="0">
                <a:latin typeface="+mj-lt"/>
              </a:rPr>
              <a:t>Suponga que se tiene una situación en la que:</a:t>
            </a:r>
            <a:endParaRPr sz="2200" dirty="0">
              <a:latin typeface="+mj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j-lt"/>
              </a:rPr>
              <a:t>Tres procesos llegan a un sistema (A, B y C)</a:t>
            </a:r>
            <a:endParaRPr sz="2000" dirty="0">
              <a:latin typeface="+mj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j-lt"/>
              </a:rPr>
              <a:t>Llegan en el tiempo 0 en el orden: A - B - C</a:t>
            </a:r>
            <a:endParaRPr sz="2000" dirty="0">
              <a:latin typeface="+mj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j-lt"/>
              </a:rPr>
              <a:t>A se ejecuta por 100 seg</a:t>
            </a:r>
            <a:r>
              <a:rPr lang="es-ES" sz="2000" dirty="0">
                <a:latin typeface="+mj-lt"/>
              </a:rPr>
              <a:t>, B y C por 10 seg cada uno.</a:t>
            </a:r>
            <a:endParaRPr sz="2000" dirty="0">
              <a:latin typeface="+mj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D7D31"/>
                </a:solidFill>
                <a:latin typeface="+mj-lt"/>
              </a:rPr>
              <a:t>¿Cual es el </a:t>
            </a:r>
            <a:r>
              <a:rPr lang="es-ES" sz="2200" b="1" dirty="0" err="1">
                <a:solidFill>
                  <a:srgbClr val="ED7D31"/>
                </a:solidFill>
                <a:latin typeface="+mj-lt"/>
              </a:rPr>
              <a:t>turnarround</a:t>
            </a:r>
            <a:r>
              <a:rPr lang="es-ES" sz="2200" b="1" dirty="0">
                <a:solidFill>
                  <a:srgbClr val="ED7D31"/>
                </a:solidFill>
                <a:latin typeface="+mj-lt"/>
              </a:rPr>
              <a:t> time promedio?</a:t>
            </a:r>
            <a:endParaRPr sz="2200" b="1" dirty="0">
              <a:solidFill>
                <a:srgbClr val="ED7D31"/>
              </a:solidFill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graphicFrame>
        <p:nvGraphicFramePr>
          <p:cNvPr id="741" name="Google Shape;741;p53"/>
          <p:cNvGraphicFramePr/>
          <p:nvPr/>
        </p:nvGraphicFramePr>
        <p:xfrm>
          <a:off x="2038650" y="4142925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2" name="Google Shape;742;p53"/>
          <p:cNvSpPr txBox="1"/>
          <p:nvPr/>
        </p:nvSpPr>
        <p:spPr>
          <a:xfrm>
            <a:off x="7110250" y="4195925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Orden de llegada: </a:t>
            </a:r>
            <a:endParaRPr sz="2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2204275" y="135954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754" name="Google Shape;754;p54"/>
          <p:cNvSpPr/>
          <p:nvPr/>
        </p:nvSpPr>
        <p:spPr>
          <a:xfrm>
            <a:off x="1580400" y="1359557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755" name="Google Shape;755;p54"/>
          <p:cNvSpPr/>
          <p:nvPr/>
        </p:nvSpPr>
        <p:spPr>
          <a:xfrm>
            <a:off x="956525" y="135954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756" name="Google Shape;75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713" y="1228369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54"/>
          <p:cNvCxnSpPr/>
          <p:nvPr/>
        </p:nvCxnSpPr>
        <p:spPr>
          <a:xfrm>
            <a:off x="2879888" y="1630607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58" name="Google Shape;758;p54"/>
          <p:cNvSpPr/>
          <p:nvPr/>
        </p:nvSpPr>
        <p:spPr>
          <a:xfrm>
            <a:off x="9145450" y="137909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759" name="Google Shape;759;p54"/>
          <p:cNvSpPr/>
          <p:nvPr/>
        </p:nvSpPr>
        <p:spPr>
          <a:xfrm>
            <a:off x="8521575" y="1379107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sp>
        <p:nvSpPr>
          <p:cNvPr id="760" name="Google Shape;760;p54"/>
          <p:cNvSpPr/>
          <p:nvPr/>
        </p:nvSpPr>
        <p:spPr>
          <a:xfrm>
            <a:off x="7897700" y="137909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pic>
        <p:nvPicPr>
          <p:cNvPr id="761" name="Google Shape;76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1700" y="1247894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54"/>
          <p:cNvCxnSpPr/>
          <p:nvPr/>
        </p:nvCxnSpPr>
        <p:spPr>
          <a:xfrm>
            <a:off x="9769325" y="1650132"/>
            <a:ext cx="80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63" name="Google Shape;763;p54"/>
          <p:cNvGraphicFramePr/>
          <p:nvPr>
            <p:extLst>
              <p:ext uri="{D42A27DB-BD31-4B8C-83A1-F6EECF244321}">
                <p14:modId xmlns:p14="http://schemas.microsoft.com/office/powerpoint/2010/main" val="2733056527"/>
              </p:ext>
            </p:extLst>
          </p:nvPr>
        </p:nvGraphicFramePr>
        <p:xfrm>
          <a:off x="8584468" y="2481069"/>
          <a:ext cx="2852550" cy="146292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/>
                        <a:t>Proceso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/>
                        <a:t>Arrival time</a:t>
                      </a:r>
                      <a:endParaRPr sz="12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/>
                        <a:t>Run-time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B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10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C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/>
                        <a:t>10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64" name="Google Shape;764;p54"/>
          <p:cNvGrpSpPr/>
          <p:nvPr/>
        </p:nvGrpSpPr>
        <p:grpSpPr>
          <a:xfrm>
            <a:off x="5107350" y="1228294"/>
            <a:ext cx="2290200" cy="804600"/>
            <a:chOff x="5423925" y="2240025"/>
            <a:chExt cx="2290200" cy="804600"/>
          </a:xfrm>
        </p:grpSpPr>
        <p:sp>
          <p:nvSpPr>
            <p:cNvPr id="765" name="Google Shape;765;p54"/>
            <p:cNvSpPr/>
            <p:nvPr/>
          </p:nvSpPr>
          <p:spPr>
            <a:xfrm>
              <a:off x="5423925" y="2240025"/>
              <a:ext cx="22902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4"/>
            <p:cNvSpPr txBox="1"/>
            <p:nvPr/>
          </p:nvSpPr>
          <p:spPr>
            <a:xfrm>
              <a:off x="5616300" y="2438600"/>
              <a:ext cx="183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lt1"/>
                  </a:solidFill>
                </a:rPr>
                <a:t>Reordenamiento</a:t>
              </a:r>
              <a:endParaRPr sz="1600" b="1">
                <a:solidFill>
                  <a:schemeClr val="lt1"/>
                </a:solidFill>
              </a:endParaRPr>
            </a:p>
          </p:txBody>
        </p:sp>
      </p:grpSp>
      <p:sp>
        <p:nvSpPr>
          <p:cNvPr id="767" name="Google Shape;767;p54"/>
          <p:cNvSpPr txBox="1"/>
          <p:nvPr/>
        </p:nvSpPr>
        <p:spPr>
          <a:xfrm>
            <a:off x="916650" y="828157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llegada</a:t>
            </a:r>
            <a:endParaRPr sz="1600"/>
          </a:p>
        </p:txBody>
      </p:sp>
      <p:sp>
        <p:nvSpPr>
          <p:cNvPr id="768" name="Google Shape;768;p54"/>
          <p:cNvSpPr txBox="1"/>
          <p:nvPr/>
        </p:nvSpPr>
        <p:spPr>
          <a:xfrm>
            <a:off x="7534125" y="827982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ejecución</a:t>
            </a:r>
            <a:endParaRPr sz="1600"/>
          </a:p>
        </p:txBody>
      </p:sp>
      <p:sp>
        <p:nvSpPr>
          <p:cNvPr id="769" name="Google Shape;769;p54"/>
          <p:cNvSpPr txBox="1"/>
          <p:nvPr/>
        </p:nvSpPr>
        <p:spPr>
          <a:xfrm>
            <a:off x="2229925" y="1968757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770" name="Google Shape;770;p54"/>
          <p:cNvSpPr txBox="1"/>
          <p:nvPr/>
        </p:nvSpPr>
        <p:spPr>
          <a:xfrm>
            <a:off x="1606050" y="1968757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771" name="Google Shape;771;p54"/>
          <p:cNvSpPr txBox="1"/>
          <p:nvPr/>
        </p:nvSpPr>
        <p:spPr>
          <a:xfrm>
            <a:off x="982175" y="1968744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29" name="Google Shape;739;p53">
            <a:extLst>
              <a:ext uri="{FF2B5EF4-FFF2-40B4-BE49-F238E27FC236}">
                <a16:creationId xmlns:a16="http://schemas.microsoft.com/office/drawing/2014/main" id="{0811EC38-6029-4014-908C-5E4A98ECE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96D65C6-EEF3-4ED4-9739-D77F96555C5E}"/>
              </a:ext>
            </a:extLst>
          </p:cNvPr>
          <p:cNvGrpSpPr/>
          <p:nvPr/>
        </p:nvGrpSpPr>
        <p:grpSpPr>
          <a:xfrm>
            <a:off x="1229533" y="2458556"/>
            <a:ext cx="5466824" cy="1206174"/>
            <a:chOff x="3022600" y="4414559"/>
            <a:chExt cx="5466824" cy="1206174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EEAAFAF2-988F-443B-A400-F184F8188E30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6BE7C78D-87BB-4000-B08A-99B7846BBF9A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C76642A-4B17-4CA0-A9DE-7A35206EBD6E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51AFED4-49D3-4C70-82BB-4A270AC44C5F}"/>
                </a:ext>
              </a:extLst>
            </p:cNvPr>
            <p:cNvCxnSpPr>
              <a:endCxn id="43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: angular 34">
              <a:extLst>
                <a:ext uri="{FF2B5EF4-FFF2-40B4-BE49-F238E27FC236}">
                  <a16:creationId xmlns:a16="http://schemas.microsoft.com/office/drawing/2014/main" id="{D96CA008-298A-4E56-8C5F-A548CC5333D9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9A4B86B2-377D-4FED-8508-FAD05DC847A9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9D6742FF-6816-495E-BD30-F515D78539F0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8064CDC-E09C-4FC7-8A51-5AA239725534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F9ABA978-5696-454E-BE91-F0B385607532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2CE64958-37FD-4352-AF21-895EE897B3C0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E56FBC14-E5F6-4429-90A3-F43251C76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3970E50-BA1C-4176-BE58-A9447D06817D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F0DF305-8B9F-4B47-A6DA-28C486C41F2A}"/>
              </a:ext>
            </a:extLst>
          </p:cNvPr>
          <p:cNvGrpSpPr/>
          <p:nvPr/>
        </p:nvGrpSpPr>
        <p:grpSpPr>
          <a:xfrm>
            <a:off x="1086284" y="4770980"/>
            <a:ext cx="9828360" cy="1415826"/>
            <a:chOff x="739934" y="5150492"/>
            <a:chExt cx="9828360" cy="1415826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87AB521C-ACAF-43F7-9708-5C2B52C959A2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77" name="Conector recto de flecha 76">
                <a:extLst>
                  <a:ext uri="{FF2B5EF4-FFF2-40B4-BE49-F238E27FC236}">
                    <a16:creationId xmlns:a16="http://schemas.microsoft.com/office/drawing/2014/main" id="{D8208891-124A-48A1-8978-EA51F2D2A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de flecha 77">
                <a:extLst>
                  <a:ext uri="{FF2B5EF4-FFF2-40B4-BE49-F238E27FC236}">
                    <a16:creationId xmlns:a16="http://schemas.microsoft.com/office/drawing/2014/main" id="{5057E583-DE81-448A-8937-EF782E3440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96DD671D-9BB1-4A50-819A-6326B4D60EA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98610610-2886-4E29-98B8-49E8C8BEC2C8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4C31B630-128E-4174-9FA6-06FA099BC9A4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64D51E1-D735-49C5-A665-C90FF41D1F4F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4EC89AB-0A82-4F1D-A8A5-C2EE39459C4C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3D9D873B-3BAF-4F02-A0DA-1391E34F62DF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16C7506-20F1-467F-B442-9914B96C540D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C30030-0D39-4573-923A-2B89A8D30D66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C246AA3-E1CE-4AE6-B3A3-E8320070A38C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E930E2C-CECA-43A1-8F8F-BF8382494D4F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8BB2F0D4-F2F1-465D-99A9-A9E619F5D9F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E117DE9B-C91E-4272-B20E-D3ACB55D8AB2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5E1A2762-977B-4700-B8CF-42DC9B09944B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8C3A9394-1309-45BC-B694-4E279770C56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936A1142-5E42-400E-9E8D-2BB7E2329071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76184976-3F48-44E5-B85D-B7AB4D8817E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6A69BED-7A9D-428C-9676-E5016985DC6E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9B708212-0554-48A0-90C9-3C64C64EE19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C1628C2-EA24-4617-AE98-53F9C7C0181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95B65CD8-1D78-41AB-95F1-15CE18ACBC0F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9588A412-15FF-4CE1-BE90-FD541F42B76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BF3568AC-7FC2-4A1B-BD1A-991F1C8E1DD3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D99769E6-C04F-472D-9F53-87C99C7F9DA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BD2A3CFC-AAB9-480E-A25D-BDA9072EC1B2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F2A3D495-16EF-4DFC-B102-16D2EB60C861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34B0DBED-BA1E-4982-B267-315DF6781280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DC42B5C6-073E-4BE1-AA20-1B7023A78FDD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AAB48DF3-5528-44B5-8951-CC90B2DB4842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62C81BC7-E60B-48C2-9A1B-3F95810B7A72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7D3426F8-F6BD-424B-9252-9432831D48FC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7027D1E-AAEB-4BB6-9462-9A26DCC9036C}"/>
              </a:ext>
            </a:extLst>
          </p:cNvPr>
          <p:cNvGrpSpPr/>
          <p:nvPr/>
        </p:nvGrpSpPr>
        <p:grpSpPr>
          <a:xfrm>
            <a:off x="161777" y="2013174"/>
            <a:ext cx="9195368" cy="1415826"/>
            <a:chOff x="1372926" y="5150492"/>
            <a:chExt cx="9195368" cy="141582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6C2ED44E-5723-4D82-BB00-3262AC3EB32C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5" name="Conector recto de flecha 44">
                <a:extLst>
                  <a:ext uri="{FF2B5EF4-FFF2-40B4-BE49-F238E27FC236}">
                    <a16:creationId xmlns:a16="http://schemas.microsoft.com/office/drawing/2014/main" id="{5121B14A-DAD0-41C8-85DC-C7CB55340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79E42693-74F3-4AD5-9E41-265AB0C231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C61190D-0878-4099-9986-98594C7DB6C4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9E50FD11-7C34-436E-9115-06D58A03C9B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C250D62-9A59-4D32-BD09-EF06AF83CECA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7D3A231-10D6-4AE1-8356-1A6DD922EC1B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30B38A98-9C76-4C00-A4F7-44C24AE0E5D2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57B5A5F-D7B3-4A1F-A5B4-AA25D0BA5ED5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1D66CBD-6D1F-4B0F-AC5E-23EF137E2D04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4BEB9BC1-13EA-4425-87AD-7D382546E841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8687958-84B0-4554-ADBF-13BC9B57FED9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EAEEBEF4-D827-4C8C-A480-61A856A429E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885E9B21-9EC4-4BF0-AFD0-16BA3453D30A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64716F19-AC33-43C1-81F6-8CAD6352149C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63F5EB0-58A6-4728-96BC-ED97C8777AC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FC4CFD50-E981-4E1B-A678-62FD9B0A03DB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B87CE66-F672-4C5E-8B5D-493B6524104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D9132BD-492A-41BF-B0D0-B48FBD7BB6F3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6A77A81-82E6-4BBC-8783-A075504E799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D2F18D52-D41C-480B-B610-5ECE581421D0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6A7BAA5-853D-405C-B7AD-56952A6A4B00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BB390F4D-800F-4EE5-8B9A-8F1A63DD3A4D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D8C4E11F-CB7A-464D-8156-B5012024BB89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BB241C17-023F-4799-B9BA-B0E13F1BA872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1829E934-8126-4DB2-803C-12F41811E038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E453BD80-72F5-4A97-B4D5-D8C6B3D4DF82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12F1223C-8D2C-4F7E-96FD-5F5A3269E122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1EDE8AED-2E0C-4679-95A4-A2650040BFC3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1E740E28-7D67-4293-B306-DD9B91DB9014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7A78D7D4-495A-47D6-AD62-3DE51B5BCCFF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AE65477F-BAC2-4E5D-B78C-7659EEDF9A31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6D7391F5-87CA-49BE-9DAB-32C7C790D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727633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6D7391F5-87CA-49BE-9DAB-32C7C790D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727633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6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6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6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Relajación de las suposiciones ideales</a:t>
            </a:r>
            <a:endParaRPr dirty="0"/>
          </a:p>
        </p:txBody>
      </p:sp>
      <p:sp>
        <p:nvSpPr>
          <p:cNvPr id="794" name="Google Shape;794;p56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2095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Una vez iniciado, cada trabajo se ejecuta hasta su finalización.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</a:t>
            </a:r>
            <a:r>
              <a:rPr lang="es-ES" sz="2400" dirty="0" err="1">
                <a:latin typeface="+mn-lt"/>
              </a:rPr>
              <a:t>runtime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795" name="Google Shape;795;p56"/>
          <p:cNvGrpSpPr/>
          <p:nvPr/>
        </p:nvGrpSpPr>
        <p:grpSpPr>
          <a:xfrm>
            <a:off x="2770900" y="4196550"/>
            <a:ext cx="6526100" cy="1270013"/>
            <a:chOff x="2770900" y="4196550"/>
            <a:chExt cx="6526100" cy="1270013"/>
          </a:xfrm>
        </p:grpSpPr>
        <p:grpSp>
          <p:nvGrpSpPr>
            <p:cNvPr id="796" name="Google Shape;796;p56"/>
            <p:cNvGrpSpPr/>
            <p:nvPr/>
          </p:nvGrpSpPr>
          <p:grpSpPr>
            <a:xfrm>
              <a:off x="2770900" y="4196550"/>
              <a:ext cx="6526100" cy="648900"/>
              <a:chOff x="2770900" y="4196550"/>
              <a:chExt cx="6526100" cy="648900"/>
            </a:xfrm>
          </p:grpSpPr>
          <p:sp>
            <p:nvSpPr>
              <p:cNvPr id="797" name="Google Shape;797;p56"/>
              <p:cNvSpPr/>
              <p:nvPr/>
            </p:nvSpPr>
            <p:spPr>
              <a:xfrm>
                <a:off x="2770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798" name="Google Shape;798;p56"/>
              <p:cNvSpPr/>
              <p:nvPr/>
            </p:nvSpPr>
            <p:spPr>
              <a:xfrm>
                <a:off x="4246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799" name="Google Shape;799;p56"/>
              <p:cNvSpPr/>
              <p:nvPr/>
            </p:nvSpPr>
            <p:spPr>
              <a:xfrm>
                <a:off x="572225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00" name="Google Shape;800;p56"/>
              <p:cNvSpPr/>
              <p:nvPr/>
            </p:nvSpPr>
            <p:spPr>
              <a:xfrm>
                <a:off x="7197925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01" name="Google Shape;801;p56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02" name="Google Shape;802;p56"/>
            <p:cNvGrpSpPr/>
            <p:nvPr/>
          </p:nvGrpSpPr>
          <p:grpSpPr>
            <a:xfrm>
              <a:off x="2801650" y="5020862"/>
              <a:ext cx="6464587" cy="445700"/>
              <a:chOff x="2801650" y="5020862"/>
              <a:chExt cx="6464587" cy="445700"/>
            </a:xfrm>
          </p:grpSpPr>
          <p:pic>
            <p:nvPicPr>
              <p:cNvPr id="803" name="Google Shape;803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01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4" name="Google Shape;804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812338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5" name="Google Shape;805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2880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6" name="Google Shape;806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8230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7" name="Google Shape;807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7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7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7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16" name="Google Shape;816;p57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3796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A llega en t = 0 y B y C llegan en t = 20.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A se ejecuta por 100 seg, B y C por 10 seg cada uno.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D7D31"/>
                </a:solidFill>
                <a:latin typeface="+mn-lt"/>
              </a:rPr>
              <a:t>¿Cual es el </a:t>
            </a:r>
            <a:r>
              <a:rPr lang="es-ES" sz="2200" b="1" dirty="0" err="1">
                <a:solidFill>
                  <a:srgbClr val="ED7D31"/>
                </a:solidFill>
                <a:latin typeface="+mn-lt"/>
              </a:rPr>
              <a:t>turnarround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 time promedio?</a:t>
            </a: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817" name="Google Shape;817;p57"/>
          <p:cNvGraphicFramePr/>
          <p:nvPr/>
        </p:nvGraphicFramePr>
        <p:xfrm>
          <a:off x="4303450" y="4168375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</a:rPr>
                        <a:t>Arrival time</a:t>
                      </a:r>
                      <a:endParaRPr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27" name="Google Shape;827;p58"/>
          <p:cNvSpPr/>
          <p:nvPr/>
        </p:nvSpPr>
        <p:spPr>
          <a:xfrm>
            <a:off x="2121069" y="1615719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828" name="Google Shape;828;p58"/>
          <p:cNvSpPr/>
          <p:nvPr/>
        </p:nvSpPr>
        <p:spPr>
          <a:xfrm>
            <a:off x="1497194" y="1615732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829" name="Google Shape;829;p58"/>
          <p:cNvSpPr/>
          <p:nvPr/>
        </p:nvSpPr>
        <p:spPr>
          <a:xfrm>
            <a:off x="873319" y="1615719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830" name="Google Shape;8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507" y="1484544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1" name="Google Shape;831;p58"/>
          <p:cNvCxnSpPr/>
          <p:nvPr/>
        </p:nvCxnSpPr>
        <p:spPr>
          <a:xfrm>
            <a:off x="2796682" y="1886782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32" name="Google Shape;832;p58"/>
          <p:cNvSpPr/>
          <p:nvPr/>
        </p:nvSpPr>
        <p:spPr>
          <a:xfrm>
            <a:off x="9062244" y="1635269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833" name="Google Shape;833;p58"/>
          <p:cNvSpPr/>
          <p:nvPr/>
        </p:nvSpPr>
        <p:spPr>
          <a:xfrm>
            <a:off x="8438369" y="1635282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834" name="Google Shape;834;p58"/>
          <p:cNvSpPr/>
          <p:nvPr/>
        </p:nvSpPr>
        <p:spPr>
          <a:xfrm>
            <a:off x="7814494" y="1635269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835" name="Google Shape;83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494" y="1504069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58"/>
          <p:cNvCxnSpPr/>
          <p:nvPr/>
        </p:nvCxnSpPr>
        <p:spPr>
          <a:xfrm>
            <a:off x="9686119" y="1906307"/>
            <a:ext cx="80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837" name="Google Shape;837;p58"/>
          <p:cNvGraphicFramePr/>
          <p:nvPr>
            <p:extLst>
              <p:ext uri="{D42A27DB-BD31-4B8C-83A1-F6EECF244321}">
                <p14:modId xmlns:p14="http://schemas.microsoft.com/office/powerpoint/2010/main" val="2602729889"/>
              </p:ext>
            </p:extLst>
          </p:nvPr>
        </p:nvGraphicFramePr>
        <p:xfrm>
          <a:off x="8948369" y="2730494"/>
          <a:ext cx="2852550" cy="146292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/>
                        <a:t>Proceso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F0000"/>
                          </a:solidFill>
                        </a:rPr>
                        <a:t>Arrival time</a:t>
                      </a:r>
                      <a:endParaRPr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/>
                        <a:t>Run-time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</a:rPr>
                        <a:t>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B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10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C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/>
                        <a:t>10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8" name="Google Shape;838;p58"/>
          <p:cNvGrpSpPr/>
          <p:nvPr/>
        </p:nvGrpSpPr>
        <p:grpSpPr>
          <a:xfrm>
            <a:off x="5024144" y="1484469"/>
            <a:ext cx="2290200" cy="804600"/>
            <a:chOff x="5423925" y="2240025"/>
            <a:chExt cx="2290200" cy="804600"/>
          </a:xfrm>
        </p:grpSpPr>
        <p:sp>
          <p:nvSpPr>
            <p:cNvPr id="839" name="Google Shape;839;p58"/>
            <p:cNvSpPr/>
            <p:nvPr/>
          </p:nvSpPr>
          <p:spPr>
            <a:xfrm>
              <a:off x="5423925" y="2240025"/>
              <a:ext cx="22902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8"/>
            <p:cNvSpPr txBox="1"/>
            <p:nvPr/>
          </p:nvSpPr>
          <p:spPr>
            <a:xfrm>
              <a:off x="5616300" y="2438600"/>
              <a:ext cx="183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lt1"/>
                  </a:solidFill>
                </a:rPr>
                <a:t>Reordenamiento</a:t>
              </a:r>
              <a:endParaRPr sz="1600" b="1">
                <a:solidFill>
                  <a:schemeClr val="lt1"/>
                </a:solidFill>
              </a:endParaRPr>
            </a:p>
          </p:txBody>
        </p:sp>
      </p:grpSp>
      <p:sp>
        <p:nvSpPr>
          <p:cNvPr id="841" name="Google Shape;841;p58"/>
          <p:cNvSpPr txBox="1"/>
          <p:nvPr/>
        </p:nvSpPr>
        <p:spPr>
          <a:xfrm>
            <a:off x="833444" y="1084332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llegada</a:t>
            </a:r>
            <a:endParaRPr sz="1600"/>
          </a:p>
        </p:txBody>
      </p:sp>
      <p:sp>
        <p:nvSpPr>
          <p:cNvPr id="842" name="Google Shape;842;p58"/>
          <p:cNvSpPr txBox="1"/>
          <p:nvPr/>
        </p:nvSpPr>
        <p:spPr>
          <a:xfrm>
            <a:off x="7450919" y="1084157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ejecución</a:t>
            </a:r>
            <a:endParaRPr sz="1600"/>
          </a:p>
        </p:txBody>
      </p:sp>
      <p:sp>
        <p:nvSpPr>
          <p:cNvPr id="843" name="Google Shape;843;p58"/>
          <p:cNvSpPr txBox="1"/>
          <p:nvPr/>
        </p:nvSpPr>
        <p:spPr>
          <a:xfrm>
            <a:off x="2121069" y="2136282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844" name="Google Shape;844;p58"/>
          <p:cNvSpPr txBox="1"/>
          <p:nvPr/>
        </p:nvSpPr>
        <p:spPr>
          <a:xfrm>
            <a:off x="1440194" y="2136294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845" name="Google Shape;845;p58"/>
          <p:cNvSpPr txBox="1"/>
          <p:nvPr/>
        </p:nvSpPr>
        <p:spPr>
          <a:xfrm>
            <a:off x="816319" y="2136294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3982913-DDA1-417C-B9EB-7032E16C5F1D}"/>
              </a:ext>
            </a:extLst>
          </p:cNvPr>
          <p:cNvGrpSpPr/>
          <p:nvPr/>
        </p:nvGrpSpPr>
        <p:grpSpPr>
          <a:xfrm>
            <a:off x="1229533" y="2773346"/>
            <a:ext cx="5466824" cy="1206174"/>
            <a:chOff x="3022600" y="4414559"/>
            <a:chExt cx="5466824" cy="1206174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2C1A3A5-D9E8-418E-8E0B-BAC40274FEAC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DB3346FA-AF43-4498-91A7-437DE711B3C1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500F97BC-387A-4DF4-9FB9-28B1105AB5F9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5EF000D0-350E-484B-9C78-877DAD14EB4C}"/>
                </a:ext>
              </a:extLst>
            </p:cNvPr>
            <p:cNvCxnSpPr>
              <a:endCxn id="37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: angular 28">
              <a:extLst>
                <a:ext uri="{FF2B5EF4-FFF2-40B4-BE49-F238E27FC236}">
                  <a16:creationId xmlns:a16="http://schemas.microsoft.com/office/drawing/2014/main" id="{F38C2F97-E7F2-4271-9813-6B7C0F0FA3AA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27AF3F96-FCE0-4C98-805E-FF9FB1BBACE1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A7261460-64F0-4856-8C9F-4BD2BDEDA51F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5857BEB8-3BDD-4EA2-B8B8-AEDBE828E89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31D42DBD-D43F-46BD-8EB6-B1A9B5B1FFD3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3AA1051C-4C6E-4C5A-BD8C-34D115A318D5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96622A7E-2F71-47DA-B7F4-C0715DB71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736789EC-5311-46BC-B0C0-946FBCD3F983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3D8AA2CB-3B81-4878-BA92-7A2AB26C5203}"/>
              </a:ext>
            </a:extLst>
          </p:cNvPr>
          <p:cNvGrpSpPr/>
          <p:nvPr/>
        </p:nvGrpSpPr>
        <p:grpSpPr>
          <a:xfrm>
            <a:off x="1086284" y="5085770"/>
            <a:ext cx="9828360" cy="1415826"/>
            <a:chOff x="739934" y="5150492"/>
            <a:chExt cx="9828360" cy="1415826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BDA36BC-B959-4B47-89FB-A993E6C02D2A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71" name="Conector recto de flecha 70">
                <a:extLst>
                  <a:ext uri="{FF2B5EF4-FFF2-40B4-BE49-F238E27FC236}">
                    <a16:creationId xmlns:a16="http://schemas.microsoft.com/office/drawing/2014/main" id="{2D978A07-1E02-47FD-8E62-8E1DDF4C58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0963A2D1-B545-4DCC-8FE3-43FD63145F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141D0432-6F00-4571-B542-2F4B8AA2A3D3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34E665B0-4C4B-4316-B5D2-7C9DBE090405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10345E6E-F182-46FB-BB0F-FC0A8A1E7ED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FEE0A49-7E25-4DF1-845D-4A118B5B1FC8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7D329A3-2443-4CE8-8A08-C15027F29B16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D82AAB87-239B-4B60-A43B-B56623CF281B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1415257-6127-4613-8865-0245E9806927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1903526F-4EBD-405D-99D3-9BB32DA0A895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7436B19-764A-4AC2-B9E3-BC4A39826D3E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B509061-022F-42C2-ADBF-34DF12FC2DC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1937DDA-07A1-4F48-81E7-793FDF973D2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09A84633-65B7-42B5-8C6A-88AAA10965FB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C6BFC56-D2DC-45BB-91D4-F3C41309C9A4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7E952C3-9D63-417F-B2A2-A748FB8A5CA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CE23FE0-EFF7-4BD7-A27F-2048319C73D0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20554438-5AF2-4F91-9A0A-CB7E12CF74AE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7384A2-B739-483F-9B76-89AD2A9821A7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3AA93F3C-A54A-485C-B472-8AA6AB630EAF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0DB9DFDD-DF03-48CD-912A-916F08735610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20B6DCD2-20EA-4352-AFCC-EDB700776B10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DE9A1AB2-35D2-40FD-AA4D-2D358D82A1D6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4B66F8F-3261-4B01-AA58-1B257C5FF0A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E6DA89C2-8F39-408C-B50A-9435F9A83AE5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EB9E57F-1E5D-4363-9513-CF25A846F254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4CE9BC11-F45E-477C-A80C-2C2997E9AB52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5FDE5EE4-ED7C-4847-A401-641976BAA123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B7AF6909-D703-4BC0-A198-44874808D521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B1725796-8FA3-4024-B0F9-F4BA6B07FEB1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3E2170E1-5C87-4F8C-BB2C-297F6F93CB06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DF9F714C-5B26-46ED-86F1-CC69AE9E5BCF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9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9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9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D972491-5F24-468D-A724-15F7B9C1F633}"/>
              </a:ext>
            </a:extLst>
          </p:cNvPr>
          <p:cNvGrpSpPr/>
          <p:nvPr/>
        </p:nvGrpSpPr>
        <p:grpSpPr>
          <a:xfrm>
            <a:off x="161777" y="2013174"/>
            <a:ext cx="9195368" cy="1415826"/>
            <a:chOff x="1372926" y="5150492"/>
            <a:chExt cx="9195368" cy="141582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EA8893DA-1F18-452E-A993-23E72F5F2C43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5" name="Conector recto de flecha 44">
                <a:extLst>
                  <a:ext uri="{FF2B5EF4-FFF2-40B4-BE49-F238E27FC236}">
                    <a16:creationId xmlns:a16="http://schemas.microsoft.com/office/drawing/2014/main" id="{4BFEF9B2-28B6-446C-ACEC-D1925D9C5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84D34944-9B85-4349-89BE-82F4E5751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22DC8DF-506B-4F4A-8C2B-2B8C143A6C1D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634AABB5-BE40-4868-ACFE-BEC648AD9802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BCAEB01-F2F4-4BB2-952C-3CD69ECAC676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4A0EA1C-7747-4ACC-8594-1BC33754C3A4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9B4CC99-8A10-4C5B-AFD3-7E7D4442B4C6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78A6016C-FFFE-451D-B423-794D43B1D4AA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360AA387-3F6B-4076-BAFE-DEE4B4F256B8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42EBDB58-3867-4FF1-ADF6-DA180181A063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449DCF4-2E95-40DC-A997-1A2689D159CE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6020E04-A31D-46EF-8404-F8463091C8F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45C1BEDA-8C88-4BED-A58F-F31C48CBB19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1496544B-059B-4969-94CC-0F4FBFA0719C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7191AC83-8EFF-4809-B3EE-B5F74F2A7E3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C104F6E-D5A9-4810-A8C9-C4CF370C9333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A4A008D-914B-4D1D-816F-C3E93F58D534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FB52F357-B274-43E1-889C-0A0C1F852441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F463A565-0ACB-4362-866D-0B42A2A434C9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613AD5C-061A-42AA-992E-B9082321391D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20725780-178A-4092-B7AB-F365742F8650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1B8CDAE-1EED-4D19-96A2-1BEF48D65460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ED0DEA48-DF9D-4028-8B88-6F1831DA9864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ADEFFC93-D515-443E-AF27-26D020C829E5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99641BC-5B79-43D4-AD24-7E1B9B6E42CA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3E33273-DA20-4F03-8A93-D5435D1301CE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D81281B7-1A23-4527-BC82-7176B547456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4E349E34-6AE3-432E-AE34-12566A8C5644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75F865-5ACE-4D9A-AE1B-5513A4705A11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1A68515-48B6-4E32-ACE6-F167307FD4B2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9DA7EA27-34F8-4A07-9B0E-2EF5F3ACB0B1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7F4877D4-42C3-4CB1-B178-E6EC3B68B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1938955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7F4877D4-42C3-4CB1-B178-E6EC3B68B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1938955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0"/>
          <p:cNvSpPr/>
          <p:nvPr/>
        </p:nvSpPr>
        <p:spPr>
          <a:xfrm>
            <a:off x="10613400" y="6449494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0"/>
          <p:cNvSpPr/>
          <p:nvPr/>
        </p:nvSpPr>
        <p:spPr>
          <a:xfrm>
            <a:off x="10307663" y="6444939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10001926" y="6449494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69" name="Google Shape;869;p60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53256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E06666"/>
                </a:solidFill>
                <a:latin typeface="+mn-lt"/>
              </a:rPr>
              <a:t>Comparación</a:t>
            </a:r>
            <a:endParaRPr sz="2800"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0" name="Google Shape;870;p60"/>
          <p:cNvSpPr txBox="1"/>
          <p:nvPr/>
        </p:nvSpPr>
        <p:spPr>
          <a:xfrm>
            <a:off x="6407295" y="2134274"/>
            <a:ext cx="172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accent6"/>
                </a:solidFill>
              </a:rPr>
              <a:t>Caso 2: </a:t>
            </a:r>
            <a:r>
              <a:rPr lang="es-ES" sz="2000" b="1">
                <a:solidFill>
                  <a:schemeClr val="accent2"/>
                </a:solidFill>
              </a:rPr>
              <a:t>SJF</a:t>
            </a:r>
            <a:endParaRPr sz="2000" b="1">
              <a:solidFill>
                <a:schemeClr val="accent6"/>
              </a:solidFill>
            </a:endParaRPr>
          </a:p>
        </p:txBody>
      </p:sp>
      <p:sp>
        <p:nvSpPr>
          <p:cNvPr id="871" name="Google Shape;871;p60"/>
          <p:cNvSpPr txBox="1"/>
          <p:nvPr/>
        </p:nvSpPr>
        <p:spPr>
          <a:xfrm>
            <a:off x="773882" y="2192211"/>
            <a:ext cx="182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</a:rPr>
              <a:t>Caso 1: </a:t>
            </a:r>
            <a:r>
              <a:rPr lang="es-ES" sz="2000" b="1" dirty="0">
                <a:solidFill>
                  <a:schemeClr val="accent2"/>
                </a:solidFill>
              </a:rPr>
              <a:t>SJF</a:t>
            </a:r>
            <a:endParaRPr sz="2000" b="1" dirty="0">
              <a:solidFill>
                <a:schemeClr val="accent2"/>
              </a:solidFill>
            </a:endParaRPr>
          </a:p>
        </p:txBody>
      </p:sp>
      <p:pic>
        <p:nvPicPr>
          <p:cNvPr id="872" name="Google Shape;87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3133" y="4518337"/>
            <a:ext cx="4622750" cy="22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907" y="4442137"/>
            <a:ext cx="4622750" cy="2354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60"/>
          <p:cNvGrpSpPr/>
          <p:nvPr/>
        </p:nvGrpSpPr>
        <p:grpSpPr>
          <a:xfrm>
            <a:off x="941882" y="2864000"/>
            <a:ext cx="3933600" cy="1247163"/>
            <a:chOff x="7350150" y="2667300"/>
            <a:chExt cx="3933600" cy="1247163"/>
          </a:xfrm>
        </p:grpSpPr>
        <p:grpSp>
          <p:nvGrpSpPr>
            <p:cNvPr id="875" name="Google Shape;875;p60"/>
            <p:cNvGrpSpPr/>
            <p:nvPr/>
          </p:nvGrpSpPr>
          <p:grpSpPr>
            <a:xfrm>
              <a:off x="7350150" y="2667300"/>
              <a:ext cx="3933600" cy="648900"/>
              <a:chOff x="1510300" y="2603975"/>
              <a:chExt cx="3933600" cy="648900"/>
            </a:xfrm>
          </p:grpSpPr>
          <p:sp>
            <p:nvSpPr>
              <p:cNvPr id="876" name="Google Shape;876;p6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877" name="Google Shape;877;p6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878" name="Google Shape;878;p6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79" name="Google Shape;879;p6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80" name="Google Shape;880;p6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81" name="Google Shape;881;p60"/>
            <p:cNvGrpSpPr/>
            <p:nvPr/>
          </p:nvGrpSpPr>
          <p:grpSpPr>
            <a:xfrm>
              <a:off x="7461788" y="3468762"/>
              <a:ext cx="3731875" cy="445700"/>
              <a:chOff x="7461788" y="3468762"/>
              <a:chExt cx="3731875" cy="445700"/>
            </a:xfrm>
          </p:grpSpPr>
          <p:pic>
            <p:nvPicPr>
              <p:cNvPr id="882" name="Google Shape;882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2677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3" name="Google Shape;883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0953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4" name="Google Shape;884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228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5" name="Google Shape;885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504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6" name="Google Shape;886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61788" y="34724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7" name="Google Shape;887;p60"/>
          <p:cNvGrpSpPr/>
          <p:nvPr/>
        </p:nvGrpSpPr>
        <p:grpSpPr>
          <a:xfrm>
            <a:off x="6644145" y="2864000"/>
            <a:ext cx="3933600" cy="1247163"/>
            <a:chOff x="7378663" y="2805413"/>
            <a:chExt cx="3933600" cy="1247163"/>
          </a:xfrm>
        </p:grpSpPr>
        <p:grpSp>
          <p:nvGrpSpPr>
            <p:cNvPr id="888" name="Google Shape;888;p60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889" name="Google Shape;889;p6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890" name="Google Shape;890;p6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891" name="Google Shape;891;p6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92" name="Google Shape;892;p6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93" name="Google Shape;893;p6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94" name="Google Shape;894;p60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895" name="Google Shape;895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1238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6" name="Google Shape;896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7" name="Google Shape;897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8" name="Google Shape;898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9" name="Google Shape;899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00" name="Google Shape;900;p60"/>
          <p:cNvSpPr/>
          <p:nvPr/>
        </p:nvSpPr>
        <p:spPr>
          <a:xfrm>
            <a:off x="9001425" y="979975"/>
            <a:ext cx="3047976" cy="1585386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</a:rPr>
              <a:t>No basta solo con ordenar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1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1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1"/>
          <p:cNvSpPr txBox="1">
            <a:spLocks noGrp="1"/>
          </p:cNvSpPr>
          <p:nvPr>
            <p:ph type="title"/>
          </p:nvPr>
        </p:nvSpPr>
        <p:spPr>
          <a:xfrm>
            <a:off x="670950" y="106700"/>
            <a:ext cx="103037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</a:p>
        </p:txBody>
      </p:sp>
      <p:sp>
        <p:nvSpPr>
          <p:cNvPr id="909" name="Google Shape;909;p61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35457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Versión apropiativa (preemptive) del algoritmo </a:t>
            </a:r>
            <a:r>
              <a:rPr lang="es-ES" sz="2400" b="1" dirty="0">
                <a:latin typeface="+mn-lt"/>
              </a:rPr>
              <a:t>SJF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procesador se asigna al trabajo que está más próximo a completarse.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Un trabajo en ejecución puede </a:t>
            </a:r>
            <a:r>
              <a:rPr lang="es-ES" sz="2400" b="1" u="sng" dirty="0">
                <a:latin typeface="+mn-lt"/>
              </a:rPr>
              <a:t>expropiarse</a:t>
            </a:r>
            <a:r>
              <a:rPr lang="es-ES" sz="2400" dirty="0">
                <a:latin typeface="+mn-lt"/>
              </a:rPr>
              <a:t>, si hay un trabajo nuevo (en la cola READY) con un menor tiempo de ejecución.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Funcionamiento básico</a:t>
            </a:r>
            <a:r>
              <a:rPr lang="es-ES" sz="24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un nuevo trabajo entra al sistema: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Compare, incluyendo los trabajos restantes y el nuevo trabajo.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Asigne la CPU al trabajo que requiera el menor tiempo para terminar.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6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2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1255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Relajando las suposiciones ideales</a:t>
            </a:r>
            <a:endParaRPr dirty="0"/>
          </a:p>
        </p:txBody>
      </p:sp>
      <p:sp>
        <p:nvSpPr>
          <p:cNvPr id="918" name="Google Shape;918;p62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1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Una vez iniciado, cada trabajo se ejecuta hasta su finalización.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</a:t>
            </a:r>
            <a:r>
              <a:rPr lang="es-ES" sz="2400" dirty="0" err="1">
                <a:latin typeface="+mn-lt"/>
              </a:rPr>
              <a:t>runtime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919" name="Google Shape;919;p62"/>
          <p:cNvGrpSpPr/>
          <p:nvPr/>
        </p:nvGrpSpPr>
        <p:grpSpPr>
          <a:xfrm>
            <a:off x="2770900" y="4196550"/>
            <a:ext cx="6526100" cy="1270013"/>
            <a:chOff x="2770900" y="4196550"/>
            <a:chExt cx="6526100" cy="1270013"/>
          </a:xfrm>
        </p:grpSpPr>
        <p:grpSp>
          <p:nvGrpSpPr>
            <p:cNvPr id="920" name="Google Shape;920;p62"/>
            <p:cNvGrpSpPr/>
            <p:nvPr/>
          </p:nvGrpSpPr>
          <p:grpSpPr>
            <a:xfrm>
              <a:off x="2770900" y="4196550"/>
              <a:ext cx="6526100" cy="648900"/>
              <a:chOff x="2770900" y="4196550"/>
              <a:chExt cx="6526100" cy="648900"/>
            </a:xfrm>
          </p:grpSpPr>
          <p:sp>
            <p:nvSpPr>
              <p:cNvPr id="921" name="Google Shape;921;p62"/>
              <p:cNvSpPr/>
              <p:nvPr/>
            </p:nvSpPr>
            <p:spPr>
              <a:xfrm>
                <a:off x="2770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922" name="Google Shape;922;p62"/>
              <p:cNvSpPr/>
              <p:nvPr/>
            </p:nvSpPr>
            <p:spPr>
              <a:xfrm>
                <a:off x="4246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923" name="Google Shape;923;p62"/>
              <p:cNvSpPr/>
              <p:nvPr/>
            </p:nvSpPr>
            <p:spPr>
              <a:xfrm>
                <a:off x="5722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924" name="Google Shape;924;p62"/>
              <p:cNvSpPr/>
              <p:nvPr/>
            </p:nvSpPr>
            <p:spPr>
              <a:xfrm>
                <a:off x="7197925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925" name="Google Shape;925;p62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926" name="Google Shape;926;p62"/>
            <p:cNvGrpSpPr/>
            <p:nvPr/>
          </p:nvGrpSpPr>
          <p:grpSpPr>
            <a:xfrm>
              <a:off x="2801650" y="5020862"/>
              <a:ext cx="6464587" cy="445700"/>
              <a:chOff x="2801650" y="5020862"/>
              <a:chExt cx="6464587" cy="445700"/>
            </a:xfrm>
          </p:grpSpPr>
          <p:pic>
            <p:nvPicPr>
              <p:cNvPr id="927" name="Google Shape;927;p6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01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8" name="Google Shape;928;p6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2880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9" name="Google Shape;929;p6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8230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0" name="Google Shape;930;p6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1" name="Google Shape;931;p6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12338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8197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940" name="Google Shape;940;p63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A llega en t = 0 y B y C llegan en t = 20.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A se ejecuta por 100 seg, B y C por 10 seg cada uno.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D7D31"/>
                </a:solidFill>
                <a:latin typeface="+mn-lt"/>
              </a:rPr>
              <a:t>¿Cual es el </a:t>
            </a:r>
            <a:r>
              <a:rPr lang="es-ES" sz="2200" b="1" dirty="0" err="1">
                <a:solidFill>
                  <a:srgbClr val="ED7D31"/>
                </a:solidFill>
                <a:latin typeface="+mn-lt"/>
              </a:rPr>
              <a:t>turnarround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 time promedio?</a:t>
            </a: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941" name="Google Shape;941;p63"/>
          <p:cNvGraphicFramePr/>
          <p:nvPr>
            <p:extLst>
              <p:ext uri="{D42A27DB-BD31-4B8C-83A1-F6EECF244321}">
                <p14:modId xmlns:p14="http://schemas.microsoft.com/office/powerpoint/2010/main" val="3318187188"/>
              </p:ext>
            </p:extLst>
          </p:nvPr>
        </p:nvGraphicFramePr>
        <p:xfrm>
          <a:off x="3943686" y="3658710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</a:rPr>
                        <a:t>Arrival time</a:t>
                      </a:r>
                      <a:endParaRPr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C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951" name="Google Shape;951;p64"/>
          <p:cNvSpPr/>
          <p:nvPr/>
        </p:nvSpPr>
        <p:spPr>
          <a:xfrm>
            <a:off x="1902186" y="1726941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952" name="Google Shape;952;p64"/>
          <p:cNvSpPr/>
          <p:nvPr/>
        </p:nvSpPr>
        <p:spPr>
          <a:xfrm>
            <a:off x="1278311" y="172695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953" name="Google Shape;953;p64"/>
          <p:cNvSpPr/>
          <p:nvPr/>
        </p:nvSpPr>
        <p:spPr>
          <a:xfrm>
            <a:off x="654436" y="1726941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954" name="Google Shape;9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624" y="1595766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5" name="Google Shape;955;p64"/>
          <p:cNvCxnSpPr/>
          <p:nvPr/>
        </p:nvCxnSpPr>
        <p:spPr>
          <a:xfrm>
            <a:off x="2577799" y="1998004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957" name="Google Shape;957;p64"/>
          <p:cNvGrpSpPr/>
          <p:nvPr/>
        </p:nvGrpSpPr>
        <p:grpSpPr>
          <a:xfrm>
            <a:off x="4547011" y="1347166"/>
            <a:ext cx="2608800" cy="1301700"/>
            <a:chOff x="5241875" y="1991500"/>
            <a:chExt cx="2608800" cy="1301700"/>
          </a:xfrm>
        </p:grpSpPr>
        <p:sp>
          <p:nvSpPr>
            <p:cNvPr id="958" name="Google Shape;958;p64"/>
            <p:cNvSpPr/>
            <p:nvPr/>
          </p:nvSpPr>
          <p:spPr>
            <a:xfrm>
              <a:off x="5241875" y="2240025"/>
              <a:ext cx="26088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4"/>
            <p:cNvSpPr txBox="1"/>
            <p:nvPr/>
          </p:nvSpPr>
          <p:spPr>
            <a:xfrm>
              <a:off x="5468475" y="1991500"/>
              <a:ext cx="1837500" cy="13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</a:rPr>
                <a:t>Apropiación</a:t>
              </a:r>
              <a:endParaRPr sz="1600" b="1">
                <a:solidFill>
                  <a:srgbClr val="FF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5"/>
                  </a:solidFill>
                </a:rPr>
                <a:t>Reordenamiento</a:t>
              </a:r>
              <a:endParaRPr sz="1600" b="1">
                <a:solidFill>
                  <a:schemeClr val="accent5"/>
                </a:solidFill>
              </a:endParaRPr>
            </a:p>
          </p:txBody>
        </p:sp>
      </p:grpSp>
      <p:sp>
        <p:nvSpPr>
          <p:cNvPr id="960" name="Google Shape;960;p64"/>
          <p:cNvSpPr txBox="1"/>
          <p:nvPr/>
        </p:nvSpPr>
        <p:spPr>
          <a:xfrm>
            <a:off x="614561" y="1195554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llegada</a:t>
            </a:r>
            <a:endParaRPr sz="1600"/>
          </a:p>
        </p:txBody>
      </p:sp>
      <p:sp>
        <p:nvSpPr>
          <p:cNvPr id="962" name="Google Shape;962;p64"/>
          <p:cNvSpPr txBox="1"/>
          <p:nvPr/>
        </p:nvSpPr>
        <p:spPr>
          <a:xfrm>
            <a:off x="1902186" y="2247504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963" name="Google Shape;963;p64"/>
          <p:cNvSpPr txBox="1"/>
          <p:nvPr/>
        </p:nvSpPr>
        <p:spPr>
          <a:xfrm>
            <a:off x="1221311" y="2247516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964" name="Google Shape;964;p64"/>
          <p:cNvSpPr txBox="1"/>
          <p:nvPr/>
        </p:nvSpPr>
        <p:spPr>
          <a:xfrm>
            <a:off x="597436" y="2247516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graphicFrame>
        <p:nvGraphicFramePr>
          <p:cNvPr id="50" name="Google Shape;941;p63">
            <a:extLst>
              <a:ext uri="{FF2B5EF4-FFF2-40B4-BE49-F238E27FC236}">
                <a16:creationId xmlns:a16="http://schemas.microsoft.com/office/drawing/2014/main" id="{D81EF060-28FE-448F-AEA7-213DEDB1EB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7011808"/>
              </p:ext>
            </p:extLst>
          </p:nvPr>
        </p:nvGraphicFramePr>
        <p:xfrm>
          <a:off x="8305060" y="1195554"/>
          <a:ext cx="3558102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18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</a:rPr>
                        <a:t>Proceso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+mn-lt"/>
                        </a:rPr>
                        <a:t>Arrival time</a:t>
                      </a:r>
                      <a:endParaRPr sz="16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</a:rPr>
                        <a:t>Run-time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B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+mn-lt"/>
                        </a:rPr>
                        <a:t>20</a:t>
                      </a:r>
                      <a:endParaRPr sz="16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10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C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+mn-lt"/>
                        </a:rPr>
                        <a:t>20</a:t>
                      </a:r>
                      <a:endParaRPr sz="16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10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4FB86A1D-30BC-4650-AF84-CAD9B60B10AA}"/>
              </a:ext>
            </a:extLst>
          </p:cNvPr>
          <p:cNvGrpSpPr/>
          <p:nvPr/>
        </p:nvGrpSpPr>
        <p:grpSpPr>
          <a:xfrm>
            <a:off x="1229533" y="2773346"/>
            <a:ext cx="5466824" cy="1206174"/>
            <a:chOff x="3022600" y="4414559"/>
            <a:chExt cx="5466824" cy="1206174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E624F512-1343-4DB5-9A25-90453F4799D7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C0BB13EE-D9F3-4EC2-959D-A61B37DC21CA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BC2E2F92-4030-4C18-9E50-56B382CFD1CF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F5FE2A5D-27D8-43B6-9D39-E22CA6B05CE9}"/>
                </a:ext>
              </a:extLst>
            </p:cNvPr>
            <p:cNvCxnSpPr>
              <a:endCxn id="62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: angular 53">
              <a:extLst>
                <a:ext uri="{FF2B5EF4-FFF2-40B4-BE49-F238E27FC236}">
                  <a16:creationId xmlns:a16="http://schemas.microsoft.com/office/drawing/2014/main" id="{F220E915-13FA-47CE-AAAD-597EF3B5E659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5EA6E68A-BF9E-46FA-931B-81C4B92345FD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596CBA8F-A211-4669-97F1-5F907A638DC9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57" name="Grupo 56">
                <a:extLst>
                  <a:ext uri="{FF2B5EF4-FFF2-40B4-BE49-F238E27FC236}">
                    <a16:creationId xmlns:a16="http://schemas.microsoft.com/office/drawing/2014/main" id="{E5610408-F659-4C10-B2C1-A6142A5B1FF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9" name="Conector recto 58">
                  <a:extLst>
                    <a:ext uri="{FF2B5EF4-FFF2-40B4-BE49-F238E27FC236}">
                      <a16:creationId xmlns:a16="http://schemas.microsoft.com/office/drawing/2014/main" id="{B4EF26E8-5215-4D7E-A4BF-87AB1EDAEAB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2058ACCC-9DDA-4D8D-B09C-D8EBACBE153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ector recto 60">
                  <a:extLst>
                    <a:ext uri="{FF2B5EF4-FFF2-40B4-BE49-F238E27FC236}">
                      <a16:creationId xmlns:a16="http://schemas.microsoft.com/office/drawing/2014/main" id="{44CE8B01-3D9D-4262-A932-EE3569BC90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66860810-0B5F-4643-9A6B-6C2D36C687B9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4F11112-4F2D-41A5-8590-69856F20C281}"/>
              </a:ext>
            </a:extLst>
          </p:cNvPr>
          <p:cNvGrpSpPr/>
          <p:nvPr/>
        </p:nvGrpSpPr>
        <p:grpSpPr>
          <a:xfrm>
            <a:off x="1086284" y="5085770"/>
            <a:ext cx="9828360" cy="1415826"/>
            <a:chOff x="739934" y="5150492"/>
            <a:chExt cx="9828360" cy="1415826"/>
          </a:xfrm>
        </p:grpSpPr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D2C90D03-44E5-4156-B052-13379C209379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96" name="Conector recto de flecha 95">
                <a:extLst>
                  <a:ext uri="{FF2B5EF4-FFF2-40B4-BE49-F238E27FC236}">
                    <a16:creationId xmlns:a16="http://schemas.microsoft.com/office/drawing/2014/main" id="{18F3F05A-1972-4EDB-B4F0-31B717403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de flecha 96">
                <a:extLst>
                  <a:ext uri="{FF2B5EF4-FFF2-40B4-BE49-F238E27FC236}">
                    <a16:creationId xmlns:a16="http://schemas.microsoft.com/office/drawing/2014/main" id="{86616FAB-3753-4F3E-98CB-22DFD075CD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A21120AD-6A1C-4D2A-90B0-47D9B5E4DA91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27565083-6768-46F4-8EEF-4077FFB21DC2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726755CD-320B-475E-B493-0D3CC574162B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CBBBF53D-E044-40FB-BB52-C18C5C168044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9CD447C7-69A4-4ABA-8E36-F33DB8ED2552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5F7E5EDC-BAB2-48B7-BBCB-ACF524ABACFB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3E1A937D-78C3-4636-B8EA-694762B9C70E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59D935E-42EF-4331-AD47-313554157D3E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9BD86B54-9EC2-4B0C-ABFB-8B5D86656763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933A591D-88D5-446B-B138-84620FE3200D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5CAB6922-2DEA-400D-BA23-D7E2DD3D5A3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30F41EAE-6285-42AC-933E-6B189886F9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66D6131B-A2A9-48C9-80A8-C45911AF7ED6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CF744E18-3C02-4A6E-B1DA-0938BFC72735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E33C3264-13C3-4315-B2B2-15BF39C69D93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59C9FBD4-D482-49C3-8F9F-97BFEAA3761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DCA5E2E8-43ED-4F90-8FDA-188941F01082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391437D2-6178-404F-AFDC-886737F53C0F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BCB42092-0018-4330-854A-E3F5261D802D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C4BE3C57-E706-456A-AD6A-7EFF1A1D2E62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CC19CE75-2059-420F-8EE4-3086BE5E393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91BB73F0-AACE-4D06-8BFC-9211C7D8A79F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7F5696AC-1719-4110-9454-EDBB133DD63A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5DC67AD0-1D10-40E5-BCBF-F2F5FA52B6DD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0E0496B5-03EE-4891-B844-018C28FC67FB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19406B51-706B-4694-A7E1-797063846FD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EF2E9725-4963-4787-ABE8-236D9E5EA084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0F01B9C7-AD12-4B64-BE67-ED6912F84C60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5DD65B10-5BBC-4085-8FE1-9D692AA12B7B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86386C3A-FA95-41C3-AA8A-EC8BF3AF48D0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5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3037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61F0F8C-3E65-4893-A35F-F4B809C9F758}"/>
              </a:ext>
            </a:extLst>
          </p:cNvPr>
          <p:cNvGrpSpPr/>
          <p:nvPr/>
        </p:nvGrpSpPr>
        <p:grpSpPr>
          <a:xfrm>
            <a:off x="161777" y="2013174"/>
            <a:ext cx="9195368" cy="1415826"/>
            <a:chOff x="1372926" y="5150492"/>
            <a:chExt cx="9195368" cy="141582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B0B580B4-A0FA-4669-B49A-0B3C3DD5E22D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5" name="Conector recto de flecha 44">
                <a:extLst>
                  <a:ext uri="{FF2B5EF4-FFF2-40B4-BE49-F238E27FC236}">
                    <a16:creationId xmlns:a16="http://schemas.microsoft.com/office/drawing/2014/main" id="{9131B4A0-E1C7-42BD-B8E9-88D03F994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87166B51-82A8-443A-8E79-AE1F71DA8E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333F007-69BF-49C8-AE0D-25B1633ABE66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D1B210DB-122B-4D31-B2A4-17A9E4AF88B7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A0B54E2F-042D-4FCE-944F-8AA240DDC035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07B65878-27AB-49BB-916B-EE10BA402D1F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BF70845-15BA-467E-AC45-C6A994963407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1C403AB3-89B5-49DD-910E-A55D8A5CA5EB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35BD9D8-81EE-49C3-95B0-1A61BAD57574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C7914368-ECC9-434A-918E-D8E03E75B43D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9D28A51-BE92-4F50-B465-86DC3FF4162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12F65A62-964B-4E6A-80CE-12C7A6E27BB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592F0506-9471-49FB-BC07-90D5A6EEAB92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67646EF6-6CDE-474F-B61F-218B18374CB7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88CD2EC-F226-4AC9-8B85-A36D0470A54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37A0C6E7-3FF8-4BF6-927F-7B28286984F0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CA2526BE-2345-4765-A8DE-F820244DEED2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96E36AE2-DB26-47B9-8135-F40371686649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C53D54-E199-4988-A6D8-95381131A371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41935D1-A806-443F-9579-AC044ED3EC52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C99DD95-9F13-4244-B183-BC59A2B256F1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28BD7A12-F713-4099-99B1-816D880B71F7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D023A876-28E9-438B-A236-3125191147AE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426ACFC-1740-428E-A923-E3CBEBFC255F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72A05FAC-7238-4442-B104-EE456C220649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B714615B-907F-48C8-8717-DC8177DF2869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EEFDECFA-F225-4405-BAAE-2B3BA9053B25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2C39D110-F09A-487B-8ABE-52B9D27447F9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886B385A-DF00-403D-B3CC-BB10C078BDCD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7707FE28-14CD-4176-8AF3-74430104F8A4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D3A5818-21C4-4328-B8A9-2C13795D75D3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50E3E241-CB21-4CF1-B6C5-52CBE178A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546359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50E3E241-CB21-4CF1-B6C5-52CBE178A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546359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6"/>
          <p:cNvSpPr/>
          <p:nvPr/>
        </p:nvSpPr>
        <p:spPr>
          <a:xfrm>
            <a:off x="11040182" y="6071819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6"/>
          <p:cNvSpPr/>
          <p:nvPr/>
        </p:nvSpPr>
        <p:spPr>
          <a:xfrm>
            <a:off x="10734445" y="6067264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6"/>
          <p:cNvSpPr/>
          <p:nvPr/>
        </p:nvSpPr>
        <p:spPr>
          <a:xfrm>
            <a:off x="10428708" y="6071819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8623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1014" name="Google Shape;1014;p66"/>
          <p:cNvSpPr txBox="1">
            <a:spLocks noGrp="1"/>
          </p:cNvSpPr>
          <p:nvPr>
            <p:ph type="body" idx="1"/>
          </p:nvPr>
        </p:nvSpPr>
        <p:spPr>
          <a:xfrm>
            <a:off x="937375" y="964900"/>
            <a:ext cx="5325600" cy="64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E06666"/>
                </a:solidFill>
                <a:latin typeface="+mn-lt"/>
              </a:rPr>
              <a:t>Comparación</a:t>
            </a:r>
            <a:endParaRPr sz="2800"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1015" name="Google Shape;1015;p66"/>
          <p:cNvSpPr txBox="1"/>
          <p:nvPr/>
        </p:nvSpPr>
        <p:spPr>
          <a:xfrm>
            <a:off x="6861078" y="1613800"/>
            <a:ext cx="228196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</a:rPr>
              <a:t>Caso 3: STCF</a:t>
            </a:r>
            <a:endParaRPr sz="2000" b="1" dirty="0">
              <a:solidFill>
                <a:schemeClr val="accent6"/>
              </a:solidFill>
            </a:endParaRPr>
          </a:p>
        </p:txBody>
      </p:sp>
      <p:sp>
        <p:nvSpPr>
          <p:cNvPr id="1016" name="Google Shape;1016;p66"/>
          <p:cNvSpPr txBox="1"/>
          <p:nvPr/>
        </p:nvSpPr>
        <p:spPr>
          <a:xfrm>
            <a:off x="916650" y="1732599"/>
            <a:ext cx="1476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</a:rPr>
              <a:t>Caso 2: SJF</a:t>
            </a:r>
            <a:endParaRPr sz="2000" b="1" dirty="0">
              <a:solidFill>
                <a:schemeClr val="accent6"/>
              </a:solidFill>
            </a:endParaRPr>
          </a:p>
        </p:txBody>
      </p:sp>
      <p:pic>
        <p:nvPicPr>
          <p:cNvPr id="1017" name="Google Shape;10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614" y="4142727"/>
            <a:ext cx="4622750" cy="224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" name="Google Shape;1018;p66"/>
          <p:cNvGrpSpPr/>
          <p:nvPr/>
        </p:nvGrpSpPr>
        <p:grpSpPr>
          <a:xfrm>
            <a:off x="1354576" y="2501240"/>
            <a:ext cx="3933600" cy="1247163"/>
            <a:chOff x="7378663" y="2805413"/>
            <a:chExt cx="3933600" cy="1247163"/>
          </a:xfrm>
        </p:grpSpPr>
        <p:grpSp>
          <p:nvGrpSpPr>
            <p:cNvPr id="1019" name="Google Shape;1019;p66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1020" name="Google Shape;1020;p66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021" name="Google Shape;1021;p66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022" name="Google Shape;1022;p66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023" name="Google Shape;1023;p66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024" name="Google Shape;1024;p66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/>
                  <a:t>5</a:t>
                </a:r>
                <a:endParaRPr sz="2000" b="1" dirty="0"/>
              </a:p>
            </p:txBody>
          </p:sp>
        </p:grpSp>
        <p:grpSp>
          <p:nvGrpSpPr>
            <p:cNvPr id="1025" name="Google Shape;1025;p66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1026" name="Google Shape;1026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1238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7" name="Google Shape;1027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8" name="Google Shape;1028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9" name="Google Shape;1029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0" name="Google Shape;1030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31" name="Google Shape;1031;p66"/>
          <p:cNvGrpSpPr/>
          <p:nvPr/>
        </p:nvGrpSpPr>
        <p:grpSpPr>
          <a:xfrm>
            <a:off x="7070927" y="2486325"/>
            <a:ext cx="3933600" cy="1247163"/>
            <a:chOff x="7378663" y="2805413"/>
            <a:chExt cx="3933600" cy="1247163"/>
          </a:xfrm>
        </p:grpSpPr>
        <p:grpSp>
          <p:nvGrpSpPr>
            <p:cNvPr id="1032" name="Google Shape;1032;p66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1033" name="Google Shape;1033;p66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034" name="Google Shape;1034;p66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035" name="Google Shape;1035;p66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036" name="Google Shape;1036;p66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037" name="Google Shape;1037;p66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038" name="Google Shape;1038;p66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1039" name="Google Shape;1039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0" name="Google Shape;1040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1" name="Google Shape;1041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2" name="Google Shape;1042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3" name="Google Shape;1043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129238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44" name="Google Shape;104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6689" y="4102387"/>
            <a:ext cx="4596925" cy="22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7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7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7"/>
          <p:cNvSpPr txBox="1">
            <a:spLocks noGrp="1"/>
          </p:cNvSpPr>
          <p:nvPr>
            <p:ph type="title"/>
          </p:nvPr>
        </p:nvSpPr>
        <p:spPr>
          <a:xfrm>
            <a:off x="164892" y="96038"/>
            <a:ext cx="120271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53" name="Google Shape;1053;p67"/>
          <p:cNvSpPr txBox="1">
            <a:spLocks noGrp="1"/>
          </p:cNvSpPr>
          <p:nvPr>
            <p:ph type="body" idx="1"/>
          </p:nvPr>
        </p:nvSpPr>
        <p:spPr>
          <a:xfrm>
            <a:off x="349770" y="1041765"/>
            <a:ext cx="6565500" cy="18213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 1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Cada proceso se ejecuta por 10 segundos.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54" name="Google Shape;1054;p67"/>
          <p:cNvGraphicFramePr/>
          <p:nvPr>
            <p:extLst>
              <p:ext uri="{D42A27DB-BD31-4B8C-83A1-F6EECF244321}">
                <p14:modId xmlns:p14="http://schemas.microsoft.com/office/powerpoint/2010/main" val="4227176204"/>
              </p:ext>
            </p:extLst>
          </p:nvPr>
        </p:nvGraphicFramePr>
        <p:xfrm>
          <a:off x="7475100" y="1041765"/>
          <a:ext cx="3807300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2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j-lt"/>
                        </a:rPr>
                        <a:t>Proceso</a:t>
                      </a:r>
                      <a:endParaRPr b="1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j-lt"/>
                        </a:rPr>
                        <a:t>Arrival time</a:t>
                      </a:r>
                      <a:endParaRPr b="1" dirty="0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j-lt"/>
                        </a:rPr>
                        <a:t>Run-time</a:t>
                      </a:r>
                      <a:endParaRPr b="1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j-lt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j-lt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B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0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10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C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+mj-lt"/>
                        </a:rPr>
                        <a:t>0</a:t>
                      </a: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+mj-lt"/>
                        </a:rPr>
                        <a:t>10</a:t>
                      </a: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55" name="Google Shape;105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356" y="4151976"/>
            <a:ext cx="4497225" cy="223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67"/>
          <p:cNvSpPr txBox="1"/>
          <p:nvPr/>
        </p:nvSpPr>
        <p:spPr>
          <a:xfrm>
            <a:off x="4269570" y="3378233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</a:rPr>
              <a:t>FCFS (FIFO)</a:t>
            </a:r>
            <a:endParaRPr sz="20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8"/>
          <p:cNvSpPr txBox="1">
            <a:spLocks noGrp="1"/>
          </p:cNvSpPr>
          <p:nvPr>
            <p:ph type="title"/>
          </p:nvPr>
        </p:nvSpPr>
        <p:spPr>
          <a:xfrm>
            <a:off x="149902" y="96038"/>
            <a:ext cx="119321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65" name="Google Shape;1065;p68"/>
          <p:cNvSpPr txBox="1">
            <a:spLocks noGrp="1"/>
          </p:cNvSpPr>
          <p:nvPr>
            <p:ph type="body" idx="1"/>
          </p:nvPr>
        </p:nvSpPr>
        <p:spPr>
          <a:xfrm>
            <a:off x="149902" y="1076546"/>
            <a:ext cx="7075800" cy="231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 2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A se ejecuta por 100 seg</a:t>
            </a:r>
            <a:r>
              <a:rPr lang="es-ES" sz="2000" dirty="0">
                <a:latin typeface="+mn-lt"/>
              </a:rPr>
              <a:t>, B y C por 10 seg cada uno.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66" name="Google Shape;1066;p68"/>
          <p:cNvGraphicFramePr/>
          <p:nvPr>
            <p:extLst>
              <p:ext uri="{D42A27DB-BD31-4B8C-83A1-F6EECF244321}">
                <p14:modId xmlns:p14="http://schemas.microsoft.com/office/powerpoint/2010/main" val="2465393995"/>
              </p:ext>
            </p:extLst>
          </p:nvPr>
        </p:nvGraphicFramePr>
        <p:xfrm>
          <a:off x="7695453" y="1210527"/>
          <a:ext cx="3830665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19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j-lt"/>
                        </a:rPr>
                        <a:t>Proceso</a:t>
                      </a:r>
                      <a:endParaRPr b="1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j-lt"/>
                        </a:rPr>
                        <a:t>Arrival time</a:t>
                      </a:r>
                      <a:endParaRPr b="1" dirty="0"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+mj-lt"/>
                        </a:rPr>
                        <a:t>Run-time</a:t>
                      </a:r>
                      <a:endParaRPr b="1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j-lt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j-lt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B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0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j-lt"/>
                        </a:rPr>
                        <a:t>10</a:t>
                      </a:r>
                      <a:endParaRPr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C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j-lt"/>
                        </a:rPr>
                        <a:t>0</a:t>
                      </a: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+mj-lt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7" name="Google Shape;1067;p68"/>
          <p:cNvSpPr txBox="1"/>
          <p:nvPr/>
        </p:nvSpPr>
        <p:spPr>
          <a:xfrm>
            <a:off x="2720200" y="3683438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</a:rPr>
              <a:t>FCFS (FIFO)</a:t>
            </a:r>
            <a:endParaRPr sz="2000" b="1" dirty="0">
              <a:solidFill>
                <a:schemeClr val="accent2"/>
              </a:solidFill>
            </a:endParaRPr>
          </a:p>
        </p:txBody>
      </p:sp>
      <p:sp>
        <p:nvSpPr>
          <p:cNvPr id="1068" name="Google Shape;1068;p68"/>
          <p:cNvSpPr txBox="1"/>
          <p:nvPr/>
        </p:nvSpPr>
        <p:spPr>
          <a:xfrm>
            <a:off x="7865050" y="3572494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</a:rPr>
              <a:t>SJF</a:t>
            </a:r>
            <a:endParaRPr sz="2000" b="1" dirty="0">
              <a:solidFill>
                <a:schemeClr val="accent2"/>
              </a:solidFill>
            </a:endParaRPr>
          </a:p>
        </p:txBody>
      </p:sp>
      <p:pic>
        <p:nvPicPr>
          <p:cNvPr id="1069" name="Google Shape;106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800" y="4243000"/>
            <a:ext cx="3946375" cy="1979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555" y="4272988"/>
            <a:ext cx="3946370" cy="19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9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69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9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9"/>
          <p:cNvSpPr txBox="1">
            <a:spLocks noGrp="1"/>
          </p:cNvSpPr>
          <p:nvPr>
            <p:ph type="title"/>
          </p:nvPr>
        </p:nvSpPr>
        <p:spPr>
          <a:xfrm>
            <a:off x="119921" y="96038"/>
            <a:ext cx="1194716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79" name="Google Shape;1079;p69"/>
          <p:cNvSpPr txBox="1">
            <a:spLocks noGrp="1"/>
          </p:cNvSpPr>
          <p:nvPr>
            <p:ph type="body" idx="1"/>
          </p:nvPr>
        </p:nvSpPr>
        <p:spPr>
          <a:xfrm>
            <a:off x="239843" y="1056200"/>
            <a:ext cx="7752607" cy="14742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Ejemplo 3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○"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A llega en t = 0 y B y C llegan en t = 20.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○"/>
            </a:pPr>
            <a:r>
              <a:rPr lang="es-ES" sz="2000" dirty="0">
                <a:solidFill>
                  <a:schemeClr val="accent5"/>
                </a:solidFill>
                <a:latin typeface="+mn-lt"/>
              </a:rPr>
              <a:t>A se ejecuta por 100 seg, B y C por 10 seg cada uno.</a:t>
            </a:r>
            <a:endParaRPr sz="2000" dirty="0">
              <a:solidFill>
                <a:schemeClr val="accent5"/>
              </a:solidFill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80" name="Google Shape;1080;p69"/>
          <p:cNvGraphicFramePr/>
          <p:nvPr>
            <p:extLst>
              <p:ext uri="{D42A27DB-BD31-4B8C-83A1-F6EECF244321}">
                <p14:modId xmlns:p14="http://schemas.microsoft.com/office/powerpoint/2010/main" val="1188656440"/>
              </p:ext>
            </p:extLst>
          </p:nvPr>
        </p:nvGraphicFramePr>
        <p:xfrm>
          <a:off x="7764905" y="1211922"/>
          <a:ext cx="3935595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228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b="1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b="1"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dirty="0"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81" name="Google Shape;1081;p69"/>
          <p:cNvSpPr txBox="1"/>
          <p:nvPr/>
        </p:nvSpPr>
        <p:spPr>
          <a:xfrm>
            <a:off x="2720195" y="3683438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>
                <a:solidFill>
                  <a:schemeClr val="accent2"/>
                </a:solidFill>
              </a:rPr>
              <a:t>SJF</a:t>
            </a:r>
            <a:endParaRPr sz="2000" b="1">
              <a:solidFill>
                <a:schemeClr val="accent2"/>
              </a:solidFill>
            </a:endParaRPr>
          </a:p>
        </p:txBody>
      </p:sp>
      <p:sp>
        <p:nvSpPr>
          <p:cNvPr id="1082" name="Google Shape;1082;p69"/>
          <p:cNvSpPr txBox="1"/>
          <p:nvPr/>
        </p:nvSpPr>
        <p:spPr>
          <a:xfrm>
            <a:off x="8198875" y="3683438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D7D31"/>
                </a:solidFill>
              </a:rPr>
              <a:t>STCF</a:t>
            </a:r>
            <a:endParaRPr sz="2000" b="1">
              <a:solidFill>
                <a:srgbClr val="ED7D31"/>
              </a:solidFill>
            </a:endParaRPr>
          </a:p>
        </p:txBody>
      </p:sp>
      <p:pic>
        <p:nvPicPr>
          <p:cNvPr id="1083" name="Google Shape;10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625" y="4322150"/>
            <a:ext cx="4222841" cy="20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128" y="4327580"/>
            <a:ext cx="4089206" cy="20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0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0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0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Response time</a:t>
            </a:r>
            <a:endParaRPr dirty="0"/>
          </a:p>
        </p:txBody>
      </p:sp>
      <p:sp>
        <p:nvSpPr>
          <p:cNvPr id="1093" name="Google Shape;1093;p70"/>
          <p:cNvSpPr txBox="1">
            <a:spLocks noGrp="1"/>
          </p:cNvSpPr>
          <p:nvPr>
            <p:ph type="body" idx="1"/>
          </p:nvPr>
        </p:nvSpPr>
        <p:spPr>
          <a:xfrm>
            <a:off x="329784" y="884725"/>
            <a:ext cx="11404691" cy="92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dirty="0">
                <a:latin typeface="+mn-lt"/>
              </a:rPr>
              <a:t>Tiempo medido desde que el trabajo llega hasta que es programado por primera vez.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1094" name="Google Shape;1094;p70"/>
          <p:cNvGrpSpPr/>
          <p:nvPr/>
        </p:nvGrpSpPr>
        <p:grpSpPr>
          <a:xfrm>
            <a:off x="2174288" y="2055600"/>
            <a:ext cx="8371075" cy="3139775"/>
            <a:chOff x="2118075" y="3111500"/>
            <a:chExt cx="8371075" cy="3139775"/>
          </a:xfrm>
        </p:grpSpPr>
        <p:grpSp>
          <p:nvGrpSpPr>
            <p:cNvPr id="1095" name="Google Shape;1095;p70"/>
            <p:cNvGrpSpPr/>
            <p:nvPr/>
          </p:nvGrpSpPr>
          <p:grpSpPr>
            <a:xfrm>
              <a:off x="2118075" y="3261675"/>
              <a:ext cx="8371075" cy="2989600"/>
              <a:chOff x="2118075" y="2956875"/>
              <a:chExt cx="8371075" cy="2989600"/>
            </a:xfrm>
          </p:grpSpPr>
          <p:cxnSp>
            <p:nvCxnSpPr>
              <p:cNvPr id="1096" name="Google Shape;1096;p70"/>
              <p:cNvCxnSpPr/>
              <p:nvPr/>
            </p:nvCxnSpPr>
            <p:spPr>
              <a:xfrm>
                <a:off x="3829100" y="3528375"/>
                <a:ext cx="6404400" cy="1625700"/>
              </a:xfrm>
              <a:prstGeom prst="bentConnector3">
                <a:avLst>
                  <a:gd name="adj1" fmla="val 54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97" name="Google Shape;1097;p70"/>
              <p:cNvSpPr txBox="1"/>
              <p:nvPr/>
            </p:nvSpPr>
            <p:spPr>
              <a:xfrm>
                <a:off x="3068600" y="4086213"/>
                <a:ext cx="7605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22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098" name="Google Shape;1098;p70"/>
              <p:cNvSpPr txBox="1"/>
              <p:nvPr/>
            </p:nvSpPr>
            <p:spPr>
              <a:xfrm>
                <a:off x="9728650" y="523277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t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099" name="Google Shape;1099;p70"/>
              <p:cNvCxnSpPr/>
              <p:nvPr/>
            </p:nvCxnSpPr>
            <p:spPr>
              <a:xfrm>
                <a:off x="4689400" y="3725275"/>
                <a:ext cx="10500" cy="222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ED7D3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0" name="Google Shape;1100;p70"/>
              <p:cNvSpPr/>
              <p:nvPr/>
            </p:nvSpPr>
            <p:spPr>
              <a:xfrm>
                <a:off x="4440550" y="2956875"/>
                <a:ext cx="507900" cy="5373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1" name="Google Shape;1101;p70"/>
              <p:cNvSpPr/>
              <p:nvPr/>
            </p:nvSpPr>
            <p:spPr>
              <a:xfrm>
                <a:off x="6131225" y="4204575"/>
                <a:ext cx="1143000" cy="949500"/>
              </a:xfrm>
              <a:prstGeom prst="rect">
                <a:avLst/>
              </a:prstGeom>
              <a:solidFill>
                <a:srgbClr val="C9DAF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2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2" name="Google Shape;1102;p70"/>
              <p:cNvSpPr txBox="1"/>
              <p:nvPr/>
            </p:nvSpPr>
            <p:spPr>
              <a:xfrm>
                <a:off x="2118075" y="5232775"/>
                <a:ext cx="13299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status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3" name="Google Shape;1103;p70"/>
              <p:cNvSpPr txBox="1"/>
              <p:nvPr/>
            </p:nvSpPr>
            <p:spPr>
              <a:xfrm>
                <a:off x="3829100" y="523277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---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4" name="Google Shape;1104;p70"/>
              <p:cNvSpPr txBox="1"/>
              <p:nvPr/>
            </p:nvSpPr>
            <p:spPr>
              <a:xfrm>
                <a:off x="4799400" y="5256825"/>
                <a:ext cx="1143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F8A0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Ready</a:t>
                </a:r>
                <a:endParaRPr sz="2000" b="1">
                  <a:solidFill>
                    <a:srgbClr val="F8A02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105" name="Google Shape;1105;p70"/>
              <p:cNvCxnSpPr/>
              <p:nvPr/>
            </p:nvCxnSpPr>
            <p:spPr>
              <a:xfrm>
                <a:off x="6127800" y="3790975"/>
                <a:ext cx="8700" cy="2072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6" name="Google Shape;1106;p70"/>
              <p:cNvSpPr txBox="1"/>
              <p:nvPr/>
            </p:nvSpPr>
            <p:spPr>
              <a:xfrm>
                <a:off x="6259925" y="5232775"/>
                <a:ext cx="885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0B69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Run</a:t>
                </a:r>
                <a:endParaRPr sz="20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107" name="Google Shape;1107;p70"/>
              <p:cNvCxnSpPr/>
              <p:nvPr/>
            </p:nvCxnSpPr>
            <p:spPr>
              <a:xfrm>
                <a:off x="7274050" y="3718425"/>
                <a:ext cx="3600" cy="207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8" name="Google Shape;1108;p70"/>
              <p:cNvSpPr txBox="1"/>
              <p:nvPr/>
            </p:nvSpPr>
            <p:spPr>
              <a:xfrm>
                <a:off x="7406175" y="525682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---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109" name="Google Shape;1109;p70"/>
            <p:cNvSpPr/>
            <p:nvPr/>
          </p:nvSpPr>
          <p:spPr>
            <a:xfrm>
              <a:off x="7286975" y="4963475"/>
              <a:ext cx="1219200" cy="508000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110" name="Google Shape;1110;p70"/>
            <p:cNvSpPr/>
            <p:nvPr/>
          </p:nvSpPr>
          <p:spPr>
            <a:xfrm>
              <a:off x="6143975" y="3871275"/>
              <a:ext cx="2362200" cy="1600200"/>
            </a:xfrm>
            <a:custGeom>
              <a:avLst/>
              <a:gdLst/>
              <a:ahLst/>
              <a:cxnLst/>
              <a:rect l="l" t="t" r="r" b="b"/>
              <a:pathLst>
                <a:path w="94488" h="64008" extrusionOk="0">
                  <a:moveTo>
                    <a:pt x="0" y="64008"/>
                  </a:moveTo>
                  <a:lnTo>
                    <a:pt x="28448" y="0"/>
                  </a:lnTo>
                  <a:lnTo>
                    <a:pt x="9448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111" name="Google Shape;1111;p70"/>
            <p:cNvSpPr/>
            <p:nvPr/>
          </p:nvSpPr>
          <p:spPr>
            <a:xfrm>
              <a:off x="4721575" y="3261675"/>
              <a:ext cx="3784600" cy="2209800"/>
            </a:xfrm>
            <a:custGeom>
              <a:avLst/>
              <a:gdLst/>
              <a:ahLst/>
              <a:cxnLst/>
              <a:rect l="l" t="t" r="r" b="b"/>
              <a:pathLst>
                <a:path w="151384" h="88392" extrusionOk="0">
                  <a:moveTo>
                    <a:pt x="0" y="88392"/>
                  </a:moveTo>
                  <a:lnTo>
                    <a:pt x="41656" y="508"/>
                  </a:lnTo>
                  <a:lnTo>
                    <a:pt x="151384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pic>
          <p:nvPicPr>
            <p:cNvPr id="1112" name="Google Shape;1112;p70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48700" y="3111500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70" descr="T_{firstru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648700" y="3655526"/>
              <a:ext cx="1140124" cy="40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70" descr="T_{completion}" title="MathEquation,#ff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48700" y="4800600"/>
              <a:ext cx="1468824" cy="407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15" name="Google Shape;1115;p70"/>
          <p:cNvCxnSpPr/>
          <p:nvPr/>
        </p:nvCxnSpPr>
        <p:spPr>
          <a:xfrm>
            <a:off x="4766025" y="5092125"/>
            <a:ext cx="1409700" cy="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6" name="Google Shape;1116;p70"/>
          <p:cNvSpPr/>
          <p:nvPr/>
        </p:nvSpPr>
        <p:spPr>
          <a:xfrm>
            <a:off x="2561875" y="5875925"/>
            <a:ext cx="6823200" cy="71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7" name="Google Shape;1117;p70" descr="T_{response}=T_{firstrun}-T_{arrival}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4562" y="5928300"/>
            <a:ext cx="6154524" cy="6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70" descr="T_{response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45477" y="5195373"/>
            <a:ext cx="1250798" cy="4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1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71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1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1"/>
          <p:cNvSpPr txBox="1">
            <a:spLocks noGrp="1"/>
          </p:cNvSpPr>
          <p:nvPr>
            <p:ph type="title"/>
          </p:nvPr>
        </p:nvSpPr>
        <p:spPr>
          <a:xfrm>
            <a:off x="434715" y="96038"/>
            <a:ext cx="87859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27" name="Google Shape;1127;p71"/>
          <p:cNvSpPr txBox="1">
            <a:spLocks noGrp="1"/>
          </p:cNvSpPr>
          <p:nvPr>
            <p:ph type="body" idx="1"/>
          </p:nvPr>
        </p:nvSpPr>
        <p:spPr>
          <a:xfrm>
            <a:off x="434715" y="1056200"/>
            <a:ext cx="11086335" cy="437192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Round Robin (RR)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Planificación por porciones de tiempo (</a:t>
            </a:r>
            <a:r>
              <a:rPr lang="es-ES" sz="2400" b="1" dirty="0">
                <a:latin typeface="+mn-lt"/>
              </a:rPr>
              <a:t>time </a:t>
            </a:r>
            <a:r>
              <a:rPr lang="es-ES" sz="2400" b="1" dirty="0" err="1">
                <a:latin typeface="+mn-lt"/>
              </a:rPr>
              <a:t>slicing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Ejecute un trabajo por una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porción de tiempo</a:t>
            </a:r>
            <a:r>
              <a:rPr lang="es-ES" sz="2400" dirty="0">
                <a:latin typeface="+mn-lt"/>
              </a:rPr>
              <a:t>, luego ejecute el siguiente trabajo en la cola de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procesos listos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La porción de tiempo es llamada </a:t>
            </a:r>
            <a:r>
              <a:rPr lang="es-ES" sz="2400" b="1" dirty="0">
                <a:solidFill>
                  <a:srgbClr val="9900FF"/>
                </a:solidFill>
                <a:latin typeface="+mn-lt"/>
              </a:rPr>
              <a:t>quantum</a:t>
            </a:r>
            <a:endParaRPr sz="2400" b="1" dirty="0">
              <a:solidFill>
                <a:srgbClr val="9900FF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Continúe haciendo lo mismo hasta que todos los trabajos finalicen.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duración de la porción de tiempo debe ser un </a:t>
            </a:r>
            <a:r>
              <a:rPr lang="es-ES" sz="2400" b="1" dirty="0">
                <a:latin typeface="+mn-lt"/>
              </a:rPr>
              <a:t>múltiplo</a:t>
            </a:r>
            <a:r>
              <a:rPr lang="es-ES" sz="2400" dirty="0">
                <a:latin typeface="+mn-lt"/>
              </a:rPr>
              <a:t> del periodo de </a:t>
            </a:r>
            <a:r>
              <a:rPr lang="es-ES" sz="2400" b="1" dirty="0">
                <a:latin typeface="+mn-lt"/>
              </a:rPr>
              <a:t>interrupción del timer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RR es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justo</a:t>
            </a:r>
            <a:r>
              <a:rPr lang="es-ES" sz="2400" dirty="0">
                <a:latin typeface="+mn-lt"/>
              </a:rPr>
              <a:t> (</a:t>
            </a:r>
            <a:r>
              <a:rPr lang="es-ES" sz="2400" b="1" dirty="0" err="1">
                <a:latin typeface="+mn-lt"/>
              </a:rPr>
              <a:t>fair</a:t>
            </a:r>
            <a:r>
              <a:rPr lang="es-ES" sz="2400" dirty="0">
                <a:latin typeface="+mn-lt"/>
              </a:rPr>
              <a:t>), pero tiene un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bajo desempeño</a:t>
            </a:r>
            <a:r>
              <a:rPr lang="es-ES" sz="2400" dirty="0">
                <a:latin typeface="+mn-lt"/>
              </a:rPr>
              <a:t> en </a:t>
            </a:r>
            <a:r>
              <a:rPr lang="es-ES" sz="2400" dirty="0" err="1">
                <a:latin typeface="+mn-lt"/>
              </a:rPr>
              <a:t>terminos</a:t>
            </a:r>
            <a:r>
              <a:rPr lang="es-ES" sz="2400" dirty="0">
                <a:latin typeface="+mn-lt"/>
              </a:rPr>
              <a:t> de turnaround time.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72"/>
          <p:cNvSpPr txBox="1">
            <a:spLocks noGrp="1"/>
          </p:cNvSpPr>
          <p:nvPr>
            <p:ph type="title"/>
          </p:nvPr>
        </p:nvSpPr>
        <p:spPr>
          <a:xfrm>
            <a:off x="374754" y="96038"/>
            <a:ext cx="884589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36" name="Google Shape;1136;p72"/>
          <p:cNvSpPr txBox="1">
            <a:spLocks noGrp="1"/>
          </p:cNvSpPr>
          <p:nvPr>
            <p:ph type="body" idx="1"/>
          </p:nvPr>
        </p:nvSpPr>
        <p:spPr>
          <a:xfrm>
            <a:off x="374754" y="1045550"/>
            <a:ext cx="6596671" cy="558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</a:rPr>
              <a:t>Ejemplo</a:t>
            </a:r>
            <a:r>
              <a:rPr lang="es-ES" sz="2200" dirty="0">
                <a:solidFill>
                  <a:srgbClr val="FF0000"/>
                </a:solidFill>
              </a:rPr>
              <a:t>: </a:t>
            </a:r>
            <a:endParaRPr sz="2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Tres procesos llegan a un sistema (A, B y C)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Llegan en el tiempo 0 en el orden: A - B - C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tiempo de ejecución de cada uno de los procesos es de 30 seg.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/>
              <a:t>Hallar:</a:t>
            </a:r>
            <a:endParaRPr sz="2200"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Turnaround time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Response time</a:t>
            </a: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37" name="Google Shape;1137;p72"/>
          <p:cNvGraphicFramePr/>
          <p:nvPr>
            <p:extLst>
              <p:ext uri="{D42A27DB-BD31-4B8C-83A1-F6EECF244321}">
                <p14:modId xmlns:p14="http://schemas.microsoft.com/office/powerpoint/2010/main" val="3731950668"/>
              </p:ext>
            </p:extLst>
          </p:nvPr>
        </p:nvGraphicFramePr>
        <p:xfrm>
          <a:off x="7281843" y="1345504"/>
          <a:ext cx="4409475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6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38" name="Google Shape;1138;p72"/>
          <p:cNvGrpSpPr/>
          <p:nvPr/>
        </p:nvGrpSpPr>
        <p:grpSpPr>
          <a:xfrm>
            <a:off x="4080906" y="5099950"/>
            <a:ext cx="6823200" cy="712500"/>
            <a:chOff x="3811625" y="4970775"/>
            <a:chExt cx="6823200" cy="712500"/>
          </a:xfrm>
        </p:grpSpPr>
        <p:sp>
          <p:nvSpPr>
            <p:cNvPr id="1139" name="Google Shape;1139;p72"/>
            <p:cNvSpPr/>
            <p:nvPr/>
          </p:nvSpPr>
          <p:spPr>
            <a:xfrm>
              <a:off x="3811625" y="4970775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40" name="Google Shape;1140;p72" descr="T_{response}=T_{firstrun}-T_{arrival}" title="MathEquation,#00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33125" y="5045725"/>
              <a:ext cx="5925926" cy="585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1" name="Google Shape;1141;p72"/>
          <p:cNvGrpSpPr/>
          <p:nvPr/>
        </p:nvGrpSpPr>
        <p:grpSpPr>
          <a:xfrm>
            <a:off x="4091444" y="3962757"/>
            <a:ext cx="6823200" cy="712500"/>
            <a:chOff x="3785725" y="5799713"/>
            <a:chExt cx="6823200" cy="712500"/>
          </a:xfrm>
        </p:grpSpPr>
        <p:sp>
          <p:nvSpPr>
            <p:cNvPr id="1142" name="Google Shape;1142;p72"/>
            <p:cNvSpPr/>
            <p:nvPr/>
          </p:nvSpPr>
          <p:spPr>
            <a:xfrm>
              <a:off x="3785725" y="5799713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43" name="Google Shape;1143;p72" descr="T_{turnarround}=T_{completion}-T_{arrival}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90575" y="5892825"/>
              <a:ext cx="6392424" cy="519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7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52" name="Google Shape;1152;p73"/>
          <p:cNvSpPr txBox="1">
            <a:spLocks noGrp="1"/>
          </p:cNvSpPr>
          <p:nvPr>
            <p:ph type="body" idx="1"/>
          </p:nvPr>
        </p:nvSpPr>
        <p:spPr>
          <a:xfrm>
            <a:off x="800625" y="1173175"/>
            <a:ext cx="6147600" cy="25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</a:rPr>
              <a:t>Ejemplo</a:t>
            </a:r>
            <a:r>
              <a:rPr lang="es-ES" sz="2200" dirty="0">
                <a:solidFill>
                  <a:srgbClr val="FF0000"/>
                </a:solidFill>
              </a:rPr>
              <a:t>: </a:t>
            </a:r>
            <a:endParaRPr sz="2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Tres procesos llegan a un sistema (A, B y C)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Llegan en el tiempo 0 en el orden: A - B - C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tiempo de ejecución de cada uno de los procesos es de 30 seg.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53" name="Google Shape;1153;p73"/>
          <p:cNvGraphicFramePr/>
          <p:nvPr/>
        </p:nvGraphicFramePr>
        <p:xfrm>
          <a:off x="7041975" y="1681575"/>
          <a:ext cx="4409475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4" name="Google Shape;1154;p73"/>
          <p:cNvSpPr txBox="1"/>
          <p:nvPr/>
        </p:nvSpPr>
        <p:spPr>
          <a:xfrm>
            <a:off x="916650" y="3646675"/>
            <a:ext cx="1060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Calcule el turnaround time y el response time empleando el </a:t>
            </a:r>
            <a:r>
              <a:rPr lang="es-ES" sz="2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Algoritmo SJF</a:t>
            </a:r>
            <a:r>
              <a:rPr lang="es-ES" sz="2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 (SJF)</a:t>
            </a:r>
            <a:endParaRPr dirty="0"/>
          </a:p>
        </p:txBody>
      </p:sp>
      <p:graphicFrame>
        <p:nvGraphicFramePr>
          <p:cNvPr id="1164" name="Google Shape;1164;p74"/>
          <p:cNvGraphicFramePr/>
          <p:nvPr>
            <p:extLst>
              <p:ext uri="{D42A27DB-BD31-4B8C-83A1-F6EECF244321}">
                <p14:modId xmlns:p14="http://schemas.microsoft.com/office/powerpoint/2010/main" val="3147612132"/>
              </p:ext>
            </p:extLst>
          </p:nvPr>
        </p:nvGraphicFramePr>
        <p:xfrm>
          <a:off x="7358609" y="1174135"/>
          <a:ext cx="4409475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</a:rPr>
                        <a:t>Proceso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</a:rPr>
                        <a:t>Run-time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B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30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C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30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9" name="Grupo 18">
            <a:extLst>
              <a:ext uri="{FF2B5EF4-FFF2-40B4-BE49-F238E27FC236}">
                <a16:creationId xmlns:a16="http://schemas.microsoft.com/office/drawing/2014/main" id="{E9DC3704-8A8A-4886-B4E9-BCEFCFE00EC3}"/>
              </a:ext>
            </a:extLst>
          </p:cNvPr>
          <p:cNvGrpSpPr/>
          <p:nvPr/>
        </p:nvGrpSpPr>
        <p:grpSpPr>
          <a:xfrm>
            <a:off x="1059899" y="1174135"/>
            <a:ext cx="5466824" cy="1206174"/>
            <a:chOff x="3022600" y="4414559"/>
            <a:chExt cx="5466824" cy="1206174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C1D4156-68BF-4A26-855E-44EA037DA680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8C14A73E-EA13-4B0C-8CAB-8EB0C6CCB37D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7EA4D1A-E1A7-4F70-893A-0A67C1776A05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7462714B-5381-42C3-BACD-D5CAC5F20AC4}"/>
                </a:ext>
              </a:extLst>
            </p:cNvPr>
            <p:cNvCxnSpPr>
              <a:endCxn id="30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A29D325B-D120-496E-970D-816A92081CA0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4899E8BA-37A7-4401-AF3C-87CC059AA2AB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98E416B-15D2-4935-85A2-35A41CF99E70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E035C183-51A4-4A7C-BD46-274DCE5A6FA2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27" name="Conector recto 26">
                  <a:extLst>
                    <a:ext uri="{FF2B5EF4-FFF2-40B4-BE49-F238E27FC236}">
                      <a16:creationId xmlns:a16="http://schemas.microsoft.com/office/drawing/2014/main" id="{A03A0FF5-9481-46D8-8660-AF09A57902AC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ector recto 27">
                  <a:extLst>
                    <a:ext uri="{FF2B5EF4-FFF2-40B4-BE49-F238E27FC236}">
                      <a16:creationId xmlns:a16="http://schemas.microsoft.com/office/drawing/2014/main" id="{43AEE512-391D-49FA-9F52-967F54E88F6F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ector recto 28">
                  <a:extLst>
                    <a:ext uri="{FF2B5EF4-FFF2-40B4-BE49-F238E27FC236}">
                      <a16:creationId xmlns:a16="http://schemas.microsoft.com/office/drawing/2014/main" id="{095D8911-DCFF-4255-9F73-066EB0B72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CE3503DB-F0C4-4E88-9ECB-5FD246631D99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7015188-8BFA-4D14-A382-E8ECD56EB8A8}"/>
              </a:ext>
            </a:extLst>
          </p:cNvPr>
          <p:cNvGrpSpPr/>
          <p:nvPr/>
        </p:nvGrpSpPr>
        <p:grpSpPr>
          <a:xfrm>
            <a:off x="1321384" y="4074230"/>
            <a:ext cx="9828360" cy="1415826"/>
            <a:chOff x="739934" y="5150492"/>
            <a:chExt cx="9828360" cy="1415826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963C6911-C139-40F4-B3B3-9684F1FD1CFD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64" name="Conector recto de flecha 63">
                <a:extLst>
                  <a:ext uri="{FF2B5EF4-FFF2-40B4-BE49-F238E27FC236}">
                    <a16:creationId xmlns:a16="http://schemas.microsoft.com/office/drawing/2014/main" id="{F7D867F3-C126-4653-9EA2-BFBD91B8B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de flecha 64">
                <a:extLst>
                  <a:ext uri="{FF2B5EF4-FFF2-40B4-BE49-F238E27FC236}">
                    <a16:creationId xmlns:a16="http://schemas.microsoft.com/office/drawing/2014/main" id="{64D092B4-790D-40E8-9B60-2CD8F9A5A0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31AA441C-6365-4B5C-AE9C-AF9016748030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9B08C043-AED5-43B8-B704-B8E51EDE1EB7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4BE37250-8464-476C-8562-790830041373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FDC2F36F-3FBD-459B-AE38-E8B77D389F93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86D4087-6061-44CC-90CF-0A82816F66A5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9665A616-553C-48C1-8DCB-29CA5B3F7BA7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F86FD3E-2DA0-46B9-9075-62FB2A92C778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0CAD132-1AC4-4635-9731-5AC8533DED98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E8792154-13F0-4BD8-BA88-C16F1436D6CF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1C7AA82-75B7-45F8-A681-3B8F0B58F219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90BA1CDB-1241-4148-8DFE-2BFC42415C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99F7F159-D4F8-4819-B11B-0C8974550676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FA61A7D8-6B99-4D57-85D4-C3260FDC73A5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730E7AF-C9B3-49B8-9B3F-9DE07255DAE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081E4221-4972-41C6-9A95-BE945BE16921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ACCAE08-2EC5-4726-A2E2-69E0216D933B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F3B22F5-B97F-4B30-B6F4-58220DD2F508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F8A4236D-8226-4C11-8103-44E4E48F3FC3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1008FE46-003E-4031-B5A3-E768B0BF2EC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0120E05F-D908-40B9-9573-70CE1C82F8B0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D75D5BAB-ADD8-488A-84AF-FAD63940EB6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358432C8-F34F-4303-B984-5BCEA7E18579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3320794-EA59-4307-8EAE-FCC341EB382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CC47D743-5C01-4489-8B16-C3731F657B92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0AFF622-C449-4CBE-85F1-C23FC5C940C1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5F9345E2-81AC-48A9-859F-C13D5354CD87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47A6CDE2-2123-49D0-B02B-9243B5822946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770196B2-BD48-4514-A091-4D250AE07B8A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8FA9E25C-35C9-4429-B336-42DFE75E6E73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9C013AC6-A36A-4005-AC2B-8BCE3F3B2BAC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 (SJF)</a:t>
            </a:r>
            <a:endParaRPr dirty="0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D73448D6-5958-4BA2-85EF-184DA79DE1B8}"/>
              </a:ext>
            </a:extLst>
          </p:cNvPr>
          <p:cNvGrpSpPr/>
          <p:nvPr/>
        </p:nvGrpSpPr>
        <p:grpSpPr>
          <a:xfrm>
            <a:off x="269719" y="2013174"/>
            <a:ext cx="9195368" cy="1415826"/>
            <a:chOff x="1372926" y="5150492"/>
            <a:chExt cx="9195368" cy="1415826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C8149EFC-4B4A-4133-A795-76BB12BC11C9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97" name="Conector recto de flecha 96">
                <a:extLst>
                  <a:ext uri="{FF2B5EF4-FFF2-40B4-BE49-F238E27FC236}">
                    <a16:creationId xmlns:a16="http://schemas.microsoft.com/office/drawing/2014/main" id="{941C7A57-C2B3-4BB8-8057-C96E6FCF2F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de flecha 97">
                <a:extLst>
                  <a:ext uri="{FF2B5EF4-FFF2-40B4-BE49-F238E27FC236}">
                    <a16:creationId xmlns:a16="http://schemas.microsoft.com/office/drawing/2014/main" id="{09EC906D-3834-4252-9E7E-BCFF8D5270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DA74DACE-B3E5-4871-8A06-877079EF1F1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F206598A-CE1E-461D-AE19-C9E85DA67473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94F148A5-DCA2-407B-A007-8442311F1096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720681EC-0891-4AF3-A832-0976536C8F53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8C9CFEE9-94C2-424B-A7A3-D88303794E2A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8E434F92-58BD-4294-B2BE-B163A26B4B84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C08ED36C-7244-4B4B-BCB3-B80A7A8401CD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86474A0C-B14D-401E-AA64-B6169540EDF7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A7CC313B-4490-46BC-A7CA-D95185F5BAED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44EF4565-A676-48A9-A426-3D9FD62AF7E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67858CF6-7D66-4750-AA9E-1DE045E91463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FB945F2A-CC44-42FD-96DD-14D889E04EDC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C56F5AE6-AA30-400C-B643-8191BFED315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29441114-EA86-4177-9C15-FD394B8CC3E9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FF4E32F4-C87A-492B-B990-FD7F33E1B9BE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3492A234-FAAE-4734-BB82-5CA154C91898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4EFBA81D-B963-4F28-8C7D-0410C214586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1E9978C4-95DD-41D8-8169-77A4209284BE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95F1DBF9-1200-4A71-BF1C-A504B7F8018D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C4EB2DDA-A66D-41C1-9491-2EE141907110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C3974E5F-0B46-487A-A299-07CF27190EBF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A74BEA7D-841A-478F-BCB9-D5ECA84FD874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16DBB0B6-510F-42B2-A3CA-BF88BB13FE6B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BB06C86F-5FAE-4BE6-9C45-166067C3A337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8C8381A0-3434-4259-9DAD-70DADF3B280B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A014FBDB-7BE1-4618-BB79-4260654F8AAC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0F1FCD38-8751-40D6-9A16-688DD400A5AB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2E9C1998-0B24-4EF0-A023-6CC1E790B502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DBDD4D44-0CE8-4227-A453-48BAF72CEAA3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9" name="Tabla 4">
                <a:extLst>
                  <a:ext uri="{FF2B5EF4-FFF2-40B4-BE49-F238E27FC236}">
                    <a16:creationId xmlns:a16="http://schemas.microsoft.com/office/drawing/2014/main" id="{F7D7847D-1925-4B77-8D7F-B0AD5F3A76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7831763"/>
                  </p:ext>
                </p:extLst>
              </p:nvPr>
            </p:nvGraphicFramePr>
            <p:xfrm>
              <a:off x="8162255" y="4404167"/>
              <a:ext cx="339639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32132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373627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𝒓𝒆𝒔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9" name="Tabla 4">
                <a:extLst>
                  <a:ext uri="{FF2B5EF4-FFF2-40B4-BE49-F238E27FC236}">
                    <a16:creationId xmlns:a16="http://schemas.microsoft.com/office/drawing/2014/main" id="{F7D7847D-1925-4B77-8D7F-B0AD5F3A76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7831763"/>
                  </p:ext>
                </p:extLst>
              </p:nvPr>
            </p:nvGraphicFramePr>
            <p:xfrm>
              <a:off x="8162255" y="4404167"/>
              <a:ext cx="339639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32132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373627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9465" t="-8197" r="-10000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538" t="-8197" r="-538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32265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7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7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7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82" name="Google Shape;1182;p75"/>
          <p:cNvSpPr txBox="1">
            <a:spLocks noGrp="1"/>
          </p:cNvSpPr>
          <p:nvPr>
            <p:ph type="body" idx="1"/>
          </p:nvPr>
        </p:nvSpPr>
        <p:spPr>
          <a:xfrm>
            <a:off x="800625" y="1173175"/>
            <a:ext cx="6147600" cy="25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</a:rPr>
              <a:t>Ejemplo</a:t>
            </a:r>
            <a:r>
              <a:rPr lang="es-ES" sz="2200" dirty="0">
                <a:solidFill>
                  <a:srgbClr val="FF0000"/>
                </a:solidFill>
              </a:rPr>
              <a:t>: </a:t>
            </a:r>
            <a:endParaRPr sz="2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Tres procesos llegan a un sistema (A, B y C)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Llegan en el tiempo 0 en el orden: A - B - C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tiempo de ejecución de cada uno de los procesos es de 30 seg.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83" name="Google Shape;1183;p75"/>
          <p:cNvGraphicFramePr/>
          <p:nvPr>
            <p:extLst>
              <p:ext uri="{D42A27DB-BD31-4B8C-83A1-F6EECF244321}">
                <p14:modId xmlns:p14="http://schemas.microsoft.com/office/powerpoint/2010/main" val="1750291241"/>
              </p:ext>
            </p:extLst>
          </p:nvPr>
        </p:nvGraphicFramePr>
        <p:xfrm>
          <a:off x="7041975" y="1681575"/>
          <a:ext cx="4409475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6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84" name="Google Shape;1184;p75"/>
          <p:cNvSpPr txBox="1"/>
          <p:nvPr/>
        </p:nvSpPr>
        <p:spPr>
          <a:xfrm>
            <a:off x="916650" y="3646675"/>
            <a:ext cx="10609500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Calcule el turnaround time y el response time empleando el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Algoritmo RR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con un quantum de 10 seg.</a:t>
            </a:r>
            <a:endParaRPr dirty="0">
              <a:ea typeface="Roboto"/>
              <a:cs typeface="Roboto"/>
              <a:sym typeface="Roboto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20AD26-74EC-4922-B978-9BD4ABE4B2A2}"/>
              </a:ext>
            </a:extLst>
          </p:cNvPr>
          <p:cNvGrpSpPr/>
          <p:nvPr/>
        </p:nvGrpSpPr>
        <p:grpSpPr>
          <a:xfrm>
            <a:off x="2663847" y="4783298"/>
            <a:ext cx="5466824" cy="1206174"/>
            <a:chOff x="2663847" y="4783298"/>
            <a:chExt cx="5466824" cy="1206174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5BD337DC-A7CE-41C0-A45F-B8FC755DC5D6}"/>
                </a:ext>
              </a:extLst>
            </p:cNvPr>
            <p:cNvGrpSpPr/>
            <p:nvPr/>
          </p:nvGrpSpPr>
          <p:grpSpPr>
            <a:xfrm>
              <a:off x="2663847" y="4783298"/>
              <a:ext cx="5466824" cy="1206174"/>
              <a:chOff x="3022600" y="4414559"/>
              <a:chExt cx="5466824" cy="1206174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A18B1861-33CA-40B6-A462-04845653207F}"/>
                  </a:ext>
                </a:extLst>
              </p:cNvPr>
              <p:cNvGrpSpPr/>
              <p:nvPr/>
            </p:nvGrpSpPr>
            <p:grpSpPr>
              <a:xfrm>
                <a:off x="7615227" y="4425731"/>
                <a:ext cx="874197" cy="1195002"/>
                <a:chOff x="1620690" y="2501644"/>
                <a:chExt cx="874197" cy="1195002"/>
              </a:xfrm>
            </p:grpSpPr>
            <p:sp>
              <p:nvSpPr>
                <p:cNvPr id="20" name="Rectángulo 19">
                  <a:extLst>
                    <a:ext uri="{FF2B5EF4-FFF2-40B4-BE49-F238E27FC236}">
                      <a16:creationId xmlns:a16="http://schemas.microsoft.com/office/drawing/2014/main" id="{B9A68FB2-9C69-417D-B70F-78B3401D715F}"/>
                    </a:ext>
                  </a:extLst>
                </p:cNvPr>
                <p:cNvSpPr/>
                <p:nvPr/>
              </p:nvSpPr>
              <p:spPr>
                <a:xfrm>
                  <a:off x="1620690" y="2870976"/>
                  <a:ext cx="874197" cy="82567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8442B641-B369-49F4-A1C6-07FB2CB57A00}"/>
                    </a:ext>
                  </a:extLst>
                </p:cNvPr>
                <p:cNvSpPr txBox="1"/>
                <p:nvPr/>
              </p:nvSpPr>
              <p:spPr>
                <a:xfrm>
                  <a:off x="1798994" y="2501644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CPU</a:t>
                  </a:r>
                </a:p>
              </p:txBody>
            </p:sp>
          </p:grp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C4055400-3C30-4DB4-ABB9-5111840B6255}"/>
                  </a:ext>
                </a:extLst>
              </p:cNvPr>
              <p:cNvCxnSpPr>
                <a:endCxn id="20" idx="1"/>
              </p:cNvCxnSpPr>
              <p:nvPr/>
            </p:nvCxnSpPr>
            <p:spPr>
              <a:xfrm>
                <a:off x="6412680" y="5205105"/>
                <a:ext cx="1202547" cy="27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: angular 11">
                <a:extLst>
                  <a:ext uri="{FF2B5EF4-FFF2-40B4-BE49-F238E27FC236}">
                    <a16:creationId xmlns:a16="http://schemas.microsoft.com/office/drawing/2014/main" id="{32303351-BF1F-4E22-A2EB-94315B3DB34A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rot="5400000" flipH="1">
                <a:off x="5856654" y="3425061"/>
                <a:ext cx="182038" cy="4209306"/>
              </a:xfrm>
              <a:prstGeom prst="bentConnector4">
                <a:avLst>
                  <a:gd name="adj1" fmla="val -216274"/>
                  <a:gd name="adj2" fmla="val 10642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211C2323-995C-4E3F-98A8-634DD44A3855}"/>
                  </a:ext>
                </a:extLst>
              </p:cNvPr>
              <p:cNvCxnSpPr/>
              <p:nvPr/>
            </p:nvCxnSpPr>
            <p:spPr>
              <a:xfrm>
                <a:off x="3022600" y="5034835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5D9D720B-331A-4124-97D2-477C71096C89}"/>
                  </a:ext>
                </a:extLst>
              </p:cNvPr>
              <p:cNvGrpSpPr/>
              <p:nvPr/>
            </p:nvGrpSpPr>
            <p:grpSpPr>
              <a:xfrm>
                <a:off x="3934951" y="4414559"/>
                <a:ext cx="2480084" cy="1206174"/>
                <a:chOff x="3934951" y="4414559"/>
                <a:chExt cx="2480084" cy="1206174"/>
              </a:xfrm>
            </p:grpSpPr>
            <p:grpSp>
              <p:nvGrpSpPr>
                <p:cNvPr id="15" name="Grupo 14">
                  <a:extLst>
                    <a:ext uri="{FF2B5EF4-FFF2-40B4-BE49-F238E27FC236}">
                      <a16:creationId xmlns:a16="http://schemas.microsoft.com/office/drawing/2014/main" id="{F9C200C5-A351-422A-8188-9F7DB023F901}"/>
                    </a:ext>
                  </a:extLst>
                </p:cNvPr>
                <p:cNvGrpSpPr/>
                <p:nvPr/>
              </p:nvGrpSpPr>
              <p:grpSpPr>
                <a:xfrm>
                  <a:off x="3934951" y="4789478"/>
                  <a:ext cx="2480084" cy="831255"/>
                  <a:chOff x="3934951" y="4789478"/>
                  <a:chExt cx="2480084" cy="831255"/>
                </a:xfrm>
              </p:grpSpPr>
              <p:cxnSp>
                <p:nvCxnSpPr>
                  <p:cNvPr id="17" name="Conector recto 16">
                    <a:extLst>
                      <a:ext uri="{FF2B5EF4-FFF2-40B4-BE49-F238E27FC236}">
                        <a16:creationId xmlns:a16="http://schemas.microsoft.com/office/drawing/2014/main" id="{9A543B1D-C72D-4E4D-A436-D2F39DABDC40}"/>
                      </a:ext>
                    </a:extLst>
                  </p:cNvPr>
                  <p:cNvCxnSpPr/>
                  <p:nvPr/>
                </p:nvCxnSpPr>
                <p:spPr>
                  <a:xfrm>
                    <a:off x="3934952" y="4795063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Conector recto 17">
                    <a:extLst>
                      <a:ext uri="{FF2B5EF4-FFF2-40B4-BE49-F238E27FC236}">
                        <a16:creationId xmlns:a16="http://schemas.microsoft.com/office/drawing/2014/main" id="{EC1D6964-E4AA-4783-98F1-ACB2EFB20191}"/>
                      </a:ext>
                    </a:extLst>
                  </p:cNvPr>
                  <p:cNvCxnSpPr/>
                  <p:nvPr/>
                </p:nvCxnSpPr>
                <p:spPr>
                  <a:xfrm>
                    <a:off x="3934951" y="5609561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Conector recto 18">
                    <a:extLst>
                      <a:ext uri="{FF2B5EF4-FFF2-40B4-BE49-F238E27FC236}">
                        <a16:creationId xmlns:a16="http://schemas.microsoft.com/office/drawing/2014/main" id="{F5930697-8E5F-4C2B-9AE1-830A7201A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15035" y="4789478"/>
                    <a:ext cx="0" cy="83125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51F842C1-27B4-4D0C-8D78-9CA5DBAE1035}"/>
                    </a:ext>
                  </a:extLst>
                </p:cNvPr>
                <p:cNvSpPr txBox="1"/>
                <p:nvPr/>
              </p:nvSpPr>
              <p:spPr>
                <a:xfrm>
                  <a:off x="4853698" y="4414559"/>
                  <a:ext cx="772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Ready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E06CF22F-59C2-4F5D-95C3-FFF6C6DDC794}"/>
                    </a:ext>
                  </a:extLst>
                </p:cNvPr>
                <p:cNvSpPr txBox="1"/>
                <p:nvPr/>
              </p:nvSpPr>
              <p:spPr>
                <a:xfrm>
                  <a:off x="6505777" y="5265074"/>
                  <a:ext cx="3390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E06CF22F-59C2-4F5D-95C3-FFF6C6DDC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5777" y="5265074"/>
                  <a:ext cx="33906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6071" b="-666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76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76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76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93" name="Google Shape;1193;p76"/>
          <p:cNvSpPr txBox="1">
            <a:spLocks noGrp="1"/>
          </p:cNvSpPr>
          <p:nvPr>
            <p:ph type="body" idx="1"/>
          </p:nvPr>
        </p:nvSpPr>
        <p:spPr>
          <a:xfrm>
            <a:off x="1121450" y="952700"/>
            <a:ext cx="4656600" cy="57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Algoritmo RR (quantum = 10)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94" name="Google Shape;1194;p76"/>
          <p:cNvGraphicFramePr/>
          <p:nvPr>
            <p:extLst>
              <p:ext uri="{D42A27DB-BD31-4B8C-83A1-F6EECF244321}">
                <p14:modId xmlns:p14="http://schemas.microsoft.com/office/powerpoint/2010/main" val="2036683863"/>
              </p:ext>
            </p:extLst>
          </p:nvPr>
        </p:nvGraphicFramePr>
        <p:xfrm>
          <a:off x="7437146" y="1529600"/>
          <a:ext cx="4409475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</a:rPr>
                        <a:t>Proceso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</a:rPr>
                        <a:t>Run-time</a:t>
                      </a:r>
                      <a:endParaRPr sz="16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B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30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C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30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E0E286C4-4A54-44A1-AFBB-B54378AC6F15}"/>
              </a:ext>
            </a:extLst>
          </p:cNvPr>
          <p:cNvGrpSpPr/>
          <p:nvPr/>
        </p:nvGrpSpPr>
        <p:grpSpPr>
          <a:xfrm>
            <a:off x="1304092" y="4970526"/>
            <a:ext cx="9828360" cy="1415826"/>
            <a:chOff x="739934" y="5150492"/>
            <a:chExt cx="9828360" cy="1415826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7DF54BAF-FA3F-42D0-BE07-60A1F45B495A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42" name="Conector recto de flecha 41">
                <a:extLst>
                  <a:ext uri="{FF2B5EF4-FFF2-40B4-BE49-F238E27FC236}">
                    <a16:creationId xmlns:a16="http://schemas.microsoft.com/office/drawing/2014/main" id="{30EBABF9-3168-4D93-98FD-66B134D6A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de flecha 42">
                <a:extLst>
                  <a:ext uri="{FF2B5EF4-FFF2-40B4-BE49-F238E27FC236}">
                    <a16:creationId xmlns:a16="http://schemas.microsoft.com/office/drawing/2014/main" id="{C80D2C18-AB05-43EC-A2DB-0CD811C6EC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999D3B75-BDB7-4C69-A57F-8F01A3E5DEC3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C658AF0-9C01-4444-979E-D7D93AAE4A06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A8BCAA8-8B36-4F85-AEFE-565DDB1D35A2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A214495A-4359-4FB9-8FDF-A36BC5E69DA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83576C0E-A304-4E54-8781-5A2C42137FBC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1C8E163E-F50D-48F0-9624-727ED341FAC1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AE98451-4B63-420D-9093-E5933B7C861C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DD40C009-38BC-44CE-AF64-65549C5C88E8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72048DE-D4C0-45D9-91B9-FB498280AE3F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53BD7322-D630-4B8C-9FCA-62A9EDFE63A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FF3BEFE-C305-4673-9483-DF4864593D1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01A10C47-16B8-4D5E-BA49-FB0244CFE0BA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38034878-8513-4DEB-B0B5-2F9C09F64DBD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2F29F9C-506F-43B0-815A-D7EC42B3385A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E4530C7-0B29-42BF-BCAA-4E49510E11A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FC256D0-75CE-428B-A29E-FA4C7DC3159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9D95E7B-46AA-412C-B10A-D51B7F61A4AB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4261E1BD-CED6-4404-A2A3-7EB4707FA2A7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55DC3C5-5281-418E-8443-5C4907F9FF38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96F8468A-4C06-4ED4-9CCA-810AA41CA516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776A0238-532A-454C-BB25-4218D19AD4AC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7A494F44-2E0D-4607-BAD7-79DB73C43961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3402E164-E647-409C-B180-92FED0691340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B591A2E-FA0A-4B5A-A84A-41A674C44BA1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BF5D793-3F3E-4135-BA29-7F5D3BF78314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3F02BBC1-6690-48E1-8048-B75B77CFD141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87B5C04-0CC2-446E-BE73-5ECEF0FABADA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A26063E-D896-4AF5-B104-3C45F47922B2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CF08B774-961A-485F-800F-91242D7E690E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9DACA7F-083B-43D1-8C94-E1D14EA4F46D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594462C6-FDB8-4168-8C08-B125113F514F}"/>
              </a:ext>
            </a:extLst>
          </p:cNvPr>
          <p:cNvGrpSpPr/>
          <p:nvPr/>
        </p:nvGrpSpPr>
        <p:grpSpPr>
          <a:xfrm>
            <a:off x="970275" y="1708093"/>
            <a:ext cx="5466824" cy="1206174"/>
            <a:chOff x="2663847" y="4783298"/>
            <a:chExt cx="5466824" cy="1206174"/>
          </a:xfrm>
        </p:grpSpPr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820ADA6A-540A-46AF-8978-3FE14DC8AE7B}"/>
                </a:ext>
              </a:extLst>
            </p:cNvPr>
            <p:cNvGrpSpPr/>
            <p:nvPr/>
          </p:nvGrpSpPr>
          <p:grpSpPr>
            <a:xfrm>
              <a:off x="2663847" y="4783298"/>
              <a:ext cx="5466824" cy="1206174"/>
              <a:chOff x="3022600" y="4414559"/>
              <a:chExt cx="5466824" cy="1206174"/>
            </a:xfrm>
          </p:grpSpPr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EB3D189D-0B62-480B-89BD-A35DF4F4A387}"/>
                  </a:ext>
                </a:extLst>
              </p:cNvPr>
              <p:cNvGrpSpPr/>
              <p:nvPr/>
            </p:nvGrpSpPr>
            <p:grpSpPr>
              <a:xfrm>
                <a:off x="7615227" y="4425731"/>
                <a:ext cx="874197" cy="1195002"/>
                <a:chOff x="1620690" y="2501644"/>
                <a:chExt cx="874197" cy="1195002"/>
              </a:xfrm>
            </p:grpSpPr>
            <p:sp>
              <p:nvSpPr>
                <p:cNvPr id="57" name="Rectángulo 56">
                  <a:extLst>
                    <a:ext uri="{FF2B5EF4-FFF2-40B4-BE49-F238E27FC236}">
                      <a16:creationId xmlns:a16="http://schemas.microsoft.com/office/drawing/2014/main" id="{796EF431-C509-460E-8BCC-D286D2D0CE2A}"/>
                    </a:ext>
                  </a:extLst>
                </p:cNvPr>
                <p:cNvSpPr/>
                <p:nvPr/>
              </p:nvSpPr>
              <p:spPr>
                <a:xfrm>
                  <a:off x="1620690" y="2870976"/>
                  <a:ext cx="874197" cy="82567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CA2749E9-7F61-4394-804E-F06289C8E0D5}"/>
                    </a:ext>
                  </a:extLst>
                </p:cNvPr>
                <p:cNvSpPr txBox="1"/>
                <p:nvPr/>
              </p:nvSpPr>
              <p:spPr>
                <a:xfrm>
                  <a:off x="1798994" y="2501644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CPU</a:t>
                  </a:r>
                </a:p>
              </p:txBody>
            </p:sp>
          </p:grpSp>
          <p:cxnSp>
            <p:nvCxnSpPr>
              <p:cNvPr id="48" name="Conector recto de flecha 47">
                <a:extLst>
                  <a:ext uri="{FF2B5EF4-FFF2-40B4-BE49-F238E27FC236}">
                    <a16:creationId xmlns:a16="http://schemas.microsoft.com/office/drawing/2014/main" id="{C3B2E1A6-6C31-4741-B960-371F43EA1FEC}"/>
                  </a:ext>
                </a:extLst>
              </p:cNvPr>
              <p:cNvCxnSpPr>
                <a:endCxn id="57" idx="1"/>
              </p:cNvCxnSpPr>
              <p:nvPr/>
            </p:nvCxnSpPr>
            <p:spPr>
              <a:xfrm>
                <a:off x="6412680" y="5205105"/>
                <a:ext cx="1202547" cy="27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: angular 48">
                <a:extLst>
                  <a:ext uri="{FF2B5EF4-FFF2-40B4-BE49-F238E27FC236}">
                    <a16:creationId xmlns:a16="http://schemas.microsoft.com/office/drawing/2014/main" id="{1E88ACF7-5EB7-49FD-9BED-8AD1C4766E45}"/>
                  </a:ext>
                </a:extLst>
              </p:cNvPr>
              <p:cNvCxnSpPr>
                <a:cxnSpLocks/>
                <a:stCxn id="57" idx="2"/>
              </p:cNvCxnSpPr>
              <p:nvPr/>
            </p:nvCxnSpPr>
            <p:spPr>
              <a:xfrm rot="5400000" flipH="1">
                <a:off x="5856654" y="3425061"/>
                <a:ext cx="182038" cy="4209306"/>
              </a:xfrm>
              <a:prstGeom prst="bentConnector4">
                <a:avLst>
                  <a:gd name="adj1" fmla="val -216274"/>
                  <a:gd name="adj2" fmla="val 10642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de flecha 49">
                <a:extLst>
                  <a:ext uri="{FF2B5EF4-FFF2-40B4-BE49-F238E27FC236}">
                    <a16:creationId xmlns:a16="http://schemas.microsoft.com/office/drawing/2014/main" id="{4EBAB2BF-ED44-43C0-AE99-B1048A18DACE}"/>
                  </a:ext>
                </a:extLst>
              </p:cNvPr>
              <p:cNvCxnSpPr/>
              <p:nvPr/>
            </p:nvCxnSpPr>
            <p:spPr>
              <a:xfrm>
                <a:off x="3022600" y="5034835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upo 50">
                <a:extLst>
                  <a:ext uri="{FF2B5EF4-FFF2-40B4-BE49-F238E27FC236}">
                    <a16:creationId xmlns:a16="http://schemas.microsoft.com/office/drawing/2014/main" id="{BF7D6EF5-72AA-4494-BDB1-5E3E7F3F0F9A}"/>
                  </a:ext>
                </a:extLst>
              </p:cNvPr>
              <p:cNvGrpSpPr/>
              <p:nvPr/>
            </p:nvGrpSpPr>
            <p:grpSpPr>
              <a:xfrm>
                <a:off x="3934951" y="4414559"/>
                <a:ext cx="2480084" cy="1206174"/>
                <a:chOff x="3934951" y="4414559"/>
                <a:chExt cx="2480084" cy="1206174"/>
              </a:xfrm>
            </p:grpSpPr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D13C6F9F-A260-4F56-9C8D-4785335F6B24}"/>
                    </a:ext>
                  </a:extLst>
                </p:cNvPr>
                <p:cNvGrpSpPr/>
                <p:nvPr/>
              </p:nvGrpSpPr>
              <p:grpSpPr>
                <a:xfrm>
                  <a:off x="3934951" y="4789478"/>
                  <a:ext cx="2480084" cy="831255"/>
                  <a:chOff x="3934951" y="4789478"/>
                  <a:chExt cx="2480084" cy="831255"/>
                </a:xfrm>
              </p:grpSpPr>
              <p:cxnSp>
                <p:nvCxnSpPr>
                  <p:cNvPr id="54" name="Conector recto 53">
                    <a:extLst>
                      <a:ext uri="{FF2B5EF4-FFF2-40B4-BE49-F238E27FC236}">
                        <a16:creationId xmlns:a16="http://schemas.microsoft.com/office/drawing/2014/main" id="{697319D2-A705-4E93-B7C4-7F1B34CCB89F}"/>
                      </a:ext>
                    </a:extLst>
                  </p:cNvPr>
                  <p:cNvCxnSpPr/>
                  <p:nvPr/>
                </p:nvCxnSpPr>
                <p:spPr>
                  <a:xfrm>
                    <a:off x="3934952" y="4795063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Conector recto 54">
                    <a:extLst>
                      <a:ext uri="{FF2B5EF4-FFF2-40B4-BE49-F238E27FC236}">
                        <a16:creationId xmlns:a16="http://schemas.microsoft.com/office/drawing/2014/main" id="{DC082C6F-9CC5-4747-A323-8EAA96B6689F}"/>
                      </a:ext>
                    </a:extLst>
                  </p:cNvPr>
                  <p:cNvCxnSpPr/>
                  <p:nvPr/>
                </p:nvCxnSpPr>
                <p:spPr>
                  <a:xfrm>
                    <a:off x="3934951" y="5609561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Conector recto 55">
                    <a:extLst>
                      <a:ext uri="{FF2B5EF4-FFF2-40B4-BE49-F238E27FC236}">
                        <a16:creationId xmlns:a16="http://schemas.microsoft.com/office/drawing/2014/main" id="{203BC1DB-DC60-45F2-B59E-ADC7F6FE56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15035" y="4789478"/>
                    <a:ext cx="0" cy="83125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99CC0B6D-C1E1-42A0-AF3A-8D7FA7FCAF36}"/>
                    </a:ext>
                  </a:extLst>
                </p:cNvPr>
                <p:cNvSpPr txBox="1"/>
                <p:nvPr/>
              </p:nvSpPr>
              <p:spPr>
                <a:xfrm>
                  <a:off x="4853698" y="4414559"/>
                  <a:ext cx="772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Ready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FA101206-1453-4ACC-8BF5-9FF22902F233}"/>
                    </a:ext>
                  </a:extLst>
                </p:cNvPr>
                <p:cNvSpPr txBox="1"/>
                <p:nvPr/>
              </p:nvSpPr>
              <p:spPr>
                <a:xfrm>
                  <a:off x="6505777" y="5265074"/>
                  <a:ext cx="3390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FA101206-1453-4ACC-8BF5-9FF22902F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5777" y="5265074"/>
                  <a:ext cx="33906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6071" b="-652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9" name="Google Shape;1193;p76">
            <a:extLst>
              <a:ext uri="{FF2B5EF4-FFF2-40B4-BE49-F238E27FC236}">
                <a16:creationId xmlns:a16="http://schemas.microsoft.com/office/drawing/2014/main" id="{F3883740-E18E-417A-8935-641DEA705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1450" y="952700"/>
            <a:ext cx="4656600" cy="57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Algoritmo RR (quantum = 10)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E519558-431D-4B13-978F-093A0A845581}"/>
              </a:ext>
            </a:extLst>
          </p:cNvPr>
          <p:cNvGrpSpPr/>
          <p:nvPr/>
        </p:nvGrpSpPr>
        <p:grpSpPr>
          <a:xfrm>
            <a:off x="419621" y="1766996"/>
            <a:ext cx="9195368" cy="1415826"/>
            <a:chOff x="1372926" y="5150492"/>
            <a:chExt cx="9195368" cy="1415826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70C17BAB-10DE-4E46-84E6-0C84A166B5C5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7C8CCE31-C61F-4C70-BC82-D3EB2DAAB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D371C762-D5BC-470B-BBC6-0BDF23334F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9EBF3169-7DD3-488C-BEC1-8D701E1B227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DFDD09F6-034D-4A49-9A97-C3DF3F3177B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2A96B2C8-5760-484D-AE23-E1EB070D64F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332EC5BE-F60E-44E1-93B5-67A6A23763A7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30EB9FB-5363-415A-BCF5-B04E622B6EA8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1D098ED-B493-4643-B0F0-60B1EAB5C3F7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FC97805D-DDDF-406B-B740-0657F362FADB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B525723E-82A6-41DF-B953-3C91D5633D8F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47A84A9-2116-43F4-AD97-26B69ABB0638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D5CE829-CBFF-4BE0-AA6C-C036986B6E7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AA00316E-6A6D-4E7C-B274-B9DAC2093405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4E3EF826-C7DA-4D2A-BA8D-7B6D8FE0CC95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DAA517D-0929-4F94-8C54-CFC9F6D62399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BB23C7C-9A89-499B-A52B-665D4C7209C7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74967E7-C4A5-4F72-8B39-84FC8CAEA4AD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20B70BA8-AE47-44FE-94DF-4874EEBA2203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9457F75-0C2A-4A8D-929A-612477D5649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9E8630DB-77A4-45F9-A4C6-3458AAC256EE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F71C63EB-B5B3-4015-845D-0C249F6FC5A4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9C106A9F-8E57-4F87-8EA1-4F8BF8DDE4AA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571D4D26-BECD-4B80-AC78-88531170B6A3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D238BDE8-57DA-4842-B7E1-050186C5B053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80BDEF04-A082-4EC6-953E-2896E25D80AE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B9ACB124-04C0-47A7-9E52-D289D96A4D5E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738462E4-F76F-4858-8668-090642AE1BBB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CB46FD3-0018-4E90-BB52-3A0DA387D3CB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21DE5412-E343-4150-9B57-C3A84DA6BF1E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B0545F24-9F9C-4AB2-9F63-149253F3A6A6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2FEBC9DD-5509-4B00-9FFC-23C090DEAC23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4" name="Tabla 4">
                <a:extLst>
                  <a:ext uri="{FF2B5EF4-FFF2-40B4-BE49-F238E27FC236}">
                    <a16:creationId xmlns:a16="http://schemas.microsoft.com/office/drawing/2014/main" id="{21E401DF-BDAB-4AFE-BB29-8495D3866C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447492"/>
                  </p:ext>
                </p:extLst>
              </p:nvPr>
            </p:nvGraphicFramePr>
            <p:xfrm>
              <a:off x="8162255" y="4404167"/>
              <a:ext cx="339639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32132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373627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𝒓𝒆𝒔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4" name="Tabla 4">
                <a:extLst>
                  <a:ext uri="{FF2B5EF4-FFF2-40B4-BE49-F238E27FC236}">
                    <a16:creationId xmlns:a16="http://schemas.microsoft.com/office/drawing/2014/main" id="{21E401DF-BDAB-4AFE-BB29-8495D3866C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447492"/>
                  </p:ext>
                </p:extLst>
              </p:nvPr>
            </p:nvGraphicFramePr>
            <p:xfrm>
              <a:off x="8162255" y="4404167"/>
              <a:ext cx="339639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32132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  <a:gridCol w="1132132">
                      <a:extLst>
                        <a:ext uri="{9D8B030D-6E8A-4147-A177-3AD203B41FA5}">
                          <a16:colId xmlns:a16="http://schemas.microsoft.com/office/drawing/2014/main" val="373627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Proceso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9465" t="-8197" r="-10000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538" t="-8197" r="-538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 err="1"/>
                            <a:t>avg</a:t>
                          </a:r>
                          <a:endParaRPr lang="es-CO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8"/>
          <p:cNvSpPr txBox="1">
            <a:spLocks noGrp="1"/>
          </p:cNvSpPr>
          <p:nvPr>
            <p:ph type="title"/>
          </p:nvPr>
        </p:nvSpPr>
        <p:spPr>
          <a:xfrm>
            <a:off x="434715" y="96038"/>
            <a:ext cx="1118444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 .vs. Shortest </a:t>
            </a:r>
            <a:r>
              <a:rPr lang="es-MX" sz="4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job</a:t>
            </a: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sz="4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(SJF)</a:t>
            </a:r>
            <a:endParaRPr lang="es-MX" dirty="0"/>
          </a:p>
        </p:txBody>
      </p:sp>
      <p:sp>
        <p:nvSpPr>
          <p:cNvPr id="1224" name="Google Shape;1224;p78"/>
          <p:cNvSpPr txBox="1">
            <a:spLocks noGrp="1"/>
          </p:cNvSpPr>
          <p:nvPr>
            <p:ph type="body" idx="1"/>
          </p:nvPr>
        </p:nvSpPr>
        <p:spPr>
          <a:xfrm>
            <a:off x="434715" y="888775"/>
            <a:ext cx="6513510" cy="25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FF0000"/>
                </a:solidFill>
              </a:rPr>
              <a:t>Comparación de los algoritmos</a:t>
            </a:r>
            <a:endParaRPr sz="28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/>
              <a:t>Tres procesos llegan a un sistema (A, B y C)</a:t>
            </a:r>
            <a:endParaRPr sz="18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/>
              <a:t>Llegan en el tiempo 0 en el orden: A - B - C</a:t>
            </a:r>
            <a:endParaRPr sz="18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/>
              <a:t>El tiempo de ejecución de cada uno de los procesos es de 30 seg.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25" name="Google Shape;1225;p78"/>
          <p:cNvGraphicFramePr/>
          <p:nvPr>
            <p:extLst>
              <p:ext uri="{D42A27DB-BD31-4B8C-83A1-F6EECF244321}">
                <p14:modId xmlns:p14="http://schemas.microsoft.com/office/powerpoint/2010/main" val="2091748518"/>
              </p:ext>
            </p:extLst>
          </p:nvPr>
        </p:nvGraphicFramePr>
        <p:xfrm>
          <a:off x="7609180" y="999276"/>
          <a:ext cx="3914220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30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6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6" name="Google Shape;122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639" y="3208338"/>
            <a:ext cx="4846300" cy="28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9486" y="3161247"/>
            <a:ext cx="4721700" cy="27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78"/>
          <p:cNvSpPr txBox="1"/>
          <p:nvPr/>
        </p:nvSpPr>
        <p:spPr>
          <a:xfrm>
            <a:off x="229481" y="5984663"/>
            <a:ext cx="11733037" cy="800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Típicamente, el RR tiene un turnaround time más alto que el SJF (y similares), pero tiene un mejor tiempo de respuesta.</a:t>
            </a:r>
            <a:endParaRPr sz="2000" b="1" dirty="0"/>
          </a:p>
        </p:txBody>
      </p:sp>
      <p:sp>
        <p:nvSpPr>
          <p:cNvPr id="1229" name="Google Shape;1229;p78"/>
          <p:cNvSpPr txBox="1"/>
          <p:nvPr/>
        </p:nvSpPr>
        <p:spPr>
          <a:xfrm>
            <a:off x="3402750" y="30949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SJF</a:t>
            </a:r>
            <a:endParaRPr sz="1100" b="1">
              <a:solidFill>
                <a:schemeClr val="accent2"/>
              </a:solidFill>
            </a:endParaRPr>
          </a:p>
        </p:txBody>
      </p:sp>
      <p:sp>
        <p:nvSpPr>
          <p:cNvPr id="1230" name="Google Shape;1230;p78"/>
          <p:cNvSpPr txBox="1"/>
          <p:nvPr/>
        </p:nvSpPr>
        <p:spPr>
          <a:xfrm>
            <a:off x="8523400" y="31257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RR(q = 10)</a:t>
            </a:r>
            <a:endParaRPr sz="11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239" name="Google Shape;1239;p79"/>
          <p:cNvSpPr txBox="1">
            <a:spLocks noGrp="1"/>
          </p:cNvSpPr>
          <p:nvPr>
            <p:ph type="body" idx="1"/>
          </p:nvPr>
        </p:nvSpPr>
        <p:spPr>
          <a:xfrm>
            <a:off x="847025" y="929500"/>
            <a:ext cx="10679100" cy="74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Importancia de la duración del quantum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240" name="Google Shape;1240;p79"/>
          <p:cNvGraphicFramePr/>
          <p:nvPr>
            <p:extLst>
              <p:ext uri="{D42A27DB-BD31-4B8C-83A1-F6EECF244321}">
                <p14:modId xmlns:p14="http://schemas.microsoft.com/office/powerpoint/2010/main" val="3665279360"/>
              </p:ext>
            </p:extLst>
          </p:nvPr>
        </p:nvGraphicFramePr>
        <p:xfrm>
          <a:off x="1277356" y="1563312"/>
          <a:ext cx="9935650" cy="18897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496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</a:rPr>
                        <a:t>Entre más corto el quantum</a:t>
                      </a:r>
                      <a:endParaRPr sz="2000" b="1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</a:rPr>
                        <a:t>Entre más largo el quantum</a:t>
                      </a:r>
                      <a:endParaRPr sz="2000" b="1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rgbClr val="0B6937"/>
                          </a:solidFill>
                          <a:latin typeface="+mn-lt"/>
                        </a:rPr>
                        <a:t>Mejor</a:t>
                      </a:r>
                      <a:r>
                        <a:rPr lang="es-ES" sz="2000" dirty="0">
                          <a:latin typeface="+mn-lt"/>
                        </a:rPr>
                        <a:t> tiempo de respuesta.</a:t>
                      </a:r>
                      <a:endParaRPr sz="2000" dirty="0">
                        <a:latin typeface="+mn-lt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</a:rPr>
                        <a:t>El costo del cambio de contexto (</a:t>
                      </a:r>
                      <a:r>
                        <a:rPr lang="es-ES" sz="2000" dirty="0" err="1">
                          <a:latin typeface="+mn-lt"/>
                        </a:rPr>
                        <a:t>context</a:t>
                      </a:r>
                      <a:r>
                        <a:rPr lang="es-ES" sz="2000" dirty="0">
                          <a:latin typeface="+mn-lt"/>
                        </a:rPr>
                        <a:t> </a:t>
                      </a:r>
                      <a:r>
                        <a:rPr lang="es-ES" sz="2000" dirty="0" err="1">
                          <a:latin typeface="+mn-lt"/>
                        </a:rPr>
                        <a:t>switch</a:t>
                      </a:r>
                      <a:r>
                        <a:rPr lang="es-ES" sz="2000" dirty="0">
                          <a:latin typeface="+mn-lt"/>
                        </a:rPr>
                        <a:t>) </a:t>
                      </a: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dominará</a:t>
                      </a:r>
                      <a:r>
                        <a:rPr lang="es-ES" sz="2000" dirty="0">
                          <a:latin typeface="+mn-lt"/>
                        </a:rPr>
                        <a:t> el desempeño global.</a:t>
                      </a: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rgbClr val="0B6937"/>
                          </a:solidFill>
                          <a:latin typeface="+mn-lt"/>
                        </a:rPr>
                        <a:t>Disminuye</a:t>
                      </a:r>
                      <a:r>
                        <a:rPr lang="es-ES" sz="2000" dirty="0">
                          <a:latin typeface="+mn-lt"/>
                        </a:rPr>
                        <a:t> el costo total del cambio de contexto.</a:t>
                      </a:r>
                      <a:endParaRPr sz="2000" dirty="0">
                        <a:latin typeface="+mn-lt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Deteriora</a:t>
                      </a:r>
                      <a:r>
                        <a:rPr lang="es-ES" sz="2000" dirty="0">
                          <a:latin typeface="+mn-lt"/>
                        </a:rPr>
                        <a:t> el tiempo de respuesta.</a:t>
                      </a: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1" name="Google Shape;1241;p79"/>
          <p:cNvSpPr txBox="1"/>
          <p:nvPr/>
        </p:nvSpPr>
        <p:spPr>
          <a:xfrm>
            <a:off x="1218725" y="5619697"/>
            <a:ext cx="99357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Decidir la longitud de la porción de tiempo es un </a:t>
            </a:r>
            <a:r>
              <a:rPr lang="es-ES" sz="2400" b="1" dirty="0">
                <a:solidFill>
                  <a:srgbClr val="0B6937"/>
                </a:solidFill>
              </a:rPr>
              <a:t>compromiso</a:t>
            </a:r>
            <a:r>
              <a:rPr lang="es-ES" sz="2400" dirty="0"/>
              <a:t> que debe contemplar el </a:t>
            </a:r>
            <a:r>
              <a:rPr lang="es-ES" sz="2400" b="1" dirty="0">
                <a:solidFill>
                  <a:srgbClr val="3A81BA"/>
                </a:solidFill>
              </a:rPr>
              <a:t>diseñador del sistema</a:t>
            </a:r>
            <a:r>
              <a:rPr lang="es-E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Relajando las suposiciones ideales</a:t>
            </a:r>
            <a:endParaRPr dirty="0"/>
          </a:p>
        </p:txBody>
      </p:sp>
      <p:sp>
        <p:nvSpPr>
          <p:cNvPr id="1253" name="Google Shape;1253;p81"/>
          <p:cNvSpPr txBox="1">
            <a:spLocks noGrp="1"/>
          </p:cNvSpPr>
          <p:nvPr>
            <p:ph type="body" idx="1"/>
          </p:nvPr>
        </p:nvSpPr>
        <p:spPr>
          <a:xfrm>
            <a:off x="1025000" y="2135400"/>
            <a:ext cx="10576500" cy="212180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Una vez iniciado, cada trabajo se ejecuta hasta su finalización.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solo usan la CPU (no I/O).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</a:t>
            </a:r>
            <a:r>
              <a:rPr lang="es-ES" sz="2400" dirty="0" err="1">
                <a:latin typeface="+mn-lt"/>
              </a:rPr>
              <a:t>runtime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1254" name="Google Shape;1254;p81"/>
          <p:cNvSpPr txBox="1"/>
          <p:nvPr/>
        </p:nvSpPr>
        <p:spPr>
          <a:xfrm>
            <a:off x="1025000" y="1244825"/>
            <a:ext cx="105183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6"/>
                </a:solidFill>
              </a:rPr>
              <a:t>¿Que pasa si hay operaciones de I/O?</a:t>
            </a:r>
            <a:endParaRPr sz="2800" b="1" dirty="0">
              <a:solidFill>
                <a:schemeClr val="accent6"/>
              </a:solidFill>
            </a:endParaRPr>
          </a:p>
        </p:txBody>
      </p:sp>
      <p:grpSp>
        <p:nvGrpSpPr>
          <p:cNvPr id="1255" name="Google Shape;1255;p81"/>
          <p:cNvGrpSpPr/>
          <p:nvPr/>
        </p:nvGrpSpPr>
        <p:grpSpPr>
          <a:xfrm>
            <a:off x="2823900" y="4950800"/>
            <a:ext cx="6526100" cy="1270013"/>
            <a:chOff x="2747700" y="4950800"/>
            <a:chExt cx="6526100" cy="1270013"/>
          </a:xfrm>
        </p:grpSpPr>
        <p:grpSp>
          <p:nvGrpSpPr>
            <p:cNvPr id="1256" name="Google Shape;1256;p81"/>
            <p:cNvGrpSpPr/>
            <p:nvPr/>
          </p:nvGrpSpPr>
          <p:grpSpPr>
            <a:xfrm>
              <a:off x="2747700" y="4950800"/>
              <a:ext cx="6526100" cy="648900"/>
              <a:chOff x="2770900" y="4196550"/>
              <a:chExt cx="6526100" cy="648900"/>
            </a:xfrm>
          </p:grpSpPr>
          <p:sp>
            <p:nvSpPr>
              <p:cNvPr id="1257" name="Google Shape;1257;p81"/>
              <p:cNvSpPr/>
              <p:nvPr/>
            </p:nvSpPr>
            <p:spPr>
              <a:xfrm>
                <a:off x="2770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258" name="Google Shape;1258;p81"/>
              <p:cNvSpPr/>
              <p:nvPr/>
            </p:nvSpPr>
            <p:spPr>
              <a:xfrm>
                <a:off x="4246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259" name="Google Shape;1259;p81"/>
              <p:cNvSpPr/>
              <p:nvPr/>
            </p:nvSpPr>
            <p:spPr>
              <a:xfrm>
                <a:off x="5722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260" name="Google Shape;1260;p81"/>
              <p:cNvSpPr/>
              <p:nvPr/>
            </p:nvSpPr>
            <p:spPr>
              <a:xfrm>
                <a:off x="7197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261" name="Google Shape;1261;p81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262" name="Google Shape;1262;p81"/>
            <p:cNvGrpSpPr/>
            <p:nvPr/>
          </p:nvGrpSpPr>
          <p:grpSpPr>
            <a:xfrm>
              <a:off x="2778450" y="5775112"/>
              <a:ext cx="6464587" cy="445700"/>
              <a:chOff x="2778450" y="5775112"/>
              <a:chExt cx="6464587" cy="445700"/>
            </a:xfrm>
          </p:grpSpPr>
          <p:pic>
            <p:nvPicPr>
              <p:cNvPr id="1263" name="Google Shape;1263;p8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78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4" name="Google Shape;1264;p8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813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5" name="Google Shape;1265;p8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13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6" name="Google Shape;1266;p8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789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7" name="Google Shape;1267;p8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2648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sp>
        <p:nvSpPr>
          <p:cNvPr id="1273" name="Google Shape;1273;p82"/>
          <p:cNvSpPr txBox="1">
            <a:spLocks noGrp="1"/>
          </p:cNvSpPr>
          <p:nvPr>
            <p:ph type="body" idx="1"/>
          </p:nvPr>
        </p:nvSpPr>
        <p:spPr>
          <a:xfrm>
            <a:off x="5833750" y="2332650"/>
            <a:ext cx="6127500" cy="416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Cuando un trabajo inicia un requerimiento de I/O</a:t>
            </a:r>
            <a:r>
              <a:rPr lang="es-ES" sz="2400" dirty="0"/>
              <a:t>:</a:t>
            </a:r>
            <a:endParaRPr sz="24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</a:t>
            </a:r>
            <a:r>
              <a:rPr lang="es-ES" sz="2000" dirty="0">
                <a:latin typeface="+mn-lt"/>
              </a:rPr>
              <a:t>trabajo</a:t>
            </a:r>
            <a:r>
              <a:rPr lang="es-ES" sz="2000" dirty="0"/>
              <a:t> es </a:t>
            </a:r>
            <a:r>
              <a:rPr lang="es-ES" sz="2000" b="1" dirty="0">
                <a:solidFill>
                  <a:srgbClr val="FF0000"/>
                </a:solidFill>
              </a:rPr>
              <a:t>bloqueado</a:t>
            </a:r>
            <a:r>
              <a:rPr lang="es-ES" sz="2000" dirty="0"/>
              <a:t> en espera de la finalización de la operación I/O.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</a:t>
            </a:r>
            <a:r>
              <a:rPr lang="es-ES" sz="2000" b="1" dirty="0" err="1"/>
              <a:t>scheduler</a:t>
            </a:r>
            <a:r>
              <a:rPr lang="es-ES" sz="2000" dirty="0"/>
              <a:t> debería </a:t>
            </a:r>
            <a:r>
              <a:rPr lang="es-ES" sz="2000" b="1" dirty="0">
                <a:solidFill>
                  <a:schemeClr val="accent6"/>
                </a:solidFill>
              </a:rPr>
              <a:t>seleccionar otro trabajo</a:t>
            </a:r>
            <a:r>
              <a:rPr lang="es-ES" sz="2000" dirty="0"/>
              <a:t> para que tome uso de la CPU.</a:t>
            </a:r>
            <a:endParaRPr sz="20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Cuando la operación de I/O finaliza</a:t>
            </a:r>
            <a:r>
              <a:rPr lang="es-ES" sz="2400" dirty="0"/>
              <a:t>:</a:t>
            </a:r>
            <a:endParaRPr sz="24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Se lanza una interrupción.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SO mueve el proceso del estado bloqueado (</a:t>
            </a:r>
            <a:r>
              <a:rPr lang="es-ES" sz="2000" b="1" dirty="0" err="1"/>
              <a:t>blocked</a:t>
            </a:r>
            <a:r>
              <a:rPr lang="es-ES" sz="2000" dirty="0"/>
              <a:t>) al estado listo (</a:t>
            </a:r>
            <a:r>
              <a:rPr lang="es-ES" sz="2000" b="1" dirty="0" err="1"/>
              <a:t>ready</a:t>
            </a:r>
            <a:r>
              <a:rPr lang="es-ES" sz="2000" dirty="0"/>
              <a:t>).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4" name="Google Shape;1274;p82"/>
          <p:cNvSpPr txBox="1"/>
          <p:nvPr/>
        </p:nvSpPr>
        <p:spPr>
          <a:xfrm>
            <a:off x="838200" y="1237613"/>
            <a:ext cx="68514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6"/>
                </a:solidFill>
              </a:rPr>
              <a:t>¿Que pasa si hay operaciones de I/O?</a:t>
            </a:r>
            <a:endParaRPr sz="2800" b="1">
              <a:solidFill>
                <a:schemeClr val="accent6"/>
              </a:solidFill>
            </a:endParaRPr>
          </a:p>
        </p:txBody>
      </p:sp>
      <p:grpSp>
        <p:nvGrpSpPr>
          <p:cNvPr id="1275" name="Google Shape;1275;p82"/>
          <p:cNvGrpSpPr/>
          <p:nvPr/>
        </p:nvGrpSpPr>
        <p:grpSpPr>
          <a:xfrm>
            <a:off x="8250725" y="910400"/>
            <a:ext cx="3478100" cy="1270013"/>
            <a:chOff x="5795700" y="4950800"/>
            <a:chExt cx="3478100" cy="1270013"/>
          </a:xfrm>
        </p:grpSpPr>
        <p:grpSp>
          <p:nvGrpSpPr>
            <p:cNvPr id="1276" name="Google Shape;1276;p82"/>
            <p:cNvGrpSpPr/>
            <p:nvPr/>
          </p:nvGrpSpPr>
          <p:grpSpPr>
            <a:xfrm>
              <a:off x="5795700" y="4950800"/>
              <a:ext cx="3478100" cy="648900"/>
              <a:chOff x="5818900" y="4196550"/>
              <a:chExt cx="3478100" cy="648900"/>
            </a:xfrm>
          </p:grpSpPr>
          <p:sp>
            <p:nvSpPr>
              <p:cNvPr id="1277" name="Google Shape;1277;p82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278" name="Google Shape;1278;p82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279" name="Google Shape;1279;p82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280" name="Google Shape;1280;p82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281" name="Google Shape;1281;p82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282" name="Google Shape;1282;p82"/>
            <p:cNvGrpSpPr/>
            <p:nvPr/>
          </p:nvGrpSpPr>
          <p:grpSpPr>
            <a:xfrm>
              <a:off x="5885750" y="5775112"/>
              <a:ext cx="3357262" cy="445700"/>
              <a:chOff x="5885750" y="5775112"/>
              <a:chExt cx="3357262" cy="445700"/>
            </a:xfrm>
          </p:grpSpPr>
          <p:pic>
            <p:nvPicPr>
              <p:cNvPr id="1283" name="Google Shape;1283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857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4" name="Google Shape;1284;p8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788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5" name="Google Shape;1285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99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6" name="Google Shape;1286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13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7" name="Google Shape;1287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6475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8" name="Google Shape;1288;p82"/>
          <p:cNvGrpSpPr/>
          <p:nvPr/>
        </p:nvGrpSpPr>
        <p:grpSpPr>
          <a:xfrm>
            <a:off x="688052" y="2561261"/>
            <a:ext cx="5145700" cy="3680489"/>
            <a:chOff x="1158027" y="2578811"/>
            <a:chExt cx="5145700" cy="3680489"/>
          </a:xfrm>
        </p:grpSpPr>
        <p:sp>
          <p:nvSpPr>
            <p:cNvPr id="1289" name="Google Shape;1289;p82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0" name="Google Shape;1290;p82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1" name="Google Shape;1291;p82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292" name="Google Shape;1292;p82"/>
            <p:cNvCxnSpPr>
              <a:stCxn id="1289" idx="7"/>
              <a:endCxn id="1290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3" name="Google Shape;1293;p82"/>
            <p:cNvCxnSpPr>
              <a:stCxn id="1290" idx="3"/>
              <a:endCxn id="1289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4" name="Google Shape;1294;p82"/>
            <p:cNvCxnSpPr>
              <a:stCxn id="1290" idx="4"/>
              <a:endCxn id="1291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5" name="Google Shape;1295;p82"/>
            <p:cNvCxnSpPr>
              <a:stCxn id="1291" idx="2"/>
              <a:endCxn id="1289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6" name="Google Shape;1296;p82"/>
            <p:cNvSpPr txBox="1"/>
            <p:nvPr/>
          </p:nvSpPr>
          <p:spPr>
            <a:xfrm>
              <a:off x="2996399" y="2578811"/>
              <a:ext cx="138423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7" name="Google Shape;1297;p82"/>
            <p:cNvSpPr txBox="1"/>
            <p:nvPr/>
          </p:nvSpPr>
          <p:spPr>
            <a:xfrm>
              <a:off x="2770152" y="4458813"/>
              <a:ext cx="187307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8" name="Google Shape;1298;p82"/>
            <p:cNvSpPr txBox="1"/>
            <p:nvPr/>
          </p:nvSpPr>
          <p:spPr>
            <a:xfrm>
              <a:off x="4819927" y="4671788"/>
              <a:ext cx="1483800" cy="67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wait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9" name="Google Shape;1299;p82"/>
            <p:cNvSpPr txBox="1"/>
            <p:nvPr/>
          </p:nvSpPr>
          <p:spPr>
            <a:xfrm>
              <a:off x="1158027" y="4571738"/>
              <a:ext cx="14838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sp>
        <p:nvSpPr>
          <p:cNvPr id="1274" name="Google Shape;1274;p82"/>
          <p:cNvSpPr txBox="1"/>
          <p:nvPr/>
        </p:nvSpPr>
        <p:spPr>
          <a:xfrm>
            <a:off x="838200" y="1237613"/>
            <a:ext cx="68514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6"/>
                </a:solidFill>
              </a:rPr>
              <a:t>¿Que pasa si hay operaciones de I/O?</a:t>
            </a:r>
            <a:endParaRPr sz="2800" b="1">
              <a:solidFill>
                <a:schemeClr val="accent6"/>
              </a:solidFill>
            </a:endParaRPr>
          </a:p>
        </p:txBody>
      </p:sp>
      <p:grpSp>
        <p:nvGrpSpPr>
          <p:cNvPr id="1275" name="Google Shape;1275;p82"/>
          <p:cNvGrpSpPr/>
          <p:nvPr/>
        </p:nvGrpSpPr>
        <p:grpSpPr>
          <a:xfrm>
            <a:off x="8250725" y="910400"/>
            <a:ext cx="3478100" cy="1270013"/>
            <a:chOff x="5795700" y="4950800"/>
            <a:chExt cx="3478100" cy="1270013"/>
          </a:xfrm>
        </p:grpSpPr>
        <p:grpSp>
          <p:nvGrpSpPr>
            <p:cNvPr id="1276" name="Google Shape;1276;p82"/>
            <p:cNvGrpSpPr/>
            <p:nvPr/>
          </p:nvGrpSpPr>
          <p:grpSpPr>
            <a:xfrm>
              <a:off x="5795700" y="4950800"/>
              <a:ext cx="3478100" cy="648900"/>
              <a:chOff x="5818900" y="4196550"/>
              <a:chExt cx="3478100" cy="648900"/>
            </a:xfrm>
          </p:grpSpPr>
          <p:sp>
            <p:nvSpPr>
              <p:cNvPr id="1277" name="Google Shape;1277;p82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278" name="Google Shape;1278;p82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279" name="Google Shape;1279;p82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280" name="Google Shape;1280;p82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281" name="Google Shape;1281;p82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282" name="Google Shape;1282;p82"/>
            <p:cNvGrpSpPr/>
            <p:nvPr/>
          </p:nvGrpSpPr>
          <p:grpSpPr>
            <a:xfrm>
              <a:off x="5885750" y="5775112"/>
              <a:ext cx="3357262" cy="445700"/>
              <a:chOff x="5885750" y="5775112"/>
              <a:chExt cx="3357262" cy="445700"/>
            </a:xfrm>
          </p:grpSpPr>
          <p:pic>
            <p:nvPicPr>
              <p:cNvPr id="1283" name="Google Shape;1283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857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4" name="Google Shape;1284;p8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788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5" name="Google Shape;1285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99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6" name="Google Shape;1286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13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7" name="Google Shape;1287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6475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8" name="Google Shape;1288;p82"/>
          <p:cNvGrpSpPr/>
          <p:nvPr/>
        </p:nvGrpSpPr>
        <p:grpSpPr>
          <a:xfrm>
            <a:off x="330560" y="2593812"/>
            <a:ext cx="5145700" cy="3680489"/>
            <a:chOff x="1158027" y="2578811"/>
            <a:chExt cx="5145700" cy="3680489"/>
          </a:xfrm>
        </p:grpSpPr>
        <p:sp>
          <p:nvSpPr>
            <p:cNvPr id="1289" name="Google Shape;1289;p82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0" name="Google Shape;1290;p82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1" name="Google Shape;1291;p82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292" name="Google Shape;1292;p82"/>
            <p:cNvCxnSpPr>
              <a:stCxn id="1289" idx="7"/>
              <a:endCxn id="1290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3" name="Google Shape;1293;p82"/>
            <p:cNvCxnSpPr>
              <a:stCxn id="1290" idx="3"/>
              <a:endCxn id="1289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4" name="Google Shape;1294;p82"/>
            <p:cNvCxnSpPr>
              <a:stCxn id="1290" idx="4"/>
              <a:endCxn id="1291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5" name="Google Shape;1295;p82"/>
            <p:cNvCxnSpPr>
              <a:stCxn id="1291" idx="2"/>
              <a:endCxn id="1289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6" name="Google Shape;1296;p82"/>
            <p:cNvSpPr txBox="1"/>
            <p:nvPr/>
          </p:nvSpPr>
          <p:spPr>
            <a:xfrm>
              <a:off x="2996399" y="2578811"/>
              <a:ext cx="138423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7" name="Google Shape;1297;p82"/>
            <p:cNvSpPr txBox="1"/>
            <p:nvPr/>
          </p:nvSpPr>
          <p:spPr>
            <a:xfrm>
              <a:off x="2770152" y="4458813"/>
              <a:ext cx="187307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8" name="Google Shape;1298;p82"/>
            <p:cNvSpPr txBox="1"/>
            <p:nvPr/>
          </p:nvSpPr>
          <p:spPr>
            <a:xfrm>
              <a:off x="4819927" y="4671788"/>
              <a:ext cx="1483800" cy="67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wait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9" name="Google Shape;1299;p82"/>
            <p:cNvSpPr txBox="1"/>
            <p:nvPr/>
          </p:nvSpPr>
          <p:spPr>
            <a:xfrm>
              <a:off x="1158027" y="4571738"/>
              <a:ext cx="14838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632B3E9C-CE1D-4CC5-BD06-C9A9BAB3E37A}"/>
              </a:ext>
            </a:extLst>
          </p:cNvPr>
          <p:cNvGrpSpPr/>
          <p:nvPr/>
        </p:nvGrpSpPr>
        <p:grpSpPr>
          <a:xfrm>
            <a:off x="6212401" y="2674978"/>
            <a:ext cx="5495162" cy="3272622"/>
            <a:chOff x="6212401" y="2674978"/>
            <a:chExt cx="5495162" cy="3272622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4355B00E-2934-4292-BFBC-1E2C729F8926}"/>
                </a:ext>
              </a:extLst>
            </p:cNvPr>
            <p:cNvGrpSpPr/>
            <p:nvPr/>
          </p:nvGrpSpPr>
          <p:grpSpPr>
            <a:xfrm>
              <a:off x="10833366" y="2686150"/>
              <a:ext cx="874197" cy="1195002"/>
              <a:chOff x="1620690" y="2501644"/>
              <a:chExt cx="874197" cy="1195002"/>
            </a:xfrm>
          </p:grpSpPr>
          <p:sp>
            <p:nvSpPr>
              <p:cNvPr id="45" name="Rectángulo 44">
                <a:extLst>
                  <a:ext uri="{FF2B5EF4-FFF2-40B4-BE49-F238E27FC236}">
                    <a16:creationId xmlns:a16="http://schemas.microsoft.com/office/drawing/2014/main" id="{4FECF7A7-B26E-4F12-A8A7-B338C99D2581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E7720B9-F2E3-48E1-AEE2-443600A232C4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0FFC0557-A7F8-45A7-8C66-E73F340F3B97}"/>
                </a:ext>
              </a:extLst>
            </p:cNvPr>
            <p:cNvCxnSpPr>
              <a:endCxn id="45" idx="1"/>
            </p:cNvCxnSpPr>
            <p:nvPr/>
          </p:nvCxnSpPr>
          <p:spPr>
            <a:xfrm>
              <a:off x="9630819" y="3465524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: angular 36">
              <a:extLst>
                <a:ext uri="{FF2B5EF4-FFF2-40B4-BE49-F238E27FC236}">
                  <a16:creationId xmlns:a16="http://schemas.microsoft.com/office/drawing/2014/main" id="{BF135A1D-524D-4664-B659-34FC4B0B3A15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rot="5400000" flipH="1">
              <a:off x="9074793" y="1685480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99EAADED-9ED2-4FE2-AFB5-A56E00394D7F}"/>
                </a:ext>
              </a:extLst>
            </p:cNvPr>
            <p:cNvCxnSpPr/>
            <p:nvPr/>
          </p:nvCxnSpPr>
          <p:spPr>
            <a:xfrm>
              <a:off x="6212401" y="3269772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50008A45-0516-49CF-B6D8-7624A38EEDCC}"/>
                </a:ext>
              </a:extLst>
            </p:cNvPr>
            <p:cNvGrpSpPr/>
            <p:nvPr/>
          </p:nvGrpSpPr>
          <p:grpSpPr>
            <a:xfrm>
              <a:off x="7153090" y="2674978"/>
              <a:ext cx="2480084" cy="1206174"/>
              <a:chOff x="3934951" y="4414559"/>
              <a:chExt cx="2480084" cy="1206174"/>
            </a:xfrm>
          </p:grpSpPr>
          <p:grpSp>
            <p:nvGrpSpPr>
              <p:cNvPr id="40" name="Grupo 39">
                <a:extLst>
                  <a:ext uri="{FF2B5EF4-FFF2-40B4-BE49-F238E27FC236}">
                    <a16:creationId xmlns:a16="http://schemas.microsoft.com/office/drawing/2014/main" id="{113196F4-7ACD-41CC-A4AA-38490C7A377B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438B630A-5D0F-441C-A940-002030499B6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047DDB23-6A95-4709-A05A-0756ABBA7E08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CA90A3B2-9CA4-4AFF-AE88-6A7A3A846E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421464D-0F1B-49A3-9C3F-871B68FA9E0E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1271" name="Grupo 1270">
              <a:extLst>
                <a:ext uri="{FF2B5EF4-FFF2-40B4-BE49-F238E27FC236}">
                  <a16:creationId xmlns:a16="http://schemas.microsoft.com/office/drawing/2014/main" id="{7F561CD4-7BB0-48B6-95CE-8FD5EB81E272}"/>
                </a:ext>
              </a:extLst>
            </p:cNvPr>
            <p:cNvGrpSpPr/>
            <p:nvPr/>
          </p:nvGrpSpPr>
          <p:grpSpPr>
            <a:xfrm>
              <a:off x="8391954" y="4679160"/>
              <a:ext cx="2480084" cy="1268440"/>
              <a:chOff x="8391954" y="4679160"/>
              <a:chExt cx="2480084" cy="1268440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C946F6BD-B22F-45D1-8AFF-3BA52E270E53}"/>
                  </a:ext>
                </a:extLst>
              </p:cNvPr>
              <p:cNvGrpSpPr/>
              <p:nvPr/>
            </p:nvGrpSpPr>
            <p:grpSpPr>
              <a:xfrm flipH="1">
                <a:off x="8391954" y="5116345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0" name="Conector recto 49">
                  <a:extLst>
                    <a:ext uri="{FF2B5EF4-FFF2-40B4-BE49-F238E27FC236}">
                      <a16:creationId xmlns:a16="http://schemas.microsoft.com/office/drawing/2014/main" id="{E1F53830-3B07-423B-802C-24807E3651FE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ector recto 50">
                  <a:extLst>
                    <a:ext uri="{FF2B5EF4-FFF2-40B4-BE49-F238E27FC236}">
                      <a16:creationId xmlns:a16="http://schemas.microsoft.com/office/drawing/2014/main" id="{3AA2862E-8179-49C3-A19F-CF6AD150F76B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ector recto 51">
                  <a:extLst>
                    <a:ext uri="{FF2B5EF4-FFF2-40B4-BE49-F238E27FC236}">
                      <a16:creationId xmlns:a16="http://schemas.microsoft.com/office/drawing/2014/main" id="{D52A7F41-13DE-4198-99C4-F19864ADE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943E17A-9D64-4E21-88A7-60497A962AD6}"/>
                  </a:ext>
                </a:extLst>
              </p:cNvPr>
              <p:cNvSpPr txBox="1"/>
              <p:nvPr/>
            </p:nvSpPr>
            <p:spPr>
              <a:xfrm>
                <a:off x="9216121" y="4679160"/>
                <a:ext cx="700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Block</a:t>
                </a:r>
              </a:p>
            </p:txBody>
          </p:sp>
        </p:grpSp>
        <p:cxnSp>
          <p:nvCxnSpPr>
            <p:cNvPr id="53" name="Conector: angular 52">
              <a:extLst>
                <a:ext uri="{FF2B5EF4-FFF2-40B4-BE49-F238E27FC236}">
                  <a16:creationId xmlns:a16="http://schemas.microsoft.com/office/drawing/2014/main" id="{190D2761-24BA-4BC6-874A-53AF7B56A1E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10705511" y="3468317"/>
              <a:ext cx="1002052" cy="2063656"/>
            </a:xfrm>
            <a:prstGeom prst="bentConnector4">
              <a:avLst>
                <a:gd name="adj1" fmla="val -22813"/>
                <a:gd name="adj2" fmla="val 999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0" name="Grupo 1269">
              <a:extLst>
                <a:ext uri="{FF2B5EF4-FFF2-40B4-BE49-F238E27FC236}">
                  <a16:creationId xmlns:a16="http://schemas.microsoft.com/office/drawing/2014/main" id="{11AD6F2C-A816-4A5B-BD7A-BB03B40D3E31}"/>
                </a:ext>
              </a:extLst>
            </p:cNvPr>
            <p:cNvGrpSpPr/>
            <p:nvPr/>
          </p:nvGrpSpPr>
          <p:grpSpPr>
            <a:xfrm>
              <a:off x="6212401" y="3478226"/>
              <a:ext cx="2179556" cy="2053746"/>
              <a:chOff x="5610263" y="3233123"/>
              <a:chExt cx="2179556" cy="2053746"/>
            </a:xfrm>
          </p:grpSpPr>
          <p:cxnSp>
            <p:nvCxnSpPr>
              <p:cNvPr id="1266" name="Conector: angular 1265">
                <a:extLst>
                  <a:ext uri="{FF2B5EF4-FFF2-40B4-BE49-F238E27FC236}">
                    <a16:creationId xmlns:a16="http://schemas.microsoft.com/office/drawing/2014/main" id="{AB03DF54-869A-43E5-A0EB-934E2306479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10264" y="3233123"/>
                <a:ext cx="2179555" cy="2053746"/>
              </a:xfrm>
              <a:prstGeom prst="bentConnector3">
                <a:avLst>
                  <a:gd name="adj1" fmla="val 10011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ector recto de flecha 145">
                <a:extLst>
                  <a:ext uri="{FF2B5EF4-FFF2-40B4-BE49-F238E27FC236}">
                    <a16:creationId xmlns:a16="http://schemas.microsoft.com/office/drawing/2014/main" id="{E362FFCE-98F7-474E-8C65-B6BC950B3828}"/>
                  </a:ext>
                </a:extLst>
              </p:cNvPr>
              <p:cNvCxnSpPr/>
              <p:nvPr/>
            </p:nvCxnSpPr>
            <p:spPr>
              <a:xfrm>
                <a:off x="5610263" y="3233123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95972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sp>
        <p:nvSpPr>
          <p:cNvPr id="1305" name="Google Shape;1305;p83"/>
          <p:cNvSpPr txBox="1">
            <a:spLocks noGrp="1"/>
          </p:cNvSpPr>
          <p:nvPr>
            <p:ph type="body" idx="1"/>
          </p:nvPr>
        </p:nvSpPr>
        <p:spPr>
          <a:xfrm>
            <a:off x="990600" y="888500"/>
            <a:ext cx="10487400" cy="23773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Ejemplo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Suponga que se tiene una situación en la que: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A y B requieren 40 ms de CPU cada uno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A se ejecuta por 10 ms y luego emite una solicitud de I/O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Cada operación de I/O toma 10 ms</a:t>
            </a:r>
            <a:endParaRPr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B no realiza operaciones de I/O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planificador ejecuta a </a:t>
            </a:r>
            <a:r>
              <a:rPr lang="es-ES" sz="2200" dirty="0" err="1">
                <a:latin typeface="+mn-lt"/>
              </a:rPr>
              <a:t>A</a:t>
            </a:r>
            <a:r>
              <a:rPr lang="es-ES" sz="2200" dirty="0">
                <a:latin typeface="+mn-lt"/>
              </a:rPr>
              <a:t> primero y luego a B 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dirty="0">
                <a:latin typeface="+mn-lt"/>
              </a:rPr>
              <a:t>c</a:t>
            </a:r>
            <a:endParaRPr dirty="0">
              <a:latin typeface="+mn-lt"/>
            </a:endParaRPr>
          </a:p>
        </p:txBody>
      </p:sp>
      <p:graphicFrame>
        <p:nvGraphicFramePr>
          <p:cNvPr id="1306" name="Google Shape;1306;p83"/>
          <p:cNvGraphicFramePr/>
          <p:nvPr>
            <p:extLst>
              <p:ext uri="{D42A27DB-BD31-4B8C-83A1-F6EECF244321}">
                <p14:modId xmlns:p14="http://schemas.microsoft.com/office/powerpoint/2010/main" val="3804166719"/>
              </p:ext>
            </p:extLst>
          </p:nvPr>
        </p:nvGraphicFramePr>
        <p:xfrm>
          <a:off x="1572663" y="3507200"/>
          <a:ext cx="4226300" cy="237735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3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Características</a:t>
                      </a:r>
                      <a:endParaRPr sz="2000" b="1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●"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40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○"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 burst</a:t>
                      </a: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●"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30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○"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 burst</a:t>
                      </a: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</a:t>
                      </a:r>
                      <a:r>
                        <a:rPr lang="es-ES" sz="20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40</a:t>
                      </a:r>
                      <a:endParaRPr sz="20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7" name="Google Shape;1307;p83"/>
          <p:cNvSpPr txBox="1"/>
          <p:nvPr/>
        </p:nvSpPr>
        <p:spPr>
          <a:xfrm>
            <a:off x="6254575" y="4351525"/>
            <a:ext cx="5312100" cy="618088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 (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interactive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+ B (CPU-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intensive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graphicFrame>
        <p:nvGraphicFramePr>
          <p:cNvPr id="1313" name="Google Shape;1313;p84"/>
          <p:cNvGraphicFramePr/>
          <p:nvPr>
            <p:extLst>
              <p:ext uri="{D42A27DB-BD31-4B8C-83A1-F6EECF244321}">
                <p14:modId xmlns:p14="http://schemas.microsoft.com/office/powerpoint/2010/main" val="3220710907"/>
              </p:ext>
            </p:extLst>
          </p:nvPr>
        </p:nvGraphicFramePr>
        <p:xfrm>
          <a:off x="952500" y="1110125"/>
          <a:ext cx="10800750" cy="47853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54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Not I/O aware</a:t>
                      </a:r>
                      <a:endParaRPr sz="20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</a:rPr>
                        <a:t>I/O aware (Overlap)</a:t>
                      </a:r>
                      <a:endParaRPr sz="20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Pobre uso de los recursos.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/>
                        <a:t>Overlap</a:t>
                      </a:r>
                      <a:r>
                        <a:rPr lang="es-ES" sz="1800" dirty="0"/>
                        <a:t>: Permite un mejor uso de los recursos.</a:t>
                      </a:r>
                      <a:endParaRPr sz="1800"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14" name="Google Shape;131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700" y="2376725"/>
            <a:ext cx="5248950" cy="3086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275" y="2436525"/>
            <a:ext cx="4903650" cy="29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85"/>
          <p:cNvSpPr txBox="1">
            <a:spLocks noGrp="1"/>
          </p:cNvSpPr>
          <p:nvPr>
            <p:ph type="title"/>
          </p:nvPr>
        </p:nvSpPr>
        <p:spPr>
          <a:xfrm>
            <a:off x="916650" y="195813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 comprender todo</a:t>
            </a:r>
            <a:endParaRPr dirty="0"/>
          </a:p>
        </p:txBody>
      </p:sp>
      <p:sp>
        <p:nvSpPr>
          <p:cNvPr id="1321" name="Google Shape;1321;p85"/>
          <p:cNvSpPr txBox="1"/>
          <p:nvPr/>
        </p:nvSpPr>
        <p:spPr>
          <a:xfrm>
            <a:off x="623399" y="939139"/>
            <a:ext cx="11089629" cy="1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Ahora que ha finalizado la clase, se recomienda que vea el video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The</a:t>
            </a:r>
            <a:r>
              <a:rPr lang="es-ES" sz="2200" b="1" dirty="0">
                <a:ea typeface="Roboto"/>
                <a:cs typeface="Roboto"/>
                <a:sym typeface="Roboto"/>
              </a:rPr>
              <a:t> Fancy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Algorithms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That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Make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Your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Computer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Feel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Smoother</a:t>
            </a: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) para que refuerce los conceptos anteriormente explicados.</a:t>
            </a:r>
            <a:endParaRPr sz="2200" dirty="0">
              <a:solidFill>
                <a:srgbClr val="000000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322" name="Google Shape;1322;p85" descr="This video was sponsored by Brilliant.&#10;To try everything Brilliant has to offer—free—for a full 30 days, visit https://brilliant.org/CoreDumped. You’ll also get 20% off an annual premium subscription.&#10;&#10;Join CodeCrafters and learn by creating your own: Redis, Git, Http server, Interpreter, Grep... in your favorite programming language:&#10;https://app.codecrafters.io/join?via=jdvillal&#10;&#10;In this video we start talking about CPU scheduling.&#10;&#10;Timestamps:&#10;&#10;00:03 - Introduction&#10;00:52 - What is CPU Scheduling?&#10;01:14 - Scheduling Criteria&#10;01:30 - CPU Allocation&#10;02:46 - Process Management&#10;04:08 - FCFS Policy (Introduction)&#10;04:24 - I/O Waiting Nature of Processes&#10;05:18 - Sponsor Message&#10;06:29 - Deeper Look at I/O Wait Behavior&#10;08:23 - CPU Bursts vs I/O Bursts&#10;09:52 - CPU Utilization&#10;10:36 - Lifetime of a Process (States)&#10;13:02 - The Dispatcher&#10;14:24 - Scheduler vs Dispatcher&#10;14:38 - Dispatch Latency&#10;15:21 - FCFS Policy (Implementation)&#10;15:58 - FCFS Drawbacks&#10;16:19 - I/O Bound vs CPU-Bound Processes&#10;18:25 - Shortest Job First (SJF) Policy&#10;19:16 - Average Waiting Time&#10;20:16 - Predicting the Next CPU Bursts&#10;24:42 - Preemptive vs Non-Preemptive Scheduling&#10;26:58 - Starvation&#10;27:58 - Round Robin Policy &amp; Time Quantum&#10;29:19 - Hardware Timer&#10;30:33 - Context Switch Overhead&#10;31:04 - Turnaround Time &amp; Trhoughput&#10;32:15 - Response Time&#10;32:54 - Round Robin &amp; Concurency Concerns&#10;34:18 - Priority Scheduling&#10;36:14 - Aging (Starvation Prevention)&#10;37:35 - Multilevel Queue Scheduling&#10;39:11 - Multilevel Feedback Queue Scheduling&#10;43:06 - Mention of Advanced Schedling Techniques&#10;43:33 - Final Clarifications (Threads and I/O queues)&#10;&#10;Questions and business contact:&#10;contact.coredumped@gmail.com&#10;&#10;Sponsor my work on Github:&#10;https://github.com/jdvillal&#10;&#10;Join our discord server:&#10;https://discord.gg/szyQsXfzuv&#10;&#10;Follow me on twitter:&#10; https://twittter.com/coredumpped    &#10;&#10;Twitch:&#10; https://twitch.tv/coredumpped" title="The Fancy Algorithms That Make Your Computer Feel Smooth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0632" y="2111214"/>
            <a:ext cx="7390736" cy="4193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Referencias</a:t>
            </a:r>
            <a:endParaRPr sz="3200" b="1" dirty="0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28" name="Google Shape;1328;p86"/>
          <p:cNvSpPr txBox="1">
            <a:spLocks noGrp="1"/>
          </p:cNvSpPr>
          <p:nvPr>
            <p:ph type="body" idx="1"/>
          </p:nvPr>
        </p:nvSpPr>
        <p:spPr>
          <a:xfrm>
            <a:off x="1011900" y="753300"/>
            <a:ext cx="10515600" cy="593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 err="1">
                <a:latin typeface="+mn-lt"/>
              </a:rPr>
              <a:t>Operating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Systems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Three</a:t>
            </a:r>
            <a:r>
              <a:rPr lang="es-ES" sz="2200" b="1" dirty="0">
                <a:latin typeface="+mn-lt"/>
              </a:rPr>
              <a:t> Easy </a:t>
            </a:r>
            <a:r>
              <a:rPr lang="es-ES" sz="2200" b="1" dirty="0" err="1">
                <a:latin typeface="+mn-lt"/>
              </a:rPr>
              <a:t>Pieces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dirty="0">
                <a:latin typeface="+mn-lt"/>
              </a:rPr>
              <a:t>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200" dirty="0">
                <a:latin typeface="+mn-lt"/>
              </a:rPr>
              <a:t>: Capítulos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1</a:t>
            </a:r>
            <a:r>
              <a:rPr lang="es-ES" sz="2200" dirty="0">
                <a:latin typeface="+mn-lt"/>
              </a:rPr>
              <a:t> y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2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Videos de </a:t>
            </a:r>
            <a:r>
              <a:rPr lang="es-ES" sz="2200" dirty="0" err="1">
                <a:latin typeface="+mn-lt"/>
              </a:rPr>
              <a:t>youtube</a:t>
            </a:r>
            <a:r>
              <a:rPr lang="es-ES" sz="2200" dirty="0">
                <a:latin typeface="+mn-lt"/>
              </a:rPr>
              <a:t>: Clase 1 - Introducción a los sistemas operativos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Página de </a:t>
            </a:r>
            <a:r>
              <a:rPr lang="es-ES" sz="2200" dirty="0" err="1">
                <a:latin typeface="+mn-lt"/>
              </a:rPr>
              <a:t>Remzi</a:t>
            </a:r>
            <a:r>
              <a:rPr lang="es-ES" sz="2200" dirty="0">
                <a:latin typeface="+mn-lt"/>
              </a:rPr>
              <a:t> H. </a:t>
            </a:r>
            <a:r>
              <a:rPr lang="es-ES" sz="2200" dirty="0" err="1">
                <a:latin typeface="+mn-lt"/>
              </a:rPr>
              <a:t>Arpaci-Dusseau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Concepts</a:t>
            </a:r>
            <a:r>
              <a:rPr lang="es-ES" sz="2200" dirty="0">
                <a:latin typeface="+mn-lt"/>
              </a:rPr>
              <a:t> - </a:t>
            </a:r>
            <a:r>
              <a:rPr lang="es-ES" sz="2200" dirty="0" err="1">
                <a:latin typeface="+mn-lt"/>
              </a:rPr>
              <a:t>Tenth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Edition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8"/>
              </a:rPr>
              <a:t>website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Systems</a:t>
            </a:r>
            <a:r>
              <a:rPr lang="es-ES" sz="2200" dirty="0">
                <a:latin typeface="+mn-lt"/>
              </a:rPr>
              <a:t> Notes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https://github.com/Aniruddha-Tapas/Operating-Systems-Notes/blob/master/1-Overview.md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https://myaut.github.io/dtrace-stap-book/kernel/proc.html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https://myaut.github.io/dtrace-stap-book/index.html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http://www.it.uu.se/education/course/homepage/os/vt18/module-4/simple-threads/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https://courses.cs.duke.edu/spring19/compsci590.1/slides/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https://os-lab-simulator.vercel.app/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7"/>
              </a:rPr>
              <a:t>http://cpuburst.com/</a:t>
            </a:r>
            <a:r>
              <a:rPr lang="es-ES" sz="2200" dirty="0">
                <a:latin typeface="+mn-lt"/>
              </a:rPr>
              <a:t>  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8"/>
              </a:rPr>
              <a:t>https://www.merlot.org/merlot/viewMaterial.htm?id=773407108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4395</Words>
  <Application>Microsoft Office PowerPoint</Application>
  <PresentationFormat>Panorámica</PresentationFormat>
  <Paragraphs>1421</Paragraphs>
  <Slides>62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71" baseType="lpstr">
      <vt:lpstr>Roboto Slab</vt:lpstr>
      <vt:lpstr>Calibri</vt:lpstr>
      <vt:lpstr>Courier New</vt:lpstr>
      <vt:lpstr>Arial</vt:lpstr>
      <vt:lpstr>Roboto</vt:lpstr>
      <vt:lpstr>Calibri Light</vt:lpstr>
      <vt:lpstr>Times New Roman</vt:lpstr>
      <vt:lpstr>Cambria Math</vt:lpstr>
      <vt:lpstr>Office Theme</vt:lpstr>
      <vt:lpstr>Apuntes clase 5</vt:lpstr>
      <vt:lpstr>Procesos</vt:lpstr>
      <vt:lpstr>Procesos</vt:lpstr>
      <vt:lpstr>Ejecución directa limitada</vt:lpstr>
      <vt:lpstr>Aproximaciones – Cambio de contexto</vt:lpstr>
      <vt:lpstr>Contextualización</vt:lpstr>
      <vt:lpstr>Contextualización</vt:lpstr>
      <vt:lpstr>Suposiciones de carga de trabajo </vt:lpstr>
      <vt:lpstr>Suposiciones de carga de trabajo </vt:lpstr>
      <vt:lpstr>Suposiciones de carga de trabajo </vt:lpstr>
      <vt:lpstr>Suposiciones de carga de trabajo </vt:lpstr>
      <vt:lpstr>Suposiciones de carga de trabajo </vt:lpstr>
      <vt:lpstr>Suposiciones de carga de trabajo </vt:lpstr>
      <vt:lpstr>Métricas de planificación</vt:lpstr>
      <vt:lpstr>Métricas de planificación</vt:lpstr>
      <vt:lpstr>Algoritmos de planificación de procesos</vt:lpstr>
      <vt:lpstr>First-Come, First-Served (FCFS)</vt:lpstr>
      <vt:lpstr>First-Come, First-Served (FCFS)</vt:lpstr>
      <vt:lpstr>First-Come, First-Served (FCFS)</vt:lpstr>
      <vt:lpstr>First-Come, First-Served (FCFS)</vt:lpstr>
      <vt:lpstr>Relajación de las suposiciones ideales</vt:lpstr>
      <vt:lpstr>First-Come, First-Served (FCFS)</vt:lpstr>
      <vt:lpstr>First-Come, First-Served (FCFS)</vt:lpstr>
      <vt:lpstr>First-Come, First-Served (FCFS)</vt:lpstr>
      <vt:lpstr>Presentación de PowerPoint</vt:lpstr>
      <vt:lpstr>Efecto Convoy</vt:lpstr>
      <vt:lpstr>Shortest Job First (SJF)</vt:lpstr>
      <vt:lpstr>Shortest Job First (SJF)</vt:lpstr>
      <vt:lpstr>Shortest Job First (SJF)</vt:lpstr>
      <vt:lpstr>Shortest Job First (SJF)</vt:lpstr>
      <vt:lpstr>Relajación de las suposiciones ideales</vt:lpstr>
      <vt:lpstr>Shortest Job First (SJF)</vt:lpstr>
      <vt:lpstr>Shortest Job First (SJF)</vt:lpstr>
      <vt:lpstr>Shortest Job First (SJF)</vt:lpstr>
      <vt:lpstr>Shortest Job First (SJF)</vt:lpstr>
      <vt:lpstr>Shortest Time-to-Completion First (STCF)</vt:lpstr>
      <vt:lpstr>Relajando las suposiciones ideales</vt:lpstr>
      <vt:lpstr>Shortest Time-to-Completion First (STCF)</vt:lpstr>
      <vt:lpstr>Shortest Time-to-Completion First (STCF)</vt:lpstr>
      <vt:lpstr>Shortest Time-to-Completion First (STCF)</vt:lpstr>
      <vt:lpstr>Shortest Time-to-Completion First (STCF)</vt:lpstr>
      <vt:lpstr>Resumen algoritmos de planificación (FCFS, SJF, STCF)</vt:lpstr>
      <vt:lpstr>Resumen algoritmos de planificación (FCFS, SJF, STCF)</vt:lpstr>
      <vt:lpstr>Resumen algoritmos de planificación (FCFS, SJF, STCF)</vt:lpstr>
      <vt:lpstr>Response time</vt:lpstr>
      <vt:lpstr>Round Robin (RR)</vt:lpstr>
      <vt:lpstr>Round Robin (RR)</vt:lpstr>
      <vt:lpstr>Round Robin (RR)</vt:lpstr>
      <vt:lpstr>Algoritmo (SJF)</vt:lpstr>
      <vt:lpstr>Algoritmo (SJF)</vt:lpstr>
      <vt:lpstr>Round Robin (RR)</vt:lpstr>
      <vt:lpstr>Round Robin (RR)</vt:lpstr>
      <vt:lpstr>Round Robin (RR)</vt:lpstr>
      <vt:lpstr>Round Robin (RR) .vs. Shortest job first (SJF)</vt:lpstr>
      <vt:lpstr>Round Robin (RR)</vt:lpstr>
      <vt:lpstr>Relajando las suposiciones ideales</vt:lpstr>
      <vt:lpstr>Incorporando I/O</vt:lpstr>
      <vt:lpstr>Incorporando I/O</vt:lpstr>
      <vt:lpstr>Incorporando I/O</vt:lpstr>
      <vt:lpstr>Incorporando I/O</vt:lpstr>
      <vt:lpstr>Para comprender todo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5</dc:title>
  <cp:lastModifiedBy>HENRY ALBERTO ARCILA RAMIREZ</cp:lastModifiedBy>
  <cp:revision>15</cp:revision>
  <dcterms:modified xsi:type="dcterms:W3CDTF">2026-03-03T11:02:41Z</dcterms:modified>
</cp:coreProperties>
</file>