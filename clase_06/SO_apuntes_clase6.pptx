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35"/>
  </p:notesMasterIdLst>
  <p:sldIdLst>
    <p:sldId id="256" r:id="rId2"/>
    <p:sldId id="259" r:id="rId3"/>
    <p:sldId id="260" r:id="rId4"/>
    <p:sldId id="261" r:id="rId5"/>
    <p:sldId id="262" r:id="rId6"/>
    <p:sldId id="265" r:id="rId7"/>
    <p:sldId id="263" r:id="rId8"/>
    <p:sldId id="267" r:id="rId9"/>
    <p:sldId id="268" r:id="rId10"/>
    <p:sldId id="269" r:id="rId11"/>
    <p:sldId id="272" r:id="rId12"/>
    <p:sldId id="274" r:id="rId13"/>
    <p:sldId id="275" r:id="rId14"/>
    <p:sldId id="276" r:id="rId15"/>
    <p:sldId id="277" r:id="rId16"/>
    <p:sldId id="278" r:id="rId17"/>
    <p:sldId id="295" r:id="rId18"/>
    <p:sldId id="297" r:id="rId19"/>
    <p:sldId id="296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</p:sldIdLst>
  <p:sldSz cx="12192000" cy="6858000"/>
  <p:notesSz cx="6858000" cy="9144000"/>
  <p:embeddedFontLs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Calibri Light" panose="020F0302020204030204" pitchFamily="34" charset="0"/>
      <p:regular r:id="rId40"/>
      <p:italic r:id="rId41"/>
    </p:embeddedFont>
    <p:embeddedFont>
      <p:font typeface="Cambria Math" panose="02040503050406030204" pitchFamily="18" charset="0"/>
      <p:regular r:id="rId42"/>
    </p:embeddedFont>
    <p:embeddedFont>
      <p:font typeface="Roboto" panose="02000000000000000000" pitchFamily="2" charset="0"/>
      <p:regular r:id="rId43"/>
      <p:bold r:id="rId44"/>
      <p:italic r:id="rId45"/>
      <p:boldItalic r:id="rId46"/>
    </p:embeddedFont>
    <p:embeddedFont>
      <p:font typeface="Roboto Slab" panose="020B0604020202020204" charset="0"/>
      <p:regular r:id="rId47"/>
      <p:bold r:id="rId48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256816-98E7-43CD-9922-515D8D27F350}">
  <a:tblStyle styleId="{62256816-98E7-43CD-9922-515D8D27F3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91" autoAdjust="0"/>
  </p:normalViewPr>
  <p:slideViewPr>
    <p:cSldViewPr snapToGrid="0">
      <p:cViewPr>
        <p:scale>
          <a:sx n="66" d="100"/>
          <a:sy n="66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43d1bb18a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043d1bb18a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02fc7111b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02fc7111b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0411c0b8f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0411c0b8f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91542c71b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91542c71b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2fc7111bf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g102fc7111bf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0411c0b8f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g10411c0b8f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0411c0b8f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g10411c0b8f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02fc7111bf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g102fc7111bf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053c374b7c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053c374b7c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0411c0b8ff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0411c0b8ff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0411c0b8ff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0411c0b8ff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053c374b7c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053c374b7c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360734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053c374b7c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053c374b7c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376377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053c374b7c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053c374b7c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055023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0411c0b8ff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0411c0b8ff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0411c0b8ff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0411c0b8ff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0411c0b8ff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10411c0b8ff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0411c0b8ff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10411c0b8ff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053c374b7c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053c374b7c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0411c0b8ff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0411c0b8ff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0411c0b8ff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10411c0b8ff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411c0b8ff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411c0b8ff_0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0411c0b8ff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0411c0b8ff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0411c0b8ff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10411c0b8ff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10411c0b8ff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10411c0b8ff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0411c0b8ff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0411c0b8ff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053c374b7c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1053c374b7c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04304384e2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4" name="Google Shape;604;g104304384e2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B5B5A-751F-4EBB-82EE-2A63E1FF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9D16B5-E75E-4B4F-8250-EC31F987C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1F386C-5813-4936-AEA1-CA9083E1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1D2CD9-E31A-4456-8518-E8057D1F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C075BC-0C02-4E76-A012-8D0857C4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5867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867E64-BEE0-4896-9108-5B1E4E35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977962-096A-4CEC-96C0-1550294D6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3FC936-9C50-46D8-97E4-471A50706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8DC04D-83A3-4235-B5B8-4C5B5A17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4F2A07-531E-4C23-A0B9-901B0610D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96116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3A989-C08A-4DC3-9168-23114229F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B73D69-C4BA-4AD6-9B08-11BD201A7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BDC8EA-C11B-4B7C-912A-F0AD89901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2D1180-27A3-4905-BE61-D468FBAB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A7DDDA-1F33-4F6A-A187-5981CD3A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455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C5643-EEE6-4966-B235-BCC178D12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17F486-A0DD-4694-AB17-BAF39130C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3F0296-D09D-4B59-8D85-3690CE005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716792-204E-436C-A62E-88C03AF53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E754C0-63F8-4AED-8828-F86CB01B8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854AD7-B5B8-46CA-B108-171AE5A3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9310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5CF99B-B946-426C-B084-5AFC4EC0C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0E4BBE-28B5-43C7-9588-D2AEE38EA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7A3BD0-643B-4761-8C6A-B6E5430C6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2B7580-1AD1-40E0-B771-1751D9660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AE4B8AB-0704-4D24-A49E-AD8D399B66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6B6E3BF-6A17-40B6-A908-ECCC7D223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0845EE1-FD79-4D90-88FB-6923EE07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A67E8E6-478B-4C62-BA82-F0B91582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152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6777B-268F-4C17-90D7-F9F6819C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EFFFEC-DF47-4CF1-8756-9AA9BF017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22209EF-46E2-4E31-BA81-1A3BF5F4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78B6800-91AF-4040-AB63-3FE86F65B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3490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BE428C6-ED43-463E-AEFD-CF0EF0A83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39CEE9-7D37-4A86-BA34-969CC264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A26C2A-D94A-483B-B57B-D4729C87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586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63EDD-C54A-4B6A-8EE0-9143C9143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399C86-A3DA-4AF0-80A4-C0034F2E4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83BF8F-21C8-464F-B202-363610192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8D2092-651A-4640-98EB-49556251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9A0433-E18E-4766-9E94-EB264AB4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8F878D-7FAF-407A-A0F2-5CF6719D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470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1C5A6C-EEA9-48B1-9BD4-4F2E8591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0EDC858-BA74-49D7-8864-7682173FB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701689-C61C-46FC-9DD0-2005AF6B3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85B2D8-1335-4087-9C8C-004539CC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9C1B91-2AAA-4BB6-95FA-9F439C851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3469A3-1F0B-4592-A2CF-B79EEFC43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5819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CE142-F612-4F86-B80B-68A4D922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51C691-3A25-4AA5-888A-D9C71FEC4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A06C9B-70DE-4FF6-987C-2E25691CD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8D31DB-8445-45E8-992A-5C70EF172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AEE7FB-D0A9-417F-8F0F-B023AF59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9042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CE1840-C51A-4E76-B2A0-DA9BCE4CE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AE21DF-8661-4CBD-9BF8-36F76E857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4A1A1A-9A8B-4AF9-B6FD-26BA95270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40256C-90B7-4BAF-90FD-508F135B7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ACF4A6-78C7-4AB8-A64A-BA02C85F5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2010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248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523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106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42ADBB-CF2B-45BD-B15B-F6BEFA4BF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3C5165-9F04-4027-9411-C26CCA58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D8C03F-E4E2-47DA-9327-8BA03B824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95F423-CC6C-4036-A948-F3B07C86B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710695-E826-4F2F-AD50-D1F8F7083E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814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s-book.com/OS10/index.html" TargetMode="External"/><Relationship Id="rId13" Type="http://schemas.openxmlformats.org/officeDocument/2006/relationships/hyperlink" Target="https://www.technologyuk.net/computing/computer-software/operating-systems/operating-system-utilities.shtml" TargetMode="External"/><Relationship Id="rId18" Type="http://schemas.openxmlformats.org/officeDocument/2006/relationships/hyperlink" Target="https://github.com/silentzero192/Operating-Systems-Lab/tree/main" TargetMode="External"/><Relationship Id="rId3" Type="http://schemas.openxmlformats.org/officeDocument/2006/relationships/hyperlink" Target="http://pages.cs.wisc.edu/~remzi/OSTEP/" TargetMode="External"/><Relationship Id="rId7" Type="http://schemas.openxmlformats.org/officeDocument/2006/relationships/hyperlink" Target="http://pages.cs.wisc.edu/~remzi/" TargetMode="External"/><Relationship Id="rId12" Type="http://schemas.openxmlformats.org/officeDocument/2006/relationships/hyperlink" Target="https://myaut.github.io/dtrace-stap-book/index.html" TargetMode="External"/><Relationship Id="rId17" Type="http://schemas.openxmlformats.org/officeDocument/2006/relationships/hyperlink" Target="https://www.merlot.org/merlot/viewMaterial.htm?id=773407108" TargetMode="External"/><Relationship Id="rId2" Type="http://schemas.openxmlformats.org/officeDocument/2006/relationships/notesSlide" Target="../notesSlides/notesSlide33.xml"/><Relationship Id="rId16" Type="http://schemas.openxmlformats.org/officeDocument/2006/relationships/hyperlink" Target="https://github.com/ls1-sys-prog-course/docs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youtube.com/playlist?list=PLlTZ99qnw3zKBiKz7pZ_ErH3AR3rpaaKT" TargetMode="External"/><Relationship Id="rId11" Type="http://schemas.openxmlformats.org/officeDocument/2006/relationships/hyperlink" Target="https://myaut.github.io/dtrace-stap-book/kernel/proc.html" TargetMode="External"/><Relationship Id="rId5" Type="http://schemas.openxmlformats.org/officeDocument/2006/relationships/hyperlink" Target="http://pages.cs.wisc.edu/~remzi/OSTEP/intro.pdf" TargetMode="External"/><Relationship Id="rId15" Type="http://schemas.openxmlformats.org/officeDocument/2006/relationships/hyperlink" Target="https://courses.cs.duke.edu/spring19/compsci590.1/slides/" TargetMode="External"/><Relationship Id="rId10" Type="http://schemas.openxmlformats.org/officeDocument/2006/relationships/hyperlink" Target="https://github.com/Aniruddha-Tapas/Operating-Systems-Notes/blob/master/1-Overview.md" TargetMode="External"/><Relationship Id="rId19" Type="http://schemas.openxmlformats.org/officeDocument/2006/relationships/hyperlink" Target="https://github.com/getvmio/free-operating-system-resources" TargetMode="External"/><Relationship Id="rId4" Type="http://schemas.openxmlformats.org/officeDocument/2006/relationships/hyperlink" Target="http://pages.cs.wisc.edu/~remzi/OSTEP/dialogue-threeeasy.pdf" TargetMode="External"/><Relationship Id="rId9" Type="http://schemas.openxmlformats.org/officeDocument/2006/relationships/hyperlink" Target="https://applied-programming.github.io/Operating-Systems-Notes/" TargetMode="External"/><Relationship Id="rId14" Type="http://schemas.openxmlformats.org/officeDocument/2006/relationships/hyperlink" Target="http://www.it.uu.se/education/course/homepage/os/vt18/module-4/simple-thread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5" y="2964875"/>
            <a:ext cx="10977030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Apuntes clase 6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1524000" y="3764270"/>
            <a:ext cx="9144000" cy="165576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b="1" dirty="0"/>
              <a:t>Multi-</a:t>
            </a:r>
            <a:r>
              <a:rPr lang="es-ES" b="1" dirty="0" err="1"/>
              <a:t>Level</a:t>
            </a:r>
            <a:r>
              <a:rPr lang="es-ES" b="1" dirty="0"/>
              <a:t> Feedback Queue</a:t>
            </a:r>
          </a:p>
          <a:p>
            <a:r>
              <a:rPr lang="es-ES" dirty="0">
                <a:latin typeface="Roboto"/>
                <a:ea typeface="Roboto"/>
                <a:cs typeface="Roboto"/>
                <a:sym typeface="Roboto"/>
              </a:rPr>
              <a:t>05/03/2026</a:t>
            </a:r>
            <a:endParaRPr lang="es-ES" sz="16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806375" y="159250"/>
            <a:ext cx="10515600" cy="95332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clase anterior</a:t>
            </a:r>
            <a:endParaRPr dirty="0"/>
          </a:p>
        </p:txBody>
      </p:sp>
      <p:sp>
        <p:nvSpPr>
          <p:cNvPr id="158" name="Google Shape;158;p20"/>
          <p:cNvSpPr txBox="1">
            <a:spLocks noGrp="1"/>
          </p:cNvSpPr>
          <p:nvPr>
            <p:ph idx="1"/>
          </p:nvPr>
        </p:nvSpPr>
        <p:spPr>
          <a:xfrm>
            <a:off x="870025" y="1200001"/>
            <a:ext cx="10578900" cy="61442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2"/>
                </a:solidFill>
              </a:rPr>
              <a:t>El Scheduler</a:t>
            </a:r>
            <a:endParaRPr sz="2500" dirty="0">
              <a:solidFill>
                <a:srgbClr val="000000"/>
              </a:solidFill>
            </a:endParaRPr>
          </a:p>
        </p:txBody>
      </p:sp>
      <p:graphicFrame>
        <p:nvGraphicFramePr>
          <p:cNvPr id="160" name="Google Shape;160;p20"/>
          <p:cNvGraphicFramePr/>
          <p:nvPr/>
        </p:nvGraphicFramePr>
        <p:xfrm>
          <a:off x="7950100" y="3271838"/>
          <a:ext cx="3025625" cy="856225"/>
        </p:xfrm>
        <a:graphic>
          <a:graphicData uri="http://schemas.openxmlformats.org/drawingml/2006/table">
            <a:tbl>
              <a:tblPr>
                <a:noFill/>
                <a:tableStyleId>{62256816-98E7-43CD-9922-515D8D27F350}</a:tableStyleId>
              </a:tblPr>
              <a:tblGrid>
                <a:gridCol w="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1" name="Google Shape;161;p20"/>
          <p:cNvCxnSpPr/>
          <p:nvPr/>
        </p:nvCxnSpPr>
        <p:spPr>
          <a:xfrm>
            <a:off x="7947325" y="3021200"/>
            <a:ext cx="4005300" cy="11175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7074575" y="3392013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11321975" y="3665575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1018825" y="2347275"/>
            <a:ext cx="1066800" cy="2971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9E9E9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8399200" y="2857674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66" name="Google Shape;166;p20"/>
          <p:cNvSpPr/>
          <p:nvPr/>
        </p:nvSpPr>
        <p:spPr>
          <a:xfrm>
            <a:off x="8981125" y="2847399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67" name="Google Shape;167;p20"/>
          <p:cNvSpPr/>
          <p:nvPr/>
        </p:nvSpPr>
        <p:spPr>
          <a:xfrm>
            <a:off x="9563050" y="2837924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68" name="Google Shape;168;p20"/>
          <p:cNvSpPr txBox="1"/>
          <p:nvPr/>
        </p:nvSpPr>
        <p:spPr>
          <a:xfrm>
            <a:off x="8337825" y="252832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8919375" y="250697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9483400" y="250697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1186675" y="2672175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1193800" y="3712213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3900" y="3120200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5213" y="2443122"/>
            <a:ext cx="1213362" cy="1209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/>
          <p:nvPr/>
        </p:nvCxnSpPr>
        <p:spPr>
          <a:xfrm>
            <a:off x="2168875" y="3121975"/>
            <a:ext cx="863100" cy="619800"/>
          </a:xfrm>
          <a:prstGeom prst="straightConnector1">
            <a:avLst/>
          </a:prstGeom>
          <a:noFill/>
          <a:ln w="28575" cap="flat" cmpd="sng">
            <a:solidFill>
              <a:srgbClr val="888888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76" name="Google Shape;176;p20"/>
          <p:cNvCxnSpPr/>
          <p:nvPr/>
        </p:nvCxnSpPr>
        <p:spPr>
          <a:xfrm>
            <a:off x="3040075" y="3712213"/>
            <a:ext cx="181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7" name="Google Shape;177;p20"/>
          <p:cNvSpPr/>
          <p:nvPr/>
        </p:nvSpPr>
        <p:spPr>
          <a:xfrm>
            <a:off x="2707878" y="3207625"/>
            <a:ext cx="258350" cy="891975"/>
          </a:xfrm>
          <a:custGeom>
            <a:avLst/>
            <a:gdLst/>
            <a:ahLst/>
            <a:cxnLst/>
            <a:rect l="l" t="t" r="r" b="b"/>
            <a:pathLst>
              <a:path w="10334" h="35679" extrusionOk="0">
                <a:moveTo>
                  <a:pt x="10334" y="0"/>
                </a:moveTo>
                <a:cubicBezTo>
                  <a:pt x="8872" y="1852"/>
                  <a:pt x="3120" y="7116"/>
                  <a:pt x="1560" y="11113"/>
                </a:cubicBezTo>
                <a:cubicBezTo>
                  <a:pt x="0" y="15110"/>
                  <a:pt x="-487" y="19887"/>
                  <a:pt x="975" y="23981"/>
                </a:cubicBezTo>
                <a:cubicBezTo>
                  <a:pt x="2437" y="28075"/>
                  <a:pt x="8774" y="33729"/>
                  <a:pt x="10334" y="35679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78" name="Google Shape;178;p20"/>
          <p:cNvSpPr txBox="1"/>
          <p:nvPr/>
        </p:nvSpPr>
        <p:spPr>
          <a:xfrm>
            <a:off x="2208600" y="3418500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 b="1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 flipH="1">
            <a:off x="3007299" y="2045275"/>
            <a:ext cx="142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Scheduler</a:t>
            </a:r>
            <a:endParaRPr sz="1800" b="1" dirty="0">
              <a:solidFill>
                <a:srgbClr val="0B693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190275" y="4637975"/>
            <a:ext cx="72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 flipH="1">
            <a:off x="2707875" y="4917475"/>
            <a:ext cx="156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Workload</a:t>
            </a:r>
            <a:endParaRPr sz="1800" b="1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82" name="Google Shape;182;p20"/>
          <p:cNvCxnSpPr>
            <a:stCxn id="181" idx="3"/>
          </p:cNvCxnSpPr>
          <p:nvPr/>
        </p:nvCxnSpPr>
        <p:spPr>
          <a:xfrm rot="10800000">
            <a:off x="2194275" y="5001625"/>
            <a:ext cx="513600" cy="146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83" name="Google Shape;18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9675" y="4591266"/>
            <a:ext cx="1429200" cy="1114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>
            <a:spLocks noGrp="1"/>
          </p:cNvSpPr>
          <p:nvPr>
            <p:ph type="title"/>
          </p:nvPr>
        </p:nvSpPr>
        <p:spPr>
          <a:xfrm>
            <a:off x="838200" y="69831"/>
            <a:ext cx="10515600" cy="980169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clase anterior</a:t>
            </a:r>
            <a:endParaRPr dirty="0"/>
          </a:p>
        </p:txBody>
      </p:sp>
      <p:sp>
        <p:nvSpPr>
          <p:cNvPr id="189" name="Google Shape;189;p21"/>
          <p:cNvSpPr txBox="1">
            <a:spLocks noGrp="1"/>
          </p:cNvSpPr>
          <p:nvPr>
            <p:ph idx="1"/>
          </p:nvPr>
        </p:nvSpPr>
        <p:spPr>
          <a:xfrm>
            <a:off x="698789" y="987552"/>
            <a:ext cx="10611000" cy="65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2"/>
                </a:solidFill>
              </a:rPr>
              <a:t>Métricas - Turnaround time</a:t>
            </a:r>
            <a:endParaRPr sz="2800" b="1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515213" y="1824775"/>
            <a:ext cx="7468175" cy="3395775"/>
            <a:chOff x="3810613" y="1596175"/>
            <a:chExt cx="7468175" cy="3395775"/>
          </a:xfrm>
        </p:grpSpPr>
        <p:cxnSp>
          <p:nvCxnSpPr>
            <p:cNvPr id="192" name="Google Shape;192;p21"/>
            <p:cNvCxnSpPr/>
            <p:nvPr/>
          </p:nvCxnSpPr>
          <p:spPr>
            <a:xfrm>
              <a:off x="4571113" y="2167675"/>
              <a:ext cx="6404400" cy="1625700"/>
            </a:xfrm>
            <a:prstGeom prst="bentConnector3">
              <a:avLst>
                <a:gd name="adj1" fmla="val 5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93" name="Google Shape;193;p21"/>
            <p:cNvSpPr txBox="1"/>
            <p:nvPr/>
          </p:nvSpPr>
          <p:spPr>
            <a:xfrm>
              <a:off x="3810613" y="2725513"/>
              <a:ext cx="760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latin typeface="Courier New"/>
                  <a:ea typeface="Courier New"/>
                  <a:cs typeface="Courier New"/>
                  <a:sym typeface="Courier New"/>
                </a:rPr>
                <a:t>CPU</a:t>
              </a:r>
              <a:endParaRPr sz="22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94" name="Google Shape;194;p21"/>
            <p:cNvSpPr txBox="1"/>
            <p:nvPr/>
          </p:nvSpPr>
          <p:spPr>
            <a:xfrm>
              <a:off x="10518288" y="3793375"/>
              <a:ext cx="760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195" name="Google Shape;195;p21"/>
            <p:cNvCxnSpPr/>
            <p:nvPr/>
          </p:nvCxnSpPr>
          <p:spPr>
            <a:xfrm flipH="1">
              <a:off x="5427213" y="2281525"/>
              <a:ext cx="7500" cy="233640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96" name="Google Shape;196;p21"/>
            <p:cNvSpPr/>
            <p:nvPr/>
          </p:nvSpPr>
          <p:spPr>
            <a:xfrm>
              <a:off x="5182563" y="1596175"/>
              <a:ext cx="507900" cy="5373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6873238" y="2843875"/>
              <a:ext cx="1143000" cy="949500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22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198" name="Google Shape;198;p21"/>
            <p:cNvCxnSpPr/>
            <p:nvPr/>
          </p:nvCxnSpPr>
          <p:spPr>
            <a:xfrm>
              <a:off x="8017925" y="2293850"/>
              <a:ext cx="9600" cy="23907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99" name="Google Shape;199;p21"/>
            <p:cNvSpPr/>
            <p:nvPr/>
          </p:nvSpPr>
          <p:spPr>
            <a:xfrm rot="10800000" flipH="1">
              <a:off x="5428463" y="3789476"/>
              <a:ext cx="276393" cy="260401"/>
            </a:xfrm>
            <a:custGeom>
              <a:avLst/>
              <a:gdLst/>
              <a:ahLst/>
              <a:cxnLst/>
              <a:rect l="l" t="t" r="r" b="b"/>
              <a:pathLst>
                <a:path w="48768" h="20320" extrusionOk="0">
                  <a:moveTo>
                    <a:pt x="0" y="20320"/>
                  </a:moveTo>
                  <a:lnTo>
                    <a:pt x="15240" y="0"/>
                  </a:lnTo>
                  <a:lnTo>
                    <a:pt x="48768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pic>
          <p:nvPicPr>
            <p:cNvPr id="200" name="Google Shape;200;p21" descr="T_{arrival}" title="MathEquation,#ff00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90250" y="3867650"/>
              <a:ext cx="962324" cy="344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1" descr="T_{completion}" title="MathEquation,#ff00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52813" y="3846988"/>
              <a:ext cx="1468824" cy="407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2" name="Google Shape;202;p21"/>
            <p:cNvCxnSpPr/>
            <p:nvPr/>
          </p:nvCxnSpPr>
          <p:spPr>
            <a:xfrm>
              <a:off x="5445850" y="4495550"/>
              <a:ext cx="2570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pic>
          <p:nvPicPr>
            <p:cNvPr id="203" name="Google Shape;203;p21" descr="T_{turnarround}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896625" y="4622800"/>
              <a:ext cx="1668550" cy="369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21"/>
            <p:cNvSpPr/>
            <p:nvPr/>
          </p:nvSpPr>
          <p:spPr>
            <a:xfrm rot="10800000" flipH="1">
              <a:off x="8027525" y="3795876"/>
              <a:ext cx="276393" cy="260401"/>
            </a:xfrm>
            <a:custGeom>
              <a:avLst/>
              <a:gdLst/>
              <a:ahLst/>
              <a:cxnLst/>
              <a:rect l="l" t="t" r="r" b="b"/>
              <a:pathLst>
                <a:path w="48768" h="20320" extrusionOk="0">
                  <a:moveTo>
                    <a:pt x="0" y="20320"/>
                  </a:moveTo>
                  <a:lnTo>
                    <a:pt x="15240" y="0"/>
                  </a:lnTo>
                  <a:lnTo>
                    <a:pt x="48768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  <p:grpSp>
        <p:nvGrpSpPr>
          <p:cNvPr id="205" name="Google Shape;205;p21"/>
          <p:cNvGrpSpPr/>
          <p:nvPr/>
        </p:nvGrpSpPr>
        <p:grpSpPr>
          <a:xfrm>
            <a:off x="2068950" y="5494425"/>
            <a:ext cx="8054100" cy="712500"/>
            <a:chOff x="1892975" y="5850600"/>
            <a:chExt cx="8054100" cy="712500"/>
          </a:xfrm>
        </p:grpSpPr>
        <p:sp>
          <p:nvSpPr>
            <p:cNvPr id="206" name="Google Shape;206;p21"/>
            <p:cNvSpPr/>
            <p:nvPr/>
          </p:nvSpPr>
          <p:spPr>
            <a:xfrm>
              <a:off x="1892975" y="5850600"/>
              <a:ext cx="8054100" cy="7125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7" name="Google Shape;207;p21" descr="T_{turnarround}=T_{completion}-T_{arrival}" title="MathEquation,#00000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294551" y="5919737"/>
              <a:ext cx="7067526" cy="574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>
            <a:spLocks noGrp="1"/>
          </p:cNvSpPr>
          <p:nvPr>
            <p:ph type="title"/>
          </p:nvPr>
        </p:nvSpPr>
        <p:spPr>
          <a:xfrm>
            <a:off x="838200" y="207244"/>
            <a:ext cx="10515600" cy="821198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clase anterior</a:t>
            </a:r>
            <a:endParaRPr dirty="0"/>
          </a:p>
        </p:txBody>
      </p:sp>
      <p:sp>
        <p:nvSpPr>
          <p:cNvPr id="213" name="Google Shape;213;p22"/>
          <p:cNvSpPr txBox="1">
            <a:spLocks noGrp="1"/>
          </p:cNvSpPr>
          <p:nvPr>
            <p:ph idx="1"/>
          </p:nvPr>
        </p:nvSpPr>
        <p:spPr>
          <a:xfrm>
            <a:off x="419575" y="967400"/>
            <a:ext cx="10749300" cy="60041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2"/>
                </a:solidFill>
              </a:rPr>
              <a:t>Métricas - Response Time</a:t>
            </a:r>
            <a:endParaRPr sz="2800" b="1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14" name="Google Shape;214;p22"/>
          <p:cNvGrpSpPr/>
          <p:nvPr/>
        </p:nvGrpSpPr>
        <p:grpSpPr>
          <a:xfrm>
            <a:off x="2743313" y="1758775"/>
            <a:ext cx="7420550" cy="3403923"/>
            <a:chOff x="3010513" y="1910500"/>
            <a:chExt cx="7420550" cy="3403923"/>
          </a:xfrm>
        </p:grpSpPr>
        <p:cxnSp>
          <p:nvCxnSpPr>
            <p:cNvPr id="215" name="Google Shape;215;p22"/>
            <p:cNvCxnSpPr/>
            <p:nvPr/>
          </p:nvCxnSpPr>
          <p:spPr>
            <a:xfrm>
              <a:off x="3771013" y="2482000"/>
              <a:ext cx="6404400" cy="1625700"/>
            </a:xfrm>
            <a:prstGeom prst="bentConnector3">
              <a:avLst>
                <a:gd name="adj1" fmla="val 5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16" name="Google Shape;216;p22"/>
            <p:cNvSpPr txBox="1"/>
            <p:nvPr/>
          </p:nvSpPr>
          <p:spPr>
            <a:xfrm>
              <a:off x="3010513" y="3039838"/>
              <a:ext cx="760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latin typeface="Courier New"/>
                  <a:ea typeface="Courier New"/>
                  <a:cs typeface="Courier New"/>
                  <a:sym typeface="Courier New"/>
                </a:rPr>
                <a:t>CPU</a:t>
              </a:r>
              <a:endParaRPr sz="22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7" name="Google Shape;217;p22"/>
            <p:cNvSpPr txBox="1"/>
            <p:nvPr/>
          </p:nvSpPr>
          <p:spPr>
            <a:xfrm>
              <a:off x="9670563" y="4186400"/>
              <a:ext cx="760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18" name="Google Shape;218;p22"/>
            <p:cNvCxnSpPr/>
            <p:nvPr/>
          </p:nvCxnSpPr>
          <p:spPr>
            <a:xfrm>
              <a:off x="4632913" y="2617000"/>
              <a:ext cx="11700" cy="220110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19" name="Google Shape;219;p22"/>
            <p:cNvSpPr/>
            <p:nvPr/>
          </p:nvSpPr>
          <p:spPr>
            <a:xfrm>
              <a:off x="4382463" y="1910500"/>
              <a:ext cx="507900" cy="5373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6073138" y="3158200"/>
              <a:ext cx="1143000" cy="949500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22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21" name="Google Shape;221;p22"/>
            <p:cNvCxnSpPr/>
            <p:nvPr/>
          </p:nvCxnSpPr>
          <p:spPr>
            <a:xfrm>
              <a:off x="6066100" y="2618825"/>
              <a:ext cx="12300" cy="21984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pic>
          <p:nvPicPr>
            <p:cNvPr id="222" name="Google Shape;222;p22" descr="T_{arrival}" title="MathEquation,#ff00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62988" y="4207825"/>
              <a:ext cx="962324" cy="344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2" descr="T_{firstrun}" title="MathEquation,#ff00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65212" y="4207826"/>
              <a:ext cx="1140124" cy="407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4" name="Google Shape;224;p22"/>
            <p:cNvCxnSpPr/>
            <p:nvPr/>
          </p:nvCxnSpPr>
          <p:spPr>
            <a:xfrm>
              <a:off x="4651725" y="4796850"/>
              <a:ext cx="1409700" cy="7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pic>
          <p:nvPicPr>
            <p:cNvPr id="225" name="Google Shape;225;p22" descr="T_{response}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31177" y="4900098"/>
              <a:ext cx="1250798" cy="414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22"/>
            <p:cNvSpPr/>
            <p:nvPr/>
          </p:nvSpPr>
          <p:spPr>
            <a:xfrm rot="10800000" flipH="1">
              <a:off x="4641813" y="4107701"/>
              <a:ext cx="276393" cy="260401"/>
            </a:xfrm>
            <a:custGeom>
              <a:avLst/>
              <a:gdLst/>
              <a:ahLst/>
              <a:cxnLst/>
              <a:rect l="l" t="t" r="r" b="b"/>
              <a:pathLst>
                <a:path w="48768" h="20320" extrusionOk="0">
                  <a:moveTo>
                    <a:pt x="0" y="20320"/>
                  </a:moveTo>
                  <a:lnTo>
                    <a:pt x="15240" y="0"/>
                  </a:lnTo>
                  <a:lnTo>
                    <a:pt x="48768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27" name="Google Shape;227;p22"/>
            <p:cNvSpPr/>
            <p:nvPr/>
          </p:nvSpPr>
          <p:spPr>
            <a:xfrm rot="10800000" flipH="1">
              <a:off x="6073150" y="4107701"/>
              <a:ext cx="276393" cy="260401"/>
            </a:xfrm>
            <a:custGeom>
              <a:avLst/>
              <a:gdLst/>
              <a:ahLst/>
              <a:cxnLst/>
              <a:rect l="l" t="t" r="r" b="b"/>
              <a:pathLst>
                <a:path w="48768" h="20320" extrusionOk="0">
                  <a:moveTo>
                    <a:pt x="0" y="20320"/>
                  </a:moveTo>
                  <a:lnTo>
                    <a:pt x="15240" y="0"/>
                  </a:lnTo>
                  <a:lnTo>
                    <a:pt x="48768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  <p:grpSp>
        <p:nvGrpSpPr>
          <p:cNvPr id="228" name="Google Shape;228;p22"/>
          <p:cNvGrpSpPr/>
          <p:nvPr/>
        </p:nvGrpSpPr>
        <p:grpSpPr>
          <a:xfrm>
            <a:off x="2803625" y="5506950"/>
            <a:ext cx="6823200" cy="712500"/>
            <a:chOff x="2561875" y="5875925"/>
            <a:chExt cx="6823200" cy="712500"/>
          </a:xfrm>
        </p:grpSpPr>
        <p:sp>
          <p:nvSpPr>
            <p:cNvPr id="229" name="Google Shape;229;p22"/>
            <p:cNvSpPr/>
            <p:nvPr/>
          </p:nvSpPr>
          <p:spPr>
            <a:xfrm>
              <a:off x="2561875" y="5875925"/>
              <a:ext cx="6823200" cy="7125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0" name="Google Shape;230;p22" descr="T_{response}=T_{firstrun}-T_{arrival}" title="MathEquation,#00000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944562" y="5928300"/>
              <a:ext cx="6154524" cy="607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>
            <a:spLocks noGrp="1"/>
          </p:cNvSpPr>
          <p:nvPr>
            <p:ph type="title"/>
          </p:nvPr>
        </p:nvSpPr>
        <p:spPr>
          <a:xfrm>
            <a:off x="838200" y="259369"/>
            <a:ext cx="10515600" cy="73132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clase anterior</a:t>
            </a:r>
            <a:endParaRPr dirty="0"/>
          </a:p>
        </p:txBody>
      </p:sp>
      <p:sp>
        <p:nvSpPr>
          <p:cNvPr id="236" name="Google Shape;236;p23"/>
          <p:cNvSpPr txBox="1">
            <a:spLocks noGrp="1"/>
          </p:cNvSpPr>
          <p:nvPr>
            <p:ph idx="1"/>
          </p:nvPr>
        </p:nvSpPr>
        <p:spPr>
          <a:xfrm>
            <a:off x="916650" y="1078400"/>
            <a:ext cx="10749300" cy="269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Suposiciones ideales</a:t>
            </a:r>
            <a:endParaRPr sz="2800" b="1" dirty="0">
              <a:solidFill>
                <a:schemeClr val="accent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/>
              <a:t>Cada trabajo se ejecuta por la </a:t>
            </a:r>
            <a:r>
              <a:rPr lang="es-ES" sz="2400" dirty="0">
                <a:solidFill>
                  <a:srgbClr val="FF0000"/>
                </a:solidFill>
              </a:rPr>
              <a:t>misma cantidad de tiempo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/>
              <a:t>Todos los trabajos son </a:t>
            </a:r>
            <a:r>
              <a:rPr lang="es-ES" sz="2400" dirty="0">
                <a:solidFill>
                  <a:srgbClr val="FF0000"/>
                </a:solidFill>
              </a:rPr>
              <a:t>iniciados al mismo tiempo (</a:t>
            </a:r>
            <a:r>
              <a:rPr lang="es-ES" sz="2400" dirty="0" err="1">
                <a:solidFill>
                  <a:srgbClr val="FF0000"/>
                </a:solidFill>
              </a:rPr>
              <a:t>arrival</a:t>
            </a:r>
            <a:r>
              <a:rPr lang="es-ES" sz="2400" dirty="0">
                <a:solidFill>
                  <a:srgbClr val="FF0000"/>
                </a:solidFill>
              </a:rPr>
              <a:t> time)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/>
              <a:t>Una vez iniciado, cada trabajo </a:t>
            </a:r>
            <a:r>
              <a:rPr lang="es-ES" sz="2400" dirty="0">
                <a:solidFill>
                  <a:srgbClr val="FF0000"/>
                </a:solidFill>
              </a:rPr>
              <a:t>se ejecuta hasta su finalización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/>
              <a:t>Todos los trabajos solo </a:t>
            </a:r>
            <a:r>
              <a:rPr lang="es-ES" sz="2400" dirty="0">
                <a:solidFill>
                  <a:srgbClr val="FF0000"/>
                </a:solidFill>
              </a:rPr>
              <a:t>usan la CPU (no I/O)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/>
              <a:t>El </a:t>
            </a:r>
            <a:r>
              <a:rPr lang="es-ES" sz="2400" dirty="0">
                <a:solidFill>
                  <a:srgbClr val="FF0000"/>
                </a:solidFill>
              </a:rPr>
              <a:t>tiempo de ejecución</a:t>
            </a:r>
            <a:r>
              <a:rPr lang="es-ES" sz="2400" dirty="0"/>
              <a:t> de cada trabajo es conocido (runtime).</a:t>
            </a:r>
            <a:endParaRPr b="1" dirty="0">
              <a:solidFill>
                <a:srgbClr val="8CC63E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7" name="Google Shape;237;p23"/>
          <p:cNvSpPr txBox="1"/>
          <p:nvPr/>
        </p:nvSpPr>
        <p:spPr>
          <a:xfrm>
            <a:off x="972100" y="3809150"/>
            <a:ext cx="10536600" cy="92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medida que avanzamos, las suposiciones se iban relajando para acercarnos más a la realidad</a:t>
            </a:r>
            <a:endParaRPr/>
          </a:p>
        </p:txBody>
      </p:sp>
      <p:grpSp>
        <p:nvGrpSpPr>
          <p:cNvPr id="238" name="Google Shape;238;p23"/>
          <p:cNvGrpSpPr/>
          <p:nvPr/>
        </p:nvGrpSpPr>
        <p:grpSpPr>
          <a:xfrm>
            <a:off x="2834375" y="5112650"/>
            <a:ext cx="6526100" cy="1270013"/>
            <a:chOff x="2758175" y="5112650"/>
            <a:chExt cx="6526100" cy="1270013"/>
          </a:xfrm>
        </p:grpSpPr>
        <p:grpSp>
          <p:nvGrpSpPr>
            <p:cNvPr id="239" name="Google Shape;239;p23"/>
            <p:cNvGrpSpPr/>
            <p:nvPr/>
          </p:nvGrpSpPr>
          <p:grpSpPr>
            <a:xfrm>
              <a:off x="2758175" y="5112650"/>
              <a:ext cx="6526100" cy="648900"/>
              <a:chOff x="2758175" y="5112650"/>
              <a:chExt cx="6526100" cy="648900"/>
            </a:xfrm>
          </p:grpSpPr>
          <p:sp>
            <p:nvSpPr>
              <p:cNvPr id="240" name="Google Shape;240;p23"/>
              <p:cNvSpPr/>
              <p:nvPr/>
            </p:nvSpPr>
            <p:spPr>
              <a:xfrm>
                <a:off x="2758175" y="51126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241" name="Google Shape;241;p23"/>
              <p:cNvSpPr/>
              <p:nvPr/>
            </p:nvSpPr>
            <p:spPr>
              <a:xfrm>
                <a:off x="4233850" y="51126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242" name="Google Shape;242;p23"/>
              <p:cNvSpPr/>
              <p:nvPr/>
            </p:nvSpPr>
            <p:spPr>
              <a:xfrm>
                <a:off x="5709525" y="51126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243" name="Google Shape;243;p23"/>
              <p:cNvSpPr/>
              <p:nvPr/>
            </p:nvSpPr>
            <p:spPr>
              <a:xfrm>
                <a:off x="7185200" y="51126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244" name="Google Shape;244;p23"/>
              <p:cNvSpPr/>
              <p:nvPr/>
            </p:nvSpPr>
            <p:spPr>
              <a:xfrm>
                <a:off x="8660875" y="51126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245" name="Google Shape;245;p23"/>
            <p:cNvGrpSpPr/>
            <p:nvPr/>
          </p:nvGrpSpPr>
          <p:grpSpPr>
            <a:xfrm>
              <a:off x="2848263" y="5936962"/>
              <a:ext cx="6405250" cy="445700"/>
              <a:chOff x="2848263" y="5936962"/>
              <a:chExt cx="6405250" cy="445700"/>
            </a:xfrm>
          </p:grpSpPr>
          <p:pic>
            <p:nvPicPr>
              <p:cNvPr id="246" name="Google Shape;246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23938" y="59369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7" name="Google Shape;247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799613" y="59369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8" name="Google Shape;248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275288" y="59369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9" name="Google Shape;249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810288" y="59369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0" name="Google Shape;250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848263" y="59369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"/>
          <p:cNvSpPr txBox="1">
            <a:spLocks noGrp="1"/>
          </p:cNvSpPr>
          <p:nvPr>
            <p:ph type="title"/>
          </p:nvPr>
        </p:nvSpPr>
        <p:spPr>
          <a:xfrm>
            <a:off x="615950" y="236569"/>
            <a:ext cx="10515600" cy="85988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clase anterior</a:t>
            </a:r>
            <a:endParaRPr dirty="0"/>
          </a:p>
        </p:txBody>
      </p:sp>
      <p:sp>
        <p:nvSpPr>
          <p:cNvPr id="284" name="Google Shape;284;p26"/>
          <p:cNvSpPr txBox="1">
            <a:spLocks noGrp="1"/>
          </p:cNvSpPr>
          <p:nvPr>
            <p:ph idx="1"/>
          </p:nvPr>
        </p:nvSpPr>
        <p:spPr>
          <a:xfrm>
            <a:off x="916650" y="1078400"/>
            <a:ext cx="10749300" cy="269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Suposiciones ideales</a:t>
            </a:r>
            <a:endParaRPr sz="2800" b="1" dirty="0">
              <a:solidFill>
                <a:schemeClr val="accent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</a:rPr>
              <a:t>Cada trabajo se ejecuta por la misma cantidad de tiempo</a:t>
            </a:r>
            <a:endParaRPr sz="2400" strike="sngStrike" dirty="0">
              <a:solidFill>
                <a:srgbClr val="FF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</a:rPr>
              <a:t>Todos los trabajos son iniciados al mismo tiempo (</a:t>
            </a:r>
            <a:r>
              <a:rPr lang="es-ES" sz="2400" strike="sngStrike" dirty="0" err="1">
                <a:solidFill>
                  <a:srgbClr val="FF0000"/>
                </a:solidFill>
              </a:rPr>
              <a:t>arrival</a:t>
            </a:r>
            <a:r>
              <a:rPr lang="es-ES" sz="2400" strike="sngStrike" dirty="0">
                <a:solidFill>
                  <a:srgbClr val="FF0000"/>
                </a:solidFill>
              </a:rPr>
              <a:t> time)</a:t>
            </a:r>
            <a:endParaRPr sz="2400" strike="sngStrike" dirty="0">
              <a:solidFill>
                <a:srgbClr val="FF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</a:rPr>
              <a:t>Una vez iniciado, cada trabajo se ejecuta hasta su finalización</a:t>
            </a:r>
            <a:endParaRPr sz="2400" strike="sngStrike" dirty="0">
              <a:solidFill>
                <a:srgbClr val="FF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</a:rPr>
              <a:t>Todos los trabajos solo usan la CPU (no I/O)</a:t>
            </a:r>
            <a:endParaRPr sz="2400" strike="sngStrike" dirty="0">
              <a:solidFill>
                <a:srgbClr val="FF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/>
              <a:t>El </a:t>
            </a:r>
            <a:r>
              <a:rPr lang="es-ES" sz="2400" dirty="0">
                <a:solidFill>
                  <a:srgbClr val="FF0000"/>
                </a:solidFill>
              </a:rPr>
              <a:t>tiempo de ejecución</a:t>
            </a:r>
            <a:r>
              <a:rPr lang="es-ES" sz="2400" dirty="0"/>
              <a:t> de cada trabajo es conocido (runtime).</a:t>
            </a:r>
            <a:endParaRPr b="1" dirty="0">
              <a:solidFill>
                <a:srgbClr val="8CC63E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5" name="Google Shape;285;p26"/>
          <p:cNvSpPr txBox="1"/>
          <p:nvPr/>
        </p:nvSpPr>
        <p:spPr>
          <a:xfrm>
            <a:off x="972100" y="3809150"/>
            <a:ext cx="10536600" cy="55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¿Qué pasa si se relaja la última suposición ideal?</a:t>
            </a:r>
            <a:endParaRPr/>
          </a:p>
        </p:txBody>
      </p:sp>
      <p:grpSp>
        <p:nvGrpSpPr>
          <p:cNvPr id="286" name="Google Shape;286;p26"/>
          <p:cNvGrpSpPr/>
          <p:nvPr/>
        </p:nvGrpSpPr>
        <p:grpSpPr>
          <a:xfrm>
            <a:off x="2834375" y="5112650"/>
            <a:ext cx="6526100" cy="1270013"/>
            <a:chOff x="2834375" y="5112650"/>
            <a:chExt cx="6526100" cy="1270013"/>
          </a:xfrm>
        </p:grpSpPr>
        <p:grpSp>
          <p:nvGrpSpPr>
            <p:cNvPr id="287" name="Google Shape;287;p26"/>
            <p:cNvGrpSpPr/>
            <p:nvPr/>
          </p:nvGrpSpPr>
          <p:grpSpPr>
            <a:xfrm>
              <a:off x="2834375" y="5112650"/>
              <a:ext cx="6526100" cy="648900"/>
              <a:chOff x="2758175" y="5112650"/>
              <a:chExt cx="6526100" cy="648900"/>
            </a:xfrm>
          </p:grpSpPr>
          <p:sp>
            <p:nvSpPr>
              <p:cNvPr id="288" name="Google Shape;288;p26"/>
              <p:cNvSpPr/>
              <p:nvPr/>
            </p:nvSpPr>
            <p:spPr>
              <a:xfrm>
                <a:off x="2758175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289" name="Google Shape;289;p26"/>
              <p:cNvSpPr/>
              <p:nvPr/>
            </p:nvSpPr>
            <p:spPr>
              <a:xfrm>
                <a:off x="4233850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290" name="Google Shape;290;p26"/>
              <p:cNvSpPr/>
              <p:nvPr/>
            </p:nvSpPr>
            <p:spPr>
              <a:xfrm>
                <a:off x="5709525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291" name="Google Shape;291;p26"/>
              <p:cNvSpPr/>
              <p:nvPr/>
            </p:nvSpPr>
            <p:spPr>
              <a:xfrm>
                <a:off x="7185200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292" name="Google Shape;292;p26"/>
              <p:cNvSpPr/>
              <p:nvPr/>
            </p:nvSpPr>
            <p:spPr>
              <a:xfrm>
                <a:off x="8660875" y="51126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293" name="Google Shape;293;p26"/>
            <p:cNvGrpSpPr/>
            <p:nvPr/>
          </p:nvGrpSpPr>
          <p:grpSpPr>
            <a:xfrm>
              <a:off x="2916175" y="5936962"/>
              <a:ext cx="6413537" cy="445700"/>
              <a:chOff x="2916175" y="5936962"/>
              <a:chExt cx="6413537" cy="445700"/>
            </a:xfrm>
          </p:grpSpPr>
          <p:pic>
            <p:nvPicPr>
              <p:cNvPr id="294" name="Google Shape;294;p2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886488" y="59369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5" name="Google Shape;295;p2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916175" y="59406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6" name="Google Shape;296;p2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396000" y="59406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7" name="Google Shape;297;p2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873750" y="59406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8" name="Google Shape;298;p2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380125" y="59406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>
            <a:spLocks noGrp="1"/>
          </p:cNvSpPr>
          <p:nvPr>
            <p:ph type="title"/>
          </p:nvPr>
        </p:nvSpPr>
        <p:spPr>
          <a:xfrm>
            <a:off x="530943" y="365125"/>
            <a:ext cx="10822858" cy="73110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clase anterior</a:t>
            </a:r>
            <a:endParaRPr dirty="0"/>
          </a:p>
        </p:txBody>
      </p:sp>
      <p:sp>
        <p:nvSpPr>
          <p:cNvPr id="256" name="Google Shape;256;p24"/>
          <p:cNvSpPr txBox="1">
            <a:spLocks noGrp="1"/>
          </p:cNvSpPr>
          <p:nvPr>
            <p:ph idx="1"/>
          </p:nvPr>
        </p:nvSpPr>
        <p:spPr>
          <a:xfrm>
            <a:off x="615600" y="1042459"/>
            <a:ext cx="5480400" cy="6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2"/>
                </a:solidFill>
              </a:rPr>
              <a:t>Algoritmos de planificación</a:t>
            </a:r>
            <a:endParaRPr sz="28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</p:txBody>
      </p:sp>
      <p:grpSp>
        <p:nvGrpSpPr>
          <p:cNvPr id="257" name="Google Shape;257;p24"/>
          <p:cNvGrpSpPr/>
          <p:nvPr/>
        </p:nvGrpSpPr>
        <p:grpSpPr>
          <a:xfrm>
            <a:off x="1632125" y="1963588"/>
            <a:ext cx="9752575" cy="4368738"/>
            <a:chOff x="1632125" y="1963588"/>
            <a:chExt cx="9752575" cy="4368738"/>
          </a:xfrm>
        </p:grpSpPr>
        <p:sp>
          <p:nvSpPr>
            <p:cNvPr id="258" name="Google Shape;258;p24"/>
            <p:cNvSpPr/>
            <p:nvPr/>
          </p:nvSpPr>
          <p:spPr>
            <a:xfrm>
              <a:off x="1632125" y="3904825"/>
              <a:ext cx="731100" cy="7311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1639250" y="4944863"/>
              <a:ext cx="731100" cy="7311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P2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60" name="Google Shape;260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11175" y="4446488"/>
              <a:ext cx="1066800" cy="106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55863" y="3665485"/>
              <a:ext cx="1213362" cy="12097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2" name="Google Shape;262;p24"/>
            <p:cNvCxnSpPr/>
            <p:nvPr/>
          </p:nvCxnSpPr>
          <p:spPr>
            <a:xfrm>
              <a:off x="2614325" y="4354625"/>
              <a:ext cx="863100" cy="619800"/>
            </a:xfrm>
            <a:prstGeom prst="straightConnector1">
              <a:avLst/>
            </a:prstGeom>
            <a:noFill/>
            <a:ln w="28575" cap="flat" cmpd="sng">
              <a:solidFill>
                <a:srgbClr val="888888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63" name="Google Shape;263;p24"/>
            <p:cNvCxnSpPr/>
            <p:nvPr/>
          </p:nvCxnSpPr>
          <p:spPr>
            <a:xfrm>
              <a:off x="3485525" y="4944863"/>
              <a:ext cx="18168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4" name="Google Shape;264;p24"/>
            <p:cNvSpPr/>
            <p:nvPr/>
          </p:nvSpPr>
          <p:spPr>
            <a:xfrm>
              <a:off x="3153328" y="4440275"/>
              <a:ext cx="258350" cy="891975"/>
            </a:xfrm>
            <a:custGeom>
              <a:avLst/>
              <a:gdLst/>
              <a:ahLst/>
              <a:cxnLst/>
              <a:rect l="l" t="t" r="r" b="b"/>
              <a:pathLst>
                <a:path w="10334" h="35679" extrusionOk="0">
                  <a:moveTo>
                    <a:pt x="10334" y="0"/>
                  </a:moveTo>
                  <a:cubicBezTo>
                    <a:pt x="8872" y="1852"/>
                    <a:pt x="3120" y="7116"/>
                    <a:pt x="1560" y="11113"/>
                  </a:cubicBezTo>
                  <a:cubicBezTo>
                    <a:pt x="0" y="15110"/>
                    <a:pt x="-487" y="19887"/>
                    <a:pt x="975" y="23981"/>
                  </a:cubicBezTo>
                  <a:cubicBezTo>
                    <a:pt x="2437" y="28075"/>
                    <a:pt x="8774" y="33729"/>
                    <a:pt x="10334" y="35679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5" name="Google Shape;265;p24"/>
            <p:cNvSpPr txBox="1"/>
            <p:nvPr/>
          </p:nvSpPr>
          <p:spPr>
            <a:xfrm>
              <a:off x="2654050" y="4651150"/>
              <a:ext cx="554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</a:t>
              </a:r>
              <a:endParaRPr sz="1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66" name="Google Shape;266;p24"/>
            <p:cNvSpPr txBox="1"/>
            <p:nvPr/>
          </p:nvSpPr>
          <p:spPr>
            <a:xfrm>
              <a:off x="1635725" y="5870625"/>
              <a:ext cx="723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...</a:t>
              </a:r>
              <a:endParaRPr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67" name="Google Shape;267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73202" y="2822546"/>
              <a:ext cx="731100" cy="6460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4"/>
            <p:cNvSpPr/>
            <p:nvPr/>
          </p:nvSpPr>
          <p:spPr>
            <a:xfrm>
              <a:off x="4792050" y="1963588"/>
              <a:ext cx="258300" cy="2364000"/>
            </a:xfrm>
            <a:prstGeom prst="leftBrace">
              <a:avLst>
                <a:gd name="adj1" fmla="val 76994"/>
                <a:gd name="adj2" fmla="val 49856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5048575" y="2160775"/>
              <a:ext cx="6322800" cy="431100"/>
            </a:xfrm>
            <a:prstGeom prst="roundRect">
              <a:avLst>
                <a:gd name="adj" fmla="val 16667"/>
              </a:avLst>
            </a:prstGeom>
            <a:solidFill>
              <a:srgbClr val="A4C2F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FCFS</a:t>
              </a: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 - First Come/First Serve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5061900" y="2720750"/>
              <a:ext cx="6322800" cy="431100"/>
            </a:xfrm>
            <a:prstGeom prst="roundRect">
              <a:avLst>
                <a:gd name="adj" fmla="val 16667"/>
              </a:avLst>
            </a:prstGeom>
            <a:solidFill>
              <a:srgbClr val="A4C2F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SJF</a:t>
              </a:r>
              <a:r>
                <a:rPr lang="es-ES" sz="2000" b="1" dirty="0">
                  <a:latin typeface="Courier New"/>
                  <a:ea typeface="Courier New"/>
                  <a:cs typeface="Courier New"/>
                  <a:sym typeface="Courier New"/>
                </a:rPr>
                <a:t> - </a:t>
              </a:r>
              <a:r>
                <a:rPr lang="es-ES" sz="2000" b="1" dirty="0" err="1">
                  <a:latin typeface="Courier New"/>
                  <a:ea typeface="Courier New"/>
                  <a:cs typeface="Courier New"/>
                  <a:sym typeface="Courier New"/>
                </a:rPr>
                <a:t>Shortest</a:t>
              </a:r>
              <a:r>
                <a:rPr lang="es-ES" sz="2000" b="1" dirty="0">
                  <a:latin typeface="Courier New"/>
                  <a:ea typeface="Courier New"/>
                  <a:cs typeface="Courier New"/>
                  <a:sym typeface="Courier New"/>
                </a:rPr>
                <a:t> Job </a:t>
              </a:r>
              <a:r>
                <a:rPr lang="es-ES" sz="2000" b="1" dirty="0" err="1">
                  <a:latin typeface="Courier New"/>
                  <a:ea typeface="Courier New"/>
                  <a:cs typeface="Courier New"/>
                  <a:sym typeface="Courier New"/>
                </a:rPr>
                <a:t>First</a:t>
              </a:r>
              <a:endParaRPr sz="20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5061900" y="3256825"/>
              <a:ext cx="6322800" cy="431100"/>
            </a:xfrm>
            <a:prstGeom prst="roundRect">
              <a:avLst>
                <a:gd name="adj" fmla="val 16667"/>
              </a:avLst>
            </a:prstGeom>
            <a:solidFill>
              <a:srgbClr val="A4C2F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STCF</a:t>
              </a: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 - Shortest Time-to-Completion First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5061900" y="3804825"/>
              <a:ext cx="6322800" cy="431100"/>
            </a:xfrm>
            <a:prstGeom prst="roundRect">
              <a:avLst>
                <a:gd name="adj" fmla="val 16667"/>
              </a:avLst>
            </a:prstGeom>
            <a:solidFill>
              <a:srgbClr val="A4C2F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RR</a:t>
              </a: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 - Round Robin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Contextualización</a:t>
            </a:r>
            <a:endParaRPr/>
          </a:p>
        </p:txBody>
      </p:sp>
      <p:sp>
        <p:nvSpPr>
          <p:cNvPr id="313" name="Google Shape;313;p28"/>
          <p:cNvSpPr txBox="1">
            <a:spLocks noGrp="1"/>
          </p:cNvSpPr>
          <p:nvPr>
            <p:ph type="body" idx="1"/>
          </p:nvPr>
        </p:nvSpPr>
        <p:spPr>
          <a:xfrm>
            <a:off x="916650" y="2187350"/>
            <a:ext cx="10749300" cy="269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Suposiciones ideales</a:t>
            </a:r>
            <a:endParaRPr sz="2800" b="1" dirty="0">
              <a:solidFill>
                <a:schemeClr val="accent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</a:rPr>
              <a:t>Cada trabajo se ejecuta por la misma cantidad de tiempo</a:t>
            </a:r>
            <a:endParaRPr sz="2400" strike="sngStrike" dirty="0">
              <a:solidFill>
                <a:srgbClr val="FF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</a:rPr>
              <a:t>Todos los trabajos son iniciados al mismo tiempo (</a:t>
            </a:r>
            <a:r>
              <a:rPr lang="es-ES" sz="2400" strike="sngStrike" dirty="0" err="1">
                <a:solidFill>
                  <a:srgbClr val="FF0000"/>
                </a:solidFill>
              </a:rPr>
              <a:t>arrival</a:t>
            </a:r>
            <a:r>
              <a:rPr lang="es-ES" sz="2400" strike="sngStrike" dirty="0">
                <a:solidFill>
                  <a:srgbClr val="FF0000"/>
                </a:solidFill>
              </a:rPr>
              <a:t> time)</a:t>
            </a:r>
            <a:endParaRPr sz="2400" strike="sngStrike" dirty="0">
              <a:solidFill>
                <a:srgbClr val="FF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</a:rPr>
              <a:t>Una vez iniciado, cada trabajo se ejecuta hasta su finalización</a:t>
            </a:r>
            <a:endParaRPr sz="2400" strike="sngStrike" dirty="0">
              <a:solidFill>
                <a:srgbClr val="FF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</a:rPr>
              <a:t>Todos los trabajos solo usan la CPU (no I/O)</a:t>
            </a:r>
            <a:endParaRPr sz="2400" strike="sngStrike" dirty="0">
              <a:solidFill>
                <a:srgbClr val="FF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</a:rPr>
              <a:t>El tiempo de ejecución de cada trabajo es conocido (runtime).</a:t>
            </a:r>
            <a:endParaRPr b="1" strike="sngStrike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4" name="Google Shape;314;p28"/>
          <p:cNvSpPr txBox="1"/>
          <p:nvPr/>
        </p:nvSpPr>
        <p:spPr>
          <a:xfrm>
            <a:off x="916650" y="1110800"/>
            <a:ext cx="10536600" cy="92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Observación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Afirmar que el tiempo de ejecución de cada proceso es conocido </a:t>
            </a: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 difícil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15" name="Google Shape;315;p28"/>
          <p:cNvGrpSpPr/>
          <p:nvPr/>
        </p:nvGrpSpPr>
        <p:grpSpPr>
          <a:xfrm>
            <a:off x="2834375" y="5112650"/>
            <a:ext cx="6526100" cy="1314713"/>
            <a:chOff x="2834375" y="5112650"/>
            <a:chExt cx="6526100" cy="1314713"/>
          </a:xfrm>
        </p:grpSpPr>
        <p:grpSp>
          <p:nvGrpSpPr>
            <p:cNvPr id="316" name="Google Shape;316;p28"/>
            <p:cNvGrpSpPr/>
            <p:nvPr/>
          </p:nvGrpSpPr>
          <p:grpSpPr>
            <a:xfrm>
              <a:off x="2834375" y="5112650"/>
              <a:ext cx="6526100" cy="648900"/>
              <a:chOff x="2758175" y="5112650"/>
              <a:chExt cx="6526100" cy="648900"/>
            </a:xfrm>
          </p:grpSpPr>
          <p:sp>
            <p:nvSpPr>
              <p:cNvPr id="317" name="Google Shape;317;p28"/>
              <p:cNvSpPr/>
              <p:nvPr/>
            </p:nvSpPr>
            <p:spPr>
              <a:xfrm>
                <a:off x="2758175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318" name="Google Shape;318;p28"/>
              <p:cNvSpPr/>
              <p:nvPr/>
            </p:nvSpPr>
            <p:spPr>
              <a:xfrm>
                <a:off x="4233850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319" name="Google Shape;319;p28"/>
              <p:cNvSpPr/>
              <p:nvPr/>
            </p:nvSpPr>
            <p:spPr>
              <a:xfrm>
                <a:off x="5709525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320" name="Google Shape;320;p28"/>
              <p:cNvSpPr/>
              <p:nvPr/>
            </p:nvSpPr>
            <p:spPr>
              <a:xfrm>
                <a:off x="7185200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321" name="Google Shape;321;p28"/>
              <p:cNvSpPr/>
              <p:nvPr/>
            </p:nvSpPr>
            <p:spPr>
              <a:xfrm>
                <a:off x="8660875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322" name="Google Shape;322;p28"/>
            <p:cNvGrpSpPr/>
            <p:nvPr/>
          </p:nvGrpSpPr>
          <p:grpSpPr>
            <a:xfrm>
              <a:off x="2916175" y="5940600"/>
              <a:ext cx="6413550" cy="486763"/>
              <a:chOff x="2916175" y="5940600"/>
              <a:chExt cx="6413550" cy="486763"/>
            </a:xfrm>
          </p:grpSpPr>
          <p:pic>
            <p:nvPicPr>
              <p:cNvPr id="323" name="Google Shape;323;p2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916175" y="59406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4" name="Google Shape;324;p2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96000" y="59406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5" name="Google Shape;325;p2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873750" y="59406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6" name="Google Shape;326;p2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380125" y="59406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7" name="Google Shape;327;p2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886500" y="59889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 txBox="1">
            <a:spLocks noGrp="1"/>
          </p:cNvSpPr>
          <p:nvPr>
            <p:ph type="title"/>
          </p:nvPr>
        </p:nvSpPr>
        <p:spPr>
          <a:xfrm>
            <a:off x="483314" y="183350"/>
            <a:ext cx="1077438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33" name="Google Shape;333;p29"/>
          <p:cNvSpPr txBox="1">
            <a:spLocks noGrp="1"/>
          </p:cNvSpPr>
          <p:nvPr>
            <p:ph type="body" idx="1"/>
          </p:nvPr>
        </p:nvSpPr>
        <p:spPr>
          <a:xfrm>
            <a:off x="483314" y="1251225"/>
            <a:ext cx="7007786" cy="20960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Punto de partida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Al relajar todas las suposiciones ideales llegamos a la conclusión de que el Scheduler no conoce nada para tomar la decisión sobre cuál es el próximo proceso que ejecutará la CPU.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4" name="Google Shape;334;p29"/>
          <p:cNvSpPr txBox="1"/>
          <p:nvPr/>
        </p:nvSpPr>
        <p:spPr>
          <a:xfrm>
            <a:off x="483314" y="3925551"/>
            <a:ext cx="11058986" cy="172608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¿Cómo llevar a cabo el proceso de planificación sin tener un conocimiento perfecto de la situación?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¿Cómo diseñar un 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planificador de propósito general 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que funcione bien para todo tipo de procesos (interactivos y batch)?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335" name="Google Shape;335;p29"/>
          <p:cNvGrpSpPr/>
          <p:nvPr/>
        </p:nvGrpSpPr>
        <p:grpSpPr>
          <a:xfrm>
            <a:off x="7779599" y="1666087"/>
            <a:ext cx="3478100" cy="1266363"/>
            <a:chOff x="4356950" y="5236400"/>
            <a:chExt cx="3478100" cy="1266363"/>
          </a:xfrm>
        </p:grpSpPr>
        <p:grpSp>
          <p:nvGrpSpPr>
            <p:cNvPr id="336" name="Google Shape;336;p29"/>
            <p:cNvGrpSpPr/>
            <p:nvPr/>
          </p:nvGrpSpPr>
          <p:grpSpPr>
            <a:xfrm>
              <a:off x="4356950" y="5236400"/>
              <a:ext cx="3478100" cy="648900"/>
              <a:chOff x="5818900" y="4196550"/>
              <a:chExt cx="3478100" cy="648900"/>
            </a:xfrm>
          </p:grpSpPr>
          <p:sp>
            <p:nvSpPr>
              <p:cNvPr id="337" name="Google Shape;337;p29"/>
              <p:cNvSpPr/>
              <p:nvPr/>
            </p:nvSpPr>
            <p:spPr>
              <a:xfrm>
                <a:off x="58189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338" name="Google Shape;338;p29"/>
              <p:cNvSpPr/>
              <p:nvPr/>
            </p:nvSpPr>
            <p:spPr>
              <a:xfrm>
                <a:off x="653257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339" name="Google Shape;339;p29"/>
              <p:cNvSpPr/>
              <p:nvPr/>
            </p:nvSpPr>
            <p:spPr>
              <a:xfrm>
                <a:off x="724625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340" name="Google Shape;340;p29"/>
              <p:cNvSpPr/>
              <p:nvPr/>
            </p:nvSpPr>
            <p:spPr>
              <a:xfrm>
                <a:off x="795992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341" name="Google Shape;341;p29"/>
              <p:cNvSpPr/>
              <p:nvPr/>
            </p:nvSpPr>
            <p:spPr>
              <a:xfrm>
                <a:off x="86736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342" name="Google Shape;342;p29"/>
            <p:cNvGrpSpPr/>
            <p:nvPr/>
          </p:nvGrpSpPr>
          <p:grpSpPr>
            <a:xfrm>
              <a:off x="4447000" y="6064350"/>
              <a:ext cx="3357275" cy="438413"/>
              <a:chOff x="4447000" y="6064350"/>
              <a:chExt cx="3357275" cy="438413"/>
            </a:xfrm>
          </p:grpSpPr>
          <p:pic>
            <p:nvPicPr>
              <p:cNvPr id="343" name="Google Shape;343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447000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4" name="Google Shape;344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160700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5" name="Google Shape;345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874388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6" name="Google Shape;346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617725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7" name="Google Shape;347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361050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 txBox="1">
            <a:spLocks noGrp="1"/>
          </p:cNvSpPr>
          <p:nvPr>
            <p:ph type="title"/>
          </p:nvPr>
        </p:nvSpPr>
        <p:spPr>
          <a:xfrm>
            <a:off x="396402" y="87325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Tipos de procesos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3" name="Google Shape;353;p30"/>
          <p:cNvSpPr txBox="1">
            <a:spLocks noGrp="1"/>
          </p:cNvSpPr>
          <p:nvPr>
            <p:ph type="body" idx="1"/>
          </p:nvPr>
        </p:nvSpPr>
        <p:spPr>
          <a:xfrm>
            <a:off x="396402" y="953694"/>
            <a:ext cx="10455300" cy="553559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s-ES" sz="2000" dirty="0">
                <a:latin typeface="+mn-lt"/>
              </a:rPr>
              <a:t>Distinguimos dos tipos básicos de procesos:</a:t>
            </a:r>
            <a:endParaRPr sz="2000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r>
              <a:rPr lang="es-ES" sz="2000" b="1" dirty="0">
                <a:latin typeface="+mn-lt"/>
              </a:rPr>
              <a:t>Procesos tipo batch (CPU-</a:t>
            </a:r>
            <a:r>
              <a:rPr lang="es-ES" sz="2000" b="1" dirty="0" err="1">
                <a:latin typeface="+mn-lt"/>
              </a:rPr>
              <a:t>bound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b="1" dirty="0" err="1">
                <a:latin typeface="+mn-lt"/>
              </a:rPr>
              <a:t>process</a:t>
            </a:r>
            <a:r>
              <a:rPr lang="es-ES" sz="2000" b="1" dirty="0">
                <a:latin typeface="+mn-lt"/>
              </a:rPr>
              <a:t>) </a:t>
            </a: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endParaRPr lang="es-ES" sz="2000" b="1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endParaRPr lang="es-ES" sz="2000" b="1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endParaRPr lang="es-ES" sz="2000" b="1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endParaRPr lang="es-ES" sz="2000" b="1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endParaRPr lang="es-ES" sz="2000" b="1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endParaRPr lang="es-ES" sz="2000" b="1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endParaRPr lang="es-ES" sz="2000" b="1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endParaRPr sz="2000" b="1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r>
              <a:rPr lang="es-ES" sz="2000" b="1" dirty="0">
                <a:latin typeface="+mn-lt"/>
              </a:rPr>
              <a:t>Procesos interactivos (I/O-</a:t>
            </a:r>
            <a:r>
              <a:rPr lang="es-ES" sz="2000" b="1" dirty="0" err="1">
                <a:latin typeface="+mn-lt"/>
              </a:rPr>
              <a:t>bound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b="1" dirty="0" err="1">
                <a:latin typeface="+mn-lt"/>
              </a:rPr>
              <a:t>process</a:t>
            </a:r>
            <a:r>
              <a:rPr lang="es-ES" sz="2000" b="1" dirty="0">
                <a:latin typeface="+mn-lt"/>
              </a:rPr>
              <a:t>)</a:t>
            </a:r>
            <a:endParaRPr sz="20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509A300-2984-46D6-BE25-2AB2FAE3D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35" y="4856706"/>
            <a:ext cx="6419648" cy="163258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6504E14-FC18-4BD9-AB76-9468F24B6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35" y="2069261"/>
            <a:ext cx="5999414" cy="1632584"/>
          </a:xfrm>
          <a:prstGeom prst="rect">
            <a:avLst/>
          </a:prstGeom>
        </p:spPr>
      </p:pic>
      <p:pic>
        <p:nvPicPr>
          <p:cNvPr id="15" name="Google Shape;361;p31">
            <a:extLst>
              <a:ext uri="{FF2B5EF4-FFF2-40B4-BE49-F238E27FC236}">
                <a16:creationId xmlns:a16="http://schemas.microsoft.com/office/drawing/2014/main" id="{521958DF-AF01-489B-B5BD-2FBB256E0D0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7153" y="770936"/>
            <a:ext cx="3214549" cy="1132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362;p31">
            <a:extLst>
              <a:ext uri="{FF2B5EF4-FFF2-40B4-BE49-F238E27FC236}">
                <a16:creationId xmlns:a16="http://schemas.microsoft.com/office/drawing/2014/main" id="{83B3D1C0-AAF1-4ABC-9C09-CE6546BDBBC8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57842" y="2088585"/>
            <a:ext cx="2619688" cy="140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369;p32">
            <a:extLst>
              <a:ext uri="{FF2B5EF4-FFF2-40B4-BE49-F238E27FC236}">
                <a16:creationId xmlns:a16="http://schemas.microsoft.com/office/drawing/2014/main" id="{4DF6CBAD-999F-40B5-B7BE-CFED2E1629B3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09311" y="4557220"/>
            <a:ext cx="2716751" cy="1859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 txBox="1">
            <a:spLocks noGrp="1"/>
          </p:cNvSpPr>
          <p:nvPr>
            <p:ph type="title"/>
          </p:nvPr>
        </p:nvSpPr>
        <p:spPr>
          <a:xfrm>
            <a:off x="501822" y="212700"/>
            <a:ext cx="1020173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Planificador de propósito general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9" name="Google Shape;379;p33"/>
          <p:cNvSpPr txBox="1">
            <a:spLocks noGrp="1"/>
          </p:cNvSpPr>
          <p:nvPr>
            <p:ph type="body" idx="1"/>
          </p:nvPr>
        </p:nvSpPr>
        <p:spPr>
          <a:xfrm>
            <a:off x="268775" y="1069649"/>
            <a:ext cx="11654450" cy="267038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b="1" dirty="0"/>
              <a:t>Pregunta clave</a:t>
            </a:r>
            <a:r>
              <a:rPr lang="es-ES" sz="2000" dirty="0"/>
              <a:t>: ¿Cómo diseñar un </a:t>
            </a:r>
            <a:r>
              <a:rPr lang="es-ES" sz="2000" b="1" dirty="0"/>
              <a:t>scheduler</a:t>
            </a:r>
            <a:r>
              <a:rPr lang="es-ES" sz="2000" dirty="0"/>
              <a:t> que aprenda de las características de los trabajos para tomar las mejores decisiones? (Aprender del pasado para predecir el futuro).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b="1" dirty="0"/>
              <a:t>Objetivo</a:t>
            </a:r>
            <a:r>
              <a:rPr lang="es-ES" sz="2000" dirty="0"/>
              <a:t>: Diseñar un planificado de propósito general capaz de soportar los dos tipos de procesos existentes:</a:t>
            </a:r>
            <a:endParaRPr sz="20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000" dirty="0"/>
              <a:t>Interactivos (se preocupan por el tiempo de respuesta).</a:t>
            </a:r>
            <a:endParaRPr sz="20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000" dirty="0"/>
              <a:t>Batch (se preocupan por el turnaround time)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b="1" dirty="0"/>
              <a:t>Propuesta</a:t>
            </a:r>
            <a:r>
              <a:rPr lang="es-ES" sz="2000" dirty="0"/>
              <a:t>: MLFQ (Multi-</a:t>
            </a:r>
            <a:r>
              <a:rPr lang="es-ES" sz="2000" dirty="0" err="1"/>
              <a:t>Level</a:t>
            </a:r>
            <a:r>
              <a:rPr lang="es-ES" sz="2000" dirty="0"/>
              <a:t> Feedback Queue)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80" name="Google Shape;380;p33"/>
          <p:cNvGrpSpPr/>
          <p:nvPr/>
        </p:nvGrpSpPr>
        <p:grpSpPr>
          <a:xfrm>
            <a:off x="3607550" y="3740029"/>
            <a:ext cx="4976900" cy="2141229"/>
            <a:chOff x="3681275" y="4504071"/>
            <a:chExt cx="4976900" cy="2141229"/>
          </a:xfrm>
        </p:grpSpPr>
        <p:grpSp>
          <p:nvGrpSpPr>
            <p:cNvPr id="381" name="Google Shape;381;p33"/>
            <p:cNvGrpSpPr/>
            <p:nvPr/>
          </p:nvGrpSpPr>
          <p:grpSpPr>
            <a:xfrm>
              <a:off x="3681275" y="4504071"/>
              <a:ext cx="4976900" cy="2141229"/>
              <a:chOff x="3668550" y="4158171"/>
              <a:chExt cx="4976900" cy="2141229"/>
            </a:xfrm>
          </p:grpSpPr>
          <p:sp>
            <p:nvSpPr>
              <p:cNvPr id="382" name="Google Shape;382;p33"/>
              <p:cNvSpPr/>
              <p:nvPr/>
            </p:nvSpPr>
            <p:spPr>
              <a:xfrm>
                <a:off x="3668550" y="4528263"/>
                <a:ext cx="731100" cy="731100"/>
              </a:xfrm>
              <a:prstGeom prst="ellipse">
                <a:avLst/>
              </a:prstGeom>
              <a:solidFill>
                <a:srgbClr val="C9DAF8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latin typeface="Courier New"/>
                    <a:ea typeface="Courier New"/>
                    <a:cs typeface="Courier New"/>
                    <a:sym typeface="Courier New"/>
                  </a:rPr>
                  <a:t>P1</a:t>
                </a:r>
                <a:endParaRPr sz="18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83" name="Google Shape;383;p33"/>
              <p:cNvSpPr/>
              <p:nvPr/>
            </p:nvSpPr>
            <p:spPr>
              <a:xfrm>
                <a:off x="3668550" y="5568300"/>
                <a:ext cx="731100" cy="731100"/>
              </a:xfrm>
              <a:prstGeom prst="ellipse">
                <a:avLst/>
              </a:prstGeom>
              <a:solidFill>
                <a:srgbClr val="F4CCCC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latin typeface="Courier New"/>
                    <a:ea typeface="Courier New"/>
                    <a:cs typeface="Courier New"/>
                    <a:sym typeface="Courier New"/>
                  </a:rPr>
                  <a:t>P2</a:t>
                </a:r>
                <a:endParaRPr sz="18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pic>
            <p:nvPicPr>
              <p:cNvPr id="384" name="Google Shape;384;p3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578650" y="4976288"/>
                <a:ext cx="1066800" cy="1066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5" name="Google Shape;385;p3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589963" y="4299210"/>
                <a:ext cx="1213362" cy="1209768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86" name="Google Shape;386;p33"/>
              <p:cNvCxnSpPr/>
              <p:nvPr/>
            </p:nvCxnSpPr>
            <p:spPr>
              <a:xfrm>
                <a:off x="4643625" y="4978063"/>
                <a:ext cx="863100" cy="6198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88888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87" name="Google Shape;387;p33"/>
              <p:cNvCxnSpPr/>
              <p:nvPr/>
            </p:nvCxnSpPr>
            <p:spPr>
              <a:xfrm>
                <a:off x="5514825" y="5568300"/>
                <a:ext cx="1816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88" name="Google Shape;388;p33"/>
              <p:cNvSpPr/>
              <p:nvPr/>
            </p:nvSpPr>
            <p:spPr>
              <a:xfrm>
                <a:off x="5182628" y="5063713"/>
                <a:ext cx="258350" cy="891975"/>
              </a:xfrm>
              <a:custGeom>
                <a:avLst/>
                <a:gdLst/>
                <a:ahLst/>
                <a:cxnLst/>
                <a:rect l="l" t="t" r="r" b="b"/>
                <a:pathLst>
                  <a:path w="10334" h="35679" extrusionOk="0">
                    <a:moveTo>
                      <a:pt x="10334" y="0"/>
                    </a:moveTo>
                    <a:cubicBezTo>
                      <a:pt x="8872" y="1852"/>
                      <a:pt x="3120" y="7116"/>
                      <a:pt x="1560" y="11113"/>
                    </a:cubicBezTo>
                    <a:cubicBezTo>
                      <a:pt x="0" y="15110"/>
                      <a:pt x="-487" y="19887"/>
                      <a:pt x="975" y="23981"/>
                    </a:cubicBezTo>
                    <a:cubicBezTo>
                      <a:pt x="2437" y="28075"/>
                      <a:pt x="8774" y="33729"/>
                      <a:pt x="10334" y="35679"/>
                    </a:cubicBez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389" name="Google Shape;389;p33"/>
              <p:cNvSpPr txBox="1"/>
              <p:nvPr/>
            </p:nvSpPr>
            <p:spPr>
              <a:xfrm>
                <a:off x="4683350" y="5274588"/>
                <a:ext cx="5541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chemeClr val="accent2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CS</a:t>
                </a:r>
                <a:endParaRPr sz="1600" b="1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pic>
            <p:nvPicPr>
              <p:cNvPr id="390" name="Google Shape;390;p3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600527" y="4158171"/>
                <a:ext cx="731100" cy="6460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91" name="Google Shape;391;p33"/>
            <p:cNvSpPr/>
            <p:nvPr/>
          </p:nvSpPr>
          <p:spPr>
            <a:xfrm>
              <a:off x="7509200" y="4589538"/>
              <a:ext cx="916200" cy="431100"/>
            </a:xfrm>
            <a:prstGeom prst="roundRect">
              <a:avLst>
                <a:gd name="adj" fmla="val 16667"/>
              </a:avLst>
            </a:prstGeom>
            <a:solidFill>
              <a:srgbClr val="A4C2F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urier New"/>
                  <a:ea typeface="Courier New"/>
                  <a:cs typeface="Courier New"/>
                  <a:sym typeface="Courier New"/>
                </a:rPr>
                <a:t>MLFQ</a:t>
              </a:r>
              <a:endParaRPr sz="20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(Multi-</a:t>
            </a:r>
            <a:r>
              <a:rPr lang="es-ES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Level</a:t>
            </a: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Feedback Queue)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03" name="Google Shape;403;p35"/>
          <p:cNvSpPr txBox="1">
            <a:spLocks noGrp="1"/>
          </p:cNvSpPr>
          <p:nvPr>
            <p:ph type="body" idx="1"/>
          </p:nvPr>
        </p:nvSpPr>
        <p:spPr>
          <a:xfrm>
            <a:off x="513000" y="919438"/>
            <a:ext cx="5583000" cy="257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Conceptos importantes</a:t>
            </a:r>
            <a:r>
              <a:rPr lang="es-ES" sz="2800" dirty="0">
                <a:solidFill>
                  <a:schemeClr val="accent1"/>
                </a:solidFill>
                <a:latin typeface="+mn-lt"/>
              </a:rPr>
              <a:t>: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Varias colas de procesos cada una con un nivel de prioridad diferente.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Un proceso que este listo para su ejecución se ingresa en una de las colas.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Cada proceso tiene una prioridad durante cierto tiempo pero esta puede cambiar.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404" name="Google Shape;404;p35"/>
          <p:cNvGrpSpPr/>
          <p:nvPr/>
        </p:nvGrpSpPr>
        <p:grpSpPr>
          <a:xfrm>
            <a:off x="6309200" y="1591973"/>
            <a:ext cx="5397350" cy="4646025"/>
            <a:chOff x="6233000" y="1439573"/>
            <a:chExt cx="5397350" cy="4646025"/>
          </a:xfrm>
        </p:grpSpPr>
        <p:grpSp>
          <p:nvGrpSpPr>
            <p:cNvPr id="405" name="Google Shape;405;p35"/>
            <p:cNvGrpSpPr/>
            <p:nvPr/>
          </p:nvGrpSpPr>
          <p:grpSpPr>
            <a:xfrm>
              <a:off x="6233000" y="1459888"/>
              <a:ext cx="3201200" cy="4571175"/>
              <a:chOff x="6284600" y="1459875"/>
              <a:chExt cx="3201200" cy="4571175"/>
            </a:xfrm>
          </p:grpSpPr>
          <p:sp>
            <p:nvSpPr>
              <p:cNvPr id="406" name="Google Shape;406;p35"/>
              <p:cNvSpPr txBox="1"/>
              <p:nvPr/>
            </p:nvSpPr>
            <p:spPr>
              <a:xfrm>
                <a:off x="6410100" y="1547175"/>
                <a:ext cx="2248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[High Priority]</a:t>
                </a:r>
                <a:endParaRPr sz="1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07" name="Google Shape;407;p35"/>
              <p:cNvSpPr txBox="1"/>
              <p:nvPr/>
            </p:nvSpPr>
            <p:spPr>
              <a:xfrm>
                <a:off x="6284600" y="5505850"/>
                <a:ext cx="24129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[Low Priority]</a:t>
                </a:r>
                <a:endParaRPr sz="1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408" name="Google Shape;408;p35"/>
              <p:cNvGrpSpPr/>
              <p:nvPr/>
            </p:nvGrpSpPr>
            <p:grpSpPr>
              <a:xfrm>
                <a:off x="8736400" y="1459875"/>
                <a:ext cx="749400" cy="4571175"/>
                <a:chOff x="8520500" y="1282075"/>
                <a:chExt cx="749400" cy="4571175"/>
              </a:xfrm>
            </p:grpSpPr>
            <p:sp>
              <p:nvSpPr>
                <p:cNvPr id="409" name="Google Shape;409;p35"/>
                <p:cNvSpPr txBox="1"/>
                <p:nvPr/>
              </p:nvSpPr>
              <p:spPr>
                <a:xfrm>
                  <a:off x="8520500" y="5299150"/>
                  <a:ext cx="7494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Q1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10" name="Google Shape;410;p35"/>
                <p:cNvSpPr txBox="1"/>
                <p:nvPr/>
              </p:nvSpPr>
              <p:spPr>
                <a:xfrm>
                  <a:off x="8582450" y="1282075"/>
                  <a:ext cx="6255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Q8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11" name="Google Shape;411;p35"/>
                <p:cNvSpPr txBox="1"/>
                <p:nvPr/>
              </p:nvSpPr>
              <p:spPr>
                <a:xfrm>
                  <a:off x="8520500" y="1875775"/>
                  <a:ext cx="7494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Q7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12" name="Google Shape;412;p35"/>
                <p:cNvSpPr txBox="1"/>
                <p:nvPr/>
              </p:nvSpPr>
              <p:spPr>
                <a:xfrm>
                  <a:off x="8520500" y="2442850"/>
                  <a:ext cx="7494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Q6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13" name="Google Shape;413;p35"/>
                <p:cNvSpPr txBox="1"/>
                <p:nvPr/>
              </p:nvSpPr>
              <p:spPr>
                <a:xfrm>
                  <a:off x="8520500" y="3009925"/>
                  <a:ext cx="7494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Q5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14" name="Google Shape;414;p35"/>
                <p:cNvSpPr txBox="1"/>
                <p:nvPr/>
              </p:nvSpPr>
              <p:spPr>
                <a:xfrm>
                  <a:off x="8582450" y="3577000"/>
                  <a:ext cx="6255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Q4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15" name="Google Shape;415;p35"/>
                <p:cNvSpPr txBox="1"/>
                <p:nvPr/>
              </p:nvSpPr>
              <p:spPr>
                <a:xfrm>
                  <a:off x="8582450" y="4123150"/>
                  <a:ext cx="6255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Q3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16" name="Google Shape;416;p35"/>
                <p:cNvSpPr txBox="1"/>
                <p:nvPr/>
              </p:nvSpPr>
              <p:spPr>
                <a:xfrm>
                  <a:off x="8520500" y="4711150"/>
                  <a:ext cx="7494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Q2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</p:grpSp>
        <p:sp>
          <p:nvSpPr>
            <p:cNvPr id="417" name="Google Shape;417;p35"/>
            <p:cNvSpPr/>
            <p:nvPr/>
          </p:nvSpPr>
          <p:spPr>
            <a:xfrm>
              <a:off x="9898438" y="1439573"/>
              <a:ext cx="608400" cy="5973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11021950" y="1439573"/>
              <a:ext cx="608400" cy="597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9923850" y="3745223"/>
              <a:ext cx="608400" cy="597300"/>
            </a:xfrm>
            <a:prstGeom prst="ellipse">
              <a:avLst/>
            </a:prstGeom>
            <a:solidFill>
              <a:srgbClr val="F9CB9C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C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9923850" y="5488298"/>
              <a:ext cx="608400" cy="5973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D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21" name="Google Shape;421;p35"/>
            <p:cNvCxnSpPr>
              <a:endCxn id="417" idx="2"/>
            </p:cNvCxnSpPr>
            <p:nvPr/>
          </p:nvCxnSpPr>
          <p:spPr>
            <a:xfrm rot="10800000" flipH="1">
              <a:off x="9373438" y="1738223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2" name="Google Shape;422;p35"/>
            <p:cNvCxnSpPr>
              <a:stCxn id="417" idx="6"/>
              <a:endCxn id="418" idx="2"/>
            </p:cNvCxnSpPr>
            <p:nvPr/>
          </p:nvCxnSpPr>
          <p:spPr>
            <a:xfrm>
              <a:off x="10506838" y="1738223"/>
              <a:ext cx="515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3" name="Google Shape;423;p35"/>
            <p:cNvCxnSpPr/>
            <p:nvPr/>
          </p:nvCxnSpPr>
          <p:spPr>
            <a:xfrm rot="10800000" flipH="1">
              <a:off x="9398838" y="4043273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4" name="Google Shape;424;p35"/>
            <p:cNvCxnSpPr/>
            <p:nvPr/>
          </p:nvCxnSpPr>
          <p:spPr>
            <a:xfrm rot="10800000" flipH="1">
              <a:off x="9373438" y="5786348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41" name="Google Shape;425;p35">
            <a:extLst>
              <a:ext uri="{FF2B5EF4-FFF2-40B4-BE49-F238E27FC236}">
                <a16:creationId xmlns:a16="http://schemas.microsoft.com/office/drawing/2014/main" id="{5020AACF-5A89-4AA7-8642-457C9BF6DE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889" y="3737099"/>
            <a:ext cx="3989221" cy="2608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(Multi-</a:t>
            </a:r>
            <a:r>
              <a:rPr lang="es-ES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Level</a:t>
            </a: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Feedback Queue)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31" name="Google Shape;431;p36"/>
          <p:cNvSpPr txBox="1">
            <a:spLocks noGrp="1"/>
          </p:cNvSpPr>
          <p:nvPr>
            <p:ph type="body" idx="1"/>
          </p:nvPr>
        </p:nvSpPr>
        <p:spPr>
          <a:xfrm>
            <a:off x="916650" y="932100"/>
            <a:ext cx="10370700" cy="114344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89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None/>
            </a:pPr>
            <a:r>
              <a:rPr lang="es-ES" sz="2000" dirty="0"/>
              <a:t>La asignación de prioridades se realiza de acuerdo al comportamiento observado:</a:t>
            </a:r>
            <a:endParaRPr sz="2000" dirty="0"/>
          </a:p>
          <a:p>
            <a:pPr marL="4318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ES" sz="2000" b="1" dirty="0"/>
              <a:t>Alta prioridad</a:t>
            </a:r>
            <a:r>
              <a:rPr lang="es-ES" sz="2000" dirty="0"/>
              <a:t>: Procesos I/O bound.</a:t>
            </a:r>
            <a:endParaRPr sz="2000" dirty="0"/>
          </a:p>
          <a:p>
            <a:pPr marL="4318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ES" sz="2000" b="1" dirty="0"/>
              <a:t>Bajas prioridades</a:t>
            </a:r>
            <a:r>
              <a:rPr lang="es-ES" sz="2000" dirty="0"/>
              <a:t>: Procesos CPU-</a:t>
            </a:r>
            <a:r>
              <a:rPr lang="es-ES" sz="2000" dirty="0" err="1"/>
              <a:t>bound</a:t>
            </a:r>
            <a:r>
              <a:rPr lang="es-ES" sz="2000" dirty="0"/>
              <a:t>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432" name="Google Shape;43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700" y="2644375"/>
            <a:ext cx="5771900" cy="307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7"/>
          <p:cNvSpPr txBox="1">
            <a:spLocks noGrp="1"/>
          </p:cNvSpPr>
          <p:nvPr>
            <p:ph type="title"/>
          </p:nvPr>
        </p:nvSpPr>
        <p:spPr>
          <a:xfrm>
            <a:off x="420913" y="96038"/>
            <a:ext cx="1069049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 - Reglas básicas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38" name="Google Shape;438;p37"/>
          <p:cNvSpPr txBox="1">
            <a:spLocks noGrp="1"/>
          </p:cNvSpPr>
          <p:nvPr>
            <p:ph type="body" idx="1"/>
          </p:nvPr>
        </p:nvSpPr>
        <p:spPr>
          <a:xfrm>
            <a:off x="562428" y="1045538"/>
            <a:ext cx="10690500" cy="393286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1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</a:t>
            </a:r>
            <a:r>
              <a:rPr lang="es-ES" sz="2400" b="1" dirty="0">
                <a:solidFill>
                  <a:srgbClr val="0B6937"/>
                </a:solidFill>
                <a:latin typeface="+mn-lt"/>
              </a:rPr>
              <a:t>prioridad(A)</a:t>
            </a:r>
            <a:r>
              <a:rPr lang="es-ES" sz="2400" dirty="0">
                <a:latin typeface="+mn-lt"/>
              </a:rPr>
              <a:t> </a:t>
            </a:r>
            <a:r>
              <a:rPr lang="es-ES" sz="2400" b="1" dirty="0">
                <a:latin typeface="+mn-lt"/>
              </a:rPr>
              <a:t>&gt;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prioridad(B)</a:t>
            </a:r>
            <a:r>
              <a:rPr lang="es-ES" sz="2400" dirty="0">
                <a:latin typeface="+mn-lt"/>
              </a:rPr>
              <a:t>; </a:t>
            </a:r>
            <a:r>
              <a:rPr lang="es-ES" sz="2400" b="1" dirty="0">
                <a:latin typeface="+mn-lt"/>
              </a:rPr>
              <a:t>A</a:t>
            </a:r>
            <a:r>
              <a:rPr lang="es-ES" sz="2400" dirty="0">
                <a:latin typeface="+mn-lt"/>
              </a:rPr>
              <a:t> se ejecuta.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2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</a:t>
            </a:r>
            <a:r>
              <a:rPr lang="es-ES" sz="2400" b="1" dirty="0">
                <a:solidFill>
                  <a:srgbClr val="0B6937"/>
                </a:solidFill>
                <a:latin typeface="+mn-lt"/>
              </a:rPr>
              <a:t>prioridad(A)</a:t>
            </a:r>
            <a:r>
              <a:rPr lang="es-ES" sz="2400" b="1" dirty="0">
                <a:latin typeface="+mn-lt"/>
              </a:rPr>
              <a:t> =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prioridad(B)</a:t>
            </a:r>
            <a:r>
              <a:rPr lang="es-ES" sz="2400" dirty="0">
                <a:latin typeface="+mn-lt"/>
              </a:rPr>
              <a:t>; </a:t>
            </a:r>
            <a:r>
              <a:rPr lang="es-ES" sz="2400" b="1" dirty="0">
                <a:latin typeface="+mn-lt"/>
              </a:rPr>
              <a:t>RR</a:t>
            </a:r>
            <a:r>
              <a:rPr lang="es-ES" sz="2400" dirty="0">
                <a:latin typeface="+mn-lt"/>
              </a:rPr>
              <a:t> para </a:t>
            </a:r>
            <a:r>
              <a:rPr lang="es-ES" sz="2400" b="1" dirty="0">
                <a:latin typeface="+mn-lt"/>
              </a:rPr>
              <a:t>A</a:t>
            </a:r>
            <a:r>
              <a:rPr lang="es-ES" sz="2400" dirty="0">
                <a:latin typeface="+mn-lt"/>
              </a:rPr>
              <a:t> y </a:t>
            </a:r>
            <a:r>
              <a:rPr lang="es-ES" sz="2400" b="1" dirty="0">
                <a:latin typeface="+mn-lt"/>
              </a:rPr>
              <a:t>B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3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Cuando un trabajo llega al sistema es ubicado en la cola con la prioridad más alta.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4a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el trabajo usa completamente el quantum de tiempo, se reduce su prioridad.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4b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 </a:t>
            </a:r>
            <a:r>
              <a:rPr lang="es-ES" sz="2400" dirty="0">
                <a:latin typeface="+mn-lt"/>
              </a:rPr>
              <a:t>Si el trabajo entrega la CPU antes de finalizar su quantum de tiempo, mantiene el mismo nivel de prioridad.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5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Después de un tiempo </a:t>
            </a:r>
            <a:r>
              <a:rPr lang="es-ES" sz="2400" b="1" dirty="0">
                <a:latin typeface="+mn-lt"/>
              </a:rPr>
              <a:t>S</a:t>
            </a:r>
            <a:r>
              <a:rPr lang="es-ES" sz="2400" dirty="0">
                <a:latin typeface="+mn-lt"/>
              </a:rPr>
              <a:t>, mueva todos los trabajos al mayor nivel de prioridad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439" name="Google Shape;439;p37"/>
          <p:cNvSpPr txBox="1"/>
          <p:nvPr/>
        </p:nvSpPr>
        <p:spPr>
          <a:xfrm>
            <a:off x="716328" y="5202186"/>
            <a:ext cx="10536600" cy="9874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 medida que avancemos en nuestro estudio iremos analizando la implicación de cada una de estas reglas.</a:t>
            </a:r>
            <a:endParaRPr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 - Reglas básicas</a:t>
            </a:r>
            <a:endParaRPr dirty="0"/>
          </a:p>
        </p:txBody>
      </p:sp>
      <p:sp>
        <p:nvSpPr>
          <p:cNvPr id="445" name="Google Shape;445;p38"/>
          <p:cNvSpPr txBox="1">
            <a:spLocks noGrp="1"/>
          </p:cNvSpPr>
          <p:nvPr>
            <p:ph type="body" idx="1"/>
          </p:nvPr>
        </p:nvSpPr>
        <p:spPr>
          <a:xfrm>
            <a:off x="248927" y="953990"/>
            <a:ext cx="10816329" cy="16005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</a:rPr>
              <a:t>Prioridades</a:t>
            </a:r>
            <a:endParaRPr sz="3400" dirty="0">
              <a:solidFill>
                <a:schemeClr val="accent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/>
              <a:t>Regla 1</a:t>
            </a:r>
            <a:r>
              <a:rPr lang="es-ES" sz="2400" dirty="0"/>
              <a:t>: Si </a:t>
            </a:r>
            <a:r>
              <a:rPr lang="es-ES" sz="2400" b="1" dirty="0">
                <a:solidFill>
                  <a:srgbClr val="0B6937"/>
                </a:solidFill>
              </a:rPr>
              <a:t>prioridad(A)</a:t>
            </a:r>
            <a:r>
              <a:rPr lang="es-ES" sz="2400" dirty="0"/>
              <a:t> </a:t>
            </a:r>
            <a:r>
              <a:rPr lang="es-ES" sz="2400" b="1" dirty="0"/>
              <a:t>&gt; </a:t>
            </a:r>
            <a:r>
              <a:rPr lang="es-ES" sz="2400" b="1" dirty="0">
                <a:solidFill>
                  <a:srgbClr val="FF0000"/>
                </a:solidFill>
              </a:rPr>
              <a:t>prioridad(B)</a:t>
            </a:r>
            <a:r>
              <a:rPr lang="es-ES" sz="2400" dirty="0"/>
              <a:t>; </a:t>
            </a:r>
            <a:r>
              <a:rPr lang="es-ES" sz="2400" b="1" dirty="0"/>
              <a:t>A</a:t>
            </a:r>
            <a:r>
              <a:rPr lang="es-ES" sz="2400" dirty="0"/>
              <a:t> se ejecuta.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/>
              <a:t>Regla 2</a:t>
            </a:r>
            <a:r>
              <a:rPr lang="es-ES" sz="2400" dirty="0"/>
              <a:t>: Si </a:t>
            </a:r>
            <a:r>
              <a:rPr lang="es-ES" sz="2400" b="1" dirty="0">
                <a:solidFill>
                  <a:srgbClr val="0B6937"/>
                </a:solidFill>
              </a:rPr>
              <a:t>prioridad(A)</a:t>
            </a:r>
            <a:r>
              <a:rPr lang="es-ES" sz="2400" b="1" dirty="0"/>
              <a:t> = </a:t>
            </a:r>
            <a:r>
              <a:rPr lang="es-ES" sz="2400" b="1" dirty="0">
                <a:solidFill>
                  <a:srgbClr val="FF0000"/>
                </a:solidFill>
              </a:rPr>
              <a:t>prioridad(B)</a:t>
            </a:r>
            <a:r>
              <a:rPr lang="es-ES" sz="2400" dirty="0"/>
              <a:t>; </a:t>
            </a:r>
            <a:r>
              <a:rPr lang="es-ES" sz="2400" b="1" dirty="0"/>
              <a:t>RR</a:t>
            </a:r>
            <a:r>
              <a:rPr lang="es-ES" sz="2400" dirty="0"/>
              <a:t> para </a:t>
            </a:r>
            <a:r>
              <a:rPr lang="es-ES" sz="2400" b="1" dirty="0"/>
              <a:t>A</a:t>
            </a:r>
            <a:r>
              <a:rPr lang="es-ES" sz="2400" dirty="0"/>
              <a:t> y </a:t>
            </a:r>
            <a:r>
              <a:rPr lang="es-ES" sz="2400" b="1" dirty="0"/>
              <a:t>B</a:t>
            </a:r>
            <a:r>
              <a:rPr lang="es-ES" sz="2400" dirty="0"/>
              <a:t>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47" name="Google Shape;447;p38"/>
          <p:cNvGrpSpPr/>
          <p:nvPr/>
        </p:nvGrpSpPr>
        <p:grpSpPr>
          <a:xfrm>
            <a:off x="814189" y="3439155"/>
            <a:ext cx="749400" cy="2281950"/>
            <a:chOff x="8520500" y="1282075"/>
            <a:chExt cx="749400" cy="2281950"/>
          </a:xfrm>
        </p:grpSpPr>
        <p:sp>
          <p:nvSpPr>
            <p:cNvPr id="448" name="Google Shape;448;p38"/>
            <p:cNvSpPr txBox="1"/>
            <p:nvPr/>
          </p:nvSpPr>
          <p:spPr>
            <a:xfrm>
              <a:off x="8582450" y="1282075"/>
              <a:ext cx="625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latin typeface="Courier New"/>
                  <a:ea typeface="Courier New"/>
                  <a:cs typeface="Courier New"/>
                  <a:sym typeface="Courier New"/>
                </a:rPr>
                <a:t>Q3</a:t>
              </a:r>
              <a:endParaRPr sz="24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9" name="Google Shape;449;p38"/>
            <p:cNvSpPr txBox="1"/>
            <p:nvPr/>
          </p:nvSpPr>
          <p:spPr>
            <a:xfrm>
              <a:off x="8520500" y="1875775"/>
              <a:ext cx="749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urier New"/>
                  <a:ea typeface="Courier New"/>
                  <a:cs typeface="Courier New"/>
                  <a:sym typeface="Courier New"/>
                </a:rPr>
                <a:t>Q2</a:t>
              </a:r>
              <a:endParaRPr sz="2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0" name="Google Shape;450;p38"/>
            <p:cNvSpPr txBox="1"/>
            <p:nvPr/>
          </p:nvSpPr>
          <p:spPr>
            <a:xfrm>
              <a:off x="8520500" y="2442850"/>
              <a:ext cx="749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latin typeface="Courier New"/>
                  <a:ea typeface="Courier New"/>
                  <a:cs typeface="Courier New"/>
                  <a:sym typeface="Courier New"/>
                </a:rPr>
                <a:t>Q1</a:t>
              </a:r>
              <a:endParaRPr sz="24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1" name="Google Shape;451;p38"/>
            <p:cNvSpPr txBox="1"/>
            <p:nvPr/>
          </p:nvSpPr>
          <p:spPr>
            <a:xfrm>
              <a:off x="8520500" y="3009925"/>
              <a:ext cx="749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latin typeface="Courier New"/>
                  <a:ea typeface="Courier New"/>
                  <a:cs typeface="Courier New"/>
                  <a:sym typeface="Courier New"/>
                </a:rPr>
                <a:t>Q0</a:t>
              </a:r>
              <a:endParaRPr sz="24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52" name="Google Shape;452;p38"/>
          <p:cNvSpPr/>
          <p:nvPr/>
        </p:nvSpPr>
        <p:spPr>
          <a:xfrm>
            <a:off x="2027827" y="3418840"/>
            <a:ext cx="608400" cy="5973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2053239" y="4067140"/>
            <a:ext cx="608400" cy="597300"/>
          </a:xfrm>
          <a:prstGeom prst="ellipse">
            <a:avLst/>
          </a:prstGeom>
          <a:solidFill>
            <a:srgbClr val="EA9999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4" name="Google Shape;454;p38"/>
          <p:cNvSpPr/>
          <p:nvPr/>
        </p:nvSpPr>
        <p:spPr>
          <a:xfrm>
            <a:off x="2053239" y="5165690"/>
            <a:ext cx="608400" cy="597300"/>
          </a:xfrm>
          <a:prstGeom prst="ellipse">
            <a:avLst/>
          </a:prstGeom>
          <a:solidFill>
            <a:srgbClr val="F9CB9C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sz="1800" b="1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5" name="Google Shape;455;p38"/>
          <p:cNvSpPr/>
          <p:nvPr/>
        </p:nvSpPr>
        <p:spPr>
          <a:xfrm>
            <a:off x="3186639" y="5165690"/>
            <a:ext cx="608400" cy="5973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urier New"/>
                <a:ea typeface="Courier New"/>
                <a:cs typeface="Courier New"/>
                <a:sym typeface="Courier New"/>
              </a:rPr>
              <a:t>D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56" name="Google Shape;456;p38"/>
          <p:cNvCxnSpPr/>
          <p:nvPr/>
        </p:nvCxnSpPr>
        <p:spPr>
          <a:xfrm rot="10800000" flipH="1">
            <a:off x="1502827" y="3716890"/>
            <a:ext cx="525000" cy="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7" name="Google Shape;457;p38"/>
          <p:cNvCxnSpPr/>
          <p:nvPr/>
        </p:nvCxnSpPr>
        <p:spPr>
          <a:xfrm rot="10800000" flipH="1">
            <a:off x="1502827" y="5475015"/>
            <a:ext cx="525000" cy="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8" name="Google Shape;458;p38"/>
          <p:cNvCxnSpPr/>
          <p:nvPr/>
        </p:nvCxnSpPr>
        <p:spPr>
          <a:xfrm rot="10800000" flipH="1">
            <a:off x="2661627" y="5463740"/>
            <a:ext cx="525000" cy="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9" name="Google Shape;459;p38"/>
          <p:cNvCxnSpPr/>
          <p:nvPr/>
        </p:nvCxnSpPr>
        <p:spPr>
          <a:xfrm rot="10800000" flipH="1">
            <a:off x="1528227" y="4365190"/>
            <a:ext cx="525000" cy="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67" name="Grupo 466">
            <a:extLst>
              <a:ext uri="{FF2B5EF4-FFF2-40B4-BE49-F238E27FC236}">
                <a16:creationId xmlns:a16="http://schemas.microsoft.com/office/drawing/2014/main" id="{57D1C1CA-14F3-427F-933A-290D2A1369D3}"/>
              </a:ext>
            </a:extLst>
          </p:cNvPr>
          <p:cNvGrpSpPr/>
          <p:nvPr/>
        </p:nvGrpSpPr>
        <p:grpSpPr>
          <a:xfrm>
            <a:off x="4819582" y="2731188"/>
            <a:ext cx="6300721" cy="3633530"/>
            <a:chOff x="5015910" y="2488977"/>
            <a:chExt cx="6300721" cy="3633530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78ACEF85-9CB1-446F-9ABF-50BEBE7383C0}"/>
                </a:ext>
              </a:extLst>
            </p:cNvPr>
            <p:cNvGrpSpPr/>
            <p:nvPr/>
          </p:nvGrpSpPr>
          <p:grpSpPr>
            <a:xfrm>
              <a:off x="10442434" y="3738746"/>
              <a:ext cx="874197" cy="1195002"/>
              <a:chOff x="1620690" y="2501644"/>
              <a:chExt cx="874197" cy="1195002"/>
            </a:xfrm>
          </p:grpSpPr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9A577543-5122-4E92-A140-43D2CA40B2EF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8D29F1D-2E2C-4179-A469-2DDC661B28FD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752A6403-1151-45ED-AF59-150241555522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9643431" y="4520913"/>
              <a:ext cx="79900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5743BCC8-B447-4A6A-95A7-1DED3DA448AF}"/>
                </a:ext>
              </a:extLst>
            </p:cNvPr>
            <p:cNvGrpSpPr/>
            <p:nvPr/>
          </p:nvGrpSpPr>
          <p:grpSpPr>
            <a:xfrm>
              <a:off x="5669609" y="2833578"/>
              <a:ext cx="2480084" cy="418481"/>
              <a:chOff x="3934951" y="4789478"/>
              <a:chExt cx="2480084" cy="831255"/>
            </a:xfrm>
          </p:grpSpPr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26D23DE2-AF7A-4796-8ACF-0C5D4B3A73B0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51DB8351-60A8-4E4E-8EAB-7B708D4BA77F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603B2322-D3FC-4F94-BDFC-927A0BACCA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69FC630C-1433-4481-A025-DACFECFB3A0F}"/>
                </a:ext>
              </a:extLst>
            </p:cNvPr>
            <p:cNvSpPr txBox="1"/>
            <p:nvPr/>
          </p:nvSpPr>
          <p:spPr>
            <a:xfrm>
              <a:off x="6674750" y="248897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Q3</a:t>
              </a:r>
            </a:p>
          </p:txBody>
        </p:sp>
        <p:grpSp>
          <p:nvGrpSpPr>
            <p:cNvPr id="55" name="Grupo 54">
              <a:extLst>
                <a:ext uri="{FF2B5EF4-FFF2-40B4-BE49-F238E27FC236}">
                  <a16:creationId xmlns:a16="http://schemas.microsoft.com/office/drawing/2014/main" id="{66E16DA2-A7DB-44EB-AE85-74DA01C14D4B}"/>
                </a:ext>
              </a:extLst>
            </p:cNvPr>
            <p:cNvGrpSpPr/>
            <p:nvPr/>
          </p:nvGrpSpPr>
          <p:grpSpPr>
            <a:xfrm>
              <a:off x="5667254" y="3788712"/>
              <a:ext cx="2480084" cy="418481"/>
              <a:chOff x="3934951" y="4789478"/>
              <a:chExt cx="2480084" cy="831255"/>
            </a:xfrm>
          </p:grpSpPr>
          <p:cxnSp>
            <p:nvCxnSpPr>
              <p:cNvPr id="56" name="Conector recto 55">
                <a:extLst>
                  <a:ext uri="{FF2B5EF4-FFF2-40B4-BE49-F238E27FC236}">
                    <a16:creationId xmlns:a16="http://schemas.microsoft.com/office/drawing/2014/main" id="{46122136-FD05-4AAA-AD3D-29285E3A04AC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 recto 56">
                <a:extLst>
                  <a:ext uri="{FF2B5EF4-FFF2-40B4-BE49-F238E27FC236}">
                    <a16:creationId xmlns:a16="http://schemas.microsoft.com/office/drawing/2014/main" id="{C0EF9F96-8F5E-4AFB-8542-B90AE8EF40AC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ector recto 57">
                <a:extLst>
                  <a:ext uri="{FF2B5EF4-FFF2-40B4-BE49-F238E27FC236}">
                    <a16:creationId xmlns:a16="http://schemas.microsoft.com/office/drawing/2014/main" id="{067080C9-AB97-4B67-8A14-688BFDBE97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7E9C3E09-28A3-4EC5-BF93-258B0AD15F85}"/>
                </a:ext>
              </a:extLst>
            </p:cNvPr>
            <p:cNvSpPr txBox="1"/>
            <p:nvPr/>
          </p:nvSpPr>
          <p:spPr>
            <a:xfrm>
              <a:off x="6672395" y="344411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Q2</a:t>
              </a:r>
            </a:p>
          </p:txBody>
        </p:sp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F5258BE5-E1A4-4FAC-8811-A09A100148B3}"/>
                </a:ext>
              </a:extLst>
            </p:cNvPr>
            <p:cNvGrpSpPr/>
            <p:nvPr/>
          </p:nvGrpSpPr>
          <p:grpSpPr>
            <a:xfrm>
              <a:off x="5664899" y="4738222"/>
              <a:ext cx="2480084" cy="418481"/>
              <a:chOff x="3934951" y="4789478"/>
              <a:chExt cx="2480084" cy="831255"/>
            </a:xfrm>
          </p:grpSpPr>
          <p:cxnSp>
            <p:nvCxnSpPr>
              <p:cNvPr id="61" name="Conector recto 60">
                <a:extLst>
                  <a:ext uri="{FF2B5EF4-FFF2-40B4-BE49-F238E27FC236}">
                    <a16:creationId xmlns:a16="http://schemas.microsoft.com/office/drawing/2014/main" id="{43781248-3588-4529-B159-55507CB96689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ector recto 61">
                <a:extLst>
                  <a:ext uri="{FF2B5EF4-FFF2-40B4-BE49-F238E27FC236}">
                    <a16:creationId xmlns:a16="http://schemas.microsoft.com/office/drawing/2014/main" id="{9CD2C351-35F5-43BC-A06C-8ABBC46F9A2E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 recto 62">
                <a:extLst>
                  <a:ext uri="{FF2B5EF4-FFF2-40B4-BE49-F238E27FC236}">
                    <a16:creationId xmlns:a16="http://schemas.microsoft.com/office/drawing/2014/main" id="{9422711A-53BA-4791-8082-3A1D8DF6DB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FD8B3402-F53B-4206-BC4E-D9274FB51380}"/>
                </a:ext>
              </a:extLst>
            </p:cNvPr>
            <p:cNvSpPr txBox="1"/>
            <p:nvPr/>
          </p:nvSpPr>
          <p:spPr>
            <a:xfrm>
              <a:off x="6670040" y="439362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Q1</a:t>
              </a:r>
            </a:p>
          </p:txBody>
        </p:sp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9F6FA6AF-5167-45D8-8E4E-68E6CD635252}"/>
                </a:ext>
              </a:extLst>
            </p:cNvPr>
            <p:cNvGrpSpPr/>
            <p:nvPr/>
          </p:nvGrpSpPr>
          <p:grpSpPr>
            <a:xfrm>
              <a:off x="5662544" y="5704026"/>
              <a:ext cx="2480084" cy="418481"/>
              <a:chOff x="3934951" y="4789478"/>
              <a:chExt cx="2480084" cy="831255"/>
            </a:xfrm>
          </p:grpSpPr>
          <p:cxnSp>
            <p:nvCxnSpPr>
              <p:cNvPr id="66" name="Conector recto 65">
                <a:extLst>
                  <a:ext uri="{FF2B5EF4-FFF2-40B4-BE49-F238E27FC236}">
                    <a16:creationId xmlns:a16="http://schemas.microsoft.com/office/drawing/2014/main" id="{95EC2206-F99F-40E9-980B-7149CAE46609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ector recto 66">
                <a:extLst>
                  <a:ext uri="{FF2B5EF4-FFF2-40B4-BE49-F238E27FC236}">
                    <a16:creationId xmlns:a16="http://schemas.microsoft.com/office/drawing/2014/main" id="{F4AA2F64-221A-4D08-B6C9-197493F75D71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Conector recto 67">
                <a:extLst>
                  <a:ext uri="{FF2B5EF4-FFF2-40B4-BE49-F238E27FC236}">
                    <a16:creationId xmlns:a16="http://schemas.microsoft.com/office/drawing/2014/main" id="{3A3C3166-50AE-4775-8A63-C599A0E698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699FE8E8-44CE-4CC4-B2AA-CBC9ECBA5228}"/>
                </a:ext>
              </a:extLst>
            </p:cNvPr>
            <p:cNvSpPr txBox="1"/>
            <p:nvPr/>
          </p:nvSpPr>
          <p:spPr>
            <a:xfrm>
              <a:off x="6667685" y="5359425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Q0</a:t>
              </a:r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7D1D361A-2F23-4C59-9E8C-FC85AFDA7429}"/>
                </a:ext>
              </a:extLst>
            </p:cNvPr>
            <p:cNvGrpSpPr/>
            <p:nvPr/>
          </p:nvGrpSpPr>
          <p:grpSpPr>
            <a:xfrm>
              <a:off x="5297850" y="3174396"/>
              <a:ext cx="3139440" cy="825670"/>
              <a:chOff x="5090160" y="3201486"/>
              <a:chExt cx="3139440" cy="825670"/>
            </a:xfrm>
          </p:grpSpPr>
          <p:cxnSp>
            <p:nvCxnSpPr>
              <p:cNvPr id="9" name="Conector recto 8">
                <a:extLst>
                  <a:ext uri="{FF2B5EF4-FFF2-40B4-BE49-F238E27FC236}">
                    <a16:creationId xmlns:a16="http://schemas.microsoft.com/office/drawing/2014/main" id="{A95B6EED-C209-429C-A197-D111A9F5A3F4}"/>
                  </a:ext>
                </a:extLst>
              </p:cNvPr>
              <p:cNvCxnSpPr/>
              <p:nvPr/>
            </p:nvCxnSpPr>
            <p:spPr>
              <a:xfrm>
                <a:off x="7932583" y="3201486"/>
                <a:ext cx="297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 recto 77">
                <a:extLst>
                  <a:ext uri="{FF2B5EF4-FFF2-40B4-BE49-F238E27FC236}">
                    <a16:creationId xmlns:a16="http://schemas.microsoft.com/office/drawing/2014/main" id="{62BCEBA3-E266-4E58-BD1D-305FF29CA7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313944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ector recto 80">
                <a:extLst>
                  <a:ext uri="{FF2B5EF4-FFF2-40B4-BE49-F238E27FC236}">
                    <a16:creationId xmlns:a16="http://schemas.microsoft.com/office/drawing/2014/main" id="{BF81004F-56B4-4D97-8C1B-1012DA9A2F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19718" y="3201486"/>
                <a:ext cx="3532" cy="2697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ector recto 84">
                <a:extLst>
                  <a:ext uri="{FF2B5EF4-FFF2-40B4-BE49-F238E27FC236}">
                    <a16:creationId xmlns:a16="http://schemas.microsoft.com/office/drawing/2014/main" id="{2102AAE8-30B7-4DC0-8418-D54390E471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0" cy="5559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Conector recto 87">
                <a:extLst>
                  <a:ext uri="{FF2B5EF4-FFF2-40B4-BE49-F238E27FC236}">
                    <a16:creationId xmlns:a16="http://schemas.microsoft.com/office/drawing/2014/main" id="{538EDC00-AB67-4FF8-BB92-21AD416D8B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4020622"/>
                <a:ext cx="364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upo 90">
              <a:extLst>
                <a:ext uri="{FF2B5EF4-FFF2-40B4-BE49-F238E27FC236}">
                  <a16:creationId xmlns:a16="http://schemas.microsoft.com/office/drawing/2014/main" id="{976A96BB-E5D8-4FB5-8C2A-3897351A4973}"/>
                </a:ext>
              </a:extLst>
            </p:cNvPr>
            <p:cNvGrpSpPr/>
            <p:nvPr/>
          </p:nvGrpSpPr>
          <p:grpSpPr>
            <a:xfrm>
              <a:off x="5297850" y="4127733"/>
              <a:ext cx="3139440" cy="825670"/>
              <a:chOff x="5090160" y="3201486"/>
              <a:chExt cx="3139440" cy="825670"/>
            </a:xfrm>
          </p:grpSpPr>
          <p:cxnSp>
            <p:nvCxnSpPr>
              <p:cNvPr id="92" name="Conector recto 91">
                <a:extLst>
                  <a:ext uri="{FF2B5EF4-FFF2-40B4-BE49-F238E27FC236}">
                    <a16:creationId xmlns:a16="http://schemas.microsoft.com/office/drawing/2014/main" id="{547C7805-E903-4FB0-B34E-A15282C36686}"/>
                  </a:ext>
                </a:extLst>
              </p:cNvPr>
              <p:cNvCxnSpPr/>
              <p:nvPr/>
            </p:nvCxnSpPr>
            <p:spPr>
              <a:xfrm>
                <a:off x="7932583" y="3201486"/>
                <a:ext cx="297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Conector recto 92">
                <a:extLst>
                  <a:ext uri="{FF2B5EF4-FFF2-40B4-BE49-F238E27FC236}">
                    <a16:creationId xmlns:a16="http://schemas.microsoft.com/office/drawing/2014/main" id="{5E5485B9-F2B1-4807-A93B-233828EB04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313944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Conector recto 93">
                <a:extLst>
                  <a:ext uri="{FF2B5EF4-FFF2-40B4-BE49-F238E27FC236}">
                    <a16:creationId xmlns:a16="http://schemas.microsoft.com/office/drawing/2014/main" id="{B6DD9405-2889-4930-AC94-9209AB131A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19718" y="3201486"/>
                <a:ext cx="3532" cy="2697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ector recto 94">
                <a:extLst>
                  <a:ext uri="{FF2B5EF4-FFF2-40B4-BE49-F238E27FC236}">
                    <a16:creationId xmlns:a16="http://schemas.microsoft.com/office/drawing/2014/main" id="{F9E351B0-1C91-4DED-958E-357E83EA32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0" cy="5559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Conector recto 95">
                <a:extLst>
                  <a:ext uri="{FF2B5EF4-FFF2-40B4-BE49-F238E27FC236}">
                    <a16:creationId xmlns:a16="http://schemas.microsoft.com/office/drawing/2014/main" id="{B784C2D6-D19A-4612-8BEB-C36CD57BE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4020622"/>
                <a:ext cx="364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upo 96">
              <a:extLst>
                <a:ext uri="{FF2B5EF4-FFF2-40B4-BE49-F238E27FC236}">
                  <a16:creationId xmlns:a16="http://schemas.microsoft.com/office/drawing/2014/main" id="{4D140BE1-0D74-4603-AA3C-9B80478DE65F}"/>
                </a:ext>
              </a:extLst>
            </p:cNvPr>
            <p:cNvGrpSpPr/>
            <p:nvPr/>
          </p:nvGrpSpPr>
          <p:grpSpPr>
            <a:xfrm>
              <a:off x="5297850" y="5080247"/>
              <a:ext cx="3139440" cy="825670"/>
              <a:chOff x="5090160" y="3201486"/>
              <a:chExt cx="3139440" cy="825670"/>
            </a:xfrm>
          </p:grpSpPr>
          <p:cxnSp>
            <p:nvCxnSpPr>
              <p:cNvPr id="98" name="Conector recto 97">
                <a:extLst>
                  <a:ext uri="{FF2B5EF4-FFF2-40B4-BE49-F238E27FC236}">
                    <a16:creationId xmlns:a16="http://schemas.microsoft.com/office/drawing/2014/main" id="{9EC7A541-231D-4C7B-8BD5-236D5D164DE9}"/>
                  </a:ext>
                </a:extLst>
              </p:cNvPr>
              <p:cNvCxnSpPr/>
              <p:nvPr/>
            </p:nvCxnSpPr>
            <p:spPr>
              <a:xfrm>
                <a:off x="7932583" y="3201486"/>
                <a:ext cx="297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Conector recto 98">
                <a:extLst>
                  <a:ext uri="{FF2B5EF4-FFF2-40B4-BE49-F238E27FC236}">
                    <a16:creationId xmlns:a16="http://schemas.microsoft.com/office/drawing/2014/main" id="{B38F3CFC-9FA9-4E76-8B68-F449EE7F5E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313944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Conector recto 99">
                <a:extLst>
                  <a:ext uri="{FF2B5EF4-FFF2-40B4-BE49-F238E27FC236}">
                    <a16:creationId xmlns:a16="http://schemas.microsoft.com/office/drawing/2014/main" id="{3D639A0C-E049-43B8-ADB9-33B2E401FD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19718" y="3201486"/>
                <a:ext cx="3532" cy="2697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Conector recto 100">
                <a:extLst>
                  <a:ext uri="{FF2B5EF4-FFF2-40B4-BE49-F238E27FC236}">
                    <a16:creationId xmlns:a16="http://schemas.microsoft.com/office/drawing/2014/main" id="{3381D7BA-7D3B-45BA-9556-E9FD1F3061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0" cy="5559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Conector recto 101">
                <a:extLst>
                  <a:ext uri="{FF2B5EF4-FFF2-40B4-BE49-F238E27FC236}">
                    <a16:creationId xmlns:a16="http://schemas.microsoft.com/office/drawing/2014/main" id="{BBABB922-1356-488C-BE79-40465E6B2A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4020622"/>
                <a:ext cx="364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Conector recto 108">
              <a:extLst>
                <a:ext uri="{FF2B5EF4-FFF2-40B4-BE49-F238E27FC236}">
                  <a16:creationId xmlns:a16="http://schemas.microsoft.com/office/drawing/2014/main" id="{28DC86FD-4EBA-42F3-91FE-D1EA5C45C482}"/>
                </a:ext>
              </a:extLst>
            </p:cNvPr>
            <p:cNvCxnSpPr>
              <a:cxnSpLocks/>
            </p:cNvCxnSpPr>
            <p:nvPr/>
          </p:nvCxnSpPr>
          <p:spPr>
            <a:xfrm>
              <a:off x="5015910" y="3042818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cto 110">
              <a:extLst>
                <a:ext uri="{FF2B5EF4-FFF2-40B4-BE49-F238E27FC236}">
                  <a16:creationId xmlns:a16="http://schemas.microsoft.com/office/drawing/2014/main" id="{CEA8E820-162C-40D2-A66D-EC9E70C41EEB}"/>
                </a:ext>
              </a:extLst>
            </p:cNvPr>
            <p:cNvCxnSpPr>
              <a:cxnSpLocks/>
            </p:cNvCxnSpPr>
            <p:nvPr/>
          </p:nvCxnSpPr>
          <p:spPr>
            <a:xfrm>
              <a:off x="8140273" y="2989730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8A22E98E-81AC-427E-978F-8BC235DACE3C}"/>
                </a:ext>
              </a:extLst>
            </p:cNvPr>
            <p:cNvCxnSpPr>
              <a:cxnSpLocks/>
            </p:cNvCxnSpPr>
            <p:nvPr/>
          </p:nvCxnSpPr>
          <p:spPr>
            <a:xfrm>
              <a:off x="8147338" y="3981586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B1F962EE-966F-4DDA-9EA4-1CBF2F90C2D4}"/>
                </a:ext>
              </a:extLst>
            </p:cNvPr>
            <p:cNvCxnSpPr>
              <a:cxnSpLocks/>
            </p:cNvCxnSpPr>
            <p:nvPr/>
          </p:nvCxnSpPr>
          <p:spPr>
            <a:xfrm>
              <a:off x="8140272" y="4923479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ector recto 113">
              <a:extLst>
                <a:ext uri="{FF2B5EF4-FFF2-40B4-BE49-F238E27FC236}">
                  <a16:creationId xmlns:a16="http://schemas.microsoft.com/office/drawing/2014/main" id="{1888E813-7766-4A7F-B1A2-97832160C372}"/>
                </a:ext>
              </a:extLst>
            </p:cNvPr>
            <p:cNvCxnSpPr>
              <a:cxnSpLocks/>
            </p:cNvCxnSpPr>
            <p:nvPr/>
          </p:nvCxnSpPr>
          <p:spPr>
            <a:xfrm>
              <a:off x="8147338" y="5913266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6" name="Google Shape;385;p33">
              <a:extLst>
                <a:ext uri="{FF2B5EF4-FFF2-40B4-BE49-F238E27FC236}">
                  <a16:creationId xmlns:a16="http://schemas.microsoft.com/office/drawing/2014/main" id="{152EB4EC-24CD-4C7F-9DA2-F7CB8AC977AC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776753" y="3876827"/>
              <a:ext cx="577076" cy="56700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64" name="Conector recto 463">
              <a:extLst>
                <a:ext uri="{FF2B5EF4-FFF2-40B4-BE49-F238E27FC236}">
                  <a16:creationId xmlns:a16="http://schemas.microsoft.com/office/drawing/2014/main" id="{BCA85161-CAA0-4E4D-9104-D00504BBD289}"/>
                </a:ext>
              </a:extLst>
            </p:cNvPr>
            <p:cNvCxnSpPr>
              <a:cxnSpLocks/>
            </p:cNvCxnSpPr>
            <p:nvPr/>
          </p:nvCxnSpPr>
          <p:spPr>
            <a:xfrm>
              <a:off x="9250090" y="3884510"/>
              <a:ext cx="393341" cy="636353"/>
            </a:xfrm>
            <a:prstGeom prst="line">
              <a:avLst/>
            </a:prstGeom>
            <a:ln w="38100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6" name="Arco 465">
              <a:extLst>
                <a:ext uri="{FF2B5EF4-FFF2-40B4-BE49-F238E27FC236}">
                  <a16:creationId xmlns:a16="http://schemas.microsoft.com/office/drawing/2014/main" id="{BEC483F3-B1C2-43A4-BB9C-71439B02A4FA}"/>
                </a:ext>
              </a:extLst>
            </p:cNvPr>
            <p:cNvSpPr/>
            <p:nvPr/>
          </p:nvSpPr>
          <p:spPr>
            <a:xfrm rot="16200000">
              <a:off x="9275547" y="4187440"/>
              <a:ext cx="735767" cy="567003"/>
            </a:xfrm>
            <a:prstGeom prst="arc">
              <a:avLst>
                <a:gd name="adj1" fmla="val 12448962"/>
                <a:gd name="adj2" fmla="val 0"/>
              </a:avLst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 - Reglas básicas</a:t>
            </a:r>
            <a:endParaRPr dirty="0"/>
          </a:p>
        </p:txBody>
      </p:sp>
      <p:sp>
        <p:nvSpPr>
          <p:cNvPr id="466" name="Google Shape;466;p39"/>
          <p:cNvSpPr txBox="1">
            <a:spLocks noGrp="1"/>
          </p:cNvSpPr>
          <p:nvPr>
            <p:ph type="body" idx="1"/>
          </p:nvPr>
        </p:nvSpPr>
        <p:spPr>
          <a:xfrm>
            <a:off x="624900" y="1873973"/>
            <a:ext cx="5737500" cy="439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Cambio de prioridad</a:t>
            </a:r>
            <a:endParaRPr sz="3400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3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Cuando un trabajo llega al sistema es ubicado en la cola con la prioridad más alta.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4a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el trabajo usa completamente el quantum de tiempo, se reduce su prioridad.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4b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 </a:t>
            </a:r>
            <a:r>
              <a:rPr lang="es-ES" sz="2400" dirty="0">
                <a:latin typeface="+mn-lt"/>
              </a:rPr>
              <a:t>Si el trabajo entrega la CPU antes de finalizar su quantum de tiempo, mantiene el mismo nivel de prioridad.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485" name="Google Shape;485;p39"/>
          <p:cNvSpPr txBox="1">
            <a:spLocks noGrp="1"/>
          </p:cNvSpPr>
          <p:nvPr>
            <p:ph type="body" idx="4294967295"/>
          </p:nvPr>
        </p:nvSpPr>
        <p:spPr>
          <a:xfrm>
            <a:off x="651328" y="1170655"/>
            <a:ext cx="10655300" cy="525745"/>
          </a:xfrm>
          <a:prstGeom prst="rect">
            <a:avLst/>
          </a:prstGeom>
          <a:solidFill>
            <a:srgbClr val="EFEFEF"/>
          </a:solidFill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06666"/>
                </a:solidFill>
              </a:rPr>
              <a:t>Realidad</a:t>
            </a:r>
            <a:r>
              <a:rPr lang="es-ES" sz="2400" dirty="0">
                <a:solidFill>
                  <a:srgbClr val="E06666"/>
                </a:solidFill>
              </a:rPr>
              <a:t>: </a:t>
            </a:r>
            <a:r>
              <a:rPr lang="es-ES" sz="2400" dirty="0"/>
              <a:t>El </a:t>
            </a:r>
            <a:r>
              <a:rPr lang="es-ES" sz="2400" b="1" dirty="0"/>
              <a:t>workload</a:t>
            </a:r>
            <a:r>
              <a:rPr lang="es-ES" sz="2400" dirty="0"/>
              <a:t> tiene una mezcla de trabajos interactivos y tipo batch. </a:t>
            </a:r>
            <a:endParaRPr dirty="0"/>
          </a:p>
        </p:txBody>
      </p:sp>
      <p:grpSp>
        <p:nvGrpSpPr>
          <p:cNvPr id="467" name="Google Shape;467;p39"/>
          <p:cNvGrpSpPr/>
          <p:nvPr/>
        </p:nvGrpSpPr>
        <p:grpSpPr>
          <a:xfrm>
            <a:off x="6985314" y="2436809"/>
            <a:ext cx="3829050" cy="3715750"/>
            <a:chOff x="6488200" y="1483248"/>
            <a:chExt cx="3829050" cy="3715750"/>
          </a:xfrm>
        </p:grpSpPr>
        <p:grpSp>
          <p:nvGrpSpPr>
            <p:cNvPr id="468" name="Google Shape;468;p39"/>
            <p:cNvGrpSpPr/>
            <p:nvPr/>
          </p:nvGrpSpPr>
          <p:grpSpPr>
            <a:xfrm>
              <a:off x="6741700" y="1483248"/>
              <a:ext cx="2980850" cy="3715750"/>
              <a:chOff x="8761000" y="1591973"/>
              <a:chExt cx="2980850" cy="3715750"/>
            </a:xfrm>
          </p:grpSpPr>
          <p:grpSp>
            <p:nvGrpSpPr>
              <p:cNvPr id="469" name="Google Shape;469;p39"/>
              <p:cNvGrpSpPr/>
              <p:nvPr/>
            </p:nvGrpSpPr>
            <p:grpSpPr>
              <a:xfrm>
                <a:off x="8761000" y="1612288"/>
                <a:ext cx="749400" cy="3653550"/>
                <a:chOff x="8520500" y="1282075"/>
                <a:chExt cx="749400" cy="3653550"/>
              </a:xfrm>
            </p:grpSpPr>
            <p:sp>
              <p:nvSpPr>
                <p:cNvPr id="470" name="Google Shape;470;p39"/>
                <p:cNvSpPr txBox="1"/>
                <p:nvPr/>
              </p:nvSpPr>
              <p:spPr>
                <a:xfrm>
                  <a:off x="8582450" y="1282075"/>
                  <a:ext cx="6255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Q3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71" name="Google Shape;471;p39"/>
                <p:cNvSpPr txBox="1"/>
                <p:nvPr/>
              </p:nvSpPr>
              <p:spPr>
                <a:xfrm>
                  <a:off x="8520500" y="2332975"/>
                  <a:ext cx="7494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Q2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72" name="Google Shape;472;p39"/>
                <p:cNvSpPr txBox="1"/>
                <p:nvPr/>
              </p:nvSpPr>
              <p:spPr>
                <a:xfrm>
                  <a:off x="8520500" y="3357250"/>
                  <a:ext cx="7494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Q1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73" name="Google Shape;473;p39"/>
                <p:cNvSpPr txBox="1"/>
                <p:nvPr/>
              </p:nvSpPr>
              <p:spPr>
                <a:xfrm>
                  <a:off x="8520500" y="4381525"/>
                  <a:ext cx="7494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Q0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474" name="Google Shape;474;p39"/>
              <p:cNvSpPr/>
              <p:nvPr/>
            </p:nvSpPr>
            <p:spPr>
              <a:xfrm>
                <a:off x="9974638" y="1591973"/>
                <a:ext cx="608400" cy="597300"/>
              </a:xfrm>
              <a:prstGeom prst="ellipse">
                <a:avLst/>
              </a:prstGeom>
              <a:solidFill>
                <a:srgbClr val="C9DAF8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urier New"/>
                    <a:ea typeface="Courier New"/>
                    <a:cs typeface="Courier New"/>
                    <a:sym typeface="Courier New"/>
                  </a:rPr>
                  <a:t>A</a:t>
                </a:r>
                <a:endParaRPr sz="1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75" name="Google Shape;475;p39"/>
              <p:cNvSpPr/>
              <p:nvPr/>
            </p:nvSpPr>
            <p:spPr>
              <a:xfrm>
                <a:off x="10000050" y="2697473"/>
                <a:ext cx="608400" cy="597300"/>
              </a:xfrm>
              <a:prstGeom prst="ellipse">
                <a:avLst/>
              </a:prstGeom>
              <a:solidFill>
                <a:srgbClr val="EA9999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urier New"/>
                    <a:ea typeface="Courier New"/>
                    <a:cs typeface="Courier New"/>
                    <a:sym typeface="Courier New"/>
                  </a:rPr>
                  <a:t>B</a:t>
                </a:r>
                <a:endParaRPr sz="1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76" name="Google Shape;476;p39"/>
              <p:cNvSpPr/>
              <p:nvPr/>
            </p:nvSpPr>
            <p:spPr>
              <a:xfrm>
                <a:off x="10000050" y="4710423"/>
                <a:ext cx="608400" cy="597300"/>
              </a:xfrm>
              <a:prstGeom prst="ellipse">
                <a:avLst/>
              </a:prstGeom>
              <a:solidFill>
                <a:srgbClr val="F9CB9C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urier New"/>
                    <a:ea typeface="Courier New"/>
                    <a:cs typeface="Courier New"/>
                    <a:sym typeface="Courier New"/>
                  </a:rPr>
                  <a:t>C</a:t>
                </a:r>
                <a:endParaRPr sz="1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77" name="Google Shape;477;p39"/>
              <p:cNvSpPr/>
              <p:nvPr/>
            </p:nvSpPr>
            <p:spPr>
              <a:xfrm>
                <a:off x="11133450" y="4710423"/>
                <a:ext cx="608400" cy="5973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urier New"/>
                    <a:ea typeface="Courier New"/>
                    <a:cs typeface="Courier New"/>
                    <a:sym typeface="Courier New"/>
                  </a:rPr>
                  <a:t>D</a:t>
                </a:r>
                <a:endParaRPr sz="1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478" name="Google Shape;478;p39"/>
              <p:cNvCxnSpPr/>
              <p:nvPr/>
            </p:nvCxnSpPr>
            <p:spPr>
              <a:xfrm rot="10800000" flipH="1">
                <a:off x="9449638" y="5019748"/>
                <a:ext cx="525000" cy="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79" name="Google Shape;479;p39"/>
              <p:cNvCxnSpPr/>
              <p:nvPr/>
            </p:nvCxnSpPr>
            <p:spPr>
              <a:xfrm rot="10800000" flipH="1">
                <a:off x="10608438" y="5008473"/>
                <a:ext cx="525000" cy="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80" name="Google Shape;480;p39"/>
              <p:cNvCxnSpPr/>
              <p:nvPr/>
            </p:nvCxnSpPr>
            <p:spPr>
              <a:xfrm rot="10800000" flipH="1">
                <a:off x="9475038" y="2995523"/>
                <a:ext cx="525000" cy="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81" name="Google Shape;481;p39"/>
              <p:cNvCxnSpPr/>
              <p:nvPr/>
            </p:nvCxnSpPr>
            <p:spPr>
              <a:xfrm rot="10800000" flipH="1">
                <a:off x="9449638" y="1890023"/>
                <a:ext cx="525000" cy="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482" name="Google Shape;482;p39"/>
            <p:cNvSpPr/>
            <p:nvPr/>
          </p:nvSpPr>
          <p:spPr>
            <a:xfrm>
              <a:off x="6488200" y="1792750"/>
              <a:ext cx="3829050" cy="1066800"/>
            </a:xfrm>
            <a:custGeom>
              <a:avLst/>
              <a:gdLst/>
              <a:ahLst/>
              <a:cxnLst/>
              <a:rect l="l" t="t" r="r" b="b"/>
              <a:pathLst>
                <a:path w="153162" h="42672" extrusionOk="0">
                  <a:moveTo>
                    <a:pt x="85852" y="0"/>
                  </a:moveTo>
                  <a:lnTo>
                    <a:pt x="153162" y="0"/>
                  </a:lnTo>
                  <a:lnTo>
                    <a:pt x="153162" y="18034"/>
                  </a:lnTo>
                  <a:lnTo>
                    <a:pt x="0" y="18034"/>
                  </a:lnTo>
                  <a:lnTo>
                    <a:pt x="0" y="42672"/>
                  </a:lnTo>
                  <a:lnTo>
                    <a:pt x="13970" y="42672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</p:spPr>
        </p:sp>
        <p:sp>
          <p:nvSpPr>
            <p:cNvPr id="483" name="Google Shape;483;p39"/>
            <p:cNvSpPr/>
            <p:nvPr/>
          </p:nvSpPr>
          <p:spPr>
            <a:xfrm>
              <a:off x="6488200" y="2859550"/>
              <a:ext cx="3829050" cy="1066800"/>
            </a:xfrm>
            <a:custGeom>
              <a:avLst/>
              <a:gdLst/>
              <a:ahLst/>
              <a:cxnLst/>
              <a:rect l="l" t="t" r="r" b="b"/>
              <a:pathLst>
                <a:path w="153162" h="42672" extrusionOk="0">
                  <a:moveTo>
                    <a:pt x="85852" y="0"/>
                  </a:moveTo>
                  <a:lnTo>
                    <a:pt x="153162" y="0"/>
                  </a:lnTo>
                  <a:lnTo>
                    <a:pt x="153162" y="18034"/>
                  </a:lnTo>
                  <a:lnTo>
                    <a:pt x="0" y="18034"/>
                  </a:lnTo>
                  <a:lnTo>
                    <a:pt x="0" y="42672"/>
                  </a:lnTo>
                  <a:lnTo>
                    <a:pt x="13970" y="42672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</p:spPr>
        </p:sp>
        <p:sp>
          <p:nvSpPr>
            <p:cNvPr id="484" name="Google Shape;484;p39"/>
            <p:cNvSpPr/>
            <p:nvPr/>
          </p:nvSpPr>
          <p:spPr>
            <a:xfrm>
              <a:off x="6488200" y="3837450"/>
              <a:ext cx="3829050" cy="1066800"/>
            </a:xfrm>
            <a:custGeom>
              <a:avLst/>
              <a:gdLst/>
              <a:ahLst/>
              <a:cxnLst/>
              <a:rect l="l" t="t" r="r" b="b"/>
              <a:pathLst>
                <a:path w="153162" h="42672" extrusionOk="0">
                  <a:moveTo>
                    <a:pt x="85852" y="0"/>
                  </a:moveTo>
                  <a:lnTo>
                    <a:pt x="153162" y="0"/>
                  </a:lnTo>
                  <a:lnTo>
                    <a:pt x="153162" y="18034"/>
                  </a:lnTo>
                  <a:lnTo>
                    <a:pt x="0" y="18034"/>
                  </a:lnTo>
                  <a:lnTo>
                    <a:pt x="0" y="42672"/>
                  </a:lnTo>
                  <a:lnTo>
                    <a:pt x="13970" y="42672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0"/>
          <p:cNvSpPr txBox="1">
            <a:spLocks noGrp="1"/>
          </p:cNvSpPr>
          <p:nvPr>
            <p:ph type="title"/>
          </p:nvPr>
        </p:nvSpPr>
        <p:spPr>
          <a:xfrm>
            <a:off x="213075" y="112900"/>
            <a:ext cx="104394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– Proceso CPU-bound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73" name="Google Shape;447;p38">
            <a:extLst>
              <a:ext uri="{FF2B5EF4-FFF2-40B4-BE49-F238E27FC236}">
                <a16:creationId xmlns:a16="http://schemas.microsoft.com/office/drawing/2014/main" id="{24967D5C-80FF-4297-AE08-44775252A6C3}"/>
              </a:ext>
            </a:extLst>
          </p:cNvPr>
          <p:cNvGrpSpPr/>
          <p:nvPr/>
        </p:nvGrpSpPr>
        <p:grpSpPr>
          <a:xfrm>
            <a:off x="7563213" y="1714125"/>
            <a:ext cx="749400" cy="1714875"/>
            <a:chOff x="8520500" y="1282075"/>
            <a:chExt cx="749400" cy="1714875"/>
          </a:xfrm>
        </p:grpSpPr>
        <p:sp>
          <p:nvSpPr>
            <p:cNvPr id="74" name="Google Shape;448;p38">
              <a:extLst>
                <a:ext uri="{FF2B5EF4-FFF2-40B4-BE49-F238E27FC236}">
                  <a16:creationId xmlns:a16="http://schemas.microsoft.com/office/drawing/2014/main" id="{7ACE35F5-30C5-4FA3-A9C0-77D1DCE87592}"/>
                </a:ext>
              </a:extLst>
            </p:cNvPr>
            <p:cNvSpPr txBox="1"/>
            <p:nvPr/>
          </p:nvSpPr>
          <p:spPr>
            <a:xfrm>
              <a:off x="8582450" y="1282075"/>
              <a:ext cx="625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urier New"/>
                  <a:ea typeface="Courier New"/>
                  <a:cs typeface="Courier New"/>
                  <a:sym typeface="Courier New"/>
                </a:rPr>
                <a:t>Q2</a:t>
              </a:r>
              <a:endParaRPr sz="2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5" name="Google Shape;449;p38">
              <a:extLst>
                <a:ext uri="{FF2B5EF4-FFF2-40B4-BE49-F238E27FC236}">
                  <a16:creationId xmlns:a16="http://schemas.microsoft.com/office/drawing/2014/main" id="{0DCF69E6-5111-4A68-9C67-E4BEDB855C98}"/>
                </a:ext>
              </a:extLst>
            </p:cNvPr>
            <p:cNvSpPr txBox="1"/>
            <p:nvPr/>
          </p:nvSpPr>
          <p:spPr>
            <a:xfrm>
              <a:off x="8520500" y="1875775"/>
              <a:ext cx="749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urier New"/>
                  <a:ea typeface="Courier New"/>
                  <a:cs typeface="Courier New"/>
                  <a:sym typeface="Courier New"/>
                </a:rPr>
                <a:t>Q1</a:t>
              </a:r>
              <a:endParaRPr sz="2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6" name="Google Shape;450;p38">
              <a:extLst>
                <a:ext uri="{FF2B5EF4-FFF2-40B4-BE49-F238E27FC236}">
                  <a16:creationId xmlns:a16="http://schemas.microsoft.com/office/drawing/2014/main" id="{B0C681CC-D51D-4953-A2F8-AA0EEEB10FF8}"/>
                </a:ext>
              </a:extLst>
            </p:cNvPr>
            <p:cNvSpPr txBox="1"/>
            <p:nvPr/>
          </p:nvSpPr>
          <p:spPr>
            <a:xfrm>
              <a:off x="8520500" y="2442850"/>
              <a:ext cx="749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urier New"/>
                  <a:ea typeface="Courier New"/>
                  <a:cs typeface="Courier New"/>
                  <a:sym typeface="Courier New"/>
                </a:rPr>
                <a:t>Q0</a:t>
              </a:r>
              <a:endParaRPr sz="2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77" name="Google Shape;452;p38">
            <a:extLst>
              <a:ext uri="{FF2B5EF4-FFF2-40B4-BE49-F238E27FC236}">
                <a16:creationId xmlns:a16="http://schemas.microsoft.com/office/drawing/2014/main" id="{A1EAD381-6B59-4A16-9A86-F1751C8656C3}"/>
              </a:ext>
            </a:extLst>
          </p:cNvPr>
          <p:cNvSpPr/>
          <p:nvPr/>
        </p:nvSpPr>
        <p:spPr>
          <a:xfrm>
            <a:off x="8776851" y="1693810"/>
            <a:ext cx="608400" cy="5973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78" name="Google Shape;456;p38">
            <a:extLst>
              <a:ext uri="{FF2B5EF4-FFF2-40B4-BE49-F238E27FC236}">
                <a16:creationId xmlns:a16="http://schemas.microsoft.com/office/drawing/2014/main" id="{46677966-D376-4944-AA15-EA1A72061B55}"/>
              </a:ext>
            </a:extLst>
          </p:cNvPr>
          <p:cNvCxnSpPr>
            <a:cxnSpLocks/>
          </p:cNvCxnSpPr>
          <p:nvPr/>
        </p:nvCxnSpPr>
        <p:spPr>
          <a:xfrm rot="10800000" flipH="1">
            <a:off x="8251851" y="1991860"/>
            <a:ext cx="525000" cy="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" name="Google Shape;452;p38">
            <a:extLst>
              <a:ext uri="{FF2B5EF4-FFF2-40B4-BE49-F238E27FC236}">
                <a16:creationId xmlns:a16="http://schemas.microsoft.com/office/drawing/2014/main" id="{47F5EDE7-C36C-4388-B1F6-D58159C76D54}"/>
              </a:ext>
            </a:extLst>
          </p:cNvPr>
          <p:cNvSpPr/>
          <p:nvPr/>
        </p:nvSpPr>
        <p:spPr>
          <a:xfrm>
            <a:off x="9884902" y="1693810"/>
            <a:ext cx="608400" cy="599796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800" b="1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0" name="Google Shape;456;p38">
            <a:extLst>
              <a:ext uri="{FF2B5EF4-FFF2-40B4-BE49-F238E27FC236}">
                <a16:creationId xmlns:a16="http://schemas.microsoft.com/office/drawing/2014/main" id="{451FFD49-A383-418F-9EC6-9E888DB6F732}"/>
              </a:ext>
            </a:extLst>
          </p:cNvPr>
          <p:cNvCxnSpPr>
            <a:cxnSpLocks/>
          </p:cNvCxnSpPr>
          <p:nvPr/>
        </p:nvCxnSpPr>
        <p:spPr>
          <a:xfrm flipV="1">
            <a:off x="9359902" y="1991860"/>
            <a:ext cx="525000" cy="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" name="Google Shape;516;p42">
            <a:extLst>
              <a:ext uri="{FF2B5EF4-FFF2-40B4-BE49-F238E27FC236}">
                <a16:creationId xmlns:a16="http://schemas.microsoft.com/office/drawing/2014/main" id="{4DC6E0D3-A69B-4904-8CF9-7C0299E7D3C4}"/>
              </a:ext>
            </a:extLst>
          </p:cNvPr>
          <p:cNvSpPr txBox="1">
            <a:spLocks/>
          </p:cNvSpPr>
          <p:nvPr/>
        </p:nvSpPr>
        <p:spPr>
          <a:xfrm>
            <a:off x="297660" y="910001"/>
            <a:ext cx="6555553" cy="3725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4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20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r>
              <a:rPr lang="es-MX" sz="2400" b="1" dirty="0">
                <a:solidFill>
                  <a:schemeClr val="accent1"/>
                </a:solidFill>
                <a:latin typeface="+mn-lt"/>
              </a:rPr>
              <a:t>Ejemplo 3 - Proceso I/O bound</a:t>
            </a:r>
            <a:endParaRPr lang="es-MX" sz="2400" dirty="0">
              <a:latin typeface="+mn-lt"/>
            </a:endParaRPr>
          </a:p>
          <a:p>
            <a:pPr indent="-355600">
              <a:lnSpc>
                <a:spcPct val="100000"/>
              </a:lnSpc>
              <a:spcBef>
                <a:spcPts val="480"/>
              </a:spcBef>
              <a:buSzPts val="2000"/>
            </a:pPr>
            <a:r>
              <a:rPr lang="es-MX" sz="2000" dirty="0">
                <a:latin typeface="+mn-lt"/>
              </a:rPr>
              <a:t>MLFQ de 3 colas (Q2, Q1, Q0).</a:t>
            </a:r>
          </a:p>
          <a:p>
            <a:pPr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000" dirty="0">
                <a:latin typeface="+mn-lt"/>
              </a:rPr>
              <a:t>Quantum de 10 ms para cada cola.</a:t>
            </a:r>
          </a:p>
          <a:p>
            <a:pPr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000" dirty="0">
                <a:latin typeface="+mn-lt"/>
              </a:rPr>
              <a:t>Procesos:</a:t>
            </a:r>
          </a:p>
          <a:p>
            <a:pPr lvl="1"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000" b="1" dirty="0">
                <a:latin typeface="+mn-lt"/>
              </a:rPr>
              <a:t>A</a:t>
            </a:r>
            <a:r>
              <a:rPr lang="es-MX" sz="2000" dirty="0">
                <a:latin typeface="+mn-lt"/>
              </a:rPr>
              <a:t>: </a:t>
            </a:r>
          </a:p>
          <a:p>
            <a:pPr lvl="2"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dirty="0">
                <a:latin typeface="+mn-lt"/>
              </a:rPr>
              <a:t>Proceso con uso intensivo de la CPU (CPU-</a:t>
            </a:r>
            <a:r>
              <a:rPr lang="es-MX" dirty="0" err="1">
                <a:latin typeface="+mn-lt"/>
              </a:rPr>
              <a:t>bound</a:t>
            </a:r>
            <a:r>
              <a:rPr lang="es-MX" dirty="0">
                <a:latin typeface="+mn-lt"/>
              </a:rPr>
              <a:t>).</a:t>
            </a:r>
          </a:p>
          <a:p>
            <a:pPr lvl="1"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000" b="1" dirty="0">
                <a:latin typeface="+mn-lt"/>
              </a:rPr>
              <a:t>B</a:t>
            </a:r>
            <a:r>
              <a:rPr lang="es-MX" sz="2000" dirty="0">
                <a:latin typeface="+mn-lt"/>
              </a:rPr>
              <a:t>:</a:t>
            </a:r>
          </a:p>
          <a:p>
            <a:pPr lvl="2"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dirty="0">
                <a:latin typeface="+mn-lt"/>
              </a:rPr>
              <a:t>Proceso I/O bound. </a:t>
            </a:r>
          </a:p>
          <a:p>
            <a:pPr lvl="2"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dirty="0">
                <a:latin typeface="+mn-lt"/>
              </a:rPr>
              <a:t>Usa la CPU 1 ms y realiza una operación I/O.</a:t>
            </a:r>
          </a:p>
          <a:p>
            <a:pPr lvl="2"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dirty="0">
                <a:latin typeface="+mn-lt"/>
              </a:rPr>
              <a:t>Llega en t = 50 ms.</a:t>
            </a: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1736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0"/>
          <p:cNvSpPr txBox="1">
            <a:spLocks noGrp="1"/>
          </p:cNvSpPr>
          <p:nvPr>
            <p:ph type="title"/>
          </p:nvPr>
        </p:nvSpPr>
        <p:spPr>
          <a:xfrm>
            <a:off x="213075" y="112900"/>
            <a:ext cx="104394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– Proceso CPU-bound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91" name="Google Shape;491;p40"/>
          <p:cNvSpPr txBox="1">
            <a:spLocks noGrp="1"/>
          </p:cNvSpPr>
          <p:nvPr>
            <p:ph type="body" idx="1"/>
          </p:nvPr>
        </p:nvSpPr>
        <p:spPr>
          <a:xfrm>
            <a:off x="213075" y="1062400"/>
            <a:ext cx="7500988" cy="1464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Ejemplo 1 - Proceso CPU bound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</a:rPr>
              <a:t>MLFQ de 3 colas (Q2, Q1, Q0).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</a:rPr>
              <a:t>Quantum de 10 ms para cada cola.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</a:rPr>
              <a:t>Solo un proceso: A.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" name="Google Shape;502;p41">
            <a:extLst>
              <a:ext uri="{FF2B5EF4-FFF2-40B4-BE49-F238E27FC236}">
                <a16:creationId xmlns:a16="http://schemas.microsoft.com/office/drawing/2014/main" id="{0B7544A7-8180-44E7-A68F-57BAE44E9DD0}"/>
              </a:ext>
            </a:extLst>
          </p:cNvPr>
          <p:cNvSpPr txBox="1">
            <a:spLocks/>
          </p:cNvSpPr>
          <p:nvPr/>
        </p:nvSpPr>
        <p:spPr>
          <a:xfrm>
            <a:off x="174187" y="3051483"/>
            <a:ext cx="7040225" cy="337061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4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20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r>
              <a:rPr lang="es-MX" sz="2400" b="1" dirty="0">
                <a:solidFill>
                  <a:schemeClr val="accent1"/>
                </a:solidFill>
                <a:latin typeface="+mn-lt"/>
              </a:rPr>
              <a:t>Ejemplo 2 - Llega un proceso corto</a:t>
            </a:r>
            <a:endParaRPr lang="es-MX" sz="2400" dirty="0">
              <a:latin typeface="+mn-lt"/>
            </a:endParaRPr>
          </a:p>
          <a:p>
            <a:pPr indent="-361950">
              <a:lnSpc>
                <a:spcPct val="100000"/>
              </a:lnSpc>
              <a:spcBef>
                <a:spcPts val="480"/>
              </a:spcBef>
              <a:buSzPts val="2100"/>
            </a:pPr>
            <a:r>
              <a:rPr lang="es-MX" sz="2000" dirty="0">
                <a:latin typeface="+mn-lt"/>
              </a:rPr>
              <a:t>MLFQ de 3 colas (Q2, Q1, Q0).</a:t>
            </a:r>
          </a:p>
          <a:p>
            <a:pPr indent="-36195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es-MX" sz="2000" dirty="0">
                <a:latin typeface="+mn-lt"/>
              </a:rPr>
              <a:t>Quantum de 10 ms para cada cola.</a:t>
            </a:r>
          </a:p>
          <a:p>
            <a:pPr indent="-36195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es-MX" sz="2000" dirty="0">
                <a:latin typeface="+mn-lt"/>
              </a:rPr>
              <a:t>Procesos:</a:t>
            </a:r>
          </a:p>
          <a:p>
            <a:pPr lvl="1" indent="-36195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es-MX" sz="2000" b="1" dirty="0">
                <a:latin typeface="+mn-lt"/>
              </a:rPr>
              <a:t>A</a:t>
            </a:r>
            <a:r>
              <a:rPr lang="es-MX" sz="2000" dirty="0">
                <a:latin typeface="+mn-lt"/>
              </a:rPr>
              <a:t>: </a:t>
            </a:r>
          </a:p>
          <a:p>
            <a:pPr lvl="2" indent="-36195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es-MX" dirty="0">
                <a:latin typeface="+mn-lt"/>
              </a:rPr>
              <a:t>Proceso con uso intensivo de la CPU (CPU-</a:t>
            </a:r>
            <a:r>
              <a:rPr lang="es-MX" dirty="0" err="1">
                <a:latin typeface="+mn-lt"/>
              </a:rPr>
              <a:t>bound</a:t>
            </a:r>
            <a:r>
              <a:rPr lang="es-MX" dirty="0">
                <a:latin typeface="+mn-lt"/>
              </a:rPr>
              <a:t>).</a:t>
            </a:r>
          </a:p>
          <a:p>
            <a:pPr lvl="1" indent="-36195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es-MX" sz="2000" b="1" dirty="0">
                <a:latin typeface="+mn-lt"/>
              </a:rPr>
              <a:t>B</a:t>
            </a:r>
            <a:r>
              <a:rPr lang="es-MX" sz="2000" dirty="0">
                <a:latin typeface="+mn-lt"/>
              </a:rPr>
              <a:t>:</a:t>
            </a:r>
          </a:p>
          <a:p>
            <a:pPr lvl="2" indent="-36195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es-MX" dirty="0">
                <a:latin typeface="+mn-lt"/>
              </a:rPr>
              <a:t>Proceso interactivo. </a:t>
            </a:r>
          </a:p>
          <a:p>
            <a:pPr lvl="2" indent="-36195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es-MX" dirty="0">
                <a:latin typeface="+mn-lt"/>
              </a:rPr>
              <a:t>Tiempo de ejecución de 20 ms.</a:t>
            </a:r>
          </a:p>
          <a:p>
            <a:pPr lvl="2" indent="-36195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es-MX" dirty="0">
                <a:latin typeface="+mn-lt"/>
              </a:rPr>
              <a:t>Llega en t = 100.</a:t>
            </a: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4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4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400" dirty="0"/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dirty="0"/>
          </a:p>
        </p:txBody>
      </p:sp>
      <p:grpSp>
        <p:nvGrpSpPr>
          <p:cNvPr id="67" name="Google Shape;447;p38">
            <a:extLst>
              <a:ext uri="{FF2B5EF4-FFF2-40B4-BE49-F238E27FC236}">
                <a16:creationId xmlns:a16="http://schemas.microsoft.com/office/drawing/2014/main" id="{45FAF84B-3205-426B-96A1-A292A27631C5}"/>
              </a:ext>
            </a:extLst>
          </p:cNvPr>
          <p:cNvGrpSpPr/>
          <p:nvPr/>
        </p:nvGrpSpPr>
        <p:grpSpPr>
          <a:xfrm>
            <a:off x="7714063" y="1336608"/>
            <a:ext cx="749400" cy="1714875"/>
            <a:chOff x="8520500" y="1282075"/>
            <a:chExt cx="749400" cy="1714875"/>
          </a:xfrm>
        </p:grpSpPr>
        <p:sp>
          <p:nvSpPr>
            <p:cNvPr id="68" name="Google Shape;448;p38">
              <a:extLst>
                <a:ext uri="{FF2B5EF4-FFF2-40B4-BE49-F238E27FC236}">
                  <a16:creationId xmlns:a16="http://schemas.microsoft.com/office/drawing/2014/main" id="{7CFBFA4F-1E71-4C36-B335-B44C9C5C72E6}"/>
                </a:ext>
              </a:extLst>
            </p:cNvPr>
            <p:cNvSpPr txBox="1"/>
            <p:nvPr/>
          </p:nvSpPr>
          <p:spPr>
            <a:xfrm>
              <a:off x="8582450" y="1282075"/>
              <a:ext cx="625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urier New"/>
                  <a:ea typeface="Courier New"/>
                  <a:cs typeface="Courier New"/>
                  <a:sym typeface="Courier New"/>
                </a:rPr>
                <a:t>Q2</a:t>
              </a:r>
              <a:endParaRPr sz="2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9" name="Google Shape;449;p38">
              <a:extLst>
                <a:ext uri="{FF2B5EF4-FFF2-40B4-BE49-F238E27FC236}">
                  <a16:creationId xmlns:a16="http://schemas.microsoft.com/office/drawing/2014/main" id="{A8DC607B-EEAF-4267-AC42-0F439DB52262}"/>
                </a:ext>
              </a:extLst>
            </p:cNvPr>
            <p:cNvSpPr txBox="1"/>
            <p:nvPr/>
          </p:nvSpPr>
          <p:spPr>
            <a:xfrm>
              <a:off x="8520500" y="1875775"/>
              <a:ext cx="749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urier New"/>
                  <a:ea typeface="Courier New"/>
                  <a:cs typeface="Courier New"/>
                  <a:sym typeface="Courier New"/>
                </a:rPr>
                <a:t>Q1</a:t>
              </a:r>
              <a:endParaRPr sz="2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0" name="Google Shape;450;p38">
              <a:extLst>
                <a:ext uri="{FF2B5EF4-FFF2-40B4-BE49-F238E27FC236}">
                  <a16:creationId xmlns:a16="http://schemas.microsoft.com/office/drawing/2014/main" id="{6B1B3D6D-9FE4-41ED-80E7-D8739C757E02}"/>
                </a:ext>
              </a:extLst>
            </p:cNvPr>
            <p:cNvSpPr txBox="1"/>
            <p:nvPr/>
          </p:nvSpPr>
          <p:spPr>
            <a:xfrm>
              <a:off x="8520500" y="2442850"/>
              <a:ext cx="749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urier New"/>
                  <a:ea typeface="Courier New"/>
                  <a:cs typeface="Courier New"/>
                  <a:sym typeface="Courier New"/>
                </a:rPr>
                <a:t>Q0</a:t>
              </a:r>
              <a:endParaRPr sz="2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71" name="Google Shape;452;p38">
            <a:extLst>
              <a:ext uri="{FF2B5EF4-FFF2-40B4-BE49-F238E27FC236}">
                <a16:creationId xmlns:a16="http://schemas.microsoft.com/office/drawing/2014/main" id="{FCE7507C-1F32-4B2C-862B-DCEB8C216A26}"/>
              </a:ext>
            </a:extLst>
          </p:cNvPr>
          <p:cNvSpPr/>
          <p:nvPr/>
        </p:nvSpPr>
        <p:spPr>
          <a:xfrm>
            <a:off x="8927701" y="1316293"/>
            <a:ext cx="608400" cy="5973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72" name="Google Shape;456;p38">
            <a:extLst>
              <a:ext uri="{FF2B5EF4-FFF2-40B4-BE49-F238E27FC236}">
                <a16:creationId xmlns:a16="http://schemas.microsoft.com/office/drawing/2014/main" id="{49B3A6BF-03EE-4140-92C4-5011BCD86E32}"/>
              </a:ext>
            </a:extLst>
          </p:cNvPr>
          <p:cNvCxnSpPr>
            <a:cxnSpLocks/>
          </p:cNvCxnSpPr>
          <p:nvPr/>
        </p:nvCxnSpPr>
        <p:spPr>
          <a:xfrm rot="10800000" flipH="1">
            <a:off x="8402701" y="1614343"/>
            <a:ext cx="525000" cy="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3" name="Google Shape;447;p38">
            <a:extLst>
              <a:ext uri="{FF2B5EF4-FFF2-40B4-BE49-F238E27FC236}">
                <a16:creationId xmlns:a16="http://schemas.microsoft.com/office/drawing/2014/main" id="{24967D5C-80FF-4297-AE08-44775252A6C3}"/>
              </a:ext>
            </a:extLst>
          </p:cNvPr>
          <p:cNvGrpSpPr/>
          <p:nvPr/>
        </p:nvGrpSpPr>
        <p:grpSpPr>
          <a:xfrm>
            <a:off x="7652113" y="3668669"/>
            <a:ext cx="749400" cy="1714875"/>
            <a:chOff x="8520500" y="1282075"/>
            <a:chExt cx="749400" cy="1714875"/>
          </a:xfrm>
        </p:grpSpPr>
        <p:sp>
          <p:nvSpPr>
            <p:cNvPr id="74" name="Google Shape;448;p38">
              <a:extLst>
                <a:ext uri="{FF2B5EF4-FFF2-40B4-BE49-F238E27FC236}">
                  <a16:creationId xmlns:a16="http://schemas.microsoft.com/office/drawing/2014/main" id="{7ACE35F5-30C5-4FA3-A9C0-77D1DCE87592}"/>
                </a:ext>
              </a:extLst>
            </p:cNvPr>
            <p:cNvSpPr txBox="1"/>
            <p:nvPr/>
          </p:nvSpPr>
          <p:spPr>
            <a:xfrm>
              <a:off x="8582450" y="1282075"/>
              <a:ext cx="625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urier New"/>
                  <a:ea typeface="Courier New"/>
                  <a:cs typeface="Courier New"/>
                  <a:sym typeface="Courier New"/>
                </a:rPr>
                <a:t>Q2</a:t>
              </a:r>
              <a:endParaRPr sz="2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5" name="Google Shape;449;p38">
              <a:extLst>
                <a:ext uri="{FF2B5EF4-FFF2-40B4-BE49-F238E27FC236}">
                  <a16:creationId xmlns:a16="http://schemas.microsoft.com/office/drawing/2014/main" id="{0DCF69E6-5111-4A68-9C67-E4BEDB855C98}"/>
                </a:ext>
              </a:extLst>
            </p:cNvPr>
            <p:cNvSpPr txBox="1"/>
            <p:nvPr/>
          </p:nvSpPr>
          <p:spPr>
            <a:xfrm>
              <a:off x="8520500" y="1875775"/>
              <a:ext cx="749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urier New"/>
                  <a:ea typeface="Courier New"/>
                  <a:cs typeface="Courier New"/>
                  <a:sym typeface="Courier New"/>
                </a:rPr>
                <a:t>Q1</a:t>
              </a:r>
              <a:endParaRPr sz="2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6" name="Google Shape;450;p38">
              <a:extLst>
                <a:ext uri="{FF2B5EF4-FFF2-40B4-BE49-F238E27FC236}">
                  <a16:creationId xmlns:a16="http://schemas.microsoft.com/office/drawing/2014/main" id="{B0C681CC-D51D-4953-A2F8-AA0EEEB10FF8}"/>
                </a:ext>
              </a:extLst>
            </p:cNvPr>
            <p:cNvSpPr txBox="1"/>
            <p:nvPr/>
          </p:nvSpPr>
          <p:spPr>
            <a:xfrm>
              <a:off x="8520500" y="2442850"/>
              <a:ext cx="749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urier New"/>
                  <a:ea typeface="Courier New"/>
                  <a:cs typeface="Courier New"/>
                  <a:sym typeface="Courier New"/>
                </a:rPr>
                <a:t>Q0</a:t>
              </a:r>
              <a:endParaRPr sz="2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77" name="Google Shape;452;p38">
            <a:extLst>
              <a:ext uri="{FF2B5EF4-FFF2-40B4-BE49-F238E27FC236}">
                <a16:creationId xmlns:a16="http://schemas.microsoft.com/office/drawing/2014/main" id="{A1EAD381-6B59-4A16-9A86-F1751C8656C3}"/>
              </a:ext>
            </a:extLst>
          </p:cNvPr>
          <p:cNvSpPr/>
          <p:nvPr/>
        </p:nvSpPr>
        <p:spPr>
          <a:xfrm>
            <a:off x="8865751" y="3648354"/>
            <a:ext cx="608400" cy="5973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78" name="Google Shape;456;p38">
            <a:extLst>
              <a:ext uri="{FF2B5EF4-FFF2-40B4-BE49-F238E27FC236}">
                <a16:creationId xmlns:a16="http://schemas.microsoft.com/office/drawing/2014/main" id="{46677966-D376-4944-AA15-EA1A72061B55}"/>
              </a:ext>
            </a:extLst>
          </p:cNvPr>
          <p:cNvCxnSpPr>
            <a:cxnSpLocks/>
          </p:cNvCxnSpPr>
          <p:nvPr/>
        </p:nvCxnSpPr>
        <p:spPr>
          <a:xfrm rot="10800000" flipH="1">
            <a:off x="8340751" y="3946404"/>
            <a:ext cx="525000" cy="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" name="Google Shape;452;p38">
            <a:extLst>
              <a:ext uri="{FF2B5EF4-FFF2-40B4-BE49-F238E27FC236}">
                <a16:creationId xmlns:a16="http://schemas.microsoft.com/office/drawing/2014/main" id="{47F5EDE7-C36C-4388-B1F6-D58159C76D54}"/>
              </a:ext>
            </a:extLst>
          </p:cNvPr>
          <p:cNvSpPr/>
          <p:nvPr/>
        </p:nvSpPr>
        <p:spPr>
          <a:xfrm>
            <a:off x="9973802" y="3648354"/>
            <a:ext cx="608400" cy="599796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800" b="1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0" name="Google Shape;456;p38">
            <a:extLst>
              <a:ext uri="{FF2B5EF4-FFF2-40B4-BE49-F238E27FC236}">
                <a16:creationId xmlns:a16="http://schemas.microsoft.com/office/drawing/2014/main" id="{451FFD49-A383-418F-9EC6-9E888DB6F732}"/>
              </a:ext>
            </a:extLst>
          </p:cNvPr>
          <p:cNvCxnSpPr>
            <a:cxnSpLocks/>
          </p:cNvCxnSpPr>
          <p:nvPr/>
        </p:nvCxnSpPr>
        <p:spPr>
          <a:xfrm flipV="1">
            <a:off x="9448802" y="3946404"/>
            <a:ext cx="525000" cy="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279844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0"/>
          <p:cNvSpPr txBox="1">
            <a:spLocks noGrp="1"/>
          </p:cNvSpPr>
          <p:nvPr>
            <p:ph type="title"/>
          </p:nvPr>
        </p:nvSpPr>
        <p:spPr>
          <a:xfrm>
            <a:off x="213075" y="112900"/>
            <a:ext cx="104394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– Proceso CPU-bound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93" name="Google Shape;493;p40"/>
          <p:cNvSpPr txBox="1">
            <a:spLocks noGrp="1"/>
          </p:cNvSpPr>
          <p:nvPr>
            <p:ph type="body" idx="4294967295"/>
          </p:nvPr>
        </p:nvSpPr>
        <p:spPr>
          <a:xfrm>
            <a:off x="506230" y="5200202"/>
            <a:ext cx="4912886" cy="1294766"/>
          </a:xfrm>
          <a:prstGeom prst="rect">
            <a:avLst/>
          </a:prstGeom>
          <a:solidFill>
            <a:srgbClr val="EFEFEF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E06666"/>
                </a:solidFill>
              </a:rPr>
              <a:t>Análisis: </a:t>
            </a:r>
            <a:r>
              <a:rPr lang="es-ES" sz="1800" dirty="0"/>
              <a:t>El proceso </a:t>
            </a:r>
            <a:r>
              <a:rPr lang="es-ES" sz="1800" b="1" dirty="0">
                <a:solidFill>
                  <a:srgbClr val="0B6937"/>
                </a:solidFill>
              </a:rPr>
              <a:t>(Regla 3)</a:t>
            </a:r>
            <a:r>
              <a:rPr lang="es-ES" sz="1800" dirty="0"/>
              <a:t> empieza con la más alta prioridad y </a:t>
            </a:r>
            <a:r>
              <a:rPr lang="es-ES" sz="1800" b="1" dirty="0">
                <a:solidFill>
                  <a:srgbClr val="0B6937"/>
                </a:solidFill>
              </a:rPr>
              <a:t>(Regla 4) </a:t>
            </a:r>
            <a:r>
              <a:rPr lang="es-ES" sz="1800" dirty="0"/>
              <a:t>migra a una prioridad más baja cuando usa su quantum de tiempo en la cola en la que está </a:t>
            </a:r>
            <a:r>
              <a:rPr lang="es-ES" sz="1800" b="1" dirty="0">
                <a:solidFill>
                  <a:srgbClr val="FF0000"/>
                </a:solidFill>
              </a:rPr>
              <a:t>(Reglas 3 y 4a)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23B736F-5175-4FF6-925B-8826CDD1B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84" y="879250"/>
            <a:ext cx="4484566" cy="4141109"/>
          </a:xfrm>
          <a:prstGeom prst="rect">
            <a:avLst/>
          </a:prstGeom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E9870842-1136-4050-B136-1B9AE74893B2}"/>
              </a:ext>
            </a:extLst>
          </p:cNvPr>
          <p:cNvGrpSpPr/>
          <p:nvPr/>
        </p:nvGrpSpPr>
        <p:grpSpPr>
          <a:xfrm>
            <a:off x="6272687" y="5215428"/>
            <a:ext cx="5530631" cy="1381742"/>
            <a:chOff x="792318" y="5150491"/>
            <a:chExt cx="5530631" cy="1381742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D4237962-ED6A-407C-AA6E-F0746C12CC55}"/>
                </a:ext>
              </a:extLst>
            </p:cNvPr>
            <p:cNvGrpSpPr/>
            <p:nvPr/>
          </p:nvGrpSpPr>
          <p:grpSpPr>
            <a:xfrm>
              <a:off x="1510406" y="5150491"/>
              <a:ext cx="4392264" cy="1018644"/>
              <a:chOff x="6286570" y="5198935"/>
              <a:chExt cx="2767550" cy="1159914"/>
            </a:xfrm>
          </p:grpSpPr>
          <p:cxnSp>
            <p:nvCxnSpPr>
              <p:cNvPr id="59" name="Conector recto de flecha 58">
                <a:extLst>
                  <a:ext uri="{FF2B5EF4-FFF2-40B4-BE49-F238E27FC236}">
                    <a16:creationId xmlns:a16="http://schemas.microsoft.com/office/drawing/2014/main" id="{6B30692F-2D44-4E46-A12A-5387D21184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49"/>
                <a:ext cx="276755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ector recto de flecha 59">
                <a:extLst>
                  <a:ext uri="{FF2B5EF4-FFF2-40B4-BE49-F238E27FC236}">
                    <a16:creationId xmlns:a16="http://schemas.microsoft.com/office/drawing/2014/main" id="{8EC28D9D-2024-4269-8E8A-2AE0E5C8EC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6F858957-282E-43C6-9619-D7D03E168CB1}"/>
                </a:ext>
              </a:extLst>
            </p:cNvPr>
            <p:cNvSpPr txBox="1"/>
            <p:nvPr/>
          </p:nvSpPr>
          <p:spPr>
            <a:xfrm>
              <a:off x="5902670" y="6016487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76BD15E4-AB8A-4E06-B93E-C460EBE42E6C}"/>
                </a:ext>
              </a:extLst>
            </p:cNvPr>
            <p:cNvSpPr txBox="1"/>
            <p:nvPr/>
          </p:nvSpPr>
          <p:spPr>
            <a:xfrm>
              <a:off x="792318" y="5562127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57D6F1A8-E6CF-42AE-B80C-D915CD8CE090}"/>
                </a:ext>
              </a:extLst>
            </p:cNvPr>
            <p:cNvCxnSpPr/>
            <p:nvPr/>
          </p:nvCxnSpPr>
          <p:spPr>
            <a:xfrm>
              <a:off x="2445989" y="6079731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7DE8BF89-EF57-4FC3-BF24-5BC3B46E9C7E}"/>
                </a:ext>
              </a:extLst>
            </p:cNvPr>
            <p:cNvCxnSpPr/>
            <p:nvPr/>
          </p:nvCxnSpPr>
          <p:spPr>
            <a:xfrm>
              <a:off x="1991572" y="6073369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EE017045-E945-4CB5-A38D-EB835D9858A3}"/>
                </a:ext>
              </a:extLst>
            </p:cNvPr>
            <p:cNvCxnSpPr/>
            <p:nvPr/>
          </p:nvCxnSpPr>
          <p:spPr>
            <a:xfrm>
              <a:off x="3363889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77BB9175-D25F-430A-95E9-AC6A5CF3E093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F510B4C9-31ED-4889-973A-5243BB6CB0A5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0BA655C8-03EC-4448-98D3-7D9EE506EC60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05729970-FA42-49F7-8139-87C15099F0F8}"/>
                </a:ext>
              </a:extLst>
            </p:cNvPr>
            <p:cNvCxnSpPr>
              <a:cxnSpLocks/>
            </p:cNvCxnSpPr>
            <p:nvPr/>
          </p:nvCxnSpPr>
          <p:spPr>
            <a:xfrm>
              <a:off x="5194763" y="609402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6BACC030-8824-49AF-93C7-CD3F999447E0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0F5A93AB-21E7-470E-A7AB-8861DBC1B3F1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F4D8862B-56BE-47A4-A72F-662C7FFA65EA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50</a:t>
              </a: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3B8A4F72-A9B9-4DD7-A02E-DF2256A791EC}"/>
                </a:ext>
              </a:extLst>
            </p:cNvPr>
            <p:cNvSpPr txBox="1"/>
            <p:nvPr/>
          </p:nvSpPr>
          <p:spPr>
            <a:xfrm>
              <a:off x="313286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CB80C6AC-9D08-40F0-8B37-9CDB833BA612}"/>
                </a:ext>
              </a:extLst>
            </p:cNvPr>
            <p:cNvSpPr txBox="1"/>
            <p:nvPr/>
          </p:nvSpPr>
          <p:spPr>
            <a:xfrm>
              <a:off x="4040626" y="6209943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150</a:t>
              </a:r>
            </a:p>
          </p:txBody>
        </p: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0E4CB712-37FD-4235-817D-4D926A9CB482}"/>
                </a:ext>
              </a:extLst>
            </p:cNvPr>
            <p:cNvSpPr txBox="1"/>
            <p:nvPr/>
          </p:nvSpPr>
          <p:spPr>
            <a:xfrm>
              <a:off x="4961185" y="62047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200</a:t>
              </a:r>
            </a:p>
          </p:txBody>
        </p:sp>
      </p:grpSp>
      <p:grpSp>
        <p:nvGrpSpPr>
          <p:cNvPr id="62" name="Google Shape;494;p40">
            <a:extLst>
              <a:ext uri="{FF2B5EF4-FFF2-40B4-BE49-F238E27FC236}">
                <a16:creationId xmlns:a16="http://schemas.microsoft.com/office/drawing/2014/main" id="{BB11CEE4-B146-42ED-B350-07ABE3E2875A}"/>
              </a:ext>
            </a:extLst>
          </p:cNvPr>
          <p:cNvGrpSpPr/>
          <p:nvPr/>
        </p:nvGrpSpPr>
        <p:grpSpPr>
          <a:xfrm>
            <a:off x="10643834" y="1008950"/>
            <a:ext cx="787300" cy="461700"/>
            <a:chOff x="10792175" y="1437025"/>
            <a:chExt cx="787300" cy="461700"/>
          </a:xfrm>
        </p:grpSpPr>
        <p:sp>
          <p:nvSpPr>
            <p:cNvPr id="63" name="Google Shape;495;p40">
              <a:extLst>
                <a:ext uri="{FF2B5EF4-FFF2-40B4-BE49-F238E27FC236}">
                  <a16:creationId xmlns:a16="http://schemas.microsoft.com/office/drawing/2014/main" id="{7EBE62CB-57CF-425A-814D-90BDC94E1890}"/>
                </a:ext>
              </a:extLst>
            </p:cNvPr>
            <p:cNvSpPr/>
            <p:nvPr/>
          </p:nvSpPr>
          <p:spPr>
            <a:xfrm>
              <a:off x="11300175" y="1521775"/>
              <a:ext cx="279300" cy="2922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496;p40">
              <a:extLst>
                <a:ext uri="{FF2B5EF4-FFF2-40B4-BE49-F238E27FC236}">
                  <a16:creationId xmlns:a16="http://schemas.microsoft.com/office/drawing/2014/main" id="{9EA0C2B8-216A-4F63-82E6-D0902DCE3D33}"/>
                </a:ext>
              </a:extLst>
            </p:cNvPr>
            <p:cNvSpPr txBox="1"/>
            <p:nvPr/>
          </p:nvSpPr>
          <p:spPr>
            <a:xfrm>
              <a:off x="10792175" y="1437025"/>
              <a:ext cx="38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/>
                <a:t>A</a:t>
              </a:r>
              <a:endParaRPr sz="1800" b="1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CA0822D8-1351-456F-BA63-E8B6634FF11A}"/>
              </a:ext>
            </a:extLst>
          </p:cNvPr>
          <p:cNvGrpSpPr/>
          <p:nvPr/>
        </p:nvGrpSpPr>
        <p:grpSpPr>
          <a:xfrm>
            <a:off x="808038" y="2264716"/>
            <a:ext cx="4729920" cy="2678396"/>
            <a:chOff x="808038" y="2037874"/>
            <a:chExt cx="4729920" cy="2678396"/>
          </a:xfrm>
        </p:grpSpPr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BF6728AB-9D16-41FD-91E0-6D65A5FDA28C}"/>
                </a:ext>
              </a:extLst>
            </p:cNvPr>
            <p:cNvSpPr txBox="1"/>
            <p:nvPr/>
          </p:nvSpPr>
          <p:spPr>
            <a:xfrm>
              <a:off x="4889769" y="2610666"/>
              <a:ext cx="580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988B29FA-1519-4A1E-B6DD-7819DB2468D4}"/>
                </a:ext>
              </a:extLst>
            </p:cNvPr>
            <p:cNvGrpSpPr/>
            <p:nvPr/>
          </p:nvGrpSpPr>
          <p:grpSpPr>
            <a:xfrm>
              <a:off x="1177442" y="2382475"/>
              <a:ext cx="2480084" cy="418481"/>
              <a:chOff x="3934951" y="4789478"/>
              <a:chExt cx="2480084" cy="831255"/>
            </a:xfrm>
          </p:grpSpPr>
          <p:cxnSp>
            <p:nvCxnSpPr>
              <p:cNvPr id="92" name="Conector recto 91">
                <a:extLst>
                  <a:ext uri="{FF2B5EF4-FFF2-40B4-BE49-F238E27FC236}">
                    <a16:creationId xmlns:a16="http://schemas.microsoft.com/office/drawing/2014/main" id="{5BDB5CA8-9540-4EBF-AE9F-8ECBB0FF1EEE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Conector recto 92">
                <a:extLst>
                  <a:ext uri="{FF2B5EF4-FFF2-40B4-BE49-F238E27FC236}">
                    <a16:creationId xmlns:a16="http://schemas.microsoft.com/office/drawing/2014/main" id="{5AB7E896-2335-4467-B57B-372A800532A9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Conector recto 93">
                <a:extLst>
                  <a:ext uri="{FF2B5EF4-FFF2-40B4-BE49-F238E27FC236}">
                    <a16:creationId xmlns:a16="http://schemas.microsoft.com/office/drawing/2014/main" id="{A45CFF24-2937-43CB-81FB-E2003D1A42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046E4C81-8B44-4964-ACB3-308D2C5CC4CB}"/>
                </a:ext>
              </a:extLst>
            </p:cNvPr>
            <p:cNvSpPr txBox="1"/>
            <p:nvPr/>
          </p:nvSpPr>
          <p:spPr>
            <a:xfrm>
              <a:off x="2182583" y="203787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Q2</a:t>
              </a:r>
            </a:p>
          </p:txBody>
        </p: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2ED252A0-6334-48A5-B733-46C4B4A3BD4E}"/>
                </a:ext>
              </a:extLst>
            </p:cNvPr>
            <p:cNvGrpSpPr/>
            <p:nvPr/>
          </p:nvGrpSpPr>
          <p:grpSpPr>
            <a:xfrm>
              <a:off x="1175087" y="3331985"/>
              <a:ext cx="2480084" cy="418481"/>
              <a:chOff x="3934951" y="4789478"/>
              <a:chExt cx="2480084" cy="831255"/>
            </a:xfrm>
          </p:grpSpPr>
          <p:cxnSp>
            <p:nvCxnSpPr>
              <p:cNvPr id="89" name="Conector recto 88">
                <a:extLst>
                  <a:ext uri="{FF2B5EF4-FFF2-40B4-BE49-F238E27FC236}">
                    <a16:creationId xmlns:a16="http://schemas.microsoft.com/office/drawing/2014/main" id="{827A88AC-EE3F-481B-8EBA-85D0E9D22D68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Conector recto 89">
                <a:extLst>
                  <a:ext uri="{FF2B5EF4-FFF2-40B4-BE49-F238E27FC236}">
                    <a16:creationId xmlns:a16="http://schemas.microsoft.com/office/drawing/2014/main" id="{3A4550FD-6D2D-4D88-8C31-88D2B8506C3B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ector recto 90">
                <a:extLst>
                  <a:ext uri="{FF2B5EF4-FFF2-40B4-BE49-F238E27FC236}">
                    <a16:creationId xmlns:a16="http://schemas.microsoft.com/office/drawing/2014/main" id="{2FFA456D-A11C-48D1-8EE7-1C4BC1621F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60E2A5C1-FA9C-4586-8ADE-BB49C7C6AF87}"/>
                </a:ext>
              </a:extLst>
            </p:cNvPr>
            <p:cNvSpPr txBox="1"/>
            <p:nvPr/>
          </p:nvSpPr>
          <p:spPr>
            <a:xfrm>
              <a:off x="2180228" y="298738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Q1</a:t>
              </a:r>
            </a:p>
          </p:txBody>
        </p:sp>
        <p:grpSp>
          <p:nvGrpSpPr>
            <p:cNvPr id="48" name="Grupo 47">
              <a:extLst>
                <a:ext uri="{FF2B5EF4-FFF2-40B4-BE49-F238E27FC236}">
                  <a16:creationId xmlns:a16="http://schemas.microsoft.com/office/drawing/2014/main" id="{C919C64A-4601-4CEE-B6E3-3B72566B01EC}"/>
                </a:ext>
              </a:extLst>
            </p:cNvPr>
            <p:cNvGrpSpPr/>
            <p:nvPr/>
          </p:nvGrpSpPr>
          <p:grpSpPr>
            <a:xfrm>
              <a:off x="1172732" y="4297789"/>
              <a:ext cx="2480084" cy="418481"/>
              <a:chOff x="3934951" y="4789478"/>
              <a:chExt cx="2480084" cy="831255"/>
            </a:xfrm>
          </p:grpSpPr>
          <p:cxnSp>
            <p:nvCxnSpPr>
              <p:cNvPr id="86" name="Conector recto 85">
                <a:extLst>
                  <a:ext uri="{FF2B5EF4-FFF2-40B4-BE49-F238E27FC236}">
                    <a16:creationId xmlns:a16="http://schemas.microsoft.com/office/drawing/2014/main" id="{A8B967A2-643E-4CCD-B78D-AD7FB8327EAD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Conector recto 86">
                <a:extLst>
                  <a:ext uri="{FF2B5EF4-FFF2-40B4-BE49-F238E27FC236}">
                    <a16:creationId xmlns:a16="http://schemas.microsoft.com/office/drawing/2014/main" id="{040EF7BF-AD0C-44B7-8B18-DB8DB1365C61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Conector recto 87">
                <a:extLst>
                  <a:ext uri="{FF2B5EF4-FFF2-40B4-BE49-F238E27FC236}">
                    <a16:creationId xmlns:a16="http://schemas.microsoft.com/office/drawing/2014/main" id="{98F4BF25-497C-45A3-8DB3-1712A74633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71E7614B-FBAF-4F9D-AAE2-3EEEF6AF0AC6}"/>
                </a:ext>
              </a:extLst>
            </p:cNvPr>
            <p:cNvSpPr txBox="1"/>
            <p:nvPr/>
          </p:nvSpPr>
          <p:spPr>
            <a:xfrm>
              <a:off x="2177873" y="3953188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Q0</a:t>
              </a:r>
            </a:p>
          </p:txBody>
        </p: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7D131DF3-6668-4195-9B6E-91A726848D9E}"/>
                </a:ext>
              </a:extLst>
            </p:cNvPr>
            <p:cNvCxnSpPr>
              <a:cxnSpLocks/>
            </p:cNvCxnSpPr>
            <p:nvPr/>
          </p:nvCxnSpPr>
          <p:spPr>
            <a:xfrm>
              <a:off x="808038" y="2587295"/>
              <a:ext cx="36469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upo 55">
              <a:extLst>
                <a:ext uri="{FF2B5EF4-FFF2-40B4-BE49-F238E27FC236}">
                  <a16:creationId xmlns:a16="http://schemas.microsoft.com/office/drawing/2014/main" id="{CC499C1A-A4F0-4064-AA1E-EFD42E9D4FB4}"/>
                </a:ext>
              </a:extLst>
            </p:cNvPr>
            <p:cNvGrpSpPr/>
            <p:nvPr/>
          </p:nvGrpSpPr>
          <p:grpSpPr>
            <a:xfrm>
              <a:off x="808038" y="2721496"/>
              <a:ext cx="3139440" cy="825670"/>
              <a:chOff x="5090160" y="3201486"/>
              <a:chExt cx="3139440" cy="825670"/>
            </a:xfrm>
          </p:grpSpPr>
          <p:cxnSp>
            <p:nvCxnSpPr>
              <p:cNvPr id="76" name="Conector recto 75">
                <a:extLst>
                  <a:ext uri="{FF2B5EF4-FFF2-40B4-BE49-F238E27FC236}">
                    <a16:creationId xmlns:a16="http://schemas.microsoft.com/office/drawing/2014/main" id="{4CFE340D-9C1C-4AC0-AFF0-C643F56D93EC}"/>
                  </a:ext>
                </a:extLst>
              </p:cNvPr>
              <p:cNvCxnSpPr/>
              <p:nvPr/>
            </p:nvCxnSpPr>
            <p:spPr>
              <a:xfrm>
                <a:off x="7932583" y="3201486"/>
                <a:ext cx="297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ector recto 76">
                <a:extLst>
                  <a:ext uri="{FF2B5EF4-FFF2-40B4-BE49-F238E27FC236}">
                    <a16:creationId xmlns:a16="http://schemas.microsoft.com/office/drawing/2014/main" id="{C5B70E3F-224B-4929-B3E3-527CF5A599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313944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 recto 77">
                <a:extLst>
                  <a:ext uri="{FF2B5EF4-FFF2-40B4-BE49-F238E27FC236}">
                    <a16:creationId xmlns:a16="http://schemas.microsoft.com/office/drawing/2014/main" id="{EB001739-510A-4CAD-9440-A891A2B37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19718" y="3201486"/>
                <a:ext cx="3532" cy="2697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onector recto 78">
                <a:extLst>
                  <a:ext uri="{FF2B5EF4-FFF2-40B4-BE49-F238E27FC236}">
                    <a16:creationId xmlns:a16="http://schemas.microsoft.com/office/drawing/2014/main" id="{EFC44ADF-F2E3-4659-B006-A5FFC5E6BD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0" cy="5559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ector recto 79">
                <a:extLst>
                  <a:ext uri="{FF2B5EF4-FFF2-40B4-BE49-F238E27FC236}">
                    <a16:creationId xmlns:a16="http://schemas.microsoft.com/office/drawing/2014/main" id="{C1898751-3FE1-44B2-AE2C-AA29E1072F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4020622"/>
                <a:ext cx="364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3266C33D-309D-4858-95DE-44CFD6B5F728}"/>
                </a:ext>
              </a:extLst>
            </p:cNvPr>
            <p:cNvGrpSpPr/>
            <p:nvPr/>
          </p:nvGrpSpPr>
          <p:grpSpPr>
            <a:xfrm>
              <a:off x="808038" y="3674010"/>
              <a:ext cx="3139440" cy="825670"/>
              <a:chOff x="5090160" y="3201486"/>
              <a:chExt cx="3139440" cy="825670"/>
            </a:xfrm>
          </p:grpSpPr>
          <p:cxnSp>
            <p:nvCxnSpPr>
              <p:cNvPr id="71" name="Conector recto 70">
                <a:extLst>
                  <a:ext uri="{FF2B5EF4-FFF2-40B4-BE49-F238E27FC236}">
                    <a16:creationId xmlns:a16="http://schemas.microsoft.com/office/drawing/2014/main" id="{6E8D41B1-E816-44C0-A8AE-BB5A45C1DA4A}"/>
                  </a:ext>
                </a:extLst>
              </p:cNvPr>
              <p:cNvCxnSpPr/>
              <p:nvPr/>
            </p:nvCxnSpPr>
            <p:spPr>
              <a:xfrm>
                <a:off x="7932583" y="3201486"/>
                <a:ext cx="297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71">
                <a:extLst>
                  <a:ext uri="{FF2B5EF4-FFF2-40B4-BE49-F238E27FC236}">
                    <a16:creationId xmlns:a16="http://schemas.microsoft.com/office/drawing/2014/main" id="{B0ECB023-7AB5-41A6-AA9C-80823BB201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313944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onector recto 72">
                <a:extLst>
                  <a:ext uri="{FF2B5EF4-FFF2-40B4-BE49-F238E27FC236}">
                    <a16:creationId xmlns:a16="http://schemas.microsoft.com/office/drawing/2014/main" id="{F5C5A128-5457-47E9-A38D-1F091ACA8D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19718" y="3201486"/>
                <a:ext cx="3532" cy="2697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Conector recto 73">
                <a:extLst>
                  <a:ext uri="{FF2B5EF4-FFF2-40B4-BE49-F238E27FC236}">
                    <a16:creationId xmlns:a16="http://schemas.microsoft.com/office/drawing/2014/main" id="{EA4FFC93-2E8A-4741-82EA-ECC4CA2632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0" cy="5559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ector recto 74">
                <a:extLst>
                  <a:ext uri="{FF2B5EF4-FFF2-40B4-BE49-F238E27FC236}">
                    <a16:creationId xmlns:a16="http://schemas.microsoft.com/office/drawing/2014/main" id="{3D7C734B-C77E-4525-AAE4-B780F8EF2F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4020622"/>
                <a:ext cx="364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6036598F-D2E5-4741-81E1-E576C43293CF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26" y="2575349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5FBD9AF4-26EB-44F4-B5D6-99A9725503B9}"/>
                </a:ext>
              </a:extLst>
            </p:cNvPr>
            <p:cNvCxnSpPr>
              <a:cxnSpLocks/>
            </p:cNvCxnSpPr>
            <p:nvPr/>
          </p:nvCxnSpPr>
          <p:spPr>
            <a:xfrm>
              <a:off x="3650460" y="3517242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7096A0F1-AFB6-45C3-8250-A945B0BBD5F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26" y="4507029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ángulo 101">
              <a:extLst>
                <a:ext uri="{FF2B5EF4-FFF2-40B4-BE49-F238E27FC236}">
                  <a16:creationId xmlns:a16="http://schemas.microsoft.com/office/drawing/2014/main" id="{EDB62A52-1909-480D-A8D5-AC94525D16C6}"/>
                </a:ext>
              </a:extLst>
            </p:cNvPr>
            <p:cNvSpPr/>
            <p:nvPr/>
          </p:nvSpPr>
          <p:spPr>
            <a:xfrm>
              <a:off x="4807655" y="3099585"/>
              <a:ext cx="730303" cy="66422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aphicFrame>
        <p:nvGraphicFramePr>
          <p:cNvPr id="103" name="Google Shape;657;p48">
            <a:extLst>
              <a:ext uri="{FF2B5EF4-FFF2-40B4-BE49-F238E27FC236}">
                <a16:creationId xmlns:a16="http://schemas.microsoft.com/office/drawing/2014/main" id="{F62655CA-1FD2-4065-9171-3AF8458081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6678802"/>
              </p:ext>
            </p:extLst>
          </p:nvPr>
        </p:nvGraphicFramePr>
        <p:xfrm>
          <a:off x="1088913" y="1398461"/>
          <a:ext cx="4201875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/>
                        <a:t>Proceso</a:t>
                      </a:r>
                      <a:endParaRPr sz="14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/>
                        <a:t>Arrival time</a:t>
                      </a:r>
                      <a:endParaRPr sz="14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/>
                        <a:t>Run-time</a:t>
                      </a:r>
                      <a:endParaRPr sz="14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</a:rPr>
                        <a:t>A</a:t>
                      </a:r>
                      <a:endParaRPr sz="140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</a:rPr>
                        <a:t>0</a:t>
                      </a:r>
                      <a:endParaRPr sz="140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</a:rPr>
                        <a:t>200 +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AA99E7A-E118-4000-A59B-C71559246B7B}"/>
                  </a:ext>
                </a:extLst>
              </p:cNvPr>
              <p:cNvSpPr txBox="1"/>
              <p:nvPr/>
            </p:nvSpPr>
            <p:spPr>
              <a:xfrm>
                <a:off x="2584814" y="2362392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AA99E7A-E118-4000-A59B-C71559246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814" y="2362392"/>
                <a:ext cx="605037" cy="161583"/>
              </a:xfrm>
              <a:prstGeom prst="rect">
                <a:avLst/>
              </a:prstGeom>
              <a:blipFill>
                <a:blip r:embed="rId4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CuadroTexto 103">
                <a:extLst>
                  <a:ext uri="{FF2B5EF4-FFF2-40B4-BE49-F238E27FC236}">
                    <a16:creationId xmlns:a16="http://schemas.microsoft.com/office/drawing/2014/main" id="{70BD0E03-DE64-4208-9701-CCB338AF0637}"/>
                  </a:ext>
                </a:extLst>
              </p:cNvPr>
              <p:cNvSpPr txBox="1"/>
              <p:nvPr/>
            </p:nvSpPr>
            <p:spPr>
              <a:xfrm>
                <a:off x="2584814" y="3340805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>
          <p:sp>
            <p:nvSpPr>
              <p:cNvPr id="104" name="CuadroTexto 103">
                <a:extLst>
                  <a:ext uri="{FF2B5EF4-FFF2-40B4-BE49-F238E27FC236}">
                    <a16:creationId xmlns:a16="http://schemas.microsoft.com/office/drawing/2014/main" id="{70BD0E03-DE64-4208-9701-CCB338AF0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814" y="3340805"/>
                <a:ext cx="605037" cy="161583"/>
              </a:xfrm>
              <a:prstGeom prst="rect">
                <a:avLst/>
              </a:prstGeom>
              <a:blipFill>
                <a:blip r:embed="rId5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CuadroTexto 104">
                <a:extLst>
                  <a:ext uri="{FF2B5EF4-FFF2-40B4-BE49-F238E27FC236}">
                    <a16:creationId xmlns:a16="http://schemas.microsoft.com/office/drawing/2014/main" id="{29B1C021-DB37-48D2-B417-EF6AFE515E39}"/>
                  </a:ext>
                </a:extLst>
              </p:cNvPr>
              <p:cNvSpPr txBox="1"/>
              <p:nvPr/>
            </p:nvSpPr>
            <p:spPr>
              <a:xfrm>
                <a:off x="2599665" y="4305697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>
          <p:sp>
            <p:nvSpPr>
              <p:cNvPr id="105" name="CuadroTexto 104">
                <a:extLst>
                  <a:ext uri="{FF2B5EF4-FFF2-40B4-BE49-F238E27FC236}">
                    <a16:creationId xmlns:a16="http://schemas.microsoft.com/office/drawing/2014/main" id="{29B1C021-DB37-48D2-B417-EF6AFE515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665" y="4305697"/>
                <a:ext cx="605037" cy="161583"/>
              </a:xfrm>
              <a:prstGeom prst="rect">
                <a:avLst/>
              </a:prstGeom>
              <a:blipFill>
                <a:blip r:embed="rId6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Google Shape;491;p40">
            <a:extLst>
              <a:ext uri="{FF2B5EF4-FFF2-40B4-BE49-F238E27FC236}">
                <a16:creationId xmlns:a16="http://schemas.microsoft.com/office/drawing/2014/main" id="{13137B81-24D0-4421-A216-BF7C97ADEF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3075" y="782944"/>
            <a:ext cx="5768625" cy="51728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Ejemplo 1 - Proceso CPU bound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889175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1"/>
          <p:cNvSpPr txBox="1">
            <a:spLocks noGrp="1"/>
          </p:cNvSpPr>
          <p:nvPr>
            <p:ph type="title"/>
          </p:nvPr>
        </p:nvSpPr>
        <p:spPr>
          <a:xfrm>
            <a:off x="535650" y="9605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(Multi-</a:t>
            </a:r>
            <a:r>
              <a:rPr lang="es-ES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Level</a:t>
            </a: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Feedback Queue)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02" name="Google Shape;502;p41"/>
          <p:cNvSpPr txBox="1">
            <a:spLocks noGrp="1"/>
          </p:cNvSpPr>
          <p:nvPr>
            <p:ph type="body" idx="1"/>
          </p:nvPr>
        </p:nvSpPr>
        <p:spPr>
          <a:xfrm>
            <a:off x="489024" y="891148"/>
            <a:ext cx="6014575" cy="54587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Ejemplo 2 - Llega un proceso corto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2" name="Google Shape;1306;p83">
            <a:extLst>
              <a:ext uri="{FF2B5EF4-FFF2-40B4-BE49-F238E27FC236}">
                <a16:creationId xmlns:a16="http://schemas.microsoft.com/office/drawing/2014/main" id="{A901B778-C99E-4F55-B2C5-0AA0D8CAF0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4925400"/>
              </p:ext>
            </p:extLst>
          </p:nvPr>
        </p:nvGraphicFramePr>
        <p:xfrm>
          <a:off x="1156520" y="1696623"/>
          <a:ext cx="3463272" cy="12800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94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853">
                  <a:extLst>
                    <a:ext uri="{9D8B030D-6E8A-4147-A177-3AD203B41FA5}">
                      <a16:colId xmlns:a16="http://schemas.microsoft.com/office/drawing/2014/main" val="3511923196"/>
                    </a:ext>
                  </a:extLst>
                </a:gridCol>
                <a:gridCol w="1345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5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16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/>
                        <a:t>Arrival time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/>
                        <a:t>Run-time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0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016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None/>
                      </a:pPr>
                      <a:r>
                        <a:rPr lang="es-MX" sz="16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200 +</a:t>
                      </a:r>
                      <a:endParaRPr sz="1600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58773"/>
                  </a:ext>
                </a:extLst>
              </a:tr>
              <a:tr h="23160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+mn-lt"/>
                          <a:cs typeface="Arial" panose="020B0604020202020204" pitchFamily="34" charset="0"/>
                        </a:rPr>
                        <a:t>100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016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None/>
                      </a:pPr>
                      <a:r>
                        <a:rPr lang="es-MX" sz="16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20</a:t>
                      </a:r>
                      <a:endParaRPr sz="1600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3" name="Grupo 12">
            <a:extLst>
              <a:ext uri="{FF2B5EF4-FFF2-40B4-BE49-F238E27FC236}">
                <a16:creationId xmlns:a16="http://schemas.microsoft.com/office/drawing/2014/main" id="{922785F0-9CF6-48A9-AB7A-58C78FD7D33F}"/>
              </a:ext>
            </a:extLst>
          </p:cNvPr>
          <p:cNvGrpSpPr/>
          <p:nvPr/>
        </p:nvGrpSpPr>
        <p:grpSpPr>
          <a:xfrm>
            <a:off x="920512" y="3288456"/>
            <a:ext cx="4729920" cy="2678396"/>
            <a:chOff x="808038" y="2037874"/>
            <a:chExt cx="4729920" cy="2678396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2F1D7962-2214-4F76-A1D6-CBA88BF86190}"/>
                </a:ext>
              </a:extLst>
            </p:cNvPr>
            <p:cNvSpPr txBox="1"/>
            <p:nvPr/>
          </p:nvSpPr>
          <p:spPr>
            <a:xfrm>
              <a:off x="4889769" y="2610666"/>
              <a:ext cx="580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AB319240-2A22-4710-92B6-E449C51BCD67}"/>
                </a:ext>
              </a:extLst>
            </p:cNvPr>
            <p:cNvGrpSpPr/>
            <p:nvPr/>
          </p:nvGrpSpPr>
          <p:grpSpPr>
            <a:xfrm>
              <a:off x="1177442" y="2382475"/>
              <a:ext cx="2480084" cy="418481"/>
              <a:chOff x="3934951" y="4789478"/>
              <a:chExt cx="2480084" cy="831255"/>
            </a:xfrm>
          </p:grpSpPr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9E4D305C-91D9-416B-AC08-9AC4B4438B05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454E3D94-0ACC-4222-A5F0-6F5D08AD0B01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>
                <a:extLst>
                  <a:ext uri="{FF2B5EF4-FFF2-40B4-BE49-F238E27FC236}">
                    <a16:creationId xmlns:a16="http://schemas.microsoft.com/office/drawing/2014/main" id="{90BF60A5-24E8-4CFD-85F5-49F836D945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B88FE6A5-0A52-422F-BEF4-AB5118C4CE27}"/>
                </a:ext>
              </a:extLst>
            </p:cNvPr>
            <p:cNvSpPr txBox="1"/>
            <p:nvPr/>
          </p:nvSpPr>
          <p:spPr>
            <a:xfrm>
              <a:off x="2182583" y="203787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Q2</a:t>
              </a:r>
            </a:p>
          </p:txBody>
        </p: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18B8631A-DADB-48F9-A0D5-C75E3EB62647}"/>
                </a:ext>
              </a:extLst>
            </p:cNvPr>
            <p:cNvGrpSpPr/>
            <p:nvPr/>
          </p:nvGrpSpPr>
          <p:grpSpPr>
            <a:xfrm>
              <a:off x="1175087" y="3331985"/>
              <a:ext cx="2480084" cy="418481"/>
              <a:chOff x="3934951" y="4789478"/>
              <a:chExt cx="2480084" cy="831255"/>
            </a:xfrm>
          </p:grpSpPr>
          <p:cxnSp>
            <p:nvCxnSpPr>
              <p:cNvPr id="41" name="Conector recto 40">
                <a:extLst>
                  <a:ext uri="{FF2B5EF4-FFF2-40B4-BE49-F238E27FC236}">
                    <a16:creationId xmlns:a16="http://schemas.microsoft.com/office/drawing/2014/main" id="{AE69C216-6A23-4134-8E89-90DD151865E4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recto 41">
                <a:extLst>
                  <a:ext uri="{FF2B5EF4-FFF2-40B4-BE49-F238E27FC236}">
                    <a16:creationId xmlns:a16="http://schemas.microsoft.com/office/drawing/2014/main" id="{F6B3F8C4-20C8-4E8F-85F5-E932B1DA5AD9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cto 42">
                <a:extLst>
                  <a:ext uri="{FF2B5EF4-FFF2-40B4-BE49-F238E27FC236}">
                    <a16:creationId xmlns:a16="http://schemas.microsoft.com/office/drawing/2014/main" id="{A3ED4554-28DB-46A9-95F5-1D54AC27E3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5865B61E-3B7F-4E8F-A07E-F9E9B34E6500}"/>
                </a:ext>
              </a:extLst>
            </p:cNvPr>
            <p:cNvSpPr txBox="1"/>
            <p:nvPr/>
          </p:nvSpPr>
          <p:spPr>
            <a:xfrm>
              <a:off x="2180228" y="298738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Q1</a:t>
              </a:r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0764A0F4-5EE7-4FAB-A3A4-782796F7C7AF}"/>
                </a:ext>
              </a:extLst>
            </p:cNvPr>
            <p:cNvGrpSpPr/>
            <p:nvPr/>
          </p:nvGrpSpPr>
          <p:grpSpPr>
            <a:xfrm>
              <a:off x="1172732" y="4297789"/>
              <a:ext cx="2480084" cy="418481"/>
              <a:chOff x="3934951" y="4789478"/>
              <a:chExt cx="2480084" cy="831255"/>
            </a:xfrm>
          </p:grpSpPr>
          <p:cxnSp>
            <p:nvCxnSpPr>
              <p:cNvPr id="38" name="Conector recto 37">
                <a:extLst>
                  <a:ext uri="{FF2B5EF4-FFF2-40B4-BE49-F238E27FC236}">
                    <a16:creationId xmlns:a16="http://schemas.microsoft.com/office/drawing/2014/main" id="{886F93C8-D595-43B9-8E13-FF7BD65122EB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ector recto 38">
                <a:extLst>
                  <a:ext uri="{FF2B5EF4-FFF2-40B4-BE49-F238E27FC236}">
                    <a16:creationId xmlns:a16="http://schemas.microsoft.com/office/drawing/2014/main" id="{01C8B7CE-03F8-43FC-8CE8-BCC6B1279221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ector recto 39">
                <a:extLst>
                  <a:ext uri="{FF2B5EF4-FFF2-40B4-BE49-F238E27FC236}">
                    <a16:creationId xmlns:a16="http://schemas.microsoft.com/office/drawing/2014/main" id="{CCE4C495-0AA2-4F89-8729-7D5C6A5460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2F760791-243C-4C82-9DE6-5CF0BB58DE10}"/>
                </a:ext>
              </a:extLst>
            </p:cNvPr>
            <p:cNvSpPr txBox="1"/>
            <p:nvPr/>
          </p:nvSpPr>
          <p:spPr>
            <a:xfrm>
              <a:off x="2177873" y="3953188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Q0</a:t>
              </a:r>
            </a:p>
          </p:txBody>
        </p: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E3B3098-00AE-4390-A81C-0C99E34331A3}"/>
                </a:ext>
              </a:extLst>
            </p:cNvPr>
            <p:cNvCxnSpPr>
              <a:cxnSpLocks/>
            </p:cNvCxnSpPr>
            <p:nvPr/>
          </p:nvCxnSpPr>
          <p:spPr>
            <a:xfrm>
              <a:off x="808038" y="2587295"/>
              <a:ext cx="36469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A70783F6-8B49-4453-B32D-BF00EB26995B}"/>
                </a:ext>
              </a:extLst>
            </p:cNvPr>
            <p:cNvGrpSpPr/>
            <p:nvPr/>
          </p:nvGrpSpPr>
          <p:grpSpPr>
            <a:xfrm>
              <a:off x="808038" y="2721496"/>
              <a:ext cx="3139440" cy="825670"/>
              <a:chOff x="5090160" y="3201486"/>
              <a:chExt cx="3139440" cy="825670"/>
            </a:xfrm>
          </p:grpSpPr>
          <p:cxnSp>
            <p:nvCxnSpPr>
              <p:cNvPr id="33" name="Conector recto 32">
                <a:extLst>
                  <a:ext uri="{FF2B5EF4-FFF2-40B4-BE49-F238E27FC236}">
                    <a16:creationId xmlns:a16="http://schemas.microsoft.com/office/drawing/2014/main" id="{799B9120-D944-48C0-86C3-B98464332AFD}"/>
                  </a:ext>
                </a:extLst>
              </p:cNvPr>
              <p:cNvCxnSpPr/>
              <p:nvPr/>
            </p:nvCxnSpPr>
            <p:spPr>
              <a:xfrm>
                <a:off x="7932583" y="3201486"/>
                <a:ext cx="297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cto 33">
                <a:extLst>
                  <a:ext uri="{FF2B5EF4-FFF2-40B4-BE49-F238E27FC236}">
                    <a16:creationId xmlns:a16="http://schemas.microsoft.com/office/drawing/2014/main" id="{AD7F868F-BDAF-485F-B311-B7565954E0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313944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cto 34">
                <a:extLst>
                  <a:ext uri="{FF2B5EF4-FFF2-40B4-BE49-F238E27FC236}">
                    <a16:creationId xmlns:a16="http://schemas.microsoft.com/office/drawing/2014/main" id="{4CABBCC3-5E39-4CBB-9D54-6BBFAB9931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19718" y="3201486"/>
                <a:ext cx="3532" cy="2697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cto 35">
                <a:extLst>
                  <a:ext uri="{FF2B5EF4-FFF2-40B4-BE49-F238E27FC236}">
                    <a16:creationId xmlns:a16="http://schemas.microsoft.com/office/drawing/2014/main" id="{C60736A0-5A17-4A6C-ADCB-EA3AD3E2F5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0" cy="5559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 recto 36">
                <a:extLst>
                  <a:ext uri="{FF2B5EF4-FFF2-40B4-BE49-F238E27FC236}">
                    <a16:creationId xmlns:a16="http://schemas.microsoft.com/office/drawing/2014/main" id="{06CCF2FC-D37B-422C-B121-0C5C1C67F0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4020622"/>
                <a:ext cx="364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A15CD851-E9EF-43F2-A846-7FBF04F6DC26}"/>
                </a:ext>
              </a:extLst>
            </p:cNvPr>
            <p:cNvGrpSpPr/>
            <p:nvPr/>
          </p:nvGrpSpPr>
          <p:grpSpPr>
            <a:xfrm>
              <a:off x="808038" y="3674010"/>
              <a:ext cx="3139440" cy="825670"/>
              <a:chOff x="5090160" y="3201486"/>
              <a:chExt cx="3139440" cy="825670"/>
            </a:xfrm>
          </p:grpSpPr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2AE3FE9A-4295-42A8-ADC4-9F25D7BAB9EB}"/>
                  </a:ext>
                </a:extLst>
              </p:cNvPr>
              <p:cNvCxnSpPr/>
              <p:nvPr/>
            </p:nvCxnSpPr>
            <p:spPr>
              <a:xfrm>
                <a:off x="7932583" y="3201486"/>
                <a:ext cx="297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0BC4BFC0-85BE-4F77-9A99-2432BD8112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313944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cto 29">
                <a:extLst>
                  <a:ext uri="{FF2B5EF4-FFF2-40B4-BE49-F238E27FC236}">
                    <a16:creationId xmlns:a16="http://schemas.microsoft.com/office/drawing/2014/main" id="{111B1707-3992-4612-9BE1-C52884912E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19718" y="3201486"/>
                <a:ext cx="3532" cy="2697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recto 30">
                <a:extLst>
                  <a:ext uri="{FF2B5EF4-FFF2-40B4-BE49-F238E27FC236}">
                    <a16:creationId xmlns:a16="http://schemas.microsoft.com/office/drawing/2014/main" id="{64026B1F-DA00-43DA-8775-599EE1344B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0" cy="5559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cto 31">
                <a:extLst>
                  <a:ext uri="{FF2B5EF4-FFF2-40B4-BE49-F238E27FC236}">
                    <a16:creationId xmlns:a16="http://schemas.microsoft.com/office/drawing/2014/main" id="{C95E0377-9E30-4F2F-9E61-CBC7646215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4020622"/>
                <a:ext cx="364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251680FA-59F0-4345-BDEF-C1B376565C0D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26" y="2575349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894A6E94-A7A1-49F5-8653-B9B046F8F1F1}"/>
                </a:ext>
              </a:extLst>
            </p:cNvPr>
            <p:cNvCxnSpPr>
              <a:cxnSpLocks/>
            </p:cNvCxnSpPr>
            <p:nvPr/>
          </p:nvCxnSpPr>
          <p:spPr>
            <a:xfrm>
              <a:off x="3650460" y="3517242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DEBD13C-CECC-4A40-884E-6810550BC5F0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26" y="4507029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5DAEB3E2-1BD7-4BA8-B24F-8BEB2EECDCF9}"/>
                </a:ext>
              </a:extLst>
            </p:cNvPr>
            <p:cNvSpPr/>
            <p:nvPr/>
          </p:nvSpPr>
          <p:spPr>
            <a:xfrm>
              <a:off x="4807655" y="3099585"/>
              <a:ext cx="730303" cy="66422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F42AAA1-4EC7-4ED1-8F1A-2776B1203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854" y="1144934"/>
            <a:ext cx="4644950" cy="4150394"/>
          </a:xfrm>
          <a:prstGeom prst="rect">
            <a:avLst/>
          </a:prstGeom>
        </p:spPr>
      </p:pic>
      <p:grpSp>
        <p:nvGrpSpPr>
          <p:cNvPr id="49" name="Google Shape;504;p41">
            <a:extLst>
              <a:ext uri="{FF2B5EF4-FFF2-40B4-BE49-F238E27FC236}">
                <a16:creationId xmlns:a16="http://schemas.microsoft.com/office/drawing/2014/main" id="{26904522-ECE0-4A7A-A521-C24CE8DB4900}"/>
              </a:ext>
            </a:extLst>
          </p:cNvPr>
          <p:cNvGrpSpPr/>
          <p:nvPr/>
        </p:nvGrpSpPr>
        <p:grpSpPr>
          <a:xfrm>
            <a:off x="10818578" y="1109802"/>
            <a:ext cx="787300" cy="1048500"/>
            <a:chOff x="10792175" y="1437025"/>
            <a:chExt cx="787300" cy="1048500"/>
          </a:xfrm>
        </p:grpSpPr>
        <p:grpSp>
          <p:nvGrpSpPr>
            <p:cNvPr id="50" name="Google Shape;505;p41">
              <a:extLst>
                <a:ext uri="{FF2B5EF4-FFF2-40B4-BE49-F238E27FC236}">
                  <a16:creationId xmlns:a16="http://schemas.microsoft.com/office/drawing/2014/main" id="{6725A865-97C9-49F1-B76C-E3B803BB8A08}"/>
                </a:ext>
              </a:extLst>
            </p:cNvPr>
            <p:cNvGrpSpPr/>
            <p:nvPr/>
          </p:nvGrpSpPr>
          <p:grpSpPr>
            <a:xfrm>
              <a:off x="10792175" y="1437025"/>
              <a:ext cx="787300" cy="461700"/>
              <a:chOff x="10792175" y="1437025"/>
              <a:chExt cx="787300" cy="461700"/>
            </a:xfrm>
          </p:grpSpPr>
          <p:sp>
            <p:nvSpPr>
              <p:cNvPr id="54" name="Google Shape;506;p41">
                <a:extLst>
                  <a:ext uri="{FF2B5EF4-FFF2-40B4-BE49-F238E27FC236}">
                    <a16:creationId xmlns:a16="http://schemas.microsoft.com/office/drawing/2014/main" id="{791525BD-1102-40DD-B5FA-714C984EE937}"/>
                  </a:ext>
                </a:extLst>
              </p:cNvPr>
              <p:cNvSpPr/>
              <p:nvPr/>
            </p:nvSpPr>
            <p:spPr>
              <a:xfrm>
                <a:off x="11300175" y="1521775"/>
                <a:ext cx="279300" cy="292200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07;p41">
                <a:extLst>
                  <a:ext uri="{FF2B5EF4-FFF2-40B4-BE49-F238E27FC236}">
                    <a16:creationId xmlns:a16="http://schemas.microsoft.com/office/drawing/2014/main" id="{8E845916-6AEC-4AFE-AADD-D8E4EBADCC0E}"/>
                  </a:ext>
                </a:extLst>
              </p:cNvPr>
              <p:cNvSpPr txBox="1"/>
              <p:nvPr/>
            </p:nvSpPr>
            <p:spPr>
              <a:xfrm>
                <a:off x="10792175" y="1437025"/>
                <a:ext cx="3810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/>
                  <a:t>A</a:t>
                </a:r>
                <a:endParaRPr sz="1800" b="1"/>
              </a:p>
            </p:txBody>
          </p:sp>
        </p:grpSp>
        <p:grpSp>
          <p:nvGrpSpPr>
            <p:cNvPr id="51" name="Google Shape;508;p41">
              <a:extLst>
                <a:ext uri="{FF2B5EF4-FFF2-40B4-BE49-F238E27FC236}">
                  <a16:creationId xmlns:a16="http://schemas.microsoft.com/office/drawing/2014/main" id="{654AF53F-6187-4ED5-9815-A30081EB5678}"/>
                </a:ext>
              </a:extLst>
            </p:cNvPr>
            <p:cNvGrpSpPr/>
            <p:nvPr/>
          </p:nvGrpSpPr>
          <p:grpSpPr>
            <a:xfrm>
              <a:off x="10792175" y="2023825"/>
              <a:ext cx="787300" cy="461700"/>
              <a:chOff x="10792175" y="2023825"/>
              <a:chExt cx="787300" cy="461700"/>
            </a:xfrm>
          </p:grpSpPr>
          <p:sp>
            <p:nvSpPr>
              <p:cNvPr id="52" name="Google Shape;509;p41">
                <a:extLst>
                  <a:ext uri="{FF2B5EF4-FFF2-40B4-BE49-F238E27FC236}">
                    <a16:creationId xmlns:a16="http://schemas.microsoft.com/office/drawing/2014/main" id="{69A8CCD0-373B-4176-BC2E-B82BA8CDE1CE}"/>
                  </a:ext>
                </a:extLst>
              </p:cNvPr>
              <p:cNvSpPr/>
              <p:nvPr/>
            </p:nvSpPr>
            <p:spPr>
              <a:xfrm>
                <a:off x="11300175" y="2093275"/>
                <a:ext cx="279300" cy="292200"/>
              </a:xfrm>
              <a:prstGeom prst="rect">
                <a:avLst/>
              </a:prstGeom>
              <a:solidFill>
                <a:srgbClr val="D9D9D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10;p41">
                <a:extLst>
                  <a:ext uri="{FF2B5EF4-FFF2-40B4-BE49-F238E27FC236}">
                    <a16:creationId xmlns:a16="http://schemas.microsoft.com/office/drawing/2014/main" id="{EE337671-F922-464C-8B0A-612C78E64B04}"/>
                  </a:ext>
                </a:extLst>
              </p:cNvPr>
              <p:cNvSpPr txBox="1"/>
              <p:nvPr/>
            </p:nvSpPr>
            <p:spPr>
              <a:xfrm>
                <a:off x="10792175" y="2023825"/>
                <a:ext cx="3810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/>
                  <a:t>B</a:t>
                </a:r>
                <a:endParaRPr sz="1800" b="1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8A1B092E-8B24-4D6B-9911-0F2CD1EBF66F}"/>
                  </a:ext>
                </a:extLst>
              </p:cNvPr>
              <p:cNvSpPr txBox="1"/>
              <p:nvPr/>
            </p:nvSpPr>
            <p:spPr>
              <a:xfrm>
                <a:off x="2750729" y="3404455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8A1B092E-8B24-4D6B-9911-0F2CD1EBF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729" y="3404455"/>
                <a:ext cx="605037" cy="161583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4A6E0181-D4A7-473A-B272-99A16DC85488}"/>
                  </a:ext>
                </a:extLst>
              </p:cNvPr>
              <p:cNvSpPr txBox="1"/>
              <p:nvPr/>
            </p:nvSpPr>
            <p:spPr>
              <a:xfrm>
                <a:off x="2750729" y="4370656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4A6E0181-D4A7-473A-B272-99A16DC85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729" y="4370656"/>
                <a:ext cx="605037" cy="161583"/>
              </a:xfrm>
              <a:prstGeom prst="rect">
                <a:avLst/>
              </a:prstGeom>
              <a:blipFill>
                <a:blip r:embed="rId5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717B39CB-B66D-4314-82E7-0AE4DAA7C096}"/>
                  </a:ext>
                </a:extLst>
              </p:cNvPr>
              <p:cNvSpPr txBox="1"/>
              <p:nvPr/>
            </p:nvSpPr>
            <p:spPr>
              <a:xfrm>
                <a:off x="2750728" y="5335832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717B39CB-B66D-4314-82E7-0AE4DAA7C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728" y="5335832"/>
                <a:ext cx="605037" cy="161583"/>
              </a:xfrm>
              <a:prstGeom prst="rect">
                <a:avLst/>
              </a:prstGeom>
              <a:blipFill>
                <a:blip r:embed="rId6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upo 58">
            <a:extLst>
              <a:ext uri="{FF2B5EF4-FFF2-40B4-BE49-F238E27FC236}">
                <a16:creationId xmlns:a16="http://schemas.microsoft.com/office/drawing/2014/main" id="{1DD90E38-39B3-41C5-AF65-AE1C0B644A81}"/>
              </a:ext>
            </a:extLst>
          </p:cNvPr>
          <p:cNvGrpSpPr/>
          <p:nvPr/>
        </p:nvGrpSpPr>
        <p:grpSpPr>
          <a:xfrm>
            <a:off x="6285387" y="5355128"/>
            <a:ext cx="5530631" cy="1381742"/>
            <a:chOff x="792318" y="5150491"/>
            <a:chExt cx="5530631" cy="1381742"/>
          </a:xfrm>
        </p:grpSpPr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DE7F4D1E-680B-44E4-8C9F-CA0BB8E4DAD7}"/>
                </a:ext>
              </a:extLst>
            </p:cNvPr>
            <p:cNvGrpSpPr/>
            <p:nvPr/>
          </p:nvGrpSpPr>
          <p:grpSpPr>
            <a:xfrm>
              <a:off x="1510406" y="5150491"/>
              <a:ext cx="4392264" cy="1018644"/>
              <a:chOff x="6286570" y="5198935"/>
              <a:chExt cx="2767550" cy="1159914"/>
            </a:xfrm>
          </p:grpSpPr>
          <p:cxnSp>
            <p:nvCxnSpPr>
              <p:cNvPr id="76" name="Conector recto de flecha 75">
                <a:extLst>
                  <a:ext uri="{FF2B5EF4-FFF2-40B4-BE49-F238E27FC236}">
                    <a16:creationId xmlns:a16="http://schemas.microsoft.com/office/drawing/2014/main" id="{D9870124-1E1B-409A-A89A-C0E372F2FE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49"/>
                <a:ext cx="276755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ector recto de flecha 76">
                <a:extLst>
                  <a:ext uri="{FF2B5EF4-FFF2-40B4-BE49-F238E27FC236}">
                    <a16:creationId xmlns:a16="http://schemas.microsoft.com/office/drawing/2014/main" id="{7451ED15-293B-4A59-AEB5-358144DDDD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2CA85480-4FDA-41B3-81AB-B2D7D81A5A7C}"/>
                </a:ext>
              </a:extLst>
            </p:cNvPr>
            <p:cNvSpPr txBox="1"/>
            <p:nvPr/>
          </p:nvSpPr>
          <p:spPr>
            <a:xfrm>
              <a:off x="5902670" y="6016487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28B0974F-8ECF-4103-BF4B-058DF2CA6079}"/>
                </a:ext>
              </a:extLst>
            </p:cNvPr>
            <p:cNvSpPr txBox="1"/>
            <p:nvPr/>
          </p:nvSpPr>
          <p:spPr>
            <a:xfrm>
              <a:off x="792318" y="5562127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7B038017-97BE-42FE-B8B9-4BC06301A381}"/>
                </a:ext>
              </a:extLst>
            </p:cNvPr>
            <p:cNvCxnSpPr/>
            <p:nvPr/>
          </p:nvCxnSpPr>
          <p:spPr>
            <a:xfrm>
              <a:off x="2445989" y="6079731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BE0BFFCC-52D2-4109-8DB9-CFE7D4F137C2}"/>
                </a:ext>
              </a:extLst>
            </p:cNvPr>
            <p:cNvCxnSpPr/>
            <p:nvPr/>
          </p:nvCxnSpPr>
          <p:spPr>
            <a:xfrm>
              <a:off x="1991572" y="6073369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7237569A-4478-4F67-B073-D10B737E69C1}"/>
                </a:ext>
              </a:extLst>
            </p:cNvPr>
            <p:cNvCxnSpPr/>
            <p:nvPr/>
          </p:nvCxnSpPr>
          <p:spPr>
            <a:xfrm>
              <a:off x="3363889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29CF6277-D77C-4CC6-B177-DA0F4AA57D19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25EA735D-6E2C-4385-BD3B-4083AC45180C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975883BD-EF42-4667-82B6-BF6785340223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9AFA4AB7-537C-47A2-B81F-9EFB9B73C13F}"/>
                </a:ext>
              </a:extLst>
            </p:cNvPr>
            <p:cNvCxnSpPr>
              <a:cxnSpLocks/>
            </p:cNvCxnSpPr>
            <p:nvPr/>
          </p:nvCxnSpPr>
          <p:spPr>
            <a:xfrm>
              <a:off x="5194763" y="609402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09A1A365-2212-4EF0-AB63-34A46DE854F7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3D4F5542-9C33-4E9C-A99C-B898B93F4134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A587DF9D-770E-4061-A34A-973673781FFD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50</a:t>
              </a:r>
            </a:p>
          </p:txBody>
        </p: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A29DCD9D-DAC8-48AA-B6A2-1DC71F98D188}"/>
                </a:ext>
              </a:extLst>
            </p:cNvPr>
            <p:cNvSpPr txBox="1"/>
            <p:nvPr/>
          </p:nvSpPr>
          <p:spPr>
            <a:xfrm>
              <a:off x="313286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B374659B-13EB-4D84-AF26-10F30768D19C}"/>
                </a:ext>
              </a:extLst>
            </p:cNvPr>
            <p:cNvSpPr txBox="1"/>
            <p:nvPr/>
          </p:nvSpPr>
          <p:spPr>
            <a:xfrm>
              <a:off x="4040626" y="6209943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150</a:t>
              </a:r>
            </a:p>
          </p:txBody>
        </p: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B048F6FE-3820-4FBE-8218-6680D100D575}"/>
                </a:ext>
              </a:extLst>
            </p:cNvPr>
            <p:cNvSpPr txBox="1"/>
            <p:nvPr/>
          </p:nvSpPr>
          <p:spPr>
            <a:xfrm>
              <a:off x="4961185" y="62047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200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2"/>
          <p:cNvSpPr txBox="1">
            <a:spLocks noGrp="1"/>
          </p:cNvSpPr>
          <p:nvPr>
            <p:ph type="title"/>
          </p:nvPr>
        </p:nvSpPr>
        <p:spPr>
          <a:xfrm>
            <a:off x="768129" y="94614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(Multi-</a:t>
            </a:r>
            <a:r>
              <a:rPr lang="es-ES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Level</a:t>
            </a: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Feedback Queue)</a:t>
            </a:r>
            <a:endParaRPr dirty="0"/>
          </a:p>
        </p:txBody>
      </p:sp>
      <p:sp>
        <p:nvSpPr>
          <p:cNvPr id="525" name="Google Shape;525;p42"/>
          <p:cNvSpPr txBox="1"/>
          <p:nvPr/>
        </p:nvSpPr>
        <p:spPr>
          <a:xfrm>
            <a:off x="588921" y="5840875"/>
            <a:ext cx="5466179" cy="800189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MLFQ </a:t>
            </a:r>
            <a:r>
              <a:rPr lang="es-ES" sz="2000" dirty="0"/>
              <a:t>mantiene al proceso interactivo con la prioridad más alta.</a:t>
            </a:r>
            <a:endParaRPr sz="2000" dirty="0"/>
          </a:p>
        </p:txBody>
      </p:sp>
      <p:graphicFrame>
        <p:nvGraphicFramePr>
          <p:cNvPr id="15" name="Google Shape;1306;p83">
            <a:extLst>
              <a:ext uri="{FF2B5EF4-FFF2-40B4-BE49-F238E27FC236}">
                <a16:creationId xmlns:a16="http://schemas.microsoft.com/office/drawing/2014/main" id="{A212D30C-30EE-4ACC-8F70-4CB2922D31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4918658"/>
              </p:ext>
            </p:extLst>
          </p:nvPr>
        </p:nvGraphicFramePr>
        <p:xfrm>
          <a:off x="573532" y="1265396"/>
          <a:ext cx="5466179" cy="15239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12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063">
                  <a:extLst>
                    <a:ext uri="{9D8B030D-6E8A-4147-A177-3AD203B41FA5}">
                      <a16:colId xmlns:a16="http://schemas.microsoft.com/office/drawing/2014/main" val="3511923196"/>
                    </a:ext>
                  </a:extLst>
                </a:gridCol>
                <a:gridCol w="212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72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16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/>
                        <a:t>Arrival time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/>
                        <a:t>Run-time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0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016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None/>
                      </a:pPr>
                      <a:r>
                        <a:rPr lang="es-MX" sz="16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…</a:t>
                      </a:r>
                      <a:endParaRPr sz="1600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58773"/>
                  </a:ext>
                </a:extLst>
              </a:tr>
              <a:tr h="23160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+mn-lt"/>
                          <a:cs typeface="Arial" panose="020B0604020202020204" pitchFamily="34" charset="0"/>
                        </a:rPr>
                        <a:t>50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873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CPU-</a:t>
                      </a:r>
                      <a:r>
                        <a:rPr lang="es-MX" sz="1600" dirty="0" err="1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Burst</a:t>
                      </a:r>
                      <a:r>
                        <a:rPr lang="es-MX" sz="16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: 1 ms</a:t>
                      </a:r>
                    </a:p>
                    <a:p>
                      <a:pPr marL="3873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I/O-</a:t>
                      </a:r>
                      <a:r>
                        <a:rPr lang="es-MX" sz="1600" dirty="0" err="1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Burst</a:t>
                      </a:r>
                      <a:r>
                        <a:rPr lang="es-MX" sz="16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: 9m</a:t>
                      </a:r>
                      <a:endParaRPr sz="1600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Grupo 3">
            <a:extLst>
              <a:ext uri="{FF2B5EF4-FFF2-40B4-BE49-F238E27FC236}">
                <a16:creationId xmlns:a16="http://schemas.microsoft.com/office/drawing/2014/main" id="{DE1D4776-F69C-4F96-882A-1EDCB36E1FCE}"/>
              </a:ext>
            </a:extLst>
          </p:cNvPr>
          <p:cNvGrpSpPr/>
          <p:nvPr/>
        </p:nvGrpSpPr>
        <p:grpSpPr>
          <a:xfrm>
            <a:off x="1013381" y="2880622"/>
            <a:ext cx="4729920" cy="2678396"/>
            <a:chOff x="920512" y="3288456"/>
            <a:chExt cx="4729920" cy="2678396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3ACFAF1D-37BE-467C-8F59-6768961A1AEF}"/>
                </a:ext>
              </a:extLst>
            </p:cNvPr>
            <p:cNvGrpSpPr/>
            <p:nvPr/>
          </p:nvGrpSpPr>
          <p:grpSpPr>
            <a:xfrm>
              <a:off x="920512" y="3288456"/>
              <a:ext cx="4729920" cy="2678396"/>
              <a:chOff x="808038" y="2037874"/>
              <a:chExt cx="4729920" cy="2678396"/>
            </a:xfrm>
          </p:grpSpPr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4ECF10A-A594-482D-9062-8F672B63C484}"/>
                  </a:ext>
                </a:extLst>
              </p:cNvPr>
              <p:cNvSpPr txBox="1"/>
              <p:nvPr/>
            </p:nvSpPr>
            <p:spPr>
              <a:xfrm>
                <a:off x="4889769" y="2610666"/>
                <a:ext cx="5806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4A41B74D-ABDC-4C99-A25D-9540027D0EC9}"/>
                  </a:ext>
                </a:extLst>
              </p:cNvPr>
              <p:cNvGrpSpPr/>
              <p:nvPr/>
            </p:nvGrpSpPr>
            <p:grpSpPr>
              <a:xfrm>
                <a:off x="1177442" y="2382475"/>
                <a:ext cx="2480084" cy="418481"/>
                <a:chOff x="3934951" y="4789478"/>
                <a:chExt cx="2480084" cy="831255"/>
              </a:xfrm>
            </p:grpSpPr>
            <p:cxnSp>
              <p:nvCxnSpPr>
                <p:cNvPr id="47" name="Conector recto 46">
                  <a:extLst>
                    <a:ext uri="{FF2B5EF4-FFF2-40B4-BE49-F238E27FC236}">
                      <a16:creationId xmlns:a16="http://schemas.microsoft.com/office/drawing/2014/main" id="{98C5A91B-6CD7-4A45-ABD9-D8DDF73D83E8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Conector recto 47">
                  <a:extLst>
                    <a:ext uri="{FF2B5EF4-FFF2-40B4-BE49-F238E27FC236}">
                      <a16:creationId xmlns:a16="http://schemas.microsoft.com/office/drawing/2014/main" id="{C0BA2699-BBCF-4086-A08B-4333B970715B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Conector recto 48">
                  <a:extLst>
                    <a:ext uri="{FF2B5EF4-FFF2-40B4-BE49-F238E27FC236}">
                      <a16:creationId xmlns:a16="http://schemas.microsoft.com/office/drawing/2014/main" id="{A91212B3-3E75-487B-A552-F4F8CAFDBD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21F80450-DAA4-43A6-BFAE-484B96FF7C29}"/>
                  </a:ext>
                </a:extLst>
              </p:cNvPr>
              <p:cNvSpPr txBox="1"/>
              <p:nvPr/>
            </p:nvSpPr>
            <p:spPr>
              <a:xfrm>
                <a:off x="2182583" y="2037874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Q2</a:t>
                </a:r>
              </a:p>
            </p:txBody>
          </p:sp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62306187-9159-431D-BE0C-97AA18C59509}"/>
                  </a:ext>
                </a:extLst>
              </p:cNvPr>
              <p:cNvGrpSpPr/>
              <p:nvPr/>
            </p:nvGrpSpPr>
            <p:grpSpPr>
              <a:xfrm>
                <a:off x="1175087" y="3331985"/>
                <a:ext cx="2480084" cy="418481"/>
                <a:chOff x="3934951" y="4789478"/>
                <a:chExt cx="2480084" cy="831255"/>
              </a:xfrm>
            </p:grpSpPr>
            <p:cxnSp>
              <p:nvCxnSpPr>
                <p:cNvPr id="44" name="Conector recto 43">
                  <a:extLst>
                    <a:ext uri="{FF2B5EF4-FFF2-40B4-BE49-F238E27FC236}">
                      <a16:creationId xmlns:a16="http://schemas.microsoft.com/office/drawing/2014/main" id="{38D09EBF-4294-4C6A-AC96-B1C8E4CBAFBC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Conector recto 44">
                  <a:extLst>
                    <a:ext uri="{FF2B5EF4-FFF2-40B4-BE49-F238E27FC236}">
                      <a16:creationId xmlns:a16="http://schemas.microsoft.com/office/drawing/2014/main" id="{F3B2141C-32E4-4DB8-BD7C-F91EC02637B5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Conector recto 45">
                  <a:extLst>
                    <a:ext uri="{FF2B5EF4-FFF2-40B4-BE49-F238E27FC236}">
                      <a16:creationId xmlns:a16="http://schemas.microsoft.com/office/drawing/2014/main" id="{6FA2AE15-9FFF-4C59-B934-9C617D6DC3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942B37D9-225F-4ADA-9566-A446A7ED8858}"/>
                  </a:ext>
                </a:extLst>
              </p:cNvPr>
              <p:cNvSpPr txBox="1"/>
              <p:nvPr/>
            </p:nvSpPr>
            <p:spPr>
              <a:xfrm>
                <a:off x="2180228" y="2987384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Q1</a:t>
                </a:r>
              </a:p>
            </p:txBody>
          </p:sp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4FF27F6A-1877-45B9-8A96-5C53B9E014E8}"/>
                  </a:ext>
                </a:extLst>
              </p:cNvPr>
              <p:cNvGrpSpPr/>
              <p:nvPr/>
            </p:nvGrpSpPr>
            <p:grpSpPr>
              <a:xfrm>
                <a:off x="1172732" y="4297789"/>
                <a:ext cx="2480084" cy="418481"/>
                <a:chOff x="3934951" y="4789478"/>
                <a:chExt cx="2480084" cy="831255"/>
              </a:xfrm>
            </p:grpSpPr>
            <p:cxnSp>
              <p:nvCxnSpPr>
                <p:cNvPr id="41" name="Conector recto 40">
                  <a:extLst>
                    <a:ext uri="{FF2B5EF4-FFF2-40B4-BE49-F238E27FC236}">
                      <a16:creationId xmlns:a16="http://schemas.microsoft.com/office/drawing/2014/main" id="{7BCCA196-6A36-427B-B334-6C4AE3F2417B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onector recto 41">
                  <a:extLst>
                    <a:ext uri="{FF2B5EF4-FFF2-40B4-BE49-F238E27FC236}">
                      <a16:creationId xmlns:a16="http://schemas.microsoft.com/office/drawing/2014/main" id="{5C35BCDC-7965-4DF6-99B8-F54A0412EC69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Conector recto 42">
                  <a:extLst>
                    <a:ext uri="{FF2B5EF4-FFF2-40B4-BE49-F238E27FC236}">
                      <a16:creationId xmlns:a16="http://schemas.microsoft.com/office/drawing/2014/main" id="{9E29520A-22B9-41E9-8803-EBAC53A8B8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A9CDE1E0-C0FD-4845-AD2F-80143EE814DA}"/>
                  </a:ext>
                </a:extLst>
              </p:cNvPr>
              <p:cNvSpPr txBox="1"/>
              <p:nvPr/>
            </p:nvSpPr>
            <p:spPr>
              <a:xfrm>
                <a:off x="2177873" y="395318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Q0</a:t>
                </a:r>
              </a:p>
            </p:txBody>
          </p:sp>
          <p:cxnSp>
            <p:nvCxnSpPr>
              <p:cNvPr id="24" name="Conector recto 23">
                <a:extLst>
                  <a:ext uri="{FF2B5EF4-FFF2-40B4-BE49-F238E27FC236}">
                    <a16:creationId xmlns:a16="http://schemas.microsoft.com/office/drawing/2014/main" id="{8706B966-3283-4ACD-BD1B-867021EB31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038" y="2587295"/>
                <a:ext cx="364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upo 24">
                <a:extLst>
                  <a:ext uri="{FF2B5EF4-FFF2-40B4-BE49-F238E27FC236}">
                    <a16:creationId xmlns:a16="http://schemas.microsoft.com/office/drawing/2014/main" id="{6FF4EEE1-3CF9-4C64-94AB-ED49B412FD5C}"/>
                  </a:ext>
                </a:extLst>
              </p:cNvPr>
              <p:cNvGrpSpPr/>
              <p:nvPr/>
            </p:nvGrpSpPr>
            <p:grpSpPr>
              <a:xfrm>
                <a:off x="808038" y="2721496"/>
                <a:ext cx="3139440" cy="825670"/>
                <a:chOff x="5090160" y="3201486"/>
                <a:chExt cx="3139440" cy="825670"/>
              </a:xfrm>
            </p:grpSpPr>
            <p:cxnSp>
              <p:nvCxnSpPr>
                <p:cNvPr id="36" name="Conector recto 35">
                  <a:extLst>
                    <a:ext uri="{FF2B5EF4-FFF2-40B4-BE49-F238E27FC236}">
                      <a16:creationId xmlns:a16="http://schemas.microsoft.com/office/drawing/2014/main" id="{8FBC6891-5CE6-4AE7-B50E-621D5E827A9C}"/>
                    </a:ext>
                  </a:extLst>
                </p:cNvPr>
                <p:cNvCxnSpPr/>
                <p:nvPr/>
              </p:nvCxnSpPr>
              <p:spPr>
                <a:xfrm>
                  <a:off x="7932583" y="3201486"/>
                  <a:ext cx="297017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Conector recto 36">
                  <a:extLst>
                    <a:ext uri="{FF2B5EF4-FFF2-40B4-BE49-F238E27FC236}">
                      <a16:creationId xmlns:a16="http://schemas.microsoft.com/office/drawing/2014/main" id="{9BD19EEC-25CD-4DDC-B666-B5360D491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160" y="3471201"/>
                  <a:ext cx="313944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ector recto 37">
                  <a:extLst>
                    <a:ext uri="{FF2B5EF4-FFF2-40B4-BE49-F238E27FC236}">
                      <a16:creationId xmlns:a16="http://schemas.microsoft.com/office/drawing/2014/main" id="{C6722D73-307C-46C5-88AA-C77B15DDF5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19718" y="3201486"/>
                  <a:ext cx="3532" cy="26971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recto 38">
                  <a:extLst>
                    <a:ext uri="{FF2B5EF4-FFF2-40B4-BE49-F238E27FC236}">
                      <a16:creationId xmlns:a16="http://schemas.microsoft.com/office/drawing/2014/main" id="{BDE42F3A-3120-490F-AFC7-973A4BA52C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160" y="3471201"/>
                  <a:ext cx="0" cy="5559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recto 39">
                  <a:extLst>
                    <a:ext uri="{FF2B5EF4-FFF2-40B4-BE49-F238E27FC236}">
                      <a16:creationId xmlns:a16="http://schemas.microsoft.com/office/drawing/2014/main" id="{93808A68-DA21-4788-9AF6-FBE7935570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160" y="4020622"/>
                  <a:ext cx="36469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2D52483D-9475-4D62-AC80-CBB38D6C60AF}"/>
                  </a:ext>
                </a:extLst>
              </p:cNvPr>
              <p:cNvGrpSpPr/>
              <p:nvPr/>
            </p:nvGrpSpPr>
            <p:grpSpPr>
              <a:xfrm>
                <a:off x="808038" y="3674010"/>
                <a:ext cx="3139440" cy="825670"/>
                <a:chOff x="5090160" y="3201486"/>
                <a:chExt cx="3139440" cy="825670"/>
              </a:xfrm>
            </p:grpSpPr>
            <p:cxnSp>
              <p:nvCxnSpPr>
                <p:cNvPr id="31" name="Conector recto 30">
                  <a:extLst>
                    <a:ext uri="{FF2B5EF4-FFF2-40B4-BE49-F238E27FC236}">
                      <a16:creationId xmlns:a16="http://schemas.microsoft.com/office/drawing/2014/main" id="{B579F665-E683-44EE-9196-A3D93AF807CF}"/>
                    </a:ext>
                  </a:extLst>
                </p:cNvPr>
                <p:cNvCxnSpPr/>
                <p:nvPr/>
              </p:nvCxnSpPr>
              <p:spPr>
                <a:xfrm>
                  <a:off x="7932583" y="3201486"/>
                  <a:ext cx="297017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Conector recto 31">
                  <a:extLst>
                    <a:ext uri="{FF2B5EF4-FFF2-40B4-BE49-F238E27FC236}">
                      <a16:creationId xmlns:a16="http://schemas.microsoft.com/office/drawing/2014/main" id="{1622430E-EDE3-4F14-8DBB-A8F7B5F35E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160" y="3471201"/>
                  <a:ext cx="313944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Conector recto 32">
                  <a:extLst>
                    <a:ext uri="{FF2B5EF4-FFF2-40B4-BE49-F238E27FC236}">
                      <a16:creationId xmlns:a16="http://schemas.microsoft.com/office/drawing/2014/main" id="{511C84AA-7B29-4CB9-AEAE-D1F8EA9FC3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19718" y="3201486"/>
                  <a:ext cx="3532" cy="26971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Conector recto 33">
                  <a:extLst>
                    <a:ext uri="{FF2B5EF4-FFF2-40B4-BE49-F238E27FC236}">
                      <a16:creationId xmlns:a16="http://schemas.microsoft.com/office/drawing/2014/main" id="{B8C90DEF-CC35-495C-A983-80EE1EC03B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160" y="3471201"/>
                  <a:ext cx="0" cy="5559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Conector recto 34">
                  <a:extLst>
                    <a:ext uri="{FF2B5EF4-FFF2-40B4-BE49-F238E27FC236}">
                      <a16:creationId xmlns:a16="http://schemas.microsoft.com/office/drawing/2014/main" id="{5CAC18A9-54BB-4F49-A7B8-04E3FFD049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160" y="4020622"/>
                  <a:ext cx="36469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525847E2-036E-4D17-B0BA-43A04E83AD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7526" y="2575349"/>
                <a:ext cx="653699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941332B2-B76F-46DC-B94D-9E173F0A10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0460" y="3517242"/>
                <a:ext cx="653699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0AB3927D-AEA9-4F7D-B8A6-520340950A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7526" y="4507029"/>
                <a:ext cx="653699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D24D5F0C-03BC-4B4F-8939-13BA422D4F8F}"/>
                  </a:ext>
                </a:extLst>
              </p:cNvPr>
              <p:cNvSpPr/>
              <p:nvPr/>
            </p:nvSpPr>
            <p:spPr>
              <a:xfrm>
                <a:off x="4807655" y="3099585"/>
                <a:ext cx="730303" cy="66422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2201B0D0-B418-4BD1-AAE9-24F866A0A2A2}"/>
                    </a:ext>
                  </a:extLst>
                </p:cNvPr>
                <p:cNvSpPr txBox="1"/>
                <p:nvPr/>
              </p:nvSpPr>
              <p:spPr>
                <a:xfrm>
                  <a:off x="2750729" y="3404455"/>
                  <a:ext cx="605037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sz="105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s-MX" sz="105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s-MX" sz="105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MX" sz="1050" b="0" i="1" smtClean="0">
                                <a:latin typeface="Cambria Math" panose="02040503050406030204" pitchFamily="18" charset="0"/>
                              </a:rPr>
                              <m:t>=10</m:t>
                            </m:r>
                          </m:e>
                        </m:d>
                      </m:oMath>
                    </m:oMathPara>
                  </a14:m>
                  <a:endParaRPr lang="es-CO" sz="1050" dirty="0"/>
                </a:p>
              </p:txBody>
            </p:sp>
          </mc:Choice>
          <mc:Fallback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2201B0D0-B418-4BD1-AAE9-24F866A0A2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729" y="3404455"/>
                  <a:ext cx="605037" cy="161583"/>
                </a:xfrm>
                <a:prstGeom prst="rect">
                  <a:avLst/>
                </a:prstGeom>
                <a:blipFill>
                  <a:blip r:embed="rId3"/>
                  <a:stretch>
                    <a:fillRect b="-11538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4101BA90-908D-4FA8-B054-C6ACB58ECF27}"/>
                    </a:ext>
                  </a:extLst>
                </p:cNvPr>
                <p:cNvSpPr txBox="1"/>
                <p:nvPr/>
              </p:nvSpPr>
              <p:spPr>
                <a:xfrm>
                  <a:off x="2750729" y="4370656"/>
                  <a:ext cx="605037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sz="105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s-MX" sz="105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s-MX" sz="105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MX" sz="1050" b="0" i="1" smtClean="0">
                                <a:latin typeface="Cambria Math" panose="02040503050406030204" pitchFamily="18" charset="0"/>
                              </a:rPr>
                              <m:t>=10</m:t>
                            </m:r>
                          </m:e>
                        </m:d>
                      </m:oMath>
                    </m:oMathPara>
                  </a14:m>
                  <a:endParaRPr lang="es-CO" sz="1050" dirty="0"/>
                </a:p>
              </p:txBody>
            </p:sp>
          </mc:Choice>
          <mc:Fallback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4101BA90-908D-4FA8-B054-C6ACB58ECF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729" y="4370656"/>
                  <a:ext cx="605037" cy="161583"/>
                </a:xfrm>
                <a:prstGeom prst="rect">
                  <a:avLst/>
                </a:prstGeom>
                <a:blipFill>
                  <a:blip r:embed="rId4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94E2BB88-CE2B-4EB6-B458-4D0A2450CB36}"/>
                    </a:ext>
                  </a:extLst>
                </p:cNvPr>
                <p:cNvSpPr txBox="1"/>
                <p:nvPr/>
              </p:nvSpPr>
              <p:spPr>
                <a:xfrm>
                  <a:off x="2750728" y="5335832"/>
                  <a:ext cx="605037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sz="105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s-MX" sz="105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s-MX" sz="105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MX" sz="1050" b="0" i="1" smtClean="0">
                                <a:latin typeface="Cambria Math" panose="02040503050406030204" pitchFamily="18" charset="0"/>
                              </a:rPr>
                              <m:t>=10</m:t>
                            </m:r>
                          </m:e>
                        </m:d>
                      </m:oMath>
                    </m:oMathPara>
                  </a14:m>
                  <a:endParaRPr lang="es-CO" sz="1050" dirty="0"/>
                </a:p>
              </p:txBody>
            </p:sp>
          </mc:Choice>
          <mc:Fallback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94E2BB88-CE2B-4EB6-B458-4D0A2450CB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728" y="5335832"/>
                  <a:ext cx="605037" cy="161583"/>
                </a:xfrm>
                <a:prstGeom prst="rect">
                  <a:avLst/>
                </a:prstGeom>
                <a:blipFill>
                  <a:blip r:embed="rId5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4" name="Google Shape;516;p42">
            <a:extLst>
              <a:ext uri="{FF2B5EF4-FFF2-40B4-BE49-F238E27FC236}">
                <a16:creationId xmlns:a16="http://schemas.microsoft.com/office/drawing/2014/main" id="{437CD423-8B87-4686-B71A-B8333D1C7D0D}"/>
              </a:ext>
            </a:extLst>
          </p:cNvPr>
          <p:cNvSpPr txBox="1">
            <a:spLocks/>
          </p:cNvSpPr>
          <p:nvPr/>
        </p:nvSpPr>
        <p:spPr>
          <a:xfrm>
            <a:off x="522559" y="781597"/>
            <a:ext cx="4924800" cy="47715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4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20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r>
              <a:rPr lang="es-MX" sz="1800" b="1" dirty="0">
                <a:solidFill>
                  <a:schemeClr val="accent1"/>
                </a:solidFill>
              </a:rPr>
              <a:t>Ejemplo 3 - Proceso I/O bound</a:t>
            </a:r>
            <a:endParaRPr lang="es-MX" sz="18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16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16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16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1600" dirty="0"/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1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A37628-0189-42F3-847F-A26D194E10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6283" y="958099"/>
            <a:ext cx="4512504" cy="4123335"/>
          </a:xfrm>
          <a:prstGeom prst="rect">
            <a:avLst/>
          </a:prstGeom>
        </p:spPr>
      </p:pic>
      <p:grpSp>
        <p:nvGrpSpPr>
          <p:cNvPr id="57" name="Google Shape;518;p42">
            <a:extLst>
              <a:ext uri="{FF2B5EF4-FFF2-40B4-BE49-F238E27FC236}">
                <a16:creationId xmlns:a16="http://schemas.microsoft.com/office/drawing/2014/main" id="{A578328D-6B7E-4ABC-892D-ED9E1C51CC7A}"/>
              </a:ext>
            </a:extLst>
          </p:cNvPr>
          <p:cNvGrpSpPr/>
          <p:nvPr/>
        </p:nvGrpSpPr>
        <p:grpSpPr>
          <a:xfrm>
            <a:off x="11002089" y="1044114"/>
            <a:ext cx="787300" cy="1048500"/>
            <a:chOff x="10792175" y="1437025"/>
            <a:chExt cx="787300" cy="1048500"/>
          </a:xfrm>
        </p:grpSpPr>
        <p:grpSp>
          <p:nvGrpSpPr>
            <p:cNvPr id="58" name="Google Shape;519;p42">
              <a:extLst>
                <a:ext uri="{FF2B5EF4-FFF2-40B4-BE49-F238E27FC236}">
                  <a16:creationId xmlns:a16="http://schemas.microsoft.com/office/drawing/2014/main" id="{433358B1-48B4-4C7E-829A-27728C0E535D}"/>
                </a:ext>
              </a:extLst>
            </p:cNvPr>
            <p:cNvGrpSpPr/>
            <p:nvPr/>
          </p:nvGrpSpPr>
          <p:grpSpPr>
            <a:xfrm>
              <a:off x="10792175" y="1437025"/>
              <a:ext cx="787300" cy="461700"/>
              <a:chOff x="10792175" y="1437025"/>
              <a:chExt cx="787300" cy="461700"/>
            </a:xfrm>
          </p:grpSpPr>
          <p:sp>
            <p:nvSpPr>
              <p:cNvPr id="62" name="Google Shape;520;p42">
                <a:extLst>
                  <a:ext uri="{FF2B5EF4-FFF2-40B4-BE49-F238E27FC236}">
                    <a16:creationId xmlns:a16="http://schemas.microsoft.com/office/drawing/2014/main" id="{30F844BF-8339-4119-98AF-4BD3476EFA5F}"/>
                  </a:ext>
                </a:extLst>
              </p:cNvPr>
              <p:cNvSpPr/>
              <p:nvPr/>
            </p:nvSpPr>
            <p:spPr>
              <a:xfrm>
                <a:off x="11300175" y="1521775"/>
                <a:ext cx="279300" cy="292200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521;p42">
                <a:extLst>
                  <a:ext uri="{FF2B5EF4-FFF2-40B4-BE49-F238E27FC236}">
                    <a16:creationId xmlns:a16="http://schemas.microsoft.com/office/drawing/2014/main" id="{26AA8F8A-D14D-40B1-BA51-B51C321C248E}"/>
                  </a:ext>
                </a:extLst>
              </p:cNvPr>
              <p:cNvSpPr txBox="1"/>
              <p:nvPr/>
            </p:nvSpPr>
            <p:spPr>
              <a:xfrm>
                <a:off x="10792175" y="1437025"/>
                <a:ext cx="3810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/>
                  <a:t>A</a:t>
                </a:r>
                <a:endParaRPr sz="1800" b="1"/>
              </a:p>
            </p:txBody>
          </p:sp>
        </p:grpSp>
        <p:grpSp>
          <p:nvGrpSpPr>
            <p:cNvPr id="59" name="Google Shape;522;p42">
              <a:extLst>
                <a:ext uri="{FF2B5EF4-FFF2-40B4-BE49-F238E27FC236}">
                  <a16:creationId xmlns:a16="http://schemas.microsoft.com/office/drawing/2014/main" id="{1E38805D-D65D-44D6-B7E7-B4F3CB399A3E}"/>
                </a:ext>
              </a:extLst>
            </p:cNvPr>
            <p:cNvGrpSpPr/>
            <p:nvPr/>
          </p:nvGrpSpPr>
          <p:grpSpPr>
            <a:xfrm>
              <a:off x="10792175" y="2023825"/>
              <a:ext cx="787300" cy="461700"/>
              <a:chOff x="10792175" y="2023825"/>
              <a:chExt cx="787300" cy="461700"/>
            </a:xfrm>
          </p:grpSpPr>
          <p:sp>
            <p:nvSpPr>
              <p:cNvPr id="60" name="Google Shape;523;p42">
                <a:extLst>
                  <a:ext uri="{FF2B5EF4-FFF2-40B4-BE49-F238E27FC236}">
                    <a16:creationId xmlns:a16="http://schemas.microsoft.com/office/drawing/2014/main" id="{3E4285F9-12FF-419B-B755-54715C7BC9C2}"/>
                  </a:ext>
                </a:extLst>
              </p:cNvPr>
              <p:cNvSpPr/>
              <p:nvPr/>
            </p:nvSpPr>
            <p:spPr>
              <a:xfrm>
                <a:off x="11300175" y="2093275"/>
                <a:ext cx="279300" cy="292200"/>
              </a:xfrm>
              <a:prstGeom prst="rect">
                <a:avLst/>
              </a:prstGeom>
              <a:solidFill>
                <a:srgbClr val="D9D9D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524;p42">
                <a:extLst>
                  <a:ext uri="{FF2B5EF4-FFF2-40B4-BE49-F238E27FC236}">
                    <a16:creationId xmlns:a16="http://schemas.microsoft.com/office/drawing/2014/main" id="{ED895FEE-ACE2-4389-83AD-CA339C5A6146}"/>
                  </a:ext>
                </a:extLst>
              </p:cNvPr>
              <p:cNvSpPr txBox="1"/>
              <p:nvPr/>
            </p:nvSpPr>
            <p:spPr>
              <a:xfrm>
                <a:off x="10792175" y="2023825"/>
                <a:ext cx="3810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/>
                  <a:t>B</a:t>
                </a:r>
                <a:endParaRPr sz="1800" b="1"/>
              </a:p>
            </p:txBody>
          </p:sp>
        </p:grpSp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07F0813B-DE0B-46F3-9BD2-97021DDB61D1}"/>
              </a:ext>
            </a:extLst>
          </p:cNvPr>
          <p:cNvGrpSpPr/>
          <p:nvPr/>
        </p:nvGrpSpPr>
        <p:grpSpPr>
          <a:xfrm>
            <a:off x="6285387" y="5355128"/>
            <a:ext cx="5530631" cy="1381742"/>
            <a:chOff x="792318" y="5150491"/>
            <a:chExt cx="5530631" cy="1381742"/>
          </a:xfrm>
        </p:grpSpPr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EF9F6DB5-6DC1-44C7-A157-E75FE660C932}"/>
                </a:ext>
              </a:extLst>
            </p:cNvPr>
            <p:cNvGrpSpPr/>
            <p:nvPr/>
          </p:nvGrpSpPr>
          <p:grpSpPr>
            <a:xfrm>
              <a:off x="1510406" y="5150491"/>
              <a:ext cx="4392264" cy="1018644"/>
              <a:chOff x="6286570" y="5198935"/>
              <a:chExt cx="2767550" cy="1159914"/>
            </a:xfrm>
          </p:grpSpPr>
          <p:cxnSp>
            <p:nvCxnSpPr>
              <p:cNvPr id="81" name="Conector recto de flecha 80">
                <a:extLst>
                  <a:ext uri="{FF2B5EF4-FFF2-40B4-BE49-F238E27FC236}">
                    <a16:creationId xmlns:a16="http://schemas.microsoft.com/office/drawing/2014/main" id="{54EE4247-C1F4-4DE9-8828-14CBFF61AA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49"/>
                <a:ext cx="276755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onector recto de flecha 81">
                <a:extLst>
                  <a:ext uri="{FF2B5EF4-FFF2-40B4-BE49-F238E27FC236}">
                    <a16:creationId xmlns:a16="http://schemas.microsoft.com/office/drawing/2014/main" id="{AECFCAC8-F629-431E-9879-5DECA2AB6B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F7F563CF-3518-4103-99AC-8A89223EBE3C}"/>
                </a:ext>
              </a:extLst>
            </p:cNvPr>
            <p:cNvSpPr txBox="1"/>
            <p:nvPr/>
          </p:nvSpPr>
          <p:spPr>
            <a:xfrm>
              <a:off x="5902670" y="6016487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62065CDD-768F-407D-89C5-98636C89394F}"/>
                </a:ext>
              </a:extLst>
            </p:cNvPr>
            <p:cNvSpPr txBox="1"/>
            <p:nvPr/>
          </p:nvSpPr>
          <p:spPr>
            <a:xfrm>
              <a:off x="792318" y="5562127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C341C226-52E2-4047-BB75-518BB18E1C29}"/>
                </a:ext>
              </a:extLst>
            </p:cNvPr>
            <p:cNvCxnSpPr/>
            <p:nvPr/>
          </p:nvCxnSpPr>
          <p:spPr>
            <a:xfrm>
              <a:off x="2445989" y="6079731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E2FAC3CA-D870-486B-8E48-E74F6BD93B51}"/>
                </a:ext>
              </a:extLst>
            </p:cNvPr>
            <p:cNvCxnSpPr/>
            <p:nvPr/>
          </p:nvCxnSpPr>
          <p:spPr>
            <a:xfrm>
              <a:off x="1991572" y="6073369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5678C811-B930-42C1-8B3E-271FA47C889D}"/>
                </a:ext>
              </a:extLst>
            </p:cNvPr>
            <p:cNvCxnSpPr/>
            <p:nvPr/>
          </p:nvCxnSpPr>
          <p:spPr>
            <a:xfrm>
              <a:off x="3363889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E5C06171-CB22-4F02-B30D-40DB129DA377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CA18CF37-80CB-4149-8B79-6ECA596EC95C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DA9D8524-6169-4769-8F00-CBEC8E6D1145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C46BACDA-DD4E-438B-8B4A-4FFAE9D54EB5}"/>
                </a:ext>
              </a:extLst>
            </p:cNvPr>
            <p:cNvCxnSpPr>
              <a:cxnSpLocks/>
            </p:cNvCxnSpPr>
            <p:nvPr/>
          </p:nvCxnSpPr>
          <p:spPr>
            <a:xfrm>
              <a:off x="5194763" y="609402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40EBF40D-9E61-4D61-AF4C-0FFB311D9543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CuadroTexto 75">
              <a:extLst>
                <a:ext uri="{FF2B5EF4-FFF2-40B4-BE49-F238E27FC236}">
                  <a16:creationId xmlns:a16="http://schemas.microsoft.com/office/drawing/2014/main" id="{A7823746-E823-4BFA-AB8E-01F7EF68A30A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2CDE8746-7CB3-402B-BF33-848E738733B9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50</a:t>
              </a:r>
            </a:p>
          </p:txBody>
        </p:sp>
        <p:sp>
          <p:nvSpPr>
            <p:cNvPr id="78" name="CuadroTexto 77">
              <a:extLst>
                <a:ext uri="{FF2B5EF4-FFF2-40B4-BE49-F238E27FC236}">
                  <a16:creationId xmlns:a16="http://schemas.microsoft.com/office/drawing/2014/main" id="{6917D50F-C8F7-485E-B7F7-560B8E78F3AB}"/>
                </a:ext>
              </a:extLst>
            </p:cNvPr>
            <p:cNvSpPr txBox="1"/>
            <p:nvPr/>
          </p:nvSpPr>
          <p:spPr>
            <a:xfrm>
              <a:off x="313286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79" name="CuadroTexto 78">
              <a:extLst>
                <a:ext uri="{FF2B5EF4-FFF2-40B4-BE49-F238E27FC236}">
                  <a16:creationId xmlns:a16="http://schemas.microsoft.com/office/drawing/2014/main" id="{E6BBA2AE-174E-4A8E-B0E9-986D3BE72221}"/>
                </a:ext>
              </a:extLst>
            </p:cNvPr>
            <p:cNvSpPr txBox="1"/>
            <p:nvPr/>
          </p:nvSpPr>
          <p:spPr>
            <a:xfrm>
              <a:off x="4040626" y="6209943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150</a:t>
              </a:r>
            </a:p>
          </p:txBody>
        </p: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8ECB498E-A9A8-4189-B0E0-8713B4AFC6E3}"/>
                </a:ext>
              </a:extLst>
            </p:cNvPr>
            <p:cNvSpPr txBox="1"/>
            <p:nvPr/>
          </p:nvSpPr>
          <p:spPr>
            <a:xfrm>
              <a:off x="4961185" y="62047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200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– Proceso CPU-bound</a:t>
            </a:r>
            <a:endParaRPr dirty="0"/>
          </a:p>
        </p:txBody>
      </p:sp>
      <p:sp>
        <p:nvSpPr>
          <p:cNvPr id="531" name="Google Shape;531;p43"/>
          <p:cNvSpPr txBox="1">
            <a:spLocks noGrp="1"/>
          </p:cNvSpPr>
          <p:nvPr>
            <p:ph type="body" idx="1"/>
          </p:nvPr>
        </p:nvSpPr>
        <p:spPr>
          <a:xfrm>
            <a:off x="916650" y="941600"/>
            <a:ext cx="10566600" cy="222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</a:rPr>
              <a:t>Ejemplo resumen</a:t>
            </a:r>
            <a:endParaRPr sz="2800" dirty="0"/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MLFQ de 3 colas (Q2, Q1, Q0) de quantum 10ms.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Workload - Tres procesos: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b="1" dirty="0"/>
              <a:t>A</a:t>
            </a:r>
            <a:r>
              <a:rPr lang="es-ES" sz="2000" dirty="0"/>
              <a:t>: long-running job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b="1" dirty="0"/>
              <a:t>B</a:t>
            </a:r>
            <a:r>
              <a:rPr lang="es-ES" sz="2000" dirty="0"/>
              <a:t>: short-running job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b="1" dirty="0"/>
              <a:t>C</a:t>
            </a:r>
            <a:r>
              <a:rPr lang="es-ES" sz="2000" dirty="0"/>
              <a:t>: interactive job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32" name="Google Shape;53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1376" y="3172650"/>
            <a:ext cx="8501801" cy="34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4"/>
          <p:cNvSpPr txBox="1">
            <a:spLocks noGrp="1"/>
          </p:cNvSpPr>
          <p:nvPr>
            <p:ph type="title"/>
          </p:nvPr>
        </p:nvSpPr>
        <p:spPr>
          <a:xfrm>
            <a:off x="266700" y="273838"/>
            <a:ext cx="113411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s-MX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Problemas del MLFQ básico - Cambio de comportamiento</a:t>
            </a:r>
          </a:p>
        </p:txBody>
      </p:sp>
      <p:sp>
        <p:nvSpPr>
          <p:cNvPr id="538" name="Google Shape;538;p44"/>
          <p:cNvSpPr txBox="1">
            <a:spLocks noGrp="1"/>
          </p:cNvSpPr>
          <p:nvPr>
            <p:ph type="body" idx="1"/>
          </p:nvPr>
        </p:nvSpPr>
        <p:spPr>
          <a:xfrm>
            <a:off x="584200" y="1223338"/>
            <a:ext cx="10690500" cy="78326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FF0000"/>
                </a:solidFill>
                <a:latin typeface="+mn-lt"/>
              </a:rPr>
              <a:t>Problema</a:t>
            </a:r>
            <a:r>
              <a:rPr lang="es-ES" sz="2000" dirty="0">
                <a:solidFill>
                  <a:srgbClr val="FF0000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Un proceso cambia su comportamiento en el tiempo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</a:rPr>
              <a:t>CPU-bound →  I/O-bound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5"/>
          <p:cNvSpPr txBox="1">
            <a:spLocks noGrp="1"/>
          </p:cNvSpPr>
          <p:nvPr>
            <p:ph type="title"/>
          </p:nvPr>
        </p:nvSpPr>
        <p:spPr>
          <a:xfrm>
            <a:off x="495300" y="232408"/>
            <a:ext cx="10690500" cy="758288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Problemas del MLFQ básico – Inanici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ón</a:t>
            </a:r>
            <a:endParaRPr dirty="0"/>
          </a:p>
        </p:txBody>
      </p:sp>
      <p:sp>
        <p:nvSpPr>
          <p:cNvPr id="544" name="Google Shape;544;p45"/>
          <p:cNvSpPr txBox="1">
            <a:spLocks noGrp="1"/>
          </p:cNvSpPr>
          <p:nvPr>
            <p:ph type="body" idx="1"/>
          </p:nvPr>
        </p:nvSpPr>
        <p:spPr>
          <a:xfrm>
            <a:off x="495300" y="828530"/>
            <a:ext cx="10690500" cy="118100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FF0000"/>
                </a:solidFill>
                <a:latin typeface="+mn-lt"/>
              </a:rPr>
              <a:t>Problema</a:t>
            </a:r>
            <a:r>
              <a:rPr lang="es-ES" sz="2000" dirty="0">
                <a:solidFill>
                  <a:srgbClr val="FF0000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Inanición (starvation)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</a:rPr>
              <a:t>Muchos procesos interactivos.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</a:rPr>
              <a:t>Procesos CPU-bound </a:t>
            </a:r>
            <a:r>
              <a:rPr lang="es-ES" sz="2000" b="1" dirty="0">
                <a:solidFill>
                  <a:srgbClr val="FF0000"/>
                </a:solidFill>
                <a:latin typeface="+mn-lt"/>
              </a:rPr>
              <a:t>nunca</a:t>
            </a:r>
            <a:r>
              <a:rPr lang="es-ES" sz="2000" dirty="0">
                <a:latin typeface="+mn-lt"/>
              </a:rPr>
              <a:t> tendrán uso de la máquina.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545" name="Google Shape;54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578" y="1919946"/>
            <a:ext cx="11038844" cy="35497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3BB3EFEA-902A-4FE5-9203-6C340D19DAFB}"/>
              </a:ext>
            </a:extLst>
          </p:cNvPr>
          <p:cNvGrpSpPr/>
          <p:nvPr/>
        </p:nvGrpSpPr>
        <p:grpSpPr>
          <a:xfrm>
            <a:off x="582390" y="5485229"/>
            <a:ext cx="9828360" cy="1415826"/>
            <a:chOff x="739934" y="5150492"/>
            <a:chExt cx="9828360" cy="1415826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C92057E7-125B-4149-8A47-3D0E900AD138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37" name="Conector recto de flecha 36">
                <a:extLst>
                  <a:ext uri="{FF2B5EF4-FFF2-40B4-BE49-F238E27FC236}">
                    <a16:creationId xmlns:a16="http://schemas.microsoft.com/office/drawing/2014/main" id="{37AF8BCD-8653-4D4E-A835-A705E48BA3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ector recto de flecha 37">
                <a:extLst>
                  <a:ext uri="{FF2B5EF4-FFF2-40B4-BE49-F238E27FC236}">
                    <a16:creationId xmlns:a16="http://schemas.microsoft.com/office/drawing/2014/main" id="{C3F2C83B-9073-495D-A679-E7591824F9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3DC94A8C-DE3C-4DC9-9F79-67AFA43C42B3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8CB8DF98-5153-4622-8E4A-545F97E68D3C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1F965319-80FF-4B5C-A1FB-9389B947DBBF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AE452F83-23BE-4D2A-87E1-F11447A72759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E1ADD529-71A7-45C6-AD69-B59EE1213A1B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2F6C7739-CFFB-445D-ABD7-990DDC4C0D99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0C4EE51C-76B7-4A60-B1DC-98DC2008EB99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882ECC59-57AE-4BC5-A0C4-3C1877F92E81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02869BAA-1211-4261-B40F-9D0A8E26BACE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EC46E0E1-1F6F-43BA-80FA-444170657482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A2FBFAC7-F81C-466A-A2E7-80174BC648C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33B46364-9792-4EA8-AFF6-85E93DEC9A55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A4AC455E-BAB3-4746-97A3-AD12CD340E58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0E51D314-7F68-4EC0-A99E-E32B39ABEAF0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49A43E2F-87A6-4F76-95A7-A8F9C9F51313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0B92CFD1-583D-413F-8DE4-0CBEB0136765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A7414F98-1D2B-448E-8D04-199ACE2AA9E4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03EFB55-146E-4167-86A9-7260545CD09E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757EAD06-48A0-4090-9439-CD772B74C273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B31A47A9-DADE-403E-84CC-DC4A980F6B25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E45F5ED2-D15E-4F9C-AF4F-D81872098FD8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8756155D-86C0-4647-AB06-BE0001D43160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400E1CE7-84EE-4099-AA18-F878CF1D0A9C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4E0F83B4-27DF-45E7-A5F6-D84BA4A1F845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6C260E6D-D9CB-4E88-9194-4B229563CD2D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907EF863-6597-454F-B3E9-37D40A2EE6C6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A2CAE758-D284-453E-A693-AFB93EEC1A24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D23717E-68A5-4A88-930B-6FB4BA72A773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3E48498C-F003-44EB-8EBB-4D58B00D702F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F7962B11-4E96-4772-B68F-B724ADB13D77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576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Problemas del MLFQ básico – Inanici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ón</a:t>
            </a:r>
            <a:endParaRPr dirty="0"/>
          </a:p>
        </p:txBody>
      </p:sp>
      <p:sp>
        <p:nvSpPr>
          <p:cNvPr id="551" name="Google Shape;551;p46"/>
          <p:cNvSpPr txBox="1">
            <a:spLocks noGrp="1"/>
          </p:cNvSpPr>
          <p:nvPr>
            <p:ph type="body" idx="1"/>
          </p:nvPr>
        </p:nvSpPr>
        <p:spPr>
          <a:xfrm>
            <a:off x="342874" y="941495"/>
            <a:ext cx="11328425" cy="63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rgbClr val="0B6937"/>
                </a:solidFill>
                <a:latin typeface="+mn-lt"/>
              </a:rPr>
              <a:t>Solución</a:t>
            </a:r>
            <a:r>
              <a:rPr lang="es-ES" sz="2400" dirty="0">
                <a:solidFill>
                  <a:srgbClr val="0B6937"/>
                </a:solidFill>
                <a:latin typeface="+mn-lt"/>
              </a:rPr>
              <a:t>:</a:t>
            </a:r>
            <a:r>
              <a:rPr lang="es-ES" sz="24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s-ES" sz="2400" b="1" dirty="0">
                <a:solidFill>
                  <a:schemeClr val="accent1"/>
                </a:solidFill>
                <a:latin typeface="+mn-lt"/>
              </a:rPr>
              <a:t>Aging - Mejora de prioridad</a:t>
            </a:r>
            <a:r>
              <a:rPr lang="es-ES" sz="2400" dirty="0">
                <a:latin typeface="+mn-lt"/>
              </a:rPr>
              <a:t> 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3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552" name="Google Shape;552;p46"/>
          <p:cNvSpPr txBox="1"/>
          <p:nvPr/>
        </p:nvSpPr>
        <p:spPr>
          <a:xfrm>
            <a:off x="916650" y="1438557"/>
            <a:ext cx="10411750" cy="55653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Regla 5</a:t>
            </a:r>
            <a:r>
              <a:rPr lang="es-ES" sz="2000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Después de un tiempo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, mueva todos los trabajos al mayor nivel de prioridad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553" name="Google Shape;55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029" y="1975092"/>
            <a:ext cx="11422742" cy="34733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CEA7F531-D73E-4CDD-A508-C6AF2D07011E}"/>
              </a:ext>
            </a:extLst>
          </p:cNvPr>
          <p:cNvGrpSpPr/>
          <p:nvPr/>
        </p:nvGrpSpPr>
        <p:grpSpPr>
          <a:xfrm>
            <a:off x="768381" y="5419443"/>
            <a:ext cx="9828360" cy="1415826"/>
            <a:chOff x="739934" y="5150492"/>
            <a:chExt cx="9828360" cy="1415826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4928FB6F-1283-4988-8588-0EC5E7F2A7F8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38" name="Conector recto de flecha 37">
                <a:extLst>
                  <a:ext uri="{FF2B5EF4-FFF2-40B4-BE49-F238E27FC236}">
                    <a16:creationId xmlns:a16="http://schemas.microsoft.com/office/drawing/2014/main" id="{D811750D-9F36-47E7-BC07-CB620FC028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ector recto de flecha 38">
                <a:extLst>
                  <a:ext uri="{FF2B5EF4-FFF2-40B4-BE49-F238E27FC236}">
                    <a16:creationId xmlns:a16="http://schemas.microsoft.com/office/drawing/2014/main" id="{9B8889E7-C7C5-4DBA-86ED-CA7C841C57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70B65632-ABC0-48F4-BEA2-0C23874B991A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77E856A1-EA49-4202-9F96-10035AF6EF14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8F0EADA8-7769-4EC1-9EB2-4FDEA3F871D9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57AEC014-4C4B-4495-AEEB-C498278FCB62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53E0A2A3-39EA-41BA-8400-63AB297758B2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B8074021-D835-44A3-ABFE-594DE7C15BDF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CD2482DF-4350-4020-8DE3-7989012C8C90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F415FE65-24FD-44F6-8963-88602D4D5765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F3478F2D-A065-49C0-9A35-B0F885B8271D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BF13E165-D93F-4413-9988-560B7C04C322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E2F64DB4-9408-4B61-9DD0-2E97DD47749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BDC62DDB-EA69-4CAF-A84A-16938C53A430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A9D3E0D8-D72B-4958-8407-8E43DFA36FB7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9FF58876-B240-482F-9FAD-2B95EB1BF544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E994B252-880E-485E-8AFB-F90BD5AE185E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F3DCB331-129D-417C-9AD1-AB8ED05742B9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504966DD-44CE-4596-AA38-71F7451207EF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D1E17E05-1DF7-4B1E-B758-5A245FDC230C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BC4157C-F0D1-43E5-B80F-55A1EF71B278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E3D5A74C-B89E-4BA3-933C-64B06D666ED2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056522A3-A9C5-4F6B-BF4C-35D11CF6429F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0B062130-F311-4EAE-B9CE-15617A0B4D9C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73ACBC71-6905-425C-BA99-1934ACCF559A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76C7DCEF-526D-4545-A369-840DE85ACE59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BCE24166-2F55-497D-BF87-D47ED3755C00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5A313B02-6105-4BB6-BA76-2C55807BAABC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EBADE2FF-4AB9-4914-B7B6-188ED3E599C1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68424DE-6731-4694-A03C-F0FA09FFB7A8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84BAAECC-A2A0-4428-85C7-8BDC358CCB03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97327BD4-1478-461F-805E-7BFDF7E7CF6F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7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98964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Priority boost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60" name="Google Shape;56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650" y="937572"/>
            <a:ext cx="9565465" cy="5579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8"/>
          <p:cNvSpPr txBox="1">
            <a:spLocks noGrp="1"/>
          </p:cNvSpPr>
          <p:nvPr>
            <p:ph type="title"/>
          </p:nvPr>
        </p:nvSpPr>
        <p:spPr>
          <a:xfrm>
            <a:off x="584850" y="96038"/>
            <a:ext cx="8635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- Clásico</a:t>
            </a:r>
          </a:p>
        </p:txBody>
      </p:sp>
      <p:sp>
        <p:nvSpPr>
          <p:cNvPr id="566" name="Google Shape;566;p48"/>
          <p:cNvSpPr txBox="1">
            <a:spLocks noGrp="1"/>
          </p:cNvSpPr>
          <p:nvPr>
            <p:ph type="body" idx="1"/>
          </p:nvPr>
        </p:nvSpPr>
        <p:spPr>
          <a:xfrm>
            <a:off x="584850" y="1045538"/>
            <a:ext cx="10690500" cy="4331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Reglas básicas</a:t>
            </a:r>
            <a:endParaRPr sz="2400" b="1" dirty="0">
              <a:solidFill>
                <a:schemeClr val="accent6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1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</a:t>
            </a:r>
            <a:r>
              <a:rPr lang="es-ES" sz="2400" b="1" dirty="0">
                <a:solidFill>
                  <a:srgbClr val="0B6937"/>
                </a:solidFill>
                <a:latin typeface="+mn-lt"/>
              </a:rPr>
              <a:t>prioridad(A)</a:t>
            </a:r>
            <a:r>
              <a:rPr lang="es-ES" sz="2400" dirty="0">
                <a:latin typeface="+mn-lt"/>
              </a:rPr>
              <a:t> </a:t>
            </a:r>
            <a:r>
              <a:rPr lang="es-ES" sz="2400" b="1" dirty="0">
                <a:latin typeface="+mn-lt"/>
              </a:rPr>
              <a:t>&gt;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prioridad(B)</a:t>
            </a:r>
            <a:r>
              <a:rPr lang="es-ES" sz="2400" dirty="0">
                <a:latin typeface="+mn-lt"/>
              </a:rPr>
              <a:t>; </a:t>
            </a:r>
            <a:r>
              <a:rPr lang="es-ES" sz="2400" b="1" dirty="0">
                <a:latin typeface="+mn-lt"/>
              </a:rPr>
              <a:t>A</a:t>
            </a:r>
            <a:r>
              <a:rPr lang="es-ES" sz="2400" dirty="0">
                <a:latin typeface="+mn-lt"/>
              </a:rPr>
              <a:t> se ejecuta.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2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</a:t>
            </a:r>
            <a:r>
              <a:rPr lang="es-ES" sz="2400" b="1" dirty="0">
                <a:solidFill>
                  <a:srgbClr val="0B6937"/>
                </a:solidFill>
                <a:latin typeface="+mn-lt"/>
              </a:rPr>
              <a:t>prioridad(A)</a:t>
            </a:r>
            <a:r>
              <a:rPr lang="es-ES" sz="2400" b="1" dirty="0">
                <a:latin typeface="+mn-lt"/>
              </a:rPr>
              <a:t> =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prioridad(B)</a:t>
            </a:r>
            <a:r>
              <a:rPr lang="es-ES" sz="2400" dirty="0">
                <a:latin typeface="+mn-lt"/>
              </a:rPr>
              <a:t>; </a:t>
            </a:r>
            <a:r>
              <a:rPr lang="es-ES" sz="2400" b="1" dirty="0">
                <a:latin typeface="+mn-lt"/>
              </a:rPr>
              <a:t>RR</a:t>
            </a:r>
            <a:r>
              <a:rPr lang="es-ES" sz="2400" dirty="0">
                <a:latin typeface="+mn-lt"/>
              </a:rPr>
              <a:t> para </a:t>
            </a:r>
            <a:r>
              <a:rPr lang="es-ES" sz="2400" b="1" dirty="0">
                <a:latin typeface="+mn-lt"/>
              </a:rPr>
              <a:t>A</a:t>
            </a:r>
            <a:r>
              <a:rPr lang="es-ES" sz="2400" dirty="0">
                <a:latin typeface="+mn-lt"/>
              </a:rPr>
              <a:t> y </a:t>
            </a:r>
            <a:r>
              <a:rPr lang="es-ES" sz="2400" b="1" dirty="0">
                <a:latin typeface="+mn-lt"/>
              </a:rPr>
              <a:t>B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3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Cuando un trabajo llega al sistema es ubicado en la cola con la prioridad más alta.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4a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el trabajo usa completamente el quantum de tiempo, se reduce su prioridad.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4b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 </a:t>
            </a:r>
            <a:r>
              <a:rPr lang="es-ES" sz="2400" dirty="0">
                <a:latin typeface="+mn-lt"/>
              </a:rPr>
              <a:t>Si el trabajo entrega la CPU antes de finalizar su quantum de tiempo, mantiene el mismo nivel de prioridad.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5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Después de un tiempo </a:t>
            </a:r>
            <a:r>
              <a:rPr lang="es-ES" sz="2400" b="1" dirty="0">
                <a:latin typeface="+mn-lt"/>
              </a:rPr>
              <a:t>S</a:t>
            </a:r>
            <a:r>
              <a:rPr lang="es-ES" sz="2400" dirty="0">
                <a:latin typeface="+mn-lt"/>
              </a:rPr>
              <a:t>, mueva todos los trabajos al mayor nivel de prioridad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3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9"/>
          <p:cNvSpPr txBox="1">
            <a:spLocks noGrp="1"/>
          </p:cNvSpPr>
          <p:nvPr>
            <p:ph type="title"/>
          </p:nvPr>
        </p:nvSpPr>
        <p:spPr>
          <a:xfrm>
            <a:off x="290285" y="152150"/>
            <a:ext cx="1165497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Problemas del MLFQ básico - Engañar al planificador</a:t>
            </a:r>
          </a:p>
        </p:txBody>
      </p:sp>
      <p:sp>
        <p:nvSpPr>
          <p:cNvPr id="572" name="Google Shape;572;p49"/>
          <p:cNvSpPr txBox="1">
            <a:spLocks noGrp="1"/>
          </p:cNvSpPr>
          <p:nvPr>
            <p:ph type="body" idx="1"/>
          </p:nvPr>
        </p:nvSpPr>
        <p:spPr>
          <a:xfrm>
            <a:off x="848376" y="875314"/>
            <a:ext cx="10893900" cy="191142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Problema</a:t>
            </a:r>
            <a:r>
              <a:rPr lang="es-ES" sz="2400" dirty="0">
                <a:solidFill>
                  <a:srgbClr val="FF0000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</a:t>
            </a:r>
            <a:r>
              <a:rPr lang="es-ES" sz="2400" b="1" dirty="0">
                <a:latin typeface="+mn-lt"/>
              </a:rPr>
              <a:t>Engañar al planificador (</a:t>
            </a:r>
            <a:r>
              <a:rPr lang="es-ES" sz="2400" b="1" dirty="0" err="1">
                <a:latin typeface="+mn-lt"/>
              </a:rPr>
              <a:t>Game</a:t>
            </a:r>
            <a:r>
              <a:rPr lang="es-ES" sz="2400" b="1" dirty="0">
                <a:latin typeface="+mn-lt"/>
              </a:rPr>
              <a:t> </a:t>
            </a:r>
            <a:r>
              <a:rPr lang="es-ES" sz="2400" b="1" dirty="0" err="1">
                <a:latin typeface="+mn-lt"/>
              </a:rPr>
              <a:t>the</a:t>
            </a:r>
            <a:r>
              <a:rPr lang="es-ES" sz="2400" b="1" dirty="0">
                <a:latin typeface="+mn-lt"/>
              </a:rPr>
              <a:t> scheduler)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</a:rPr>
              <a:t>Un proceso malicioso puede engañar al planificador liberando la CPU justo antes de que expire el quantum (intervalo de tiempo).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Proceso se ejecuta el </a:t>
            </a:r>
            <a:r>
              <a:rPr lang="es-ES" sz="2000" b="1" dirty="0">
                <a:latin typeface="+mn-lt"/>
              </a:rPr>
              <a:t>99% del quantum</a:t>
            </a:r>
            <a:r>
              <a:rPr lang="es-ES" sz="2000" dirty="0">
                <a:latin typeface="+mn-lt"/>
              </a:rPr>
              <a:t> y luego realiza una operación I/O.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Obtiene mayor uso de la máquina.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573" name="Google Shape;57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8221" y="2786743"/>
            <a:ext cx="4994210" cy="3730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0"/>
          <p:cNvSpPr txBox="1">
            <a:spLocks noGrp="1"/>
          </p:cNvSpPr>
          <p:nvPr>
            <p:ph type="title"/>
          </p:nvPr>
        </p:nvSpPr>
        <p:spPr>
          <a:xfrm>
            <a:off x="130629" y="96038"/>
            <a:ext cx="1178559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Problemas del MLFQ básico - Engañar al planificador</a:t>
            </a:r>
            <a:endParaRPr sz="4000" dirty="0"/>
          </a:p>
        </p:txBody>
      </p:sp>
      <p:sp>
        <p:nvSpPr>
          <p:cNvPr id="579" name="Google Shape;579;p50"/>
          <p:cNvSpPr txBox="1">
            <a:spLocks noGrp="1"/>
          </p:cNvSpPr>
          <p:nvPr>
            <p:ph type="body" idx="1"/>
          </p:nvPr>
        </p:nvSpPr>
        <p:spPr>
          <a:xfrm>
            <a:off x="130629" y="932458"/>
            <a:ext cx="10690500" cy="52168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rgbClr val="0B6937"/>
                </a:solidFill>
                <a:latin typeface="+mn-lt"/>
              </a:rPr>
              <a:t>Solución</a:t>
            </a:r>
            <a:r>
              <a:rPr lang="es-ES" sz="2400" dirty="0">
                <a:solidFill>
                  <a:srgbClr val="0B6937"/>
                </a:solidFill>
                <a:latin typeface="+mn-lt"/>
              </a:rPr>
              <a:t>:</a:t>
            </a:r>
            <a:r>
              <a:rPr lang="es-ES" sz="24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s-ES" sz="2400" b="1" dirty="0">
                <a:solidFill>
                  <a:schemeClr val="accent1"/>
                </a:solidFill>
                <a:latin typeface="+mn-lt"/>
              </a:rPr>
              <a:t>Mejora del conteo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3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0" name="Google Shape;580;p50"/>
          <p:cNvSpPr txBox="1"/>
          <p:nvPr/>
        </p:nvSpPr>
        <p:spPr>
          <a:xfrm>
            <a:off x="361356" y="1530093"/>
            <a:ext cx="11554871" cy="9874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Nueva regla 4 (reemplaza 4a y 4b)</a:t>
            </a:r>
            <a:r>
              <a:rPr lang="es-ES" sz="2400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Cuando un trabajo consume su asignación de tiempo en un nivel su prioridad es reducida (sin importar las veces que este retome el uso de la CPU).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581" name="Google Shape;58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1199" y="2699753"/>
            <a:ext cx="4922172" cy="3904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1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1150982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Mejora del conteo (Better Accounting)</a:t>
            </a:r>
          </a:p>
        </p:txBody>
      </p:sp>
      <p:pic>
        <p:nvPicPr>
          <p:cNvPr id="588" name="Google Shape;58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029" y="1291386"/>
            <a:ext cx="11074400" cy="415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- Mejorado</a:t>
            </a:r>
            <a:endParaRPr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94" name="Google Shape;594;p52"/>
          <p:cNvSpPr txBox="1">
            <a:spLocks noGrp="1"/>
          </p:cNvSpPr>
          <p:nvPr>
            <p:ph type="body" idx="1"/>
          </p:nvPr>
        </p:nvSpPr>
        <p:spPr>
          <a:xfrm>
            <a:off x="916650" y="938813"/>
            <a:ext cx="10690500" cy="430084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Reglas básicas</a:t>
            </a:r>
            <a:endParaRPr sz="2400" b="1" dirty="0">
              <a:solidFill>
                <a:schemeClr val="accent6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1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</a:t>
            </a:r>
            <a:r>
              <a:rPr lang="es-ES" sz="2400" b="1" dirty="0">
                <a:solidFill>
                  <a:srgbClr val="0B6937"/>
                </a:solidFill>
                <a:latin typeface="+mn-lt"/>
              </a:rPr>
              <a:t>prioridad(A)</a:t>
            </a:r>
            <a:r>
              <a:rPr lang="es-ES" sz="2400" dirty="0">
                <a:latin typeface="+mn-lt"/>
              </a:rPr>
              <a:t> </a:t>
            </a:r>
            <a:r>
              <a:rPr lang="es-ES" sz="2400" b="1" dirty="0">
                <a:latin typeface="+mn-lt"/>
              </a:rPr>
              <a:t>&gt;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prioridad(B)</a:t>
            </a:r>
            <a:r>
              <a:rPr lang="es-ES" sz="2400" dirty="0">
                <a:latin typeface="+mn-lt"/>
              </a:rPr>
              <a:t>; </a:t>
            </a:r>
            <a:r>
              <a:rPr lang="es-ES" sz="2400" b="1" dirty="0">
                <a:latin typeface="+mn-lt"/>
              </a:rPr>
              <a:t>A</a:t>
            </a:r>
            <a:r>
              <a:rPr lang="es-ES" sz="2400" dirty="0">
                <a:latin typeface="+mn-lt"/>
              </a:rPr>
              <a:t> se ejecuta.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2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</a:t>
            </a:r>
            <a:r>
              <a:rPr lang="es-ES" sz="2400" b="1" dirty="0">
                <a:solidFill>
                  <a:srgbClr val="0B6937"/>
                </a:solidFill>
                <a:latin typeface="+mn-lt"/>
              </a:rPr>
              <a:t>prioridad(A)</a:t>
            </a:r>
            <a:r>
              <a:rPr lang="es-ES" sz="2400" b="1" dirty="0">
                <a:latin typeface="+mn-lt"/>
              </a:rPr>
              <a:t> =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prioridad(B)</a:t>
            </a:r>
            <a:r>
              <a:rPr lang="es-ES" sz="2400" dirty="0">
                <a:latin typeface="+mn-lt"/>
              </a:rPr>
              <a:t>; </a:t>
            </a:r>
            <a:r>
              <a:rPr lang="es-ES" sz="2400" b="1" dirty="0">
                <a:latin typeface="+mn-lt"/>
              </a:rPr>
              <a:t>RR</a:t>
            </a:r>
            <a:r>
              <a:rPr lang="es-ES" sz="2400" dirty="0">
                <a:latin typeface="+mn-lt"/>
              </a:rPr>
              <a:t> para </a:t>
            </a:r>
            <a:r>
              <a:rPr lang="es-ES" sz="2400" b="1" dirty="0">
                <a:latin typeface="+mn-lt"/>
              </a:rPr>
              <a:t>A</a:t>
            </a:r>
            <a:r>
              <a:rPr lang="es-ES" sz="2400" dirty="0">
                <a:latin typeface="+mn-lt"/>
              </a:rPr>
              <a:t> y </a:t>
            </a:r>
            <a:r>
              <a:rPr lang="es-ES" sz="2400" b="1" dirty="0">
                <a:latin typeface="+mn-lt"/>
              </a:rPr>
              <a:t>B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3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Cuando un trabajo llega al sistema es ubicado en la cola con la prioridad más alta.</a:t>
            </a:r>
            <a:endParaRPr sz="2400" strike="sngStrike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rgbClr val="F8A02B"/>
                </a:solidFill>
                <a:latin typeface="+mn-lt"/>
              </a:rPr>
              <a:t>Nueva Regla 4</a:t>
            </a:r>
            <a:r>
              <a:rPr lang="es-ES" sz="2400" dirty="0">
                <a:solidFill>
                  <a:srgbClr val="F8A02B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Cuando un trabajo consume su asignación de tiempo en un nivel su prioridad es reducida (sin importar las veces que este retome el uso de la CPU).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5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Después de un tiempo </a:t>
            </a:r>
            <a:r>
              <a:rPr lang="es-ES" sz="2400" b="1" dirty="0">
                <a:latin typeface="+mn-lt"/>
              </a:rPr>
              <a:t>S</a:t>
            </a:r>
            <a:r>
              <a:rPr lang="es-ES" sz="2400" dirty="0">
                <a:latin typeface="+mn-lt"/>
              </a:rPr>
              <a:t>, mueva todos los trabajos al mayor nivel de prioridad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3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Mejoras al MLFQ</a:t>
            </a:r>
            <a:endParaRPr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00" name="Google Shape;600;p53"/>
          <p:cNvSpPr txBox="1">
            <a:spLocks noGrp="1"/>
          </p:cNvSpPr>
          <p:nvPr>
            <p:ph type="body" idx="1"/>
          </p:nvPr>
        </p:nvSpPr>
        <p:spPr>
          <a:xfrm>
            <a:off x="838200" y="911600"/>
            <a:ext cx="10690500" cy="13381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Menor nivel de prioridad → mayor tiempo de quantum</a:t>
            </a:r>
            <a:endParaRPr sz="24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b="1" dirty="0"/>
              <a:t>Alta prioridad</a:t>
            </a:r>
            <a:r>
              <a:rPr lang="es-ES" sz="2400" dirty="0"/>
              <a:t>: quantum corto (~10 ms)</a:t>
            </a:r>
            <a:endParaRPr sz="24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b="1" dirty="0"/>
              <a:t>Baja prioridad</a:t>
            </a:r>
            <a:r>
              <a:rPr lang="es-ES" sz="2400" dirty="0"/>
              <a:t>: quantum largo (~100 ms)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01" name="Google Shape;60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4525" y="2363107"/>
            <a:ext cx="5419725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Referencias</a:t>
            </a:r>
            <a:endParaRPr sz="3200" b="1" dirty="0">
              <a:solidFill>
                <a:srgbClr val="701E5C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07" name="Google Shape;607;p54"/>
          <p:cNvSpPr txBox="1">
            <a:spLocks noGrp="1"/>
          </p:cNvSpPr>
          <p:nvPr>
            <p:ph type="body" idx="1"/>
          </p:nvPr>
        </p:nvSpPr>
        <p:spPr>
          <a:xfrm>
            <a:off x="1011900" y="1058100"/>
            <a:ext cx="10515600" cy="56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000" b="1" dirty="0" err="1">
                <a:latin typeface="+mn-lt"/>
              </a:rPr>
              <a:t>Operating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b="1" dirty="0" err="1">
                <a:latin typeface="+mn-lt"/>
              </a:rPr>
              <a:t>Systems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b="1" dirty="0" err="1">
                <a:latin typeface="+mn-lt"/>
              </a:rPr>
              <a:t>Three</a:t>
            </a:r>
            <a:r>
              <a:rPr lang="es-ES" sz="2000" b="1" dirty="0">
                <a:latin typeface="+mn-lt"/>
              </a:rPr>
              <a:t> Easy </a:t>
            </a:r>
            <a:r>
              <a:rPr lang="es-ES" sz="2000" b="1" dirty="0" err="1">
                <a:latin typeface="+mn-lt"/>
              </a:rPr>
              <a:t>Pieces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dirty="0">
                <a:latin typeface="+mn-lt"/>
              </a:rPr>
              <a:t>(</a:t>
            </a:r>
            <a:r>
              <a:rPr lang="es-ES" sz="2000" u="sng" dirty="0" err="1">
                <a:solidFill>
                  <a:schemeClr val="hlink"/>
                </a:solidFill>
                <a:latin typeface="+mn-lt"/>
                <a:hlinkClick r:id="rId3"/>
              </a:rPr>
              <a:t>website</a:t>
            </a:r>
            <a:r>
              <a:rPr lang="es-ES" sz="2000" dirty="0">
                <a:latin typeface="+mn-lt"/>
              </a:rPr>
              <a:t>: Capítulos 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4"/>
              </a:rPr>
              <a:t>1</a:t>
            </a:r>
            <a:r>
              <a:rPr lang="es-ES" sz="2000" dirty="0">
                <a:latin typeface="+mn-lt"/>
              </a:rPr>
              <a:t> y 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5"/>
              </a:rPr>
              <a:t>2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>
                <a:latin typeface="+mn-lt"/>
              </a:rPr>
              <a:t>Videos de </a:t>
            </a:r>
            <a:r>
              <a:rPr lang="es-ES" sz="2000" dirty="0" err="1">
                <a:latin typeface="+mn-lt"/>
              </a:rPr>
              <a:t>youtube</a:t>
            </a:r>
            <a:r>
              <a:rPr lang="es-ES" sz="2000" dirty="0">
                <a:latin typeface="+mn-lt"/>
              </a:rPr>
              <a:t>: Clase 1 - Introducción a los sistemas operativos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6"/>
              </a:rPr>
              <a:t>link</a:t>
            </a:r>
            <a:r>
              <a:rPr lang="es-ES" sz="2000" dirty="0">
                <a:latin typeface="+mn-lt"/>
              </a:rPr>
              <a:t>).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>
                <a:latin typeface="+mn-lt"/>
              </a:rPr>
              <a:t>Página de </a:t>
            </a:r>
            <a:r>
              <a:rPr lang="es-ES" sz="2000" dirty="0" err="1">
                <a:latin typeface="+mn-lt"/>
              </a:rPr>
              <a:t>Remzi</a:t>
            </a:r>
            <a:r>
              <a:rPr lang="es-ES" sz="2000" dirty="0">
                <a:latin typeface="+mn-lt"/>
              </a:rPr>
              <a:t> H. </a:t>
            </a:r>
            <a:r>
              <a:rPr lang="es-ES" sz="2000" dirty="0" err="1">
                <a:latin typeface="+mn-lt"/>
              </a:rPr>
              <a:t>Arpaci-Dusseau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7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Concepts</a:t>
            </a:r>
            <a:r>
              <a:rPr lang="es-ES" sz="2000" dirty="0">
                <a:latin typeface="+mn-lt"/>
              </a:rPr>
              <a:t> - </a:t>
            </a:r>
            <a:r>
              <a:rPr lang="es-ES" sz="2000" dirty="0" err="1">
                <a:latin typeface="+mn-lt"/>
              </a:rPr>
              <a:t>Tenth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Edition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 err="1">
                <a:solidFill>
                  <a:schemeClr val="hlink"/>
                </a:solidFill>
                <a:latin typeface="+mn-lt"/>
                <a:hlinkClick r:id="rId8"/>
              </a:rPr>
              <a:t>website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Systems</a:t>
            </a:r>
            <a:r>
              <a:rPr lang="es-ES" sz="2000" dirty="0">
                <a:latin typeface="+mn-lt"/>
              </a:rPr>
              <a:t> Notes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9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0"/>
              </a:rPr>
              <a:t>https://github.com/Aniruddha-Tapas/Operating-Systems-Notes/blob/master/1-Overview.md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1"/>
              </a:rPr>
              <a:t>https://myaut.github.io/dtrace-stap-book/kernel/proc.html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2"/>
              </a:rPr>
              <a:t>https://myaut.github.io/dtrace-stap-book/index.html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3"/>
              </a:rPr>
              <a:t>https://www.technologyuk.net/computing/computer-software/operating-systems/operating-system-utilities.shtml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4"/>
              </a:rPr>
              <a:t>http://www.it.uu.se/education/course/homepage/os/vt18/module-4/simple-threads/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5"/>
              </a:rPr>
              <a:t>https://courses.cs.duke.edu/spring19/compsci590.1/slides/</a:t>
            </a:r>
            <a:r>
              <a:rPr lang="es-ES" sz="2000" dirty="0">
                <a:latin typeface="+mn-lt"/>
              </a:rPr>
              <a:t> 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CO" sz="2000" dirty="0">
                <a:latin typeface="+mn-lt"/>
                <a:hlinkClick r:id="rId16"/>
              </a:rPr>
              <a:t>https://github.com/ls1-sys-prog-course/docs</a:t>
            </a:r>
            <a:r>
              <a:rPr lang="es-ES" sz="2000" dirty="0">
                <a:latin typeface="+mn-lt"/>
              </a:rPr>
              <a:t> 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7"/>
              </a:rPr>
              <a:t>https://www.merlot.org/merlot/viewMaterial.htm?id=773407108</a:t>
            </a:r>
            <a:r>
              <a:rPr lang="es-ES" sz="2000" dirty="0">
                <a:latin typeface="+mn-lt"/>
              </a:rPr>
              <a:t> 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>
                <a:latin typeface="+mn-lt"/>
                <a:hlinkClick r:id="rId18"/>
              </a:rPr>
              <a:t>https://github.com/silentzero192/Operating-Systems-Lab/tree/main</a:t>
            </a:r>
            <a:r>
              <a:rPr lang="es-ES" sz="2000" dirty="0">
                <a:latin typeface="+mn-lt"/>
              </a:rPr>
              <a:t> 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>
                <a:latin typeface="+mn-lt"/>
                <a:hlinkClick r:id="rId19"/>
              </a:rPr>
              <a:t>https://github.com/getvmio/free-operating-system-resources</a:t>
            </a:r>
            <a:r>
              <a:rPr lang="es-ES" sz="2000" dirty="0">
                <a:latin typeface="+mn-lt"/>
              </a:rPr>
              <a:t> 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8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Words>2509</Words>
  <Application>Microsoft Office PowerPoint</Application>
  <PresentationFormat>Panorámica</PresentationFormat>
  <Paragraphs>670</Paragraphs>
  <Slides>33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2" baseType="lpstr">
      <vt:lpstr>Calibri</vt:lpstr>
      <vt:lpstr>Courier New</vt:lpstr>
      <vt:lpstr>Arial</vt:lpstr>
      <vt:lpstr>Roboto</vt:lpstr>
      <vt:lpstr>Calibri Light</vt:lpstr>
      <vt:lpstr>Times New Roman</vt:lpstr>
      <vt:lpstr>Cambria Math</vt:lpstr>
      <vt:lpstr>Roboto Slab</vt:lpstr>
      <vt:lpstr>Tema de Office</vt:lpstr>
      <vt:lpstr>Apuntes clase 6</vt:lpstr>
      <vt:lpstr>Repaso clase anterior</vt:lpstr>
      <vt:lpstr>Repaso clase anterior</vt:lpstr>
      <vt:lpstr>Repaso clase anterior</vt:lpstr>
      <vt:lpstr>Repaso clase anterior</vt:lpstr>
      <vt:lpstr>Repaso clase anterior</vt:lpstr>
      <vt:lpstr>Repaso clase anterior</vt:lpstr>
      <vt:lpstr>Contextualización</vt:lpstr>
      <vt:lpstr>Contextualización</vt:lpstr>
      <vt:lpstr>Tipos de procesos</vt:lpstr>
      <vt:lpstr>Planificador de propósito general</vt:lpstr>
      <vt:lpstr>MLFQ (Multi-Level Feedback Queue)</vt:lpstr>
      <vt:lpstr>MLFQ (Multi-Level Feedback Queue)</vt:lpstr>
      <vt:lpstr>MLFQ  - Reglas básicas</vt:lpstr>
      <vt:lpstr>MLFQ  - Reglas básicas</vt:lpstr>
      <vt:lpstr>MLFQ  - Reglas básicas</vt:lpstr>
      <vt:lpstr>MLFQ – Proceso CPU-bound</vt:lpstr>
      <vt:lpstr>MLFQ – Proceso CPU-bound</vt:lpstr>
      <vt:lpstr>MLFQ – Proceso CPU-bound</vt:lpstr>
      <vt:lpstr>MLFQ (Multi-Level Feedback Queue)</vt:lpstr>
      <vt:lpstr>MLFQ (Multi-Level Feedback Queue)</vt:lpstr>
      <vt:lpstr>MLFQ – Proceso CPU-bound</vt:lpstr>
      <vt:lpstr>Problemas del MLFQ básico - Cambio de comportamiento</vt:lpstr>
      <vt:lpstr>Problemas del MLFQ básico – Inanición</vt:lpstr>
      <vt:lpstr>Problemas del MLFQ básico – Inanición</vt:lpstr>
      <vt:lpstr>Priority boost</vt:lpstr>
      <vt:lpstr>MLFQ - Clásico</vt:lpstr>
      <vt:lpstr>Problemas del MLFQ básico - Engañar al planificador</vt:lpstr>
      <vt:lpstr>Problemas del MLFQ básico - Engañar al planificador</vt:lpstr>
      <vt:lpstr>Mejora del conteo (Better Accounting)</vt:lpstr>
      <vt:lpstr>MLFQ - Mejorado</vt:lpstr>
      <vt:lpstr>Mejoras al MLFQ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Apuntes clase 6</dc:title>
  <cp:lastModifiedBy>HENRY ALBERTO ARCILA RAMIREZ</cp:lastModifiedBy>
  <cp:revision>12</cp:revision>
  <dcterms:modified xsi:type="dcterms:W3CDTF">2026-03-04T04:48:28Z</dcterms:modified>
</cp:coreProperties>
</file>