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5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  <p:sldId id="285" r:id="rId12"/>
    <p:sldId id="269" r:id="rId13"/>
    <p:sldId id="286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9" r:id="rId22"/>
    <p:sldId id="280" r:id="rId23"/>
    <p:sldId id="281" r:id="rId24"/>
    <p:sldId id="282" r:id="rId25"/>
    <p:sldId id="287" r:id="rId26"/>
    <p:sldId id="289" r:id="rId27"/>
    <p:sldId id="290" r:id="rId28"/>
    <p:sldId id="291" r:id="rId29"/>
    <p:sldId id="265" r:id="rId30"/>
    <p:sldId id="292" r:id="rId31"/>
    <p:sldId id="293" r:id="rId32"/>
    <p:sldId id="294" r:id="rId33"/>
    <p:sldId id="295" r:id="rId34"/>
    <p:sldId id="297" r:id="rId35"/>
    <p:sldId id="298" r:id="rId36"/>
    <p:sldId id="299" r:id="rId37"/>
    <p:sldId id="300" r:id="rId38"/>
    <p:sldId id="275" r:id="rId39"/>
    <p:sldId id="301" r:id="rId40"/>
    <p:sldId id="302" r:id="rId41"/>
    <p:sldId id="303" r:id="rId42"/>
    <p:sldId id="304" r:id="rId43"/>
    <p:sldId id="305" r:id="rId44"/>
    <p:sldId id="312" r:id="rId45"/>
    <p:sldId id="306" r:id="rId46"/>
    <p:sldId id="308" r:id="rId47"/>
    <p:sldId id="309" r:id="rId48"/>
    <p:sldId id="310" r:id="rId49"/>
    <p:sldId id="311" r:id="rId50"/>
    <p:sldId id="283" r:id="rId51"/>
  </p:sldIdLst>
  <p:sldSz cx="12192000" cy="6858000"/>
  <p:notesSz cx="6858000" cy="9144000"/>
  <p:embeddedFontLst>
    <p:embeddedFont>
      <p:font typeface="Calibri" panose="020F0502020204030204" pitchFamily="34" charset="0"/>
      <p:regular r:id="rId53"/>
      <p:bold r:id="rId54"/>
      <p:italic r:id="rId55"/>
      <p:boldItalic r:id="rId56"/>
    </p:embeddedFont>
    <p:embeddedFont>
      <p:font typeface="Calibri Light" panose="020F0302020204030204" pitchFamily="34" charset="0"/>
      <p:regular r:id="rId57"/>
      <p:italic r:id="rId58"/>
    </p:embeddedFont>
    <p:embeddedFont>
      <p:font typeface="Consolas" panose="020B0609020204030204" pitchFamily="49" charset="0"/>
      <p:regular r:id="rId59"/>
      <p:bold r:id="rId60"/>
      <p:italic r:id="rId61"/>
      <p:boldItalic r:id="rId62"/>
    </p:embeddedFont>
    <p:embeddedFont>
      <p:font typeface="Roboto" panose="02000000000000000000" pitchFamily="2" charset="0"/>
      <p:regular r:id="rId63"/>
      <p:bold r:id="rId64"/>
      <p:italic r:id="rId65"/>
      <p:boldItalic r:id="rId66"/>
    </p:embeddedFont>
    <p:embeddedFont>
      <p:font typeface="Roboto Slab" panose="020B0604020202020204" charset="0"/>
      <p:regular r:id="rId67"/>
      <p:bold r:id="rId68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A52A41-BABC-4418-8BB8-58FADEB799A8}">
  <a:tblStyle styleId="{A3A52A41-BABC-4418-8BB8-58FADEB79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1.fntdata"/><Relationship Id="rId68" Type="http://schemas.openxmlformats.org/officeDocument/2006/relationships/font" Target="fonts/font16.fntdata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font" Target="fonts/font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b0d603767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b0d603767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b0d603767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b0d603767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0b0d603767_0_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0b0d603767_0_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b0d603767_0_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0b0d603767_0_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0b0d603767_0_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g10b0d603767_0_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0b0d603767_0_9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g10b0d603767_0_9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b0d603767_0_9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g10b0d603767_0_9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b0d603767_0_9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g10b0d603767_0_9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7085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0b0d603767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g10b0d603767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0b0d603767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g10b0d603767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4511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02fc7111b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g102fc7111b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0b0d603767_0_10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g10b0d603767_0_10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0411c0b8f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g10411c0b8f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0e655267c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g10e655267c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10411c0b8f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10411c0b8f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10e655267c9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10e655267c9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0411c0b8ff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10411c0b8ff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411c0b8f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10411c0b8f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e655267c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g10e655267c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0e65526bf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g10e65526bf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e65526bf7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g10e65526bf7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0e65526bf7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g10e65526bf7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0e65526bf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Google Shape;379;g10e65526bf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0e65526bf7_0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10e65526bf7_0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0e65526bf7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0e65526bf7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e65526bf7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0e65526bf7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0e65526bf7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0e65526bf7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0e65526bf7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0e65526bf7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e65526bf7_0_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e65526bf7_0_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e65526bf7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0e65526bf7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0411c0b8f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0411c0b8f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545288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e834b482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0e834b482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0e834b482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6" name="Google Shape;616;g10e834b482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10e834b4827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4" name="Google Shape;624;g10e834b4827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0e834b4827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5" name="Google Shape;645;g10e834b482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0e834b4827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7" name="Google Shape;657;g10e834b4827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4304384e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1" name="Google Shape;671;g104304384e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83176-2AE6-4425-AF29-716B7A334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6A784E-3396-4F9C-8979-1A77C7E83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B45B00-4181-41C5-8A9C-B5C1D31D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EFB3DD-2B42-4BA1-9961-486B0DBE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54CDC-52E1-43ED-992B-8E059200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81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281D6-77CE-48A4-9892-744BC85D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8141B1-DAEE-4DB7-9836-AD530B3A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29A8D1-53A5-4E1E-ACF1-4865B6C1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BCB5C2-5985-4FE2-887A-95776FC0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0F4240-7265-4A4D-BAE4-FBF76E532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5765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AF25B-7583-4D56-840A-56C8D211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EF68F0-5020-4AAC-AFAD-4E2846B0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F13D0C-2295-4D98-9E63-B99E84FBF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5BF590-BAC5-4D7C-A383-3D513C68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A64B9-8A0C-42E4-9581-F8E6A7E0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2484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0A06D-73DD-4163-BACD-F86C971F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DA0CE7-726C-4C1F-A6DB-6ECBD5714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738648-8411-4072-8CF5-22D7E876B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52D4D2-8F6E-40B6-800E-58471D663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20F6D4-6894-42D6-9CFD-6499C0C72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0B5BA3-5CA4-4EAC-8E9C-B95166F8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9803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ED89C-C8B4-4630-AF38-19CA83149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50C6E1-EFCB-4B64-9467-47224E6E1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CD507D-A5CC-44EC-AA06-B070C8A9B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DAEA233-B47A-4A40-A3A7-49BE99054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5F1ACF-4869-48B0-8FF6-777FE6674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D6E493-4611-4F9E-8BF9-6A45BE09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570F28-5290-4268-B1A6-1DC5CECF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2407DE3-6B19-476B-ABFE-F53AC852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739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8E7AF-113A-4C7A-949A-751A78D84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E07813-6E42-4C64-9471-4572BEEA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FD0D19-044F-44A6-9915-06C8D82C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F10DD9-1CAB-4ED7-BF65-23B3FF0B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180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7D329B-5131-4B16-9B8F-C5311F16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225E4D-BF16-4CA6-844A-A6B5125E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0BEAEB-397C-434C-8C0D-97057D2E9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740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75509-1703-4EC0-B650-4900780F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87CC8E-0112-4898-A3B2-F2798ED18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A45065-E2BF-49E2-B8B6-87B3B766C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B0E98C-7DCD-404C-B2F9-551A2CF6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DB60E7-D339-49BA-9EC6-3A7FC86A8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E5ACA3-F337-4573-9929-619C14E83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065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917A2-87A0-4BF2-9AE4-686900830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9965A6-EF00-4E68-93D3-A9CE8B165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761B7E-11D5-4562-8E14-D7A7675BD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5EF501-3FA3-4630-ABBE-83080E214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C9C617-0085-4B6E-909A-BE00961F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31EBE9-E21D-4795-B4F3-4EB31321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76225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BF255-CB9F-4BBF-A935-4F124C30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F2F238-B951-45F3-82E6-DACC03176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3DEEB9-8CAB-44F2-89B8-869EDD59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E0143F-DE57-48FC-A70E-5CF750FD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35D36C-06E8-4C65-B679-53CBAE89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4906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8D8602-AD9F-4DF0-970C-0589B9061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115B21-C694-46E2-B782-195A85B46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6AE4A8-9F61-4BA7-8B27-AFE1D053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D4CA9-FA28-42EC-BE5B-D5F3584D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BC836-10E3-448D-A026-45EDA278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7460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379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0104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602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D27C1BD-3B84-47A1-A28C-D7EB7ACC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C25C1C-FEF9-446A-AF29-34301A137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842EE3-E2BA-4280-8CD0-7BFB76FCC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A2BB7F-2CFA-4CB4-9552-8C4D4D53B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8498F9-6B8C-4309-BD00-C25BD9B24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97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pythontutor.com/render.html#code=%23include%20%3Cstdio.h%3E%0A%23include%20%3Cstdlib.h%3E%0A%0Aint%20main%28int%20argc,%20char%20*argv%5B%5D%29%20%7B%0A%20%20printf%28%22location%20of%20code%20%20%3A%20%25p%5Cn%22,%20%28void%20*%29%20main%29%3B%0A%20%20printf%28%22location%20of%20heap%20%20%3A%20%25p%5Cn%22,%20%28void%20*%29%20malloc%281%29%29%3B%0A%20%20int%20x%20%3D%203%3B%0A%20%20printf%28%22location%20of%20stack%20%3A%20%25p%5Cn%22,%20%28void%20*%29%20%26x%29%3B%0A%20%20return%20x%3B%0A%7D&amp;cumulative=false&amp;curInstr=0&amp;heapPrimitives=nevernest&amp;mode=display&amp;origin=opt-frontend.js&amp;py=c_gcc9.3.0&amp;rawInputLstJSON=%5B%5D&amp;textReferences=false" TargetMode="External"/><Relationship Id="rId4" Type="http://schemas.openxmlformats.org/officeDocument/2006/relationships/hyperlink" Target="https://github.com/remzi-arpacidusseau/ostep-code/blob/master/vm-intro/va.c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ythontutor.com/c.html#code=int%20x%3B%0Aint%20main%28int%20argc,%20char%20*argv%5B%5D%29%20%7B%0A%20%20int%20y%3B%0A%20%20int%20*z%20%3D%20malloc%28sizeof%28int%29%29%3B%0A%7D%0A&amp;mode=edit&amp;origin=opt-frontend.js&amp;py=c_gcc9.3.0&amp;rawInputLstJSON=%5B%5D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gi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gif"/><Relationship Id="rId4" Type="http://schemas.openxmlformats.org/officeDocument/2006/relationships/image" Target="../media/image40.gi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9.png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2" Type="http://schemas.openxmlformats.org/officeDocument/2006/relationships/notesSlide" Target="../notesSlides/notesSlide50.xml"/><Relationship Id="rId16" Type="http://schemas.openxmlformats.org/officeDocument/2006/relationships/hyperlink" Target="http://csl.snu.ac.kr/courses/4190.307/2020-1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courses.cs.duke.edu/spring19/compsci590.1/slides/" TargetMode="External"/><Relationship Id="rId10" Type="http://schemas.openxmlformats.org/officeDocument/2006/relationships/hyperlink" Target="https://github.com/Aniruddha-Tapas/Operating-Systems-Notes/blob/master/1-Overview.md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://www.it.uu.se/education/course/homepage/os/vt18/module-4/simple-thre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24250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7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Memoria virtual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>
                <a:latin typeface="Roboto"/>
                <a:ea typeface="Roboto"/>
                <a:cs typeface="Roboto"/>
                <a:sym typeface="Roboto"/>
              </a:rPr>
              <a:t>12/03/2026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379850" y="113988"/>
            <a:ext cx="10515600" cy="89871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idx="1"/>
          </p:nvPr>
        </p:nvSpPr>
        <p:spPr>
          <a:xfrm>
            <a:off x="379850" y="959124"/>
            <a:ext cx="10749300" cy="6996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dirty="0"/>
              <a:t>Un proceso es un </a:t>
            </a:r>
            <a:r>
              <a:rPr lang="es-ES" sz="2400" b="1" dirty="0">
                <a:solidFill>
                  <a:srgbClr val="0B6937"/>
                </a:solidFill>
              </a:rPr>
              <a:t>programa en ejecución</a:t>
            </a:r>
            <a:r>
              <a:rPr lang="es-ES" sz="2400" dirty="0"/>
              <a:t>.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457" y="4069700"/>
            <a:ext cx="970343" cy="7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20"/>
          <p:cNvGrpSpPr/>
          <p:nvPr/>
        </p:nvGrpSpPr>
        <p:grpSpPr>
          <a:xfrm>
            <a:off x="7383000" y="2232650"/>
            <a:ext cx="4549500" cy="4393500"/>
            <a:chOff x="5458950" y="1790200"/>
            <a:chExt cx="4549500" cy="4393500"/>
          </a:xfrm>
        </p:grpSpPr>
        <p:sp>
          <p:nvSpPr>
            <p:cNvPr id="161" name="Google Shape;161;p20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" name="Google Shape;162;p20"/>
            <p:cNvGrpSpPr/>
            <p:nvPr/>
          </p:nvGrpSpPr>
          <p:grpSpPr>
            <a:xfrm>
              <a:off x="5988151" y="2590500"/>
              <a:ext cx="1452724" cy="2122900"/>
              <a:chOff x="6077376" y="2623950"/>
              <a:chExt cx="1452724" cy="2122900"/>
            </a:xfrm>
          </p:grpSpPr>
          <p:sp>
            <p:nvSpPr>
              <p:cNvPr id="163" name="Google Shape;163;p20"/>
              <p:cNvSpPr txBox="1"/>
              <p:nvPr/>
            </p:nvSpPr>
            <p:spPr>
              <a:xfrm>
                <a:off x="6161500" y="2623950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164" name="Google Shape;164;p20"/>
              <p:cNvGrpSpPr/>
              <p:nvPr/>
            </p:nvGrpSpPr>
            <p:grpSpPr>
              <a:xfrm>
                <a:off x="6077376" y="3042363"/>
                <a:ext cx="1422424" cy="1401900"/>
                <a:chOff x="6077376" y="3042363"/>
                <a:chExt cx="1422424" cy="1401900"/>
              </a:xfrm>
            </p:grpSpPr>
            <p:sp>
              <p:nvSpPr>
                <p:cNvPr id="165" name="Google Shape;165;p20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6" name="Google Shape;166;p20"/>
                <p:cNvGrpSpPr/>
                <p:nvPr/>
              </p:nvGrpSpPr>
              <p:grpSpPr>
                <a:xfrm>
                  <a:off x="6131200" y="3096950"/>
                  <a:ext cx="1178925" cy="461635"/>
                  <a:chOff x="6131200" y="3096950"/>
                  <a:chExt cx="1178925" cy="461635"/>
                </a:xfrm>
              </p:grpSpPr>
              <p:sp>
                <p:nvSpPr>
                  <p:cNvPr id="167" name="Google Shape;167;p20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20"/>
                  <p:cNvSpPr txBox="1"/>
                  <p:nvPr/>
                </p:nvSpPr>
                <p:spPr>
                  <a:xfrm>
                    <a:off x="6131200" y="3096950"/>
                    <a:ext cx="5098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169" name="Google Shape;169;p20"/>
                <p:cNvGrpSpPr/>
                <p:nvPr/>
              </p:nvGrpSpPr>
              <p:grpSpPr>
                <a:xfrm>
                  <a:off x="6077376" y="3412550"/>
                  <a:ext cx="1232749" cy="461635"/>
                  <a:chOff x="6077376" y="3412550"/>
                  <a:chExt cx="1232749" cy="461635"/>
                </a:xfrm>
              </p:grpSpPr>
              <p:sp>
                <p:nvSpPr>
                  <p:cNvPr id="170" name="Google Shape;170;p20"/>
                  <p:cNvSpPr txBox="1"/>
                  <p:nvPr/>
                </p:nvSpPr>
                <p:spPr>
                  <a:xfrm>
                    <a:off x="6077376" y="3412550"/>
                    <a:ext cx="563674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71" name="Google Shape;171;p20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2" name="Google Shape;172;p20"/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173" name="Google Shape;173;p20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74" name="Google Shape;174;p20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5" name="Google Shape;175;p20"/>
            <p:cNvGrpSpPr/>
            <p:nvPr/>
          </p:nvGrpSpPr>
          <p:grpSpPr>
            <a:xfrm>
              <a:off x="7805450" y="2441425"/>
              <a:ext cx="1368600" cy="2457250"/>
              <a:chOff x="7805450" y="2441425"/>
              <a:chExt cx="1368600" cy="2457250"/>
            </a:xfrm>
          </p:grpSpPr>
          <p:grpSp>
            <p:nvGrpSpPr>
              <p:cNvPr id="176" name="Google Shape;176;p20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77" name="Google Shape;177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78" name="Google Shape;178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79" name="Google Shape;179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80" name="Google Shape;180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81" name="Google Shape;181;p20"/>
                <p:cNvCxnSpPr>
                  <a:stCxn id="17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2" name="Google Shape;182;p20"/>
                <p:cNvCxnSpPr>
                  <a:stCxn id="18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83" name="Google Shape;183;p20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84" name="Google Shape;184;p20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85" name="Google Shape;185;p20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186" name="Google Shape;186;p20"/>
          <p:cNvCxnSpPr/>
          <p:nvPr/>
        </p:nvCxnSpPr>
        <p:spPr>
          <a:xfrm>
            <a:off x="5918825" y="3486800"/>
            <a:ext cx="1401900" cy="4500"/>
          </a:xfrm>
          <a:prstGeom prst="straightConnector1">
            <a:avLst/>
          </a:prstGeom>
          <a:noFill/>
          <a:ln w="3810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30975" y="2704300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1285922" y="1658812"/>
            <a:ext cx="5631038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>
                <a:latin typeface="Courier New"/>
                <a:ea typeface="Courier New"/>
                <a:cs typeface="Courier New"/>
                <a:sym typeface="Courier New"/>
              </a:rPr>
              <a:t>Proceso = CPU + Memory + I/O Info</a:t>
            </a:r>
            <a:endParaRPr sz="21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1088" y="4620713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4350" y="3985213"/>
            <a:ext cx="509450" cy="4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78225" y="3995140"/>
            <a:ext cx="1134175" cy="113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3559" y="3036049"/>
            <a:ext cx="1410191" cy="9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13862" y="5002989"/>
            <a:ext cx="1549725" cy="92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532" y="5985650"/>
            <a:ext cx="970343" cy="7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0"/>
          <p:cNvCxnSpPr/>
          <p:nvPr/>
        </p:nvCxnSpPr>
        <p:spPr>
          <a:xfrm rot="10800000" flipH="1">
            <a:off x="3086875" y="3486800"/>
            <a:ext cx="1131600" cy="582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3075225" y="4862800"/>
            <a:ext cx="1002900" cy="641400"/>
          </a:xfrm>
          <a:prstGeom prst="straightConnector1">
            <a:avLst/>
          </a:prstGeom>
          <a:noFill/>
          <a:ln w="38100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7" name="Google Shape;197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862425" y="2962575"/>
            <a:ext cx="418399" cy="41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>
            <a:spLocks noGrp="1"/>
          </p:cNvSpPr>
          <p:nvPr>
            <p:ph type="title"/>
          </p:nvPr>
        </p:nvSpPr>
        <p:spPr>
          <a:xfrm>
            <a:off x="427703" y="217584"/>
            <a:ext cx="10926097" cy="85321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 de CPU</a:t>
            </a:r>
            <a:endParaRPr dirty="0"/>
          </a:p>
        </p:txBody>
      </p:sp>
      <p:sp>
        <p:nvSpPr>
          <p:cNvPr id="203" name="Google Shape;203;p21"/>
          <p:cNvSpPr txBox="1">
            <a:spLocks noGrp="1"/>
          </p:cNvSpPr>
          <p:nvPr>
            <p:ph idx="1"/>
          </p:nvPr>
        </p:nvSpPr>
        <p:spPr>
          <a:xfrm>
            <a:off x="427703" y="1196307"/>
            <a:ext cx="11155497" cy="57225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dirty="0"/>
              <a:t>Cada proceso cree que </a:t>
            </a:r>
            <a:r>
              <a:rPr lang="es-ES" sz="2400" b="1" dirty="0">
                <a:solidFill>
                  <a:srgbClr val="FF0000"/>
                </a:solidFill>
              </a:rPr>
              <a:t>tiene su propia CPU</a:t>
            </a:r>
            <a:r>
              <a:rPr lang="es-ES" sz="2400" dirty="0"/>
              <a:t>.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04" name="Google Shape;204;p21"/>
          <p:cNvGrpSpPr/>
          <p:nvPr/>
        </p:nvGrpSpPr>
        <p:grpSpPr>
          <a:xfrm>
            <a:off x="5754350" y="4603163"/>
            <a:ext cx="1418250" cy="2104675"/>
            <a:chOff x="6111850" y="2642175"/>
            <a:chExt cx="1418250" cy="2104675"/>
          </a:xfrm>
        </p:grpSpPr>
        <p:sp>
          <p:nvSpPr>
            <p:cNvPr id="205" name="Google Shape;205;p21"/>
            <p:cNvSpPr txBox="1"/>
            <p:nvPr/>
          </p:nvSpPr>
          <p:spPr>
            <a:xfrm>
              <a:off x="6295300" y="2642175"/>
              <a:ext cx="970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06" name="Google Shape;206;p21"/>
            <p:cNvGrpSpPr/>
            <p:nvPr/>
          </p:nvGrpSpPr>
          <p:grpSpPr>
            <a:xfrm>
              <a:off x="6111850" y="3073263"/>
              <a:ext cx="1387950" cy="1401900"/>
              <a:chOff x="6111850" y="3073263"/>
              <a:chExt cx="1387950" cy="1401900"/>
            </a:xfrm>
          </p:grpSpPr>
          <p:sp>
            <p:nvSpPr>
              <p:cNvPr id="207" name="Google Shape;207;p21"/>
              <p:cNvSpPr/>
              <p:nvPr/>
            </p:nvSpPr>
            <p:spPr>
              <a:xfrm>
                <a:off x="6161500" y="3073263"/>
                <a:ext cx="1338300" cy="14019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8" name="Google Shape;208;p21"/>
              <p:cNvGrpSpPr/>
              <p:nvPr/>
            </p:nvGrpSpPr>
            <p:grpSpPr>
              <a:xfrm>
                <a:off x="6111850" y="3096950"/>
                <a:ext cx="1198275" cy="461635"/>
                <a:chOff x="6111850" y="3096950"/>
                <a:chExt cx="1198275" cy="461635"/>
              </a:xfrm>
            </p:grpSpPr>
            <p:sp>
              <p:nvSpPr>
                <p:cNvPr id="209" name="Google Shape;209;p21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" name="Google Shape;210;p21"/>
                <p:cNvSpPr txBox="1"/>
                <p:nvPr/>
              </p:nvSpPr>
              <p:spPr>
                <a:xfrm>
                  <a:off x="6111850" y="3096950"/>
                  <a:ext cx="52920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211" name="Google Shape;211;p21"/>
              <p:cNvGrpSpPr/>
              <p:nvPr/>
            </p:nvGrpSpPr>
            <p:grpSpPr>
              <a:xfrm>
                <a:off x="6161500" y="3412550"/>
                <a:ext cx="1148625" cy="461635"/>
                <a:chOff x="6161500" y="3412550"/>
                <a:chExt cx="1148625" cy="461635"/>
              </a:xfrm>
            </p:grpSpPr>
            <p:sp>
              <p:nvSpPr>
                <p:cNvPr id="212" name="Google Shape;212;p21"/>
                <p:cNvSpPr txBox="1"/>
                <p:nvPr/>
              </p:nvSpPr>
              <p:spPr>
                <a:xfrm>
                  <a:off x="6161500" y="3412550"/>
                  <a:ext cx="479550" cy="46163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13" name="Google Shape;213;p21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4" name="Google Shape;214;p21"/>
              <p:cNvSpPr txBox="1"/>
              <p:nvPr/>
            </p:nvSpPr>
            <p:spPr>
              <a:xfrm>
                <a:off x="6566050" y="3744900"/>
                <a:ext cx="529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urier New"/>
                    <a:ea typeface="Courier New"/>
                    <a:cs typeface="Courier New"/>
                    <a:sym typeface="Courier New"/>
                  </a:rPr>
                  <a:t>...</a:t>
                </a:r>
                <a:endParaRPr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15" name="Google Shape;215;p21"/>
            <p:cNvSpPr txBox="1"/>
            <p:nvPr/>
          </p:nvSpPr>
          <p:spPr>
            <a:xfrm>
              <a:off x="6161500" y="439285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16" name="Google Shape;2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6688" y="5204800"/>
            <a:ext cx="10668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3282" y="2479888"/>
            <a:ext cx="970344" cy="7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4432" y="2557200"/>
            <a:ext cx="970344" cy="7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8888" y="3777400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55425" y="3784838"/>
            <a:ext cx="509450" cy="460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21"/>
          <p:cNvCxnSpPr/>
          <p:nvPr/>
        </p:nvCxnSpPr>
        <p:spPr>
          <a:xfrm>
            <a:off x="1279075" y="4307625"/>
            <a:ext cx="10345200" cy="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21"/>
          <p:cNvSpPr txBox="1"/>
          <p:nvPr/>
        </p:nvSpPr>
        <p:spPr>
          <a:xfrm>
            <a:off x="9120375" y="5350388"/>
            <a:ext cx="22707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Recurso</a:t>
            </a:r>
            <a:endParaRPr sz="2800" b="1">
              <a:solidFill>
                <a:srgbClr val="FF9900"/>
              </a:solidFill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9535925" y="3083775"/>
            <a:ext cx="15777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Ilusión</a:t>
            </a:r>
            <a:endParaRPr sz="2800" b="1">
              <a:solidFill>
                <a:srgbClr val="FF9900"/>
              </a:solidFill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416500" y="1894075"/>
            <a:ext cx="97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25" name="Google Shape;225;p21"/>
          <p:cNvGrpSpPr/>
          <p:nvPr/>
        </p:nvGrpSpPr>
        <p:grpSpPr>
          <a:xfrm>
            <a:off x="3300190" y="2364163"/>
            <a:ext cx="1139385" cy="972626"/>
            <a:chOff x="6150115" y="3047237"/>
            <a:chExt cx="1139385" cy="1092838"/>
          </a:xfrm>
        </p:grpSpPr>
        <p:sp>
          <p:nvSpPr>
            <p:cNvPr id="226" name="Google Shape;226;p21"/>
            <p:cNvSpPr/>
            <p:nvPr/>
          </p:nvSpPr>
          <p:spPr>
            <a:xfrm>
              <a:off x="6222700" y="3073275"/>
              <a:ext cx="1066800" cy="10668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" name="Google Shape;227;p21"/>
            <p:cNvGrpSpPr/>
            <p:nvPr/>
          </p:nvGrpSpPr>
          <p:grpSpPr>
            <a:xfrm>
              <a:off x="6156094" y="3047237"/>
              <a:ext cx="890031" cy="518691"/>
              <a:chOff x="6156094" y="3047237"/>
              <a:chExt cx="890031" cy="518691"/>
            </a:xfrm>
          </p:grpSpPr>
          <p:sp>
            <p:nvSpPr>
              <p:cNvPr id="228" name="Google Shape;228;p21"/>
              <p:cNvSpPr/>
              <p:nvPr/>
            </p:nvSpPr>
            <p:spPr>
              <a:xfrm>
                <a:off x="6618625" y="3212150"/>
                <a:ext cx="427500" cy="200400"/>
              </a:xfrm>
              <a:prstGeom prst="rect">
                <a:avLst/>
              </a:prstGeom>
              <a:solidFill>
                <a:srgbClr val="93C47D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1"/>
              <p:cNvSpPr txBox="1"/>
              <p:nvPr/>
            </p:nvSpPr>
            <p:spPr>
              <a:xfrm>
                <a:off x="6156094" y="3047237"/>
                <a:ext cx="529200" cy="518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urier New"/>
                    <a:ea typeface="Courier New"/>
                    <a:cs typeface="Courier New"/>
                    <a:sym typeface="Courier New"/>
                  </a:rPr>
                  <a:t>PC</a:t>
                </a:r>
                <a:endParaRPr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30" name="Google Shape;230;p21"/>
            <p:cNvGrpSpPr/>
            <p:nvPr/>
          </p:nvGrpSpPr>
          <p:grpSpPr>
            <a:xfrm>
              <a:off x="6150115" y="3362837"/>
              <a:ext cx="887010" cy="518691"/>
              <a:chOff x="6150115" y="3362837"/>
              <a:chExt cx="887010" cy="518691"/>
            </a:xfrm>
          </p:grpSpPr>
          <p:sp>
            <p:nvSpPr>
              <p:cNvPr id="231" name="Google Shape;231;p21"/>
              <p:cNvSpPr txBox="1"/>
              <p:nvPr/>
            </p:nvSpPr>
            <p:spPr>
              <a:xfrm>
                <a:off x="6150115" y="3362837"/>
                <a:ext cx="564675" cy="518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urier New"/>
                    <a:ea typeface="Courier New"/>
                    <a:cs typeface="Courier New"/>
                    <a:sym typeface="Courier New"/>
                  </a:rPr>
                  <a:t>SP</a:t>
                </a:r>
                <a:endParaRPr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32" name="Google Shape;232;p21"/>
              <p:cNvSpPr/>
              <p:nvPr/>
            </p:nvSpPr>
            <p:spPr>
              <a:xfrm>
                <a:off x="6618625" y="3520825"/>
                <a:ext cx="418500" cy="200400"/>
              </a:xfrm>
              <a:prstGeom prst="rect">
                <a:avLst/>
              </a:prstGeom>
              <a:solidFill>
                <a:srgbClr val="93C47D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3" name="Google Shape;233;p21"/>
            <p:cNvSpPr txBox="1"/>
            <p:nvPr/>
          </p:nvSpPr>
          <p:spPr>
            <a:xfrm>
              <a:off x="6486925" y="3625675"/>
              <a:ext cx="5292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34" name="Google Shape;234;p21"/>
          <p:cNvSpPr txBox="1"/>
          <p:nvPr/>
        </p:nvSpPr>
        <p:spPr>
          <a:xfrm>
            <a:off x="3217300" y="3336800"/>
            <a:ext cx="1368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Registros</a:t>
            </a:r>
            <a:endParaRPr sz="11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416500" y="3760713"/>
            <a:ext cx="970200" cy="477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P0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7034775" y="3776675"/>
            <a:ext cx="970200" cy="477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7294525" y="1925988"/>
            <a:ext cx="97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1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38" name="Google Shape;238;p21"/>
          <p:cNvGrpSpPr/>
          <p:nvPr/>
        </p:nvGrpSpPr>
        <p:grpSpPr>
          <a:xfrm>
            <a:off x="7177943" y="2410824"/>
            <a:ext cx="1139657" cy="957878"/>
            <a:chOff x="6149843" y="3063808"/>
            <a:chExt cx="1139657" cy="1076267"/>
          </a:xfrm>
        </p:grpSpPr>
        <p:sp>
          <p:nvSpPr>
            <p:cNvPr id="239" name="Google Shape;239;p21"/>
            <p:cNvSpPr/>
            <p:nvPr/>
          </p:nvSpPr>
          <p:spPr>
            <a:xfrm>
              <a:off x="6222700" y="3073275"/>
              <a:ext cx="1066800" cy="10668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" name="Google Shape;240;p21"/>
            <p:cNvGrpSpPr/>
            <p:nvPr/>
          </p:nvGrpSpPr>
          <p:grpSpPr>
            <a:xfrm>
              <a:off x="6156094" y="3063808"/>
              <a:ext cx="890031" cy="518691"/>
              <a:chOff x="6156094" y="3063808"/>
              <a:chExt cx="890031" cy="518691"/>
            </a:xfrm>
          </p:grpSpPr>
          <p:sp>
            <p:nvSpPr>
              <p:cNvPr id="241" name="Google Shape;241;p21"/>
              <p:cNvSpPr/>
              <p:nvPr/>
            </p:nvSpPr>
            <p:spPr>
              <a:xfrm>
                <a:off x="6618625" y="3212150"/>
                <a:ext cx="427500" cy="200400"/>
              </a:xfrm>
              <a:prstGeom prst="rect">
                <a:avLst/>
              </a:prstGeom>
              <a:solidFill>
                <a:srgbClr val="A4C2F4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1"/>
              <p:cNvSpPr txBox="1"/>
              <p:nvPr/>
            </p:nvSpPr>
            <p:spPr>
              <a:xfrm>
                <a:off x="6156094" y="3063808"/>
                <a:ext cx="529200" cy="518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urier New"/>
                    <a:ea typeface="Courier New"/>
                    <a:cs typeface="Courier New"/>
                    <a:sym typeface="Courier New"/>
                  </a:rPr>
                  <a:t>PC</a:t>
                </a:r>
                <a:endParaRPr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43" name="Google Shape;243;p21"/>
            <p:cNvGrpSpPr/>
            <p:nvPr/>
          </p:nvGrpSpPr>
          <p:grpSpPr>
            <a:xfrm>
              <a:off x="6149843" y="3362837"/>
              <a:ext cx="887282" cy="518691"/>
              <a:chOff x="6149843" y="3362837"/>
              <a:chExt cx="887282" cy="518691"/>
            </a:xfrm>
          </p:grpSpPr>
          <p:sp>
            <p:nvSpPr>
              <p:cNvPr id="244" name="Google Shape;244;p21"/>
              <p:cNvSpPr txBox="1"/>
              <p:nvPr/>
            </p:nvSpPr>
            <p:spPr>
              <a:xfrm>
                <a:off x="6149843" y="3362837"/>
                <a:ext cx="550200" cy="5186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urier New"/>
                    <a:ea typeface="Courier New"/>
                    <a:cs typeface="Courier New"/>
                    <a:sym typeface="Courier New"/>
                  </a:rPr>
                  <a:t>SP</a:t>
                </a:r>
                <a:endParaRPr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45" name="Google Shape;245;p21"/>
              <p:cNvSpPr/>
              <p:nvPr/>
            </p:nvSpPr>
            <p:spPr>
              <a:xfrm>
                <a:off x="6618625" y="3520825"/>
                <a:ext cx="418500" cy="200400"/>
              </a:xfrm>
              <a:prstGeom prst="rect">
                <a:avLst/>
              </a:prstGeom>
              <a:solidFill>
                <a:srgbClr val="A4C2F4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6" name="Google Shape;246;p21"/>
            <p:cNvSpPr txBox="1"/>
            <p:nvPr/>
          </p:nvSpPr>
          <p:spPr>
            <a:xfrm>
              <a:off x="6486925" y="3625675"/>
              <a:ext cx="5292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247" name="Google Shape;247;p21"/>
          <p:cNvSpPr txBox="1"/>
          <p:nvPr/>
        </p:nvSpPr>
        <p:spPr>
          <a:xfrm>
            <a:off x="7095325" y="3368713"/>
            <a:ext cx="1368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Registros</a:t>
            </a:r>
            <a:endParaRPr sz="1100"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>
            <a:spLocks noGrp="1"/>
          </p:cNvSpPr>
          <p:nvPr>
            <p:ph type="title"/>
          </p:nvPr>
        </p:nvSpPr>
        <p:spPr>
          <a:xfrm>
            <a:off x="425246" y="274137"/>
            <a:ext cx="11088654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Implementación de la Virtualización</a:t>
            </a:r>
            <a:endParaRPr dirty="0"/>
          </a:p>
        </p:txBody>
      </p:sp>
      <p:sp>
        <p:nvSpPr>
          <p:cNvPr id="253" name="Google Shape;253;p22"/>
          <p:cNvSpPr txBox="1">
            <a:spLocks noGrp="1"/>
          </p:cNvSpPr>
          <p:nvPr>
            <p:ph idx="1"/>
          </p:nvPr>
        </p:nvSpPr>
        <p:spPr>
          <a:xfrm>
            <a:off x="425246" y="1331425"/>
            <a:ext cx="10749300" cy="631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b="1" dirty="0">
                <a:solidFill>
                  <a:srgbClr val="FF0000"/>
                </a:solidFill>
              </a:rPr>
              <a:t>¿Cómo se implementa la virtualización?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22"/>
          <p:cNvSpPr txBox="1"/>
          <p:nvPr/>
        </p:nvSpPr>
        <p:spPr>
          <a:xfrm>
            <a:off x="1090825" y="2741600"/>
            <a:ext cx="3000000" cy="11082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Process management</a:t>
            </a:r>
            <a:endParaRPr sz="30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4854600" y="2466825"/>
            <a:ext cx="2482800" cy="554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Abstracción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4910963" y="4148550"/>
            <a:ext cx="2064300" cy="554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Políticas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4882900" y="5734225"/>
            <a:ext cx="2192700" cy="554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Mecanismos</a:t>
            </a:r>
            <a:endParaRPr sz="2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58" name="Google Shape;2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675" y="4312675"/>
            <a:ext cx="2578300" cy="216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/>
          <p:nvPr/>
        </p:nvSpPr>
        <p:spPr>
          <a:xfrm>
            <a:off x="4463150" y="2127850"/>
            <a:ext cx="338100" cy="4442400"/>
          </a:xfrm>
          <a:prstGeom prst="leftBrace">
            <a:avLst>
              <a:gd name="adj1" fmla="val 50000"/>
              <a:gd name="adj2" fmla="val 25604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cxnSp>
        <p:nvCxnSpPr>
          <p:cNvPr id="260" name="Google Shape;260;p22"/>
          <p:cNvCxnSpPr/>
          <p:nvPr/>
        </p:nvCxnSpPr>
        <p:spPr>
          <a:xfrm>
            <a:off x="4801250" y="3423575"/>
            <a:ext cx="7049400" cy="2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2"/>
          <p:cNvCxnSpPr/>
          <p:nvPr/>
        </p:nvCxnSpPr>
        <p:spPr>
          <a:xfrm>
            <a:off x="4801250" y="5318825"/>
            <a:ext cx="6990600" cy="12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2" name="Google Shape;2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9150" y="2220045"/>
            <a:ext cx="1366425" cy="11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5000" y="3820735"/>
            <a:ext cx="1213362" cy="12097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4" name="Google Shape;264;p22"/>
          <p:cNvGraphicFramePr/>
          <p:nvPr/>
        </p:nvGraphicFramePr>
        <p:xfrm>
          <a:off x="8488275" y="4216850"/>
          <a:ext cx="3025625" cy="856225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6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6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P2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7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7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5" name="Google Shape;265;p22"/>
          <p:cNvCxnSpPr/>
          <p:nvPr/>
        </p:nvCxnSpPr>
        <p:spPr>
          <a:xfrm>
            <a:off x="8483525" y="3951600"/>
            <a:ext cx="3324000" cy="1125300"/>
          </a:xfrm>
          <a:prstGeom prst="bentConnector3">
            <a:avLst>
              <a:gd name="adj1" fmla="val 278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66" name="Google Shape;266;p22"/>
          <p:cNvSpPr txBox="1"/>
          <p:nvPr/>
        </p:nvSpPr>
        <p:spPr>
          <a:xfrm>
            <a:off x="8090000" y="3521500"/>
            <a:ext cx="760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sz="22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11350625" y="4676325"/>
            <a:ext cx="456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urier New"/>
                <a:ea typeface="Courier New"/>
                <a:cs typeface="Courier New"/>
                <a:sym typeface="Courier New"/>
              </a:rPr>
              <a:t>t</a:t>
            </a:r>
            <a:endParaRPr sz="2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8899150" y="384034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9" name="Google Shape;269;p22"/>
          <p:cNvSpPr/>
          <p:nvPr/>
        </p:nvSpPr>
        <p:spPr>
          <a:xfrm>
            <a:off x="9481075" y="3830074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70" name="Google Shape;270;p22"/>
          <p:cNvSpPr/>
          <p:nvPr/>
        </p:nvSpPr>
        <p:spPr>
          <a:xfrm>
            <a:off x="10063000" y="3820599"/>
            <a:ext cx="394800" cy="380650"/>
          </a:xfrm>
          <a:custGeom>
            <a:avLst/>
            <a:gdLst/>
            <a:ahLst/>
            <a:cxnLst/>
            <a:rect l="l" t="t" r="r" b="b"/>
            <a:pathLst>
              <a:path w="15792" h="15226" extrusionOk="0">
                <a:moveTo>
                  <a:pt x="0" y="15226"/>
                </a:moveTo>
                <a:cubicBezTo>
                  <a:pt x="488" y="13081"/>
                  <a:pt x="975" y="4698"/>
                  <a:pt x="2925" y="2358"/>
                </a:cubicBezTo>
                <a:cubicBezTo>
                  <a:pt x="4875" y="18"/>
                  <a:pt x="9554" y="-859"/>
                  <a:pt x="11698" y="1188"/>
                </a:cubicBezTo>
                <a:cubicBezTo>
                  <a:pt x="13843" y="3235"/>
                  <a:pt x="15110" y="12399"/>
                  <a:pt x="15792" y="14641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71" name="Google Shape;271;p22"/>
          <p:cNvSpPr txBox="1"/>
          <p:nvPr/>
        </p:nvSpPr>
        <p:spPr>
          <a:xfrm>
            <a:off x="8823500" y="350622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9405050" y="34848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9969075" y="3484875"/>
            <a:ext cx="554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CS</a:t>
            </a:r>
            <a:endParaRPr sz="1600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4" name="Google Shape;27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65312" y="5467975"/>
            <a:ext cx="1271550" cy="12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1592" y="5734223"/>
            <a:ext cx="911258" cy="739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22"/>
          <p:cNvCxnSpPr/>
          <p:nvPr/>
        </p:nvCxnSpPr>
        <p:spPr>
          <a:xfrm>
            <a:off x="8531350" y="6103748"/>
            <a:ext cx="7626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>
            <a:spLocks noGrp="1"/>
          </p:cNvSpPr>
          <p:nvPr>
            <p:ph type="title"/>
          </p:nvPr>
        </p:nvSpPr>
        <p:spPr>
          <a:xfrm>
            <a:off x="381000" y="245875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Abstracción CPU - Proceso</a:t>
            </a:r>
            <a:endParaRPr dirty="0"/>
          </a:p>
        </p:txBody>
      </p:sp>
      <p:pic>
        <p:nvPicPr>
          <p:cNvPr id="283" name="Google Shape;2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1" y="1571438"/>
            <a:ext cx="1374058" cy="10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459" y="1571438"/>
            <a:ext cx="1529300" cy="10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299" y="3665115"/>
            <a:ext cx="3958800" cy="240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13796" y="2587736"/>
            <a:ext cx="4642198" cy="275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60468" y="2808148"/>
            <a:ext cx="1426224" cy="23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 txBox="1">
            <a:spLocks noGrp="1"/>
          </p:cNvSpPr>
          <p:nvPr>
            <p:ph type="title"/>
          </p:nvPr>
        </p:nvSpPr>
        <p:spPr>
          <a:xfrm>
            <a:off x="352076" y="203553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Mecanismos CPU  - Proceso</a:t>
            </a:r>
            <a:endParaRPr dirty="0"/>
          </a:p>
        </p:txBody>
      </p:sp>
      <p:pic>
        <p:nvPicPr>
          <p:cNvPr id="294" name="Google Shape;2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196" y="4200417"/>
            <a:ext cx="1341600" cy="1341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24"/>
          <p:cNvGraphicFramePr/>
          <p:nvPr>
            <p:extLst>
              <p:ext uri="{D42A27DB-BD31-4B8C-83A1-F6EECF244321}">
                <p14:modId xmlns:p14="http://schemas.microsoft.com/office/powerpoint/2010/main" val="233727840"/>
              </p:ext>
            </p:extLst>
          </p:nvPr>
        </p:nvGraphicFramePr>
        <p:xfrm>
          <a:off x="1096663" y="1629875"/>
          <a:ext cx="2674775" cy="1867050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267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3000" b="1" dirty="0">
                          <a:solidFill>
                            <a:srgbClr val="0B6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</a:t>
                      </a:r>
                      <a:r>
                        <a:rPr lang="es-ES" sz="3000" b="1" dirty="0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imited</a:t>
                      </a:r>
                      <a:endParaRPr sz="3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E5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3000" b="1" dirty="0">
                          <a:solidFill>
                            <a:srgbClr val="0B6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</a:t>
                      </a:r>
                      <a:r>
                        <a:rPr lang="es-ES" sz="3000" b="1" dirty="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irect</a:t>
                      </a:r>
                      <a:r>
                        <a:rPr lang="es-ES" sz="3000" b="1" dirty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es-ES" sz="3000" b="1" dirty="0">
                          <a:solidFill>
                            <a:srgbClr val="0B6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</a:t>
                      </a:r>
                      <a:r>
                        <a:rPr lang="es-ES" sz="3000" b="1" dirty="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xecution</a:t>
                      </a:r>
                      <a:endParaRPr sz="30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96" name="Google Shape;29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2375" y="1629875"/>
            <a:ext cx="664550" cy="116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5950" y="1591325"/>
            <a:ext cx="664550" cy="10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/>
          <p:nvPr/>
        </p:nvSpPr>
        <p:spPr>
          <a:xfrm>
            <a:off x="9045975" y="1584100"/>
            <a:ext cx="1473300" cy="1473300"/>
          </a:xfrm>
          <a:prstGeom prst="ellipse">
            <a:avLst/>
          </a:prstGeom>
          <a:solidFill>
            <a:srgbClr val="D9EAD3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Kernel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(mode = 0)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5845475" y="1476150"/>
            <a:ext cx="1473300" cy="14733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latin typeface="Courier New"/>
                <a:ea typeface="Courier New"/>
                <a:cs typeface="Courier New"/>
                <a:sym typeface="Courier New"/>
              </a:rPr>
              <a:t>(mode = 1)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00" name="Google Shape;300;p24"/>
          <p:cNvCxnSpPr>
            <a:stCxn id="299" idx="0"/>
            <a:endCxn id="298" idx="0"/>
          </p:cNvCxnSpPr>
          <p:nvPr/>
        </p:nvCxnSpPr>
        <p:spPr>
          <a:xfrm rot="-5400000" flipH="1">
            <a:off x="8128325" y="-70050"/>
            <a:ext cx="108000" cy="3200400"/>
          </a:xfrm>
          <a:prstGeom prst="curvedConnector3">
            <a:avLst>
              <a:gd name="adj1" fmla="val -220486"/>
            </a:avLst>
          </a:prstGeom>
          <a:noFill/>
          <a:ln w="19050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1" name="Google Shape;301;p24"/>
          <p:cNvCxnSpPr>
            <a:stCxn id="298" idx="4"/>
            <a:endCxn id="299" idx="4"/>
          </p:cNvCxnSpPr>
          <p:nvPr/>
        </p:nvCxnSpPr>
        <p:spPr>
          <a:xfrm rot="5400000" flipH="1">
            <a:off x="8128425" y="1403200"/>
            <a:ext cx="108000" cy="3200400"/>
          </a:xfrm>
          <a:prstGeom prst="curvedConnector3">
            <a:avLst>
              <a:gd name="adj1" fmla="val -220486"/>
            </a:avLst>
          </a:prstGeom>
          <a:noFill/>
          <a:ln w="19050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2" name="Google Shape;302;p24"/>
          <p:cNvSpPr txBox="1"/>
          <p:nvPr/>
        </p:nvSpPr>
        <p:spPr>
          <a:xfrm>
            <a:off x="7667975" y="1136463"/>
            <a:ext cx="952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rPr>
              <a:t>trap</a:t>
            </a:r>
            <a:endParaRPr sz="1600">
              <a:solidFill>
                <a:srgbClr val="70AD4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7318775" y="2664625"/>
            <a:ext cx="165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s-ES" sz="160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-ES" sz="16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trap</a:t>
            </a:r>
            <a:endParaRPr sz="1600" dirty="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04" name="Google Shape;30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6412" y="3800601"/>
            <a:ext cx="6995625" cy="2556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9210" y="4501690"/>
            <a:ext cx="911258" cy="739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24"/>
          <p:cNvCxnSpPr/>
          <p:nvPr/>
        </p:nvCxnSpPr>
        <p:spPr>
          <a:xfrm>
            <a:off x="1820468" y="4871215"/>
            <a:ext cx="762600" cy="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"/>
          <p:cNvSpPr txBox="1">
            <a:spLocks noGrp="1"/>
          </p:cNvSpPr>
          <p:nvPr>
            <p:ph type="title"/>
          </p:nvPr>
        </p:nvSpPr>
        <p:spPr>
          <a:xfrm>
            <a:off x="615600" y="326526"/>
            <a:ext cx="10515600" cy="95111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Políticas CPU - Proceso</a:t>
            </a:r>
            <a:endParaRPr dirty="0"/>
          </a:p>
        </p:txBody>
      </p:sp>
      <p:pic>
        <p:nvPicPr>
          <p:cNvPr id="313" name="Google Shape;3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342" y="4149947"/>
            <a:ext cx="1616025" cy="161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452" y="3288308"/>
            <a:ext cx="731100" cy="64608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/>
          <p:nvPr/>
        </p:nvSpPr>
        <p:spPr>
          <a:xfrm>
            <a:off x="2216350" y="2116852"/>
            <a:ext cx="258300" cy="2832300"/>
          </a:xfrm>
          <a:prstGeom prst="leftBrace">
            <a:avLst>
              <a:gd name="adj1" fmla="val 39904"/>
              <a:gd name="adj2" fmla="val 4985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2474650" y="225848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FCFS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2487975" y="2964463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SJF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2487975" y="367043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STCF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2474650" y="4376413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A4C2F4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RR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20" name="Google Shape;320;p25"/>
          <p:cNvGrpSpPr/>
          <p:nvPr/>
        </p:nvGrpSpPr>
        <p:grpSpPr>
          <a:xfrm>
            <a:off x="7915050" y="2713923"/>
            <a:ext cx="2980850" cy="2344150"/>
            <a:chOff x="8761000" y="1591973"/>
            <a:chExt cx="2980850" cy="2344150"/>
          </a:xfrm>
        </p:grpSpPr>
        <p:grpSp>
          <p:nvGrpSpPr>
            <p:cNvPr id="321" name="Google Shape;321;p25"/>
            <p:cNvGrpSpPr/>
            <p:nvPr/>
          </p:nvGrpSpPr>
          <p:grpSpPr>
            <a:xfrm>
              <a:off x="8761000" y="1612288"/>
              <a:ext cx="749400" cy="2281950"/>
              <a:chOff x="8520500" y="1282075"/>
              <a:chExt cx="749400" cy="2281950"/>
            </a:xfrm>
          </p:grpSpPr>
          <p:sp>
            <p:nvSpPr>
              <p:cNvPr id="322" name="Google Shape;322;p25"/>
              <p:cNvSpPr txBox="1"/>
              <p:nvPr/>
            </p:nvSpPr>
            <p:spPr>
              <a:xfrm>
                <a:off x="8582450" y="1282075"/>
                <a:ext cx="6255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Q3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3" name="Google Shape;323;p25"/>
              <p:cNvSpPr txBox="1"/>
              <p:nvPr/>
            </p:nvSpPr>
            <p:spPr>
              <a:xfrm>
                <a:off x="8520500" y="187577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Q2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4" name="Google Shape;324;p25"/>
              <p:cNvSpPr txBox="1"/>
              <p:nvPr/>
            </p:nvSpPr>
            <p:spPr>
              <a:xfrm>
                <a:off x="8520500" y="2442850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Q1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5" name="Google Shape;325;p25"/>
              <p:cNvSpPr txBox="1"/>
              <p:nvPr/>
            </p:nvSpPr>
            <p:spPr>
              <a:xfrm>
                <a:off x="8520500" y="300992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Q0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26" name="Google Shape;326;p25"/>
            <p:cNvSpPr/>
            <p:nvPr/>
          </p:nvSpPr>
          <p:spPr>
            <a:xfrm>
              <a:off x="9974638" y="1591973"/>
              <a:ext cx="608400" cy="59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10000050" y="2240273"/>
              <a:ext cx="608400" cy="597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10000050" y="3338823"/>
              <a:ext cx="608400" cy="5973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11133450" y="3338823"/>
              <a:ext cx="608400" cy="5973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D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330" name="Google Shape;330;p25"/>
            <p:cNvCxnSpPr/>
            <p:nvPr/>
          </p:nvCxnSpPr>
          <p:spPr>
            <a:xfrm rot="10800000" flipH="1">
              <a:off x="9449638" y="189002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1" name="Google Shape;331;p25"/>
            <p:cNvCxnSpPr/>
            <p:nvPr/>
          </p:nvCxnSpPr>
          <p:spPr>
            <a:xfrm rot="10800000" flipH="1">
              <a:off x="9449638" y="3648148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2" name="Google Shape;332;p25"/>
            <p:cNvCxnSpPr/>
            <p:nvPr/>
          </p:nvCxnSpPr>
          <p:spPr>
            <a:xfrm rot="10800000" flipH="1">
              <a:off x="10608438" y="363687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3" name="Google Shape;333;p25"/>
            <p:cNvCxnSpPr/>
            <p:nvPr/>
          </p:nvCxnSpPr>
          <p:spPr>
            <a:xfrm rot="10800000" flipH="1">
              <a:off x="9475038" y="253832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334" name="Google Shape;334;p25"/>
          <p:cNvSpPr/>
          <p:nvPr/>
        </p:nvSpPr>
        <p:spPr>
          <a:xfrm>
            <a:off x="8872075" y="2001888"/>
            <a:ext cx="1066800" cy="431100"/>
          </a:xfrm>
          <a:prstGeom prst="roundRect">
            <a:avLst>
              <a:gd name="adj" fmla="val 16667"/>
            </a:avLst>
          </a:prstGeom>
          <a:solidFill>
            <a:srgbClr val="B6D7A8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MLFQ</a:t>
            </a:r>
            <a:r>
              <a:rPr lang="es-ES" sz="2600" b="1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35" name="Google Shape;335;p25"/>
          <p:cNvGrpSpPr/>
          <p:nvPr/>
        </p:nvGrpSpPr>
        <p:grpSpPr>
          <a:xfrm>
            <a:off x="3989200" y="2377850"/>
            <a:ext cx="3478100" cy="1266363"/>
            <a:chOff x="4356950" y="5236400"/>
            <a:chExt cx="3478100" cy="1266363"/>
          </a:xfrm>
        </p:grpSpPr>
        <p:grpSp>
          <p:nvGrpSpPr>
            <p:cNvPr id="336" name="Google Shape;336;p25"/>
            <p:cNvGrpSpPr/>
            <p:nvPr/>
          </p:nvGrpSpPr>
          <p:grpSpPr>
            <a:xfrm>
              <a:off x="4356950" y="5236400"/>
              <a:ext cx="3478100" cy="648900"/>
              <a:chOff x="5818900" y="4196550"/>
              <a:chExt cx="3478100" cy="648900"/>
            </a:xfrm>
          </p:grpSpPr>
          <p:sp>
            <p:nvSpPr>
              <p:cNvPr id="337" name="Google Shape;337;p25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338" name="Google Shape;338;p25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339" name="Google Shape;339;p25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340" name="Google Shape;340;p25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341" name="Google Shape;341;p25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342" name="Google Shape;342;p25"/>
            <p:cNvGrpSpPr/>
            <p:nvPr/>
          </p:nvGrpSpPr>
          <p:grpSpPr>
            <a:xfrm>
              <a:off x="4447000" y="6064350"/>
              <a:ext cx="3357275" cy="438413"/>
              <a:chOff x="4447000" y="6064350"/>
              <a:chExt cx="3357275" cy="438413"/>
            </a:xfrm>
          </p:grpSpPr>
          <p:pic>
            <p:nvPicPr>
              <p:cNvPr id="343" name="Google Shape;343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4470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4" name="Google Shape;344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1607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" name="Google Shape;345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874388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6" name="Google Shape;346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617725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7" name="Google Shape;347;p25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736105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cxnSp>
        <p:nvCxnSpPr>
          <p:cNvPr id="348" name="Google Shape;348;p25"/>
          <p:cNvCxnSpPr/>
          <p:nvPr/>
        </p:nvCxnSpPr>
        <p:spPr>
          <a:xfrm>
            <a:off x="3921600" y="3886000"/>
            <a:ext cx="35457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 txBox="1">
            <a:spLocks noGrp="1"/>
          </p:cNvSpPr>
          <p:nvPr>
            <p:ph type="title"/>
          </p:nvPr>
        </p:nvSpPr>
        <p:spPr>
          <a:xfrm>
            <a:off x="495200" y="287388"/>
            <a:ext cx="1099379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>
              <a:latin typeface="+mj-lt"/>
            </a:endParaRPr>
          </a:p>
        </p:txBody>
      </p:sp>
      <p:pic>
        <p:nvPicPr>
          <p:cNvPr id="364" name="Google Shape;3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3457" y="4069700"/>
            <a:ext cx="970343" cy="7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27"/>
          <p:cNvGrpSpPr/>
          <p:nvPr/>
        </p:nvGrpSpPr>
        <p:grpSpPr>
          <a:xfrm>
            <a:off x="7383000" y="1790200"/>
            <a:ext cx="4549500" cy="4393500"/>
            <a:chOff x="5458950" y="1790200"/>
            <a:chExt cx="4549500" cy="4393500"/>
          </a:xfrm>
        </p:grpSpPr>
        <p:sp>
          <p:nvSpPr>
            <p:cNvPr id="366" name="Google Shape;366;p27"/>
            <p:cNvSpPr/>
            <p:nvPr/>
          </p:nvSpPr>
          <p:spPr>
            <a:xfrm>
              <a:off x="5458950" y="1790200"/>
              <a:ext cx="4549500" cy="4393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7" name="Google Shape;367;p27"/>
            <p:cNvGrpSpPr/>
            <p:nvPr/>
          </p:nvGrpSpPr>
          <p:grpSpPr>
            <a:xfrm>
              <a:off x="6041975" y="2608725"/>
              <a:ext cx="1398900" cy="2104675"/>
              <a:chOff x="6131200" y="2642175"/>
              <a:chExt cx="1398900" cy="2104675"/>
            </a:xfrm>
          </p:grpSpPr>
          <p:sp>
            <p:nvSpPr>
              <p:cNvPr id="368" name="Google Shape;368;p27"/>
              <p:cNvSpPr txBox="1"/>
              <p:nvPr/>
            </p:nvSpPr>
            <p:spPr>
              <a:xfrm>
                <a:off x="6295300" y="26421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CPU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369" name="Google Shape;369;p27"/>
              <p:cNvGrpSpPr/>
              <p:nvPr/>
            </p:nvGrpSpPr>
            <p:grpSpPr>
              <a:xfrm>
                <a:off x="6131200" y="3042363"/>
                <a:ext cx="1368600" cy="1401900"/>
                <a:chOff x="6131200" y="3042363"/>
                <a:chExt cx="1368600" cy="1401900"/>
              </a:xfrm>
            </p:grpSpPr>
            <p:sp>
              <p:nvSpPr>
                <p:cNvPr id="370" name="Google Shape;370;p27"/>
                <p:cNvSpPr/>
                <p:nvPr/>
              </p:nvSpPr>
              <p:spPr>
                <a:xfrm>
                  <a:off x="6161500" y="3042363"/>
                  <a:ext cx="1338300" cy="1401900"/>
                </a:xfrm>
                <a:prstGeom prst="rect">
                  <a:avLst/>
                </a:prstGeom>
                <a:solidFill>
                  <a:srgbClr val="FFE599"/>
                </a:solidFill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71" name="Google Shape;371;p27"/>
                <p:cNvGrpSpPr/>
                <p:nvPr/>
              </p:nvGrpSpPr>
              <p:grpSpPr>
                <a:xfrm>
                  <a:off x="6131200" y="3096950"/>
                  <a:ext cx="1178925" cy="461635"/>
                  <a:chOff x="6131200" y="3096950"/>
                  <a:chExt cx="1178925" cy="461635"/>
                </a:xfrm>
              </p:grpSpPr>
              <p:sp>
                <p:nvSpPr>
                  <p:cNvPr id="372" name="Google Shape;372;p27"/>
                  <p:cNvSpPr/>
                  <p:nvPr/>
                </p:nvSpPr>
                <p:spPr>
                  <a:xfrm>
                    <a:off x="6618625" y="3212150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3" name="Google Shape;373;p27"/>
                  <p:cNvSpPr txBox="1"/>
                  <p:nvPr/>
                </p:nvSpPr>
                <p:spPr>
                  <a:xfrm>
                    <a:off x="6131200" y="3096950"/>
                    <a:ext cx="5098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PC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</p:grpSp>
            <p:grpSp>
              <p:nvGrpSpPr>
                <p:cNvPr id="374" name="Google Shape;374;p27"/>
                <p:cNvGrpSpPr/>
                <p:nvPr/>
              </p:nvGrpSpPr>
              <p:grpSpPr>
                <a:xfrm>
                  <a:off x="6131200" y="3412550"/>
                  <a:ext cx="1178925" cy="461635"/>
                  <a:chOff x="6131200" y="3412550"/>
                  <a:chExt cx="1178925" cy="461635"/>
                </a:xfrm>
              </p:grpSpPr>
              <p:sp>
                <p:nvSpPr>
                  <p:cNvPr id="375" name="Google Shape;375;p27"/>
                  <p:cNvSpPr txBox="1"/>
                  <p:nvPr/>
                </p:nvSpPr>
                <p:spPr>
                  <a:xfrm>
                    <a:off x="6131200" y="3412550"/>
                    <a:ext cx="509850" cy="4616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SP</a:t>
                    </a:r>
                    <a:endParaRPr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376" name="Google Shape;376;p27"/>
                  <p:cNvSpPr/>
                  <p:nvPr/>
                </p:nvSpPr>
                <p:spPr>
                  <a:xfrm>
                    <a:off x="6618625" y="3520825"/>
                    <a:ext cx="691500" cy="200400"/>
                  </a:xfrm>
                  <a:prstGeom prst="rect">
                    <a:avLst/>
                  </a:prstGeom>
                  <a:solidFill>
                    <a:srgbClr val="EA9999"/>
                  </a:solidFill>
                  <a:ln w="19050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77" name="Google Shape;377;p27"/>
                <p:cNvSpPr txBox="1"/>
                <p:nvPr/>
              </p:nvSpPr>
              <p:spPr>
                <a:xfrm>
                  <a:off x="6566050" y="3744900"/>
                  <a:ext cx="5292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...</a:t>
                  </a:r>
                  <a:endParaRPr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378" name="Google Shape;378;p27"/>
              <p:cNvSpPr txBox="1"/>
              <p:nvPr/>
            </p:nvSpPr>
            <p:spPr>
              <a:xfrm>
                <a:off x="6161500" y="4392850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Registros</a:t>
                </a:r>
                <a:endParaRPr sz="11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79" name="Google Shape;379;p27"/>
            <p:cNvSpPr/>
            <p:nvPr/>
          </p:nvSpPr>
          <p:spPr>
            <a:xfrm>
              <a:off x="7948250" y="281312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0" name="Google Shape;380;p27"/>
            <p:cNvGrpSpPr/>
            <p:nvPr/>
          </p:nvGrpSpPr>
          <p:grpSpPr>
            <a:xfrm>
              <a:off x="7805450" y="2389700"/>
              <a:ext cx="1368600" cy="2508975"/>
              <a:chOff x="7805450" y="2389700"/>
              <a:chExt cx="1368600" cy="2508975"/>
            </a:xfrm>
          </p:grpSpPr>
          <p:grpSp>
            <p:nvGrpSpPr>
              <p:cNvPr id="381" name="Google Shape;381;p27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382" name="Google Shape;382;p27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83" name="Google Shape;383;p27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384" name="Google Shape;384;p2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385" name="Google Shape;385;p2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386" name="Google Shape;386;p27"/>
                <p:cNvCxnSpPr>
                  <a:stCxn id="3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87" name="Google Shape;387;p27"/>
                <p:cNvCxnSpPr>
                  <a:stCxn id="3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88" name="Google Shape;388;p27"/>
              <p:cNvSpPr txBox="1"/>
              <p:nvPr/>
            </p:nvSpPr>
            <p:spPr>
              <a:xfrm>
                <a:off x="8141050" y="2389700"/>
                <a:ext cx="6441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MM</a:t>
                </a:r>
                <a:endParaRPr sz="16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89" name="Google Shape;389;p27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Address Space</a:t>
                </a:r>
                <a:endParaRPr sz="11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90" name="Google Shape;390;p27"/>
            <p:cNvSpPr/>
            <p:nvPr/>
          </p:nvSpPr>
          <p:spPr>
            <a:xfrm>
              <a:off x="6930600" y="5055800"/>
              <a:ext cx="14469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urier New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391" name="Google Shape;391;p27"/>
          <p:cNvCxnSpPr/>
          <p:nvPr/>
        </p:nvCxnSpPr>
        <p:spPr>
          <a:xfrm>
            <a:off x="5918825" y="3486800"/>
            <a:ext cx="1401900" cy="4500"/>
          </a:xfrm>
          <a:prstGeom prst="straightConnector1">
            <a:avLst/>
          </a:prstGeom>
          <a:noFill/>
          <a:ln w="38100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92" name="Google Shape;39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30975" y="2704300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7"/>
          <p:cNvSpPr txBox="1"/>
          <p:nvPr/>
        </p:nvSpPr>
        <p:spPr>
          <a:xfrm>
            <a:off x="1008132" y="1863409"/>
            <a:ext cx="6037500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latin typeface="Courier New"/>
                <a:ea typeface="Courier New"/>
                <a:cs typeface="Courier New"/>
                <a:sym typeface="Courier New"/>
              </a:rPr>
              <a:t>Proceso = CPU + </a:t>
            </a:r>
            <a:r>
              <a:rPr lang="es-ES" sz="2100" b="1" dirty="0" err="1">
                <a:latin typeface="Courier New"/>
                <a:ea typeface="Courier New"/>
                <a:cs typeface="Courier New"/>
                <a:sym typeface="Courier New"/>
              </a:rPr>
              <a:t>Memory</a:t>
            </a:r>
            <a:r>
              <a:rPr lang="es-ES" sz="2100" b="1" dirty="0">
                <a:latin typeface="Courier New"/>
                <a:ea typeface="Courier New"/>
                <a:cs typeface="Courier New"/>
                <a:sym typeface="Courier New"/>
              </a:rPr>
              <a:t> + I/O </a:t>
            </a:r>
            <a:r>
              <a:rPr lang="es-ES" sz="2100" b="1" dirty="0" err="1"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endParaRPr sz="21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94" name="Google Shape;39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1088" y="4620713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84350" y="3985213"/>
            <a:ext cx="509450" cy="4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78225" y="3995140"/>
            <a:ext cx="1134175" cy="1138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63559" y="3036049"/>
            <a:ext cx="1410191" cy="9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13862" y="5002989"/>
            <a:ext cx="1549725" cy="92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3532" y="5985650"/>
            <a:ext cx="970343" cy="787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27"/>
          <p:cNvCxnSpPr/>
          <p:nvPr/>
        </p:nvCxnSpPr>
        <p:spPr>
          <a:xfrm rot="10800000" flipH="1">
            <a:off x="3086875" y="3486800"/>
            <a:ext cx="1131600" cy="5829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01" name="Google Shape;401;p27"/>
          <p:cNvCxnSpPr/>
          <p:nvPr/>
        </p:nvCxnSpPr>
        <p:spPr>
          <a:xfrm>
            <a:off x="3075225" y="4862800"/>
            <a:ext cx="1002900" cy="641400"/>
          </a:xfrm>
          <a:prstGeom prst="straightConnector1">
            <a:avLst/>
          </a:prstGeom>
          <a:noFill/>
          <a:ln w="38100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02" name="Google Shape;402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635300" y="2285900"/>
            <a:ext cx="418399" cy="41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>
            <a:spLocks noGrp="1"/>
          </p:cNvSpPr>
          <p:nvPr>
            <p:ph type="title"/>
          </p:nvPr>
        </p:nvSpPr>
        <p:spPr>
          <a:xfrm>
            <a:off x="560439" y="96038"/>
            <a:ext cx="1101704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pic>
        <p:nvPicPr>
          <p:cNvPr id="409" name="Google Shape;4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794" y="1143488"/>
            <a:ext cx="1095375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8"/>
          <p:cNvSpPr txBox="1"/>
          <p:nvPr/>
        </p:nvSpPr>
        <p:spPr>
          <a:xfrm>
            <a:off x="4004803" y="1143488"/>
            <a:ext cx="7572681" cy="4755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unistd.h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032F6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032F6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stdlib.h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 dirty="0">
              <a:solidFill>
                <a:srgbClr val="032F6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common.h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sz="1400" dirty="0">
              <a:solidFill>
                <a:srgbClr val="032F6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>
                <a:solidFill>
                  <a:srgbClr val="6F42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ES" sz="14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 {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ES" sz="14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!= 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-ES" sz="1400" dirty="0" err="1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fprintf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stderr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usage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&gt;\n"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-ES" sz="1400" dirty="0" err="1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*p;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p = 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ES" sz="1400" dirty="0" err="1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(p != 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"(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%p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\n"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-ES" sz="1400" dirty="0" err="1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getpid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p);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*p = </a:t>
            </a:r>
            <a:r>
              <a:rPr lang="es-ES" sz="1400" dirty="0" err="1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atoi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 </a:t>
            </a:r>
            <a:r>
              <a:rPr lang="es-ES" sz="1400" dirty="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es-ES" sz="1400" dirty="0" err="1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assign</a:t>
            </a:r>
            <a:r>
              <a:rPr lang="es-ES" sz="1400" dirty="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s-ES" sz="1400" dirty="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400" dirty="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r>
              <a:rPr lang="es-ES" sz="1400" dirty="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stored</a:t>
            </a:r>
            <a:r>
              <a:rPr lang="es-ES" sz="1400" dirty="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in p</a:t>
            </a:r>
            <a:endParaRPr sz="1400" dirty="0">
              <a:solidFill>
                <a:srgbClr val="6A737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ES" sz="14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Spin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*p = *p + 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"(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lang="es-ES" sz="14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\n"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ES" sz="1400" dirty="0" err="1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getpid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*p);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s-ES" sz="14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2102169" y="1499400"/>
            <a:ext cx="10302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 err="1"/>
              <a:t>mem.c</a:t>
            </a:r>
            <a:endParaRPr sz="1600" b="1" dirty="0"/>
          </a:p>
        </p:txBody>
      </p:sp>
      <p:grpSp>
        <p:nvGrpSpPr>
          <p:cNvPr id="412" name="Google Shape;412;p28"/>
          <p:cNvGrpSpPr/>
          <p:nvPr/>
        </p:nvGrpSpPr>
        <p:grpSpPr>
          <a:xfrm>
            <a:off x="787569" y="2902333"/>
            <a:ext cx="2880825" cy="2649925"/>
            <a:chOff x="7374175" y="3072300"/>
            <a:chExt cx="2880825" cy="2649925"/>
          </a:xfrm>
        </p:grpSpPr>
        <p:pic>
          <p:nvPicPr>
            <p:cNvPr id="413" name="Google Shape;41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74175" y="3072300"/>
              <a:ext cx="2880825" cy="26499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4" name="Google Shape;414;p28"/>
            <p:cNvGrpSpPr/>
            <p:nvPr/>
          </p:nvGrpSpPr>
          <p:grpSpPr>
            <a:xfrm>
              <a:off x="8037325" y="4237125"/>
              <a:ext cx="1553700" cy="949500"/>
              <a:chOff x="8037325" y="4237125"/>
              <a:chExt cx="1553700" cy="949500"/>
            </a:xfrm>
          </p:grpSpPr>
          <p:sp>
            <p:nvSpPr>
              <p:cNvPr id="415" name="Google Shape;415;p28"/>
              <p:cNvSpPr/>
              <p:nvPr/>
            </p:nvSpPr>
            <p:spPr>
              <a:xfrm>
                <a:off x="8037325" y="4237125"/>
                <a:ext cx="1553700" cy="949500"/>
              </a:xfrm>
              <a:prstGeom prst="foldedCorner">
                <a:avLst>
                  <a:gd name="adj" fmla="val 16667"/>
                </a:avLst>
              </a:prstGeom>
              <a:solidFill>
                <a:srgbClr val="F3F3F3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8"/>
              <p:cNvSpPr/>
              <p:nvPr/>
            </p:nvSpPr>
            <p:spPr>
              <a:xfrm>
                <a:off x="8211450" y="4335075"/>
                <a:ext cx="1161600" cy="308100"/>
              </a:xfrm>
              <a:prstGeom prst="rect">
                <a:avLst/>
              </a:prstGeom>
              <a:solidFill>
                <a:srgbClr val="FCE5CD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dirty="0"/>
                  <a:t>Code</a:t>
                </a:r>
                <a:endParaRPr dirty="0"/>
              </a:p>
            </p:txBody>
          </p:sp>
          <p:sp>
            <p:nvSpPr>
              <p:cNvPr id="417" name="Google Shape;417;p28"/>
              <p:cNvSpPr/>
              <p:nvPr/>
            </p:nvSpPr>
            <p:spPr>
              <a:xfrm>
                <a:off x="8213450" y="4711300"/>
                <a:ext cx="1161600" cy="3081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rgbClr val="44546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/>
                  <a:t>Data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"/>
          <p:cNvSpPr txBox="1">
            <a:spLocks noGrp="1"/>
          </p:cNvSpPr>
          <p:nvPr>
            <p:ph type="title"/>
          </p:nvPr>
        </p:nvSpPr>
        <p:spPr>
          <a:xfrm>
            <a:off x="221226" y="96038"/>
            <a:ext cx="1081056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sp>
        <p:nvSpPr>
          <p:cNvPr id="423" name="Google Shape;423;p29"/>
          <p:cNvSpPr txBox="1">
            <a:spLocks noGrp="1"/>
          </p:cNvSpPr>
          <p:nvPr>
            <p:ph type="body" idx="1"/>
          </p:nvPr>
        </p:nvSpPr>
        <p:spPr>
          <a:xfrm>
            <a:off x="296430" y="1085026"/>
            <a:ext cx="5494200" cy="55976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latin typeface="+mn-lt"/>
              </a:rPr>
              <a:t>Pregunta</a:t>
            </a:r>
            <a:r>
              <a:rPr lang="es-ES" sz="2200" dirty="0">
                <a:latin typeface="+mn-lt"/>
              </a:rPr>
              <a:t>: ¿Cómo funciona el programa?</a:t>
            </a:r>
            <a:endParaRPr sz="28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24" name="Google Shape;424;p29"/>
          <p:cNvSpPr txBox="1"/>
          <p:nvPr/>
        </p:nvSpPr>
        <p:spPr>
          <a:xfrm>
            <a:off x="1284025" y="2292350"/>
            <a:ext cx="4560300" cy="187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./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address 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4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4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1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2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3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4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5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ˆC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8345763" y="2094038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9529950" y="2244050"/>
            <a:ext cx="181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pid(P1)= 2134</a:t>
            </a:r>
            <a:endParaRPr sz="1600" dirty="0">
              <a:highlight>
                <a:srgbClr val="C9DAF8"/>
              </a:highlight>
            </a:endParaRPr>
          </a:p>
        </p:txBody>
      </p:sp>
      <p:graphicFrame>
        <p:nvGraphicFramePr>
          <p:cNvPr id="427" name="Google Shape;427;p29"/>
          <p:cNvGraphicFramePr/>
          <p:nvPr>
            <p:extLst>
              <p:ext uri="{D42A27DB-BD31-4B8C-83A1-F6EECF244321}">
                <p14:modId xmlns:p14="http://schemas.microsoft.com/office/powerpoint/2010/main" val="1358237383"/>
              </p:ext>
            </p:extLst>
          </p:nvPr>
        </p:nvGraphicFramePr>
        <p:xfrm>
          <a:off x="8182475" y="3133263"/>
          <a:ext cx="3441750" cy="2377260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120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Dirección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Valor</a:t>
                      </a:r>
                      <a:endParaRPr sz="14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Variable</a:t>
                      </a:r>
                      <a:endParaRPr sz="14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0x200000</a:t>
                      </a:r>
                      <a:endParaRPr sz="1400">
                        <a:highlight>
                          <a:srgbClr val="FFFF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*p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&amp;p</a:t>
                      </a:r>
                      <a:endParaRPr sz="1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28" name="Google Shape;4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6398" y="3782750"/>
            <a:ext cx="1390625" cy="1989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9" name="Google Shape;429;p29"/>
          <p:cNvCxnSpPr/>
          <p:nvPr/>
        </p:nvCxnSpPr>
        <p:spPr>
          <a:xfrm rot="10800000">
            <a:off x="9688300" y="4164050"/>
            <a:ext cx="0" cy="75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"/>
          <p:cNvSpPr txBox="1">
            <a:spLocks noGrp="1"/>
          </p:cNvSpPr>
          <p:nvPr>
            <p:ph type="title"/>
          </p:nvPr>
        </p:nvSpPr>
        <p:spPr>
          <a:xfrm>
            <a:off x="221226" y="96038"/>
            <a:ext cx="1081056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sp>
        <p:nvSpPr>
          <p:cNvPr id="423" name="Google Shape;423;p29"/>
          <p:cNvSpPr txBox="1">
            <a:spLocks noGrp="1"/>
          </p:cNvSpPr>
          <p:nvPr>
            <p:ph type="body" idx="1"/>
          </p:nvPr>
        </p:nvSpPr>
        <p:spPr>
          <a:xfrm>
            <a:off x="296430" y="1085026"/>
            <a:ext cx="5494200" cy="55976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latin typeface="+mn-lt"/>
              </a:rPr>
              <a:t>Pregunta</a:t>
            </a:r>
            <a:r>
              <a:rPr lang="es-ES" sz="2200" dirty="0">
                <a:latin typeface="+mn-lt"/>
              </a:rPr>
              <a:t>: ¿Cómo funciona el programa?</a:t>
            </a:r>
            <a:endParaRPr sz="28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24" name="Google Shape;424;p29"/>
          <p:cNvSpPr txBox="1"/>
          <p:nvPr/>
        </p:nvSpPr>
        <p:spPr>
          <a:xfrm>
            <a:off x="486697" y="1889288"/>
            <a:ext cx="5139813" cy="187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./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address 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4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4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1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2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3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4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(2134) p: 5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ˆC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972736" y="4770719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598849" y="5921230"/>
            <a:ext cx="181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pid(P1)= 2134</a:t>
            </a:r>
            <a:endParaRPr sz="1600" dirty="0">
              <a:highlight>
                <a:srgbClr val="C9DAF8"/>
              </a:highlight>
            </a:endParaRPr>
          </a:p>
        </p:txBody>
      </p:sp>
      <p:graphicFrame>
        <p:nvGraphicFramePr>
          <p:cNvPr id="427" name="Google Shape;427;p29"/>
          <p:cNvGraphicFramePr/>
          <p:nvPr>
            <p:extLst>
              <p:ext uri="{D42A27DB-BD31-4B8C-83A1-F6EECF244321}">
                <p14:modId xmlns:p14="http://schemas.microsoft.com/office/powerpoint/2010/main" val="2292246975"/>
              </p:ext>
            </p:extLst>
          </p:nvPr>
        </p:nvGraphicFramePr>
        <p:xfrm>
          <a:off x="2184760" y="4180399"/>
          <a:ext cx="3441750" cy="2377260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120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Dirección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Valor</a:t>
                      </a:r>
                      <a:endParaRPr sz="14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Variable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0x200000</a:t>
                      </a:r>
                      <a:endParaRPr sz="1400">
                        <a:highlight>
                          <a:srgbClr val="FFFF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*p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&amp;p</a:t>
                      </a:r>
                      <a:endParaRPr sz="1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sz="14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4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429" name="Google Shape;429;p29"/>
          <p:cNvCxnSpPr/>
          <p:nvPr/>
        </p:nvCxnSpPr>
        <p:spPr>
          <a:xfrm rot="10800000">
            <a:off x="3690585" y="5211186"/>
            <a:ext cx="0" cy="75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137549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58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sp>
        <p:nvSpPr>
          <p:cNvPr id="435" name="Google Shape;435;p30"/>
          <p:cNvSpPr txBox="1">
            <a:spLocks noGrp="1"/>
          </p:cNvSpPr>
          <p:nvPr>
            <p:ph type="body" idx="1"/>
          </p:nvPr>
        </p:nvSpPr>
        <p:spPr>
          <a:xfrm>
            <a:off x="917710" y="1077314"/>
            <a:ext cx="10602900" cy="55169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latin typeface="+mn-lt"/>
              </a:rPr>
              <a:t>Pregunta</a:t>
            </a:r>
            <a:r>
              <a:rPr lang="es-ES" sz="2200" dirty="0">
                <a:latin typeface="+mn-lt"/>
              </a:rPr>
              <a:t>: ¿Que pasa si dos usuarios corren simultáneamente el programa?</a:t>
            </a:r>
            <a:endParaRPr sz="2800" dirty="0">
              <a:latin typeface="+mn-lt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1104125" y="2048525"/>
            <a:ext cx="4711926" cy="3262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400" dirty="0" err="1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&amp;; 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4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[1] </a:t>
            </a: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24113</a:t>
            </a:r>
            <a:endParaRPr sz="14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[2] 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24114</a:t>
            </a:r>
            <a:endParaRPr sz="14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address </a:t>
            </a:r>
            <a:r>
              <a:rPr lang="es-ES" sz="14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4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4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address </a:t>
            </a:r>
            <a:r>
              <a:rPr lang="es-ES" sz="14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4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4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1</a:t>
            </a:r>
            <a:endParaRPr sz="14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1</a:t>
            </a:r>
            <a:endParaRPr sz="14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2</a:t>
            </a:r>
            <a:endParaRPr sz="14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2</a:t>
            </a:r>
            <a:endParaRPr sz="14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3</a:t>
            </a:r>
            <a:endParaRPr sz="1400" dirty="0">
              <a:solidFill>
                <a:srgbClr val="24292E"/>
              </a:solidFill>
              <a:highlight>
                <a:srgbClr val="CFE2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3</a:t>
            </a:r>
            <a:endParaRPr sz="14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4</a:t>
            </a:r>
            <a:endParaRPr sz="14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4</a:t>
            </a:r>
            <a:endParaRPr sz="14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6619163" y="24983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30"/>
          <p:cNvSpPr txBox="1"/>
          <p:nvPr/>
        </p:nvSpPr>
        <p:spPr>
          <a:xfrm>
            <a:off x="6062438" y="3342913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pid(P1)= 21113</a:t>
            </a:r>
            <a:endParaRPr sz="1400" dirty="0">
              <a:highlight>
                <a:srgbClr val="C9DAF8"/>
              </a:highlight>
            </a:endParaRPr>
          </a:p>
        </p:txBody>
      </p:sp>
      <p:sp>
        <p:nvSpPr>
          <p:cNvPr id="439" name="Google Shape;439;p30"/>
          <p:cNvSpPr/>
          <p:nvPr/>
        </p:nvSpPr>
        <p:spPr>
          <a:xfrm>
            <a:off x="6549200" y="482892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0" name="Google Shape;440;p30"/>
          <p:cNvSpPr txBox="1"/>
          <p:nvPr/>
        </p:nvSpPr>
        <p:spPr>
          <a:xfrm>
            <a:off x="6062438" y="5683963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pid(P2)= 21114</a:t>
            </a:r>
            <a:endParaRPr sz="1400" dirty="0">
              <a:highlight>
                <a:srgbClr val="F4CCCC"/>
              </a:highlight>
            </a:endParaRPr>
          </a:p>
        </p:txBody>
      </p:sp>
      <p:graphicFrame>
        <p:nvGraphicFramePr>
          <p:cNvPr id="441" name="Google Shape;441;p30"/>
          <p:cNvGraphicFramePr/>
          <p:nvPr>
            <p:extLst>
              <p:ext uri="{D42A27DB-BD31-4B8C-83A1-F6EECF244321}">
                <p14:modId xmlns:p14="http://schemas.microsoft.com/office/powerpoint/2010/main" val="2555326631"/>
              </p:ext>
            </p:extLst>
          </p:nvPr>
        </p:nvGraphicFramePr>
        <p:xfrm>
          <a:off x="8153375" y="1849535"/>
          <a:ext cx="3441750" cy="2110560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120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Dirección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Valor</a:t>
                      </a:r>
                      <a:endParaRPr sz="14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Variable</a:t>
                      </a:r>
                      <a:endParaRPr sz="14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0x200000</a:t>
                      </a:r>
                      <a:endParaRPr sz="1050">
                        <a:highlight>
                          <a:srgbClr val="FFFF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*p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&amp;p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42" name="Google Shape;442;p30"/>
          <p:cNvGraphicFramePr/>
          <p:nvPr>
            <p:extLst>
              <p:ext uri="{D42A27DB-BD31-4B8C-83A1-F6EECF244321}">
                <p14:modId xmlns:p14="http://schemas.microsoft.com/office/powerpoint/2010/main" val="1246036776"/>
              </p:ext>
            </p:extLst>
          </p:nvPr>
        </p:nvGraphicFramePr>
        <p:xfrm>
          <a:off x="8153375" y="4377788"/>
          <a:ext cx="3441750" cy="2110560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120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Dirección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Valor</a:t>
                      </a:r>
                      <a:endParaRPr sz="14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Variable</a:t>
                      </a:r>
                      <a:endParaRPr sz="14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0x200000</a:t>
                      </a:r>
                      <a:endParaRPr sz="1050">
                        <a:highlight>
                          <a:srgbClr val="FFFF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*p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&amp;p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43" name="Google Shape;4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6415" y="5139723"/>
            <a:ext cx="589485" cy="125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6415" y="2611473"/>
            <a:ext cx="589485" cy="125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0"/>
          <p:cNvSpPr txBox="1"/>
          <p:nvPr/>
        </p:nvSpPr>
        <p:spPr>
          <a:xfrm>
            <a:off x="1104125" y="5515663"/>
            <a:ext cx="457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¿Por que son iguales las direcciones si los procesos son diferentes?</a:t>
            </a:r>
            <a:endParaRPr sz="1200" dirty="0">
              <a:solidFill>
                <a:srgbClr val="FF0000"/>
              </a:solidFill>
            </a:endParaRPr>
          </a:p>
        </p:txBody>
      </p:sp>
      <p:cxnSp>
        <p:nvCxnSpPr>
          <p:cNvPr id="446" name="Google Shape;446;p30"/>
          <p:cNvCxnSpPr/>
          <p:nvPr/>
        </p:nvCxnSpPr>
        <p:spPr>
          <a:xfrm rot="10800000">
            <a:off x="9618325" y="2811100"/>
            <a:ext cx="0" cy="75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7" name="Google Shape;447;p30"/>
          <p:cNvCxnSpPr/>
          <p:nvPr/>
        </p:nvCxnSpPr>
        <p:spPr>
          <a:xfrm rot="10800000">
            <a:off x="9618325" y="5310725"/>
            <a:ext cx="0" cy="75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58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sp>
        <p:nvSpPr>
          <p:cNvPr id="435" name="Google Shape;435;p30"/>
          <p:cNvSpPr txBox="1">
            <a:spLocks noGrp="1"/>
          </p:cNvSpPr>
          <p:nvPr>
            <p:ph type="body" idx="1"/>
          </p:nvPr>
        </p:nvSpPr>
        <p:spPr>
          <a:xfrm>
            <a:off x="55750" y="851906"/>
            <a:ext cx="10602900" cy="6331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/>
              <a:t>Pregunta</a:t>
            </a:r>
            <a:r>
              <a:rPr lang="es-ES" sz="2200" dirty="0"/>
              <a:t>: ¿Que pasa si dos usuarios corren simultáneamente el programa?</a:t>
            </a:r>
            <a:endParaRPr sz="2800" dirty="0"/>
          </a:p>
        </p:txBody>
      </p:sp>
      <p:sp>
        <p:nvSpPr>
          <p:cNvPr id="436" name="Google Shape;436;p30"/>
          <p:cNvSpPr txBox="1"/>
          <p:nvPr/>
        </p:nvSpPr>
        <p:spPr>
          <a:xfrm>
            <a:off x="360751" y="1405447"/>
            <a:ext cx="4711926" cy="24043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400" dirty="0" err="1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&amp;; 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4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[1] </a:t>
            </a: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24113</a:t>
            </a:r>
            <a:endParaRPr sz="14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[2] 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24114</a:t>
            </a:r>
            <a:endParaRPr sz="14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address </a:t>
            </a:r>
            <a:r>
              <a:rPr lang="es-ES" sz="14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4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4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4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address </a:t>
            </a:r>
            <a:r>
              <a:rPr lang="es-ES" sz="14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4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4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4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1</a:t>
            </a:r>
            <a:endParaRPr sz="14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1</a:t>
            </a:r>
            <a:endParaRPr sz="14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2</a:t>
            </a:r>
            <a:endParaRPr sz="14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2</a:t>
            </a:r>
            <a:endParaRPr sz="14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42" name="Google Shape;442;p30"/>
          <p:cNvGraphicFramePr/>
          <p:nvPr>
            <p:extLst>
              <p:ext uri="{D42A27DB-BD31-4B8C-83A1-F6EECF244321}">
                <p14:modId xmlns:p14="http://schemas.microsoft.com/office/powerpoint/2010/main" val="163837444"/>
              </p:ext>
            </p:extLst>
          </p:nvPr>
        </p:nvGraphicFramePr>
        <p:xfrm>
          <a:off x="3636325" y="4576794"/>
          <a:ext cx="3441750" cy="2110560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120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Dirección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Valor</a:t>
                      </a:r>
                      <a:endParaRPr sz="14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Variable</a:t>
                      </a:r>
                      <a:endParaRPr sz="14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0x200000</a:t>
                      </a:r>
                      <a:endParaRPr sz="1050">
                        <a:highlight>
                          <a:srgbClr val="FFFF00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*p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&amp;p</a:t>
                      </a:r>
                      <a:endParaRPr sz="105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</a:t>
                      </a: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...</a:t>
                      </a:r>
                      <a:endParaRPr sz="1050" dirty="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5" name="Google Shape;445;p30"/>
          <p:cNvSpPr txBox="1"/>
          <p:nvPr/>
        </p:nvSpPr>
        <p:spPr>
          <a:xfrm>
            <a:off x="5486399" y="1458078"/>
            <a:ext cx="6344850" cy="86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¿Por que son iguales las direcciones si los procesos son diferentes?</a:t>
            </a:r>
            <a:endParaRPr sz="1200" dirty="0">
              <a:solidFill>
                <a:srgbClr val="FF0000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DCC72E1-9492-463E-B1FA-8208C66CB42D}"/>
              </a:ext>
            </a:extLst>
          </p:cNvPr>
          <p:cNvGrpSpPr/>
          <p:nvPr/>
        </p:nvGrpSpPr>
        <p:grpSpPr>
          <a:xfrm>
            <a:off x="153319" y="4559918"/>
            <a:ext cx="3441750" cy="2110560"/>
            <a:chOff x="855866" y="4414959"/>
            <a:chExt cx="3441750" cy="2110560"/>
          </a:xfrm>
        </p:grpSpPr>
        <p:graphicFrame>
          <p:nvGraphicFramePr>
            <p:cNvPr id="441" name="Google Shape;441;p30"/>
            <p:cNvGraphicFramePr/>
            <p:nvPr>
              <p:extLst>
                <p:ext uri="{D42A27DB-BD31-4B8C-83A1-F6EECF244321}">
                  <p14:modId xmlns:p14="http://schemas.microsoft.com/office/powerpoint/2010/main" val="4003377613"/>
                </p:ext>
              </p:extLst>
            </p:nvPr>
          </p:nvGraphicFramePr>
          <p:xfrm>
            <a:off x="855866" y="4414959"/>
            <a:ext cx="3441750" cy="2110560"/>
          </p:xfrm>
          <a:graphic>
            <a:graphicData uri="http://schemas.openxmlformats.org/drawingml/2006/table">
              <a:tbl>
                <a:tblPr>
                  <a:noFill/>
                  <a:tableStyleId>{A3A52A41-BABC-4418-8BB8-58FADEB799A8}</a:tableStyleId>
                </a:tblPr>
                <a:tblGrid>
                  <a:gridCol w="12074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23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1519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b="1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Dirección</a:t>
                        </a:r>
                        <a:endParaRPr sz="14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b="1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Valor</a:t>
                        </a:r>
                        <a:endParaRPr sz="1400" b="1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400" b="1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Variable</a:t>
                        </a:r>
                        <a:endParaRPr sz="1400" b="1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5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...</a:t>
                        </a: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50">
                            <a:solidFill>
                              <a:schemeClr val="dk1"/>
                            </a:solidFill>
                            <a:highlight>
                              <a:srgbClr val="FFFF00"/>
                            </a:highlight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0x200000</a:t>
                        </a:r>
                        <a:endParaRPr sz="1050">
                          <a:highlight>
                            <a:srgbClr val="FFFF00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5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0</a:t>
                        </a: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5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*p</a:t>
                        </a: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50">
                            <a:solidFill>
                              <a:schemeClr val="dk1"/>
                            </a:solidFill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...</a:t>
                        </a:r>
                        <a:endParaRPr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50">
                            <a:solidFill>
                              <a:schemeClr val="dk1"/>
                            </a:solidFill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&amp;p</a:t>
                        </a:r>
                        <a:endParaRPr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5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</a:t>
                        </a: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lvl="0" indent="0" algn="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50">
                            <a:solidFill>
                              <a:schemeClr val="dk1"/>
                            </a:solidFill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...</a:t>
                        </a:r>
                        <a:endParaRPr sz="105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5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5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cxnSp>
          <p:nvCxnSpPr>
            <p:cNvPr id="446" name="Google Shape;446;p30"/>
            <p:cNvCxnSpPr/>
            <p:nvPr/>
          </p:nvCxnSpPr>
          <p:spPr>
            <a:xfrm rot="10800000">
              <a:off x="2320816" y="5376524"/>
              <a:ext cx="0" cy="7581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447" name="Google Shape;447;p30"/>
          <p:cNvCxnSpPr/>
          <p:nvPr/>
        </p:nvCxnSpPr>
        <p:spPr>
          <a:xfrm rot="10800000">
            <a:off x="5053714" y="5411245"/>
            <a:ext cx="0" cy="75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437;p30">
            <a:extLst>
              <a:ext uri="{FF2B5EF4-FFF2-40B4-BE49-F238E27FC236}">
                <a16:creationId xmlns:a16="http://schemas.microsoft.com/office/drawing/2014/main" id="{346BBA13-9AFC-4898-8E60-3B87CFC0E064}"/>
              </a:ext>
            </a:extLst>
          </p:cNvPr>
          <p:cNvSpPr/>
          <p:nvPr/>
        </p:nvSpPr>
        <p:spPr>
          <a:xfrm>
            <a:off x="722408" y="3945596"/>
            <a:ext cx="575450" cy="529943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" name="Google Shape;438;p30">
            <a:extLst>
              <a:ext uri="{FF2B5EF4-FFF2-40B4-BE49-F238E27FC236}">
                <a16:creationId xmlns:a16="http://schemas.microsoft.com/office/drawing/2014/main" id="{B562AEDB-BEB8-4BD1-A5ED-D19FBAB47584}"/>
              </a:ext>
            </a:extLst>
          </p:cNvPr>
          <p:cNvSpPr txBox="1"/>
          <p:nvPr/>
        </p:nvSpPr>
        <p:spPr>
          <a:xfrm>
            <a:off x="1443884" y="4024064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pid(P1)= 21113</a:t>
            </a:r>
            <a:endParaRPr sz="1400" dirty="0">
              <a:highlight>
                <a:srgbClr val="C9DAF8"/>
              </a:highlight>
            </a:endParaRPr>
          </a:p>
        </p:txBody>
      </p:sp>
      <p:sp>
        <p:nvSpPr>
          <p:cNvPr id="19" name="Google Shape;439;p30">
            <a:extLst>
              <a:ext uri="{FF2B5EF4-FFF2-40B4-BE49-F238E27FC236}">
                <a16:creationId xmlns:a16="http://schemas.microsoft.com/office/drawing/2014/main" id="{BFB98F35-BFC3-416B-9A69-858FA48828FC}"/>
              </a:ext>
            </a:extLst>
          </p:cNvPr>
          <p:cNvSpPr/>
          <p:nvPr/>
        </p:nvSpPr>
        <p:spPr>
          <a:xfrm>
            <a:off x="3955957" y="3915157"/>
            <a:ext cx="593769" cy="556301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" name="Google Shape;440;p30">
            <a:extLst>
              <a:ext uri="{FF2B5EF4-FFF2-40B4-BE49-F238E27FC236}">
                <a16:creationId xmlns:a16="http://schemas.microsoft.com/office/drawing/2014/main" id="{24D242CD-3EF1-4120-85C0-2A61578DDF22}"/>
              </a:ext>
            </a:extLst>
          </p:cNvPr>
          <p:cNvSpPr txBox="1"/>
          <p:nvPr/>
        </p:nvSpPr>
        <p:spPr>
          <a:xfrm>
            <a:off x="4761844" y="4024064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pid(P2)= 21114</a:t>
            </a:r>
            <a:endParaRPr sz="1400" dirty="0">
              <a:highlight>
                <a:srgbClr val="F4CCCC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58166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1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10737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sp>
        <p:nvSpPr>
          <p:cNvPr id="462" name="Google Shape;462;p31"/>
          <p:cNvSpPr txBox="1">
            <a:spLocks noGrp="1"/>
          </p:cNvSpPr>
          <p:nvPr>
            <p:ph type="body" idx="1"/>
          </p:nvPr>
        </p:nvSpPr>
        <p:spPr>
          <a:xfrm>
            <a:off x="294968" y="1156350"/>
            <a:ext cx="5589638" cy="949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b="1" dirty="0">
                <a:latin typeface="+mn-lt"/>
              </a:rPr>
              <a:t>Virtualización de memoria</a:t>
            </a:r>
            <a:r>
              <a:rPr lang="es-ES" sz="2400" dirty="0">
                <a:latin typeface="+mn-lt"/>
              </a:rPr>
              <a:t>: Cada proceso cree que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tiene su propia memoria</a:t>
            </a:r>
            <a:r>
              <a:rPr lang="es-ES" sz="24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53" name="Google Shape;453;p31"/>
          <p:cNvSpPr txBox="1"/>
          <p:nvPr/>
        </p:nvSpPr>
        <p:spPr>
          <a:xfrm>
            <a:off x="9395250" y="5152113"/>
            <a:ext cx="22707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Recurso</a:t>
            </a:r>
            <a:endParaRPr sz="2800" b="1">
              <a:solidFill>
                <a:srgbClr val="FF9900"/>
              </a:solidFill>
            </a:endParaRPr>
          </a:p>
        </p:txBody>
      </p:sp>
      <p:sp>
        <p:nvSpPr>
          <p:cNvPr id="454" name="Google Shape;454;p31"/>
          <p:cNvSpPr txBox="1"/>
          <p:nvPr/>
        </p:nvSpPr>
        <p:spPr>
          <a:xfrm>
            <a:off x="10046575" y="2174050"/>
            <a:ext cx="15777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FF9900"/>
                </a:solidFill>
              </a:rPr>
              <a:t>Ilusión</a:t>
            </a:r>
            <a:endParaRPr sz="2800" b="1">
              <a:solidFill>
                <a:srgbClr val="FF9900"/>
              </a:solidFill>
            </a:endParaRPr>
          </a:p>
        </p:txBody>
      </p:sp>
      <p:pic>
        <p:nvPicPr>
          <p:cNvPr id="455" name="Google Shape;4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517" y="4508325"/>
            <a:ext cx="1503075" cy="150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6763" y="3679000"/>
            <a:ext cx="2947038" cy="300845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7" name="Google Shape;457;p31"/>
          <p:cNvCxnSpPr/>
          <p:nvPr/>
        </p:nvCxnSpPr>
        <p:spPr>
          <a:xfrm>
            <a:off x="3180175" y="3678988"/>
            <a:ext cx="8444100" cy="11700"/>
          </a:xfrm>
          <a:prstGeom prst="straightConnector1">
            <a:avLst/>
          </a:prstGeom>
          <a:noFill/>
          <a:ln w="3810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8" name="Google Shape;45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2363" y="2963900"/>
            <a:ext cx="418425" cy="44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9800" y="2955375"/>
            <a:ext cx="509450" cy="46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1"/>
          <p:cNvSpPr txBox="1"/>
          <p:nvPr/>
        </p:nvSpPr>
        <p:spPr>
          <a:xfrm>
            <a:off x="6787225" y="2947200"/>
            <a:ext cx="970200" cy="477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P0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1" name="Google Shape;461;p31"/>
          <p:cNvSpPr txBox="1"/>
          <p:nvPr/>
        </p:nvSpPr>
        <p:spPr>
          <a:xfrm>
            <a:off x="9165400" y="2947213"/>
            <a:ext cx="970200" cy="477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63" name="Google Shape;463;p31"/>
          <p:cNvGrpSpPr/>
          <p:nvPr/>
        </p:nvGrpSpPr>
        <p:grpSpPr>
          <a:xfrm>
            <a:off x="1425225" y="3108010"/>
            <a:ext cx="1076100" cy="1739700"/>
            <a:chOff x="1775100" y="4022850"/>
            <a:chExt cx="1076100" cy="1739700"/>
          </a:xfrm>
        </p:grpSpPr>
        <p:sp>
          <p:nvSpPr>
            <p:cNvPr id="464" name="Google Shape;464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5" name="Google Shape;465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66" name="Google Shape;466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67" name="Google Shape;467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68" name="Google Shape;468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69" name="Google Shape;469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70" name="Google Shape;470;p31"/>
              <p:cNvCxnSpPr>
                <a:stCxn id="468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1" name="Google Shape;471;p31"/>
              <p:cNvCxnSpPr>
                <a:stCxn id="469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72" name="Google Shape;472;p31"/>
          <p:cNvGrpSpPr/>
          <p:nvPr/>
        </p:nvGrpSpPr>
        <p:grpSpPr>
          <a:xfrm>
            <a:off x="6864154" y="1414618"/>
            <a:ext cx="806322" cy="1163511"/>
            <a:chOff x="1775100" y="4022850"/>
            <a:chExt cx="1076100" cy="1739700"/>
          </a:xfrm>
        </p:grpSpPr>
        <p:sp>
          <p:nvSpPr>
            <p:cNvPr id="473" name="Google Shape;473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4" name="Google Shape;474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75" name="Google Shape;475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6" name="Google Shape;476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77" name="Google Shape;477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78" name="Google Shape;478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79" name="Google Shape;479;p31"/>
              <p:cNvCxnSpPr>
                <a:stCxn id="477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0" name="Google Shape;480;p31"/>
              <p:cNvCxnSpPr>
                <a:stCxn id="478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81" name="Google Shape;481;p31"/>
          <p:cNvGrpSpPr/>
          <p:nvPr/>
        </p:nvGrpSpPr>
        <p:grpSpPr>
          <a:xfrm>
            <a:off x="9247342" y="1414618"/>
            <a:ext cx="806322" cy="1163511"/>
            <a:chOff x="1775100" y="4022850"/>
            <a:chExt cx="1076100" cy="1739700"/>
          </a:xfrm>
        </p:grpSpPr>
        <p:sp>
          <p:nvSpPr>
            <p:cNvPr id="482" name="Google Shape;482;p31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3" name="Google Shape;483;p31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84" name="Google Shape;484;p31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486" name="Google Shape;486;p31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487" name="Google Shape;487;p31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488" name="Google Shape;488;p31"/>
              <p:cNvCxnSpPr>
                <a:stCxn id="48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9" name="Google Shape;489;p31"/>
              <p:cNvCxnSpPr>
                <a:stCxn id="48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2"/>
          <p:cNvSpPr txBox="1">
            <a:spLocks noGrp="1"/>
          </p:cNvSpPr>
          <p:nvPr>
            <p:ph type="title"/>
          </p:nvPr>
        </p:nvSpPr>
        <p:spPr>
          <a:xfrm>
            <a:off x="799050" y="81974"/>
            <a:ext cx="10358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grpSp>
        <p:nvGrpSpPr>
          <p:cNvPr id="496" name="Google Shape;496;p32"/>
          <p:cNvGrpSpPr/>
          <p:nvPr/>
        </p:nvGrpSpPr>
        <p:grpSpPr>
          <a:xfrm>
            <a:off x="7738879" y="2144643"/>
            <a:ext cx="806322" cy="1163511"/>
            <a:chOff x="1775100" y="4022850"/>
            <a:chExt cx="1076100" cy="1739700"/>
          </a:xfrm>
        </p:grpSpPr>
        <p:sp>
          <p:nvSpPr>
            <p:cNvPr id="497" name="Google Shape;497;p3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8" name="Google Shape;498;p3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99" name="Google Shape;499;p3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00" name="Google Shape;500;p3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501" name="Google Shape;501;p3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502" name="Google Shape;502;p3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503" name="Google Shape;503;p32"/>
              <p:cNvCxnSpPr>
                <a:stCxn id="501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04" name="Google Shape;504;p32"/>
              <p:cNvCxnSpPr>
                <a:stCxn id="502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505" name="Google Shape;505;p32"/>
          <p:cNvGrpSpPr/>
          <p:nvPr/>
        </p:nvGrpSpPr>
        <p:grpSpPr>
          <a:xfrm>
            <a:off x="7738867" y="3751018"/>
            <a:ext cx="806322" cy="1163511"/>
            <a:chOff x="1775100" y="4022850"/>
            <a:chExt cx="1076100" cy="1739700"/>
          </a:xfrm>
        </p:grpSpPr>
        <p:sp>
          <p:nvSpPr>
            <p:cNvPr id="506" name="Google Shape;506;p32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7" name="Google Shape;507;p32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508" name="Google Shape;508;p32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509" name="Google Shape;509;p32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510" name="Google Shape;510;p32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511" name="Google Shape;511;p32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512" name="Google Shape;512;p32"/>
              <p:cNvCxnSpPr>
                <a:stCxn id="510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13" name="Google Shape;513;p32"/>
              <p:cNvCxnSpPr>
                <a:stCxn id="511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514" name="Google Shape;514;p32"/>
          <p:cNvGrpSpPr/>
          <p:nvPr/>
        </p:nvGrpSpPr>
        <p:grpSpPr>
          <a:xfrm>
            <a:off x="10684350" y="1375225"/>
            <a:ext cx="822300" cy="3936300"/>
            <a:chOff x="6401200" y="2480400"/>
            <a:chExt cx="822300" cy="3936300"/>
          </a:xfrm>
        </p:grpSpPr>
        <p:sp>
          <p:nvSpPr>
            <p:cNvPr id="515" name="Google Shape;515;p32"/>
            <p:cNvSpPr/>
            <p:nvPr/>
          </p:nvSpPr>
          <p:spPr>
            <a:xfrm>
              <a:off x="6401200" y="2480400"/>
              <a:ext cx="822300" cy="3936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2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517" name="Google Shape;517;p3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8" name="Google Shape;518;p3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19" name="Google Shape;519;p3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0" name="Google Shape;520;p3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521" name="Google Shape;521;p3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522" name="Google Shape;522;p3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523" name="Google Shape;523;p32"/>
                <p:cNvCxnSpPr>
                  <a:stCxn id="521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24" name="Google Shape;524;p32"/>
                <p:cNvCxnSpPr>
                  <a:stCxn id="522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525" name="Google Shape;525;p32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526" name="Google Shape;526;p32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7" name="Google Shape;527;p32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528" name="Google Shape;528;p32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29" name="Google Shape;529;p32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530" name="Google Shape;530;p32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531" name="Google Shape;531;p32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532" name="Google Shape;532;p32"/>
                <p:cNvCxnSpPr>
                  <a:stCxn id="53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33" name="Google Shape;533;p32"/>
                <p:cNvCxnSpPr>
                  <a:stCxn id="53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534" name="Google Shape;534;p32"/>
          <p:cNvSpPr/>
          <p:nvPr/>
        </p:nvSpPr>
        <p:spPr>
          <a:xfrm>
            <a:off x="5916438" y="22748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5858125" y="386797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36" name="Google Shape;536;p32"/>
          <p:cNvCxnSpPr/>
          <p:nvPr/>
        </p:nvCxnSpPr>
        <p:spPr>
          <a:xfrm rot="10800000" flipH="1">
            <a:off x="8555000" y="2002200"/>
            <a:ext cx="2125500" cy="137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32"/>
          <p:cNvCxnSpPr/>
          <p:nvPr/>
        </p:nvCxnSpPr>
        <p:spPr>
          <a:xfrm rot="10800000" flipH="1">
            <a:off x="8555000" y="3175250"/>
            <a:ext cx="2128500" cy="14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32"/>
          <p:cNvCxnSpPr/>
          <p:nvPr/>
        </p:nvCxnSpPr>
        <p:spPr>
          <a:xfrm rot="10800000" flipH="1">
            <a:off x="8555000" y="3720500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9" name="Google Shape;539;p32"/>
          <p:cNvCxnSpPr/>
          <p:nvPr/>
        </p:nvCxnSpPr>
        <p:spPr>
          <a:xfrm rot="10800000" flipH="1">
            <a:off x="8549175" y="4893775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40" name="Google Shape;540;p32"/>
          <p:cNvSpPr txBox="1"/>
          <p:nvPr/>
        </p:nvSpPr>
        <p:spPr>
          <a:xfrm>
            <a:off x="6708150" y="24865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541" name="Google Shape;541;p32"/>
          <p:cNvSpPr txBox="1"/>
          <p:nvPr/>
        </p:nvSpPr>
        <p:spPr>
          <a:xfrm>
            <a:off x="6696425" y="407512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542" name="Google Shape;542;p32"/>
          <p:cNvCxnSpPr/>
          <p:nvPr/>
        </p:nvCxnSpPr>
        <p:spPr>
          <a:xfrm rot="10800000" flipH="1">
            <a:off x="7375100" y="42321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" name="Google Shape;543;p32"/>
          <p:cNvCxnSpPr/>
          <p:nvPr/>
        </p:nvCxnSpPr>
        <p:spPr>
          <a:xfrm rot="10800000" flipH="1">
            <a:off x="7386750" y="26390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" name="Google Shape;544;p32"/>
          <p:cNvCxnSpPr>
            <a:stCxn id="501" idx="3"/>
            <a:endCxn id="521" idx="1"/>
          </p:cNvCxnSpPr>
          <p:nvPr/>
        </p:nvCxnSpPr>
        <p:spPr>
          <a:xfrm rot="10800000" flipH="1">
            <a:off x="8545201" y="2498895"/>
            <a:ext cx="2147100" cy="137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5" name="Google Shape;545;p32"/>
          <p:cNvCxnSpPr>
            <a:stCxn id="510" idx="3"/>
            <a:endCxn id="530" idx="1"/>
          </p:cNvCxnSpPr>
          <p:nvPr/>
        </p:nvCxnSpPr>
        <p:spPr>
          <a:xfrm rot="10800000" flipH="1">
            <a:off x="8545188" y="4213270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546;p32"/>
          <p:cNvSpPr txBox="1"/>
          <p:nvPr/>
        </p:nvSpPr>
        <p:spPr>
          <a:xfrm>
            <a:off x="621456" y="3709050"/>
            <a:ext cx="4030800" cy="26396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prompt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200" dirty="0" err="1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&amp;; 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./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mem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&amp;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[1] </a:t>
            </a: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24113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[2] 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24114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address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2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2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address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pointed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to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200" dirty="0" err="1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lang="es-ES" sz="1200" dirty="0">
                <a:solidFill>
                  <a:srgbClr val="24292E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1200" dirty="0">
              <a:solidFill>
                <a:srgbClr val="24292E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1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1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2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2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FE2F3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3</a:t>
            </a:r>
            <a:endParaRPr sz="1200" dirty="0">
              <a:solidFill>
                <a:srgbClr val="24292E"/>
              </a:solidFill>
              <a:highlight>
                <a:srgbClr val="CFE2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3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(24113) p: 4</a:t>
            </a:r>
            <a:endParaRPr sz="1200" dirty="0">
              <a:solidFill>
                <a:srgbClr val="24292E"/>
              </a:solidFill>
              <a:highlight>
                <a:srgbClr val="C9DA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(24114) p: 4</a:t>
            </a:r>
            <a:endParaRPr sz="1200" dirty="0">
              <a:solidFill>
                <a:srgbClr val="24292E"/>
              </a:solidFill>
              <a:highlight>
                <a:srgbClr val="F4CC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7" name="Google Shape;547;p32"/>
          <p:cNvSpPr txBox="1"/>
          <p:nvPr/>
        </p:nvSpPr>
        <p:spPr>
          <a:xfrm>
            <a:off x="5371363" y="3131063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C9DAF8"/>
                </a:highlight>
                <a:latin typeface="Courier New"/>
                <a:ea typeface="Courier New"/>
                <a:cs typeface="Courier New"/>
                <a:sym typeface="Courier New"/>
              </a:rPr>
              <a:t>pid(P1)= 21113</a:t>
            </a:r>
            <a:endParaRPr sz="1400" dirty="0">
              <a:highlight>
                <a:srgbClr val="C9DAF8"/>
              </a:highlight>
            </a:endParaRPr>
          </a:p>
        </p:txBody>
      </p:sp>
      <p:sp>
        <p:nvSpPr>
          <p:cNvPr id="548" name="Google Shape;548;p32"/>
          <p:cNvSpPr txBox="1"/>
          <p:nvPr/>
        </p:nvSpPr>
        <p:spPr>
          <a:xfrm>
            <a:off x="5429688" y="4807388"/>
            <a:ext cx="1704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rgbClr val="24292E"/>
                </a:solidFill>
                <a:highlight>
                  <a:srgbClr val="F4CCCC"/>
                </a:highlight>
                <a:latin typeface="Courier New"/>
                <a:ea typeface="Courier New"/>
                <a:cs typeface="Courier New"/>
                <a:sym typeface="Courier New"/>
              </a:rPr>
              <a:t>pid(P2)= 21114</a:t>
            </a:r>
            <a:endParaRPr sz="1400" dirty="0">
              <a:highlight>
                <a:srgbClr val="F4CCCC"/>
              </a:highlight>
            </a:endParaRPr>
          </a:p>
        </p:txBody>
      </p:sp>
      <p:sp>
        <p:nvSpPr>
          <p:cNvPr id="549" name="Google Shape;549;p32"/>
          <p:cNvSpPr txBox="1"/>
          <p:nvPr/>
        </p:nvSpPr>
        <p:spPr>
          <a:xfrm>
            <a:off x="6199350" y="1318050"/>
            <a:ext cx="153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Dirección Virtual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0" name="Google Shape;550;p32"/>
          <p:cNvSpPr txBox="1"/>
          <p:nvPr/>
        </p:nvSpPr>
        <p:spPr>
          <a:xfrm>
            <a:off x="9035925" y="1246813"/>
            <a:ext cx="1539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Dirección Física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51" name="Google Shape;551;p32"/>
          <p:cNvGrpSpPr/>
          <p:nvPr/>
        </p:nvGrpSpPr>
        <p:grpSpPr>
          <a:xfrm>
            <a:off x="7439250" y="5328100"/>
            <a:ext cx="4426050" cy="615600"/>
            <a:chOff x="7439250" y="5328100"/>
            <a:chExt cx="4426050" cy="615600"/>
          </a:xfrm>
        </p:grpSpPr>
        <p:sp>
          <p:nvSpPr>
            <p:cNvPr id="552" name="Google Shape;552;p32"/>
            <p:cNvSpPr txBox="1"/>
            <p:nvPr/>
          </p:nvSpPr>
          <p:spPr>
            <a:xfrm>
              <a:off x="743925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53" name="Google Shape;553;p32"/>
            <p:cNvSpPr txBox="1"/>
            <p:nvPr/>
          </p:nvSpPr>
          <p:spPr>
            <a:xfrm>
              <a:off x="1032570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554" name="Google Shape;554;p32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555" name="Google Shape;555;p32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2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557" name="Google Shape;55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636" y="5890300"/>
            <a:ext cx="897725" cy="8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462;p31">
            <a:extLst>
              <a:ext uri="{FF2B5EF4-FFF2-40B4-BE49-F238E27FC236}">
                <a16:creationId xmlns:a16="http://schemas.microsoft.com/office/drawing/2014/main" id="{AE862F47-DCB8-4F2C-8201-18BE5F1DB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571" y="1144112"/>
            <a:ext cx="4178526" cy="13547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b="1" dirty="0">
                <a:latin typeface="+mn-lt"/>
              </a:rPr>
              <a:t>Virtualización de memoria</a:t>
            </a:r>
            <a:r>
              <a:rPr lang="es-ES" sz="2400" dirty="0">
                <a:latin typeface="+mn-lt"/>
              </a:rPr>
              <a:t>: Cada proceso cree que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tiene su propia memoria</a:t>
            </a:r>
            <a:r>
              <a:rPr lang="es-ES" sz="24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3"/>
          <p:cNvSpPr txBox="1">
            <a:spLocks noGrp="1"/>
          </p:cNvSpPr>
          <p:nvPr>
            <p:ph type="title"/>
          </p:nvPr>
        </p:nvSpPr>
        <p:spPr>
          <a:xfrm>
            <a:off x="516194" y="96038"/>
            <a:ext cx="1075915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sp>
        <p:nvSpPr>
          <p:cNvPr id="563" name="Google Shape;563;p33"/>
          <p:cNvSpPr txBox="1">
            <a:spLocks noGrp="1"/>
          </p:cNvSpPr>
          <p:nvPr>
            <p:ph type="body" idx="1"/>
          </p:nvPr>
        </p:nvSpPr>
        <p:spPr>
          <a:xfrm>
            <a:off x="229350" y="892100"/>
            <a:ext cx="11046000" cy="2842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Hardware Address </a:t>
            </a:r>
            <a:r>
              <a:rPr lang="es-ES" sz="2800" b="1" dirty="0" err="1">
                <a:solidFill>
                  <a:schemeClr val="accent1"/>
                </a:solidFill>
                <a:latin typeface="+mn-lt"/>
              </a:rPr>
              <a:t>Translation</a:t>
            </a:r>
            <a:r>
              <a:rPr lang="es-ES" sz="2800" b="1" dirty="0">
                <a:solidFill>
                  <a:schemeClr val="accent1"/>
                </a:solidFill>
                <a:latin typeface="+mn-lt"/>
              </a:rPr>
              <a:t> - Address </a:t>
            </a:r>
            <a:r>
              <a:rPr lang="es-ES" sz="2800" b="1" dirty="0" err="1">
                <a:solidFill>
                  <a:schemeClr val="accent1"/>
                </a:solidFill>
                <a:latin typeface="+mn-lt"/>
              </a:rPr>
              <a:t>Translation</a:t>
            </a:r>
            <a:r>
              <a:rPr lang="es-ES" sz="2800" b="1" dirty="0">
                <a:solidFill>
                  <a:schemeClr val="accent1"/>
                </a:solidFill>
                <a:latin typeface="+mn-lt"/>
              </a:rPr>
              <a:t> (AT) 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Mecanismo mediante el cual el hardware traduce cada acceso a memoria (</a:t>
            </a:r>
            <a:r>
              <a:rPr lang="es-ES" sz="2200" dirty="0" err="1">
                <a:latin typeface="+mn-lt"/>
              </a:rPr>
              <a:t>Instruction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fetch</a:t>
            </a:r>
            <a:r>
              <a:rPr lang="es-ES" sz="2200" dirty="0">
                <a:latin typeface="+mn-lt"/>
              </a:rPr>
              <a:t> - Load - Store) cambiando la </a:t>
            </a:r>
            <a:r>
              <a:rPr lang="es-ES" sz="2200" b="1" dirty="0">
                <a:solidFill>
                  <a:srgbClr val="ED7D31"/>
                </a:solidFill>
                <a:latin typeface="+mn-lt"/>
              </a:rPr>
              <a:t>dirección virtual</a:t>
            </a:r>
            <a:r>
              <a:rPr lang="es-ES" sz="2200" dirty="0">
                <a:latin typeface="+mn-lt"/>
              </a:rPr>
              <a:t> proporcionada por la instrucción a una </a:t>
            </a:r>
            <a:r>
              <a:rPr lang="es-ES" sz="2200" b="1" dirty="0">
                <a:solidFill>
                  <a:srgbClr val="ED7D31"/>
                </a:solidFill>
                <a:latin typeface="+mn-lt"/>
              </a:rPr>
              <a:t>dirección física</a:t>
            </a:r>
            <a:r>
              <a:rPr lang="es-ES" sz="2200" dirty="0">
                <a:latin typeface="+mn-lt"/>
              </a:rPr>
              <a:t> donde la información deseada se encuentra actualmente localizada.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>
                <a:solidFill>
                  <a:srgbClr val="8CC63E"/>
                </a:solidFill>
                <a:latin typeface="+mn-lt"/>
              </a:rPr>
              <a:t>Objetivo de la AT</a:t>
            </a:r>
            <a:r>
              <a:rPr lang="es-ES" sz="2200" dirty="0">
                <a:solidFill>
                  <a:srgbClr val="8CC63E"/>
                </a:solidFill>
                <a:latin typeface="+mn-lt"/>
              </a:rPr>
              <a:t>:</a:t>
            </a:r>
            <a:r>
              <a:rPr lang="es-ES" sz="2200" dirty="0">
                <a:latin typeface="+mn-lt"/>
              </a:rPr>
              <a:t> Dar la ilusión a un programa de que tiene su propio espacio de direcciones privado (propio).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64" name="Google Shape;564;p33"/>
          <p:cNvGrpSpPr/>
          <p:nvPr/>
        </p:nvGrpSpPr>
        <p:grpSpPr>
          <a:xfrm>
            <a:off x="783915" y="3536193"/>
            <a:ext cx="10949400" cy="2601000"/>
            <a:chOff x="1094825" y="3502875"/>
            <a:chExt cx="10949400" cy="2601000"/>
          </a:xfrm>
        </p:grpSpPr>
        <p:grpSp>
          <p:nvGrpSpPr>
            <p:cNvPr id="565" name="Google Shape;565;p33"/>
            <p:cNvGrpSpPr/>
            <p:nvPr/>
          </p:nvGrpSpPr>
          <p:grpSpPr>
            <a:xfrm>
              <a:off x="3591725" y="3502875"/>
              <a:ext cx="5773200" cy="2601000"/>
              <a:chOff x="3401900" y="3456225"/>
              <a:chExt cx="5773200" cy="2601000"/>
            </a:xfrm>
          </p:grpSpPr>
          <p:sp>
            <p:nvSpPr>
              <p:cNvPr id="566" name="Google Shape;566;p33"/>
              <p:cNvSpPr/>
              <p:nvPr/>
            </p:nvSpPr>
            <p:spPr>
              <a:xfrm>
                <a:off x="4883000" y="3456225"/>
                <a:ext cx="2811000" cy="2601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3000" b="1" dirty="0">
                    <a:latin typeface="Courier New"/>
                    <a:ea typeface="Courier New"/>
                    <a:cs typeface="Courier New"/>
                    <a:sym typeface="Courier New"/>
                  </a:rPr>
                  <a:t>Address </a:t>
                </a:r>
                <a:r>
                  <a:rPr lang="es-ES" sz="3000" b="1" dirty="0" err="1">
                    <a:latin typeface="Courier New"/>
                    <a:ea typeface="Courier New"/>
                    <a:cs typeface="Courier New"/>
                    <a:sym typeface="Courier New"/>
                  </a:rPr>
                  <a:t>Translation</a:t>
                </a:r>
                <a:endParaRPr sz="30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567" name="Google Shape;567;p33"/>
              <p:cNvCxnSpPr/>
              <p:nvPr/>
            </p:nvCxnSpPr>
            <p:spPr>
              <a:xfrm>
                <a:off x="34019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68" name="Google Shape;568;p33"/>
              <p:cNvCxnSpPr/>
              <p:nvPr/>
            </p:nvCxnSpPr>
            <p:spPr>
              <a:xfrm>
                <a:off x="76940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569" name="Google Shape;569;p33"/>
            <p:cNvSpPr txBox="1"/>
            <p:nvPr/>
          </p:nvSpPr>
          <p:spPr>
            <a:xfrm>
              <a:off x="1094825" y="440317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Virtual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70" name="Google Shape;570;p33"/>
            <p:cNvSpPr txBox="1"/>
            <p:nvPr/>
          </p:nvSpPr>
          <p:spPr>
            <a:xfrm>
              <a:off x="9364925" y="440317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urier New"/>
                  <a:ea typeface="Courier New"/>
                  <a:cs typeface="Courier New"/>
                  <a:sym typeface="Courier New"/>
                </a:rPr>
                <a:t>Physical</a:t>
              </a: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4"/>
          <p:cNvSpPr txBox="1">
            <a:spLocks noGrp="1"/>
          </p:cNvSpPr>
          <p:nvPr>
            <p:ph type="title"/>
          </p:nvPr>
        </p:nvSpPr>
        <p:spPr>
          <a:xfrm>
            <a:off x="235974" y="96038"/>
            <a:ext cx="1103937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Virtualización de Memoria - Contextualización</a:t>
            </a:r>
            <a:endParaRPr dirty="0"/>
          </a:p>
        </p:txBody>
      </p:sp>
      <p:sp>
        <p:nvSpPr>
          <p:cNvPr id="576" name="Google Shape;576;p34"/>
          <p:cNvSpPr txBox="1">
            <a:spLocks noGrp="1"/>
          </p:cNvSpPr>
          <p:nvPr>
            <p:ph type="body" idx="1"/>
          </p:nvPr>
        </p:nvSpPr>
        <p:spPr>
          <a:xfrm>
            <a:off x="602051" y="1405648"/>
            <a:ext cx="5727600" cy="2595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El sistema operativo (SO):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Virtualiza</a:t>
            </a:r>
            <a:r>
              <a:rPr lang="es-ES" sz="2400" dirty="0">
                <a:latin typeface="+mn-lt"/>
              </a:rPr>
              <a:t> la memoria física.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Proporciona una ilusión</a:t>
            </a:r>
            <a:r>
              <a:rPr lang="es-ES" sz="2400" dirty="0">
                <a:latin typeface="+mn-lt"/>
              </a:rPr>
              <a:t> para el espacio de memoria de cada proceso.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Cada proceso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cree</a:t>
            </a:r>
            <a:r>
              <a:rPr lang="es-ES" sz="2400" dirty="0">
                <a:latin typeface="+mn-lt"/>
              </a:rPr>
              <a:t> que utiliza todos los recursos de memoria de la máquina.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77" name="Google Shape;577;p34"/>
          <p:cNvGrpSpPr/>
          <p:nvPr/>
        </p:nvGrpSpPr>
        <p:grpSpPr>
          <a:xfrm>
            <a:off x="7805888" y="1680700"/>
            <a:ext cx="3013738" cy="3793048"/>
            <a:chOff x="7770888" y="1832325"/>
            <a:chExt cx="3013738" cy="3793048"/>
          </a:xfrm>
        </p:grpSpPr>
        <p:sp>
          <p:nvSpPr>
            <p:cNvPr id="578" name="Google Shape;578;p34"/>
            <p:cNvSpPr/>
            <p:nvPr/>
          </p:nvSpPr>
          <p:spPr>
            <a:xfrm>
              <a:off x="7770888" y="3308238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7770900" y="4206225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580" name="Google Shape;580;p34"/>
            <p:cNvGrpSpPr/>
            <p:nvPr/>
          </p:nvGrpSpPr>
          <p:grpSpPr>
            <a:xfrm>
              <a:off x="9978225" y="2756473"/>
              <a:ext cx="806400" cy="2868900"/>
              <a:chOff x="7004100" y="3327923"/>
              <a:chExt cx="806400" cy="2868900"/>
            </a:xfrm>
          </p:grpSpPr>
          <p:sp>
            <p:nvSpPr>
              <p:cNvPr id="581" name="Google Shape;581;p34"/>
              <p:cNvSpPr/>
              <p:nvPr/>
            </p:nvSpPr>
            <p:spPr>
              <a:xfrm>
                <a:off x="7004100" y="3327923"/>
                <a:ext cx="806400" cy="28689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4"/>
              <p:cNvSpPr/>
              <p:nvPr/>
            </p:nvSpPr>
            <p:spPr>
              <a:xfrm>
                <a:off x="7005300" y="5084284"/>
                <a:ext cx="804000" cy="5181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P2</a:t>
                </a:r>
                <a:endParaRPr sz="2400"/>
              </a:p>
            </p:txBody>
          </p:sp>
          <p:sp>
            <p:nvSpPr>
              <p:cNvPr id="583" name="Google Shape;583;p34"/>
              <p:cNvSpPr/>
              <p:nvPr/>
            </p:nvSpPr>
            <p:spPr>
              <a:xfrm>
                <a:off x="7004100" y="3775793"/>
                <a:ext cx="806400" cy="3849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P1</a:t>
                </a:r>
                <a:endParaRPr sz="2400"/>
              </a:p>
            </p:txBody>
          </p:sp>
        </p:grpSp>
        <p:pic>
          <p:nvPicPr>
            <p:cNvPr id="584" name="Google Shape;58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978225" y="1832325"/>
              <a:ext cx="806400" cy="8064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85" name="Google Shape;585;p34"/>
            <p:cNvCxnSpPr>
              <a:stCxn id="578" idx="6"/>
              <a:endCxn id="583" idx="1"/>
            </p:cNvCxnSpPr>
            <p:nvPr/>
          </p:nvCxnSpPr>
          <p:spPr>
            <a:xfrm rot="10800000" flipH="1">
              <a:off x="8501988" y="3396888"/>
              <a:ext cx="1476300" cy="2769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  <p:cxnSp>
          <p:nvCxnSpPr>
            <p:cNvPr id="586" name="Google Shape;586;p34"/>
            <p:cNvCxnSpPr>
              <a:stCxn id="579" idx="6"/>
              <a:endCxn id="582" idx="1"/>
            </p:cNvCxnSpPr>
            <p:nvPr/>
          </p:nvCxnSpPr>
          <p:spPr>
            <a:xfrm>
              <a:off x="8502000" y="4571775"/>
              <a:ext cx="1477500" cy="200100"/>
            </a:xfrm>
            <a:prstGeom prst="straightConnector1">
              <a:avLst/>
            </a:prstGeom>
            <a:noFill/>
            <a:ln w="2857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5"/>
          <p:cNvSpPr txBox="1">
            <a:spLocks noGrp="1"/>
          </p:cNvSpPr>
          <p:nvPr>
            <p:ph type="title"/>
          </p:nvPr>
        </p:nvSpPr>
        <p:spPr>
          <a:xfrm>
            <a:off x="621681" y="86273"/>
            <a:ext cx="1092630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Beneficios de la virtualización de Memoria</a:t>
            </a:r>
            <a:endParaRPr dirty="0"/>
          </a:p>
        </p:txBody>
      </p:sp>
      <p:sp>
        <p:nvSpPr>
          <p:cNvPr id="592" name="Google Shape;592;p35"/>
          <p:cNvSpPr txBox="1">
            <a:spLocks noGrp="1"/>
          </p:cNvSpPr>
          <p:nvPr>
            <p:ph type="body" idx="1"/>
          </p:nvPr>
        </p:nvSpPr>
        <p:spPr>
          <a:xfrm>
            <a:off x="463242" y="1001868"/>
            <a:ext cx="6114539" cy="30539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Facilidad de uso</a:t>
            </a:r>
            <a:r>
              <a:rPr lang="es-ES" sz="2400" dirty="0">
                <a:latin typeface="+mn-lt"/>
              </a:rPr>
              <a:t> para el programador.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Eficiencia</a:t>
            </a:r>
            <a:r>
              <a:rPr lang="es-ES" sz="2400" dirty="0">
                <a:latin typeface="+mn-lt"/>
              </a:rPr>
              <a:t> de memoria en términos de </a:t>
            </a:r>
            <a:r>
              <a:rPr lang="es-ES" sz="2400" b="1" dirty="0">
                <a:latin typeface="+mn-lt"/>
              </a:rPr>
              <a:t>tiempo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>
                <a:latin typeface="+mn-lt"/>
              </a:rPr>
              <a:t>espacio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Protección (seguridad)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Garantía de aislamiento entre procesos y SO.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Protección ante accesos ilegales de otros procesos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93" name="Google Shape;5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130" y="4277033"/>
            <a:ext cx="1767884" cy="1924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3371" y="4277033"/>
            <a:ext cx="2012629" cy="1924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7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88519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Sistemas operativos y memoria</a:t>
            </a:r>
            <a:endParaRPr dirty="0">
              <a:latin typeface="+mj-lt"/>
            </a:endParaRPr>
          </a:p>
        </p:txBody>
      </p:sp>
      <p:sp>
        <p:nvSpPr>
          <p:cNvPr id="606" name="Google Shape;606;p37"/>
          <p:cNvSpPr txBox="1">
            <a:spLocks noGrp="1"/>
          </p:cNvSpPr>
          <p:nvPr>
            <p:ph type="body" idx="1"/>
          </p:nvPr>
        </p:nvSpPr>
        <p:spPr>
          <a:xfrm>
            <a:off x="464307" y="932102"/>
            <a:ext cx="5317061" cy="21793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Primeros sistemas operativos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 sistema operativo consistía en un conjunto de rutinas (biblioteca) que se encontraba al inicio de la memoria física.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Solo se cargaba 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un solo proceso</a:t>
            </a:r>
            <a:r>
              <a:rPr lang="es-ES" sz="2000" dirty="0">
                <a:latin typeface="+mn-lt"/>
              </a:rPr>
              <a:t> en el resto de la memoria. 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607" name="Google Shape;6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0650" y="1247319"/>
            <a:ext cx="2624175" cy="47080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7DD7B8BC-D1FB-459C-BB1E-9F834CC80975}"/>
              </a:ext>
            </a:extLst>
          </p:cNvPr>
          <p:cNvGrpSpPr/>
          <p:nvPr/>
        </p:nvGrpSpPr>
        <p:grpSpPr>
          <a:xfrm>
            <a:off x="5895809" y="1001754"/>
            <a:ext cx="3473512" cy="2012137"/>
            <a:chOff x="464307" y="3548005"/>
            <a:chExt cx="3473512" cy="2012137"/>
          </a:xfrm>
        </p:grpSpPr>
        <p:sp>
          <p:nvSpPr>
            <p:cNvPr id="608" name="Google Shape;608;p37"/>
            <p:cNvSpPr/>
            <p:nvPr/>
          </p:nvSpPr>
          <p:spPr>
            <a:xfrm>
              <a:off x="464307" y="3548005"/>
              <a:ext cx="3473512" cy="2012137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7"/>
            <p:cNvSpPr txBox="1"/>
            <p:nvPr/>
          </p:nvSpPr>
          <p:spPr>
            <a:xfrm>
              <a:off x="1111722" y="4043838"/>
              <a:ext cx="1896950" cy="10797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b="1" dirty="0">
                  <a:solidFill>
                    <a:srgbClr val="FF0000"/>
                  </a:solidFill>
                  <a:ea typeface="Roboto"/>
                  <a:cs typeface="Roboto"/>
                  <a:sym typeface="Roboto"/>
                </a:rPr>
                <a:t>Bajo nivel de utilización - poco eficiente</a:t>
              </a:r>
              <a:endParaRPr b="1" dirty="0">
                <a:solidFill>
                  <a:srgbClr val="FF0000"/>
                </a:solidFill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8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88519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Sistemas operativos y memoria</a:t>
            </a:r>
            <a:endParaRPr dirty="0"/>
          </a:p>
        </p:txBody>
      </p:sp>
      <p:sp>
        <p:nvSpPr>
          <p:cNvPr id="615" name="Google Shape;615;p38"/>
          <p:cNvSpPr txBox="1">
            <a:spLocks noGrp="1"/>
          </p:cNvSpPr>
          <p:nvPr>
            <p:ph type="body" idx="1"/>
          </p:nvPr>
        </p:nvSpPr>
        <p:spPr>
          <a:xfrm>
            <a:off x="368710" y="890587"/>
            <a:ext cx="5727290" cy="269327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Multiprogramación - tiempo compartido</a:t>
            </a:r>
            <a:endParaRPr sz="32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Carga múltiples procesos en memoria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Ejecuta un proceso por un periodo corto de tiempo.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Cambia uso de CPU entre procesos.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Incrementa utilización y eficiencia.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Crea un problema de 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protección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616" name="Google Shape;61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4557" y="1045538"/>
            <a:ext cx="2601250" cy="5209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7" name="Google Shape;617;p38"/>
          <p:cNvGrpSpPr/>
          <p:nvPr/>
        </p:nvGrpSpPr>
        <p:grpSpPr>
          <a:xfrm>
            <a:off x="5918402" y="1045538"/>
            <a:ext cx="3156155" cy="2317827"/>
            <a:chOff x="1314050" y="4447499"/>
            <a:chExt cx="6076346" cy="2637446"/>
          </a:xfrm>
        </p:grpSpPr>
        <p:sp>
          <p:nvSpPr>
            <p:cNvPr id="618" name="Google Shape;618;p38"/>
            <p:cNvSpPr/>
            <p:nvPr/>
          </p:nvSpPr>
          <p:spPr>
            <a:xfrm>
              <a:off x="1314050" y="4447499"/>
              <a:ext cx="6076346" cy="2637446"/>
            </a:xfrm>
            <a:prstGeom prst="irregularSeal2">
              <a:avLst/>
            </a:prstGeom>
            <a:solidFill>
              <a:srgbClr val="FFFF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 txBox="1"/>
            <p:nvPr/>
          </p:nvSpPr>
          <p:spPr>
            <a:xfrm>
              <a:off x="2641628" y="5070566"/>
              <a:ext cx="3158696" cy="1403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ea typeface="Roboto"/>
                  <a:cs typeface="Roboto"/>
                  <a:sym typeface="Roboto"/>
                </a:rPr>
                <a:t>¡Accesos de memoria ilegales de otros procesos!</a:t>
              </a:r>
              <a:endParaRPr sz="1600" b="1" dirty="0">
                <a:solidFill>
                  <a:srgbClr val="FF0000"/>
                </a:solidFill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0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97316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Espacio de direcciones: Address Space</a:t>
            </a:r>
            <a:endParaRPr dirty="0">
              <a:latin typeface="+mj-lt"/>
            </a:endParaRPr>
          </a:p>
        </p:txBody>
      </p:sp>
      <p:sp>
        <p:nvSpPr>
          <p:cNvPr id="631" name="Google Shape;631;p40"/>
          <p:cNvSpPr txBox="1">
            <a:spLocks noGrp="1"/>
          </p:cNvSpPr>
          <p:nvPr>
            <p:ph type="body" idx="1"/>
          </p:nvPr>
        </p:nvSpPr>
        <p:spPr>
          <a:xfrm>
            <a:off x="4348850" y="1045550"/>
            <a:ext cx="7508700" cy="53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Abstracción </a:t>
            </a:r>
            <a:r>
              <a:rPr lang="es-ES" sz="2400" dirty="0">
                <a:latin typeface="+mn-lt"/>
              </a:rPr>
              <a:t>de la memoria física creada por el sistema operativo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Contiene todos los datos e instrucciones de un proceso en ejecución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2400"/>
              <a:buChar char="○"/>
            </a:pPr>
            <a:r>
              <a:rPr lang="es-ES" sz="2400" dirty="0">
                <a:solidFill>
                  <a:srgbClr val="8CC63E"/>
                </a:solidFill>
                <a:latin typeface="+mn-lt"/>
              </a:rPr>
              <a:t>Program code (</a:t>
            </a:r>
            <a:r>
              <a:rPr lang="es-ES" sz="2400" dirty="0" err="1">
                <a:solidFill>
                  <a:srgbClr val="8CC63E"/>
                </a:solidFill>
                <a:latin typeface="+mn-lt"/>
              </a:rPr>
              <a:t>text</a:t>
            </a:r>
            <a:r>
              <a:rPr lang="es-ES" sz="2400" dirty="0">
                <a:solidFill>
                  <a:srgbClr val="8CC63E"/>
                </a:solidFill>
                <a:latin typeface="+mn-lt"/>
              </a:rPr>
              <a:t>)</a:t>
            </a:r>
            <a:endParaRPr sz="2400" dirty="0">
              <a:solidFill>
                <a:srgbClr val="8CC63E"/>
              </a:solidFill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C63E"/>
              </a:buClr>
              <a:buSzPts val="2400"/>
              <a:buChar char="○"/>
            </a:pPr>
            <a:r>
              <a:rPr lang="es-ES" sz="2400" dirty="0">
                <a:solidFill>
                  <a:srgbClr val="8CC63E"/>
                </a:solidFill>
                <a:latin typeface="+mn-lt"/>
              </a:rPr>
              <a:t>Data</a:t>
            </a:r>
            <a:endParaRPr sz="2400" dirty="0">
              <a:solidFill>
                <a:srgbClr val="8CC63E"/>
              </a:solidFill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6666"/>
              </a:buClr>
              <a:buSzPts val="2400"/>
              <a:buChar char="○"/>
            </a:pPr>
            <a:r>
              <a:rPr lang="es-ES" sz="2400" dirty="0">
                <a:solidFill>
                  <a:srgbClr val="E06666"/>
                </a:solidFill>
                <a:latin typeface="+mn-lt"/>
              </a:rPr>
              <a:t>Heap</a:t>
            </a:r>
            <a:endParaRPr sz="2400" dirty="0">
              <a:solidFill>
                <a:srgbClr val="E06666"/>
              </a:solidFill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400"/>
              <a:buChar char="○"/>
            </a:pPr>
            <a:r>
              <a:rPr lang="es-ES" sz="2400" dirty="0">
                <a:solidFill>
                  <a:srgbClr val="3D85C6"/>
                </a:solidFill>
                <a:latin typeface="+mn-lt"/>
              </a:rPr>
              <a:t>Stack</a:t>
            </a:r>
            <a:endParaRPr sz="2400" dirty="0">
              <a:solidFill>
                <a:srgbClr val="3D85C6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632" name="Google Shape;63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975" y="1045550"/>
            <a:ext cx="5308600" cy="553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5428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Espacio de direcciones: Address Space</a:t>
            </a:r>
            <a:endParaRPr dirty="0"/>
          </a:p>
        </p:txBody>
      </p:sp>
      <p:sp>
        <p:nvSpPr>
          <p:cNvPr id="638" name="Google Shape;638;p41"/>
          <p:cNvSpPr txBox="1">
            <a:spLocks noGrp="1"/>
          </p:cNvSpPr>
          <p:nvPr>
            <p:ph type="body" idx="1"/>
          </p:nvPr>
        </p:nvSpPr>
        <p:spPr>
          <a:xfrm>
            <a:off x="4092275" y="1045550"/>
            <a:ext cx="7730400" cy="51777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05CC5"/>
                </a:solidFill>
                <a:latin typeface="+mn-lt"/>
              </a:rPr>
              <a:t>Segmentos del espacio de direcciones</a:t>
            </a:r>
            <a:endParaRPr sz="2400" dirty="0">
              <a:solidFill>
                <a:srgbClr val="005CC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rgbClr val="3D85C6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39" name="Google Shape;63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975" y="1045550"/>
            <a:ext cx="5308600" cy="55364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Google Shape;640;p41"/>
          <p:cNvGraphicFramePr/>
          <p:nvPr>
            <p:extLst>
              <p:ext uri="{D42A27DB-BD31-4B8C-83A1-F6EECF244321}">
                <p14:modId xmlns:p14="http://schemas.microsoft.com/office/powerpoint/2010/main" val="1104592559"/>
              </p:ext>
            </p:extLst>
          </p:nvPr>
        </p:nvGraphicFramePr>
        <p:xfrm>
          <a:off x="4512150" y="1908986"/>
          <a:ext cx="6890650" cy="3291750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212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Program Code</a:t>
                      </a:r>
                      <a:endParaRPr sz="2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Instrucciones 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Variables globales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Heap</a:t>
                      </a:r>
                      <a:endParaRPr sz="2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Memoria </a:t>
                      </a:r>
                      <a:r>
                        <a:rPr lang="es-ES" sz="20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asignada dinámicamente</a:t>
                      </a:r>
                      <a:endParaRPr sz="20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914400" lvl="1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○"/>
                      </a:pPr>
                      <a:r>
                        <a:rPr lang="es-ES" sz="20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malloc</a:t>
                      </a:r>
                      <a:r>
                        <a:rPr lang="es-ES" sz="20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en C</a:t>
                      </a:r>
                      <a:endParaRPr sz="20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914400" lvl="1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○"/>
                      </a:pPr>
                      <a:r>
                        <a:rPr lang="es-ES" sz="20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new</a:t>
                      </a:r>
                      <a:r>
                        <a:rPr lang="es-ES" sz="20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en Java o C++</a:t>
                      </a:r>
                      <a:endParaRPr sz="20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Stack</a:t>
                      </a:r>
                      <a:endParaRPr sz="2200" b="1" dirty="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Memoria </a:t>
                      </a:r>
                      <a:r>
                        <a:rPr lang="es-ES" sz="2000" b="1" dirty="0">
                          <a:solidFill>
                            <a:schemeClr val="accent6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automática</a:t>
                      </a:r>
                      <a:endParaRPr sz="2000" b="1" dirty="0">
                        <a:solidFill>
                          <a:schemeClr val="accent6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Direcciones y valores de retorno</a:t>
                      </a:r>
                      <a:endParaRPr sz="20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Variables locales y argumentos pasados a rutinas</a:t>
                      </a:r>
                      <a:endParaRPr sz="20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2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1593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Espacio de direcciones: Address Space</a:t>
            </a:r>
            <a:endParaRPr dirty="0"/>
          </a:p>
        </p:txBody>
      </p:sp>
      <p:sp>
        <p:nvSpPr>
          <p:cNvPr id="646" name="Google Shape;646;p42"/>
          <p:cNvSpPr txBox="1">
            <a:spLocks noGrp="1"/>
          </p:cNvSpPr>
          <p:nvPr>
            <p:ph type="body" idx="1"/>
          </p:nvPr>
        </p:nvSpPr>
        <p:spPr>
          <a:xfrm>
            <a:off x="557174" y="854975"/>
            <a:ext cx="8114877" cy="85955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Todas las direcciones creadas por un programa son virtuales!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El SO traduce las direcciones 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virtuales</a:t>
            </a:r>
            <a:r>
              <a:rPr lang="es-ES" sz="2000" dirty="0">
                <a:latin typeface="+mn-lt"/>
              </a:rPr>
              <a:t> a direcciones </a:t>
            </a:r>
            <a:r>
              <a:rPr lang="es-ES" sz="2000" b="1" dirty="0">
                <a:solidFill>
                  <a:schemeClr val="accent5"/>
                </a:solidFill>
                <a:latin typeface="+mn-lt"/>
              </a:rPr>
              <a:t>físicas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sp>
        <p:nvSpPr>
          <p:cNvPr id="647" name="Google Shape;647;p42"/>
          <p:cNvSpPr txBox="1"/>
          <p:nvPr/>
        </p:nvSpPr>
        <p:spPr>
          <a:xfrm>
            <a:off x="1109912" y="1714526"/>
            <a:ext cx="7318563" cy="262339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s-ES" sz="16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ES" sz="16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stdio.h</a:t>
            </a:r>
            <a:r>
              <a:rPr lang="es-ES" sz="16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 dirty="0">
              <a:solidFill>
                <a:srgbClr val="032F6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s-ES" sz="16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s-ES" sz="1600" dirty="0" err="1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stdlib.h</a:t>
            </a:r>
            <a:r>
              <a:rPr lang="es-ES" sz="1600" dirty="0">
                <a:solidFill>
                  <a:srgbClr val="032F6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600" dirty="0">
              <a:solidFill>
                <a:srgbClr val="032F6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>
                <a:solidFill>
                  <a:srgbClr val="6F42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6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ES" sz="16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 {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("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code  : %p\n", (</a:t>
            </a:r>
            <a:r>
              <a:rPr lang="es-ES" sz="16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 main);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("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heap  : %p\n", (</a:t>
            </a:r>
            <a:r>
              <a:rPr lang="es-ES" sz="16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 malloc(</a:t>
            </a:r>
            <a:r>
              <a:rPr lang="es-ES" sz="1600" dirty="0">
                <a:solidFill>
                  <a:srgbClr val="0B693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x = 3;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("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stack : %p\n", (</a:t>
            </a:r>
            <a:r>
              <a:rPr lang="es-ES" sz="16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 &amp;x);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>
                <a:solidFill>
                  <a:srgbClr val="005CC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8" name="Google Shape;648;p42"/>
          <p:cNvSpPr txBox="1"/>
          <p:nvPr/>
        </p:nvSpPr>
        <p:spPr>
          <a:xfrm>
            <a:off x="1109911" y="5107225"/>
            <a:ext cx="7318563" cy="106949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code  : 0x40057d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heap  : 0xcf2010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location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stack : 0x7fff9ca45fcc</a:t>
            </a:r>
            <a:endParaRPr sz="16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49" name="Google Shape;64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0502" y="1144620"/>
            <a:ext cx="2904324" cy="513422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7999B98-F97C-420E-8134-1AE9186D6E1B}"/>
              </a:ext>
            </a:extLst>
          </p:cNvPr>
          <p:cNvSpPr txBox="1"/>
          <p:nvPr/>
        </p:nvSpPr>
        <p:spPr>
          <a:xfrm>
            <a:off x="1954617" y="4252734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Ejemplo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 </a:t>
            </a:r>
            <a:r>
              <a:rPr lang="es-ES" sz="1800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4"/>
              </a:rPr>
              <a:t>va.c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1800" u="sng" dirty="0">
                <a:solidFill>
                  <a:schemeClr val="hlink"/>
                </a:solidFill>
                <a:ea typeface="Roboto"/>
                <a:cs typeface="Roboto"/>
                <a:sym typeface="Roboto"/>
                <a:hlinkClick r:id="rId5"/>
              </a:rPr>
              <a:t>simulación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DF70CAC-88A8-4B03-B856-F6A7D6DBE82C}"/>
              </a:ext>
            </a:extLst>
          </p:cNvPr>
          <p:cNvSpPr txBox="1"/>
          <p:nvPr/>
        </p:nvSpPr>
        <p:spPr>
          <a:xfrm>
            <a:off x="1719963" y="6068530"/>
            <a:ext cx="6098458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output in 64-bit Linux machine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06800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Espacio de direcciones: Address Space</a:t>
            </a:r>
            <a:endParaRPr dirty="0"/>
          </a:p>
        </p:txBody>
      </p:sp>
      <p:sp>
        <p:nvSpPr>
          <p:cNvPr id="657" name="Google Shape;657;p43"/>
          <p:cNvSpPr txBox="1">
            <a:spLocks noGrp="1"/>
          </p:cNvSpPr>
          <p:nvPr>
            <p:ph type="body" idx="1"/>
          </p:nvPr>
        </p:nvSpPr>
        <p:spPr>
          <a:xfrm>
            <a:off x="916650" y="829400"/>
            <a:ext cx="10789500" cy="29904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34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Dado el siguiente fragmento de código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3"/>
              </a:rPr>
              <a:t>link</a:t>
            </a:r>
            <a:r>
              <a:rPr lang="es-ES" sz="2200" dirty="0">
                <a:latin typeface="+mn-lt"/>
              </a:rPr>
              <a:t>).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¿A qué segmento pertenece cada una de las variables mencionadas?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658" name="Google Shape;658;p43"/>
          <p:cNvSpPr txBox="1"/>
          <p:nvPr/>
        </p:nvSpPr>
        <p:spPr>
          <a:xfrm>
            <a:off x="1103700" y="1969250"/>
            <a:ext cx="10520400" cy="131964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rgbClr val="D73A4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x;</a:t>
            </a:r>
            <a:endParaRPr sz="1600" dirty="0">
              <a:solidFill>
                <a:srgbClr val="D73A49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>
                <a:solidFill>
                  <a:srgbClr val="6F42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600" dirty="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argc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s-ES" sz="1600" dirty="0" err="1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lang="es-ES" sz="1600" dirty="0" err="1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argv</a:t>
            </a: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 {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D73A4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y;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D73A4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*z = </a:t>
            </a:r>
            <a:r>
              <a:rPr lang="es-ES" sz="1600" dirty="0">
                <a:solidFill>
                  <a:srgbClr val="005CC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lang="es-ES" sz="1600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600" dirty="0" err="1">
                <a:solidFill>
                  <a:srgbClr val="D73A4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es-ES" sz="1600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600" dirty="0">
                <a:solidFill>
                  <a:srgbClr val="D73A4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600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659" name="Google Shape;659;p43"/>
          <p:cNvGraphicFramePr/>
          <p:nvPr>
            <p:extLst>
              <p:ext uri="{D42A27DB-BD31-4B8C-83A1-F6EECF244321}">
                <p14:modId xmlns:p14="http://schemas.microsoft.com/office/powerpoint/2010/main" val="508738431"/>
              </p:ext>
            </p:extLst>
          </p:nvPr>
        </p:nvGraphicFramePr>
        <p:xfrm>
          <a:off x="3996759" y="4398304"/>
          <a:ext cx="5452600" cy="2163930"/>
        </p:xfrm>
        <a:graphic>
          <a:graphicData uri="http://schemas.openxmlformats.org/drawingml/2006/table">
            <a:tbl>
              <a:tblPr>
                <a:noFill/>
                <a:tableStyleId>{A3A52A41-BABC-4418-8BB8-58FADEB799A8}</a:tableStyleId>
              </a:tblPr>
              <a:tblGrid>
                <a:gridCol w="15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/>
                        <a:t>Variable</a:t>
                      </a:r>
                      <a:endParaRPr sz="18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Location (heap, stack, code)</a:t>
                      </a:r>
                      <a:endParaRPr sz="18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y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z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60" name="Google Shape;660;p43"/>
          <p:cNvGrpSpPr/>
          <p:nvPr/>
        </p:nvGrpSpPr>
        <p:grpSpPr>
          <a:xfrm>
            <a:off x="2047688" y="4398426"/>
            <a:ext cx="1377408" cy="2163839"/>
            <a:chOff x="1775100" y="4022850"/>
            <a:chExt cx="1076100" cy="1739700"/>
          </a:xfrm>
        </p:grpSpPr>
        <p:sp>
          <p:nvSpPr>
            <p:cNvPr id="661" name="Google Shape;661;p43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2" name="Google Shape;662;p43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663" name="Google Shape;663;p43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64" name="Google Shape;664;p43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2200"/>
              </a:p>
            </p:txBody>
          </p:sp>
          <p:sp>
            <p:nvSpPr>
              <p:cNvPr id="665" name="Google Shape;665;p43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666" name="Google Shape;666;p43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667" name="Google Shape;667;p43"/>
              <p:cNvCxnSpPr>
                <a:stCxn id="66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68" name="Google Shape;668;p43"/>
              <p:cNvCxnSpPr>
                <a:stCxn id="66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5" name="Google Shape;660;p43">
            <a:extLst>
              <a:ext uri="{FF2B5EF4-FFF2-40B4-BE49-F238E27FC236}">
                <a16:creationId xmlns:a16="http://schemas.microsoft.com/office/drawing/2014/main" id="{E77CE16F-DA0A-465F-81C2-CCA2BE665DBC}"/>
              </a:ext>
            </a:extLst>
          </p:cNvPr>
          <p:cNvGrpSpPr/>
          <p:nvPr/>
        </p:nvGrpSpPr>
        <p:grpSpPr>
          <a:xfrm>
            <a:off x="9984658" y="4398304"/>
            <a:ext cx="1377408" cy="2163839"/>
            <a:chOff x="1775100" y="4022850"/>
            <a:chExt cx="1076100" cy="1739700"/>
          </a:xfrm>
        </p:grpSpPr>
        <p:sp>
          <p:nvSpPr>
            <p:cNvPr id="16" name="Google Shape;661;p43">
              <a:extLst>
                <a:ext uri="{FF2B5EF4-FFF2-40B4-BE49-F238E27FC236}">
                  <a16:creationId xmlns:a16="http://schemas.microsoft.com/office/drawing/2014/main" id="{B3A1BDA0-C30F-4D3A-8197-780F7CBE2927}"/>
                </a:ext>
              </a:extLst>
            </p:cNvPr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662;p43">
              <a:extLst>
                <a:ext uri="{FF2B5EF4-FFF2-40B4-BE49-F238E27FC236}">
                  <a16:creationId xmlns:a16="http://schemas.microsoft.com/office/drawing/2014/main" id="{3217F360-45AD-4E54-8B44-4FEBB006D755}"/>
                </a:ext>
              </a:extLst>
            </p:cNvPr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8" name="Google Shape;663;p43">
                <a:extLst>
                  <a:ext uri="{FF2B5EF4-FFF2-40B4-BE49-F238E27FC236}">
                    <a16:creationId xmlns:a16="http://schemas.microsoft.com/office/drawing/2014/main" id="{C125966E-6D8B-4A28-B0BD-21FBB2E87D8F}"/>
                  </a:ext>
                </a:extLst>
              </p:cNvPr>
              <p:cNvSpPr/>
              <p:nvPr/>
            </p:nvSpPr>
            <p:spPr>
              <a:xfrm>
                <a:off x="7948250" y="2813125"/>
                <a:ext cx="1076100" cy="451341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Program 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0" name="Google Shape;665;p43">
                <a:extLst>
                  <a:ext uri="{FF2B5EF4-FFF2-40B4-BE49-F238E27FC236}">
                    <a16:creationId xmlns:a16="http://schemas.microsoft.com/office/drawing/2014/main" id="{E8038F88-9141-4348-964A-7C1C6403A755}"/>
                  </a:ext>
                </a:extLst>
              </p:cNvPr>
              <p:cNvSpPr/>
              <p:nvPr/>
            </p:nvSpPr>
            <p:spPr>
              <a:xfrm>
                <a:off x="7948250" y="3263763"/>
                <a:ext cx="1076100" cy="284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21" name="Google Shape;666;p43">
                <a:extLst>
                  <a:ext uri="{FF2B5EF4-FFF2-40B4-BE49-F238E27FC236}">
                    <a16:creationId xmlns:a16="http://schemas.microsoft.com/office/drawing/2014/main" id="{59E1F9ED-1A68-4DA1-80AD-63F0E57DDBFB}"/>
                  </a:ext>
                </a:extLst>
              </p:cNvPr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22" name="Google Shape;667;p43">
                <a:extLst>
                  <a:ext uri="{FF2B5EF4-FFF2-40B4-BE49-F238E27FC236}">
                    <a16:creationId xmlns:a16="http://schemas.microsoft.com/office/drawing/2014/main" id="{A7F75344-8AD3-4D3F-B622-CB6F256166BA}"/>
                  </a:ext>
                </a:extLst>
              </p:cNvPr>
              <p:cNvCxnSpPr>
                <a:stCxn id="20" idx="2"/>
              </p:cNvCxnSpPr>
              <p:nvPr/>
            </p:nvCxnSpPr>
            <p:spPr>
              <a:xfrm>
                <a:off x="8486300" y="3548164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" name="Google Shape;668;p43">
                <a:extLst>
                  <a:ext uri="{FF2B5EF4-FFF2-40B4-BE49-F238E27FC236}">
                    <a16:creationId xmlns:a16="http://schemas.microsoft.com/office/drawing/2014/main" id="{1A5C90C9-69FD-4B60-8085-1F81FFB473B3}"/>
                  </a:ext>
                </a:extLst>
              </p:cNvPr>
              <p:cNvCxnSpPr>
                <a:stCxn id="21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6C3839F-3D80-4CEA-89E0-03783F50AEA7}"/>
              </a:ext>
            </a:extLst>
          </p:cNvPr>
          <p:cNvSpPr txBox="1"/>
          <p:nvPr/>
        </p:nvSpPr>
        <p:spPr>
          <a:xfrm>
            <a:off x="9905277" y="3827765"/>
            <a:ext cx="1536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 err="1">
                <a:latin typeface="+mn-lt"/>
              </a:rPr>
              <a:t>Ostep</a:t>
            </a:r>
            <a:endParaRPr lang="es-CO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1186753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 dirty="0">
                <a:solidFill>
                  <a:schemeClr val="accent1"/>
                </a:solidFill>
              </a:rPr>
              <a:t>Hardware Address Translation - Address Translation (AT) </a:t>
            </a:r>
          </a:p>
        </p:txBody>
      </p:sp>
      <p:sp>
        <p:nvSpPr>
          <p:cNvPr id="223" name="Google Shape;223;p21"/>
          <p:cNvSpPr txBox="1">
            <a:spLocks noGrp="1"/>
          </p:cNvSpPr>
          <p:nvPr>
            <p:ph type="body" idx="1"/>
          </p:nvPr>
        </p:nvSpPr>
        <p:spPr>
          <a:xfrm>
            <a:off x="429952" y="1149983"/>
            <a:ext cx="11436097" cy="5925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89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None/>
            </a:pPr>
            <a:r>
              <a:rPr lang="es-ES" sz="2200" dirty="0"/>
              <a:t>Mecanismo mediante la traducción de </a:t>
            </a:r>
            <a:r>
              <a:rPr lang="es-ES" sz="2200" b="1" dirty="0">
                <a:solidFill>
                  <a:schemeClr val="accent2"/>
                </a:solidFill>
              </a:rPr>
              <a:t>direcciones virtuales</a:t>
            </a:r>
            <a:r>
              <a:rPr lang="es-ES" sz="2200" dirty="0"/>
              <a:t> a </a:t>
            </a:r>
            <a:r>
              <a:rPr lang="es-ES" sz="2200" b="1" dirty="0">
                <a:solidFill>
                  <a:schemeClr val="accent2"/>
                </a:solidFill>
              </a:rPr>
              <a:t>físicas</a:t>
            </a:r>
            <a:r>
              <a:rPr lang="es-ES" sz="2200" dirty="0"/>
              <a:t>.</a:t>
            </a: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b="1" dirty="0">
              <a:solidFill>
                <a:srgbClr val="8CC63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4" name="Google Shape;224;p21"/>
          <p:cNvGrpSpPr/>
          <p:nvPr/>
        </p:nvGrpSpPr>
        <p:grpSpPr>
          <a:xfrm>
            <a:off x="916650" y="3216750"/>
            <a:ext cx="10949400" cy="2601000"/>
            <a:chOff x="1094825" y="3502875"/>
            <a:chExt cx="10949400" cy="2601000"/>
          </a:xfrm>
        </p:grpSpPr>
        <p:grpSp>
          <p:nvGrpSpPr>
            <p:cNvPr id="225" name="Google Shape;225;p21"/>
            <p:cNvGrpSpPr/>
            <p:nvPr/>
          </p:nvGrpSpPr>
          <p:grpSpPr>
            <a:xfrm>
              <a:off x="3591725" y="3502875"/>
              <a:ext cx="5773200" cy="2601000"/>
              <a:chOff x="3401900" y="3456225"/>
              <a:chExt cx="5773200" cy="2601000"/>
            </a:xfrm>
          </p:grpSpPr>
          <p:sp>
            <p:nvSpPr>
              <p:cNvPr id="226" name="Google Shape;226;p21"/>
              <p:cNvSpPr/>
              <p:nvPr/>
            </p:nvSpPr>
            <p:spPr>
              <a:xfrm>
                <a:off x="4883000" y="3456225"/>
                <a:ext cx="2811000" cy="2601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3000" b="1" dirty="0">
                    <a:latin typeface="Courier New"/>
                    <a:ea typeface="Courier New"/>
                    <a:cs typeface="Courier New"/>
                    <a:sym typeface="Courier New"/>
                  </a:rPr>
                  <a:t>Address </a:t>
                </a:r>
                <a:r>
                  <a:rPr lang="es-ES" sz="3000" b="1" dirty="0" err="1">
                    <a:latin typeface="Courier New"/>
                    <a:ea typeface="Courier New"/>
                    <a:cs typeface="Courier New"/>
                    <a:sym typeface="Courier New"/>
                  </a:rPr>
                  <a:t>Translation</a:t>
                </a:r>
                <a:endParaRPr sz="30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227" name="Google Shape;227;p21"/>
              <p:cNvCxnSpPr/>
              <p:nvPr/>
            </p:nvCxnSpPr>
            <p:spPr>
              <a:xfrm>
                <a:off x="34019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8" name="Google Shape;228;p21"/>
              <p:cNvCxnSpPr/>
              <p:nvPr/>
            </p:nvCxnSpPr>
            <p:spPr>
              <a:xfrm>
                <a:off x="76940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29" name="Google Shape;229;p21"/>
            <p:cNvSpPr txBox="1"/>
            <p:nvPr/>
          </p:nvSpPr>
          <p:spPr>
            <a:xfrm>
              <a:off x="1094825" y="440317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Virtual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9364925" y="440317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urier New"/>
                  <a:ea typeface="Courier New"/>
                  <a:cs typeface="Courier New"/>
                  <a:sym typeface="Courier New"/>
                </a:rPr>
                <a:t>Physical</a:t>
              </a: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8844" y="2536150"/>
            <a:ext cx="1374025" cy="137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21"/>
          <p:cNvGrpSpPr/>
          <p:nvPr/>
        </p:nvGrpSpPr>
        <p:grpSpPr>
          <a:xfrm>
            <a:off x="916637" y="2746618"/>
            <a:ext cx="2257351" cy="1163557"/>
            <a:chOff x="916638" y="3584818"/>
            <a:chExt cx="2257351" cy="1163557"/>
          </a:xfrm>
        </p:grpSpPr>
        <p:grpSp>
          <p:nvGrpSpPr>
            <p:cNvPr id="233" name="Google Shape;233;p21"/>
            <p:cNvGrpSpPr/>
            <p:nvPr/>
          </p:nvGrpSpPr>
          <p:grpSpPr>
            <a:xfrm>
              <a:off x="2367667" y="3584818"/>
              <a:ext cx="806322" cy="1163511"/>
              <a:chOff x="1775100" y="4022850"/>
              <a:chExt cx="1076100" cy="1739700"/>
            </a:xfrm>
          </p:grpSpPr>
          <p:sp>
            <p:nvSpPr>
              <p:cNvPr id="234" name="Google Shape;234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5" name="Google Shape;235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36" name="Google Shape;236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37" name="Google Shape;237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38" name="Google Shape;238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239" name="Google Shape;239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240" name="Google Shape;240;p21"/>
                <p:cNvCxnSpPr>
                  <a:stCxn id="238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41" name="Google Shape;241;p21"/>
                <p:cNvCxnSpPr>
                  <a:stCxn id="239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42" name="Google Shape;242;p21"/>
            <p:cNvSpPr/>
            <p:nvPr/>
          </p:nvSpPr>
          <p:spPr>
            <a:xfrm>
              <a:off x="916638" y="3801025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43" name="Google Shape;243;p21"/>
            <p:cNvCxnSpPr/>
            <p:nvPr/>
          </p:nvCxnSpPr>
          <p:spPr>
            <a:xfrm rot="10800000" flipH="1">
              <a:off x="1281400" y="3586350"/>
              <a:ext cx="10650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4" name="Google Shape;244;p21"/>
            <p:cNvCxnSpPr/>
            <p:nvPr/>
          </p:nvCxnSpPr>
          <p:spPr>
            <a:xfrm>
              <a:off x="1274725" y="4564175"/>
              <a:ext cx="10647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105658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259" name="Google Shape;259;p23"/>
          <p:cNvSpPr txBox="1">
            <a:spLocks noGrp="1"/>
          </p:cNvSpPr>
          <p:nvPr>
            <p:ph type="body" idx="1"/>
          </p:nvPr>
        </p:nvSpPr>
        <p:spPr>
          <a:xfrm>
            <a:off x="347774" y="861525"/>
            <a:ext cx="7610551" cy="317953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Conceptos claves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 Virtualización de memoria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requiere soporte en hardware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sz="2200" dirty="0">
                <a:latin typeface="+mn-lt"/>
              </a:rPr>
              <a:t>Similar al mecanismo de </a:t>
            </a:r>
            <a:r>
              <a:rPr lang="es-ES" sz="2200" b="1" dirty="0">
                <a:latin typeface="+mn-lt"/>
              </a:rPr>
              <a:t>Ejecución Directa Limitada</a:t>
            </a:r>
            <a:r>
              <a:rPr lang="es-ES" sz="2200" dirty="0">
                <a:latin typeface="+mn-lt"/>
              </a:rPr>
              <a:t> (</a:t>
            </a:r>
            <a:r>
              <a:rPr lang="es-ES" sz="2200" b="1" dirty="0">
                <a:latin typeface="+mn-lt"/>
              </a:rPr>
              <a:t>Limited Direct Execution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s-ES" b="1" dirty="0">
                <a:latin typeface="+mn-lt"/>
              </a:rPr>
              <a:t>Objetivos</a:t>
            </a:r>
            <a:r>
              <a:rPr lang="es-ES" dirty="0">
                <a:latin typeface="+mn-lt"/>
              </a:rPr>
              <a:t>: </a:t>
            </a:r>
            <a:endParaRPr dirty="0">
              <a:latin typeface="+mn-lt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b="1" dirty="0">
                <a:latin typeface="+mn-lt"/>
              </a:rPr>
              <a:t>Eficiencia</a:t>
            </a:r>
            <a:r>
              <a:rPr lang="es-ES" sz="2200" dirty="0">
                <a:latin typeface="+mn-lt"/>
              </a:rPr>
              <a:t>: Uso del recurso lo mejor posible.</a:t>
            </a:r>
            <a:endParaRPr sz="2200" dirty="0">
              <a:latin typeface="+mn-lt"/>
            </a:endParaRPr>
          </a:p>
          <a:p>
            <a:pPr marL="1371600" lvl="2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s-ES" sz="2200" b="1" dirty="0">
                <a:latin typeface="+mn-lt"/>
              </a:rPr>
              <a:t>Control</a:t>
            </a:r>
            <a:r>
              <a:rPr lang="es-ES" sz="2200" dirty="0">
                <a:latin typeface="+mn-lt"/>
              </a:rPr>
              <a:t>: Protección y acceso correcto a memoria.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260" name="Google Shape;260;p23"/>
          <p:cNvGrpSpPr/>
          <p:nvPr/>
        </p:nvGrpSpPr>
        <p:grpSpPr>
          <a:xfrm>
            <a:off x="8153066" y="1322000"/>
            <a:ext cx="3396400" cy="4214000"/>
            <a:chOff x="8238925" y="1952025"/>
            <a:chExt cx="3396400" cy="4214000"/>
          </a:xfrm>
        </p:grpSpPr>
        <p:grpSp>
          <p:nvGrpSpPr>
            <p:cNvPr id="261" name="Google Shape;261;p23"/>
            <p:cNvGrpSpPr/>
            <p:nvPr/>
          </p:nvGrpSpPr>
          <p:grpSpPr>
            <a:xfrm>
              <a:off x="8326925" y="1952025"/>
              <a:ext cx="3308400" cy="4214000"/>
              <a:chOff x="8326925" y="1952025"/>
              <a:chExt cx="3308400" cy="4214000"/>
            </a:xfrm>
          </p:grpSpPr>
          <p:grpSp>
            <p:nvGrpSpPr>
              <p:cNvPr id="262" name="Google Shape;262;p23"/>
              <p:cNvGrpSpPr/>
              <p:nvPr/>
            </p:nvGrpSpPr>
            <p:grpSpPr>
              <a:xfrm>
                <a:off x="8326925" y="1952025"/>
                <a:ext cx="3308400" cy="2861100"/>
                <a:chOff x="8326925" y="1952025"/>
                <a:chExt cx="3308400" cy="2861100"/>
              </a:xfrm>
            </p:grpSpPr>
            <p:sp>
              <p:nvSpPr>
                <p:cNvPr id="263" name="Google Shape;263;p23"/>
                <p:cNvSpPr/>
                <p:nvPr/>
              </p:nvSpPr>
              <p:spPr>
                <a:xfrm>
                  <a:off x="8326925" y="1952025"/>
                  <a:ext cx="3308400" cy="28611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64" name="Google Shape;264;p23"/>
                <p:cNvSpPr txBox="1"/>
                <p:nvPr/>
              </p:nvSpPr>
              <p:spPr>
                <a:xfrm>
                  <a:off x="8918725" y="2022248"/>
                  <a:ext cx="21030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nsolas"/>
                      <a:ea typeface="Consolas"/>
                      <a:cs typeface="Consolas"/>
                      <a:sym typeface="Consolas"/>
                    </a:rPr>
                    <a:t>Chip CPU</a:t>
                  </a:r>
                  <a:endParaRPr sz="24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65" name="Google Shape;265;p23"/>
                <p:cNvSpPr/>
                <p:nvPr/>
              </p:nvSpPr>
              <p:spPr>
                <a:xfrm>
                  <a:off x="9475825" y="2651240"/>
                  <a:ext cx="988800" cy="995400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20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66" name="Google Shape;266;p23"/>
                <p:cNvSpPr/>
                <p:nvPr/>
              </p:nvSpPr>
              <p:spPr>
                <a:xfrm>
                  <a:off x="9265525" y="4103175"/>
                  <a:ext cx="1409400" cy="523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267" name="Google Shape;267;p23"/>
              <p:cNvSpPr/>
              <p:nvPr/>
            </p:nvSpPr>
            <p:spPr>
              <a:xfrm>
                <a:off x="8873125" y="5394125"/>
                <a:ext cx="2194200" cy="7719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/>
                    <a:ea typeface="Consolas"/>
                    <a:cs typeface="Consolas"/>
                    <a:sym typeface="Consolas"/>
                  </a:rPr>
                  <a:t>Main Memory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68" name="Google Shape;268;p23"/>
              <p:cNvCxnSpPr>
                <a:stCxn id="265" idx="4"/>
                <a:endCxn id="266" idx="0"/>
              </p:cNvCxnSpPr>
              <p:nvPr/>
            </p:nvCxnSpPr>
            <p:spPr>
              <a:xfrm>
                <a:off x="9970225" y="36466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69" name="Google Shape;269;p23"/>
              <p:cNvCxnSpPr>
                <a:stCxn id="266" idx="2"/>
                <a:endCxn id="267" idx="0"/>
              </p:cNvCxnSpPr>
              <p:nvPr/>
            </p:nvCxnSpPr>
            <p:spPr>
              <a:xfrm>
                <a:off x="9970225" y="4626375"/>
                <a:ext cx="0" cy="76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70" name="Google Shape;270;p23"/>
            <p:cNvSpPr txBox="1"/>
            <p:nvPr/>
          </p:nvSpPr>
          <p:spPr>
            <a:xfrm>
              <a:off x="8238925" y="3690250"/>
              <a:ext cx="166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8238925" y="4918975"/>
              <a:ext cx="166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 err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Address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72" name="Google Shape;272;p23"/>
          <p:cNvSpPr txBox="1"/>
          <p:nvPr/>
        </p:nvSpPr>
        <p:spPr>
          <a:xfrm>
            <a:off x="345875" y="5213675"/>
            <a:ext cx="2906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Soporte en hardware</a:t>
            </a:r>
            <a:endParaRPr sz="1200" dirty="0"/>
          </a:p>
        </p:txBody>
      </p:sp>
      <p:sp>
        <p:nvSpPr>
          <p:cNvPr id="273" name="Google Shape;273;p23"/>
          <p:cNvSpPr txBox="1"/>
          <p:nvPr/>
        </p:nvSpPr>
        <p:spPr>
          <a:xfrm>
            <a:off x="3520054" y="4518878"/>
            <a:ext cx="31476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Modos de CPU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Interrupciones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Registros</a:t>
            </a:r>
            <a:endParaRPr sz="1800" dirty="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Segment tables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TLB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Page Tables</a:t>
            </a:r>
            <a:endParaRPr sz="18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3447316" y="4492445"/>
            <a:ext cx="308100" cy="21240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>
            <a:spLocks noGrp="1"/>
          </p:cNvSpPr>
          <p:nvPr>
            <p:ph type="title"/>
          </p:nvPr>
        </p:nvSpPr>
        <p:spPr>
          <a:xfrm>
            <a:off x="471948" y="96038"/>
            <a:ext cx="10919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280" name="Google Shape;280;p24"/>
          <p:cNvSpPr txBox="1">
            <a:spLocks noGrp="1"/>
          </p:cNvSpPr>
          <p:nvPr>
            <p:ph type="body" idx="1"/>
          </p:nvPr>
        </p:nvSpPr>
        <p:spPr>
          <a:xfrm>
            <a:off x="589935" y="835600"/>
            <a:ext cx="11246415" cy="211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Las direcciones del espacio de direcciones son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virtuales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hardware traduce las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direcciones virtuales</a:t>
            </a:r>
            <a:r>
              <a:rPr lang="es-ES" sz="2400" dirty="0">
                <a:latin typeface="+mn-lt"/>
              </a:rPr>
              <a:t> a </a:t>
            </a:r>
            <a:r>
              <a:rPr lang="es-ES" sz="2400" b="1" dirty="0">
                <a:solidFill>
                  <a:schemeClr val="accent6"/>
                </a:solidFill>
                <a:latin typeface="+mn-lt"/>
              </a:rPr>
              <a:t>direcciones físicas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La información es </a:t>
            </a:r>
            <a:r>
              <a:rPr lang="es-ES" sz="2400" b="1" dirty="0">
                <a:latin typeface="+mn-lt"/>
              </a:rPr>
              <a:t>almacenada</a:t>
            </a:r>
            <a:r>
              <a:rPr lang="es-ES" sz="2400" dirty="0">
                <a:latin typeface="+mn-lt"/>
              </a:rPr>
              <a:t> en las direcciones físicas.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El SO debe configurar el hardware en ciertos momentos clave.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El SO administra la memoria e interviene cuando es necesario.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096000" y="5582000"/>
            <a:ext cx="1085100" cy="8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MMU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1831961" y="5168945"/>
            <a:ext cx="1085100" cy="88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86" name="Google Shape;286;p24"/>
          <p:cNvGrpSpPr/>
          <p:nvPr/>
        </p:nvGrpSpPr>
        <p:grpSpPr>
          <a:xfrm>
            <a:off x="3304594" y="3643879"/>
            <a:ext cx="806322" cy="1163511"/>
            <a:chOff x="1775100" y="4022850"/>
            <a:chExt cx="1076100" cy="1739701"/>
          </a:xfrm>
        </p:grpSpPr>
        <p:sp>
          <p:nvSpPr>
            <p:cNvPr id="287" name="Google Shape;287;p24"/>
            <p:cNvSpPr/>
            <p:nvPr/>
          </p:nvSpPr>
          <p:spPr>
            <a:xfrm>
              <a:off x="1775100" y="4022851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" name="Google Shape;288;p24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289" name="Google Shape;289;p24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/>
                    <a:ea typeface="Consolas"/>
                    <a:cs typeface="Consolas"/>
                    <a:sym typeface="Consolas"/>
                  </a:rPr>
                  <a:t>Code</a:t>
                </a:r>
                <a:endParaRPr sz="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0" name="Google Shape;290;p24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/>
                    <a:ea typeface="Consolas"/>
                    <a:cs typeface="Consolas"/>
                    <a:sym typeface="Consolas"/>
                  </a:rPr>
                  <a:t>Data</a:t>
                </a:r>
                <a:endParaRPr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/>
                    <a:ea typeface="Consolas"/>
                    <a:cs typeface="Consolas"/>
                    <a:sym typeface="Consolas"/>
                  </a:rPr>
                  <a:t>heap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292" name="Google Shape;292;p24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nsolas"/>
                    <a:ea typeface="Consolas"/>
                    <a:cs typeface="Consolas"/>
                    <a:sym typeface="Consolas"/>
                  </a:rPr>
                  <a:t>stack</a:t>
                </a:r>
                <a:endParaRPr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93" name="Google Shape;293;p24"/>
              <p:cNvCxnSpPr>
                <a:stCxn id="291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94" name="Google Shape;294;p24"/>
              <p:cNvCxnSpPr>
                <a:stCxn id="292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95" name="Google Shape;295;p24"/>
          <p:cNvGrpSpPr/>
          <p:nvPr/>
        </p:nvGrpSpPr>
        <p:grpSpPr>
          <a:xfrm>
            <a:off x="9804811" y="4317920"/>
            <a:ext cx="822300" cy="2116200"/>
            <a:chOff x="10751325" y="1410900"/>
            <a:chExt cx="822300" cy="2116200"/>
          </a:xfrm>
        </p:grpSpPr>
        <p:sp>
          <p:nvSpPr>
            <p:cNvPr id="296" name="Google Shape;296;p24"/>
            <p:cNvSpPr/>
            <p:nvPr/>
          </p:nvSpPr>
          <p:spPr>
            <a:xfrm>
              <a:off x="10751325" y="1410900"/>
              <a:ext cx="822300" cy="21162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7" name="Google Shape;297;p24"/>
            <p:cNvGrpSpPr/>
            <p:nvPr/>
          </p:nvGrpSpPr>
          <p:grpSpPr>
            <a:xfrm>
              <a:off x="10759317" y="1913468"/>
              <a:ext cx="806322" cy="1163511"/>
              <a:chOff x="1775100" y="4022850"/>
              <a:chExt cx="1076100" cy="1739700"/>
            </a:xfrm>
          </p:grpSpPr>
          <p:sp>
            <p:nvSpPr>
              <p:cNvPr id="298" name="Google Shape;298;p24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9" name="Google Shape;299;p24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300" name="Google Shape;300;p24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01" name="Google Shape;301;p24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302" name="Google Shape;302;p24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303" name="Google Shape;303;p24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304" name="Google Shape;304;p24"/>
                <p:cNvCxnSpPr>
                  <a:stCxn id="30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05" name="Google Shape;305;p24"/>
                <p:cNvCxnSpPr>
                  <a:stCxn id="30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cxnSp>
        <p:nvCxnSpPr>
          <p:cNvPr id="306" name="Google Shape;306;p24"/>
          <p:cNvCxnSpPr>
            <a:cxnSpLocks/>
            <a:stCxn id="285" idx="3"/>
            <a:endCxn id="284" idx="1"/>
          </p:cNvCxnSpPr>
          <p:nvPr/>
        </p:nvCxnSpPr>
        <p:spPr>
          <a:xfrm>
            <a:off x="2917061" y="5609345"/>
            <a:ext cx="3178939" cy="41305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8" name="Google Shape;308;p24"/>
          <p:cNvCxnSpPr>
            <a:stCxn id="284" idx="3"/>
            <a:endCxn id="302" idx="1"/>
          </p:cNvCxnSpPr>
          <p:nvPr/>
        </p:nvCxnSpPr>
        <p:spPr>
          <a:xfrm flipV="1">
            <a:off x="7181100" y="5312140"/>
            <a:ext cx="2631703" cy="71026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9" name="Google Shape;309;p24"/>
          <p:cNvSpPr txBox="1"/>
          <p:nvPr/>
        </p:nvSpPr>
        <p:spPr>
          <a:xfrm>
            <a:off x="3010583" y="5260622"/>
            <a:ext cx="1728231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8679686" y="4684620"/>
            <a:ext cx="102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Address</a:t>
            </a:r>
            <a:endParaRPr sz="10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3088613" y="3265962"/>
            <a:ext cx="1331659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12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9851911" y="3681783"/>
            <a:ext cx="77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 Memory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DAFB1D3B-5F05-4C1A-8BC3-8C5FF9294D14}"/>
              </a:ext>
            </a:extLst>
          </p:cNvPr>
          <p:cNvCxnSpPr/>
          <p:nvPr/>
        </p:nvCxnSpPr>
        <p:spPr>
          <a:xfrm>
            <a:off x="2959085" y="3738982"/>
            <a:ext cx="26418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Google Shape;309;p24">
            <a:extLst>
              <a:ext uri="{FF2B5EF4-FFF2-40B4-BE49-F238E27FC236}">
                <a16:creationId xmlns:a16="http://schemas.microsoft.com/office/drawing/2014/main" id="{EF243A74-7416-4D1F-B110-07F623C3B787}"/>
              </a:ext>
            </a:extLst>
          </p:cNvPr>
          <p:cNvSpPr txBox="1"/>
          <p:nvPr/>
        </p:nvSpPr>
        <p:spPr>
          <a:xfrm>
            <a:off x="1330853" y="3569720"/>
            <a:ext cx="1668397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18" name="Google Shape;318;p25"/>
          <p:cNvSpPr txBox="1">
            <a:spLocks noGrp="1"/>
          </p:cNvSpPr>
          <p:nvPr>
            <p:ph type="body" idx="1"/>
          </p:nvPr>
        </p:nvSpPr>
        <p:spPr>
          <a:xfrm>
            <a:off x="355650" y="835600"/>
            <a:ext cx="11480700" cy="565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Para el siguiente fragmento de código asuma que la variable x está en la dirección 15360 (15K) y que las direcciones de las instrucciones generadas en lenguaje ensamblador (similar al MIPS) están en las direcciones mostradas a continuación.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+mn-lt"/>
              </a:rPr>
              <a:t>¿Cómo se ejecutaría el código asociado a la instrucción </a:t>
            </a:r>
            <a:r>
              <a:rPr lang="es-ES" sz="2000" b="1" dirty="0">
                <a:solidFill>
                  <a:srgbClr val="FF0000"/>
                </a:solidFill>
                <a:latin typeface="+mn-lt"/>
                <a:ea typeface="Courier New"/>
                <a:cs typeface="Courier New"/>
                <a:sym typeface="Courier New"/>
              </a:rPr>
              <a:t>x = x + 3</a:t>
            </a:r>
            <a:r>
              <a:rPr lang="es-ES" sz="2000" dirty="0">
                <a:solidFill>
                  <a:srgbClr val="FF0000"/>
                </a:solidFill>
                <a:latin typeface="+mn-lt"/>
              </a:rPr>
              <a:t>?</a:t>
            </a:r>
            <a:endParaRPr sz="2000" dirty="0">
              <a:solidFill>
                <a:srgbClr val="FF00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19" name="Google Shape;319;p25"/>
          <p:cNvGrpSpPr/>
          <p:nvPr/>
        </p:nvGrpSpPr>
        <p:grpSpPr>
          <a:xfrm>
            <a:off x="1348087" y="2725262"/>
            <a:ext cx="9495825" cy="1872375"/>
            <a:chOff x="1524825" y="3335225"/>
            <a:chExt cx="9495825" cy="1872375"/>
          </a:xfrm>
        </p:grpSpPr>
        <p:sp>
          <p:nvSpPr>
            <p:cNvPr id="320" name="Google Shape;320;p25"/>
            <p:cNvSpPr txBox="1"/>
            <p:nvPr/>
          </p:nvSpPr>
          <p:spPr>
            <a:xfrm>
              <a:off x="1524825" y="3947900"/>
              <a:ext cx="2724900" cy="12597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void func() {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int x = 3000;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</a:t>
              </a:r>
              <a:r>
                <a:rPr lang="es-ES" sz="1800" b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x = x + 3;</a:t>
              </a:r>
              <a:endParaRPr sz="1800" b="1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24292E"/>
                  </a:solidFill>
                  <a:highlight>
                    <a:srgbClr val="F3F3F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800">
                <a:solidFill>
                  <a:srgbClr val="24292E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321" name="Google Shape;321;p25"/>
            <p:cNvCxnSpPr>
              <a:endCxn id="322" idx="1"/>
            </p:cNvCxnSpPr>
            <p:nvPr/>
          </p:nvCxnSpPr>
          <p:spPr>
            <a:xfrm rot="10800000" flipH="1">
              <a:off x="3499350" y="4424900"/>
              <a:ext cx="4132500" cy="305700"/>
            </a:xfrm>
            <a:prstGeom prst="bent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3" name="Google Shape;323;p25"/>
            <p:cNvSpPr txBox="1"/>
            <p:nvPr/>
          </p:nvSpPr>
          <p:spPr>
            <a:xfrm>
              <a:off x="1735400" y="3423050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Roboto"/>
                  <a:ea typeface="Roboto"/>
                  <a:cs typeface="Roboto"/>
                  <a:sym typeface="Roboto"/>
                </a:rPr>
                <a:t>Lenguaje C</a:t>
              </a:r>
              <a:endParaRPr sz="20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4" name="Google Shape;324;p25"/>
            <p:cNvSpPr txBox="1"/>
            <p:nvPr/>
          </p:nvSpPr>
          <p:spPr>
            <a:xfrm>
              <a:off x="8646925" y="3335225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Roboto"/>
                  <a:ea typeface="Roboto"/>
                  <a:cs typeface="Roboto"/>
                  <a:sym typeface="Roboto"/>
                </a:rPr>
                <a:t>Ensamblador</a:t>
              </a:r>
              <a:endParaRPr sz="2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25" name="Google Shape;325;p25"/>
            <p:cNvGrpSpPr/>
            <p:nvPr/>
          </p:nvGrpSpPr>
          <p:grpSpPr>
            <a:xfrm>
              <a:off x="7631850" y="3915650"/>
              <a:ext cx="3388800" cy="1018500"/>
              <a:chOff x="7631850" y="3915650"/>
              <a:chExt cx="3388800" cy="1018500"/>
            </a:xfrm>
          </p:grpSpPr>
          <p:sp>
            <p:nvSpPr>
              <p:cNvPr id="326" name="Google Shape;326;p25"/>
              <p:cNvSpPr txBox="1"/>
              <p:nvPr/>
            </p:nvSpPr>
            <p:spPr>
              <a:xfrm>
                <a:off x="8359050" y="3915650"/>
                <a:ext cx="2661600" cy="10185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lw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err="1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addi</a:t>
                </a: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 $S0, $S0, 3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err="1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sw</a:t>
                </a: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2" name="Google Shape;322;p25"/>
              <p:cNvSpPr txBox="1"/>
              <p:nvPr/>
            </p:nvSpPr>
            <p:spPr>
              <a:xfrm>
                <a:off x="7631850" y="3917000"/>
                <a:ext cx="7272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128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132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135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 txBox="1">
            <a:spLocks noGrp="1"/>
          </p:cNvSpPr>
          <p:nvPr>
            <p:ph type="title"/>
          </p:nvPr>
        </p:nvSpPr>
        <p:spPr>
          <a:xfrm>
            <a:off x="264910" y="96038"/>
            <a:ext cx="895574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332" name="Google Shape;332;p26"/>
          <p:cNvSpPr txBox="1">
            <a:spLocks noGrp="1"/>
          </p:cNvSpPr>
          <p:nvPr>
            <p:ph type="body" idx="1"/>
          </p:nvPr>
        </p:nvSpPr>
        <p:spPr>
          <a:xfrm>
            <a:off x="264910" y="998514"/>
            <a:ext cx="11662179" cy="65937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33" name="Google Shape;333;p26"/>
          <p:cNvGrpSpPr/>
          <p:nvPr/>
        </p:nvGrpSpPr>
        <p:grpSpPr>
          <a:xfrm>
            <a:off x="510877" y="2294894"/>
            <a:ext cx="3388800" cy="1625725"/>
            <a:chOff x="1309163" y="2018550"/>
            <a:chExt cx="3388800" cy="1625725"/>
          </a:xfrm>
        </p:grpSpPr>
        <p:sp>
          <p:nvSpPr>
            <p:cNvPr id="334" name="Google Shape;334;p26"/>
            <p:cNvSpPr txBox="1"/>
            <p:nvPr/>
          </p:nvSpPr>
          <p:spPr>
            <a:xfrm>
              <a:off x="2378300" y="2018550"/>
              <a:ext cx="1928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Roboto"/>
                  <a:ea typeface="Roboto"/>
                  <a:cs typeface="Roboto"/>
                  <a:sym typeface="Roboto"/>
                </a:rPr>
                <a:t>Ensamblador</a:t>
              </a:r>
              <a:endParaRPr sz="2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335" name="Google Shape;335;p26"/>
            <p:cNvGrpSpPr/>
            <p:nvPr/>
          </p:nvGrpSpPr>
          <p:grpSpPr>
            <a:xfrm>
              <a:off x="1309163" y="2625775"/>
              <a:ext cx="3388800" cy="1018500"/>
              <a:chOff x="7631850" y="3915650"/>
              <a:chExt cx="3388800" cy="1018500"/>
            </a:xfrm>
          </p:grpSpPr>
          <p:sp>
            <p:nvSpPr>
              <p:cNvPr id="336" name="Google Shape;336;p26"/>
              <p:cNvSpPr txBox="1"/>
              <p:nvPr/>
            </p:nvSpPr>
            <p:spPr>
              <a:xfrm>
                <a:off x="8359050" y="3915650"/>
                <a:ext cx="2661600" cy="10185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lw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err="1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addi</a:t>
                </a: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 $S0, $S0, 3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dirty="0" err="1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sw</a:t>
                </a:r>
                <a:r>
                  <a:rPr lang="es-ES" sz="1800" dirty="0">
                    <a:solidFill>
                      <a:srgbClr val="24292E"/>
                    </a:solidFill>
                    <a:highlight>
                      <a:srgbClr val="FFF2CC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 $S0, 15360</a:t>
                </a:r>
                <a:endParaRPr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500" dirty="0">
                  <a:solidFill>
                    <a:srgbClr val="24292E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37" name="Google Shape;337;p26"/>
              <p:cNvSpPr txBox="1"/>
              <p:nvPr/>
            </p:nvSpPr>
            <p:spPr>
              <a:xfrm>
                <a:off x="7631850" y="3917000"/>
                <a:ext cx="7272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128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132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rgbClr val="FF0000"/>
                    </a:solidFill>
                    <a:highlight>
                      <a:schemeClr val="lt1"/>
                    </a:highlight>
                    <a:latin typeface="Courier New"/>
                    <a:ea typeface="Courier New"/>
                    <a:cs typeface="Courier New"/>
                    <a:sym typeface="Courier New"/>
                  </a:rPr>
                  <a:t>135</a:t>
                </a:r>
                <a:endParaRPr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pic>
        <p:nvPicPr>
          <p:cNvPr id="338" name="Google Shape;3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726" y="2294894"/>
            <a:ext cx="6555025" cy="276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pic>
        <p:nvPicPr>
          <p:cNvPr id="344" name="Google Shape;3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590" y="779799"/>
            <a:ext cx="2615760" cy="5946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77" y="2455129"/>
            <a:ext cx="2491500" cy="21525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6" name="Google Shape;346;p27"/>
          <p:cNvGrpSpPr/>
          <p:nvPr/>
        </p:nvGrpSpPr>
        <p:grpSpPr>
          <a:xfrm>
            <a:off x="3463152" y="1805762"/>
            <a:ext cx="3804000" cy="3246475"/>
            <a:chOff x="7362525" y="1459350"/>
            <a:chExt cx="3804000" cy="3246475"/>
          </a:xfrm>
        </p:grpSpPr>
        <p:sp>
          <p:nvSpPr>
            <p:cNvPr id="347" name="Google Shape;347;p27"/>
            <p:cNvSpPr/>
            <p:nvPr/>
          </p:nvSpPr>
          <p:spPr>
            <a:xfrm>
              <a:off x="7362525" y="2013625"/>
              <a:ext cx="3804000" cy="2692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" name="Google Shape;348;p27"/>
            <p:cNvGrpSpPr/>
            <p:nvPr/>
          </p:nvGrpSpPr>
          <p:grpSpPr>
            <a:xfrm>
              <a:off x="7536650" y="2397550"/>
              <a:ext cx="3339000" cy="1924350"/>
              <a:chOff x="7536650" y="2397550"/>
              <a:chExt cx="3339000" cy="1924350"/>
            </a:xfrm>
          </p:grpSpPr>
          <p:grpSp>
            <p:nvGrpSpPr>
              <p:cNvPr id="349" name="Google Shape;349;p27"/>
              <p:cNvGrpSpPr/>
              <p:nvPr/>
            </p:nvGrpSpPr>
            <p:grpSpPr>
              <a:xfrm>
                <a:off x="7643750" y="2397550"/>
                <a:ext cx="3231900" cy="523200"/>
                <a:chOff x="7643750" y="2397550"/>
                <a:chExt cx="3231900" cy="523200"/>
              </a:xfrm>
            </p:grpSpPr>
            <p:sp>
              <p:nvSpPr>
                <p:cNvPr id="350" name="Google Shape;350;p27"/>
                <p:cNvSpPr/>
                <p:nvPr/>
              </p:nvSpPr>
              <p:spPr>
                <a:xfrm>
                  <a:off x="8259950" y="2458150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27"/>
                <p:cNvSpPr txBox="1"/>
                <p:nvPr/>
              </p:nvSpPr>
              <p:spPr>
                <a:xfrm>
                  <a:off x="7643750" y="2397550"/>
                  <a:ext cx="5091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IR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352" name="Google Shape;352;p27"/>
              <p:cNvGrpSpPr/>
              <p:nvPr/>
            </p:nvGrpSpPr>
            <p:grpSpPr>
              <a:xfrm>
                <a:off x="7643750" y="3098125"/>
                <a:ext cx="3231900" cy="523200"/>
                <a:chOff x="7643750" y="3098125"/>
                <a:chExt cx="3231900" cy="523200"/>
              </a:xfrm>
            </p:grpSpPr>
            <p:sp>
              <p:nvSpPr>
                <p:cNvPr id="353" name="Google Shape;353;p27"/>
                <p:cNvSpPr/>
                <p:nvPr/>
              </p:nvSpPr>
              <p:spPr>
                <a:xfrm>
                  <a:off x="8259950" y="3158725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27"/>
                <p:cNvSpPr txBox="1"/>
                <p:nvPr/>
              </p:nvSpPr>
              <p:spPr>
                <a:xfrm>
                  <a:off x="7643750" y="3098125"/>
                  <a:ext cx="5091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PC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355" name="Google Shape;355;p27"/>
              <p:cNvGrpSpPr/>
              <p:nvPr/>
            </p:nvGrpSpPr>
            <p:grpSpPr>
              <a:xfrm>
                <a:off x="7536650" y="3798700"/>
                <a:ext cx="3339000" cy="523200"/>
                <a:chOff x="7536650" y="3798700"/>
                <a:chExt cx="3339000" cy="523200"/>
              </a:xfrm>
            </p:grpSpPr>
            <p:sp>
              <p:nvSpPr>
                <p:cNvPr id="356" name="Google Shape;356;p27"/>
                <p:cNvSpPr/>
                <p:nvPr/>
              </p:nvSpPr>
              <p:spPr>
                <a:xfrm>
                  <a:off x="8259950" y="3859300"/>
                  <a:ext cx="2615700" cy="4020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27"/>
                <p:cNvSpPr txBox="1"/>
                <p:nvPr/>
              </p:nvSpPr>
              <p:spPr>
                <a:xfrm>
                  <a:off x="7536650" y="3798700"/>
                  <a:ext cx="7233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200" b="1">
                      <a:latin typeface="Consolas"/>
                      <a:ea typeface="Consolas"/>
                      <a:cs typeface="Consolas"/>
                      <a:sym typeface="Consolas"/>
                    </a:rPr>
                    <a:t>$s0</a:t>
                  </a:r>
                  <a:endParaRPr sz="2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sp>
          <p:nvSpPr>
            <p:cNvPr id="358" name="Google Shape;358;p27"/>
            <p:cNvSpPr txBox="1"/>
            <p:nvPr/>
          </p:nvSpPr>
          <p:spPr>
            <a:xfrm>
              <a:off x="8969875" y="1459350"/>
              <a:ext cx="7770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6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26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pic>
        <p:nvPicPr>
          <p:cNvPr id="364" name="Google Shape;3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35" y="928914"/>
            <a:ext cx="2550678" cy="57314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5" name="Google Shape;365;p28"/>
          <p:cNvGrpSpPr/>
          <p:nvPr/>
        </p:nvGrpSpPr>
        <p:grpSpPr>
          <a:xfrm>
            <a:off x="3344005" y="1058450"/>
            <a:ext cx="3388800" cy="1018500"/>
            <a:chOff x="7471100" y="3795100"/>
            <a:chExt cx="3388800" cy="1018500"/>
          </a:xfrm>
        </p:grpSpPr>
        <p:sp>
          <p:nvSpPr>
            <p:cNvPr id="366" name="Google Shape;366;p28"/>
            <p:cNvSpPr txBox="1"/>
            <p:nvPr/>
          </p:nvSpPr>
          <p:spPr>
            <a:xfrm>
              <a:off x="8198300" y="3795100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 err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addi</a:t>
              </a: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$S0, 3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 err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sw</a:t>
              </a: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67" name="Google Shape;367;p28"/>
            <p:cNvSpPr txBox="1"/>
            <p:nvPr/>
          </p:nvSpPr>
          <p:spPr>
            <a:xfrm>
              <a:off x="7471100" y="3796450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132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135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8" name="Google Shape;368;p28"/>
          <p:cNvGrpSpPr/>
          <p:nvPr/>
        </p:nvGrpSpPr>
        <p:grpSpPr>
          <a:xfrm>
            <a:off x="3335794" y="3073121"/>
            <a:ext cx="3388800" cy="1018500"/>
            <a:chOff x="7318700" y="3788400"/>
            <a:chExt cx="3388800" cy="1018500"/>
          </a:xfrm>
        </p:grpSpPr>
        <p:sp>
          <p:nvSpPr>
            <p:cNvPr id="369" name="Google Shape;369;p28"/>
            <p:cNvSpPr txBox="1"/>
            <p:nvPr/>
          </p:nvSpPr>
          <p:spPr>
            <a:xfrm>
              <a:off x="8045900" y="3788400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 err="1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addi</a:t>
              </a: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$S0, 3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 err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sw</a:t>
              </a: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0" name="Google Shape;370;p28"/>
            <p:cNvSpPr txBox="1"/>
            <p:nvPr/>
          </p:nvSpPr>
          <p:spPr>
            <a:xfrm>
              <a:off x="7318700" y="3789750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132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135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71" name="Google Shape;371;p28"/>
          <p:cNvGrpSpPr/>
          <p:nvPr/>
        </p:nvGrpSpPr>
        <p:grpSpPr>
          <a:xfrm>
            <a:off x="3335794" y="5038850"/>
            <a:ext cx="3388800" cy="1018500"/>
            <a:chOff x="7233275" y="4129925"/>
            <a:chExt cx="3388800" cy="1018500"/>
          </a:xfrm>
        </p:grpSpPr>
        <p:sp>
          <p:nvSpPr>
            <p:cNvPr id="372" name="Google Shape;372;p28"/>
            <p:cNvSpPr txBox="1"/>
            <p:nvPr/>
          </p:nvSpPr>
          <p:spPr>
            <a:xfrm>
              <a:off x="7960475" y="4129925"/>
              <a:ext cx="2661600" cy="10185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 err="1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addi</a:t>
              </a:r>
              <a:r>
                <a:rPr lang="es-ES" sz="1800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$S0, 3</a:t>
              </a:r>
              <a:endParaRPr sz="1800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 err="1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sw</a:t>
              </a:r>
              <a:r>
                <a:rPr lang="es-ES" sz="1800" b="1" dirty="0">
                  <a:solidFill>
                    <a:srgbClr val="24292E"/>
                  </a:solidFill>
                  <a:highlight>
                    <a:srgbClr val="D9EAD3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$S0, 15360</a:t>
              </a:r>
              <a:endParaRPr sz="1800" b="1" dirty="0">
                <a:solidFill>
                  <a:srgbClr val="24292E"/>
                </a:solidFill>
                <a:highlight>
                  <a:srgbClr val="D9EAD3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73" name="Google Shape;373;p28"/>
            <p:cNvSpPr txBox="1"/>
            <p:nvPr/>
          </p:nvSpPr>
          <p:spPr>
            <a:xfrm>
              <a:off x="7233275" y="4131275"/>
              <a:ext cx="7272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132</a:t>
              </a:r>
              <a:endParaRPr sz="1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rgbClr val="70AD47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135</a:t>
              </a:r>
              <a:endParaRPr sz="1800" b="1">
                <a:solidFill>
                  <a:srgbClr val="70AD47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374" name="Google Shape;374;p28"/>
          <p:cNvSpPr txBox="1"/>
          <p:nvPr/>
        </p:nvSpPr>
        <p:spPr>
          <a:xfrm>
            <a:off x="6822815" y="1058450"/>
            <a:ext cx="49425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Trae (</a:t>
            </a:r>
            <a:r>
              <a:rPr lang="es-ES" sz="1800" b="1" dirty="0" err="1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fetch</a:t>
            </a: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instrucción desde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128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Ejecuta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esta instrucción </a:t>
            </a: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[Acceso a </a:t>
            </a:r>
            <a:r>
              <a:rPr lang="es-ES" sz="1800" b="1" dirty="0" err="1">
                <a:latin typeface="Roboto"/>
                <a:ea typeface="Roboto"/>
                <a:cs typeface="Roboto"/>
                <a:sym typeface="Roboto"/>
              </a:rPr>
              <a:t>Mem</a:t>
            </a: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 b="1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b="1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Carga</a:t>
            </a:r>
            <a:r>
              <a:rPr lang="es-ES" sz="1800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load</a:t>
            </a:r>
            <a:r>
              <a:rPr lang="es-ES" sz="1800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dato desde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15K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28"/>
          <p:cNvSpPr txBox="1"/>
          <p:nvPr/>
        </p:nvSpPr>
        <p:spPr>
          <a:xfrm>
            <a:off x="6888075" y="3073121"/>
            <a:ext cx="51441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Trae (</a:t>
            </a:r>
            <a:r>
              <a:rPr lang="es-ES" sz="1800" b="1" dirty="0" err="1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fetch</a:t>
            </a: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instrucción desde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132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Ejecuta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esta instrucción </a:t>
            </a: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[No acceso a </a:t>
            </a:r>
            <a:r>
              <a:rPr lang="es-ES" sz="1800" b="1" dirty="0" err="1">
                <a:latin typeface="Roboto"/>
                <a:ea typeface="Roboto"/>
                <a:cs typeface="Roboto"/>
                <a:sym typeface="Roboto"/>
              </a:rPr>
              <a:t>Mem</a:t>
            </a: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]</a:t>
            </a:r>
            <a:endParaRPr sz="1800" b="1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b="1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Incremento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$s0</a:t>
            </a:r>
            <a:r>
              <a:rPr lang="es-ES" sz="18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en 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6" name="Google Shape;376;p28"/>
          <p:cNvSpPr txBox="1"/>
          <p:nvPr/>
        </p:nvSpPr>
        <p:spPr>
          <a:xfrm>
            <a:off x="6888075" y="5021829"/>
            <a:ext cx="51441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Trae (</a:t>
            </a:r>
            <a:r>
              <a:rPr lang="es-ES" sz="1800" b="1" dirty="0" err="1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fetch</a:t>
            </a: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instrucción desde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135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s-ES" sz="1800" b="1" dirty="0">
                <a:solidFill>
                  <a:srgbClr val="005CC5"/>
                </a:solidFill>
                <a:latin typeface="Roboto"/>
                <a:ea typeface="Roboto"/>
                <a:cs typeface="Roboto"/>
                <a:sym typeface="Roboto"/>
              </a:rPr>
              <a:t>Ejecuta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esta instrucción </a:t>
            </a:r>
            <a:r>
              <a:rPr lang="es-E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[Acceso a </a:t>
            </a:r>
            <a:r>
              <a:rPr lang="es-ES" sz="1800" b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Mem</a:t>
            </a:r>
            <a:r>
              <a:rPr lang="es-ES" sz="18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]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</a:pPr>
            <a:r>
              <a:rPr lang="es-ES" sz="1800" b="1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Guarda</a:t>
            </a:r>
            <a:r>
              <a:rPr lang="es-ES" sz="1800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s-ES"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rPr>
              <a:t>store</a:t>
            </a:r>
            <a:r>
              <a:rPr lang="es-ES" sz="1800" dirty="0">
                <a:solidFill>
                  <a:srgbClr val="0B6937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 dato desde </a:t>
            </a:r>
            <a:r>
              <a:rPr lang="es-ES" sz="18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dir.</a:t>
            </a: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15K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 txBox="1">
            <a:spLocks noGrp="1"/>
          </p:cNvSpPr>
          <p:nvPr>
            <p:ph type="title"/>
          </p:nvPr>
        </p:nvSpPr>
        <p:spPr>
          <a:xfrm>
            <a:off x="174801" y="96038"/>
            <a:ext cx="112334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400" b="1" dirty="0">
                <a:solidFill>
                  <a:schemeClr val="accent1"/>
                </a:solidFill>
                <a:latin typeface="+mj-lt"/>
              </a:rPr>
              <a:t>Reasignación del espacio de direccionamiento</a:t>
            </a:r>
          </a:p>
        </p:txBody>
      </p:sp>
      <p:pic>
        <p:nvPicPr>
          <p:cNvPr id="383" name="Google Shape;3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725" y="1451075"/>
            <a:ext cx="7001474" cy="5152024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9"/>
          <p:cNvSpPr txBox="1">
            <a:spLocks noGrp="1"/>
          </p:cNvSpPr>
          <p:nvPr>
            <p:ph type="body" idx="1"/>
          </p:nvPr>
        </p:nvSpPr>
        <p:spPr>
          <a:xfrm>
            <a:off x="421544" y="1165650"/>
            <a:ext cx="4488504" cy="4526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ES" sz="2000" dirty="0">
                <a:latin typeface="+mn-lt"/>
              </a:rPr>
              <a:t>El SO ubica el proceso en una dirección diferente de 0.</a:t>
            </a:r>
          </a:p>
          <a:p>
            <a:pPr marL="800100" lvl="1">
              <a:lnSpc>
                <a:spcPct val="100000"/>
              </a:lnSpc>
              <a:spcBef>
                <a:spcPts val="480"/>
              </a:spcBef>
            </a:pPr>
            <a:r>
              <a:rPr lang="es-ES" sz="1800" dirty="0">
                <a:latin typeface="+mn-lt"/>
              </a:rPr>
              <a:t>Potencialmente </a:t>
            </a:r>
            <a:r>
              <a:rPr lang="es-ES" sz="1800" b="1" dirty="0">
                <a:solidFill>
                  <a:srgbClr val="FF0000"/>
                </a:solidFill>
                <a:latin typeface="+mn-lt"/>
              </a:rPr>
              <a:t>cualquier lugar!</a:t>
            </a:r>
            <a:endParaRPr sz="1800" b="1" dirty="0">
              <a:solidFill>
                <a:srgbClr val="FF0000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"/>
          <p:cNvSpPr txBox="1">
            <a:spLocks noGrp="1"/>
          </p:cNvSpPr>
          <p:nvPr>
            <p:ph type="title"/>
          </p:nvPr>
        </p:nvSpPr>
        <p:spPr>
          <a:xfrm>
            <a:off x="566057" y="96038"/>
            <a:ext cx="86545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 – Pregunta clave</a:t>
            </a:r>
            <a:endParaRPr dirty="0">
              <a:latin typeface="+mj-lt"/>
            </a:endParaRPr>
          </a:p>
        </p:txBody>
      </p:sp>
      <p:sp>
        <p:nvSpPr>
          <p:cNvPr id="391" name="Google Shape;391;p30"/>
          <p:cNvSpPr txBox="1">
            <a:spLocks noGrp="1"/>
          </p:cNvSpPr>
          <p:nvPr>
            <p:ph type="body" idx="1"/>
          </p:nvPr>
        </p:nvSpPr>
        <p:spPr>
          <a:xfrm>
            <a:off x="1174725" y="1303534"/>
            <a:ext cx="10219200" cy="615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0000FF"/>
                </a:solidFill>
                <a:latin typeface="+mn-lt"/>
              </a:rPr>
              <a:t>¿Cómo virtualizar memoria de manera eficiente y flexible?</a:t>
            </a:r>
            <a:endParaRPr b="1" dirty="0">
              <a:solidFill>
                <a:srgbClr val="0000FF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92" name="Google Shape;392;p30"/>
          <p:cNvGrpSpPr/>
          <p:nvPr/>
        </p:nvGrpSpPr>
        <p:grpSpPr>
          <a:xfrm>
            <a:off x="1026925" y="4786121"/>
            <a:ext cx="10949400" cy="1701054"/>
            <a:chOff x="1094825" y="3502875"/>
            <a:chExt cx="10949400" cy="2601000"/>
          </a:xfrm>
        </p:grpSpPr>
        <p:grpSp>
          <p:nvGrpSpPr>
            <p:cNvPr id="393" name="Google Shape;393;p30"/>
            <p:cNvGrpSpPr/>
            <p:nvPr/>
          </p:nvGrpSpPr>
          <p:grpSpPr>
            <a:xfrm>
              <a:off x="3591725" y="3502875"/>
              <a:ext cx="5773200" cy="2601000"/>
              <a:chOff x="3401900" y="3456225"/>
              <a:chExt cx="5773200" cy="2601000"/>
            </a:xfrm>
          </p:grpSpPr>
          <p:sp>
            <p:nvSpPr>
              <p:cNvPr id="394" name="Google Shape;394;p30"/>
              <p:cNvSpPr/>
              <p:nvPr/>
            </p:nvSpPr>
            <p:spPr>
              <a:xfrm>
                <a:off x="4883000" y="3456225"/>
                <a:ext cx="2811000" cy="2601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3000" b="1" dirty="0">
                    <a:latin typeface="Courier New"/>
                    <a:ea typeface="Courier New"/>
                    <a:cs typeface="Courier New"/>
                    <a:sym typeface="Courier New"/>
                  </a:rPr>
                  <a:t>Address </a:t>
                </a:r>
                <a:r>
                  <a:rPr lang="es-ES" sz="3000" b="1" dirty="0" err="1">
                    <a:latin typeface="Courier New"/>
                    <a:ea typeface="Courier New"/>
                    <a:cs typeface="Courier New"/>
                    <a:sym typeface="Courier New"/>
                  </a:rPr>
                  <a:t>Translation</a:t>
                </a:r>
                <a:endParaRPr sz="30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395" name="Google Shape;395;p30"/>
              <p:cNvCxnSpPr/>
              <p:nvPr/>
            </p:nvCxnSpPr>
            <p:spPr>
              <a:xfrm>
                <a:off x="34019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96" name="Google Shape;396;p30"/>
              <p:cNvCxnSpPr/>
              <p:nvPr/>
            </p:nvCxnSpPr>
            <p:spPr>
              <a:xfrm>
                <a:off x="7694000" y="475672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397" name="Google Shape;397;p30"/>
            <p:cNvSpPr txBox="1"/>
            <p:nvPr/>
          </p:nvSpPr>
          <p:spPr>
            <a:xfrm>
              <a:off x="1094825" y="4403175"/>
              <a:ext cx="24969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Virtual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98" name="Google Shape;398;p30"/>
            <p:cNvSpPr txBox="1"/>
            <p:nvPr/>
          </p:nvSpPr>
          <p:spPr>
            <a:xfrm>
              <a:off x="9364925" y="4403175"/>
              <a:ext cx="2679300" cy="12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 err="1">
                  <a:latin typeface="Courier New"/>
                  <a:ea typeface="Courier New"/>
                  <a:cs typeface="Courier New"/>
                  <a:sym typeface="Courier New"/>
                </a:rPr>
                <a:t>Physical</a:t>
              </a:r>
              <a:r>
                <a:rPr lang="es-ES" sz="2000" dirty="0">
                  <a:latin typeface="Courier New"/>
                  <a:ea typeface="Courier New"/>
                  <a:cs typeface="Courier New"/>
                  <a:sym typeface="Courier New"/>
                </a:rPr>
                <a:t> Address</a:t>
              </a:r>
              <a:endParaRPr sz="2000" dirty="0"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PA</a:t>
              </a:r>
              <a:endParaRPr sz="2000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99" name="Google Shape;3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775" y="2380513"/>
            <a:ext cx="2559875" cy="191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30"/>
          <p:cNvCxnSpPr/>
          <p:nvPr/>
        </p:nvCxnSpPr>
        <p:spPr>
          <a:xfrm>
            <a:off x="4938125" y="3862100"/>
            <a:ext cx="843900" cy="736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401" name="Google Shape;4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2025" y="3192350"/>
            <a:ext cx="1004600" cy="10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972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Dynamic Relocation - Reasignación dinámica</a:t>
            </a:r>
            <a:endParaRPr dirty="0">
              <a:latin typeface="+mj-lt"/>
            </a:endParaRPr>
          </a:p>
        </p:txBody>
      </p:sp>
      <p:sp>
        <p:nvSpPr>
          <p:cNvPr id="413" name="Google Shape;413;p32"/>
          <p:cNvSpPr txBox="1">
            <a:spLocks noGrp="1"/>
          </p:cNvSpPr>
          <p:nvPr>
            <p:ph type="body" idx="1"/>
          </p:nvPr>
        </p:nvSpPr>
        <p:spPr>
          <a:xfrm>
            <a:off x="592675" y="1102125"/>
            <a:ext cx="6562868" cy="31634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Conceptos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rgbClr val="70AD47"/>
                </a:solidFill>
                <a:latin typeface="+mn-lt"/>
              </a:rPr>
              <a:t>Objetivo</a:t>
            </a:r>
            <a:r>
              <a:rPr lang="es-ES" sz="2000" dirty="0">
                <a:solidFill>
                  <a:srgbClr val="70AD47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Traducir una dirección virtual a una física al agregar un </a:t>
            </a:r>
            <a:r>
              <a:rPr lang="es-ES" sz="2000" b="1" dirty="0">
                <a:solidFill>
                  <a:srgbClr val="FF0000"/>
                </a:solidFill>
                <a:latin typeface="+mn-lt"/>
              </a:rPr>
              <a:t>offset</a:t>
            </a:r>
            <a:r>
              <a:rPr lang="es-ES" sz="2000" dirty="0">
                <a:latin typeface="+mn-lt"/>
              </a:rPr>
              <a:t> fijo cada vez 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Tambien conocida </a:t>
            </a:r>
            <a:r>
              <a:rPr lang="es-ES" sz="2000" b="1" dirty="0">
                <a:latin typeface="+mn-lt"/>
              </a:rPr>
              <a:t>Hardware-</a:t>
            </a:r>
            <a:r>
              <a:rPr lang="es-ES" sz="2000" b="1" dirty="0" err="1">
                <a:latin typeface="+mn-lt"/>
              </a:rPr>
              <a:t>based</a:t>
            </a:r>
            <a:r>
              <a:rPr lang="es-ES" sz="2000" b="1" dirty="0">
                <a:latin typeface="+mn-lt"/>
              </a:rPr>
              <a:t> realocation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ó</a:t>
            </a:r>
            <a:r>
              <a:rPr lang="es-ES" sz="2000" dirty="0">
                <a:latin typeface="+mn-lt"/>
              </a:rPr>
              <a:t> </a:t>
            </a:r>
            <a:r>
              <a:rPr lang="es-ES" sz="2000" b="1" dirty="0">
                <a:latin typeface="+mn-lt"/>
              </a:rPr>
              <a:t>base &amp; bound realocation</a:t>
            </a:r>
            <a:endParaRPr sz="20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Esta técnica hace uso de los registros </a:t>
            </a:r>
            <a:r>
              <a:rPr lang="es-ES" sz="2000" b="1" dirty="0">
                <a:latin typeface="+mn-lt"/>
              </a:rPr>
              <a:t>base</a:t>
            </a:r>
            <a:r>
              <a:rPr lang="es-ES" sz="2000" dirty="0">
                <a:latin typeface="+mn-lt"/>
              </a:rPr>
              <a:t> y </a:t>
            </a:r>
            <a:r>
              <a:rPr lang="es-ES" sz="2000" b="1" dirty="0">
                <a:latin typeface="+mn-lt"/>
              </a:rPr>
              <a:t>bounds</a:t>
            </a:r>
            <a:r>
              <a:rPr lang="es-ES" sz="2000" dirty="0">
                <a:latin typeface="+mn-lt"/>
              </a:rPr>
              <a:t>: 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base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Almacena la dirección física más pequeña.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b="1" dirty="0">
                <a:solidFill>
                  <a:schemeClr val="accent2"/>
                </a:solidFill>
                <a:latin typeface="+mn-lt"/>
              </a:rPr>
              <a:t>bounds</a:t>
            </a:r>
            <a:r>
              <a:rPr lang="es-ES" sz="20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000" dirty="0">
                <a:latin typeface="+mn-lt"/>
              </a:rPr>
              <a:t> Almacena el tamaño del segmento de memoria virtual asociada al proceso.</a:t>
            </a: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414" name="Google Shape;414;p32"/>
          <p:cNvGrpSpPr/>
          <p:nvPr/>
        </p:nvGrpSpPr>
        <p:grpSpPr>
          <a:xfrm>
            <a:off x="8005450" y="1566825"/>
            <a:ext cx="3308400" cy="4491900"/>
            <a:chOff x="8005450" y="1566825"/>
            <a:chExt cx="3308400" cy="4491900"/>
          </a:xfrm>
        </p:grpSpPr>
        <p:sp>
          <p:nvSpPr>
            <p:cNvPr id="415" name="Google Shape;415;p3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6" name="Google Shape;416;p32"/>
            <p:cNvSpPr txBox="1"/>
            <p:nvPr/>
          </p:nvSpPr>
          <p:spPr>
            <a:xfrm>
              <a:off x="8597250" y="1637048"/>
              <a:ext cx="2103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17" name="Google Shape;417;p32"/>
            <p:cNvGrpSpPr/>
            <p:nvPr/>
          </p:nvGrpSpPr>
          <p:grpSpPr>
            <a:xfrm>
              <a:off x="8587600" y="2266040"/>
              <a:ext cx="2112650" cy="3163135"/>
              <a:chOff x="8587600" y="2266040"/>
              <a:chExt cx="2112650" cy="3163135"/>
            </a:xfrm>
          </p:grpSpPr>
          <p:sp>
            <p:nvSpPr>
              <p:cNvPr id="418" name="Google Shape;418;p3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20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19" name="Google Shape;419;p32"/>
              <p:cNvCxnSpPr>
                <a:stCxn id="418" idx="4"/>
                <a:endCxn id="420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21" name="Google Shape;421;p32"/>
              <p:cNvGrpSpPr/>
              <p:nvPr/>
            </p:nvGrpSpPr>
            <p:grpSpPr>
              <a:xfrm>
                <a:off x="8587600" y="3717975"/>
                <a:ext cx="2112650" cy="1711200"/>
                <a:chOff x="8587600" y="3717975"/>
                <a:chExt cx="2112650" cy="1711200"/>
              </a:xfrm>
            </p:grpSpPr>
            <p:grpSp>
              <p:nvGrpSpPr>
                <p:cNvPr id="422" name="Google Shape;422;p32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20" name="Google Shape;420;p32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23" name="Google Shape;423;p32"/>
                  <p:cNvSpPr txBox="1"/>
                  <p:nvPr/>
                </p:nvSpPr>
                <p:spPr>
                  <a:xfrm>
                    <a:off x="9216100" y="3718050"/>
                    <a:ext cx="887100" cy="492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20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24" name="Google Shape;424;p32"/>
                <p:cNvGrpSpPr/>
                <p:nvPr/>
              </p:nvGrpSpPr>
              <p:grpSpPr>
                <a:xfrm>
                  <a:off x="8638450" y="4265550"/>
                  <a:ext cx="1901250" cy="461700"/>
                  <a:chOff x="8638450" y="4265550"/>
                  <a:chExt cx="1901250" cy="461700"/>
                </a:xfrm>
              </p:grpSpPr>
              <p:sp>
                <p:nvSpPr>
                  <p:cNvPr id="425" name="Google Shape;425;p32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6" name="Google Shape;426;p32"/>
                  <p:cNvSpPr txBox="1"/>
                  <p:nvPr/>
                </p:nvSpPr>
                <p:spPr>
                  <a:xfrm>
                    <a:off x="8638450" y="4265550"/>
                    <a:ext cx="8871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8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12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27" name="Google Shape;427;p32"/>
                <p:cNvGrpSpPr/>
                <p:nvPr/>
              </p:nvGrpSpPr>
              <p:grpSpPr>
                <a:xfrm>
                  <a:off x="8587600" y="4782150"/>
                  <a:ext cx="1952100" cy="461700"/>
                  <a:chOff x="8587600" y="4782150"/>
                  <a:chExt cx="1952100" cy="461700"/>
                </a:xfrm>
              </p:grpSpPr>
              <p:sp>
                <p:nvSpPr>
                  <p:cNvPr id="428" name="Google Shape;428;p32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9" name="Google Shape;429;p32"/>
                  <p:cNvSpPr txBox="1"/>
                  <p:nvPr/>
                </p:nvSpPr>
                <p:spPr>
                  <a:xfrm>
                    <a:off x="8587600" y="4782150"/>
                    <a:ext cx="988800" cy="461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3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02325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Dynamic Relocation - Reasignación dinámica</a:t>
            </a:r>
            <a:endParaRPr dirty="0"/>
          </a:p>
        </p:txBody>
      </p:sp>
      <p:sp>
        <p:nvSpPr>
          <p:cNvPr id="435" name="Google Shape;435;p33"/>
          <p:cNvSpPr txBox="1">
            <a:spLocks noGrp="1"/>
          </p:cNvSpPr>
          <p:nvPr>
            <p:ph type="body" idx="1"/>
          </p:nvPr>
        </p:nvSpPr>
        <p:spPr>
          <a:xfrm>
            <a:off x="377371" y="965812"/>
            <a:ext cx="7880400" cy="53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j-lt"/>
              </a:rPr>
              <a:t>MMU (</a:t>
            </a:r>
            <a:r>
              <a:rPr lang="es-ES" sz="2800" b="1" dirty="0" err="1">
                <a:solidFill>
                  <a:schemeClr val="accent1"/>
                </a:solidFill>
                <a:latin typeface="+mj-lt"/>
              </a:rPr>
              <a:t>Memory</a:t>
            </a:r>
            <a:r>
              <a:rPr lang="es-ES" sz="2800" b="1" dirty="0">
                <a:solidFill>
                  <a:schemeClr val="accent1"/>
                </a:solidFill>
                <a:latin typeface="+mj-lt"/>
              </a:rPr>
              <a:t> Management </a:t>
            </a:r>
            <a:r>
              <a:rPr lang="es-ES" sz="2800" b="1" dirty="0" err="1">
                <a:solidFill>
                  <a:schemeClr val="accent1"/>
                </a:solidFill>
                <a:latin typeface="+mj-lt"/>
              </a:rPr>
              <a:t>Unit</a:t>
            </a:r>
            <a:r>
              <a:rPr lang="es-ES" sz="2800" b="1" dirty="0">
                <a:solidFill>
                  <a:schemeClr val="accent1"/>
                </a:solidFill>
                <a:latin typeface="+mj-lt"/>
              </a:rPr>
              <a:t>)</a:t>
            </a:r>
            <a:endParaRPr sz="3400" dirty="0">
              <a:solidFill>
                <a:schemeClr val="accent1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accent2"/>
              </a:solidFill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j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j-lt"/>
            </a:endParaRPr>
          </a:p>
        </p:txBody>
      </p:sp>
      <p:pic>
        <p:nvPicPr>
          <p:cNvPr id="436" name="Google Shape;4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662" y="1687352"/>
            <a:ext cx="7880324" cy="4795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" name="Google Shape;437;p33"/>
          <p:cNvGrpSpPr/>
          <p:nvPr/>
        </p:nvGrpSpPr>
        <p:grpSpPr>
          <a:xfrm>
            <a:off x="1203501" y="1880909"/>
            <a:ext cx="2340362" cy="3256628"/>
            <a:chOff x="8005450" y="1566825"/>
            <a:chExt cx="3308400" cy="4491900"/>
          </a:xfrm>
        </p:grpSpPr>
        <p:sp>
          <p:nvSpPr>
            <p:cNvPr id="438" name="Google Shape;438;p3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39" name="Google Shape;439;p33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40" name="Google Shape;440;p33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441" name="Google Shape;441;p33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42" name="Google Shape;442;p33"/>
              <p:cNvCxnSpPr>
                <a:stCxn id="441" idx="4"/>
                <a:endCxn id="443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44" name="Google Shape;444;p33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445" name="Google Shape;445;p33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443" name="Google Shape;443;p33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46" name="Google Shape;446;p33"/>
                  <p:cNvSpPr txBox="1"/>
                  <p:nvPr/>
                </p:nvSpPr>
                <p:spPr>
                  <a:xfrm>
                    <a:off x="9216100" y="3718050"/>
                    <a:ext cx="887100" cy="5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47" name="Google Shape;447;p33"/>
                <p:cNvGrpSpPr/>
                <p:nvPr/>
              </p:nvGrpSpPr>
              <p:grpSpPr>
                <a:xfrm>
                  <a:off x="8638450" y="4265550"/>
                  <a:ext cx="1901250" cy="509400"/>
                  <a:chOff x="8638450" y="4265550"/>
                  <a:chExt cx="1901250" cy="509400"/>
                </a:xfrm>
              </p:grpSpPr>
              <p:sp>
                <p:nvSpPr>
                  <p:cNvPr id="448" name="Google Shape;448;p33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3"/>
                  <p:cNvSpPr txBox="1"/>
                  <p:nvPr/>
                </p:nvSpPr>
                <p:spPr>
                  <a:xfrm>
                    <a:off x="8638450" y="4265550"/>
                    <a:ext cx="8871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50" name="Google Shape;450;p33"/>
                <p:cNvGrpSpPr/>
                <p:nvPr/>
              </p:nvGrpSpPr>
              <p:grpSpPr>
                <a:xfrm>
                  <a:off x="8483375" y="4782162"/>
                  <a:ext cx="2056325" cy="509400"/>
                  <a:chOff x="8483375" y="4782162"/>
                  <a:chExt cx="2056325" cy="509400"/>
                </a:xfrm>
              </p:grpSpPr>
              <p:sp>
                <p:nvSpPr>
                  <p:cNvPr id="451" name="Google Shape;451;p33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2" name="Google Shape;452;p33"/>
                  <p:cNvSpPr txBox="1"/>
                  <p:nvPr/>
                </p:nvSpPr>
                <p:spPr>
                  <a:xfrm>
                    <a:off x="8483375" y="4782162"/>
                    <a:ext cx="10929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453" name="Google Shape;453;p33"/>
          <p:cNvSpPr txBox="1"/>
          <p:nvPr/>
        </p:nvSpPr>
        <p:spPr>
          <a:xfrm>
            <a:off x="693105" y="5289380"/>
            <a:ext cx="3361151" cy="1079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MMU</a:t>
            </a:r>
            <a:r>
              <a:rPr lang="es-ES" sz="18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Hardware encargado de realizar la traducción de direcciones lógicas a físicas.</a:t>
            </a:r>
            <a:endParaRPr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459" name="Google Shape;459;p34"/>
          <p:cNvSpPr txBox="1">
            <a:spLocks noGrp="1"/>
          </p:cNvSpPr>
          <p:nvPr>
            <p:ph type="body" idx="1"/>
          </p:nvPr>
        </p:nvSpPr>
        <p:spPr>
          <a:xfrm>
            <a:off x="735400" y="904075"/>
            <a:ext cx="6435175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Cuando el proceso es creado, el SO decide </a:t>
            </a:r>
            <a:r>
              <a:rPr lang="es-ES" sz="2400" b="1" dirty="0">
                <a:latin typeface="+mn-lt"/>
              </a:rPr>
              <a:t>dónde</a:t>
            </a:r>
            <a:r>
              <a:rPr lang="es-ES" sz="2400" dirty="0">
                <a:latin typeface="+mn-lt"/>
              </a:rPr>
              <a:t> (en memoria física) será </a:t>
            </a:r>
            <a:r>
              <a:rPr lang="es-ES" sz="2400" b="1" dirty="0">
                <a:latin typeface="+mn-lt"/>
              </a:rPr>
              <a:t>cargada</a:t>
            </a:r>
            <a:r>
              <a:rPr lang="es-ES" sz="2400" dirty="0">
                <a:latin typeface="+mn-lt"/>
              </a:rPr>
              <a:t> su imagen de memoria.  </a:t>
            </a:r>
            <a:endParaRPr sz="24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400" dirty="0">
                <a:latin typeface="+mn-lt"/>
              </a:rPr>
              <a:t>Fija un valor para el registro base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1" indent="-3937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00"/>
              <a:buChar char="○"/>
            </a:pPr>
            <a:r>
              <a:rPr lang="es-ES" sz="2400" dirty="0">
                <a:latin typeface="+mn-lt"/>
              </a:rPr>
              <a:t>Las direcciones virtuales no deben ser mayores al valor en el registro bounds </a:t>
            </a:r>
            <a:r>
              <a:rPr lang="es-ES" sz="2600" dirty="0">
                <a:latin typeface="+mn-lt"/>
              </a:rPr>
              <a:t>(limit) ni negativas.</a:t>
            </a:r>
            <a:endParaRPr sz="26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460" name="Google Shape;460;p34"/>
          <p:cNvGrpSpPr/>
          <p:nvPr/>
        </p:nvGrpSpPr>
        <p:grpSpPr>
          <a:xfrm>
            <a:off x="1952350" y="2758040"/>
            <a:ext cx="4246800" cy="723300"/>
            <a:chOff x="1628875" y="2402100"/>
            <a:chExt cx="4246800" cy="723300"/>
          </a:xfrm>
        </p:grpSpPr>
        <p:sp>
          <p:nvSpPr>
            <p:cNvPr id="461" name="Google Shape;461;p34"/>
            <p:cNvSpPr/>
            <p:nvPr/>
          </p:nvSpPr>
          <p:spPr>
            <a:xfrm>
              <a:off x="1628875" y="2402100"/>
              <a:ext cx="4246800" cy="7233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62" name="Google Shape;462;p34" title="[0,0,0,&quot;https://latex-staging.easygenerator.com/eqneditor/editor.php?latex=PA%20%3D%20VA%20%2B%20base#0&quot;]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3512" y="2566588"/>
              <a:ext cx="3616475" cy="39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3" name="Google Shape;463;p34"/>
          <p:cNvGrpSpPr/>
          <p:nvPr/>
        </p:nvGrpSpPr>
        <p:grpSpPr>
          <a:xfrm>
            <a:off x="2084275" y="5312400"/>
            <a:ext cx="4246800" cy="723300"/>
            <a:chOff x="1628875" y="4767425"/>
            <a:chExt cx="4246800" cy="723300"/>
          </a:xfrm>
        </p:grpSpPr>
        <p:sp>
          <p:nvSpPr>
            <p:cNvPr id="464" name="Google Shape;464;p34"/>
            <p:cNvSpPr/>
            <p:nvPr/>
          </p:nvSpPr>
          <p:spPr>
            <a:xfrm>
              <a:off x="1628875" y="4767425"/>
              <a:ext cx="4246800" cy="7233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65" name="Google Shape;465;p34" title="[0,0,0,&quot;https://latex-staging.easygenerator.com/eqneditor/editor.php?latex=0%20%5Cleq%20VA%20%3C%20bounds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83388" y="4929175"/>
              <a:ext cx="3656724" cy="414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6" name="Google Shape;466;p34"/>
          <p:cNvGrpSpPr/>
          <p:nvPr/>
        </p:nvGrpSpPr>
        <p:grpSpPr>
          <a:xfrm>
            <a:off x="7535925" y="1622175"/>
            <a:ext cx="4246800" cy="4214000"/>
            <a:chOff x="7924350" y="1952025"/>
            <a:chExt cx="4246800" cy="4214000"/>
          </a:xfrm>
        </p:grpSpPr>
        <p:grpSp>
          <p:nvGrpSpPr>
            <p:cNvPr id="467" name="Google Shape;467;p34"/>
            <p:cNvGrpSpPr/>
            <p:nvPr/>
          </p:nvGrpSpPr>
          <p:grpSpPr>
            <a:xfrm>
              <a:off x="7924350" y="1952025"/>
              <a:ext cx="4246800" cy="4214000"/>
              <a:chOff x="7924350" y="1952025"/>
              <a:chExt cx="4246800" cy="4214000"/>
            </a:xfrm>
          </p:grpSpPr>
          <p:grpSp>
            <p:nvGrpSpPr>
              <p:cNvPr id="468" name="Google Shape;468;p34"/>
              <p:cNvGrpSpPr/>
              <p:nvPr/>
            </p:nvGrpSpPr>
            <p:grpSpPr>
              <a:xfrm>
                <a:off x="7924350" y="1952025"/>
                <a:ext cx="4246800" cy="2861100"/>
                <a:chOff x="7924350" y="1952025"/>
                <a:chExt cx="4246800" cy="2861100"/>
              </a:xfrm>
            </p:grpSpPr>
            <p:sp>
              <p:nvSpPr>
                <p:cNvPr id="469" name="Google Shape;469;p34"/>
                <p:cNvSpPr/>
                <p:nvPr/>
              </p:nvSpPr>
              <p:spPr>
                <a:xfrm>
                  <a:off x="7924350" y="1952025"/>
                  <a:ext cx="4246800" cy="28611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30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0" name="Google Shape;470;p34"/>
                <p:cNvSpPr txBox="1"/>
                <p:nvPr/>
              </p:nvSpPr>
              <p:spPr>
                <a:xfrm>
                  <a:off x="8918725" y="2022248"/>
                  <a:ext cx="21030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nsolas"/>
                      <a:ea typeface="Consolas"/>
                      <a:cs typeface="Consolas"/>
                      <a:sym typeface="Consolas"/>
                    </a:rPr>
                    <a:t>Chip CPU</a:t>
                  </a:r>
                  <a:endParaRPr sz="24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1" name="Google Shape;471;p34"/>
                <p:cNvSpPr/>
                <p:nvPr/>
              </p:nvSpPr>
              <p:spPr>
                <a:xfrm>
                  <a:off x="9475825" y="2651240"/>
                  <a:ext cx="988800" cy="995400"/>
                </a:xfrm>
                <a:prstGeom prst="ellipse">
                  <a:avLst/>
                </a:prstGeom>
                <a:solidFill>
                  <a:srgbClr val="EA99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CPU</a:t>
                  </a:r>
                  <a:endParaRPr sz="20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2" name="Google Shape;472;p34"/>
                <p:cNvSpPr/>
                <p:nvPr/>
              </p:nvSpPr>
              <p:spPr>
                <a:xfrm>
                  <a:off x="9265525" y="4103175"/>
                  <a:ext cx="1409400" cy="523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473" name="Google Shape;473;p34"/>
              <p:cNvSpPr/>
              <p:nvPr/>
            </p:nvSpPr>
            <p:spPr>
              <a:xfrm>
                <a:off x="8873125" y="5394125"/>
                <a:ext cx="2194200" cy="771900"/>
              </a:xfrm>
              <a:prstGeom prst="rect">
                <a:avLst/>
              </a:prstGeom>
              <a:solidFill>
                <a:srgbClr val="EFEFE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/>
                    <a:ea typeface="Consolas"/>
                    <a:cs typeface="Consolas"/>
                    <a:sym typeface="Consolas"/>
                  </a:rPr>
                  <a:t>Main Memory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74" name="Google Shape;474;p34"/>
              <p:cNvCxnSpPr>
                <a:stCxn id="471" idx="4"/>
                <a:endCxn id="472" idx="0"/>
              </p:cNvCxnSpPr>
              <p:nvPr/>
            </p:nvCxnSpPr>
            <p:spPr>
              <a:xfrm>
                <a:off x="9970225" y="36466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5" name="Google Shape;475;p34"/>
              <p:cNvCxnSpPr>
                <a:stCxn id="472" idx="2"/>
                <a:endCxn id="473" idx="0"/>
              </p:cNvCxnSpPr>
              <p:nvPr/>
            </p:nvCxnSpPr>
            <p:spPr>
              <a:xfrm>
                <a:off x="9970225" y="4626375"/>
                <a:ext cx="0" cy="767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76" name="Google Shape;476;p34"/>
            <p:cNvSpPr txBox="1"/>
            <p:nvPr/>
          </p:nvSpPr>
          <p:spPr>
            <a:xfrm>
              <a:off x="8023388" y="3690263"/>
              <a:ext cx="1915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7" name="Google Shape;477;p34"/>
            <p:cNvSpPr txBox="1"/>
            <p:nvPr/>
          </p:nvSpPr>
          <p:spPr>
            <a:xfrm>
              <a:off x="7958150" y="4918975"/>
              <a:ext cx="1983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 err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12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Address (PA)</a:t>
              </a:r>
              <a:endParaRPr sz="12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963495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 - Formulas</a:t>
            </a:r>
            <a:endParaRPr dirty="0">
              <a:latin typeface="+mj-lt"/>
            </a:endParaRPr>
          </a:p>
        </p:txBody>
      </p:sp>
      <p:pic>
        <p:nvPicPr>
          <p:cNvPr id="483" name="Google Shape;4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549" y="1045550"/>
            <a:ext cx="9634951" cy="4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4" name="Google Shape;484;p35"/>
          <p:cNvGrpSpPr/>
          <p:nvPr/>
        </p:nvGrpSpPr>
        <p:grpSpPr>
          <a:xfrm>
            <a:off x="6549161" y="5753564"/>
            <a:ext cx="4246800" cy="723300"/>
            <a:chOff x="1628875" y="2402100"/>
            <a:chExt cx="4246800" cy="723300"/>
          </a:xfrm>
        </p:grpSpPr>
        <p:sp>
          <p:nvSpPr>
            <p:cNvPr id="485" name="Google Shape;485;p35"/>
            <p:cNvSpPr/>
            <p:nvPr/>
          </p:nvSpPr>
          <p:spPr>
            <a:xfrm>
              <a:off x="1628875" y="2402100"/>
              <a:ext cx="4246800" cy="7233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86" name="Google Shape;486;p35" title="[0,0,0,&quot;https://latex-staging.easygenerator.com/eqneditor/editor.php?latex=PA%20%3D%20VA%20%2B%20base#0&quot;]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03512" y="2566588"/>
              <a:ext cx="3616475" cy="39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7" name="Google Shape;487;p35"/>
          <p:cNvGrpSpPr/>
          <p:nvPr/>
        </p:nvGrpSpPr>
        <p:grpSpPr>
          <a:xfrm>
            <a:off x="1396039" y="5753564"/>
            <a:ext cx="4246800" cy="723300"/>
            <a:chOff x="1628875" y="4767425"/>
            <a:chExt cx="4246800" cy="723300"/>
          </a:xfrm>
        </p:grpSpPr>
        <p:sp>
          <p:nvSpPr>
            <p:cNvPr id="488" name="Google Shape;488;p35"/>
            <p:cNvSpPr/>
            <p:nvPr/>
          </p:nvSpPr>
          <p:spPr>
            <a:xfrm>
              <a:off x="1628875" y="4767425"/>
              <a:ext cx="4246800" cy="7233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89" name="Google Shape;489;p35" title="[0,0,0,&quot;https://latex-staging.easygenerator.com/eqneditor/editor.php?latex=0%20%5Cleq%20VA%20%3C%20bounds#0&quot;]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83388" y="4929175"/>
              <a:ext cx="3656724" cy="414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6"/>
          <p:cNvSpPr txBox="1">
            <a:spLocks noGrp="1"/>
          </p:cNvSpPr>
          <p:nvPr>
            <p:ph type="title"/>
          </p:nvPr>
        </p:nvSpPr>
        <p:spPr>
          <a:xfrm>
            <a:off x="362857" y="96038"/>
            <a:ext cx="8857793" cy="8202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496" name="Google Shape;496;p36"/>
          <p:cNvSpPr txBox="1">
            <a:spLocks noGrp="1"/>
          </p:cNvSpPr>
          <p:nvPr>
            <p:ph type="body" idx="1"/>
          </p:nvPr>
        </p:nvSpPr>
        <p:spPr>
          <a:xfrm>
            <a:off x="4214825" y="979163"/>
            <a:ext cx="7414200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 - ¿Como un programa accede a memoria?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Dado el siguiente espacio de memoria asociado a un proceso. Analice qué sucede cuando se ejecuta la instrucción.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Asuma que el registro base tiene un valor de 32 K.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497" name="Google Shape;4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2085" y="905037"/>
            <a:ext cx="2550529" cy="5798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8" name="Google Shape;498;p36"/>
          <p:cNvGrpSpPr/>
          <p:nvPr/>
        </p:nvGrpSpPr>
        <p:grpSpPr>
          <a:xfrm>
            <a:off x="6096000" y="3285350"/>
            <a:ext cx="3388800" cy="524550"/>
            <a:chOff x="6225425" y="3045000"/>
            <a:chExt cx="3388800" cy="524550"/>
          </a:xfrm>
        </p:grpSpPr>
        <p:sp>
          <p:nvSpPr>
            <p:cNvPr id="499" name="Google Shape;499;p36"/>
            <p:cNvSpPr txBox="1"/>
            <p:nvPr/>
          </p:nvSpPr>
          <p:spPr>
            <a:xfrm>
              <a:off x="6952625" y="3045000"/>
              <a:ext cx="2661600" cy="46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2200" b="1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0" name="Google Shape;500;p36"/>
            <p:cNvSpPr txBox="1"/>
            <p:nvPr/>
          </p:nvSpPr>
          <p:spPr>
            <a:xfrm>
              <a:off x="6225425" y="3046350"/>
              <a:ext cx="727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22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Traducción de direcciones</a:t>
            </a:r>
            <a:endParaRPr/>
          </a:p>
        </p:txBody>
      </p:sp>
      <p:sp>
        <p:nvSpPr>
          <p:cNvPr id="506" name="Google Shape;506;p37"/>
          <p:cNvSpPr txBox="1">
            <a:spLocks noGrp="1"/>
          </p:cNvSpPr>
          <p:nvPr>
            <p:ph type="body" idx="1"/>
          </p:nvPr>
        </p:nvSpPr>
        <p:spPr>
          <a:xfrm>
            <a:off x="3851471" y="972025"/>
            <a:ext cx="8064758" cy="5650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 - ¿Como un programa accede a memoria?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Para ejecutar la instrucción, se ejecutan dos accesos a memoria.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>
                <a:latin typeface="+mn-lt"/>
              </a:rPr>
              <a:t>Traer la instrucción de la dirección 128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+mj-lt"/>
              <a:buAutoNum type="arabicPeriod" startAt="2"/>
            </a:pPr>
            <a:r>
              <a:rPr lang="es-ES" sz="2200" dirty="0">
                <a:latin typeface="+mn-lt"/>
              </a:rPr>
              <a:t>Ejecutar la instrucción I: </a:t>
            </a:r>
            <a:r>
              <a:rPr lang="es-ES" sz="2200" b="1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lw $s0, 15360</a:t>
            </a:r>
            <a:endParaRPr sz="2200" b="1" dirty="0"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507" name="Google Shape;507;p37"/>
          <p:cNvGrpSpPr/>
          <p:nvPr/>
        </p:nvGrpSpPr>
        <p:grpSpPr>
          <a:xfrm>
            <a:off x="6189450" y="1903150"/>
            <a:ext cx="3388800" cy="524550"/>
            <a:chOff x="6373025" y="2576200"/>
            <a:chExt cx="3388800" cy="524550"/>
          </a:xfrm>
        </p:grpSpPr>
        <p:sp>
          <p:nvSpPr>
            <p:cNvPr id="508" name="Google Shape;508;p37"/>
            <p:cNvSpPr txBox="1"/>
            <p:nvPr/>
          </p:nvSpPr>
          <p:spPr>
            <a:xfrm>
              <a:off x="7100225" y="2576200"/>
              <a:ext cx="2661600" cy="4617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 dirty="0">
                  <a:solidFill>
                    <a:srgbClr val="24292E"/>
                  </a:solidFill>
                  <a:highlight>
                    <a:srgbClr val="FFF2C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lw $S0, 15360</a:t>
              </a:r>
              <a:endParaRPr sz="2200" b="1" dirty="0">
                <a:solidFill>
                  <a:srgbClr val="24292E"/>
                </a:solidFill>
                <a:highlight>
                  <a:srgbClr val="FFF2C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 dirty="0">
                <a:solidFill>
                  <a:srgbClr val="24292E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9" name="Google Shape;509;p37"/>
            <p:cNvSpPr txBox="1"/>
            <p:nvPr/>
          </p:nvSpPr>
          <p:spPr>
            <a:xfrm>
              <a:off x="6373025" y="2577550"/>
              <a:ext cx="727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solidFill>
                    <a:srgbClr val="FF0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128</a:t>
              </a:r>
              <a:endParaRPr sz="22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510" name="Google Shape;510;p37"/>
          <p:cNvSpPr txBox="1"/>
          <p:nvPr/>
        </p:nvSpPr>
        <p:spPr>
          <a:xfrm>
            <a:off x="6559050" y="3698612"/>
            <a:ext cx="2661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 = Fetch[</a:t>
            </a:r>
            <a:r>
              <a:rPr lang="es-ES" sz="2200" b="1" dirty="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200" b="1" dirty="0">
              <a:solidFill>
                <a:srgbClr val="24292E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1" name="Google Shape;511;p37"/>
          <p:cNvSpPr txBox="1"/>
          <p:nvPr/>
        </p:nvSpPr>
        <p:spPr>
          <a:xfrm>
            <a:off x="6553050" y="5062906"/>
            <a:ext cx="2661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s-ES" sz="2200" b="1" dirty="0">
                <a:solidFill>
                  <a:srgbClr val="24292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(I)</a:t>
            </a:r>
            <a:endParaRPr sz="2200" b="1" dirty="0">
              <a:solidFill>
                <a:srgbClr val="24292E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12" name="Google Shape;5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796" y="972025"/>
            <a:ext cx="2550529" cy="579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8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518" name="Google Shape;518;p38"/>
          <p:cNvSpPr txBox="1">
            <a:spLocks noGrp="1"/>
          </p:cNvSpPr>
          <p:nvPr>
            <p:ph type="body" idx="1"/>
          </p:nvPr>
        </p:nvSpPr>
        <p:spPr>
          <a:xfrm>
            <a:off x="449943" y="918450"/>
            <a:ext cx="11142207" cy="9696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 - ¿Como un programa accede a memoria?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>
                <a:latin typeface="+mn-lt"/>
              </a:rPr>
              <a:t>Traer la instrucción de la dirección </a:t>
            </a:r>
            <a:r>
              <a:rPr lang="es-ES" sz="2400" b="1" dirty="0">
                <a:latin typeface="+mn-lt"/>
              </a:rPr>
              <a:t>128</a:t>
            </a: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19" name="Google Shape;519;p38"/>
          <p:cNvSpPr txBox="1"/>
          <p:nvPr/>
        </p:nvSpPr>
        <p:spPr>
          <a:xfrm>
            <a:off x="2513938" y="30768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128</a:t>
            </a:r>
            <a:endParaRPr sz="20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0" name="Google Shape;520;p38"/>
          <p:cNvSpPr/>
          <p:nvPr/>
        </p:nvSpPr>
        <p:spPr>
          <a:xfrm>
            <a:off x="48842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1" name="Google Shape;521;p38"/>
          <p:cNvSpPr/>
          <p:nvPr/>
        </p:nvSpPr>
        <p:spPr>
          <a:xfrm>
            <a:off x="30385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16384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2" name="Google Shape;522;p38"/>
          <p:cNvSpPr/>
          <p:nvPr/>
        </p:nvSpPr>
        <p:spPr>
          <a:xfrm>
            <a:off x="3306450" y="3288125"/>
            <a:ext cx="924225" cy="562575"/>
          </a:xfrm>
          <a:prstGeom prst="flowChartDecision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3" name="Google Shape;523;p38"/>
          <p:cNvSpPr/>
          <p:nvPr/>
        </p:nvSpPr>
        <p:spPr>
          <a:xfrm>
            <a:off x="5366475" y="3307063"/>
            <a:ext cx="495600" cy="52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+</a:t>
            </a:r>
            <a:endParaRPr/>
          </a:p>
        </p:txBody>
      </p:sp>
      <p:sp>
        <p:nvSpPr>
          <p:cNvPr id="524" name="Google Shape;524;p38"/>
          <p:cNvSpPr/>
          <p:nvPr/>
        </p:nvSpPr>
        <p:spPr>
          <a:xfrm>
            <a:off x="1388575" y="3187675"/>
            <a:ext cx="736800" cy="763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5" name="Google Shape;525;p38"/>
          <p:cNvCxnSpPr>
            <a:stCxn id="524" idx="3"/>
            <a:endCxn id="522" idx="1"/>
          </p:cNvCxnSpPr>
          <p:nvPr/>
        </p:nvCxnSpPr>
        <p:spPr>
          <a:xfrm>
            <a:off x="2125375" y="3569425"/>
            <a:ext cx="118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38"/>
          <p:cNvCxnSpPr>
            <a:stCxn id="521" idx="2"/>
            <a:endCxn id="522" idx="0"/>
          </p:cNvCxnSpPr>
          <p:nvPr/>
        </p:nvCxnSpPr>
        <p:spPr>
          <a:xfrm>
            <a:off x="3768575" y="2669950"/>
            <a:ext cx="0" cy="61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7" name="Google Shape;527;p38"/>
          <p:cNvCxnSpPr>
            <a:stCxn id="520" idx="2"/>
            <a:endCxn id="523" idx="0"/>
          </p:cNvCxnSpPr>
          <p:nvPr/>
        </p:nvCxnSpPr>
        <p:spPr>
          <a:xfrm>
            <a:off x="5614275" y="2669950"/>
            <a:ext cx="0" cy="6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8" name="Google Shape;528;p38"/>
          <p:cNvCxnSpPr>
            <a:stCxn id="522" idx="3"/>
            <a:endCxn id="523" idx="2"/>
          </p:cNvCxnSpPr>
          <p:nvPr/>
        </p:nvCxnSpPr>
        <p:spPr>
          <a:xfrm>
            <a:off x="4230675" y="3569413"/>
            <a:ext cx="11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9" name="Google Shape;529;p38"/>
          <p:cNvCxnSpPr/>
          <p:nvPr/>
        </p:nvCxnSpPr>
        <p:spPr>
          <a:xfrm>
            <a:off x="3768575" y="3850688"/>
            <a:ext cx="2400" cy="90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0" name="Google Shape;530;p38"/>
          <p:cNvSpPr txBox="1"/>
          <p:nvPr/>
        </p:nvSpPr>
        <p:spPr>
          <a:xfrm>
            <a:off x="3622188" y="375355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1" name="Google Shape;531;p38"/>
          <p:cNvSpPr txBox="1"/>
          <p:nvPr/>
        </p:nvSpPr>
        <p:spPr>
          <a:xfrm>
            <a:off x="4134863" y="31530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38"/>
          <p:cNvSpPr/>
          <p:nvPr/>
        </p:nvSpPr>
        <p:spPr>
          <a:xfrm>
            <a:off x="7769125" y="1644025"/>
            <a:ext cx="2212800" cy="4665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8"/>
          <p:cNvSpPr/>
          <p:nvPr/>
        </p:nvSpPr>
        <p:spPr>
          <a:xfrm>
            <a:off x="10562725" y="27101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38"/>
          <p:cNvSpPr/>
          <p:nvPr/>
        </p:nvSpPr>
        <p:spPr>
          <a:xfrm>
            <a:off x="10562725" y="50273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49152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5" name="Google Shape;535;p38"/>
          <p:cNvCxnSpPr/>
          <p:nvPr/>
        </p:nvCxnSpPr>
        <p:spPr>
          <a:xfrm rot="10800000">
            <a:off x="9981925" y="28976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6" name="Google Shape;536;p38"/>
          <p:cNvSpPr/>
          <p:nvPr/>
        </p:nvSpPr>
        <p:spPr>
          <a:xfrm>
            <a:off x="7769125" y="2897675"/>
            <a:ext cx="2212800" cy="2317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8"/>
          <p:cNvSpPr txBox="1"/>
          <p:nvPr/>
        </p:nvSpPr>
        <p:spPr>
          <a:xfrm>
            <a:off x="7769125" y="3366125"/>
            <a:ext cx="2212800" cy="46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lw $S0, 15360</a:t>
            </a:r>
            <a:endParaRPr sz="2200" b="1" dirty="0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8" name="Google Shape;538;p38"/>
          <p:cNvSpPr txBox="1"/>
          <p:nvPr/>
        </p:nvSpPr>
        <p:spPr>
          <a:xfrm>
            <a:off x="7769125" y="4297700"/>
            <a:ext cx="2212800" cy="461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2200" b="1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39" name="Google Shape;539;p38"/>
          <p:cNvCxnSpPr/>
          <p:nvPr/>
        </p:nvCxnSpPr>
        <p:spPr>
          <a:xfrm rot="10800000">
            <a:off x="9981925" y="52148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0" name="Google Shape;540;p38"/>
          <p:cNvCxnSpPr/>
          <p:nvPr/>
        </p:nvCxnSpPr>
        <p:spPr>
          <a:xfrm rot="10800000" flipH="1">
            <a:off x="5862075" y="3567313"/>
            <a:ext cx="18912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1" name="Google Shape;541;p38"/>
          <p:cNvSpPr txBox="1"/>
          <p:nvPr/>
        </p:nvSpPr>
        <p:spPr>
          <a:xfrm>
            <a:off x="10056150" y="3335150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32890</a:t>
            </a:r>
            <a:endParaRPr/>
          </a:p>
        </p:txBody>
      </p:sp>
      <p:sp>
        <p:nvSpPr>
          <p:cNvPr id="542" name="Google Shape;542;p38"/>
          <p:cNvSpPr txBox="1"/>
          <p:nvPr/>
        </p:nvSpPr>
        <p:spPr>
          <a:xfrm>
            <a:off x="10056150" y="4265225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48128</a:t>
            </a:r>
            <a:endParaRPr/>
          </a:p>
        </p:txBody>
      </p:sp>
      <p:sp>
        <p:nvSpPr>
          <p:cNvPr id="543" name="Google Shape;543;p38"/>
          <p:cNvSpPr txBox="1"/>
          <p:nvPr/>
        </p:nvSpPr>
        <p:spPr>
          <a:xfrm>
            <a:off x="6328107" y="3076825"/>
            <a:ext cx="113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32890</a:t>
            </a:r>
            <a:endParaRPr sz="2000" b="1">
              <a:solidFill>
                <a:srgbClr val="0B6937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38"/>
          <p:cNvSpPr/>
          <p:nvPr/>
        </p:nvSpPr>
        <p:spPr>
          <a:xfrm>
            <a:off x="1884175" y="3795125"/>
            <a:ext cx="6349000" cy="1404175"/>
          </a:xfrm>
          <a:custGeom>
            <a:avLst/>
            <a:gdLst/>
            <a:ahLst/>
            <a:cxnLst/>
            <a:rect l="l" t="t" r="r" b="b"/>
            <a:pathLst>
              <a:path w="253960" h="56167" extrusionOk="0">
                <a:moveTo>
                  <a:pt x="253960" y="0"/>
                </a:moveTo>
                <a:cubicBezTo>
                  <a:pt x="250477" y="3661"/>
                  <a:pt x="241458" y="15002"/>
                  <a:pt x="233064" y="21967"/>
                </a:cubicBezTo>
                <a:cubicBezTo>
                  <a:pt x="224670" y="28932"/>
                  <a:pt x="214312" y="36880"/>
                  <a:pt x="203596" y="41791"/>
                </a:cubicBezTo>
                <a:cubicBezTo>
                  <a:pt x="192881" y="46702"/>
                  <a:pt x="180558" y="49113"/>
                  <a:pt x="168771" y="51435"/>
                </a:cubicBezTo>
                <a:cubicBezTo>
                  <a:pt x="156984" y="53757"/>
                  <a:pt x="145732" y="55185"/>
                  <a:pt x="132873" y="55721"/>
                </a:cubicBezTo>
                <a:cubicBezTo>
                  <a:pt x="120014" y="56257"/>
                  <a:pt x="105013" y="56435"/>
                  <a:pt x="91618" y="54649"/>
                </a:cubicBezTo>
                <a:cubicBezTo>
                  <a:pt x="78224" y="52863"/>
                  <a:pt x="65365" y="49827"/>
                  <a:pt x="52506" y="45005"/>
                </a:cubicBezTo>
                <a:cubicBezTo>
                  <a:pt x="39647" y="40183"/>
                  <a:pt x="23217" y="30718"/>
                  <a:pt x="14466" y="25717"/>
                </a:cubicBezTo>
                <a:cubicBezTo>
                  <a:pt x="5715" y="20717"/>
                  <a:pt x="2411" y="16788"/>
                  <a:pt x="0" y="15002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45" name="Google Shape;545;p38"/>
          <p:cNvSpPr txBox="1"/>
          <p:nvPr/>
        </p:nvSpPr>
        <p:spPr>
          <a:xfrm>
            <a:off x="3770975" y="5348800"/>
            <a:ext cx="1749300" cy="37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lw $S0,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15360</a:t>
            </a:r>
            <a:endParaRPr sz="1800" b="1" dirty="0">
              <a:solidFill>
                <a:schemeClr val="dk1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6" name="Google Shape;546;p38"/>
          <p:cNvSpPr txBox="1"/>
          <p:nvPr/>
        </p:nvSpPr>
        <p:spPr>
          <a:xfrm>
            <a:off x="3768575" y="4430275"/>
            <a:ext cx="20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Protection fault</a:t>
            </a:r>
            <a:endParaRPr sz="16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9"/>
          <p:cNvSpPr txBox="1">
            <a:spLocks noGrp="1"/>
          </p:cNvSpPr>
          <p:nvPr>
            <p:ph type="title"/>
          </p:nvPr>
        </p:nvSpPr>
        <p:spPr>
          <a:xfrm>
            <a:off x="485975" y="96038"/>
            <a:ext cx="873467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552" name="Google Shape;552;p39"/>
          <p:cNvSpPr txBox="1">
            <a:spLocks noGrp="1"/>
          </p:cNvSpPr>
          <p:nvPr>
            <p:ph type="body" idx="1"/>
          </p:nvPr>
        </p:nvSpPr>
        <p:spPr>
          <a:xfrm>
            <a:off x="485975" y="917950"/>
            <a:ext cx="11277600" cy="1060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 - ¿Como un programa accede a memoria?</a:t>
            </a:r>
            <a:endParaRPr sz="2400" b="1" dirty="0">
              <a:solidFill>
                <a:schemeClr val="accent5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s-ES" sz="2400" dirty="0">
                <a:latin typeface="+mn-lt"/>
              </a:rPr>
              <a:t>Ejecutar la instrucción I: </a:t>
            </a:r>
            <a:r>
              <a:rPr lang="es-ES" sz="2400" b="1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lw $s0, 15360</a:t>
            </a:r>
            <a:endParaRPr sz="2400" b="1" dirty="0"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53" name="Google Shape;553;p39"/>
          <p:cNvSpPr txBox="1"/>
          <p:nvPr/>
        </p:nvSpPr>
        <p:spPr>
          <a:xfrm>
            <a:off x="2316928" y="3076825"/>
            <a:ext cx="92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15360</a:t>
            </a:r>
            <a:endParaRPr sz="20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4" name="Google Shape;554;p39"/>
          <p:cNvSpPr/>
          <p:nvPr/>
        </p:nvSpPr>
        <p:spPr>
          <a:xfrm>
            <a:off x="48842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5" name="Google Shape;555;p39"/>
          <p:cNvSpPr/>
          <p:nvPr/>
        </p:nvSpPr>
        <p:spPr>
          <a:xfrm>
            <a:off x="3038525" y="2294950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16384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3306450" y="3288125"/>
            <a:ext cx="924225" cy="562575"/>
          </a:xfrm>
          <a:prstGeom prst="flowChartDecision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7" name="Google Shape;557;p39"/>
          <p:cNvSpPr/>
          <p:nvPr/>
        </p:nvSpPr>
        <p:spPr>
          <a:xfrm>
            <a:off x="5366475" y="3307063"/>
            <a:ext cx="495600" cy="52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+</a:t>
            </a:r>
            <a:endParaRPr/>
          </a:p>
        </p:txBody>
      </p:sp>
      <p:sp>
        <p:nvSpPr>
          <p:cNvPr id="558" name="Google Shape;558;p39"/>
          <p:cNvSpPr/>
          <p:nvPr/>
        </p:nvSpPr>
        <p:spPr>
          <a:xfrm>
            <a:off x="1388575" y="3187675"/>
            <a:ext cx="736800" cy="7635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9" name="Google Shape;559;p39"/>
          <p:cNvCxnSpPr>
            <a:stCxn id="558" idx="3"/>
            <a:endCxn id="556" idx="1"/>
          </p:cNvCxnSpPr>
          <p:nvPr/>
        </p:nvCxnSpPr>
        <p:spPr>
          <a:xfrm>
            <a:off x="2125375" y="3569425"/>
            <a:ext cx="1181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0" name="Google Shape;560;p39"/>
          <p:cNvCxnSpPr>
            <a:stCxn id="555" idx="2"/>
            <a:endCxn id="556" idx="0"/>
          </p:cNvCxnSpPr>
          <p:nvPr/>
        </p:nvCxnSpPr>
        <p:spPr>
          <a:xfrm>
            <a:off x="3768575" y="2669950"/>
            <a:ext cx="0" cy="618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1" name="Google Shape;561;p39"/>
          <p:cNvCxnSpPr>
            <a:stCxn id="554" idx="2"/>
            <a:endCxn id="557" idx="0"/>
          </p:cNvCxnSpPr>
          <p:nvPr/>
        </p:nvCxnSpPr>
        <p:spPr>
          <a:xfrm>
            <a:off x="5614275" y="2669950"/>
            <a:ext cx="0" cy="63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2" name="Google Shape;562;p39"/>
          <p:cNvCxnSpPr>
            <a:stCxn id="556" idx="3"/>
            <a:endCxn id="557" idx="2"/>
          </p:cNvCxnSpPr>
          <p:nvPr/>
        </p:nvCxnSpPr>
        <p:spPr>
          <a:xfrm>
            <a:off x="4230675" y="3569413"/>
            <a:ext cx="11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" name="Google Shape;563;p39"/>
          <p:cNvCxnSpPr/>
          <p:nvPr/>
        </p:nvCxnSpPr>
        <p:spPr>
          <a:xfrm>
            <a:off x="3768575" y="3850688"/>
            <a:ext cx="2400" cy="90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4" name="Google Shape;564;p39"/>
          <p:cNvSpPr txBox="1"/>
          <p:nvPr/>
        </p:nvSpPr>
        <p:spPr>
          <a:xfrm>
            <a:off x="3622188" y="375355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5" name="Google Shape;565;p39"/>
          <p:cNvSpPr txBox="1"/>
          <p:nvPr/>
        </p:nvSpPr>
        <p:spPr>
          <a:xfrm>
            <a:off x="4134863" y="31530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6" name="Google Shape;566;p39"/>
          <p:cNvSpPr/>
          <p:nvPr/>
        </p:nvSpPr>
        <p:spPr>
          <a:xfrm>
            <a:off x="7769125" y="1644025"/>
            <a:ext cx="2212800" cy="46659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9"/>
          <p:cNvSpPr/>
          <p:nvPr/>
        </p:nvSpPr>
        <p:spPr>
          <a:xfrm>
            <a:off x="10562725" y="27101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32768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8" name="Google Shape;568;p39"/>
          <p:cNvSpPr/>
          <p:nvPr/>
        </p:nvSpPr>
        <p:spPr>
          <a:xfrm>
            <a:off x="10562725" y="5027375"/>
            <a:ext cx="1460100" cy="375000"/>
          </a:xfrm>
          <a:prstGeom prst="rect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49152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9" name="Google Shape;569;p39"/>
          <p:cNvCxnSpPr/>
          <p:nvPr/>
        </p:nvCxnSpPr>
        <p:spPr>
          <a:xfrm rot="10800000">
            <a:off x="9981925" y="28976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0" name="Google Shape;570;p39"/>
          <p:cNvSpPr/>
          <p:nvPr/>
        </p:nvSpPr>
        <p:spPr>
          <a:xfrm>
            <a:off x="7769125" y="2897675"/>
            <a:ext cx="2212800" cy="23172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9"/>
          <p:cNvSpPr txBox="1"/>
          <p:nvPr/>
        </p:nvSpPr>
        <p:spPr>
          <a:xfrm>
            <a:off x="7769125" y="3366125"/>
            <a:ext cx="2212800" cy="46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lw $S0, 15360</a:t>
            </a:r>
            <a:endParaRPr sz="2200" b="1" dirty="0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2" name="Google Shape;572;p39"/>
          <p:cNvSpPr txBox="1"/>
          <p:nvPr/>
        </p:nvSpPr>
        <p:spPr>
          <a:xfrm>
            <a:off x="7769125" y="4297700"/>
            <a:ext cx="2212800" cy="461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2200" b="1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73" name="Google Shape;573;p39"/>
          <p:cNvCxnSpPr/>
          <p:nvPr/>
        </p:nvCxnSpPr>
        <p:spPr>
          <a:xfrm rot="10800000">
            <a:off x="9981925" y="5214875"/>
            <a:ext cx="580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4" name="Google Shape;574;p39"/>
          <p:cNvCxnSpPr/>
          <p:nvPr/>
        </p:nvCxnSpPr>
        <p:spPr>
          <a:xfrm rot="10800000" flipH="1">
            <a:off x="5862075" y="3567313"/>
            <a:ext cx="18912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5" name="Google Shape;575;p39"/>
          <p:cNvSpPr txBox="1"/>
          <p:nvPr/>
        </p:nvSpPr>
        <p:spPr>
          <a:xfrm>
            <a:off x="10056150" y="3335150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32890</a:t>
            </a:r>
            <a:endParaRPr/>
          </a:p>
        </p:txBody>
      </p:sp>
      <p:sp>
        <p:nvSpPr>
          <p:cNvPr id="576" name="Google Shape;576;p39"/>
          <p:cNvSpPr txBox="1"/>
          <p:nvPr/>
        </p:nvSpPr>
        <p:spPr>
          <a:xfrm>
            <a:off x="10056150" y="4265225"/>
            <a:ext cx="124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48128</a:t>
            </a:r>
            <a:endParaRPr/>
          </a:p>
        </p:txBody>
      </p:sp>
      <p:sp>
        <p:nvSpPr>
          <p:cNvPr id="577" name="Google Shape;577;p39"/>
          <p:cNvSpPr txBox="1"/>
          <p:nvPr/>
        </p:nvSpPr>
        <p:spPr>
          <a:xfrm>
            <a:off x="6328107" y="3076825"/>
            <a:ext cx="113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48128</a:t>
            </a:r>
            <a:endParaRPr sz="2000" b="1">
              <a:solidFill>
                <a:srgbClr val="0B6937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8" name="Google Shape;578;p39"/>
          <p:cNvSpPr txBox="1"/>
          <p:nvPr/>
        </p:nvSpPr>
        <p:spPr>
          <a:xfrm>
            <a:off x="903725" y="2753525"/>
            <a:ext cx="1749300" cy="37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lw $S0, 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15360</a:t>
            </a:r>
            <a:endParaRPr sz="1800" b="1" dirty="0">
              <a:solidFill>
                <a:srgbClr val="FF0000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9" name="Google Shape;579;p39"/>
          <p:cNvSpPr/>
          <p:nvPr/>
        </p:nvSpPr>
        <p:spPr>
          <a:xfrm>
            <a:off x="1723425" y="4089800"/>
            <a:ext cx="6456175" cy="1529200"/>
          </a:xfrm>
          <a:custGeom>
            <a:avLst/>
            <a:gdLst/>
            <a:ahLst/>
            <a:cxnLst/>
            <a:rect l="l" t="t" r="r" b="b"/>
            <a:pathLst>
              <a:path w="258247" h="61168" extrusionOk="0">
                <a:moveTo>
                  <a:pt x="258247" y="24646"/>
                </a:moveTo>
                <a:cubicBezTo>
                  <a:pt x="256640" y="26253"/>
                  <a:pt x="253782" y="30540"/>
                  <a:pt x="248603" y="34290"/>
                </a:cubicBezTo>
                <a:cubicBezTo>
                  <a:pt x="243424" y="38041"/>
                  <a:pt x="235386" y="43934"/>
                  <a:pt x="227171" y="47149"/>
                </a:cubicBezTo>
                <a:cubicBezTo>
                  <a:pt x="218956" y="50364"/>
                  <a:pt x="209669" y="51792"/>
                  <a:pt x="199311" y="53578"/>
                </a:cubicBezTo>
                <a:cubicBezTo>
                  <a:pt x="188953" y="55364"/>
                  <a:pt x="176630" y="56614"/>
                  <a:pt x="165021" y="57864"/>
                </a:cubicBezTo>
                <a:cubicBezTo>
                  <a:pt x="153412" y="59114"/>
                  <a:pt x="144661" y="61258"/>
                  <a:pt x="129659" y="61079"/>
                </a:cubicBezTo>
                <a:cubicBezTo>
                  <a:pt x="114657" y="60901"/>
                  <a:pt x="89565" y="58936"/>
                  <a:pt x="75010" y="56793"/>
                </a:cubicBezTo>
                <a:cubicBezTo>
                  <a:pt x="60455" y="54650"/>
                  <a:pt x="51346" y="51792"/>
                  <a:pt x="42327" y="48220"/>
                </a:cubicBezTo>
                <a:cubicBezTo>
                  <a:pt x="33308" y="44648"/>
                  <a:pt x="26879" y="40272"/>
                  <a:pt x="20896" y="35361"/>
                </a:cubicBezTo>
                <a:cubicBezTo>
                  <a:pt x="14913" y="30450"/>
                  <a:pt x="9913" y="24646"/>
                  <a:pt x="6430" y="18752"/>
                </a:cubicBezTo>
                <a:cubicBezTo>
                  <a:pt x="2947" y="12859"/>
                  <a:pt x="1072" y="3125"/>
                  <a:pt x="0" y="0"/>
                </a:cubicBez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80" name="Google Shape;580;p39"/>
          <p:cNvSpPr txBox="1"/>
          <p:nvPr/>
        </p:nvSpPr>
        <p:spPr>
          <a:xfrm>
            <a:off x="4434975" y="5784075"/>
            <a:ext cx="727200" cy="3750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800" b="1">
              <a:solidFill>
                <a:srgbClr val="24292E"/>
              </a:solidFill>
              <a:highlight>
                <a:srgbClr val="FFF2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24292E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1" name="Google Shape;581;p39"/>
          <p:cNvSpPr txBox="1"/>
          <p:nvPr/>
        </p:nvSpPr>
        <p:spPr>
          <a:xfrm>
            <a:off x="3768575" y="4430275"/>
            <a:ext cx="20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Protection fault</a:t>
            </a:r>
            <a:endParaRPr sz="16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0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113848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pic>
        <p:nvPicPr>
          <p:cNvPr id="587" name="Google Shape;58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850" y="1102800"/>
            <a:ext cx="2150500" cy="488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125" y="1102800"/>
            <a:ext cx="8303999" cy="516572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0"/>
          <p:cNvSpPr/>
          <p:nvPr/>
        </p:nvSpPr>
        <p:spPr>
          <a:xfrm>
            <a:off x="1614775" y="6079100"/>
            <a:ext cx="496500" cy="508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90" name="Google Shape;59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4926" y="6049075"/>
            <a:ext cx="585500" cy="58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1" name="Google Shape;591;p40"/>
          <p:cNvCxnSpPr/>
          <p:nvPr/>
        </p:nvCxnSpPr>
        <p:spPr>
          <a:xfrm rot="10800000" flipH="1">
            <a:off x="2165500" y="6320075"/>
            <a:ext cx="475200" cy="3600"/>
          </a:xfrm>
          <a:prstGeom prst="straightConnector1">
            <a:avLst/>
          </a:prstGeom>
          <a:noFill/>
          <a:ln w="28575" cap="flat" cmpd="sng">
            <a:solidFill>
              <a:srgbClr val="ED7D3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92" name="Google Shape;592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56125" y="6079100"/>
            <a:ext cx="701150" cy="70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40"/>
          <p:cNvCxnSpPr/>
          <p:nvPr/>
        </p:nvCxnSpPr>
        <p:spPr>
          <a:xfrm flipH="1">
            <a:off x="3518375" y="1030250"/>
            <a:ext cx="11700" cy="5691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290285" y="96038"/>
            <a:ext cx="1042125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93871" y="889562"/>
            <a:ext cx="10877400" cy="151981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Un proceso con un espacio de direccionamiento de 4KB fue asignado a una memoria física a partir de 16KB. Teniendo en cuenta lo anterior, realizar la traducción de direcciones virtuales a físicas mostradas en la siguiente tabla: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00" name="Google Shape;600;p41"/>
          <p:cNvGraphicFramePr/>
          <p:nvPr>
            <p:extLst>
              <p:ext uri="{D42A27DB-BD31-4B8C-83A1-F6EECF244321}">
                <p14:modId xmlns:p14="http://schemas.microsoft.com/office/powerpoint/2010/main" val="3947895056"/>
              </p:ext>
            </p:extLst>
          </p:nvPr>
        </p:nvGraphicFramePr>
        <p:xfrm>
          <a:off x="4034970" y="2624020"/>
          <a:ext cx="4586516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8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Virtual Address (VA)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 err="1"/>
                        <a:t>Physical</a:t>
                      </a:r>
                      <a:r>
                        <a:rPr lang="es-ES" sz="1800" b="1" dirty="0"/>
                        <a:t> Address (PA)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73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Traducción de direcciones</a:t>
            </a:r>
            <a:endParaRPr/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7" y="904075"/>
            <a:ext cx="11669486" cy="6344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</a:rPr>
              <a:t>Solución</a:t>
            </a:r>
            <a:r>
              <a:rPr lang="es-ES" sz="2800" dirty="0">
                <a:solidFill>
                  <a:schemeClr val="accent5"/>
                </a:solidFill>
              </a:rPr>
              <a:t>:</a:t>
            </a:r>
            <a:endParaRPr sz="2800" dirty="0">
              <a:solidFill>
                <a:schemeClr val="accent5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600" name="Google Shape;600;p41"/>
          <p:cNvGraphicFramePr/>
          <p:nvPr>
            <p:extLst>
              <p:ext uri="{D42A27DB-BD31-4B8C-83A1-F6EECF244321}">
                <p14:modId xmlns:p14="http://schemas.microsoft.com/office/powerpoint/2010/main" val="3372272068"/>
              </p:ext>
            </p:extLst>
          </p:nvPr>
        </p:nvGraphicFramePr>
        <p:xfrm>
          <a:off x="464457" y="1538514"/>
          <a:ext cx="2351314" cy="21944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Virtual Address (VA)</a:t>
                      </a:r>
                      <a:endParaRPr sz="14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 err="1"/>
                        <a:t>Physical</a:t>
                      </a:r>
                      <a:r>
                        <a:rPr lang="es-ES" sz="1400" b="1" dirty="0"/>
                        <a:t> Address (PA)</a:t>
                      </a:r>
                      <a:endParaRPr sz="14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9639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2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</a:t>
            </a:r>
            <a:endParaRPr dirty="0">
              <a:latin typeface="+mj-lt"/>
            </a:endParaRPr>
          </a:p>
        </p:txBody>
      </p:sp>
      <p:sp>
        <p:nvSpPr>
          <p:cNvPr id="606" name="Google Shape;606;p42"/>
          <p:cNvSpPr txBox="1">
            <a:spLocks noGrp="1"/>
          </p:cNvSpPr>
          <p:nvPr>
            <p:ph type="body" idx="1"/>
          </p:nvPr>
        </p:nvSpPr>
        <p:spPr>
          <a:xfrm>
            <a:off x="735400" y="904075"/>
            <a:ext cx="10877400" cy="15343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Ejemplo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endParaRPr sz="2400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Un proceso con un espacio de direccionamiento de 4KB fue asignado a una memoria física a partir de 16KB. Teniendo en cuenta lo anterior, realizar la traducción de direcciones virtuales a físicas mostradas en la siguiente tabla: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607" name="Google Shape;607;p42"/>
          <p:cNvGraphicFramePr/>
          <p:nvPr>
            <p:extLst>
              <p:ext uri="{D42A27DB-BD31-4B8C-83A1-F6EECF244321}">
                <p14:modId xmlns:p14="http://schemas.microsoft.com/office/powerpoint/2010/main" val="2392206869"/>
              </p:ext>
            </p:extLst>
          </p:nvPr>
        </p:nvGraphicFramePr>
        <p:xfrm>
          <a:off x="3243943" y="2712880"/>
          <a:ext cx="5704114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52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/>
                        <a:t>Virtual Address (VA)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 err="1"/>
                        <a:t>Physical</a:t>
                      </a:r>
                      <a:r>
                        <a:rPr lang="es-ES" sz="1800" b="1" dirty="0"/>
                        <a:t> Address (PA)</a:t>
                      </a:r>
                      <a:endParaRPr sz="1800"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19684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0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Fault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</a:t>
                      </a:r>
                      <a:r>
                        <a:rPr lang="es-ES" sz="1800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Out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s-ES" sz="1800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</a:t>
                      </a:r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bounds)</a:t>
                      </a:r>
                      <a:endParaRPr sz="18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4"/>
          <p:cNvSpPr txBox="1">
            <a:spLocks noGrp="1"/>
          </p:cNvSpPr>
          <p:nvPr>
            <p:ph type="title"/>
          </p:nvPr>
        </p:nvSpPr>
        <p:spPr>
          <a:xfrm>
            <a:off x="466706" y="50625"/>
            <a:ext cx="898209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19" name="Google Shape;619;p44"/>
          <p:cNvSpPr txBox="1">
            <a:spLocks noGrp="1"/>
          </p:cNvSpPr>
          <p:nvPr>
            <p:ph type="body" idx="1"/>
          </p:nvPr>
        </p:nvSpPr>
        <p:spPr>
          <a:xfrm>
            <a:off x="620015" y="1000125"/>
            <a:ext cx="5356500" cy="24288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El SO debe realizar acciones para el correcto funcionamiento del sistema </a:t>
            </a:r>
            <a:r>
              <a:rPr lang="es-ES" sz="2400" b="1" dirty="0">
                <a:solidFill>
                  <a:schemeClr val="accent2"/>
                </a:solidFill>
                <a:latin typeface="+mn-lt"/>
                <a:ea typeface="Consolas"/>
                <a:cs typeface="Consolas"/>
                <a:sym typeface="Consolas"/>
              </a:rPr>
              <a:t>base &amp; bound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un proceso inicia su ejecución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un proceso termina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Cuando ocurre un cambio de contexto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20" name="Google Shape;620;p44"/>
          <p:cNvSpPr txBox="1"/>
          <p:nvPr/>
        </p:nvSpPr>
        <p:spPr>
          <a:xfrm>
            <a:off x="800311" y="3626638"/>
            <a:ext cx="4731300" cy="9386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Free list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Lista de rangos de espacio libre en memoria física.</a:t>
            </a:r>
            <a:endParaRPr sz="1200" dirty="0"/>
          </a:p>
        </p:txBody>
      </p:sp>
      <p:pic>
        <p:nvPicPr>
          <p:cNvPr id="621" name="Google Shape;62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675" y="955801"/>
            <a:ext cx="5356625" cy="53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5"/>
          <p:cNvSpPr txBox="1">
            <a:spLocks noGrp="1"/>
          </p:cNvSpPr>
          <p:nvPr>
            <p:ph type="title"/>
          </p:nvPr>
        </p:nvSpPr>
        <p:spPr>
          <a:xfrm>
            <a:off x="522514" y="96038"/>
            <a:ext cx="869813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27" name="Google Shape;627;p45"/>
          <p:cNvSpPr txBox="1">
            <a:spLocks noGrp="1"/>
          </p:cNvSpPr>
          <p:nvPr>
            <p:ph type="body" idx="1"/>
          </p:nvPr>
        </p:nvSpPr>
        <p:spPr>
          <a:xfrm>
            <a:off x="275770" y="850037"/>
            <a:ext cx="11524343" cy="101166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Creación de un proceso</a:t>
            </a:r>
            <a:endParaRPr sz="2400" b="1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SO debe encontrar un espacio para la memoria del nuevo proceso (</a:t>
            </a:r>
            <a:r>
              <a:rPr lang="es-ES" sz="2200" b="1" dirty="0">
                <a:latin typeface="+mn-lt"/>
              </a:rPr>
              <a:t>address space</a:t>
            </a:r>
            <a:r>
              <a:rPr lang="es-ES" sz="2200" dirty="0">
                <a:latin typeface="+mn-lt"/>
              </a:rPr>
              <a:t>).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628" name="Google Shape;628;p45"/>
          <p:cNvGrpSpPr/>
          <p:nvPr/>
        </p:nvGrpSpPr>
        <p:grpSpPr>
          <a:xfrm>
            <a:off x="9542762" y="3811610"/>
            <a:ext cx="2257351" cy="1163557"/>
            <a:chOff x="916638" y="3584818"/>
            <a:chExt cx="2257351" cy="1163557"/>
          </a:xfrm>
        </p:grpSpPr>
        <p:grpSp>
          <p:nvGrpSpPr>
            <p:cNvPr id="629" name="Google Shape;629;p45"/>
            <p:cNvGrpSpPr/>
            <p:nvPr/>
          </p:nvGrpSpPr>
          <p:grpSpPr>
            <a:xfrm>
              <a:off x="2367667" y="3584818"/>
              <a:ext cx="806322" cy="1163511"/>
              <a:chOff x="1775100" y="4022850"/>
              <a:chExt cx="1076100" cy="1739700"/>
            </a:xfrm>
          </p:grpSpPr>
          <p:sp>
            <p:nvSpPr>
              <p:cNvPr id="630" name="Google Shape;630;p45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1" name="Google Shape;631;p45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632" name="Google Shape;632;p45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633" name="Google Shape;633;p45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634" name="Google Shape;634;p45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/>
                </a:p>
              </p:txBody>
            </p:sp>
            <p:sp>
              <p:nvSpPr>
                <p:cNvPr id="635" name="Google Shape;635;p45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/>
                </a:p>
              </p:txBody>
            </p:sp>
            <p:cxnSp>
              <p:nvCxnSpPr>
                <p:cNvPr id="636" name="Google Shape;636;p45"/>
                <p:cNvCxnSpPr>
                  <a:stCxn id="63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37" name="Google Shape;637;p45"/>
                <p:cNvCxnSpPr>
                  <a:stCxn id="63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638" name="Google Shape;638;p45"/>
            <p:cNvSpPr/>
            <p:nvPr/>
          </p:nvSpPr>
          <p:spPr>
            <a:xfrm>
              <a:off x="916638" y="3801025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39" name="Google Shape;639;p45"/>
            <p:cNvCxnSpPr/>
            <p:nvPr/>
          </p:nvCxnSpPr>
          <p:spPr>
            <a:xfrm rot="10800000" flipH="1">
              <a:off x="1281400" y="3586350"/>
              <a:ext cx="10650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40" name="Google Shape;640;p45"/>
            <p:cNvCxnSpPr/>
            <p:nvPr/>
          </p:nvCxnSpPr>
          <p:spPr>
            <a:xfrm>
              <a:off x="1274725" y="4564175"/>
              <a:ext cx="1064700" cy="184200"/>
            </a:xfrm>
            <a:prstGeom prst="straightConnector1">
              <a:avLst/>
            </a:prstGeom>
            <a:noFill/>
            <a:ln w="19050" cap="flat" cmpd="sng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41" name="Google Shape;641;p45"/>
          <p:cNvCxnSpPr/>
          <p:nvPr/>
        </p:nvCxnSpPr>
        <p:spPr>
          <a:xfrm rot="10800000">
            <a:off x="8295699" y="4404567"/>
            <a:ext cx="10263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42" name="Google Shape;6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099" y="2235917"/>
            <a:ext cx="3913550" cy="394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16148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648" name="Google Shape;648;p46"/>
          <p:cNvSpPr txBox="1">
            <a:spLocks noGrp="1"/>
          </p:cNvSpPr>
          <p:nvPr>
            <p:ph type="body" idx="1"/>
          </p:nvPr>
        </p:nvSpPr>
        <p:spPr>
          <a:xfrm>
            <a:off x="275772" y="978743"/>
            <a:ext cx="11538857" cy="9085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Terminación de un proceso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El SO recupera la memoria para su re-uso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649" name="Google Shape;6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587" y="2979150"/>
            <a:ext cx="3693538" cy="371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6973" y="2908750"/>
            <a:ext cx="3758500" cy="3719875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6"/>
          <p:cNvSpPr/>
          <p:nvPr/>
        </p:nvSpPr>
        <p:spPr>
          <a:xfrm>
            <a:off x="4252375" y="2202000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2" name="Google Shape;652;p46"/>
          <p:cNvSpPr/>
          <p:nvPr/>
        </p:nvSpPr>
        <p:spPr>
          <a:xfrm>
            <a:off x="9326875" y="2202000"/>
            <a:ext cx="537300" cy="5418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53" name="Google Shape;653;p46"/>
          <p:cNvCxnSpPr/>
          <p:nvPr/>
        </p:nvCxnSpPr>
        <p:spPr>
          <a:xfrm>
            <a:off x="5897725" y="2488175"/>
            <a:ext cx="23211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654" name="Google Shape;654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6025" y="1975000"/>
            <a:ext cx="364950" cy="3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7"/>
          <p:cNvSpPr txBox="1">
            <a:spLocks noGrp="1"/>
          </p:cNvSpPr>
          <p:nvPr>
            <p:ph type="title"/>
          </p:nvPr>
        </p:nvSpPr>
        <p:spPr>
          <a:xfrm>
            <a:off x="290285" y="96038"/>
            <a:ext cx="1165497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Acciones del sistema operativo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660" name="Google Shape;660;p47"/>
          <p:cNvSpPr txBox="1">
            <a:spLocks noGrp="1"/>
          </p:cNvSpPr>
          <p:nvPr>
            <p:ph type="body" idx="1"/>
          </p:nvPr>
        </p:nvSpPr>
        <p:spPr>
          <a:xfrm>
            <a:off x="374460" y="917888"/>
            <a:ext cx="107991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Cambio de contexto</a:t>
            </a:r>
            <a:endParaRPr sz="24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/>
              <a:t>El SO almacena y restaura los registros </a:t>
            </a:r>
            <a:r>
              <a:rPr lang="es-ES" sz="2200" b="1" dirty="0"/>
              <a:t>base</a:t>
            </a:r>
            <a:r>
              <a:rPr lang="es-ES" sz="2200" dirty="0"/>
              <a:t> y </a:t>
            </a:r>
            <a:r>
              <a:rPr lang="es-ES" sz="2200" b="1" dirty="0"/>
              <a:t>bound</a:t>
            </a:r>
            <a:r>
              <a:rPr lang="es-ES" sz="2200" dirty="0"/>
              <a:t> en el PCB.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b="1" dirty="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661" name="Google Shape;66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314" y="2167337"/>
            <a:ext cx="7526898" cy="391414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7"/>
          <p:cNvSpPr/>
          <p:nvPr/>
        </p:nvSpPr>
        <p:spPr>
          <a:xfrm>
            <a:off x="9198354" y="2147438"/>
            <a:ext cx="537300" cy="541800"/>
          </a:xfrm>
          <a:prstGeom prst="ellipse">
            <a:avLst/>
          </a:prstGeom>
          <a:solidFill>
            <a:srgbClr val="D9EAD3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47"/>
          <p:cNvSpPr/>
          <p:nvPr/>
        </p:nvSpPr>
        <p:spPr>
          <a:xfrm>
            <a:off x="5348946" y="2138308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64" name="Google Shape;664;p47"/>
          <p:cNvCxnSpPr/>
          <p:nvPr/>
        </p:nvCxnSpPr>
        <p:spPr>
          <a:xfrm>
            <a:off x="6096000" y="2409208"/>
            <a:ext cx="2892600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/>
              <a:t>Referencias</a:t>
            </a:r>
            <a:endParaRPr sz="3200" b="1">
              <a:solidFill>
                <a:srgbClr val="701E5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4" name="Google Shape;674;p44"/>
          <p:cNvSpPr txBox="1">
            <a:spLocks noGrp="1"/>
          </p:cNvSpPr>
          <p:nvPr>
            <p:ph type="body" idx="1"/>
          </p:nvPr>
        </p:nvSpPr>
        <p:spPr>
          <a:xfrm>
            <a:off x="1011900" y="1058100"/>
            <a:ext cx="105156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/>
              <a:t>Operating Systems Three Easy Pieces </a:t>
            </a:r>
            <a:r>
              <a:rPr lang="es-ES" sz="2200"/>
              <a:t>(</a:t>
            </a:r>
            <a:r>
              <a:rPr lang="es-ES" sz="2200" u="sng">
                <a:solidFill>
                  <a:schemeClr val="hlink"/>
                </a:solidFill>
                <a:hlinkClick r:id="rId3"/>
              </a:rPr>
              <a:t>website</a:t>
            </a:r>
            <a:r>
              <a:rPr lang="es-ES" sz="2200"/>
              <a:t>: Capítulos </a:t>
            </a:r>
            <a:r>
              <a:rPr lang="es-ES" sz="2200" u="sng">
                <a:solidFill>
                  <a:schemeClr val="hlink"/>
                </a:solidFill>
                <a:hlinkClick r:id="rId4"/>
              </a:rPr>
              <a:t>1</a:t>
            </a:r>
            <a:r>
              <a:rPr lang="es-ES" sz="2200"/>
              <a:t> y </a:t>
            </a:r>
            <a:r>
              <a:rPr lang="es-ES" sz="2200" u="sng">
                <a:solidFill>
                  <a:schemeClr val="hlink"/>
                </a:solidFill>
                <a:hlinkClick r:id="rId5"/>
              </a:rPr>
              <a:t>2</a:t>
            </a:r>
            <a:r>
              <a:rPr lang="es-ES" sz="2200"/>
              <a:t>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/>
              <a:t>Videos de youtube: Clase 1 - Introducción a los sistemas operativos (</a:t>
            </a:r>
            <a:r>
              <a:rPr lang="es-ES" sz="2200" u="sng">
                <a:solidFill>
                  <a:schemeClr val="hlink"/>
                </a:solidFill>
                <a:hlinkClick r:id="rId6"/>
              </a:rPr>
              <a:t>link</a:t>
            </a:r>
            <a:r>
              <a:rPr lang="es-ES" sz="2200"/>
              <a:t>).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/>
              <a:t>Página de Remzi H. Arpaci-Dusseau (</a:t>
            </a:r>
            <a:r>
              <a:rPr lang="es-ES" sz="2200" u="sng">
                <a:solidFill>
                  <a:schemeClr val="hlink"/>
                </a:solidFill>
                <a:hlinkClick r:id="rId7"/>
              </a:rPr>
              <a:t>link</a:t>
            </a:r>
            <a:r>
              <a:rPr lang="es-ES" sz="2200"/>
              <a:t>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/>
              <a:t>Operating System Concepts - Tenth Edition (</a:t>
            </a:r>
            <a:r>
              <a:rPr lang="es-ES" sz="2200" u="sng">
                <a:solidFill>
                  <a:schemeClr val="hlink"/>
                </a:solidFill>
                <a:hlinkClick r:id="rId8"/>
              </a:rPr>
              <a:t>website</a:t>
            </a:r>
            <a:r>
              <a:rPr lang="es-ES" sz="2200"/>
              <a:t>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/>
              <a:t>Operating Systems Notes (</a:t>
            </a:r>
            <a:r>
              <a:rPr lang="es-ES" sz="2200" u="sng">
                <a:solidFill>
                  <a:schemeClr val="hlink"/>
                </a:solidFill>
                <a:hlinkClick r:id="rId9"/>
              </a:rPr>
              <a:t>link</a:t>
            </a:r>
            <a:r>
              <a:rPr lang="es-ES" sz="2200"/>
              <a:t>)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0"/>
              </a:rPr>
              <a:t>https://github.com/Aniruddha-Tapas/Operating-Systems-Notes/blob/master/1-Overview.md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1"/>
              </a:rPr>
              <a:t>https://myaut.github.io/dtrace-stap-book/kernel/proc.html</a:t>
            </a:r>
            <a:r>
              <a:rPr lang="es-ES" sz="2200"/>
              <a:t> 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2"/>
              </a:rPr>
              <a:t>https://myaut.github.io/dtrace-stap-book/index.html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3"/>
              </a:rPr>
              <a:t>https://www.technologyuk.net/computing/computer-software/operating-systems/operating-system-utilities.shtml</a:t>
            </a:r>
            <a:r>
              <a:rPr lang="es-ES" sz="2200"/>
              <a:t> 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4"/>
              </a:rPr>
              <a:t>http://www.it.uu.se/education/course/homepage/os/vt18/module-4/simple-threads/</a:t>
            </a:r>
            <a:r>
              <a:rPr lang="es-ES" sz="2200"/>
              <a:t> 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>
                <a:solidFill>
                  <a:schemeClr val="hlink"/>
                </a:solidFill>
                <a:hlinkClick r:id="rId15"/>
              </a:rPr>
              <a:t>https://courses.cs.duke.edu/spring19/compsci590.1/slides/</a:t>
            </a:r>
            <a:r>
              <a:rPr lang="es-ES" sz="2200"/>
              <a:t> 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>
                <a:solidFill>
                  <a:schemeClr val="hlink"/>
                </a:solidFill>
                <a:hlinkClick r:id="rId16"/>
              </a:rPr>
              <a:t>http://csl.snu.ac.kr/courses/4190.307/2020-1/</a:t>
            </a:r>
            <a:r>
              <a:rPr lang="es-ES" sz="2200"/>
              <a:t> 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/>
              <a:t> </a:t>
            </a: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3604</Words>
  <Application>Microsoft Office PowerPoint</Application>
  <PresentationFormat>Panorámica</PresentationFormat>
  <Paragraphs>1291</Paragraphs>
  <Slides>50</Slides>
  <Notes>50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9" baseType="lpstr">
      <vt:lpstr>Calibri</vt:lpstr>
      <vt:lpstr>Courier New</vt:lpstr>
      <vt:lpstr>Arial</vt:lpstr>
      <vt:lpstr>Calibri Light</vt:lpstr>
      <vt:lpstr>Times New Roman</vt:lpstr>
      <vt:lpstr>Roboto Slab</vt:lpstr>
      <vt:lpstr>Roboto</vt:lpstr>
      <vt:lpstr>Consolas</vt:lpstr>
      <vt:lpstr>Tema de Office</vt:lpstr>
      <vt:lpstr>Apuntes – Clase 7</vt:lpstr>
      <vt:lpstr>Proceso</vt:lpstr>
      <vt:lpstr>Virtualización de CPU</vt:lpstr>
      <vt:lpstr>Implementación de la Virtualización</vt:lpstr>
      <vt:lpstr>Abstracción CPU - Proceso</vt:lpstr>
      <vt:lpstr>Mecanismos CPU  - Proceso</vt:lpstr>
      <vt:lpstr>Políticas CPU - Proceso</vt:lpstr>
      <vt:lpstr>Virtualización de Memoria - Contextualización</vt:lpstr>
      <vt:lpstr>Virtualización de Memoria - Contextualización</vt:lpstr>
      <vt:lpstr>Virtualización de Memoria - Contextualización</vt:lpstr>
      <vt:lpstr>Virtualización de Memoria - Contextualización</vt:lpstr>
      <vt:lpstr>Virtualización de Memoria - Contextualización</vt:lpstr>
      <vt:lpstr>Virtualización de Memoria - Contextualización</vt:lpstr>
      <vt:lpstr>Virtualización de Memoria - Contextualización</vt:lpstr>
      <vt:lpstr>Virtualización de Memoria - Contextualización</vt:lpstr>
      <vt:lpstr>Virtualización de Memoria - Contextualización</vt:lpstr>
      <vt:lpstr>Virtualización de Memoria - Contextualización</vt:lpstr>
      <vt:lpstr>Beneficios de la virtualización de Memoria</vt:lpstr>
      <vt:lpstr>Sistemas operativos y memoria</vt:lpstr>
      <vt:lpstr>Sistemas operativos y memoria</vt:lpstr>
      <vt:lpstr>Espacio de direcciones: Address Space</vt:lpstr>
      <vt:lpstr>Espacio de direcciones: Address Space</vt:lpstr>
      <vt:lpstr>Espacio de direcciones: Address Space</vt:lpstr>
      <vt:lpstr>Espacio de direcciones: Address Space</vt:lpstr>
      <vt:lpstr>Hardware Address Translation - Address Translation (AT) </vt:lpstr>
      <vt:lpstr>Contextualización</vt:lpstr>
      <vt:lpstr>Traducción de direcciones</vt:lpstr>
      <vt:lpstr>Contextualización</vt:lpstr>
      <vt:lpstr>Contextualización</vt:lpstr>
      <vt:lpstr>Contextualización</vt:lpstr>
      <vt:lpstr>Contextualización</vt:lpstr>
      <vt:lpstr>Reasignación del espacio de direccionamiento</vt:lpstr>
      <vt:lpstr>Contextualización – Pregunta clave</vt:lpstr>
      <vt:lpstr>Dynamic Relocation - Reasignación dinámica</vt:lpstr>
      <vt:lpstr>Dynamic Relocation - Reasignación dinámica</vt:lpstr>
      <vt:lpstr>Traducción de direcciones</vt:lpstr>
      <vt:lpstr>Traducción de direcciones - Formulas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Traducción de direcciones</vt:lpstr>
      <vt:lpstr>Acciones del sistema operativo</vt:lpstr>
      <vt:lpstr>Acciones del sistema operativo</vt:lpstr>
      <vt:lpstr>Acciones del sistema operativo</vt:lpstr>
      <vt:lpstr>Acciones del sistema operativo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– Clase 7</dc:title>
  <dc:creator>Usuario</dc:creator>
  <cp:lastModifiedBy>HENRY ALBERTO ARCILA RAMIREZ</cp:lastModifiedBy>
  <cp:revision>9</cp:revision>
  <dcterms:modified xsi:type="dcterms:W3CDTF">2026-03-12T02:20:46Z</dcterms:modified>
</cp:coreProperties>
</file>