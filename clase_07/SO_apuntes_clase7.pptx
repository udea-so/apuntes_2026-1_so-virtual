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27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6" r:id="rId9"/>
    <p:sldId id="267" r:id="rId10"/>
    <p:sldId id="268" r:id="rId11"/>
    <p:sldId id="285" r:id="rId12"/>
    <p:sldId id="269" r:id="rId13"/>
    <p:sldId id="286" r:id="rId14"/>
    <p:sldId id="270" r:id="rId15"/>
    <p:sldId id="271" r:id="rId16"/>
    <p:sldId id="272" r:id="rId17"/>
    <p:sldId id="273" r:id="rId18"/>
    <p:sldId id="274" r:id="rId19"/>
    <p:sldId id="276" r:id="rId20"/>
    <p:sldId id="277" r:id="rId21"/>
    <p:sldId id="279" r:id="rId22"/>
    <p:sldId id="280" r:id="rId23"/>
    <p:sldId id="281" r:id="rId24"/>
    <p:sldId id="282" r:id="rId25"/>
    <p:sldId id="283" r:id="rId26"/>
  </p:sldIdLst>
  <p:sldSz cx="12192000" cy="6858000"/>
  <p:notesSz cx="6858000" cy="9144000"/>
  <p:embeddedFontLs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Calibri Light" panose="020F0302020204030204" pitchFamily="34" charset="0"/>
      <p:regular r:id="rId32"/>
      <p:italic r:id="rId33"/>
    </p:embeddedFont>
    <p:embeddedFont>
      <p:font typeface="Roboto" panose="02000000000000000000" pitchFamily="2" charset="0"/>
      <p:regular r:id="rId34"/>
      <p:bold r:id="rId35"/>
      <p:italic r:id="rId36"/>
      <p:boldItalic r:id="rId37"/>
    </p:embeddedFont>
    <p:embeddedFont>
      <p:font typeface="Roboto Slab" panose="020B0604020202020204" charset="0"/>
      <p:regular r:id="rId38"/>
      <p:bold r:id="rId39"/>
    </p:embeddedFont>
  </p:embeddedFontLst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A52A41-BABC-4418-8BB8-58FADEB799A8}">
  <a:tblStyle styleId="{A3A52A41-BABC-4418-8BB8-58FADEB799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3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10b0d603767_0_3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10b0d603767_0_3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0b0d603767_0_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0b0d603767_0_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0b0d603767_0_6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0b0d603767_0_6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10b0d603767_0_7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10b0d603767_0_7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10b0d603767_0_5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10b0d603767_0_5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91542c71b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91542c71bb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10b0d603767_0_8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g10b0d603767_0_8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10b0d603767_0_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g10b0d603767_0_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0b0d603767_0_9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g10b0d603767_0_9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0b0d603767_0_9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g10b0d603767_0_9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70851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10b0d603767_0_9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2" name="Google Shape;432;g10b0d603767_0_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10b0d603767_0_9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2" name="Google Shape;432;g10b0d603767_0_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45110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102fc7111b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g102fc7111b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10b0d603767_0_10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2" name="Google Shape;492;g10b0d603767_0_10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10411c0b8ff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0" name="Google Shape;560;g10411c0b8f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10e655267c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g10e655267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10e655267c9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g10e655267c9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10411c0b8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10411c0b8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10411c0b8ff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10411c0b8ff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10e655267c9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10e655267c9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053c374b7c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053c374b7c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10411c0b8ff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10411c0b8ff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104304384e2_0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1" name="Google Shape;671;g104304384e2_0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83176-2AE6-4425-AF29-716B7A334C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6A784E-3396-4F9C-8979-1A77C7E83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B45B00-4181-41C5-8A9C-B5C1D31D7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EFB3DD-2B42-4BA1-9961-486B0DBE2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E54CDC-52E1-43ED-992B-8E059200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3814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6281D6-77CE-48A4-9892-744BC85D5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D8141B1-DAEE-4DB7-9836-AD530B3AC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29A8D1-53A5-4E1E-ACF1-4865B6C10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5BCB5C2-5985-4FE2-887A-95776FC0D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D0F4240-7265-4A4D-BAE4-FBF76E532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15765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AF25B-7583-4D56-840A-56C8D211C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FEF68F0-5020-4AAC-AFAD-4E2846B0C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4F13D0C-2295-4D98-9E63-B99E84FBF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E5BF590-BAC5-4D7C-A383-3D513C68F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EA64B9-8A0C-42E4-9581-F8E6A7E0D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248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10A06D-73DD-4163-BACD-F86C971F0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EDA0CE7-726C-4C1F-A6DB-6ECBD5714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F738648-8411-4072-8CF5-22D7E876B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B52D4D2-8F6E-40B6-800E-58471D663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B20F6D4-6894-42D6-9CFD-6499C0C72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90B5BA3-5CA4-4EAC-8E9C-B95166F83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3980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ED89C-C8B4-4630-AF38-19CA8314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950C6E1-EFCB-4B64-9467-47224E6E1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1CD507D-A5CC-44EC-AA06-B070C8A9B7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DAEA233-B47A-4A40-A3A7-49BE99054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F5F1ACF-4869-48B0-8FF6-777FE66741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D6E493-4611-4F9E-8BF9-6A45BE099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7570F28-5290-4268-B1A6-1DC5CECF4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2407DE3-6B19-476B-ABFE-F53AC852B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67397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88E7AF-113A-4C7A-949A-751A78D84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DE07813-6E42-4C64-9471-4572BEEA9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DFD0D19-044F-44A6-9915-06C8D82C7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6F10DD9-1CAB-4ED7-BF65-23B3FF0B6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180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67D329B-5131-4B16-9B8F-C5311F169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F225E4D-BF16-4CA6-844A-A6B5125ED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80BEAEB-397C-434C-8C0D-97057D2E9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740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175509-1703-4EC0-B650-4900780F1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87CC8E-0112-4898-A3B2-F2798ED18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3A45065-E2BF-49E2-B8B6-87B3B766CA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EB0E98C-7DCD-404C-B2F9-551A2CF64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FDB60E7-D339-49BA-9EC6-3A7FC86A8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6E5ACA3-F337-4573-9929-619C14E83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80654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917A2-87A0-4BF2-9AE4-686900830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69965A6-EF00-4E68-93D3-A9CE8B1657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6761B7E-11D5-4562-8E14-D7A7675BD5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65EF501-3FA3-4630-ABBE-83080E214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C9C617-0085-4B6E-909A-BE00961F4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31EBE9-E21D-4795-B4F3-4EB313210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762257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BF255-CB9F-4BBF-A935-4F124C30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3F2F238-B951-45F3-82E6-DACC031767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3DEEB9-8CAB-44F2-89B8-869EDD595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E0143F-DE57-48FC-A70E-5CF750FD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35D36C-06E8-4C65-B679-53CBAE89F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4906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F8D8602-AD9F-4DF0-970C-0589B90614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5115B21-C694-46E2-B782-195A85B463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6AE4A8-9F61-4BA7-8B27-AFE1D0534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0DD4CA9-FA28-42EC-BE5B-D5F3584DD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EABC836-10E3-448D-A026-45EDA2785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74602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83796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801041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56025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D27C1BD-3B84-47A1-A28C-D7EB7ACC7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DC25C1C-FEF9-446A-AF29-34301A137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3842EE3-E2BA-4280-8CD0-7BFB76FCC0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A2BB7F-2CFA-4CB4-9552-8C4D4D53B6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8498F9-6B8C-4309-BD00-C25BD9B244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8970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pythontutor.com/render.html#code=%23include%20%3Cstdio.h%3E%0A%23include%20%3Cstdlib.h%3E%0A%0Aint%20main%28int%20argc,%20char%20*argv%5B%5D%29%20%7B%0A%20%20printf%28%22location%20of%20code%20%20%3A%20%25p%5Cn%22,%20%28void%20*%29%20main%29%3B%0A%20%20printf%28%22location%20of%20heap%20%20%3A%20%25p%5Cn%22,%20%28void%20*%29%20malloc%281%29%29%3B%0A%20%20int%20x%20%3D%203%3B%0A%20%20printf%28%22location%20of%20stack%20%3A%20%25p%5Cn%22,%20%28void%20*%29%20%26x%29%3B%0A%20%20return%20x%3B%0A%7D&amp;cumulative=false&amp;curInstr=0&amp;heapPrimitives=nevernest&amp;mode=display&amp;origin=opt-frontend.js&amp;py=c_gcc9.3.0&amp;rawInputLstJSON=%5B%5D&amp;textReferences=false" TargetMode="External"/><Relationship Id="rId4" Type="http://schemas.openxmlformats.org/officeDocument/2006/relationships/hyperlink" Target="https://github.com/remzi-arpacidusseau/ostep-code/blob/master/vm-intro/va.c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c.html#code=int%20x%3B%0Aint%20main%28int%20argc,%20char%20*argv%5B%5D%29%20%7B%0A%20%20int%20y%3B%0A%20%20int%20*z%20%3D%20malloc%28sizeof%28int%29%29%3B%0A%7D%0A&amp;mode=edit&amp;origin=opt-frontend.js&amp;py=c_gcc9.3.0&amp;rawInputLstJSON=%5B%5D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s-book.com/OS10/index.html" TargetMode="External"/><Relationship Id="rId13" Type="http://schemas.openxmlformats.org/officeDocument/2006/relationships/hyperlink" Target="https://www.technologyuk.net/computing/computer-software/operating-systems/operating-system-utilities.shtml" TargetMode="External"/><Relationship Id="rId3" Type="http://schemas.openxmlformats.org/officeDocument/2006/relationships/hyperlink" Target="http://pages.cs.wisc.edu/~remzi/OSTEP/" TargetMode="External"/><Relationship Id="rId7" Type="http://schemas.openxmlformats.org/officeDocument/2006/relationships/hyperlink" Target="http://pages.cs.wisc.edu/~remzi/" TargetMode="External"/><Relationship Id="rId12" Type="http://schemas.openxmlformats.org/officeDocument/2006/relationships/hyperlink" Target="https://myaut.github.io/dtrace-stap-book/index.html" TargetMode="External"/><Relationship Id="rId2" Type="http://schemas.openxmlformats.org/officeDocument/2006/relationships/notesSlide" Target="../notesSlides/notesSlide25.xml"/><Relationship Id="rId16" Type="http://schemas.openxmlformats.org/officeDocument/2006/relationships/hyperlink" Target="http://csl.snu.ac.kr/courses/4190.307/2020-1/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playlist?list=PLlTZ99qnw3zKBiKz7pZ_ErH3AR3rpaaKT" TargetMode="External"/><Relationship Id="rId11" Type="http://schemas.openxmlformats.org/officeDocument/2006/relationships/hyperlink" Target="https://myaut.github.io/dtrace-stap-book/kernel/proc.html" TargetMode="External"/><Relationship Id="rId5" Type="http://schemas.openxmlformats.org/officeDocument/2006/relationships/hyperlink" Target="http://pages.cs.wisc.edu/~remzi/OSTEP/intro.pdf" TargetMode="External"/><Relationship Id="rId15" Type="http://schemas.openxmlformats.org/officeDocument/2006/relationships/hyperlink" Target="https://courses.cs.duke.edu/spring19/compsci590.1/slides/" TargetMode="External"/><Relationship Id="rId10" Type="http://schemas.openxmlformats.org/officeDocument/2006/relationships/hyperlink" Target="https://github.com/Aniruddha-Tapas/Operating-Systems-Notes/blob/master/1-Overview.md" TargetMode="External"/><Relationship Id="rId4" Type="http://schemas.openxmlformats.org/officeDocument/2006/relationships/hyperlink" Target="http://pages.cs.wisc.edu/~remzi/OSTEP/dialogue-threeeasy.pdf" TargetMode="External"/><Relationship Id="rId9" Type="http://schemas.openxmlformats.org/officeDocument/2006/relationships/hyperlink" Target="https://applied-programming.github.io/Operating-Systems-Notes/" TargetMode="External"/><Relationship Id="rId14" Type="http://schemas.openxmlformats.org/officeDocument/2006/relationships/hyperlink" Target="http://www.it.uu.se/education/course/homepage/os/vt18/module-4/simple-threa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08724" y="2964875"/>
            <a:ext cx="11242501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Apuntes – Clase 7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3200" b="1" dirty="0"/>
              <a:t>Memoria virtual</a:t>
            </a: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12/03/2026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>
            <a:spLocks noGrp="1"/>
          </p:cNvSpPr>
          <p:nvPr>
            <p:ph type="title"/>
          </p:nvPr>
        </p:nvSpPr>
        <p:spPr>
          <a:xfrm>
            <a:off x="379850" y="113988"/>
            <a:ext cx="10515600" cy="898719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</a:t>
            </a:r>
            <a:endParaRPr dirty="0"/>
          </a:p>
        </p:txBody>
      </p:sp>
      <p:sp>
        <p:nvSpPr>
          <p:cNvPr id="158" name="Google Shape;158;p20"/>
          <p:cNvSpPr txBox="1">
            <a:spLocks noGrp="1"/>
          </p:cNvSpPr>
          <p:nvPr>
            <p:ph idx="1"/>
          </p:nvPr>
        </p:nvSpPr>
        <p:spPr>
          <a:xfrm>
            <a:off x="379850" y="959124"/>
            <a:ext cx="10749300" cy="6996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76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None/>
            </a:pPr>
            <a:r>
              <a:rPr lang="es-ES" sz="2400" dirty="0"/>
              <a:t>Un proceso es un </a:t>
            </a:r>
            <a:r>
              <a:rPr lang="es-ES" sz="2400" b="1" dirty="0">
                <a:solidFill>
                  <a:srgbClr val="0B6937"/>
                </a:solidFill>
              </a:rPr>
              <a:t>programa en ejecución</a:t>
            </a:r>
            <a:r>
              <a:rPr lang="es-ES" sz="2400" dirty="0"/>
              <a:t>.</a:t>
            </a: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59" name="Google Shape;15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3457" y="4069700"/>
            <a:ext cx="970343" cy="787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0" name="Google Shape;160;p20"/>
          <p:cNvGrpSpPr/>
          <p:nvPr/>
        </p:nvGrpSpPr>
        <p:grpSpPr>
          <a:xfrm>
            <a:off x="7383000" y="2232650"/>
            <a:ext cx="4549500" cy="4393500"/>
            <a:chOff x="5458950" y="1790200"/>
            <a:chExt cx="4549500" cy="4393500"/>
          </a:xfrm>
        </p:grpSpPr>
        <p:sp>
          <p:nvSpPr>
            <p:cNvPr id="161" name="Google Shape;161;p20"/>
            <p:cNvSpPr/>
            <p:nvPr/>
          </p:nvSpPr>
          <p:spPr>
            <a:xfrm>
              <a:off x="5458950" y="1790200"/>
              <a:ext cx="4549500" cy="4393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2" name="Google Shape;162;p20"/>
            <p:cNvGrpSpPr/>
            <p:nvPr/>
          </p:nvGrpSpPr>
          <p:grpSpPr>
            <a:xfrm>
              <a:off x="5988151" y="2590500"/>
              <a:ext cx="1452724" cy="2122900"/>
              <a:chOff x="6077376" y="2623950"/>
              <a:chExt cx="1452724" cy="2122900"/>
            </a:xfrm>
          </p:grpSpPr>
          <p:sp>
            <p:nvSpPr>
              <p:cNvPr id="163" name="Google Shape;163;p20"/>
              <p:cNvSpPr txBox="1"/>
              <p:nvPr/>
            </p:nvSpPr>
            <p:spPr>
              <a:xfrm>
                <a:off x="6161500" y="2623950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164" name="Google Shape;164;p20"/>
              <p:cNvGrpSpPr/>
              <p:nvPr/>
            </p:nvGrpSpPr>
            <p:grpSpPr>
              <a:xfrm>
                <a:off x="6077376" y="3042363"/>
                <a:ext cx="1422424" cy="1401900"/>
                <a:chOff x="6077376" y="3042363"/>
                <a:chExt cx="1422424" cy="1401900"/>
              </a:xfrm>
            </p:grpSpPr>
            <p:sp>
              <p:nvSpPr>
                <p:cNvPr id="165" name="Google Shape;165;p20"/>
                <p:cNvSpPr/>
                <p:nvPr/>
              </p:nvSpPr>
              <p:spPr>
                <a:xfrm>
                  <a:off x="6161500" y="3042363"/>
                  <a:ext cx="1338300" cy="1401900"/>
                </a:xfrm>
                <a:prstGeom prst="rect">
                  <a:avLst/>
                </a:prstGeom>
                <a:solidFill>
                  <a:srgbClr val="FFE599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66" name="Google Shape;166;p20"/>
                <p:cNvGrpSpPr/>
                <p:nvPr/>
              </p:nvGrpSpPr>
              <p:grpSpPr>
                <a:xfrm>
                  <a:off x="6131200" y="3096950"/>
                  <a:ext cx="1178925" cy="461635"/>
                  <a:chOff x="6131200" y="3096950"/>
                  <a:chExt cx="1178925" cy="461635"/>
                </a:xfrm>
              </p:grpSpPr>
              <p:sp>
                <p:nvSpPr>
                  <p:cNvPr id="167" name="Google Shape;167;p20"/>
                  <p:cNvSpPr/>
                  <p:nvPr/>
                </p:nvSpPr>
                <p:spPr>
                  <a:xfrm>
                    <a:off x="6618625" y="3212150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8" name="Google Shape;168;p20"/>
                  <p:cNvSpPr txBox="1"/>
                  <p:nvPr/>
                </p:nvSpPr>
                <p:spPr>
                  <a:xfrm>
                    <a:off x="6131200" y="3096950"/>
                    <a:ext cx="50985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PC</a:t>
                    </a:r>
                    <a:endParaRPr b="1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</p:grpSp>
            <p:grpSp>
              <p:nvGrpSpPr>
                <p:cNvPr id="169" name="Google Shape;169;p20"/>
                <p:cNvGrpSpPr/>
                <p:nvPr/>
              </p:nvGrpSpPr>
              <p:grpSpPr>
                <a:xfrm>
                  <a:off x="6077376" y="3412550"/>
                  <a:ext cx="1232749" cy="461635"/>
                  <a:chOff x="6077376" y="3412550"/>
                  <a:chExt cx="1232749" cy="461635"/>
                </a:xfrm>
              </p:grpSpPr>
              <p:sp>
                <p:nvSpPr>
                  <p:cNvPr id="170" name="Google Shape;170;p20"/>
                  <p:cNvSpPr txBox="1"/>
                  <p:nvPr/>
                </p:nvSpPr>
                <p:spPr>
                  <a:xfrm>
                    <a:off x="6077376" y="3412550"/>
                    <a:ext cx="563674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SP</a:t>
                    </a:r>
                    <a:endParaRPr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171" name="Google Shape;171;p20"/>
                  <p:cNvSpPr/>
                  <p:nvPr/>
                </p:nvSpPr>
                <p:spPr>
                  <a:xfrm>
                    <a:off x="6618625" y="3520825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172" name="Google Shape;172;p20"/>
                <p:cNvSpPr txBox="1"/>
                <p:nvPr/>
              </p:nvSpPr>
              <p:spPr>
                <a:xfrm>
                  <a:off x="6566050" y="3744900"/>
                  <a:ext cx="5292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urier New"/>
                      <a:ea typeface="Courier New"/>
                      <a:cs typeface="Courier New"/>
                      <a:sym typeface="Courier New"/>
                    </a:rPr>
                    <a:t>...</a:t>
                  </a:r>
                  <a:endParaRPr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173" name="Google Shape;173;p20"/>
              <p:cNvSpPr txBox="1"/>
              <p:nvPr/>
            </p:nvSpPr>
            <p:spPr>
              <a:xfrm>
                <a:off x="6161500" y="4392850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Registros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174" name="Google Shape;174;p20"/>
            <p:cNvSpPr/>
            <p:nvPr/>
          </p:nvSpPr>
          <p:spPr>
            <a:xfrm>
              <a:off x="7948250" y="2813125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5" name="Google Shape;175;p20"/>
            <p:cNvGrpSpPr/>
            <p:nvPr/>
          </p:nvGrpSpPr>
          <p:grpSpPr>
            <a:xfrm>
              <a:off x="7805450" y="2441425"/>
              <a:ext cx="1368600" cy="2457250"/>
              <a:chOff x="7805450" y="2441425"/>
              <a:chExt cx="1368600" cy="2457250"/>
            </a:xfrm>
          </p:grpSpPr>
          <p:grpSp>
            <p:nvGrpSpPr>
              <p:cNvPr id="176" name="Google Shape;176;p20"/>
              <p:cNvGrpSpPr/>
              <p:nvPr/>
            </p:nvGrpSpPr>
            <p:grpSpPr>
              <a:xfrm>
                <a:off x="7948250" y="2813125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177" name="Google Shape;177;p20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78" name="Google Shape;178;p20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179" name="Google Shape;179;p20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180" name="Google Shape;180;p20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181" name="Google Shape;181;p20"/>
                <p:cNvCxnSpPr>
                  <a:stCxn id="179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82" name="Google Shape;182;p20"/>
                <p:cNvCxnSpPr>
                  <a:stCxn id="180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183" name="Google Shape;183;p20"/>
              <p:cNvSpPr txBox="1"/>
              <p:nvPr/>
            </p:nvSpPr>
            <p:spPr>
              <a:xfrm>
                <a:off x="8001200" y="244142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MM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84" name="Google Shape;184;p20"/>
              <p:cNvSpPr txBox="1"/>
              <p:nvPr/>
            </p:nvSpPr>
            <p:spPr>
              <a:xfrm>
                <a:off x="7805450" y="4544675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 dirty="0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Address Space</a:t>
                </a:r>
                <a:endParaRPr sz="1100" b="1" dirty="0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185" name="Google Shape;185;p20"/>
            <p:cNvSpPr/>
            <p:nvPr/>
          </p:nvSpPr>
          <p:spPr>
            <a:xfrm>
              <a:off x="6930600" y="5055800"/>
              <a:ext cx="1446900" cy="468300"/>
            </a:xfrm>
            <a:prstGeom prst="rect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I/O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186" name="Google Shape;186;p20"/>
          <p:cNvCxnSpPr/>
          <p:nvPr/>
        </p:nvCxnSpPr>
        <p:spPr>
          <a:xfrm>
            <a:off x="5918825" y="3486800"/>
            <a:ext cx="1401900" cy="4500"/>
          </a:xfrm>
          <a:prstGeom prst="straightConnector1">
            <a:avLst/>
          </a:prstGeom>
          <a:noFill/>
          <a:ln w="38100" cap="flat" cmpd="sng">
            <a:solidFill>
              <a:srgbClr val="0B6937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87" name="Google Shape;187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6130975" y="2704300"/>
            <a:ext cx="787000" cy="7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/>
          <p:nvPr/>
        </p:nvSpPr>
        <p:spPr>
          <a:xfrm>
            <a:off x="1285922" y="1658812"/>
            <a:ext cx="5631038" cy="507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>
                <a:latin typeface="Courier New"/>
                <a:ea typeface="Courier New"/>
                <a:cs typeface="Courier New"/>
                <a:sym typeface="Courier New"/>
              </a:rPr>
              <a:t>Proceso = CPU + Memory + I/O Info</a:t>
            </a:r>
            <a:endParaRPr sz="21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89" name="Google Shape;189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21088" y="4620713"/>
            <a:ext cx="418425" cy="44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84350" y="3985213"/>
            <a:ext cx="509450" cy="46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78225" y="3995140"/>
            <a:ext cx="1134175" cy="1138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363559" y="3036049"/>
            <a:ext cx="1410191" cy="95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313862" y="5002989"/>
            <a:ext cx="1549725" cy="921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3532" y="5985650"/>
            <a:ext cx="970343" cy="787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5" name="Google Shape;195;p20"/>
          <p:cNvCxnSpPr/>
          <p:nvPr/>
        </p:nvCxnSpPr>
        <p:spPr>
          <a:xfrm rot="10800000" flipH="1">
            <a:off x="3086875" y="3486800"/>
            <a:ext cx="1131600" cy="582900"/>
          </a:xfrm>
          <a:prstGeom prst="straightConnector1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6" name="Google Shape;196;p20"/>
          <p:cNvCxnSpPr/>
          <p:nvPr/>
        </p:nvCxnSpPr>
        <p:spPr>
          <a:xfrm>
            <a:off x="3075225" y="4862800"/>
            <a:ext cx="1002900" cy="641400"/>
          </a:xfrm>
          <a:prstGeom prst="straightConnector1">
            <a:avLst/>
          </a:prstGeom>
          <a:noFill/>
          <a:ln w="38100" cap="flat" cmpd="sng">
            <a:solidFill>
              <a:srgbClr val="ED7D31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97" name="Google Shape;197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862425" y="2962575"/>
            <a:ext cx="418399" cy="418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1"/>
          <p:cNvSpPr txBox="1">
            <a:spLocks noGrp="1"/>
          </p:cNvSpPr>
          <p:nvPr>
            <p:ph type="title"/>
          </p:nvPr>
        </p:nvSpPr>
        <p:spPr>
          <a:xfrm>
            <a:off x="427703" y="217584"/>
            <a:ext cx="10926097" cy="853212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Virtualización de CPU</a:t>
            </a:r>
            <a:endParaRPr dirty="0"/>
          </a:p>
        </p:txBody>
      </p:sp>
      <p:sp>
        <p:nvSpPr>
          <p:cNvPr id="203" name="Google Shape;203;p21"/>
          <p:cNvSpPr txBox="1">
            <a:spLocks noGrp="1"/>
          </p:cNvSpPr>
          <p:nvPr>
            <p:ph idx="1"/>
          </p:nvPr>
        </p:nvSpPr>
        <p:spPr>
          <a:xfrm>
            <a:off x="427703" y="1196307"/>
            <a:ext cx="11155497" cy="57225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76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None/>
            </a:pPr>
            <a:r>
              <a:rPr lang="es-ES" sz="2400" dirty="0"/>
              <a:t>Cada proceso cree que </a:t>
            </a:r>
            <a:r>
              <a:rPr lang="es-ES" sz="2400" b="1" dirty="0">
                <a:solidFill>
                  <a:srgbClr val="FF0000"/>
                </a:solidFill>
              </a:rPr>
              <a:t>tiene su propia CPU</a:t>
            </a:r>
            <a:r>
              <a:rPr lang="es-ES" sz="2400" dirty="0"/>
              <a:t>.</a:t>
            </a: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204" name="Google Shape;204;p21"/>
          <p:cNvGrpSpPr/>
          <p:nvPr/>
        </p:nvGrpSpPr>
        <p:grpSpPr>
          <a:xfrm>
            <a:off x="5754350" y="4603163"/>
            <a:ext cx="1418250" cy="2104675"/>
            <a:chOff x="6111850" y="2642175"/>
            <a:chExt cx="1418250" cy="2104675"/>
          </a:xfrm>
        </p:grpSpPr>
        <p:sp>
          <p:nvSpPr>
            <p:cNvPr id="205" name="Google Shape;205;p21"/>
            <p:cNvSpPr txBox="1"/>
            <p:nvPr/>
          </p:nvSpPr>
          <p:spPr>
            <a:xfrm>
              <a:off x="6295300" y="2642175"/>
              <a:ext cx="9702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16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206" name="Google Shape;206;p21"/>
            <p:cNvGrpSpPr/>
            <p:nvPr/>
          </p:nvGrpSpPr>
          <p:grpSpPr>
            <a:xfrm>
              <a:off x="6111850" y="3073263"/>
              <a:ext cx="1387950" cy="1401900"/>
              <a:chOff x="6111850" y="3073263"/>
              <a:chExt cx="1387950" cy="1401900"/>
            </a:xfrm>
          </p:grpSpPr>
          <p:sp>
            <p:nvSpPr>
              <p:cNvPr id="207" name="Google Shape;207;p21"/>
              <p:cNvSpPr/>
              <p:nvPr/>
            </p:nvSpPr>
            <p:spPr>
              <a:xfrm>
                <a:off x="6161500" y="3073263"/>
                <a:ext cx="1338300" cy="1401900"/>
              </a:xfrm>
              <a:prstGeom prst="rect">
                <a:avLst/>
              </a:prstGeom>
              <a:solidFill>
                <a:srgbClr val="FFE599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08" name="Google Shape;208;p21"/>
              <p:cNvGrpSpPr/>
              <p:nvPr/>
            </p:nvGrpSpPr>
            <p:grpSpPr>
              <a:xfrm>
                <a:off x="6111850" y="3096950"/>
                <a:ext cx="1198275" cy="461635"/>
                <a:chOff x="6111850" y="3096950"/>
                <a:chExt cx="1198275" cy="461635"/>
              </a:xfrm>
            </p:grpSpPr>
            <p:sp>
              <p:nvSpPr>
                <p:cNvPr id="209" name="Google Shape;209;p21"/>
                <p:cNvSpPr/>
                <p:nvPr/>
              </p:nvSpPr>
              <p:spPr>
                <a:xfrm>
                  <a:off x="6618625" y="3212150"/>
                  <a:ext cx="691500" cy="200400"/>
                </a:xfrm>
                <a:prstGeom prst="rect">
                  <a:avLst/>
                </a:prstGeom>
                <a:solidFill>
                  <a:srgbClr val="EA9999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" name="Google Shape;210;p21"/>
                <p:cNvSpPr txBox="1"/>
                <p:nvPr/>
              </p:nvSpPr>
              <p:spPr>
                <a:xfrm>
                  <a:off x="6111850" y="3096950"/>
                  <a:ext cx="529200" cy="46163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PC</a:t>
                  </a:r>
                  <a:endParaRPr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grpSp>
            <p:nvGrpSpPr>
              <p:cNvPr id="211" name="Google Shape;211;p21"/>
              <p:cNvGrpSpPr/>
              <p:nvPr/>
            </p:nvGrpSpPr>
            <p:grpSpPr>
              <a:xfrm>
                <a:off x="6161500" y="3412550"/>
                <a:ext cx="1148625" cy="461635"/>
                <a:chOff x="6161500" y="3412550"/>
                <a:chExt cx="1148625" cy="461635"/>
              </a:xfrm>
            </p:grpSpPr>
            <p:sp>
              <p:nvSpPr>
                <p:cNvPr id="212" name="Google Shape;212;p21"/>
                <p:cNvSpPr txBox="1"/>
                <p:nvPr/>
              </p:nvSpPr>
              <p:spPr>
                <a:xfrm>
                  <a:off x="6161500" y="3412550"/>
                  <a:ext cx="479550" cy="46163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SP</a:t>
                  </a:r>
                  <a:endParaRPr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213" name="Google Shape;213;p21"/>
                <p:cNvSpPr/>
                <p:nvPr/>
              </p:nvSpPr>
              <p:spPr>
                <a:xfrm>
                  <a:off x="6618625" y="3520825"/>
                  <a:ext cx="691500" cy="200400"/>
                </a:xfrm>
                <a:prstGeom prst="rect">
                  <a:avLst/>
                </a:prstGeom>
                <a:solidFill>
                  <a:srgbClr val="EA9999"/>
                </a:solidFill>
                <a:ln w="19050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14" name="Google Shape;214;p21"/>
              <p:cNvSpPr txBox="1"/>
              <p:nvPr/>
            </p:nvSpPr>
            <p:spPr>
              <a:xfrm>
                <a:off x="6566050" y="3744900"/>
                <a:ext cx="5292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>
                    <a:latin typeface="Courier New"/>
                    <a:ea typeface="Courier New"/>
                    <a:cs typeface="Courier New"/>
                    <a:sym typeface="Courier New"/>
                  </a:rPr>
                  <a:t>...</a:t>
                </a:r>
                <a:endParaRPr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215" name="Google Shape;215;p21"/>
            <p:cNvSpPr txBox="1"/>
            <p:nvPr/>
          </p:nvSpPr>
          <p:spPr>
            <a:xfrm>
              <a:off x="6161500" y="4392850"/>
              <a:ext cx="1368600" cy="35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Registros</a:t>
              </a:r>
              <a:endParaRPr sz="11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pic>
        <p:nvPicPr>
          <p:cNvPr id="216" name="Google Shape;2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6688" y="5204800"/>
            <a:ext cx="10668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93282" y="2479888"/>
            <a:ext cx="970344" cy="7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4432" y="2557200"/>
            <a:ext cx="970344" cy="7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98888" y="3777400"/>
            <a:ext cx="418425" cy="44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55425" y="3784838"/>
            <a:ext cx="509450" cy="460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1" name="Google Shape;221;p21"/>
          <p:cNvCxnSpPr/>
          <p:nvPr/>
        </p:nvCxnSpPr>
        <p:spPr>
          <a:xfrm>
            <a:off x="1279075" y="4307625"/>
            <a:ext cx="10345200" cy="0"/>
          </a:xfrm>
          <a:prstGeom prst="straightConnector1">
            <a:avLst/>
          </a:prstGeom>
          <a:noFill/>
          <a:ln w="381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21"/>
          <p:cNvSpPr txBox="1"/>
          <p:nvPr/>
        </p:nvSpPr>
        <p:spPr>
          <a:xfrm>
            <a:off x="9120375" y="5350388"/>
            <a:ext cx="2270700" cy="6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>
                <a:solidFill>
                  <a:srgbClr val="FF9900"/>
                </a:solidFill>
              </a:rPr>
              <a:t>Recurso</a:t>
            </a:r>
            <a:endParaRPr sz="2800" b="1">
              <a:solidFill>
                <a:srgbClr val="FF9900"/>
              </a:solidFill>
            </a:endParaRPr>
          </a:p>
        </p:txBody>
      </p:sp>
      <p:sp>
        <p:nvSpPr>
          <p:cNvPr id="223" name="Google Shape;223;p21"/>
          <p:cNvSpPr txBox="1"/>
          <p:nvPr/>
        </p:nvSpPr>
        <p:spPr>
          <a:xfrm>
            <a:off x="9535925" y="3083775"/>
            <a:ext cx="1577700" cy="5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>
                <a:solidFill>
                  <a:srgbClr val="FF9900"/>
                </a:solidFill>
              </a:rPr>
              <a:t>Ilusión</a:t>
            </a:r>
            <a:endParaRPr sz="2800" b="1">
              <a:solidFill>
                <a:srgbClr val="FF9900"/>
              </a:solidFill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3416500" y="1894075"/>
            <a:ext cx="97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16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25" name="Google Shape;225;p21"/>
          <p:cNvGrpSpPr/>
          <p:nvPr/>
        </p:nvGrpSpPr>
        <p:grpSpPr>
          <a:xfrm>
            <a:off x="3300190" y="2364163"/>
            <a:ext cx="1139385" cy="972626"/>
            <a:chOff x="6150115" y="3047237"/>
            <a:chExt cx="1139385" cy="1092838"/>
          </a:xfrm>
        </p:grpSpPr>
        <p:sp>
          <p:nvSpPr>
            <p:cNvPr id="226" name="Google Shape;226;p21"/>
            <p:cNvSpPr/>
            <p:nvPr/>
          </p:nvSpPr>
          <p:spPr>
            <a:xfrm>
              <a:off x="6222700" y="3073275"/>
              <a:ext cx="1066800" cy="1066800"/>
            </a:xfrm>
            <a:prstGeom prst="rect">
              <a:avLst/>
            </a:prstGeom>
            <a:solidFill>
              <a:srgbClr val="FFE599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27" name="Google Shape;227;p21"/>
            <p:cNvGrpSpPr/>
            <p:nvPr/>
          </p:nvGrpSpPr>
          <p:grpSpPr>
            <a:xfrm>
              <a:off x="6156094" y="3047237"/>
              <a:ext cx="890031" cy="518691"/>
              <a:chOff x="6156094" y="3047237"/>
              <a:chExt cx="890031" cy="518691"/>
            </a:xfrm>
          </p:grpSpPr>
          <p:sp>
            <p:nvSpPr>
              <p:cNvPr id="228" name="Google Shape;228;p21"/>
              <p:cNvSpPr/>
              <p:nvPr/>
            </p:nvSpPr>
            <p:spPr>
              <a:xfrm>
                <a:off x="6618625" y="3212150"/>
                <a:ext cx="427500" cy="200400"/>
              </a:xfrm>
              <a:prstGeom prst="rect">
                <a:avLst/>
              </a:prstGeom>
              <a:solidFill>
                <a:srgbClr val="93C47D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21"/>
              <p:cNvSpPr txBox="1"/>
              <p:nvPr/>
            </p:nvSpPr>
            <p:spPr>
              <a:xfrm>
                <a:off x="6156094" y="3047237"/>
                <a:ext cx="529200" cy="518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 dirty="0">
                    <a:latin typeface="Courier New"/>
                    <a:ea typeface="Courier New"/>
                    <a:cs typeface="Courier New"/>
                    <a:sym typeface="Courier New"/>
                  </a:rPr>
                  <a:t>PC</a:t>
                </a:r>
                <a:endParaRPr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grpSp>
          <p:nvGrpSpPr>
            <p:cNvPr id="230" name="Google Shape;230;p21"/>
            <p:cNvGrpSpPr/>
            <p:nvPr/>
          </p:nvGrpSpPr>
          <p:grpSpPr>
            <a:xfrm>
              <a:off x="6150115" y="3362837"/>
              <a:ext cx="887010" cy="518691"/>
              <a:chOff x="6150115" y="3362837"/>
              <a:chExt cx="887010" cy="518691"/>
            </a:xfrm>
          </p:grpSpPr>
          <p:sp>
            <p:nvSpPr>
              <p:cNvPr id="231" name="Google Shape;231;p21"/>
              <p:cNvSpPr txBox="1"/>
              <p:nvPr/>
            </p:nvSpPr>
            <p:spPr>
              <a:xfrm>
                <a:off x="6150115" y="3362837"/>
                <a:ext cx="564675" cy="518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 dirty="0">
                    <a:latin typeface="Courier New"/>
                    <a:ea typeface="Courier New"/>
                    <a:cs typeface="Courier New"/>
                    <a:sym typeface="Courier New"/>
                  </a:rPr>
                  <a:t>SP</a:t>
                </a:r>
                <a:endParaRPr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32" name="Google Shape;232;p21"/>
              <p:cNvSpPr/>
              <p:nvPr/>
            </p:nvSpPr>
            <p:spPr>
              <a:xfrm>
                <a:off x="6618625" y="3520825"/>
                <a:ext cx="418500" cy="200400"/>
              </a:xfrm>
              <a:prstGeom prst="rect">
                <a:avLst/>
              </a:prstGeom>
              <a:solidFill>
                <a:srgbClr val="93C47D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3" name="Google Shape;233;p21"/>
            <p:cNvSpPr txBox="1"/>
            <p:nvPr/>
          </p:nvSpPr>
          <p:spPr>
            <a:xfrm>
              <a:off x="6486925" y="3625675"/>
              <a:ext cx="529200" cy="44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...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234" name="Google Shape;234;p21"/>
          <p:cNvSpPr txBox="1"/>
          <p:nvPr/>
        </p:nvSpPr>
        <p:spPr>
          <a:xfrm>
            <a:off x="3217300" y="3336800"/>
            <a:ext cx="13686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Registros</a:t>
            </a:r>
            <a:endParaRPr sz="11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35" name="Google Shape;235;p21"/>
          <p:cNvSpPr txBox="1"/>
          <p:nvPr/>
        </p:nvSpPr>
        <p:spPr>
          <a:xfrm>
            <a:off x="3416500" y="3760713"/>
            <a:ext cx="970200" cy="4770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 b="1">
                <a:latin typeface="Courier New"/>
                <a:ea typeface="Courier New"/>
                <a:cs typeface="Courier New"/>
                <a:sym typeface="Courier New"/>
              </a:rPr>
              <a:t>P0</a:t>
            </a:r>
            <a:endParaRPr sz="19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36" name="Google Shape;236;p21"/>
          <p:cNvSpPr txBox="1"/>
          <p:nvPr/>
        </p:nvSpPr>
        <p:spPr>
          <a:xfrm>
            <a:off x="7034775" y="3776675"/>
            <a:ext cx="970200" cy="477000"/>
          </a:xfrm>
          <a:prstGeom prst="rect">
            <a:avLst/>
          </a:pr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 b="1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9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37" name="Google Shape;237;p21"/>
          <p:cNvSpPr txBox="1"/>
          <p:nvPr/>
        </p:nvSpPr>
        <p:spPr>
          <a:xfrm>
            <a:off x="7294525" y="1925988"/>
            <a:ext cx="97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16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38" name="Google Shape;238;p21"/>
          <p:cNvGrpSpPr/>
          <p:nvPr/>
        </p:nvGrpSpPr>
        <p:grpSpPr>
          <a:xfrm>
            <a:off x="7177943" y="2410824"/>
            <a:ext cx="1139657" cy="957878"/>
            <a:chOff x="6149843" y="3063808"/>
            <a:chExt cx="1139657" cy="1076267"/>
          </a:xfrm>
        </p:grpSpPr>
        <p:sp>
          <p:nvSpPr>
            <p:cNvPr id="239" name="Google Shape;239;p21"/>
            <p:cNvSpPr/>
            <p:nvPr/>
          </p:nvSpPr>
          <p:spPr>
            <a:xfrm>
              <a:off x="6222700" y="3073275"/>
              <a:ext cx="1066800" cy="1066800"/>
            </a:xfrm>
            <a:prstGeom prst="rect">
              <a:avLst/>
            </a:prstGeom>
            <a:solidFill>
              <a:srgbClr val="FFE599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0" name="Google Shape;240;p21"/>
            <p:cNvGrpSpPr/>
            <p:nvPr/>
          </p:nvGrpSpPr>
          <p:grpSpPr>
            <a:xfrm>
              <a:off x="6156094" y="3063808"/>
              <a:ext cx="890031" cy="518691"/>
              <a:chOff x="6156094" y="3063808"/>
              <a:chExt cx="890031" cy="518691"/>
            </a:xfrm>
          </p:grpSpPr>
          <p:sp>
            <p:nvSpPr>
              <p:cNvPr id="241" name="Google Shape;241;p21"/>
              <p:cNvSpPr/>
              <p:nvPr/>
            </p:nvSpPr>
            <p:spPr>
              <a:xfrm>
                <a:off x="6618625" y="3212150"/>
                <a:ext cx="427500" cy="200400"/>
              </a:xfrm>
              <a:prstGeom prst="rect">
                <a:avLst/>
              </a:prstGeom>
              <a:solidFill>
                <a:srgbClr val="A4C2F4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21"/>
              <p:cNvSpPr txBox="1"/>
              <p:nvPr/>
            </p:nvSpPr>
            <p:spPr>
              <a:xfrm>
                <a:off x="6156094" y="3063808"/>
                <a:ext cx="529200" cy="518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 dirty="0">
                    <a:latin typeface="Courier New"/>
                    <a:ea typeface="Courier New"/>
                    <a:cs typeface="Courier New"/>
                    <a:sym typeface="Courier New"/>
                  </a:rPr>
                  <a:t>PC</a:t>
                </a:r>
                <a:endParaRPr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grpSp>
          <p:nvGrpSpPr>
            <p:cNvPr id="243" name="Google Shape;243;p21"/>
            <p:cNvGrpSpPr/>
            <p:nvPr/>
          </p:nvGrpSpPr>
          <p:grpSpPr>
            <a:xfrm>
              <a:off x="6149843" y="3362837"/>
              <a:ext cx="887282" cy="518691"/>
              <a:chOff x="6149843" y="3362837"/>
              <a:chExt cx="887282" cy="518691"/>
            </a:xfrm>
          </p:grpSpPr>
          <p:sp>
            <p:nvSpPr>
              <p:cNvPr id="244" name="Google Shape;244;p21"/>
              <p:cNvSpPr txBox="1"/>
              <p:nvPr/>
            </p:nvSpPr>
            <p:spPr>
              <a:xfrm>
                <a:off x="6149843" y="3362837"/>
                <a:ext cx="550200" cy="518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b="1" dirty="0">
                    <a:latin typeface="Courier New"/>
                    <a:ea typeface="Courier New"/>
                    <a:cs typeface="Courier New"/>
                    <a:sym typeface="Courier New"/>
                  </a:rPr>
                  <a:t>SP</a:t>
                </a:r>
                <a:endParaRPr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45" name="Google Shape;245;p21"/>
              <p:cNvSpPr/>
              <p:nvPr/>
            </p:nvSpPr>
            <p:spPr>
              <a:xfrm>
                <a:off x="6618625" y="3520825"/>
                <a:ext cx="418500" cy="200400"/>
              </a:xfrm>
              <a:prstGeom prst="rect">
                <a:avLst/>
              </a:prstGeom>
              <a:solidFill>
                <a:srgbClr val="A4C2F4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6" name="Google Shape;246;p21"/>
            <p:cNvSpPr txBox="1"/>
            <p:nvPr/>
          </p:nvSpPr>
          <p:spPr>
            <a:xfrm>
              <a:off x="6486925" y="3625675"/>
              <a:ext cx="529200" cy="44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...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247" name="Google Shape;247;p21"/>
          <p:cNvSpPr txBox="1"/>
          <p:nvPr/>
        </p:nvSpPr>
        <p:spPr>
          <a:xfrm>
            <a:off x="7095325" y="3368713"/>
            <a:ext cx="13686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Registros</a:t>
            </a:r>
            <a:endParaRPr sz="11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/>
          <p:cNvSpPr txBox="1">
            <a:spLocks noGrp="1"/>
          </p:cNvSpPr>
          <p:nvPr>
            <p:ph type="title"/>
          </p:nvPr>
        </p:nvSpPr>
        <p:spPr>
          <a:xfrm>
            <a:off x="425246" y="274137"/>
            <a:ext cx="11088654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Implementación de la Virtualización</a:t>
            </a:r>
            <a:endParaRPr dirty="0"/>
          </a:p>
        </p:txBody>
      </p:sp>
      <p:sp>
        <p:nvSpPr>
          <p:cNvPr id="253" name="Google Shape;253;p22"/>
          <p:cNvSpPr txBox="1">
            <a:spLocks noGrp="1"/>
          </p:cNvSpPr>
          <p:nvPr>
            <p:ph idx="1"/>
          </p:nvPr>
        </p:nvSpPr>
        <p:spPr>
          <a:xfrm>
            <a:off x="425246" y="1331425"/>
            <a:ext cx="10749300" cy="631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76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None/>
            </a:pPr>
            <a:r>
              <a:rPr lang="es-ES" sz="2400" b="1" dirty="0">
                <a:solidFill>
                  <a:srgbClr val="FF0000"/>
                </a:solidFill>
              </a:rPr>
              <a:t>¿Cómo se implementa la virtualización?</a:t>
            </a: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4" name="Google Shape;254;p22"/>
          <p:cNvSpPr txBox="1"/>
          <p:nvPr/>
        </p:nvSpPr>
        <p:spPr>
          <a:xfrm>
            <a:off x="1090825" y="2741600"/>
            <a:ext cx="3000000" cy="11082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Process management</a:t>
            </a:r>
            <a:endParaRPr sz="3000" b="1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5" name="Google Shape;255;p22"/>
          <p:cNvSpPr txBox="1"/>
          <p:nvPr/>
        </p:nvSpPr>
        <p:spPr>
          <a:xfrm>
            <a:off x="4854600" y="2466825"/>
            <a:ext cx="2482800" cy="554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Abstracción</a:t>
            </a:r>
            <a:endParaRPr sz="2400" b="1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6" name="Google Shape;256;p22"/>
          <p:cNvSpPr txBox="1"/>
          <p:nvPr/>
        </p:nvSpPr>
        <p:spPr>
          <a:xfrm>
            <a:off x="4910963" y="4148550"/>
            <a:ext cx="2064300" cy="5541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Políticas</a:t>
            </a:r>
            <a:endParaRPr sz="2400" b="1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4882900" y="5734225"/>
            <a:ext cx="2192700" cy="5541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Mecanismos</a:t>
            </a:r>
            <a:endParaRPr sz="2400" b="1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58" name="Google Shape;25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1675" y="4312675"/>
            <a:ext cx="2578300" cy="216787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2"/>
          <p:cNvSpPr/>
          <p:nvPr/>
        </p:nvSpPr>
        <p:spPr>
          <a:xfrm>
            <a:off x="4463150" y="2127850"/>
            <a:ext cx="338100" cy="4442400"/>
          </a:xfrm>
          <a:prstGeom prst="leftBrace">
            <a:avLst>
              <a:gd name="adj1" fmla="val 50000"/>
              <a:gd name="adj2" fmla="val 25604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cxnSp>
        <p:nvCxnSpPr>
          <p:cNvPr id="260" name="Google Shape;260;p22"/>
          <p:cNvCxnSpPr/>
          <p:nvPr/>
        </p:nvCxnSpPr>
        <p:spPr>
          <a:xfrm>
            <a:off x="4801250" y="3423575"/>
            <a:ext cx="7049400" cy="2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2"/>
          <p:cNvCxnSpPr/>
          <p:nvPr/>
        </p:nvCxnSpPr>
        <p:spPr>
          <a:xfrm>
            <a:off x="4801250" y="5318825"/>
            <a:ext cx="6990600" cy="1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62" name="Google Shape;26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99150" y="2220045"/>
            <a:ext cx="1366425" cy="110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85000" y="3820735"/>
            <a:ext cx="1213362" cy="1209768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64" name="Google Shape;264;p22"/>
          <p:cNvGraphicFramePr/>
          <p:nvPr/>
        </p:nvGraphicFramePr>
        <p:xfrm>
          <a:off x="8488275" y="4216850"/>
          <a:ext cx="3025625" cy="856225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6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5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2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P1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P2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7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7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65" name="Google Shape;265;p22"/>
          <p:cNvCxnSpPr/>
          <p:nvPr/>
        </p:nvCxnSpPr>
        <p:spPr>
          <a:xfrm>
            <a:off x="8483525" y="3951600"/>
            <a:ext cx="3324000" cy="1125300"/>
          </a:xfrm>
          <a:prstGeom prst="bentConnector3">
            <a:avLst>
              <a:gd name="adj1" fmla="val 27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66" name="Google Shape;266;p22"/>
          <p:cNvSpPr txBox="1"/>
          <p:nvPr/>
        </p:nvSpPr>
        <p:spPr>
          <a:xfrm>
            <a:off x="8090000" y="3521500"/>
            <a:ext cx="760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latin typeface="Courier New"/>
                <a:ea typeface="Courier New"/>
                <a:cs typeface="Courier New"/>
                <a:sym typeface="Courier New"/>
              </a:rPr>
              <a:t>CPU</a:t>
            </a:r>
            <a:endParaRPr sz="22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67" name="Google Shape;267;p22"/>
          <p:cNvSpPr txBox="1"/>
          <p:nvPr/>
        </p:nvSpPr>
        <p:spPr>
          <a:xfrm>
            <a:off x="11350625" y="4676325"/>
            <a:ext cx="456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20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8899150" y="3840349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269" name="Google Shape;269;p22"/>
          <p:cNvSpPr/>
          <p:nvPr/>
        </p:nvSpPr>
        <p:spPr>
          <a:xfrm>
            <a:off x="9481075" y="3830074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270" name="Google Shape;270;p22"/>
          <p:cNvSpPr/>
          <p:nvPr/>
        </p:nvSpPr>
        <p:spPr>
          <a:xfrm>
            <a:off x="10063000" y="3820599"/>
            <a:ext cx="394800" cy="380650"/>
          </a:xfrm>
          <a:custGeom>
            <a:avLst/>
            <a:gdLst/>
            <a:ahLst/>
            <a:cxnLst/>
            <a:rect l="l" t="t" r="r" b="b"/>
            <a:pathLst>
              <a:path w="15792" h="15226" extrusionOk="0">
                <a:moveTo>
                  <a:pt x="0" y="15226"/>
                </a:moveTo>
                <a:cubicBezTo>
                  <a:pt x="488" y="13081"/>
                  <a:pt x="975" y="4698"/>
                  <a:pt x="2925" y="2358"/>
                </a:cubicBezTo>
                <a:cubicBezTo>
                  <a:pt x="4875" y="18"/>
                  <a:pt x="9554" y="-859"/>
                  <a:pt x="11698" y="1188"/>
                </a:cubicBezTo>
                <a:cubicBezTo>
                  <a:pt x="13843" y="3235"/>
                  <a:pt x="15110" y="12399"/>
                  <a:pt x="15792" y="14641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271" name="Google Shape;271;p22"/>
          <p:cNvSpPr txBox="1"/>
          <p:nvPr/>
        </p:nvSpPr>
        <p:spPr>
          <a:xfrm>
            <a:off x="8823500" y="350622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72" name="Google Shape;272;p22"/>
          <p:cNvSpPr txBox="1"/>
          <p:nvPr/>
        </p:nvSpPr>
        <p:spPr>
          <a:xfrm>
            <a:off x="9405050" y="34848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73" name="Google Shape;273;p22"/>
          <p:cNvSpPr txBox="1"/>
          <p:nvPr/>
        </p:nvSpPr>
        <p:spPr>
          <a:xfrm>
            <a:off x="9969075" y="3484875"/>
            <a:ext cx="554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CS</a:t>
            </a:r>
            <a:endParaRPr sz="1600">
              <a:solidFill>
                <a:schemeClr val="accent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74" name="Google Shape;274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65312" y="5467975"/>
            <a:ext cx="1271550" cy="127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91592" y="5734223"/>
            <a:ext cx="911258" cy="7390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6" name="Google Shape;276;p22"/>
          <p:cNvCxnSpPr/>
          <p:nvPr/>
        </p:nvCxnSpPr>
        <p:spPr>
          <a:xfrm>
            <a:off x="8531350" y="6103748"/>
            <a:ext cx="762600" cy="0"/>
          </a:xfrm>
          <a:prstGeom prst="straightConnector1">
            <a:avLst/>
          </a:prstGeom>
          <a:noFill/>
          <a:ln w="28575" cap="flat" cmpd="sng">
            <a:solidFill>
              <a:srgbClr val="ED7D3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3"/>
          <p:cNvSpPr txBox="1">
            <a:spLocks noGrp="1"/>
          </p:cNvSpPr>
          <p:nvPr>
            <p:ph type="title"/>
          </p:nvPr>
        </p:nvSpPr>
        <p:spPr>
          <a:xfrm>
            <a:off x="381000" y="245875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Abstracción CPU - Proceso</a:t>
            </a:r>
            <a:endParaRPr dirty="0"/>
          </a:p>
        </p:txBody>
      </p:sp>
      <p:pic>
        <p:nvPicPr>
          <p:cNvPr id="283" name="Google Shape;28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5401" y="1571438"/>
            <a:ext cx="1374058" cy="108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69459" y="1571438"/>
            <a:ext cx="1529300" cy="108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3299" y="3665115"/>
            <a:ext cx="3958800" cy="240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13796" y="2587736"/>
            <a:ext cx="4642198" cy="275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360468" y="2808148"/>
            <a:ext cx="1426224" cy="231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4"/>
          <p:cNvSpPr txBox="1">
            <a:spLocks noGrp="1"/>
          </p:cNvSpPr>
          <p:nvPr>
            <p:ph type="title"/>
          </p:nvPr>
        </p:nvSpPr>
        <p:spPr>
          <a:xfrm>
            <a:off x="352076" y="203553"/>
            <a:ext cx="10515600" cy="1325563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Mecanismos CPU  - Proceso</a:t>
            </a:r>
            <a:endParaRPr dirty="0"/>
          </a:p>
        </p:txBody>
      </p:sp>
      <p:pic>
        <p:nvPicPr>
          <p:cNvPr id="294" name="Google Shape;294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3196" y="4200417"/>
            <a:ext cx="1341600" cy="13416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95" name="Google Shape;295;p24"/>
          <p:cNvGraphicFramePr/>
          <p:nvPr>
            <p:extLst>
              <p:ext uri="{D42A27DB-BD31-4B8C-83A1-F6EECF244321}">
                <p14:modId xmlns:p14="http://schemas.microsoft.com/office/powerpoint/2010/main" val="233727840"/>
              </p:ext>
            </p:extLst>
          </p:nvPr>
        </p:nvGraphicFramePr>
        <p:xfrm>
          <a:off x="1096663" y="1629875"/>
          <a:ext cx="2674775" cy="1867050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2674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67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3000" b="1" dirty="0">
                          <a:solidFill>
                            <a:srgbClr val="0B6937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L</a:t>
                      </a:r>
                      <a:r>
                        <a:rPr lang="es-ES" sz="3000" b="1" dirty="0">
                          <a:solidFill>
                            <a:srgbClr val="FF00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imited</a:t>
                      </a:r>
                      <a:endParaRPr sz="30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9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3000" b="1" dirty="0">
                          <a:solidFill>
                            <a:srgbClr val="0B6937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</a:t>
                      </a:r>
                      <a:r>
                        <a:rPr lang="es-ES" sz="3000" b="1" dirty="0">
                          <a:solidFill>
                            <a:srgbClr val="0000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irect</a:t>
                      </a:r>
                      <a:r>
                        <a:rPr lang="es-ES" sz="3000" b="1" dirty="0">
                          <a:solidFill>
                            <a:srgbClr val="0000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 </a:t>
                      </a:r>
                      <a:r>
                        <a:rPr lang="es-ES" sz="3000" b="1" dirty="0">
                          <a:solidFill>
                            <a:srgbClr val="0B6937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</a:t>
                      </a:r>
                      <a:r>
                        <a:rPr lang="es-ES" sz="3000" b="1" dirty="0">
                          <a:solidFill>
                            <a:srgbClr val="0000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xecution</a:t>
                      </a:r>
                      <a:endParaRPr sz="30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96" name="Google Shape;296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32375" y="1629875"/>
            <a:ext cx="664550" cy="116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75950" y="1591325"/>
            <a:ext cx="664550" cy="1096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4"/>
          <p:cNvSpPr/>
          <p:nvPr/>
        </p:nvSpPr>
        <p:spPr>
          <a:xfrm>
            <a:off x="9045975" y="1584100"/>
            <a:ext cx="1473300" cy="1473300"/>
          </a:xfrm>
          <a:prstGeom prst="ellipse">
            <a:avLst/>
          </a:prstGeom>
          <a:solidFill>
            <a:srgbClr val="D9EAD3"/>
          </a:solidFill>
          <a:ln w="9525" cap="flat" cmpd="sng">
            <a:solidFill>
              <a:srgbClr val="445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latin typeface="Courier New"/>
                <a:ea typeface="Courier New"/>
                <a:cs typeface="Courier New"/>
                <a:sym typeface="Courier New"/>
              </a:rPr>
              <a:t>Kernel</a:t>
            </a:r>
            <a:endParaRPr sz="1800" b="1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-ES" sz="110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(mode = 0)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99" name="Google Shape;299;p24"/>
          <p:cNvSpPr/>
          <p:nvPr/>
        </p:nvSpPr>
        <p:spPr>
          <a:xfrm>
            <a:off x="5845475" y="1476150"/>
            <a:ext cx="1473300" cy="1473300"/>
          </a:xfrm>
          <a:prstGeom prst="ellipse">
            <a:avLst/>
          </a:prstGeom>
          <a:solidFill>
            <a:srgbClr val="F4CCCC"/>
          </a:solidFill>
          <a:ln w="9525" cap="flat" cmpd="sng">
            <a:solidFill>
              <a:srgbClr val="445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latin typeface="Courier New"/>
                <a:ea typeface="Courier New"/>
                <a:cs typeface="Courier New"/>
                <a:sym typeface="Courier New"/>
              </a:rPr>
              <a:t>User</a:t>
            </a:r>
            <a:endParaRPr sz="1800" b="1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>
                <a:latin typeface="Courier New"/>
                <a:ea typeface="Courier New"/>
                <a:cs typeface="Courier New"/>
                <a:sym typeface="Courier New"/>
              </a:rPr>
              <a:t>(mode = 1)</a:t>
            </a:r>
            <a:endParaRPr sz="11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300" name="Google Shape;300;p24"/>
          <p:cNvCxnSpPr>
            <a:stCxn id="299" idx="0"/>
            <a:endCxn id="298" idx="0"/>
          </p:cNvCxnSpPr>
          <p:nvPr/>
        </p:nvCxnSpPr>
        <p:spPr>
          <a:xfrm rot="-5400000" flipH="1">
            <a:off x="8128325" y="-70050"/>
            <a:ext cx="108000" cy="3200400"/>
          </a:xfrm>
          <a:prstGeom prst="curvedConnector3">
            <a:avLst>
              <a:gd name="adj1" fmla="val -220486"/>
            </a:avLst>
          </a:prstGeom>
          <a:noFill/>
          <a:ln w="19050" cap="flat" cmpd="sng">
            <a:solidFill>
              <a:srgbClr val="44546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01" name="Google Shape;301;p24"/>
          <p:cNvCxnSpPr>
            <a:stCxn id="298" idx="4"/>
            <a:endCxn id="299" idx="4"/>
          </p:cNvCxnSpPr>
          <p:nvPr/>
        </p:nvCxnSpPr>
        <p:spPr>
          <a:xfrm rot="5400000" flipH="1">
            <a:off x="8128425" y="1403200"/>
            <a:ext cx="108000" cy="3200400"/>
          </a:xfrm>
          <a:prstGeom prst="curvedConnector3">
            <a:avLst>
              <a:gd name="adj1" fmla="val -220486"/>
            </a:avLst>
          </a:prstGeom>
          <a:noFill/>
          <a:ln w="19050" cap="flat" cmpd="sng">
            <a:solidFill>
              <a:srgbClr val="44546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2" name="Google Shape;302;p24"/>
          <p:cNvSpPr txBox="1"/>
          <p:nvPr/>
        </p:nvSpPr>
        <p:spPr>
          <a:xfrm>
            <a:off x="7667975" y="1136463"/>
            <a:ext cx="952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70AD47"/>
                </a:solidFill>
                <a:latin typeface="Courier New"/>
                <a:ea typeface="Courier New"/>
                <a:cs typeface="Courier New"/>
                <a:sym typeface="Courier New"/>
              </a:rPr>
              <a:t>trap</a:t>
            </a:r>
            <a:endParaRPr sz="1600">
              <a:solidFill>
                <a:srgbClr val="70AD47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7318775" y="2664625"/>
            <a:ext cx="1650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return </a:t>
            </a:r>
            <a:r>
              <a:rPr lang="es-ES" sz="160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s-ES" sz="160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trap</a:t>
            </a:r>
            <a:endParaRPr sz="1600" dirty="0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04" name="Google Shape;304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46412" y="3800601"/>
            <a:ext cx="6995625" cy="2556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09210" y="4501690"/>
            <a:ext cx="911258" cy="7390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6" name="Google Shape;306;p24"/>
          <p:cNvCxnSpPr/>
          <p:nvPr/>
        </p:nvCxnSpPr>
        <p:spPr>
          <a:xfrm>
            <a:off x="1820468" y="4871215"/>
            <a:ext cx="762600" cy="0"/>
          </a:xfrm>
          <a:prstGeom prst="straightConnector1">
            <a:avLst/>
          </a:prstGeom>
          <a:noFill/>
          <a:ln w="28575" cap="flat" cmpd="sng">
            <a:solidFill>
              <a:srgbClr val="ED7D3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5"/>
          <p:cNvSpPr txBox="1">
            <a:spLocks noGrp="1"/>
          </p:cNvSpPr>
          <p:nvPr>
            <p:ph type="title"/>
          </p:nvPr>
        </p:nvSpPr>
        <p:spPr>
          <a:xfrm>
            <a:off x="615600" y="326526"/>
            <a:ext cx="10515600" cy="951112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Políticas CPU - Proceso</a:t>
            </a:r>
            <a:endParaRPr dirty="0"/>
          </a:p>
        </p:txBody>
      </p:sp>
      <p:pic>
        <p:nvPicPr>
          <p:cNvPr id="313" name="Google Shape;31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8342" y="4149947"/>
            <a:ext cx="1616025" cy="161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22452" y="3288308"/>
            <a:ext cx="731100" cy="646087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5"/>
          <p:cNvSpPr/>
          <p:nvPr/>
        </p:nvSpPr>
        <p:spPr>
          <a:xfrm>
            <a:off x="2216350" y="2116852"/>
            <a:ext cx="258300" cy="2832300"/>
          </a:xfrm>
          <a:prstGeom prst="leftBrace">
            <a:avLst>
              <a:gd name="adj1" fmla="val 39904"/>
              <a:gd name="adj2" fmla="val 49856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5"/>
          <p:cNvSpPr/>
          <p:nvPr/>
        </p:nvSpPr>
        <p:spPr>
          <a:xfrm>
            <a:off x="2474650" y="2258488"/>
            <a:ext cx="10668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FCFS</a:t>
            </a:r>
            <a:r>
              <a:rPr lang="es-ES" sz="2600" b="1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26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7" name="Google Shape;317;p25"/>
          <p:cNvSpPr/>
          <p:nvPr/>
        </p:nvSpPr>
        <p:spPr>
          <a:xfrm>
            <a:off x="2487975" y="2964463"/>
            <a:ext cx="10668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SJF</a:t>
            </a:r>
            <a:r>
              <a:rPr lang="es-ES" sz="2600" b="1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26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8" name="Google Shape;318;p25"/>
          <p:cNvSpPr/>
          <p:nvPr/>
        </p:nvSpPr>
        <p:spPr>
          <a:xfrm>
            <a:off x="2487975" y="3670438"/>
            <a:ext cx="10668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STCF</a:t>
            </a:r>
            <a:r>
              <a:rPr lang="es-ES" sz="2600" b="1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26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9" name="Google Shape;319;p25"/>
          <p:cNvSpPr/>
          <p:nvPr/>
        </p:nvSpPr>
        <p:spPr>
          <a:xfrm>
            <a:off x="2474650" y="4376413"/>
            <a:ext cx="1066800" cy="431100"/>
          </a:xfrm>
          <a:prstGeom prst="roundRect">
            <a:avLst>
              <a:gd name="adj" fmla="val 16667"/>
            </a:avLst>
          </a:prstGeom>
          <a:solidFill>
            <a:srgbClr val="A4C2F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RR</a:t>
            </a:r>
            <a:r>
              <a:rPr lang="es-ES" sz="2600" b="1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26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320" name="Google Shape;320;p25"/>
          <p:cNvGrpSpPr/>
          <p:nvPr/>
        </p:nvGrpSpPr>
        <p:grpSpPr>
          <a:xfrm>
            <a:off x="7915050" y="2713923"/>
            <a:ext cx="2980850" cy="2344150"/>
            <a:chOff x="8761000" y="1591973"/>
            <a:chExt cx="2980850" cy="2344150"/>
          </a:xfrm>
        </p:grpSpPr>
        <p:grpSp>
          <p:nvGrpSpPr>
            <p:cNvPr id="321" name="Google Shape;321;p25"/>
            <p:cNvGrpSpPr/>
            <p:nvPr/>
          </p:nvGrpSpPr>
          <p:grpSpPr>
            <a:xfrm>
              <a:off x="8761000" y="1612288"/>
              <a:ext cx="749400" cy="2281950"/>
              <a:chOff x="8520500" y="1282075"/>
              <a:chExt cx="749400" cy="2281950"/>
            </a:xfrm>
          </p:grpSpPr>
          <p:sp>
            <p:nvSpPr>
              <p:cNvPr id="322" name="Google Shape;322;p25"/>
              <p:cNvSpPr txBox="1"/>
              <p:nvPr/>
            </p:nvSpPr>
            <p:spPr>
              <a:xfrm>
                <a:off x="8582450" y="1282075"/>
                <a:ext cx="6255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>
                    <a:latin typeface="Courier New"/>
                    <a:ea typeface="Courier New"/>
                    <a:cs typeface="Courier New"/>
                    <a:sym typeface="Courier New"/>
                  </a:rPr>
                  <a:t>Q3</a:t>
                </a:r>
                <a:endParaRPr sz="24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323" name="Google Shape;323;p25"/>
              <p:cNvSpPr txBox="1"/>
              <p:nvPr/>
            </p:nvSpPr>
            <p:spPr>
              <a:xfrm>
                <a:off x="8520500" y="1875775"/>
                <a:ext cx="749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>
                    <a:latin typeface="Courier New"/>
                    <a:ea typeface="Courier New"/>
                    <a:cs typeface="Courier New"/>
                    <a:sym typeface="Courier New"/>
                  </a:rPr>
                  <a:t>Q2</a:t>
                </a:r>
                <a:endParaRPr sz="24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324" name="Google Shape;324;p25"/>
              <p:cNvSpPr txBox="1"/>
              <p:nvPr/>
            </p:nvSpPr>
            <p:spPr>
              <a:xfrm>
                <a:off x="8520500" y="2442850"/>
                <a:ext cx="749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>
                    <a:latin typeface="Courier New"/>
                    <a:ea typeface="Courier New"/>
                    <a:cs typeface="Courier New"/>
                    <a:sym typeface="Courier New"/>
                  </a:rPr>
                  <a:t>Q1</a:t>
                </a:r>
                <a:endParaRPr sz="24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325" name="Google Shape;325;p25"/>
              <p:cNvSpPr txBox="1"/>
              <p:nvPr/>
            </p:nvSpPr>
            <p:spPr>
              <a:xfrm>
                <a:off x="8520500" y="3009925"/>
                <a:ext cx="749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>
                    <a:latin typeface="Courier New"/>
                    <a:ea typeface="Courier New"/>
                    <a:cs typeface="Courier New"/>
                    <a:sym typeface="Courier New"/>
                  </a:rPr>
                  <a:t>Q0</a:t>
                </a:r>
                <a:endParaRPr sz="24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326" name="Google Shape;326;p25"/>
            <p:cNvSpPr/>
            <p:nvPr/>
          </p:nvSpPr>
          <p:spPr>
            <a:xfrm>
              <a:off x="9974638" y="1591973"/>
              <a:ext cx="608400" cy="59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27" name="Google Shape;327;p25"/>
            <p:cNvSpPr/>
            <p:nvPr/>
          </p:nvSpPr>
          <p:spPr>
            <a:xfrm>
              <a:off x="10000050" y="2240273"/>
              <a:ext cx="608400" cy="597300"/>
            </a:xfrm>
            <a:prstGeom prst="ellipse">
              <a:avLst/>
            </a:prstGeom>
            <a:solidFill>
              <a:srgbClr val="EA9999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B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28" name="Google Shape;328;p25"/>
            <p:cNvSpPr/>
            <p:nvPr/>
          </p:nvSpPr>
          <p:spPr>
            <a:xfrm>
              <a:off x="10000050" y="3338823"/>
              <a:ext cx="608400" cy="597300"/>
            </a:xfrm>
            <a:prstGeom prst="ellipse">
              <a:avLst/>
            </a:prstGeom>
            <a:solidFill>
              <a:srgbClr val="F9CB9C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C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29" name="Google Shape;329;p25"/>
            <p:cNvSpPr/>
            <p:nvPr/>
          </p:nvSpPr>
          <p:spPr>
            <a:xfrm>
              <a:off x="11133450" y="3338823"/>
              <a:ext cx="608400" cy="597300"/>
            </a:xfrm>
            <a:prstGeom prst="ellipse">
              <a:avLst/>
            </a:prstGeom>
            <a:solidFill>
              <a:srgbClr val="B6D7A8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D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330" name="Google Shape;330;p25"/>
            <p:cNvCxnSpPr/>
            <p:nvPr/>
          </p:nvCxnSpPr>
          <p:spPr>
            <a:xfrm rot="10800000" flipH="1">
              <a:off x="9449638" y="1890023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31" name="Google Shape;331;p25"/>
            <p:cNvCxnSpPr/>
            <p:nvPr/>
          </p:nvCxnSpPr>
          <p:spPr>
            <a:xfrm rot="10800000" flipH="1">
              <a:off x="9449638" y="3648148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32" name="Google Shape;332;p25"/>
            <p:cNvCxnSpPr/>
            <p:nvPr/>
          </p:nvCxnSpPr>
          <p:spPr>
            <a:xfrm rot="10800000" flipH="1">
              <a:off x="10608438" y="3636873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33" name="Google Shape;333;p25"/>
            <p:cNvCxnSpPr/>
            <p:nvPr/>
          </p:nvCxnSpPr>
          <p:spPr>
            <a:xfrm rot="10800000" flipH="1">
              <a:off x="9475038" y="2538323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334" name="Google Shape;334;p25"/>
          <p:cNvSpPr/>
          <p:nvPr/>
        </p:nvSpPr>
        <p:spPr>
          <a:xfrm>
            <a:off x="8872075" y="2001888"/>
            <a:ext cx="1066800" cy="4311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rPr>
              <a:t>MLFQ</a:t>
            </a:r>
            <a:r>
              <a:rPr lang="es-ES" sz="2600" b="1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26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335" name="Google Shape;335;p25"/>
          <p:cNvGrpSpPr/>
          <p:nvPr/>
        </p:nvGrpSpPr>
        <p:grpSpPr>
          <a:xfrm>
            <a:off x="3989200" y="2377850"/>
            <a:ext cx="3478100" cy="1266363"/>
            <a:chOff x="4356950" y="5236400"/>
            <a:chExt cx="3478100" cy="1266363"/>
          </a:xfrm>
        </p:grpSpPr>
        <p:grpSp>
          <p:nvGrpSpPr>
            <p:cNvPr id="336" name="Google Shape;336;p25"/>
            <p:cNvGrpSpPr/>
            <p:nvPr/>
          </p:nvGrpSpPr>
          <p:grpSpPr>
            <a:xfrm>
              <a:off x="4356950" y="5236400"/>
              <a:ext cx="3478100" cy="648900"/>
              <a:chOff x="5818900" y="4196550"/>
              <a:chExt cx="3478100" cy="648900"/>
            </a:xfrm>
          </p:grpSpPr>
          <p:sp>
            <p:nvSpPr>
              <p:cNvPr id="337" name="Google Shape;337;p25"/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338" name="Google Shape;338;p25"/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339" name="Google Shape;339;p25"/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340" name="Google Shape;340;p25"/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41" name="Google Shape;341;p25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342" name="Google Shape;342;p25"/>
            <p:cNvGrpSpPr/>
            <p:nvPr/>
          </p:nvGrpSpPr>
          <p:grpSpPr>
            <a:xfrm>
              <a:off x="4447000" y="6064350"/>
              <a:ext cx="3357275" cy="438413"/>
              <a:chOff x="4447000" y="6064350"/>
              <a:chExt cx="3357275" cy="438413"/>
            </a:xfrm>
          </p:grpSpPr>
          <p:pic>
            <p:nvPicPr>
              <p:cNvPr id="343" name="Google Shape;343;p25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4447000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44" name="Google Shape;344;p25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5160700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45" name="Google Shape;345;p25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5874388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46" name="Google Shape;346;p25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6617725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47" name="Google Shape;347;p25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361050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cxnSp>
        <p:nvCxnSpPr>
          <p:cNvPr id="348" name="Google Shape;348;p25"/>
          <p:cNvCxnSpPr/>
          <p:nvPr/>
        </p:nvCxnSpPr>
        <p:spPr>
          <a:xfrm>
            <a:off x="3921600" y="3886000"/>
            <a:ext cx="35457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7"/>
          <p:cNvSpPr txBox="1">
            <a:spLocks noGrp="1"/>
          </p:cNvSpPr>
          <p:nvPr>
            <p:ph type="title"/>
          </p:nvPr>
        </p:nvSpPr>
        <p:spPr>
          <a:xfrm>
            <a:off x="495200" y="287388"/>
            <a:ext cx="10993794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>
              <a:latin typeface="+mj-lt"/>
            </a:endParaRPr>
          </a:p>
        </p:txBody>
      </p:sp>
      <p:pic>
        <p:nvPicPr>
          <p:cNvPr id="364" name="Google Shape;36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3457" y="4069700"/>
            <a:ext cx="970343" cy="787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5" name="Google Shape;365;p27"/>
          <p:cNvGrpSpPr/>
          <p:nvPr/>
        </p:nvGrpSpPr>
        <p:grpSpPr>
          <a:xfrm>
            <a:off x="7383000" y="1790200"/>
            <a:ext cx="4549500" cy="4393500"/>
            <a:chOff x="5458950" y="1790200"/>
            <a:chExt cx="4549500" cy="4393500"/>
          </a:xfrm>
        </p:grpSpPr>
        <p:sp>
          <p:nvSpPr>
            <p:cNvPr id="366" name="Google Shape;366;p27"/>
            <p:cNvSpPr/>
            <p:nvPr/>
          </p:nvSpPr>
          <p:spPr>
            <a:xfrm>
              <a:off x="5458950" y="1790200"/>
              <a:ext cx="4549500" cy="4393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7" name="Google Shape;367;p27"/>
            <p:cNvGrpSpPr/>
            <p:nvPr/>
          </p:nvGrpSpPr>
          <p:grpSpPr>
            <a:xfrm>
              <a:off x="6041975" y="2608725"/>
              <a:ext cx="1398900" cy="2104675"/>
              <a:chOff x="6131200" y="2642175"/>
              <a:chExt cx="1398900" cy="2104675"/>
            </a:xfrm>
          </p:grpSpPr>
          <p:sp>
            <p:nvSpPr>
              <p:cNvPr id="368" name="Google Shape;368;p27"/>
              <p:cNvSpPr txBox="1"/>
              <p:nvPr/>
            </p:nvSpPr>
            <p:spPr>
              <a:xfrm>
                <a:off x="6295300" y="264217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369" name="Google Shape;369;p27"/>
              <p:cNvGrpSpPr/>
              <p:nvPr/>
            </p:nvGrpSpPr>
            <p:grpSpPr>
              <a:xfrm>
                <a:off x="6131200" y="3042363"/>
                <a:ext cx="1368600" cy="1401900"/>
                <a:chOff x="6131200" y="3042363"/>
                <a:chExt cx="1368600" cy="1401900"/>
              </a:xfrm>
            </p:grpSpPr>
            <p:sp>
              <p:nvSpPr>
                <p:cNvPr id="370" name="Google Shape;370;p27"/>
                <p:cNvSpPr/>
                <p:nvPr/>
              </p:nvSpPr>
              <p:spPr>
                <a:xfrm>
                  <a:off x="6161500" y="3042363"/>
                  <a:ext cx="1338300" cy="1401900"/>
                </a:xfrm>
                <a:prstGeom prst="rect">
                  <a:avLst/>
                </a:prstGeom>
                <a:solidFill>
                  <a:srgbClr val="FFE599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371" name="Google Shape;371;p27"/>
                <p:cNvGrpSpPr/>
                <p:nvPr/>
              </p:nvGrpSpPr>
              <p:grpSpPr>
                <a:xfrm>
                  <a:off x="6131200" y="3096950"/>
                  <a:ext cx="1178925" cy="461635"/>
                  <a:chOff x="6131200" y="3096950"/>
                  <a:chExt cx="1178925" cy="461635"/>
                </a:xfrm>
              </p:grpSpPr>
              <p:sp>
                <p:nvSpPr>
                  <p:cNvPr id="372" name="Google Shape;372;p27"/>
                  <p:cNvSpPr/>
                  <p:nvPr/>
                </p:nvSpPr>
                <p:spPr>
                  <a:xfrm>
                    <a:off x="6618625" y="3212150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3" name="Google Shape;373;p27"/>
                  <p:cNvSpPr txBox="1"/>
                  <p:nvPr/>
                </p:nvSpPr>
                <p:spPr>
                  <a:xfrm>
                    <a:off x="6131200" y="3096950"/>
                    <a:ext cx="50985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PC</a:t>
                    </a:r>
                    <a:endParaRPr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</p:grpSp>
            <p:grpSp>
              <p:nvGrpSpPr>
                <p:cNvPr id="374" name="Google Shape;374;p27"/>
                <p:cNvGrpSpPr/>
                <p:nvPr/>
              </p:nvGrpSpPr>
              <p:grpSpPr>
                <a:xfrm>
                  <a:off x="6131200" y="3412550"/>
                  <a:ext cx="1178925" cy="461635"/>
                  <a:chOff x="6131200" y="3412550"/>
                  <a:chExt cx="1178925" cy="461635"/>
                </a:xfrm>
              </p:grpSpPr>
              <p:sp>
                <p:nvSpPr>
                  <p:cNvPr id="375" name="Google Shape;375;p27"/>
                  <p:cNvSpPr txBox="1"/>
                  <p:nvPr/>
                </p:nvSpPr>
                <p:spPr>
                  <a:xfrm>
                    <a:off x="6131200" y="3412550"/>
                    <a:ext cx="50985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SP</a:t>
                    </a:r>
                    <a:endParaRPr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376" name="Google Shape;376;p27"/>
                  <p:cNvSpPr/>
                  <p:nvPr/>
                </p:nvSpPr>
                <p:spPr>
                  <a:xfrm>
                    <a:off x="6618625" y="3520825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377" name="Google Shape;377;p27"/>
                <p:cNvSpPr txBox="1"/>
                <p:nvPr/>
              </p:nvSpPr>
              <p:spPr>
                <a:xfrm>
                  <a:off x="6566050" y="3744900"/>
                  <a:ext cx="5292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urier New"/>
                      <a:ea typeface="Courier New"/>
                      <a:cs typeface="Courier New"/>
                      <a:sym typeface="Courier New"/>
                    </a:rPr>
                    <a:t>...</a:t>
                  </a:r>
                  <a:endParaRPr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378" name="Google Shape;378;p27"/>
              <p:cNvSpPr txBox="1"/>
              <p:nvPr/>
            </p:nvSpPr>
            <p:spPr>
              <a:xfrm>
                <a:off x="6161500" y="4392850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Registros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379" name="Google Shape;379;p27"/>
            <p:cNvSpPr/>
            <p:nvPr/>
          </p:nvSpPr>
          <p:spPr>
            <a:xfrm>
              <a:off x="7948250" y="2813125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0" name="Google Shape;380;p27"/>
            <p:cNvGrpSpPr/>
            <p:nvPr/>
          </p:nvGrpSpPr>
          <p:grpSpPr>
            <a:xfrm>
              <a:off x="7805450" y="2389700"/>
              <a:ext cx="1368600" cy="2508975"/>
              <a:chOff x="7805450" y="2389700"/>
              <a:chExt cx="1368600" cy="2508975"/>
            </a:xfrm>
          </p:grpSpPr>
          <p:grpSp>
            <p:nvGrpSpPr>
              <p:cNvPr id="381" name="Google Shape;381;p27"/>
              <p:cNvGrpSpPr/>
              <p:nvPr/>
            </p:nvGrpSpPr>
            <p:grpSpPr>
              <a:xfrm>
                <a:off x="7948250" y="2813125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382" name="Google Shape;382;p27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383" name="Google Shape;383;p27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384" name="Google Shape;384;p27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385" name="Google Shape;385;p27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386" name="Google Shape;386;p27"/>
                <p:cNvCxnSpPr>
                  <a:stCxn id="384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387" name="Google Shape;387;p27"/>
                <p:cNvCxnSpPr>
                  <a:stCxn id="385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388" name="Google Shape;388;p27"/>
              <p:cNvSpPr txBox="1"/>
              <p:nvPr/>
            </p:nvSpPr>
            <p:spPr>
              <a:xfrm>
                <a:off x="8141050" y="2389700"/>
                <a:ext cx="6441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MM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389" name="Google Shape;389;p27"/>
              <p:cNvSpPr txBox="1"/>
              <p:nvPr/>
            </p:nvSpPr>
            <p:spPr>
              <a:xfrm>
                <a:off x="7805450" y="4544675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 dirty="0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Address Space</a:t>
                </a:r>
                <a:endParaRPr sz="1100" b="1" dirty="0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390" name="Google Shape;390;p27"/>
            <p:cNvSpPr/>
            <p:nvPr/>
          </p:nvSpPr>
          <p:spPr>
            <a:xfrm>
              <a:off x="6930600" y="5055800"/>
              <a:ext cx="1446900" cy="468300"/>
            </a:xfrm>
            <a:prstGeom prst="rect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I/O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391" name="Google Shape;391;p27"/>
          <p:cNvCxnSpPr/>
          <p:nvPr/>
        </p:nvCxnSpPr>
        <p:spPr>
          <a:xfrm>
            <a:off x="5918825" y="3486800"/>
            <a:ext cx="1401900" cy="4500"/>
          </a:xfrm>
          <a:prstGeom prst="straightConnector1">
            <a:avLst/>
          </a:prstGeom>
          <a:noFill/>
          <a:ln w="38100" cap="flat" cmpd="sng">
            <a:solidFill>
              <a:srgbClr val="0B6937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392" name="Google Shape;39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6130975" y="2704300"/>
            <a:ext cx="787000" cy="7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27"/>
          <p:cNvSpPr txBox="1"/>
          <p:nvPr/>
        </p:nvSpPr>
        <p:spPr>
          <a:xfrm>
            <a:off x="1008132" y="1863409"/>
            <a:ext cx="6037500" cy="507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dirty="0">
                <a:latin typeface="Courier New"/>
                <a:ea typeface="Courier New"/>
                <a:cs typeface="Courier New"/>
                <a:sym typeface="Courier New"/>
              </a:rPr>
              <a:t>Proceso = CPU + </a:t>
            </a:r>
            <a:r>
              <a:rPr lang="es-ES" sz="2100" b="1" dirty="0" err="1">
                <a:latin typeface="Courier New"/>
                <a:ea typeface="Courier New"/>
                <a:cs typeface="Courier New"/>
                <a:sym typeface="Courier New"/>
              </a:rPr>
              <a:t>Memory</a:t>
            </a:r>
            <a:r>
              <a:rPr lang="es-ES" sz="2100" b="1" dirty="0">
                <a:latin typeface="Courier New"/>
                <a:ea typeface="Courier New"/>
                <a:cs typeface="Courier New"/>
                <a:sym typeface="Courier New"/>
              </a:rPr>
              <a:t> + I/O </a:t>
            </a:r>
            <a:r>
              <a:rPr lang="es-ES" sz="2100" b="1" dirty="0" err="1">
                <a:latin typeface="Courier New"/>
                <a:ea typeface="Courier New"/>
                <a:cs typeface="Courier New"/>
                <a:sym typeface="Courier New"/>
              </a:rPr>
              <a:t>Info</a:t>
            </a:r>
            <a:endParaRPr sz="2100" b="1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94" name="Google Shape;39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21088" y="4620713"/>
            <a:ext cx="418425" cy="44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84350" y="3985213"/>
            <a:ext cx="509450" cy="46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78225" y="3995140"/>
            <a:ext cx="1134175" cy="1138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363559" y="3036049"/>
            <a:ext cx="1410191" cy="95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2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313862" y="5002989"/>
            <a:ext cx="1549725" cy="921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3532" y="5985650"/>
            <a:ext cx="970343" cy="787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00" name="Google Shape;400;p27"/>
          <p:cNvCxnSpPr/>
          <p:nvPr/>
        </p:nvCxnSpPr>
        <p:spPr>
          <a:xfrm rot="10800000" flipH="1">
            <a:off x="3086875" y="3486800"/>
            <a:ext cx="1131600" cy="582900"/>
          </a:xfrm>
          <a:prstGeom prst="straightConnector1">
            <a:avLst/>
          </a:prstGeom>
          <a:noFill/>
          <a:ln w="3810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1" name="Google Shape;401;p27"/>
          <p:cNvCxnSpPr/>
          <p:nvPr/>
        </p:nvCxnSpPr>
        <p:spPr>
          <a:xfrm>
            <a:off x="3075225" y="4862800"/>
            <a:ext cx="1002900" cy="641400"/>
          </a:xfrm>
          <a:prstGeom prst="straightConnector1">
            <a:avLst/>
          </a:prstGeom>
          <a:noFill/>
          <a:ln w="38100" cap="flat" cmpd="sng">
            <a:solidFill>
              <a:srgbClr val="ED7D31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402" name="Google Shape;402;p2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35300" y="2285900"/>
            <a:ext cx="418399" cy="418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8"/>
          <p:cNvSpPr txBox="1">
            <a:spLocks noGrp="1"/>
          </p:cNvSpPr>
          <p:nvPr>
            <p:ph type="title"/>
          </p:nvPr>
        </p:nvSpPr>
        <p:spPr>
          <a:xfrm>
            <a:off x="560439" y="96038"/>
            <a:ext cx="1101704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pic>
        <p:nvPicPr>
          <p:cNvPr id="409" name="Google Shape;409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6794" y="1143488"/>
            <a:ext cx="1095375" cy="111442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28"/>
          <p:cNvSpPr txBox="1"/>
          <p:nvPr/>
        </p:nvSpPr>
        <p:spPr>
          <a:xfrm>
            <a:off x="4004803" y="1143488"/>
            <a:ext cx="7572681" cy="4755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include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unistd.h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400" dirty="0">
              <a:solidFill>
                <a:srgbClr val="032F62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include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stdio.h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400" dirty="0">
              <a:solidFill>
                <a:srgbClr val="032F62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include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stdlib.h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400" dirty="0">
              <a:solidFill>
                <a:srgbClr val="032F62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include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common.h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</a:t>
            </a:r>
            <a:endParaRPr sz="1400" dirty="0">
              <a:solidFill>
                <a:srgbClr val="032F62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>
                <a:solidFill>
                  <a:srgbClr val="6F42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argc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s-ES" sz="14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char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 {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s-ES" sz="14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argc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!= 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s-ES" sz="1400" dirty="0" err="1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fprintf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stderr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usage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&lt;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&gt;\n"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s-ES" sz="1400" dirty="0" err="1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exit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*p;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p = 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malloc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sizeof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s-ES" sz="1400" dirty="0" err="1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 != 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NULL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printf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"(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%d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addr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%p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\n"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(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s-ES" sz="1400" dirty="0" err="1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getpid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p);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*p = </a:t>
            </a:r>
            <a:r>
              <a:rPr lang="es-ES" sz="1400" dirty="0" err="1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atoi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]); </a:t>
            </a:r>
            <a:r>
              <a:rPr lang="es-ES" sz="1400" dirty="0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400" dirty="0" err="1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assign</a:t>
            </a:r>
            <a:r>
              <a:rPr lang="es-ES" sz="1400" dirty="0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s-ES" sz="1400" dirty="0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400" dirty="0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addr</a:t>
            </a:r>
            <a:r>
              <a:rPr lang="es-ES" sz="1400" dirty="0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stored</a:t>
            </a:r>
            <a:r>
              <a:rPr lang="es-ES" sz="1400" dirty="0">
                <a:solidFill>
                  <a:srgbClr val="6A737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in p</a:t>
            </a:r>
            <a:endParaRPr sz="1400" dirty="0">
              <a:solidFill>
                <a:srgbClr val="6A737D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s-ES" sz="14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while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Spin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*p = *p + 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printf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"(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%d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%d</a:t>
            </a:r>
            <a:r>
              <a:rPr lang="es-ES" sz="14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\n"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s-ES" sz="1400" dirty="0" err="1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getpid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*p);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s-ES" sz="14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11" name="Google Shape;411;p28"/>
          <p:cNvSpPr txBox="1"/>
          <p:nvPr/>
        </p:nvSpPr>
        <p:spPr>
          <a:xfrm>
            <a:off x="2102169" y="1499400"/>
            <a:ext cx="1030200" cy="4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 err="1"/>
              <a:t>mem.c</a:t>
            </a:r>
            <a:endParaRPr sz="1600" b="1" dirty="0"/>
          </a:p>
        </p:txBody>
      </p:sp>
      <p:grpSp>
        <p:nvGrpSpPr>
          <p:cNvPr id="412" name="Google Shape;412;p28"/>
          <p:cNvGrpSpPr/>
          <p:nvPr/>
        </p:nvGrpSpPr>
        <p:grpSpPr>
          <a:xfrm>
            <a:off x="787569" y="2902333"/>
            <a:ext cx="2880825" cy="2649925"/>
            <a:chOff x="7374175" y="3072300"/>
            <a:chExt cx="2880825" cy="2649925"/>
          </a:xfrm>
        </p:grpSpPr>
        <p:pic>
          <p:nvPicPr>
            <p:cNvPr id="413" name="Google Shape;413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374175" y="3072300"/>
              <a:ext cx="2880825" cy="264992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414" name="Google Shape;414;p28"/>
            <p:cNvGrpSpPr/>
            <p:nvPr/>
          </p:nvGrpSpPr>
          <p:grpSpPr>
            <a:xfrm>
              <a:off x="8037325" y="4237125"/>
              <a:ext cx="1553700" cy="949500"/>
              <a:chOff x="8037325" y="4237125"/>
              <a:chExt cx="1553700" cy="949500"/>
            </a:xfrm>
          </p:grpSpPr>
          <p:sp>
            <p:nvSpPr>
              <p:cNvPr id="415" name="Google Shape;415;p28"/>
              <p:cNvSpPr/>
              <p:nvPr/>
            </p:nvSpPr>
            <p:spPr>
              <a:xfrm>
                <a:off x="8037325" y="4237125"/>
                <a:ext cx="1553700" cy="949500"/>
              </a:xfrm>
              <a:prstGeom prst="foldedCorner">
                <a:avLst>
                  <a:gd name="adj" fmla="val 16667"/>
                </a:avLst>
              </a:prstGeom>
              <a:solidFill>
                <a:srgbClr val="F3F3F3"/>
              </a:solidFill>
              <a:ln w="9525" cap="flat" cmpd="sng">
                <a:solidFill>
                  <a:srgbClr val="44546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28"/>
              <p:cNvSpPr/>
              <p:nvPr/>
            </p:nvSpPr>
            <p:spPr>
              <a:xfrm>
                <a:off x="8211450" y="4335075"/>
                <a:ext cx="1161600" cy="308100"/>
              </a:xfrm>
              <a:prstGeom prst="rect">
                <a:avLst/>
              </a:prstGeom>
              <a:solidFill>
                <a:srgbClr val="FCE5CD"/>
              </a:solidFill>
              <a:ln w="9525" cap="flat" cmpd="sng">
                <a:solidFill>
                  <a:srgbClr val="44546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dirty="0"/>
                  <a:t>Code</a:t>
                </a:r>
                <a:endParaRPr dirty="0"/>
              </a:p>
            </p:txBody>
          </p:sp>
          <p:sp>
            <p:nvSpPr>
              <p:cNvPr id="417" name="Google Shape;417;p28"/>
              <p:cNvSpPr/>
              <p:nvPr/>
            </p:nvSpPr>
            <p:spPr>
              <a:xfrm>
                <a:off x="8213450" y="4711300"/>
                <a:ext cx="1161600" cy="308100"/>
              </a:xfrm>
              <a:prstGeom prst="rect">
                <a:avLst/>
              </a:prstGeom>
              <a:solidFill>
                <a:srgbClr val="B6D7A8"/>
              </a:solidFill>
              <a:ln w="9525" cap="flat" cmpd="sng">
                <a:solidFill>
                  <a:srgbClr val="44546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/>
                  <a:t>Data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9"/>
          <p:cNvSpPr txBox="1">
            <a:spLocks noGrp="1"/>
          </p:cNvSpPr>
          <p:nvPr>
            <p:ph type="title"/>
          </p:nvPr>
        </p:nvSpPr>
        <p:spPr>
          <a:xfrm>
            <a:off x="221226" y="96038"/>
            <a:ext cx="1081056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sp>
        <p:nvSpPr>
          <p:cNvPr id="423" name="Google Shape;423;p29"/>
          <p:cNvSpPr txBox="1">
            <a:spLocks noGrp="1"/>
          </p:cNvSpPr>
          <p:nvPr>
            <p:ph type="body" idx="1"/>
          </p:nvPr>
        </p:nvSpPr>
        <p:spPr>
          <a:xfrm>
            <a:off x="296430" y="1085026"/>
            <a:ext cx="5494200" cy="55976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200" b="1" dirty="0">
                <a:latin typeface="+mn-lt"/>
              </a:rPr>
              <a:t>Pregunta</a:t>
            </a:r>
            <a:r>
              <a:rPr lang="es-ES" sz="2200" dirty="0">
                <a:latin typeface="+mn-lt"/>
              </a:rPr>
              <a:t>: ¿Cómo funciona el programa?</a:t>
            </a:r>
            <a:endParaRPr sz="2800"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424" name="Google Shape;424;p29"/>
          <p:cNvSpPr txBox="1"/>
          <p:nvPr/>
        </p:nvSpPr>
        <p:spPr>
          <a:xfrm>
            <a:off x="1284025" y="2292350"/>
            <a:ext cx="4560300" cy="18717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prompt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./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address 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400" dirty="0">
                <a:solidFill>
                  <a:srgbClr val="24292E"/>
                </a:solidFill>
                <a:highlight>
                  <a:srgbClr val="FFFF00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1400" dirty="0">
              <a:solidFill>
                <a:srgbClr val="24292E"/>
              </a:solidFill>
              <a:highlight>
                <a:srgbClr val="FFFF00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1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2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3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4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5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ˆC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5" name="Google Shape;425;p29"/>
          <p:cNvSpPr/>
          <p:nvPr/>
        </p:nvSpPr>
        <p:spPr>
          <a:xfrm>
            <a:off x="8345763" y="2094038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6" name="Google Shape;426;p29"/>
          <p:cNvSpPr txBox="1"/>
          <p:nvPr/>
        </p:nvSpPr>
        <p:spPr>
          <a:xfrm>
            <a:off x="9529950" y="2244050"/>
            <a:ext cx="1814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pid(P1)= 2134</a:t>
            </a:r>
            <a:endParaRPr sz="1600" dirty="0">
              <a:highlight>
                <a:srgbClr val="C9DAF8"/>
              </a:highlight>
            </a:endParaRPr>
          </a:p>
        </p:txBody>
      </p:sp>
      <p:graphicFrame>
        <p:nvGraphicFramePr>
          <p:cNvPr id="427" name="Google Shape;427;p29"/>
          <p:cNvGraphicFramePr/>
          <p:nvPr>
            <p:extLst>
              <p:ext uri="{D42A27DB-BD31-4B8C-83A1-F6EECF244321}">
                <p14:modId xmlns:p14="http://schemas.microsoft.com/office/powerpoint/2010/main" val="1358237383"/>
              </p:ext>
            </p:extLst>
          </p:nvPr>
        </p:nvGraphicFramePr>
        <p:xfrm>
          <a:off x="8182475" y="3133263"/>
          <a:ext cx="3441750" cy="2377260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120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Dirección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Valor</a:t>
                      </a:r>
                      <a:endParaRPr sz="14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Variable</a:t>
                      </a:r>
                      <a:endParaRPr sz="14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0x200000</a:t>
                      </a:r>
                      <a:endParaRPr sz="1400">
                        <a:highlight>
                          <a:srgbClr val="FFFF00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*p</a:t>
                      </a: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4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&amp;p</a:t>
                      </a:r>
                      <a:endParaRPr sz="14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</a:t>
                      </a: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4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428" name="Google Shape;42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66398" y="3782750"/>
            <a:ext cx="1390625" cy="19897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29" name="Google Shape;429;p29"/>
          <p:cNvCxnSpPr/>
          <p:nvPr/>
        </p:nvCxnSpPr>
        <p:spPr>
          <a:xfrm rot="10800000">
            <a:off x="9688300" y="4164050"/>
            <a:ext cx="0" cy="75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9"/>
          <p:cNvSpPr txBox="1">
            <a:spLocks noGrp="1"/>
          </p:cNvSpPr>
          <p:nvPr>
            <p:ph type="title"/>
          </p:nvPr>
        </p:nvSpPr>
        <p:spPr>
          <a:xfrm>
            <a:off x="221226" y="96038"/>
            <a:ext cx="1081056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sp>
        <p:nvSpPr>
          <p:cNvPr id="423" name="Google Shape;423;p29"/>
          <p:cNvSpPr txBox="1">
            <a:spLocks noGrp="1"/>
          </p:cNvSpPr>
          <p:nvPr>
            <p:ph type="body" idx="1"/>
          </p:nvPr>
        </p:nvSpPr>
        <p:spPr>
          <a:xfrm>
            <a:off x="296430" y="1085026"/>
            <a:ext cx="5494200" cy="55976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200" b="1" dirty="0">
                <a:latin typeface="+mn-lt"/>
              </a:rPr>
              <a:t>Pregunta</a:t>
            </a:r>
            <a:r>
              <a:rPr lang="es-ES" sz="2200" dirty="0">
                <a:latin typeface="+mn-lt"/>
              </a:rPr>
              <a:t>: ¿Cómo funciona el programa?</a:t>
            </a:r>
            <a:endParaRPr sz="2800"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424" name="Google Shape;424;p29"/>
          <p:cNvSpPr txBox="1"/>
          <p:nvPr/>
        </p:nvSpPr>
        <p:spPr>
          <a:xfrm>
            <a:off x="486697" y="1889288"/>
            <a:ext cx="5139813" cy="18717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prompt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./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address 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400" dirty="0">
                <a:solidFill>
                  <a:srgbClr val="24292E"/>
                </a:solidFill>
                <a:highlight>
                  <a:srgbClr val="FFFF00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1400" dirty="0">
              <a:solidFill>
                <a:srgbClr val="24292E"/>
              </a:solidFill>
              <a:highlight>
                <a:srgbClr val="FFFF00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1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2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3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4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(2134) p: 5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ˆC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5" name="Google Shape;425;p29"/>
          <p:cNvSpPr/>
          <p:nvPr/>
        </p:nvSpPr>
        <p:spPr>
          <a:xfrm>
            <a:off x="972736" y="4770719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26" name="Google Shape;426;p29"/>
          <p:cNvSpPr txBox="1"/>
          <p:nvPr/>
        </p:nvSpPr>
        <p:spPr>
          <a:xfrm>
            <a:off x="598849" y="5921230"/>
            <a:ext cx="1814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pid(P1)= 2134</a:t>
            </a:r>
            <a:endParaRPr sz="1600" dirty="0">
              <a:highlight>
                <a:srgbClr val="C9DAF8"/>
              </a:highlight>
            </a:endParaRPr>
          </a:p>
        </p:txBody>
      </p:sp>
      <p:graphicFrame>
        <p:nvGraphicFramePr>
          <p:cNvPr id="427" name="Google Shape;427;p29"/>
          <p:cNvGraphicFramePr/>
          <p:nvPr>
            <p:extLst>
              <p:ext uri="{D42A27DB-BD31-4B8C-83A1-F6EECF244321}">
                <p14:modId xmlns:p14="http://schemas.microsoft.com/office/powerpoint/2010/main" val="2292246975"/>
              </p:ext>
            </p:extLst>
          </p:nvPr>
        </p:nvGraphicFramePr>
        <p:xfrm>
          <a:off x="2184760" y="4180399"/>
          <a:ext cx="3441750" cy="2377260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120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Dirección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Valor</a:t>
                      </a:r>
                      <a:endParaRPr sz="14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Variable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0x200000</a:t>
                      </a:r>
                      <a:endParaRPr sz="1400">
                        <a:highlight>
                          <a:srgbClr val="FFFF00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*p</a:t>
                      </a: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4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&amp;p</a:t>
                      </a:r>
                      <a:endParaRPr sz="14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</a:t>
                      </a:r>
                      <a:endParaRPr sz="14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40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429" name="Google Shape;429;p29"/>
          <p:cNvCxnSpPr/>
          <p:nvPr/>
        </p:nvCxnSpPr>
        <p:spPr>
          <a:xfrm rot="10800000">
            <a:off x="3690585" y="5211186"/>
            <a:ext cx="0" cy="75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137549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0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103587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sp>
        <p:nvSpPr>
          <p:cNvPr id="435" name="Google Shape;435;p30"/>
          <p:cNvSpPr txBox="1">
            <a:spLocks noGrp="1"/>
          </p:cNvSpPr>
          <p:nvPr>
            <p:ph type="body" idx="1"/>
          </p:nvPr>
        </p:nvSpPr>
        <p:spPr>
          <a:xfrm>
            <a:off x="917710" y="1077314"/>
            <a:ext cx="10602900" cy="55169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latin typeface="+mn-lt"/>
              </a:rPr>
              <a:t>Pregunta</a:t>
            </a:r>
            <a:r>
              <a:rPr lang="es-ES" sz="2200" dirty="0">
                <a:latin typeface="+mn-lt"/>
              </a:rPr>
              <a:t>: ¿Que pasa si dos usuarios corren simultáneamente el programa?</a:t>
            </a:r>
            <a:endParaRPr sz="2800" dirty="0">
              <a:latin typeface="+mn-lt"/>
            </a:endParaRPr>
          </a:p>
        </p:txBody>
      </p:sp>
      <p:sp>
        <p:nvSpPr>
          <p:cNvPr id="436" name="Google Shape;436;p30"/>
          <p:cNvSpPr txBox="1"/>
          <p:nvPr/>
        </p:nvSpPr>
        <p:spPr>
          <a:xfrm>
            <a:off x="1104125" y="2048525"/>
            <a:ext cx="4711926" cy="3262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prompt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./</a:t>
            </a:r>
            <a:r>
              <a:rPr lang="es-ES" sz="1400" dirty="0" err="1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&amp;; 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./</a:t>
            </a:r>
            <a:r>
              <a:rPr lang="es-ES" sz="14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&amp;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[1] </a:t>
            </a: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24113</a:t>
            </a:r>
            <a:endParaRPr sz="14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[2] 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24114</a:t>
            </a:r>
            <a:endParaRPr sz="14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(24113) address </a:t>
            </a:r>
            <a:r>
              <a:rPr lang="es-ES" sz="14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400" dirty="0">
                <a:solidFill>
                  <a:srgbClr val="24292E"/>
                </a:solidFill>
                <a:highlight>
                  <a:srgbClr val="FFFF00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1400" dirty="0">
              <a:solidFill>
                <a:srgbClr val="24292E"/>
              </a:solidFill>
              <a:highlight>
                <a:srgbClr val="FFFF00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address </a:t>
            </a:r>
            <a:r>
              <a:rPr lang="es-ES" sz="14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400" dirty="0">
                <a:solidFill>
                  <a:srgbClr val="24292E"/>
                </a:solidFill>
                <a:highlight>
                  <a:srgbClr val="FFFF00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1400" dirty="0">
              <a:solidFill>
                <a:srgbClr val="24292E"/>
              </a:solidFill>
              <a:highlight>
                <a:srgbClr val="FFFF00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1</a:t>
            </a:r>
            <a:endParaRPr sz="14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1</a:t>
            </a:r>
            <a:endParaRPr sz="14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2</a:t>
            </a:r>
            <a:endParaRPr sz="14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2</a:t>
            </a:r>
            <a:endParaRPr sz="14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3</a:t>
            </a:r>
            <a:endParaRPr sz="1400" dirty="0">
              <a:solidFill>
                <a:srgbClr val="24292E"/>
              </a:solidFill>
              <a:highlight>
                <a:srgbClr val="CFE2F3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3</a:t>
            </a:r>
            <a:endParaRPr sz="14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4</a:t>
            </a:r>
            <a:endParaRPr sz="14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4</a:t>
            </a:r>
            <a:endParaRPr sz="14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37" name="Google Shape;437;p30"/>
          <p:cNvSpPr/>
          <p:nvPr/>
        </p:nvSpPr>
        <p:spPr>
          <a:xfrm>
            <a:off x="6619163" y="2498300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38" name="Google Shape;438;p30"/>
          <p:cNvSpPr txBox="1"/>
          <p:nvPr/>
        </p:nvSpPr>
        <p:spPr>
          <a:xfrm>
            <a:off x="6062438" y="3342913"/>
            <a:ext cx="17046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pid(P1)= 21113</a:t>
            </a:r>
            <a:endParaRPr sz="1400" dirty="0">
              <a:highlight>
                <a:srgbClr val="C9DAF8"/>
              </a:highlight>
            </a:endParaRPr>
          </a:p>
        </p:txBody>
      </p:sp>
      <p:sp>
        <p:nvSpPr>
          <p:cNvPr id="439" name="Google Shape;439;p30"/>
          <p:cNvSpPr/>
          <p:nvPr/>
        </p:nvSpPr>
        <p:spPr>
          <a:xfrm>
            <a:off x="6549200" y="4828925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40" name="Google Shape;440;p30"/>
          <p:cNvSpPr txBox="1"/>
          <p:nvPr/>
        </p:nvSpPr>
        <p:spPr>
          <a:xfrm>
            <a:off x="6062438" y="5683963"/>
            <a:ext cx="17046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pid(P2)= 21114</a:t>
            </a:r>
            <a:endParaRPr sz="1400" dirty="0">
              <a:highlight>
                <a:srgbClr val="F4CCCC"/>
              </a:highlight>
            </a:endParaRPr>
          </a:p>
        </p:txBody>
      </p:sp>
      <p:graphicFrame>
        <p:nvGraphicFramePr>
          <p:cNvPr id="441" name="Google Shape;441;p30"/>
          <p:cNvGraphicFramePr/>
          <p:nvPr>
            <p:extLst>
              <p:ext uri="{D42A27DB-BD31-4B8C-83A1-F6EECF244321}">
                <p14:modId xmlns:p14="http://schemas.microsoft.com/office/powerpoint/2010/main" val="2555326631"/>
              </p:ext>
            </p:extLst>
          </p:nvPr>
        </p:nvGraphicFramePr>
        <p:xfrm>
          <a:off x="8153375" y="1849535"/>
          <a:ext cx="3441750" cy="2110560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120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Dirección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Valor</a:t>
                      </a:r>
                      <a:endParaRPr sz="14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Variable</a:t>
                      </a:r>
                      <a:endParaRPr sz="14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0x200000</a:t>
                      </a:r>
                      <a:endParaRPr sz="1050">
                        <a:highlight>
                          <a:srgbClr val="FFFF00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*p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&amp;p</a:t>
                      </a:r>
                      <a:endParaRPr sz="105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42" name="Google Shape;442;p30"/>
          <p:cNvGraphicFramePr/>
          <p:nvPr>
            <p:extLst>
              <p:ext uri="{D42A27DB-BD31-4B8C-83A1-F6EECF244321}">
                <p14:modId xmlns:p14="http://schemas.microsoft.com/office/powerpoint/2010/main" val="1246036776"/>
              </p:ext>
            </p:extLst>
          </p:nvPr>
        </p:nvGraphicFramePr>
        <p:xfrm>
          <a:off x="8153375" y="4377788"/>
          <a:ext cx="3441750" cy="2110560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120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Dirección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Valor</a:t>
                      </a:r>
                      <a:endParaRPr sz="14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Variable</a:t>
                      </a:r>
                      <a:endParaRPr sz="14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0x200000</a:t>
                      </a:r>
                      <a:endParaRPr sz="1050">
                        <a:highlight>
                          <a:srgbClr val="FFFF00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*p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&amp;p</a:t>
                      </a:r>
                      <a:endParaRPr sz="105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443" name="Google Shape;44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6415" y="5139723"/>
            <a:ext cx="589485" cy="125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6415" y="2611473"/>
            <a:ext cx="589485" cy="125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30"/>
          <p:cNvSpPr txBox="1"/>
          <p:nvPr/>
        </p:nvSpPr>
        <p:spPr>
          <a:xfrm>
            <a:off x="1104125" y="5515663"/>
            <a:ext cx="45720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¿Por que son iguales las direcciones si los procesos son diferentes?</a:t>
            </a:r>
            <a:endParaRPr sz="1200" dirty="0">
              <a:solidFill>
                <a:srgbClr val="FF0000"/>
              </a:solidFill>
            </a:endParaRPr>
          </a:p>
        </p:txBody>
      </p:sp>
      <p:cxnSp>
        <p:nvCxnSpPr>
          <p:cNvPr id="446" name="Google Shape;446;p30"/>
          <p:cNvCxnSpPr/>
          <p:nvPr/>
        </p:nvCxnSpPr>
        <p:spPr>
          <a:xfrm rot="10800000">
            <a:off x="9618325" y="2811100"/>
            <a:ext cx="0" cy="75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7" name="Google Shape;447;p30"/>
          <p:cNvCxnSpPr/>
          <p:nvPr/>
        </p:nvCxnSpPr>
        <p:spPr>
          <a:xfrm rot="10800000">
            <a:off x="9618325" y="5310725"/>
            <a:ext cx="0" cy="75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0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103587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sp>
        <p:nvSpPr>
          <p:cNvPr id="435" name="Google Shape;435;p30"/>
          <p:cNvSpPr txBox="1">
            <a:spLocks noGrp="1"/>
          </p:cNvSpPr>
          <p:nvPr>
            <p:ph type="body" idx="1"/>
          </p:nvPr>
        </p:nvSpPr>
        <p:spPr>
          <a:xfrm>
            <a:off x="55750" y="851906"/>
            <a:ext cx="10602900" cy="63311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/>
              <a:t>Pregunta</a:t>
            </a:r>
            <a:r>
              <a:rPr lang="es-ES" sz="2200" dirty="0"/>
              <a:t>: ¿Que pasa si dos usuarios corren simultáneamente el programa?</a:t>
            </a:r>
            <a:endParaRPr sz="2800" dirty="0"/>
          </a:p>
        </p:txBody>
      </p:sp>
      <p:sp>
        <p:nvSpPr>
          <p:cNvPr id="436" name="Google Shape;436;p30"/>
          <p:cNvSpPr txBox="1"/>
          <p:nvPr/>
        </p:nvSpPr>
        <p:spPr>
          <a:xfrm>
            <a:off x="360751" y="1405447"/>
            <a:ext cx="4711926" cy="24043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prompt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./</a:t>
            </a:r>
            <a:r>
              <a:rPr lang="es-ES" sz="1400" dirty="0" err="1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&amp;; 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./</a:t>
            </a:r>
            <a:r>
              <a:rPr lang="es-ES" sz="14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&amp;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[1] </a:t>
            </a: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24113</a:t>
            </a:r>
            <a:endParaRPr sz="14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[2] 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24114</a:t>
            </a:r>
            <a:endParaRPr sz="14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(24113) address </a:t>
            </a:r>
            <a:r>
              <a:rPr lang="es-ES" sz="14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4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400" dirty="0">
                <a:solidFill>
                  <a:srgbClr val="24292E"/>
                </a:solidFill>
                <a:highlight>
                  <a:srgbClr val="FFFF00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1400" dirty="0">
              <a:solidFill>
                <a:srgbClr val="24292E"/>
              </a:solidFill>
              <a:highlight>
                <a:srgbClr val="FFFF00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address </a:t>
            </a:r>
            <a:r>
              <a:rPr lang="es-ES" sz="14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4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400" dirty="0">
                <a:solidFill>
                  <a:srgbClr val="24292E"/>
                </a:solidFill>
                <a:highlight>
                  <a:srgbClr val="FFFF00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1400" dirty="0">
              <a:solidFill>
                <a:srgbClr val="24292E"/>
              </a:solidFill>
              <a:highlight>
                <a:srgbClr val="FFFF00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1</a:t>
            </a:r>
            <a:endParaRPr sz="14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1</a:t>
            </a:r>
            <a:endParaRPr sz="14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2</a:t>
            </a:r>
            <a:endParaRPr sz="14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2</a:t>
            </a:r>
            <a:endParaRPr sz="14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graphicFrame>
        <p:nvGraphicFramePr>
          <p:cNvPr id="442" name="Google Shape;442;p30"/>
          <p:cNvGraphicFramePr/>
          <p:nvPr>
            <p:extLst>
              <p:ext uri="{D42A27DB-BD31-4B8C-83A1-F6EECF244321}">
                <p14:modId xmlns:p14="http://schemas.microsoft.com/office/powerpoint/2010/main" val="163837444"/>
              </p:ext>
            </p:extLst>
          </p:nvPr>
        </p:nvGraphicFramePr>
        <p:xfrm>
          <a:off x="3636325" y="4576794"/>
          <a:ext cx="3441750" cy="2110560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120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Dirección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Valor</a:t>
                      </a:r>
                      <a:endParaRPr sz="1400" b="1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Variable</a:t>
                      </a:r>
                      <a:endParaRPr sz="1400" b="1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0x200000</a:t>
                      </a:r>
                      <a:endParaRPr sz="1050">
                        <a:highlight>
                          <a:srgbClr val="FFFF00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0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*p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&amp;p</a:t>
                      </a:r>
                      <a:endParaRPr sz="105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</a:t>
                      </a: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50" dirty="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...</a:t>
                      </a:r>
                      <a:endParaRPr sz="1050" dirty="0">
                        <a:solidFill>
                          <a:schemeClr val="dk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5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45" name="Google Shape;445;p30"/>
          <p:cNvSpPr txBox="1"/>
          <p:nvPr/>
        </p:nvSpPr>
        <p:spPr>
          <a:xfrm>
            <a:off x="5486399" y="1458078"/>
            <a:ext cx="6344850" cy="864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¿Por que son iguales las direcciones si los procesos son diferentes?</a:t>
            </a:r>
            <a:endParaRPr sz="1200" dirty="0">
              <a:solidFill>
                <a:srgbClr val="FF0000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5DCC72E1-9492-463E-B1FA-8208C66CB42D}"/>
              </a:ext>
            </a:extLst>
          </p:cNvPr>
          <p:cNvGrpSpPr/>
          <p:nvPr/>
        </p:nvGrpSpPr>
        <p:grpSpPr>
          <a:xfrm>
            <a:off x="153319" y="4559918"/>
            <a:ext cx="3441750" cy="2110560"/>
            <a:chOff x="855866" y="4414959"/>
            <a:chExt cx="3441750" cy="2110560"/>
          </a:xfrm>
        </p:grpSpPr>
        <p:graphicFrame>
          <p:nvGraphicFramePr>
            <p:cNvPr id="441" name="Google Shape;441;p30"/>
            <p:cNvGraphicFramePr/>
            <p:nvPr>
              <p:extLst>
                <p:ext uri="{D42A27DB-BD31-4B8C-83A1-F6EECF244321}">
                  <p14:modId xmlns:p14="http://schemas.microsoft.com/office/powerpoint/2010/main" val="4003377613"/>
                </p:ext>
              </p:extLst>
            </p:nvPr>
          </p:nvGraphicFramePr>
          <p:xfrm>
            <a:off x="855866" y="4414959"/>
            <a:ext cx="3441750" cy="2110560"/>
          </p:xfrm>
          <a:graphic>
            <a:graphicData uri="http://schemas.openxmlformats.org/drawingml/2006/table">
              <a:tbl>
                <a:tblPr>
                  <a:noFill/>
                  <a:tableStyleId>{A3A52A41-BABC-4418-8BB8-58FADEB799A8}</a:tableStyleId>
                </a:tblPr>
                <a:tblGrid>
                  <a:gridCol w="120742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8237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115195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</a:tblGrid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400" b="1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Dirección</a:t>
                        </a:r>
                        <a:endParaRPr sz="1400" b="1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400" b="1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Valor</a:t>
                        </a:r>
                        <a:endParaRPr sz="1400" b="1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400" b="1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Variable</a:t>
                        </a:r>
                        <a:endParaRPr sz="1400" b="1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5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50">
                            <a:solidFill>
                              <a:schemeClr val="dk1"/>
                            </a:solidFill>
                            <a:highlight>
                              <a:srgbClr val="FFFF00"/>
                            </a:highlight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0x200000</a:t>
                        </a:r>
                        <a:endParaRPr sz="1050">
                          <a:highlight>
                            <a:srgbClr val="FFFF00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5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0</a:t>
                        </a: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5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*p</a:t>
                        </a: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50">
                            <a:solidFill>
                              <a:schemeClr val="dk1"/>
                            </a:solidFill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50">
                            <a:solidFill>
                              <a:schemeClr val="dk1"/>
                            </a:solidFill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&amp;p</a:t>
                        </a:r>
                        <a:endParaRPr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5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</a:t>
                        </a: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0">
                  <a:tc>
                    <a:txBody>
                      <a:bodyPr/>
                      <a:lstStyle/>
                      <a:p>
                        <a:pPr marL="0" lvl="0" indent="0" algn="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050">
                            <a:solidFill>
                              <a:schemeClr val="dk1"/>
                            </a:solidFill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050">
                          <a:solidFill>
                            <a:schemeClr val="dk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5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C9DAF8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05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>
                      <a:lnL w="9525" cap="flat" cmpd="sng">
                        <a:solidFill>
                          <a:schemeClr val="dk2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</a:tbl>
            </a:graphicData>
          </a:graphic>
        </p:graphicFrame>
        <p:cxnSp>
          <p:nvCxnSpPr>
            <p:cNvPr id="446" name="Google Shape;446;p30"/>
            <p:cNvCxnSpPr/>
            <p:nvPr/>
          </p:nvCxnSpPr>
          <p:spPr>
            <a:xfrm rot="10800000">
              <a:off x="2320816" y="5376524"/>
              <a:ext cx="0" cy="7581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cxnSp>
        <p:nvCxnSpPr>
          <p:cNvPr id="447" name="Google Shape;447;p30"/>
          <p:cNvCxnSpPr/>
          <p:nvPr/>
        </p:nvCxnSpPr>
        <p:spPr>
          <a:xfrm rot="10800000">
            <a:off x="5053714" y="5411245"/>
            <a:ext cx="0" cy="758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Google Shape;437;p30">
            <a:extLst>
              <a:ext uri="{FF2B5EF4-FFF2-40B4-BE49-F238E27FC236}">
                <a16:creationId xmlns:a16="http://schemas.microsoft.com/office/drawing/2014/main" id="{346BBA13-9AFC-4898-8E60-3B87CFC0E064}"/>
              </a:ext>
            </a:extLst>
          </p:cNvPr>
          <p:cNvSpPr/>
          <p:nvPr/>
        </p:nvSpPr>
        <p:spPr>
          <a:xfrm>
            <a:off x="722408" y="3945596"/>
            <a:ext cx="575450" cy="529943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" name="Google Shape;438;p30">
            <a:extLst>
              <a:ext uri="{FF2B5EF4-FFF2-40B4-BE49-F238E27FC236}">
                <a16:creationId xmlns:a16="http://schemas.microsoft.com/office/drawing/2014/main" id="{B562AEDB-BEB8-4BD1-A5ED-D19FBAB47584}"/>
              </a:ext>
            </a:extLst>
          </p:cNvPr>
          <p:cNvSpPr txBox="1"/>
          <p:nvPr/>
        </p:nvSpPr>
        <p:spPr>
          <a:xfrm>
            <a:off x="1443884" y="4024064"/>
            <a:ext cx="17046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pid(P1)= 21113</a:t>
            </a:r>
            <a:endParaRPr sz="1400" dirty="0">
              <a:highlight>
                <a:srgbClr val="C9DAF8"/>
              </a:highlight>
            </a:endParaRPr>
          </a:p>
        </p:txBody>
      </p:sp>
      <p:sp>
        <p:nvSpPr>
          <p:cNvPr id="19" name="Google Shape;439;p30">
            <a:extLst>
              <a:ext uri="{FF2B5EF4-FFF2-40B4-BE49-F238E27FC236}">
                <a16:creationId xmlns:a16="http://schemas.microsoft.com/office/drawing/2014/main" id="{BFB98F35-BFC3-416B-9A69-858FA48828FC}"/>
              </a:ext>
            </a:extLst>
          </p:cNvPr>
          <p:cNvSpPr/>
          <p:nvPr/>
        </p:nvSpPr>
        <p:spPr>
          <a:xfrm>
            <a:off x="3955957" y="3915157"/>
            <a:ext cx="593769" cy="556301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" name="Google Shape;440;p30">
            <a:extLst>
              <a:ext uri="{FF2B5EF4-FFF2-40B4-BE49-F238E27FC236}">
                <a16:creationId xmlns:a16="http://schemas.microsoft.com/office/drawing/2014/main" id="{24D242CD-3EF1-4120-85C0-2A61578DDF22}"/>
              </a:ext>
            </a:extLst>
          </p:cNvPr>
          <p:cNvSpPr txBox="1"/>
          <p:nvPr/>
        </p:nvSpPr>
        <p:spPr>
          <a:xfrm>
            <a:off x="4761844" y="4024064"/>
            <a:ext cx="17046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pid(P2)= 21114</a:t>
            </a:r>
            <a:endParaRPr sz="1400" dirty="0">
              <a:highlight>
                <a:srgbClr val="F4CCCC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558166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31"/>
          <p:cNvSpPr txBox="1">
            <a:spLocks noGrp="1"/>
          </p:cNvSpPr>
          <p:nvPr>
            <p:ph type="title"/>
          </p:nvPr>
        </p:nvSpPr>
        <p:spPr>
          <a:xfrm>
            <a:off x="916649" y="96038"/>
            <a:ext cx="1107378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sp>
        <p:nvSpPr>
          <p:cNvPr id="462" name="Google Shape;462;p31"/>
          <p:cNvSpPr txBox="1">
            <a:spLocks noGrp="1"/>
          </p:cNvSpPr>
          <p:nvPr>
            <p:ph type="body" idx="1"/>
          </p:nvPr>
        </p:nvSpPr>
        <p:spPr>
          <a:xfrm>
            <a:off x="294968" y="1156350"/>
            <a:ext cx="5589638" cy="9495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76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None/>
            </a:pPr>
            <a:r>
              <a:rPr lang="es-ES" sz="2400" b="1" dirty="0">
                <a:latin typeface="+mn-lt"/>
              </a:rPr>
              <a:t>Virtualización de memoria</a:t>
            </a:r>
            <a:r>
              <a:rPr lang="es-ES" sz="2400" dirty="0">
                <a:latin typeface="+mn-lt"/>
              </a:rPr>
              <a:t>: Cada proceso cree que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tiene su propia memoria</a:t>
            </a:r>
            <a:r>
              <a:rPr lang="es-ES" sz="2400" dirty="0">
                <a:latin typeface="+mn-lt"/>
              </a:rPr>
              <a:t>.</a:t>
            </a: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453" name="Google Shape;453;p31"/>
          <p:cNvSpPr txBox="1"/>
          <p:nvPr/>
        </p:nvSpPr>
        <p:spPr>
          <a:xfrm>
            <a:off x="9395250" y="5152113"/>
            <a:ext cx="2270700" cy="6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>
                <a:solidFill>
                  <a:srgbClr val="FF9900"/>
                </a:solidFill>
              </a:rPr>
              <a:t>Recurso</a:t>
            </a:r>
            <a:endParaRPr sz="2800" b="1">
              <a:solidFill>
                <a:srgbClr val="FF9900"/>
              </a:solidFill>
            </a:endParaRPr>
          </a:p>
        </p:txBody>
      </p:sp>
      <p:sp>
        <p:nvSpPr>
          <p:cNvPr id="454" name="Google Shape;454;p31"/>
          <p:cNvSpPr txBox="1"/>
          <p:nvPr/>
        </p:nvSpPr>
        <p:spPr>
          <a:xfrm>
            <a:off x="10046575" y="2174050"/>
            <a:ext cx="1577700" cy="5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b="1">
                <a:solidFill>
                  <a:srgbClr val="FF9900"/>
                </a:solidFill>
              </a:rPr>
              <a:t>Ilusión</a:t>
            </a:r>
            <a:endParaRPr sz="2800" b="1">
              <a:solidFill>
                <a:srgbClr val="FF9900"/>
              </a:solidFill>
            </a:endParaRPr>
          </a:p>
        </p:txBody>
      </p:sp>
      <p:pic>
        <p:nvPicPr>
          <p:cNvPr id="455" name="Google Shape;45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5517" y="4508325"/>
            <a:ext cx="1503075" cy="1503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6763" y="3679000"/>
            <a:ext cx="2947038" cy="300845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57" name="Google Shape;457;p31"/>
          <p:cNvCxnSpPr/>
          <p:nvPr/>
        </p:nvCxnSpPr>
        <p:spPr>
          <a:xfrm>
            <a:off x="3180175" y="3678988"/>
            <a:ext cx="8444100" cy="11700"/>
          </a:xfrm>
          <a:prstGeom prst="straightConnector1">
            <a:avLst/>
          </a:prstGeom>
          <a:noFill/>
          <a:ln w="381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58" name="Google Shape;458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62363" y="2963900"/>
            <a:ext cx="418425" cy="44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489800" y="2955375"/>
            <a:ext cx="509450" cy="460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31"/>
          <p:cNvSpPr txBox="1"/>
          <p:nvPr/>
        </p:nvSpPr>
        <p:spPr>
          <a:xfrm>
            <a:off x="6787225" y="2947200"/>
            <a:ext cx="970200" cy="4770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 b="1">
                <a:latin typeface="Courier New"/>
                <a:ea typeface="Courier New"/>
                <a:cs typeface="Courier New"/>
                <a:sym typeface="Courier New"/>
              </a:rPr>
              <a:t>P0</a:t>
            </a:r>
            <a:endParaRPr sz="19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61" name="Google Shape;461;p31"/>
          <p:cNvSpPr txBox="1"/>
          <p:nvPr/>
        </p:nvSpPr>
        <p:spPr>
          <a:xfrm>
            <a:off x="9165400" y="2947213"/>
            <a:ext cx="970200" cy="477000"/>
          </a:xfrm>
          <a:prstGeom prst="rect">
            <a:avLst/>
          </a:pr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 b="1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9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463" name="Google Shape;463;p31"/>
          <p:cNvGrpSpPr/>
          <p:nvPr/>
        </p:nvGrpSpPr>
        <p:grpSpPr>
          <a:xfrm>
            <a:off x="1425225" y="3108010"/>
            <a:ext cx="1076100" cy="1739700"/>
            <a:chOff x="1775100" y="4022850"/>
            <a:chExt cx="1076100" cy="1739700"/>
          </a:xfrm>
        </p:grpSpPr>
        <p:sp>
          <p:nvSpPr>
            <p:cNvPr id="464" name="Google Shape;464;p31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5" name="Google Shape;465;p31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466" name="Google Shape;466;p31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67" name="Google Shape;467;p31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468" name="Google Shape;468;p31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469" name="Google Shape;469;p31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470" name="Google Shape;470;p31"/>
              <p:cNvCxnSpPr>
                <a:stCxn id="468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71" name="Google Shape;471;p31"/>
              <p:cNvCxnSpPr>
                <a:stCxn id="469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472" name="Google Shape;472;p31"/>
          <p:cNvGrpSpPr/>
          <p:nvPr/>
        </p:nvGrpSpPr>
        <p:grpSpPr>
          <a:xfrm>
            <a:off x="6864154" y="1414618"/>
            <a:ext cx="806322" cy="1163511"/>
            <a:chOff x="1775100" y="4022850"/>
            <a:chExt cx="1076100" cy="1739700"/>
          </a:xfrm>
        </p:grpSpPr>
        <p:sp>
          <p:nvSpPr>
            <p:cNvPr id="473" name="Google Shape;473;p31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4" name="Google Shape;474;p31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475" name="Google Shape;475;p31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76" name="Google Shape;476;p31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477" name="Google Shape;477;p31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478" name="Google Shape;478;p31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479" name="Google Shape;479;p31"/>
              <p:cNvCxnSpPr>
                <a:stCxn id="477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80" name="Google Shape;480;p31"/>
              <p:cNvCxnSpPr>
                <a:stCxn id="478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481" name="Google Shape;481;p31"/>
          <p:cNvGrpSpPr/>
          <p:nvPr/>
        </p:nvGrpSpPr>
        <p:grpSpPr>
          <a:xfrm>
            <a:off x="9247342" y="1414618"/>
            <a:ext cx="806322" cy="1163511"/>
            <a:chOff x="1775100" y="4022850"/>
            <a:chExt cx="1076100" cy="1739700"/>
          </a:xfrm>
        </p:grpSpPr>
        <p:sp>
          <p:nvSpPr>
            <p:cNvPr id="482" name="Google Shape;482;p31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31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484" name="Google Shape;484;p31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85" name="Google Shape;485;p31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486" name="Google Shape;486;p31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487" name="Google Shape;487;p31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488" name="Google Shape;488;p31"/>
              <p:cNvCxnSpPr>
                <a:stCxn id="486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89" name="Google Shape;489;p31"/>
              <p:cNvCxnSpPr>
                <a:stCxn id="487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32"/>
          <p:cNvSpPr txBox="1">
            <a:spLocks noGrp="1"/>
          </p:cNvSpPr>
          <p:nvPr>
            <p:ph type="title"/>
          </p:nvPr>
        </p:nvSpPr>
        <p:spPr>
          <a:xfrm>
            <a:off x="799050" y="81974"/>
            <a:ext cx="103587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grpSp>
        <p:nvGrpSpPr>
          <p:cNvPr id="496" name="Google Shape;496;p32"/>
          <p:cNvGrpSpPr/>
          <p:nvPr/>
        </p:nvGrpSpPr>
        <p:grpSpPr>
          <a:xfrm>
            <a:off x="7738879" y="2144643"/>
            <a:ext cx="806322" cy="1163511"/>
            <a:chOff x="1775100" y="4022850"/>
            <a:chExt cx="1076100" cy="1739700"/>
          </a:xfrm>
        </p:grpSpPr>
        <p:sp>
          <p:nvSpPr>
            <p:cNvPr id="497" name="Google Shape;497;p32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8" name="Google Shape;498;p32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499" name="Google Shape;499;p32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500" name="Google Shape;500;p32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501" name="Google Shape;501;p32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502" name="Google Shape;502;p32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503" name="Google Shape;503;p32"/>
              <p:cNvCxnSpPr>
                <a:stCxn id="501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504" name="Google Shape;504;p32"/>
              <p:cNvCxnSpPr>
                <a:stCxn id="502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505" name="Google Shape;505;p32"/>
          <p:cNvGrpSpPr/>
          <p:nvPr/>
        </p:nvGrpSpPr>
        <p:grpSpPr>
          <a:xfrm>
            <a:off x="7738867" y="3751018"/>
            <a:ext cx="806322" cy="1163511"/>
            <a:chOff x="1775100" y="4022850"/>
            <a:chExt cx="1076100" cy="1739700"/>
          </a:xfrm>
        </p:grpSpPr>
        <p:sp>
          <p:nvSpPr>
            <p:cNvPr id="506" name="Google Shape;506;p32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32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508" name="Google Shape;508;p32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509" name="Google Shape;509;p32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510" name="Google Shape;510;p32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dirty="0"/>
              </a:p>
            </p:txBody>
          </p:sp>
          <p:sp>
            <p:nvSpPr>
              <p:cNvPr id="511" name="Google Shape;511;p32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dirty="0"/>
              </a:p>
            </p:txBody>
          </p:sp>
          <p:cxnSp>
            <p:nvCxnSpPr>
              <p:cNvPr id="512" name="Google Shape;512;p32"/>
              <p:cNvCxnSpPr>
                <a:stCxn id="510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513" name="Google Shape;513;p32"/>
              <p:cNvCxnSpPr>
                <a:stCxn id="511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514" name="Google Shape;514;p32"/>
          <p:cNvGrpSpPr/>
          <p:nvPr/>
        </p:nvGrpSpPr>
        <p:grpSpPr>
          <a:xfrm>
            <a:off x="10684350" y="1375225"/>
            <a:ext cx="822300" cy="3936300"/>
            <a:chOff x="6401200" y="2480400"/>
            <a:chExt cx="822300" cy="3936300"/>
          </a:xfrm>
        </p:grpSpPr>
        <p:sp>
          <p:nvSpPr>
            <p:cNvPr id="515" name="Google Shape;515;p32"/>
            <p:cNvSpPr/>
            <p:nvPr/>
          </p:nvSpPr>
          <p:spPr>
            <a:xfrm>
              <a:off x="6401200" y="2480400"/>
              <a:ext cx="822300" cy="3936300"/>
            </a:xfrm>
            <a:prstGeom prst="rect">
              <a:avLst/>
            </a:prstGeom>
            <a:solidFill>
              <a:srgbClr val="F3F3F3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6" name="Google Shape;516;p32"/>
            <p:cNvGrpSpPr/>
            <p:nvPr/>
          </p:nvGrpSpPr>
          <p:grpSpPr>
            <a:xfrm>
              <a:off x="6409192" y="3112418"/>
              <a:ext cx="806322" cy="1163511"/>
              <a:chOff x="1775100" y="4022850"/>
              <a:chExt cx="1076100" cy="1739700"/>
            </a:xfrm>
          </p:grpSpPr>
          <p:sp>
            <p:nvSpPr>
              <p:cNvPr id="517" name="Google Shape;517;p32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18" name="Google Shape;518;p32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519" name="Google Shape;519;p32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0" name="Google Shape;520;p32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521" name="Google Shape;521;p32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522" name="Google Shape;522;p32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523" name="Google Shape;523;p32"/>
                <p:cNvCxnSpPr>
                  <a:stCxn id="521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524" name="Google Shape;524;p32"/>
                <p:cNvCxnSpPr>
                  <a:stCxn id="522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  <p:grpSp>
          <p:nvGrpSpPr>
            <p:cNvPr id="525" name="Google Shape;525;p32"/>
            <p:cNvGrpSpPr/>
            <p:nvPr/>
          </p:nvGrpSpPr>
          <p:grpSpPr>
            <a:xfrm>
              <a:off x="6409192" y="4826918"/>
              <a:ext cx="806322" cy="1163511"/>
              <a:chOff x="1775100" y="4022850"/>
              <a:chExt cx="1076100" cy="1739700"/>
            </a:xfrm>
          </p:grpSpPr>
          <p:sp>
            <p:nvSpPr>
              <p:cNvPr id="526" name="Google Shape;526;p32"/>
              <p:cNvSpPr/>
              <p:nvPr/>
            </p:nvSpPr>
            <p:spPr>
              <a:xfrm>
                <a:off x="1775100" y="4022850"/>
                <a:ext cx="1076100" cy="17397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7" name="Google Shape;527;p32"/>
              <p:cNvGrpSpPr/>
              <p:nvPr/>
            </p:nvGrpSpPr>
            <p:grpSpPr>
              <a:xfrm>
                <a:off x="1775100" y="4022850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528" name="Google Shape;528;p32"/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529" name="Google Shape;529;p32"/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530" name="Google Shape;530;p32"/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 dirty="0"/>
                </a:p>
              </p:txBody>
            </p:sp>
            <p:sp>
              <p:nvSpPr>
                <p:cNvPr id="531" name="Google Shape;531;p32"/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 dirty="0"/>
                </a:p>
              </p:txBody>
            </p:sp>
            <p:cxnSp>
              <p:nvCxnSpPr>
                <p:cNvPr id="532" name="Google Shape;532;p32"/>
                <p:cNvCxnSpPr>
                  <a:stCxn id="530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533" name="Google Shape;533;p32"/>
                <p:cNvCxnSpPr>
                  <a:stCxn id="531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</p:grpSp>
      </p:grpSp>
      <p:sp>
        <p:nvSpPr>
          <p:cNvPr id="534" name="Google Shape;534;p32"/>
          <p:cNvSpPr/>
          <p:nvPr/>
        </p:nvSpPr>
        <p:spPr>
          <a:xfrm>
            <a:off x="5916438" y="2274875"/>
            <a:ext cx="731100" cy="7311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P1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35" name="Google Shape;535;p32"/>
          <p:cNvSpPr/>
          <p:nvPr/>
        </p:nvSpPr>
        <p:spPr>
          <a:xfrm>
            <a:off x="5858125" y="3867975"/>
            <a:ext cx="731100" cy="731100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rgbClr val="22222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latin typeface="Courier New"/>
                <a:ea typeface="Courier New"/>
                <a:cs typeface="Courier New"/>
                <a:sym typeface="Courier New"/>
              </a:rPr>
              <a:t>P2</a:t>
            </a:r>
            <a:endParaRPr sz="180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536" name="Google Shape;536;p32"/>
          <p:cNvCxnSpPr/>
          <p:nvPr/>
        </p:nvCxnSpPr>
        <p:spPr>
          <a:xfrm rot="10800000" flipH="1">
            <a:off x="8555000" y="2002200"/>
            <a:ext cx="2125500" cy="1371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37" name="Google Shape;537;p32"/>
          <p:cNvCxnSpPr/>
          <p:nvPr/>
        </p:nvCxnSpPr>
        <p:spPr>
          <a:xfrm rot="10800000" flipH="1">
            <a:off x="8555000" y="3175250"/>
            <a:ext cx="2128500" cy="1401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38" name="Google Shape;538;p32"/>
          <p:cNvCxnSpPr/>
          <p:nvPr/>
        </p:nvCxnSpPr>
        <p:spPr>
          <a:xfrm rot="10800000" flipH="1">
            <a:off x="8555000" y="3720500"/>
            <a:ext cx="2128500" cy="264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539" name="Google Shape;539;p32"/>
          <p:cNvCxnSpPr/>
          <p:nvPr/>
        </p:nvCxnSpPr>
        <p:spPr>
          <a:xfrm rot="10800000" flipH="1">
            <a:off x="8549175" y="4893775"/>
            <a:ext cx="2134500" cy="24300"/>
          </a:xfrm>
          <a:prstGeom prst="straightConnector1">
            <a:avLst/>
          </a:prstGeom>
          <a:noFill/>
          <a:ln w="19050" cap="flat" cmpd="sng">
            <a:solidFill>
              <a:srgbClr val="FF99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40" name="Google Shape;540;p32"/>
          <p:cNvSpPr txBox="1"/>
          <p:nvPr/>
        </p:nvSpPr>
        <p:spPr>
          <a:xfrm>
            <a:off x="6708150" y="2486550"/>
            <a:ext cx="7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800">
              <a:solidFill>
                <a:srgbClr val="FF0000"/>
              </a:solidFill>
              <a:highlight>
                <a:schemeClr val="lt1"/>
              </a:highlight>
            </a:endParaRPr>
          </a:p>
        </p:txBody>
      </p:sp>
      <p:sp>
        <p:nvSpPr>
          <p:cNvPr id="541" name="Google Shape;541;p32"/>
          <p:cNvSpPr txBox="1"/>
          <p:nvPr/>
        </p:nvSpPr>
        <p:spPr>
          <a:xfrm>
            <a:off x="6696425" y="4075125"/>
            <a:ext cx="731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800">
                <a:solidFill>
                  <a:srgbClr val="FF0000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800">
              <a:solidFill>
                <a:srgbClr val="FF0000"/>
              </a:solidFill>
              <a:highlight>
                <a:schemeClr val="lt1"/>
              </a:highlight>
            </a:endParaRPr>
          </a:p>
        </p:txBody>
      </p:sp>
      <p:cxnSp>
        <p:nvCxnSpPr>
          <p:cNvPr id="542" name="Google Shape;542;p32"/>
          <p:cNvCxnSpPr/>
          <p:nvPr/>
        </p:nvCxnSpPr>
        <p:spPr>
          <a:xfrm rot="10800000" flipH="1">
            <a:off x="7375100" y="4232175"/>
            <a:ext cx="352200" cy="2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3" name="Google Shape;543;p32"/>
          <p:cNvCxnSpPr/>
          <p:nvPr/>
        </p:nvCxnSpPr>
        <p:spPr>
          <a:xfrm rot="10800000" flipH="1">
            <a:off x="7386750" y="2639075"/>
            <a:ext cx="352200" cy="2700"/>
          </a:xfrm>
          <a:prstGeom prst="straightConnector1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4" name="Google Shape;544;p32"/>
          <p:cNvCxnSpPr>
            <a:stCxn id="501" idx="3"/>
            <a:endCxn id="521" idx="1"/>
          </p:cNvCxnSpPr>
          <p:nvPr/>
        </p:nvCxnSpPr>
        <p:spPr>
          <a:xfrm rot="10800000" flipH="1">
            <a:off x="8545201" y="2498895"/>
            <a:ext cx="2147100" cy="137400"/>
          </a:xfrm>
          <a:prstGeom prst="bent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5" name="Google Shape;545;p32"/>
          <p:cNvCxnSpPr>
            <a:stCxn id="510" idx="3"/>
            <a:endCxn id="530" idx="1"/>
          </p:cNvCxnSpPr>
          <p:nvPr/>
        </p:nvCxnSpPr>
        <p:spPr>
          <a:xfrm rot="10800000" flipH="1">
            <a:off x="8545188" y="4213270"/>
            <a:ext cx="2147100" cy="29400"/>
          </a:xfrm>
          <a:prstGeom prst="bent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6" name="Google Shape;546;p32"/>
          <p:cNvSpPr txBox="1"/>
          <p:nvPr/>
        </p:nvSpPr>
        <p:spPr>
          <a:xfrm>
            <a:off x="621456" y="3709050"/>
            <a:ext cx="4030800" cy="2639637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prompt</a:t>
            </a:r>
            <a:r>
              <a:rPr lang="es-ES" sz="12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s-ES" sz="12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./</a:t>
            </a:r>
            <a:r>
              <a:rPr lang="es-ES" sz="1200" dirty="0" err="1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2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r>
              <a:rPr lang="es-ES" sz="12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&amp;; </a:t>
            </a: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./</a:t>
            </a:r>
            <a:r>
              <a:rPr lang="es-ES" sz="12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1</a:t>
            </a:r>
            <a:r>
              <a:rPr lang="es-ES" sz="12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&amp;</a:t>
            </a:r>
            <a:endParaRPr sz="12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[1] </a:t>
            </a:r>
            <a:r>
              <a:rPr lang="es-ES" sz="12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24113</a:t>
            </a:r>
            <a:endParaRPr sz="12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[2] </a:t>
            </a: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24114</a:t>
            </a:r>
            <a:endParaRPr sz="12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(24113) address </a:t>
            </a:r>
            <a:r>
              <a:rPr lang="es-ES" sz="12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2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2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2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200" dirty="0" err="1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2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200" dirty="0">
                <a:solidFill>
                  <a:srgbClr val="24292E"/>
                </a:solidFill>
                <a:highlight>
                  <a:srgbClr val="FFFF00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1200" dirty="0">
              <a:solidFill>
                <a:srgbClr val="24292E"/>
              </a:solidFill>
              <a:highlight>
                <a:srgbClr val="FFFF00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address </a:t>
            </a:r>
            <a:r>
              <a:rPr lang="es-ES" sz="12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pointed</a:t>
            </a: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2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200" dirty="0" err="1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by</a:t>
            </a: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 p: </a:t>
            </a:r>
            <a:r>
              <a:rPr lang="es-ES" sz="1200" dirty="0">
                <a:solidFill>
                  <a:srgbClr val="24292E"/>
                </a:solidFill>
                <a:highlight>
                  <a:srgbClr val="FFFF00"/>
                </a:highlight>
                <a:latin typeface="Courier New"/>
                <a:ea typeface="Courier New"/>
                <a:cs typeface="Courier New"/>
                <a:sym typeface="Courier New"/>
              </a:rPr>
              <a:t>0x200000</a:t>
            </a:r>
            <a:endParaRPr sz="1200" dirty="0">
              <a:solidFill>
                <a:srgbClr val="24292E"/>
              </a:solidFill>
              <a:highlight>
                <a:srgbClr val="FFFF00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1</a:t>
            </a:r>
            <a:endParaRPr sz="12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1</a:t>
            </a:r>
            <a:endParaRPr sz="12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2</a:t>
            </a:r>
            <a:endParaRPr sz="12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2</a:t>
            </a:r>
            <a:endParaRPr sz="12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CFE2F3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3</a:t>
            </a:r>
            <a:endParaRPr sz="1200" dirty="0">
              <a:solidFill>
                <a:srgbClr val="24292E"/>
              </a:solidFill>
              <a:highlight>
                <a:srgbClr val="CFE2F3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3</a:t>
            </a:r>
            <a:endParaRPr sz="12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(24113) p: 4</a:t>
            </a:r>
            <a:endParaRPr sz="1200" dirty="0">
              <a:solidFill>
                <a:srgbClr val="24292E"/>
              </a:solidFill>
              <a:highlight>
                <a:srgbClr val="C9DAF8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(24114) p: 4</a:t>
            </a:r>
            <a:endParaRPr sz="1200" dirty="0">
              <a:solidFill>
                <a:srgbClr val="24292E"/>
              </a:solidFill>
              <a:highlight>
                <a:srgbClr val="F4CCC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2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47" name="Google Shape;547;p32"/>
          <p:cNvSpPr txBox="1"/>
          <p:nvPr/>
        </p:nvSpPr>
        <p:spPr>
          <a:xfrm>
            <a:off x="5371363" y="3131063"/>
            <a:ext cx="17046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C9DAF8"/>
                </a:highlight>
                <a:latin typeface="Courier New"/>
                <a:ea typeface="Courier New"/>
                <a:cs typeface="Courier New"/>
                <a:sym typeface="Courier New"/>
              </a:rPr>
              <a:t>pid(P1)= 21113</a:t>
            </a:r>
            <a:endParaRPr sz="1400" dirty="0">
              <a:highlight>
                <a:srgbClr val="C9DAF8"/>
              </a:highlight>
            </a:endParaRPr>
          </a:p>
        </p:txBody>
      </p:sp>
      <p:sp>
        <p:nvSpPr>
          <p:cNvPr id="548" name="Google Shape;548;p32"/>
          <p:cNvSpPr txBox="1"/>
          <p:nvPr/>
        </p:nvSpPr>
        <p:spPr>
          <a:xfrm>
            <a:off x="5429688" y="4807388"/>
            <a:ext cx="17046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dirty="0">
                <a:solidFill>
                  <a:srgbClr val="24292E"/>
                </a:solidFill>
                <a:highlight>
                  <a:srgbClr val="F4CCCC"/>
                </a:highlight>
                <a:latin typeface="Courier New"/>
                <a:ea typeface="Courier New"/>
                <a:cs typeface="Courier New"/>
                <a:sym typeface="Courier New"/>
              </a:rPr>
              <a:t>pid(P2)= 21114</a:t>
            </a:r>
            <a:endParaRPr sz="1400" dirty="0">
              <a:highlight>
                <a:srgbClr val="F4CCCC"/>
              </a:highlight>
            </a:endParaRPr>
          </a:p>
        </p:txBody>
      </p:sp>
      <p:sp>
        <p:nvSpPr>
          <p:cNvPr id="549" name="Google Shape;549;p32"/>
          <p:cNvSpPr txBox="1"/>
          <p:nvPr/>
        </p:nvSpPr>
        <p:spPr>
          <a:xfrm>
            <a:off x="6199350" y="1318050"/>
            <a:ext cx="153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Dirección Virtual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50" name="Google Shape;550;p32"/>
          <p:cNvSpPr txBox="1"/>
          <p:nvPr/>
        </p:nvSpPr>
        <p:spPr>
          <a:xfrm>
            <a:off x="9035925" y="1246813"/>
            <a:ext cx="1539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Dirección Física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551" name="Google Shape;551;p32"/>
          <p:cNvGrpSpPr/>
          <p:nvPr/>
        </p:nvGrpSpPr>
        <p:grpSpPr>
          <a:xfrm>
            <a:off x="7439250" y="5328100"/>
            <a:ext cx="4426050" cy="615600"/>
            <a:chOff x="7439250" y="5328100"/>
            <a:chExt cx="4426050" cy="615600"/>
          </a:xfrm>
        </p:grpSpPr>
        <p:sp>
          <p:nvSpPr>
            <p:cNvPr id="552" name="Google Shape;552;p32"/>
            <p:cNvSpPr txBox="1"/>
            <p:nvPr/>
          </p:nvSpPr>
          <p:spPr>
            <a:xfrm>
              <a:off x="7439250" y="5328100"/>
              <a:ext cx="15396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solidFill>
                    <a:srgbClr val="70AD4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Memoria Virtual</a:t>
              </a:r>
              <a:endParaRPr b="1">
                <a:solidFill>
                  <a:srgbClr val="70AD4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553" name="Google Shape;553;p32"/>
            <p:cNvSpPr txBox="1"/>
            <p:nvPr/>
          </p:nvSpPr>
          <p:spPr>
            <a:xfrm>
              <a:off x="10325700" y="5328100"/>
              <a:ext cx="15396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solidFill>
                    <a:schemeClr val="accent6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Memoria Física</a:t>
              </a:r>
              <a:endParaRPr b="1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554" name="Google Shape;554;p32"/>
            <p:cNvGrpSpPr/>
            <p:nvPr/>
          </p:nvGrpSpPr>
          <p:grpSpPr>
            <a:xfrm>
              <a:off x="9023475" y="5328100"/>
              <a:ext cx="1353000" cy="615600"/>
              <a:chOff x="9023475" y="5328100"/>
              <a:chExt cx="1353000" cy="615600"/>
            </a:xfrm>
          </p:grpSpPr>
          <p:sp>
            <p:nvSpPr>
              <p:cNvPr id="555" name="Google Shape;555;p32"/>
              <p:cNvSpPr/>
              <p:nvPr/>
            </p:nvSpPr>
            <p:spPr>
              <a:xfrm>
                <a:off x="9023475" y="5328100"/>
                <a:ext cx="1353000" cy="6156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EA9999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32"/>
              <p:cNvSpPr txBox="1"/>
              <p:nvPr/>
            </p:nvSpPr>
            <p:spPr>
              <a:xfrm>
                <a:off x="9170324" y="5404300"/>
                <a:ext cx="963900" cy="44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700" b="1">
                    <a:solidFill>
                      <a:schemeClr val="lt1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Mapeo</a:t>
                </a:r>
                <a:endParaRPr sz="1700" b="1">
                  <a:solidFill>
                    <a:schemeClr val="lt1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  <p:pic>
        <p:nvPicPr>
          <p:cNvPr id="557" name="Google Shape;557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6636" y="5890300"/>
            <a:ext cx="897725" cy="89772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462;p31">
            <a:extLst>
              <a:ext uri="{FF2B5EF4-FFF2-40B4-BE49-F238E27FC236}">
                <a16:creationId xmlns:a16="http://schemas.microsoft.com/office/drawing/2014/main" id="{AE862F47-DCB8-4F2C-8201-18BE5F1DBD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6571" y="1144112"/>
            <a:ext cx="4178526" cy="13547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76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None/>
            </a:pPr>
            <a:r>
              <a:rPr lang="es-ES" sz="2400" b="1" dirty="0">
                <a:latin typeface="+mn-lt"/>
              </a:rPr>
              <a:t>Virtualización de memoria</a:t>
            </a:r>
            <a:r>
              <a:rPr lang="es-ES" sz="2400" dirty="0">
                <a:latin typeface="+mn-lt"/>
              </a:rPr>
              <a:t>: Cada proceso cree que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tiene su propia memoria</a:t>
            </a:r>
            <a:r>
              <a:rPr lang="es-ES" sz="2400" dirty="0">
                <a:latin typeface="+mn-lt"/>
              </a:rPr>
              <a:t>.</a:t>
            </a:r>
            <a:endParaRPr sz="22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33"/>
          <p:cNvSpPr txBox="1">
            <a:spLocks noGrp="1"/>
          </p:cNvSpPr>
          <p:nvPr>
            <p:ph type="title"/>
          </p:nvPr>
        </p:nvSpPr>
        <p:spPr>
          <a:xfrm>
            <a:off x="516194" y="96038"/>
            <a:ext cx="1075915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sp>
        <p:nvSpPr>
          <p:cNvPr id="563" name="Google Shape;563;p33"/>
          <p:cNvSpPr txBox="1">
            <a:spLocks noGrp="1"/>
          </p:cNvSpPr>
          <p:nvPr>
            <p:ph type="body" idx="1"/>
          </p:nvPr>
        </p:nvSpPr>
        <p:spPr>
          <a:xfrm>
            <a:off x="229350" y="892100"/>
            <a:ext cx="11046000" cy="2842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Hardware Address </a:t>
            </a:r>
            <a:r>
              <a:rPr lang="es-ES" sz="2800" b="1" dirty="0" err="1">
                <a:solidFill>
                  <a:schemeClr val="accent1"/>
                </a:solidFill>
                <a:latin typeface="+mn-lt"/>
              </a:rPr>
              <a:t>Translation</a:t>
            </a:r>
            <a:r>
              <a:rPr lang="es-ES" sz="2800" b="1" dirty="0">
                <a:solidFill>
                  <a:schemeClr val="accent1"/>
                </a:solidFill>
                <a:latin typeface="+mn-lt"/>
              </a:rPr>
              <a:t> - Address </a:t>
            </a:r>
            <a:r>
              <a:rPr lang="es-ES" sz="2800" b="1" dirty="0" err="1">
                <a:solidFill>
                  <a:schemeClr val="accent1"/>
                </a:solidFill>
                <a:latin typeface="+mn-lt"/>
              </a:rPr>
              <a:t>Translation</a:t>
            </a:r>
            <a:r>
              <a:rPr lang="es-ES" sz="2800" b="1" dirty="0">
                <a:solidFill>
                  <a:schemeClr val="accent1"/>
                </a:solidFill>
                <a:latin typeface="+mn-lt"/>
              </a:rPr>
              <a:t> (AT) </a:t>
            </a:r>
            <a:endParaRPr sz="2800" b="1" dirty="0">
              <a:solidFill>
                <a:schemeClr val="accent1"/>
              </a:solidFill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Mecanismo mediante el cual el hardware traduce cada acceso a memoria (</a:t>
            </a:r>
            <a:r>
              <a:rPr lang="es-ES" sz="2200" dirty="0" err="1">
                <a:latin typeface="+mn-lt"/>
              </a:rPr>
              <a:t>Instruction</a:t>
            </a:r>
            <a:r>
              <a:rPr lang="es-ES" sz="2200" dirty="0">
                <a:latin typeface="+mn-lt"/>
              </a:rPr>
              <a:t> </a:t>
            </a:r>
            <a:r>
              <a:rPr lang="es-ES" sz="2200" dirty="0" err="1">
                <a:latin typeface="+mn-lt"/>
              </a:rPr>
              <a:t>fetch</a:t>
            </a:r>
            <a:r>
              <a:rPr lang="es-ES" sz="2200" dirty="0">
                <a:latin typeface="+mn-lt"/>
              </a:rPr>
              <a:t> - Load - Store) cambiando la </a:t>
            </a:r>
            <a:r>
              <a:rPr lang="es-ES" sz="2200" b="1" dirty="0">
                <a:solidFill>
                  <a:srgbClr val="ED7D31"/>
                </a:solidFill>
                <a:latin typeface="+mn-lt"/>
              </a:rPr>
              <a:t>dirección virtual</a:t>
            </a:r>
            <a:r>
              <a:rPr lang="es-ES" sz="2200" dirty="0">
                <a:latin typeface="+mn-lt"/>
              </a:rPr>
              <a:t> proporcionada por la instrucción a una </a:t>
            </a:r>
            <a:r>
              <a:rPr lang="es-ES" sz="2200" b="1" dirty="0">
                <a:solidFill>
                  <a:srgbClr val="ED7D31"/>
                </a:solidFill>
                <a:latin typeface="+mn-lt"/>
              </a:rPr>
              <a:t>dirección física</a:t>
            </a:r>
            <a:r>
              <a:rPr lang="es-ES" sz="2200" dirty="0">
                <a:latin typeface="+mn-lt"/>
              </a:rPr>
              <a:t> donde la información deseada se encuentra actualmente localizada.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>
                <a:solidFill>
                  <a:srgbClr val="8CC63E"/>
                </a:solidFill>
                <a:latin typeface="+mn-lt"/>
              </a:rPr>
              <a:t>Objetivo de la AT</a:t>
            </a:r>
            <a:r>
              <a:rPr lang="es-ES" sz="2200" dirty="0">
                <a:solidFill>
                  <a:srgbClr val="8CC63E"/>
                </a:solidFill>
                <a:latin typeface="+mn-lt"/>
              </a:rPr>
              <a:t>:</a:t>
            </a:r>
            <a:r>
              <a:rPr lang="es-ES" sz="2200" dirty="0">
                <a:latin typeface="+mn-lt"/>
              </a:rPr>
              <a:t> Dar la ilusión a un programa de que tiene su propio espacio de direcciones privado (propio).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564" name="Google Shape;564;p33"/>
          <p:cNvGrpSpPr/>
          <p:nvPr/>
        </p:nvGrpSpPr>
        <p:grpSpPr>
          <a:xfrm>
            <a:off x="783915" y="3536193"/>
            <a:ext cx="10949400" cy="2601000"/>
            <a:chOff x="1094825" y="3502875"/>
            <a:chExt cx="10949400" cy="2601000"/>
          </a:xfrm>
        </p:grpSpPr>
        <p:grpSp>
          <p:nvGrpSpPr>
            <p:cNvPr id="565" name="Google Shape;565;p33"/>
            <p:cNvGrpSpPr/>
            <p:nvPr/>
          </p:nvGrpSpPr>
          <p:grpSpPr>
            <a:xfrm>
              <a:off x="3591725" y="3502875"/>
              <a:ext cx="5773200" cy="2601000"/>
              <a:chOff x="3401900" y="3456225"/>
              <a:chExt cx="5773200" cy="2601000"/>
            </a:xfrm>
          </p:grpSpPr>
          <p:sp>
            <p:nvSpPr>
              <p:cNvPr id="566" name="Google Shape;566;p33"/>
              <p:cNvSpPr/>
              <p:nvPr/>
            </p:nvSpPr>
            <p:spPr>
              <a:xfrm>
                <a:off x="4883000" y="3456225"/>
                <a:ext cx="2811000" cy="26010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3000" b="1" dirty="0">
                    <a:latin typeface="Courier New"/>
                    <a:ea typeface="Courier New"/>
                    <a:cs typeface="Courier New"/>
                    <a:sym typeface="Courier New"/>
                  </a:rPr>
                  <a:t>Address </a:t>
                </a:r>
                <a:r>
                  <a:rPr lang="es-ES" sz="3000" b="1" dirty="0" err="1">
                    <a:latin typeface="Courier New"/>
                    <a:ea typeface="Courier New"/>
                    <a:cs typeface="Courier New"/>
                    <a:sym typeface="Courier New"/>
                  </a:rPr>
                  <a:t>Translation</a:t>
                </a:r>
                <a:endParaRPr sz="30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567" name="Google Shape;567;p33"/>
              <p:cNvCxnSpPr/>
              <p:nvPr/>
            </p:nvCxnSpPr>
            <p:spPr>
              <a:xfrm>
                <a:off x="3401900" y="4756725"/>
                <a:ext cx="1481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568" name="Google Shape;568;p33"/>
              <p:cNvCxnSpPr/>
              <p:nvPr/>
            </p:nvCxnSpPr>
            <p:spPr>
              <a:xfrm>
                <a:off x="7694000" y="4756725"/>
                <a:ext cx="1481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569" name="Google Shape;569;p33"/>
            <p:cNvSpPr txBox="1"/>
            <p:nvPr/>
          </p:nvSpPr>
          <p:spPr>
            <a:xfrm>
              <a:off x="1094825" y="4403175"/>
              <a:ext cx="24969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latin typeface="Courier New"/>
                  <a:ea typeface="Courier New"/>
                  <a:cs typeface="Courier New"/>
                  <a:sym typeface="Courier New"/>
                </a:rPr>
                <a:t>Virtual Address</a:t>
              </a:r>
              <a:endParaRPr sz="20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VA</a:t>
              </a:r>
              <a:endParaRPr sz="200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570" name="Google Shape;570;p33"/>
            <p:cNvSpPr txBox="1"/>
            <p:nvPr/>
          </p:nvSpPr>
          <p:spPr>
            <a:xfrm>
              <a:off x="9364925" y="4403175"/>
              <a:ext cx="2679300" cy="8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 err="1">
                  <a:latin typeface="Courier New"/>
                  <a:ea typeface="Courier New"/>
                  <a:cs typeface="Courier New"/>
                  <a:sym typeface="Courier New"/>
                </a:rPr>
                <a:t>Physical</a:t>
              </a:r>
              <a:r>
                <a:rPr lang="es-ES" sz="2000" dirty="0">
                  <a:latin typeface="Courier New"/>
                  <a:ea typeface="Courier New"/>
                  <a:cs typeface="Courier New"/>
                  <a:sym typeface="Courier New"/>
                </a:rPr>
                <a:t> Address</a:t>
              </a:r>
              <a:endParaRPr sz="2000" dirty="0"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dirty="0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PA</a:t>
              </a:r>
              <a:endParaRPr sz="2000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4"/>
          <p:cNvSpPr txBox="1">
            <a:spLocks noGrp="1"/>
          </p:cNvSpPr>
          <p:nvPr>
            <p:ph type="title"/>
          </p:nvPr>
        </p:nvSpPr>
        <p:spPr>
          <a:xfrm>
            <a:off x="235974" y="96038"/>
            <a:ext cx="1103937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Virtualización de Memoria - Contextualización</a:t>
            </a:r>
            <a:endParaRPr dirty="0"/>
          </a:p>
        </p:txBody>
      </p:sp>
      <p:sp>
        <p:nvSpPr>
          <p:cNvPr id="576" name="Google Shape;576;p34"/>
          <p:cNvSpPr txBox="1">
            <a:spLocks noGrp="1"/>
          </p:cNvSpPr>
          <p:nvPr>
            <p:ph type="body" idx="1"/>
          </p:nvPr>
        </p:nvSpPr>
        <p:spPr>
          <a:xfrm>
            <a:off x="602051" y="1405648"/>
            <a:ext cx="5727600" cy="2595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latin typeface="+mn-lt"/>
              </a:rPr>
              <a:t>El sistema operativo (SO):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2"/>
                </a:solidFill>
                <a:latin typeface="+mn-lt"/>
              </a:rPr>
              <a:t>Virtualiza</a:t>
            </a:r>
            <a:r>
              <a:rPr lang="es-ES" sz="2400" dirty="0">
                <a:latin typeface="+mn-lt"/>
              </a:rPr>
              <a:t> la memoria física.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2"/>
                </a:solidFill>
                <a:latin typeface="+mn-lt"/>
              </a:rPr>
              <a:t>Proporciona una ilusión</a:t>
            </a:r>
            <a:r>
              <a:rPr lang="es-ES" sz="2400" dirty="0">
                <a:latin typeface="+mn-lt"/>
              </a:rPr>
              <a:t> para el espacio de memoria de cada proceso.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Cada proceso </a:t>
            </a:r>
            <a:r>
              <a:rPr lang="es-ES" sz="2400" b="1" dirty="0">
                <a:solidFill>
                  <a:schemeClr val="accent6"/>
                </a:solidFill>
                <a:latin typeface="+mn-lt"/>
              </a:rPr>
              <a:t>cree</a:t>
            </a:r>
            <a:r>
              <a:rPr lang="es-ES" sz="2400" dirty="0">
                <a:latin typeface="+mn-lt"/>
              </a:rPr>
              <a:t> que utiliza todos los recursos de memoria de la máquina.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grpSp>
        <p:nvGrpSpPr>
          <p:cNvPr id="577" name="Google Shape;577;p34"/>
          <p:cNvGrpSpPr/>
          <p:nvPr/>
        </p:nvGrpSpPr>
        <p:grpSpPr>
          <a:xfrm>
            <a:off x="7805888" y="1680700"/>
            <a:ext cx="3013738" cy="3793048"/>
            <a:chOff x="7770888" y="1832325"/>
            <a:chExt cx="3013738" cy="3793048"/>
          </a:xfrm>
        </p:grpSpPr>
        <p:sp>
          <p:nvSpPr>
            <p:cNvPr id="578" name="Google Shape;578;p34"/>
            <p:cNvSpPr/>
            <p:nvPr/>
          </p:nvSpPr>
          <p:spPr>
            <a:xfrm>
              <a:off x="7770888" y="3308238"/>
              <a:ext cx="731100" cy="7311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579" name="Google Shape;579;p34"/>
            <p:cNvSpPr/>
            <p:nvPr/>
          </p:nvSpPr>
          <p:spPr>
            <a:xfrm>
              <a:off x="7770900" y="4206225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grpSp>
          <p:nvGrpSpPr>
            <p:cNvPr id="580" name="Google Shape;580;p34"/>
            <p:cNvGrpSpPr/>
            <p:nvPr/>
          </p:nvGrpSpPr>
          <p:grpSpPr>
            <a:xfrm>
              <a:off x="9978225" y="2756473"/>
              <a:ext cx="806400" cy="2868900"/>
              <a:chOff x="7004100" y="3327923"/>
              <a:chExt cx="806400" cy="2868900"/>
            </a:xfrm>
          </p:grpSpPr>
          <p:sp>
            <p:nvSpPr>
              <p:cNvPr id="581" name="Google Shape;581;p34"/>
              <p:cNvSpPr/>
              <p:nvPr/>
            </p:nvSpPr>
            <p:spPr>
              <a:xfrm>
                <a:off x="7004100" y="3327923"/>
                <a:ext cx="806400" cy="2868900"/>
              </a:xfrm>
              <a:prstGeom prst="rect">
                <a:avLst/>
              </a:prstGeom>
              <a:solidFill>
                <a:srgbClr val="EFEFEF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34"/>
              <p:cNvSpPr/>
              <p:nvPr/>
            </p:nvSpPr>
            <p:spPr>
              <a:xfrm>
                <a:off x="7005300" y="5084284"/>
                <a:ext cx="804000" cy="5181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urier New"/>
                    <a:ea typeface="Courier New"/>
                    <a:cs typeface="Courier New"/>
                    <a:sym typeface="Courier New"/>
                  </a:rPr>
                  <a:t>P2</a:t>
                </a:r>
                <a:endParaRPr sz="2400"/>
              </a:p>
            </p:txBody>
          </p:sp>
          <p:sp>
            <p:nvSpPr>
              <p:cNvPr id="583" name="Google Shape;583;p34"/>
              <p:cNvSpPr/>
              <p:nvPr/>
            </p:nvSpPr>
            <p:spPr>
              <a:xfrm>
                <a:off x="7004100" y="3775793"/>
                <a:ext cx="806400" cy="3849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urier New"/>
                    <a:ea typeface="Courier New"/>
                    <a:cs typeface="Courier New"/>
                    <a:sym typeface="Courier New"/>
                  </a:rPr>
                  <a:t>P1</a:t>
                </a:r>
                <a:endParaRPr sz="2400"/>
              </a:p>
            </p:txBody>
          </p:sp>
        </p:grpSp>
        <p:pic>
          <p:nvPicPr>
            <p:cNvPr id="584" name="Google Shape;584;p3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978225" y="1832325"/>
              <a:ext cx="806400" cy="8064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585" name="Google Shape;585;p34"/>
            <p:cNvCxnSpPr>
              <a:stCxn id="578" idx="6"/>
              <a:endCxn id="583" idx="1"/>
            </p:cNvCxnSpPr>
            <p:nvPr/>
          </p:nvCxnSpPr>
          <p:spPr>
            <a:xfrm rot="10800000" flipH="1">
              <a:off x="8501988" y="3396888"/>
              <a:ext cx="1476300" cy="276900"/>
            </a:xfrm>
            <a:prstGeom prst="straightConnector1">
              <a:avLst/>
            </a:prstGeom>
            <a:noFill/>
            <a:ln w="2857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586" name="Google Shape;586;p34"/>
            <p:cNvCxnSpPr>
              <a:stCxn id="579" idx="6"/>
              <a:endCxn id="582" idx="1"/>
            </p:cNvCxnSpPr>
            <p:nvPr/>
          </p:nvCxnSpPr>
          <p:spPr>
            <a:xfrm>
              <a:off x="8502000" y="4571775"/>
              <a:ext cx="1477500" cy="200100"/>
            </a:xfrm>
            <a:prstGeom prst="straightConnector1">
              <a:avLst/>
            </a:prstGeom>
            <a:noFill/>
            <a:ln w="2857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35"/>
          <p:cNvSpPr txBox="1">
            <a:spLocks noGrp="1"/>
          </p:cNvSpPr>
          <p:nvPr>
            <p:ph type="title"/>
          </p:nvPr>
        </p:nvSpPr>
        <p:spPr>
          <a:xfrm>
            <a:off x="621681" y="86273"/>
            <a:ext cx="1092630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Beneficios de la virtualización de Memoria</a:t>
            </a:r>
            <a:endParaRPr dirty="0"/>
          </a:p>
        </p:txBody>
      </p:sp>
      <p:sp>
        <p:nvSpPr>
          <p:cNvPr id="592" name="Google Shape;592;p35"/>
          <p:cNvSpPr txBox="1">
            <a:spLocks noGrp="1"/>
          </p:cNvSpPr>
          <p:nvPr>
            <p:ph type="body" idx="1"/>
          </p:nvPr>
        </p:nvSpPr>
        <p:spPr>
          <a:xfrm>
            <a:off x="463242" y="1001868"/>
            <a:ext cx="6114539" cy="30539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2"/>
                </a:solidFill>
                <a:latin typeface="+mn-lt"/>
              </a:rPr>
              <a:t>Facilidad de uso</a:t>
            </a:r>
            <a:r>
              <a:rPr lang="es-ES" sz="2400" dirty="0">
                <a:latin typeface="+mn-lt"/>
              </a:rPr>
              <a:t> para el programador.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2"/>
                </a:solidFill>
                <a:latin typeface="+mn-lt"/>
              </a:rPr>
              <a:t>Eficiencia</a:t>
            </a:r>
            <a:r>
              <a:rPr lang="es-ES" sz="2400" dirty="0">
                <a:latin typeface="+mn-lt"/>
              </a:rPr>
              <a:t> de memoria en términos de </a:t>
            </a:r>
            <a:r>
              <a:rPr lang="es-ES" sz="2400" b="1" dirty="0">
                <a:latin typeface="+mn-lt"/>
              </a:rPr>
              <a:t>tiempo</a:t>
            </a:r>
            <a:r>
              <a:rPr lang="es-ES" sz="2400" dirty="0">
                <a:latin typeface="+mn-lt"/>
              </a:rPr>
              <a:t> y </a:t>
            </a:r>
            <a:r>
              <a:rPr lang="es-ES" sz="2400" b="1" dirty="0">
                <a:latin typeface="+mn-lt"/>
              </a:rPr>
              <a:t>espacio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2"/>
                </a:solidFill>
                <a:latin typeface="+mn-lt"/>
              </a:rPr>
              <a:t>Protección (seguridad)</a:t>
            </a:r>
            <a:endParaRPr sz="24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400" dirty="0">
                <a:latin typeface="+mn-lt"/>
              </a:rPr>
              <a:t>Garantía de aislamiento entre procesos y SO.</a:t>
            </a:r>
            <a:endParaRPr sz="24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400" dirty="0">
                <a:latin typeface="+mn-lt"/>
              </a:rPr>
              <a:t>Protección ante accesos ilegales de otros procesos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593" name="Google Shape;59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6130" y="4277033"/>
            <a:ext cx="1767884" cy="1924022"/>
          </a:xfrm>
          <a:prstGeom prst="rect">
            <a:avLst/>
          </a:prstGeom>
          <a:noFill/>
          <a:ln>
            <a:noFill/>
          </a:ln>
        </p:spPr>
      </p:pic>
      <p:pic>
        <p:nvPicPr>
          <p:cNvPr id="594" name="Google Shape;594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3371" y="4277033"/>
            <a:ext cx="2012629" cy="1924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37"/>
          <p:cNvSpPr txBox="1">
            <a:spLocks noGrp="1"/>
          </p:cNvSpPr>
          <p:nvPr>
            <p:ph type="title"/>
          </p:nvPr>
        </p:nvSpPr>
        <p:spPr>
          <a:xfrm>
            <a:off x="368710" y="96038"/>
            <a:ext cx="885194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Sistemas operativos y memoria</a:t>
            </a:r>
            <a:endParaRPr dirty="0">
              <a:latin typeface="+mj-lt"/>
            </a:endParaRPr>
          </a:p>
        </p:txBody>
      </p:sp>
      <p:sp>
        <p:nvSpPr>
          <p:cNvPr id="606" name="Google Shape;606;p37"/>
          <p:cNvSpPr txBox="1">
            <a:spLocks noGrp="1"/>
          </p:cNvSpPr>
          <p:nvPr>
            <p:ph type="body" idx="1"/>
          </p:nvPr>
        </p:nvSpPr>
        <p:spPr>
          <a:xfrm>
            <a:off x="464307" y="932102"/>
            <a:ext cx="5317061" cy="217935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Primeros sistemas operativos</a:t>
            </a:r>
            <a:endParaRPr sz="2400" dirty="0">
              <a:solidFill>
                <a:schemeClr val="accent1"/>
              </a:solidFill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El sistema operativo consistía en un conjunto de rutinas (biblioteca) que se encontraba al inicio de la memoria física.</a:t>
            </a:r>
            <a:endParaRPr sz="20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000" dirty="0">
                <a:latin typeface="+mn-lt"/>
              </a:rPr>
              <a:t>Solo se cargaba </a:t>
            </a:r>
            <a:r>
              <a:rPr lang="es-ES" sz="2000" b="1" dirty="0">
                <a:solidFill>
                  <a:srgbClr val="FF0000"/>
                </a:solidFill>
                <a:latin typeface="+mn-lt"/>
              </a:rPr>
              <a:t>un solo proceso</a:t>
            </a:r>
            <a:r>
              <a:rPr lang="es-ES" sz="2000" dirty="0">
                <a:latin typeface="+mn-lt"/>
              </a:rPr>
              <a:t> en el resto de la memoria. 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pic>
        <p:nvPicPr>
          <p:cNvPr id="607" name="Google Shape;60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0650" y="1247319"/>
            <a:ext cx="2624175" cy="47080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upo 1">
            <a:extLst>
              <a:ext uri="{FF2B5EF4-FFF2-40B4-BE49-F238E27FC236}">
                <a16:creationId xmlns:a16="http://schemas.microsoft.com/office/drawing/2014/main" id="{7DD7B8BC-D1FB-459C-BB1E-9F834CC80975}"/>
              </a:ext>
            </a:extLst>
          </p:cNvPr>
          <p:cNvGrpSpPr/>
          <p:nvPr/>
        </p:nvGrpSpPr>
        <p:grpSpPr>
          <a:xfrm>
            <a:off x="5895809" y="1001754"/>
            <a:ext cx="3473512" cy="2012137"/>
            <a:chOff x="464307" y="3548005"/>
            <a:chExt cx="3473512" cy="2012137"/>
          </a:xfrm>
        </p:grpSpPr>
        <p:sp>
          <p:nvSpPr>
            <p:cNvPr id="608" name="Google Shape;608;p37"/>
            <p:cNvSpPr/>
            <p:nvPr/>
          </p:nvSpPr>
          <p:spPr>
            <a:xfrm>
              <a:off x="464307" y="3548005"/>
              <a:ext cx="3473512" cy="2012137"/>
            </a:xfrm>
            <a:prstGeom prst="irregularSeal2">
              <a:avLst/>
            </a:prstGeom>
            <a:solidFill>
              <a:srgbClr val="FFFF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37"/>
            <p:cNvSpPr txBox="1"/>
            <p:nvPr/>
          </p:nvSpPr>
          <p:spPr>
            <a:xfrm>
              <a:off x="1111722" y="4043838"/>
              <a:ext cx="1896950" cy="107975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 b="1" dirty="0">
                  <a:solidFill>
                    <a:srgbClr val="FF0000"/>
                  </a:solidFill>
                  <a:ea typeface="Roboto"/>
                  <a:cs typeface="Roboto"/>
                  <a:sym typeface="Roboto"/>
                </a:rPr>
                <a:t>Bajo nivel de utilización - poco eficiente</a:t>
              </a:r>
              <a:endParaRPr b="1" dirty="0">
                <a:solidFill>
                  <a:srgbClr val="FF0000"/>
                </a:solidFill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38"/>
          <p:cNvSpPr txBox="1">
            <a:spLocks noGrp="1"/>
          </p:cNvSpPr>
          <p:nvPr>
            <p:ph type="title"/>
          </p:nvPr>
        </p:nvSpPr>
        <p:spPr>
          <a:xfrm>
            <a:off x="368710" y="96038"/>
            <a:ext cx="885194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Sistemas operativos y memoria</a:t>
            </a:r>
            <a:endParaRPr dirty="0"/>
          </a:p>
        </p:txBody>
      </p:sp>
      <p:sp>
        <p:nvSpPr>
          <p:cNvPr id="615" name="Google Shape;615;p38"/>
          <p:cNvSpPr txBox="1">
            <a:spLocks noGrp="1"/>
          </p:cNvSpPr>
          <p:nvPr>
            <p:ph type="body" idx="1"/>
          </p:nvPr>
        </p:nvSpPr>
        <p:spPr>
          <a:xfrm>
            <a:off x="368710" y="890587"/>
            <a:ext cx="5727290" cy="269327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Multiprogramación - tiempo compartido</a:t>
            </a:r>
            <a:endParaRPr sz="3200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>
                <a:latin typeface="+mn-lt"/>
              </a:rPr>
              <a:t>Carga múltiples procesos en memoria</a:t>
            </a:r>
            <a:endParaRPr sz="20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</a:rPr>
              <a:t>Ejecuta un proceso por un periodo corto de tiempo.</a:t>
            </a:r>
            <a:endParaRPr sz="20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</a:rPr>
              <a:t>Cambia uso de CPU entre procesos.</a:t>
            </a:r>
            <a:endParaRPr sz="20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000" dirty="0">
                <a:latin typeface="+mn-lt"/>
              </a:rPr>
              <a:t>Incrementa utilización y eficiencia.</a:t>
            </a:r>
            <a:endParaRPr sz="20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>
                <a:latin typeface="+mn-lt"/>
              </a:rPr>
              <a:t>Crea un problema de </a:t>
            </a:r>
            <a:r>
              <a:rPr lang="es-ES" sz="2000" b="1" dirty="0">
                <a:solidFill>
                  <a:srgbClr val="FF0000"/>
                </a:solidFill>
                <a:latin typeface="+mn-lt"/>
              </a:rPr>
              <a:t>protección</a:t>
            </a:r>
            <a:r>
              <a:rPr lang="es-ES" sz="2000" dirty="0">
                <a:latin typeface="+mn-lt"/>
              </a:rPr>
              <a:t>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616" name="Google Shape;61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74557" y="1045538"/>
            <a:ext cx="2601250" cy="52093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7" name="Google Shape;617;p38"/>
          <p:cNvGrpSpPr/>
          <p:nvPr/>
        </p:nvGrpSpPr>
        <p:grpSpPr>
          <a:xfrm>
            <a:off x="5918402" y="1045538"/>
            <a:ext cx="3156155" cy="2317827"/>
            <a:chOff x="1314050" y="4447499"/>
            <a:chExt cx="6076346" cy="2637446"/>
          </a:xfrm>
        </p:grpSpPr>
        <p:sp>
          <p:nvSpPr>
            <p:cNvPr id="618" name="Google Shape;618;p38"/>
            <p:cNvSpPr/>
            <p:nvPr/>
          </p:nvSpPr>
          <p:spPr>
            <a:xfrm>
              <a:off x="1314050" y="4447499"/>
              <a:ext cx="6076346" cy="2637446"/>
            </a:xfrm>
            <a:prstGeom prst="irregularSeal2">
              <a:avLst/>
            </a:prstGeom>
            <a:solidFill>
              <a:srgbClr val="FFFF00"/>
            </a:solidFill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 txBox="1"/>
            <p:nvPr/>
          </p:nvSpPr>
          <p:spPr>
            <a:xfrm>
              <a:off x="2641628" y="5070566"/>
              <a:ext cx="3158696" cy="14037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480"/>
                </a:spcBef>
                <a:spcAft>
                  <a:spcPts val="0"/>
                </a:spcAft>
                <a:buNone/>
              </a:pPr>
              <a:r>
                <a:rPr lang="es-ES" sz="1600" b="1" dirty="0">
                  <a:solidFill>
                    <a:srgbClr val="FF0000"/>
                  </a:solidFill>
                  <a:ea typeface="Roboto"/>
                  <a:cs typeface="Roboto"/>
                  <a:sym typeface="Roboto"/>
                </a:rPr>
                <a:t>¡Accesos de memoria ilegales de otros procesos!</a:t>
              </a:r>
              <a:endParaRPr sz="1600" b="1" dirty="0">
                <a:solidFill>
                  <a:srgbClr val="FF0000"/>
                </a:solidFill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40"/>
          <p:cNvSpPr txBox="1">
            <a:spLocks noGrp="1"/>
          </p:cNvSpPr>
          <p:nvPr>
            <p:ph type="title"/>
          </p:nvPr>
        </p:nvSpPr>
        <p:spPr>
          <a:xfrm>
            <a:off x="916649" y="96038"/>
            <a:ext cx="97316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Espacio de direcciones: Address Space</a:t>
            </a:r>
            <a:endParaRPr dirty="0">
              <a:latin typeface="+mj-lt"/>
            </a:endParaRPr>
          </a:p>
        </p:txBody>
      </p:sp>
      <p:sp>
        <p:nvSpPr>
          <p:cNvPr id="631" name="Google Shape;631;p40"/>
          <p:cNvSpPr txBox="1">
            <a:spLocks noGrp="1"/>
          </p:cNvSpPr>
          <p:nvPr>
            <p:ph type="body" idx="1"/>
          </p:nvPr>
        </p:nvSpPr>
        <p:spPr>
          <a:xfrm>
            <a:off x="4348850" y="1045550"/>
            <a:ext cx="7508700" cy="537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2"/>
                </a:solidFill>
                <a:latin typeface="+mn-lt"/>
              </a:rPr>
              <a:t>Abstracción </a:t>
            </a:r>
            <a:r>
              <a:rPr lang="es-ES" sz="2400" dirty="0">
                <a:latin typeface="+mn-lt"/>
              </a:rPr>
              <a:t>de la memoria física creada por el sistema operativo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>
                <a:latin typeface="+mn-lt"/>
              </a:rPr>
              <a:t>Contiene todos los datos e instrucciones de un proceso en ejecución</a:t>
            </a:r>
            <a:endParaRPr sz="2400" dirty="0"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C63E"/>
              </a:buClr>
              <a:buSzPts val="2400"/>
              <a:buChar char="○"/>
            </a:pPr>
            <a:r>
              <a:rPr lang="es-ES" sz="2400" dirty="0">
                <a:solidFill>
                  <a:srgbClr val="8CC63E"/>
                </a:solidFill>
                <a:latin typeface="+mn-lt"/>
              </a:rPr>
              <a:t>Program code (</a:t>
            </a:r>
            <a:r>
              <a:rPr lang="es-ES" sz="2400" dirty="0" err="1">
                <a:solidFill>
                  <a:srgbClr val="8CC63E"/>
                </a:solidFill>
                <a:latin typeface="+mn-lt"/>
              </a:rPr>
              <a:t>text</a:t>
            </a:r>
            <a:r>
              <a:rPr lang="es-ES" sz="2400" dirty="0">
                <a:solidFill>
                  <a:srgbClr val="8CC63E"/>
                </a:solidFill>
                <a:latin typeface="+mn-lt"/>
              </a:rPr>
              <a:t>)</a:t>
            </a:r>
            <a:endParaRPr sz="2400" dirty="0">
              <a:solidFill>
                <a:srgbClr val="8CC63E"/>
              </a:solidFill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C63E"/>
              </a:buClr>
              <a:buSzPts val="2400"/>
              <a:buChar char="○"/>
            </a:pPr>
            <a:r>
              <a:rPr lang="es-ES" sz="2400" dirty="0">
                <a:solidFill>
                  <a:srgbClr val="8CC63E"/>
                </a:solidFill>
                <a:latin typeface="+mn-lt"/>
              </a:rPr>
              <a:t>Data</a:t>
            </a:r>
            <a:endParaRPr sz="2400" dirty="0">
              <a:solidFill>
                <a:srgbClr val="8CC63E"/>
              </a:solidFill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6666"/>
              </a:buClr>
              <a:buSzPts val="2400"/>
              <a:buChar char="○"/>
            </a:pPr>
            <a:r>
              <a:rPr lang="es-ES" sz="2400" dirty="0">
                <a:solidFill>
                  <a:srgbClr val="E06666"/>
                </a:solidFill>
                <a:latin typeface="+mn-lt"/>
              </a:rPr>
              <a:t>Heap</a:t>
            </a:r>
            <a:endParaRPr sz="2400" dirty="0">
              <a:solidFill>
                <a:srgbClr val="E06666"/>
              </a:solidFill>
              <a:latin typeface="+mn-lt"/>
            </a:endParaRPr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2400"/>
              <a:buChar char="○"/>
            </a:pPr>
            <a:r>
              <a:rPr lang="es-ES" sz="2400" dirty="0">
                <a:solidFill>
                  <a:srgbClr val="3D85C6"/>
                </a:solidFill>
                <a:latin typeface="+mn-lt"/>
              </a:rPr>
              <a:t>Stack</a:t>
            </a:r>
            <a:endParaRPr sz="2400" dirty="0">
              <a:solidFill>
                <a:srgbClr val="3D85C6"/>
              </a:solidFill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632" name="Google Shape;632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975" y="1045550"/>
            <a:ext cx="5308600" cy="5536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41"/>
          <p:cNvSpPr txBox="1">
            <a:spLocks noGrp="1"/>
          </p:cNvSpPr>
          <p:nvPr>
            <p:ph type="title"/>
          </p:nvPr>
        </p:nvSpPr>
        <p:spPr>
          <a:xfrm>
            <a:off x="916649" y="96038"/>
            <a:ext cx="1054284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Espacio de direcciones: Address Space</a:t>
            </a:r>
            <a:endParaRPr dirty="0"/>
          </a:p>
        </p:txBody>
      </p:sp>
      <p:sp>
        <p:nvSpPr>
          <p:cNvPr id="638" name="Google Shape;638;p41"/>
          <p:cNvSpPr txBox="1">
            <a:spLocks noGrp="1"/>
          </p:cNvSpPr>
          <p:nvPr>
            <p:ph type="body" idx="1"/>
          </p:nvPr>
        </p:nvSpPr>
        <p:spPr>
          <a:xfrm>
            <a:off x="4092275" y="1045550"/>
            <a:ext cx="7730400" cy="51777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005CC5"/>
                </a:solidFill>
                <a:latin typeface="+mn-lt"/>
              </a:rPr>
              <a:t>Segmentos del espacio de direcciones</a:t>
            </a:r>
            <a:endParaRPr sz="2400" dirty="0">
              <a:solidFill>
                <a:srgbClr val="005CC5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solidFill>
                <a:srgbClr val="3D85C6"/>
              </a:solidFill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639" name="Google Shape;63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975" y="1045550"/>
            <a:ext cx="5308600" cy="55364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40" name="Google Shape;640;p41"/>
          <p:cNvGraphicFramePr/>
          <p:nvPr>
            <p:extLst>
              <p:ext uri="{D42A27DB-BD31-4B8C-83A1-F6EECF244321}">
                <p14:modId xmlns:p14="http://schemas.microsoft.com/office/powerpoint/2010/main" val="1104592559"/>
              </p:ext>
            </p:extLst>
          </p:nvPr>
        </p:nvGraphicFramePr>
        <p:xfrm>
          <a:off x="4512150" y="1908986"/>
          <a:ext cx="6890650" cy="3291750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212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3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200" b="1" dirty="0">
                          <a:solidFill>
                            <a:srgbClr val="FF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Program Code</a:t>
                      </a:r>
                      <a:endParaRPr sz="2200" b="1" dirty="0">
                        <a:solidFill>
                          <a:srgbClr val="FF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Instrucciones </a:t>
                      </a:r>
                      <a:endParaRPr sz="20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>
                          <a:latin typeface="Roboto"/>
                          <a:ea typeface="Roboto"/>
                          <a:cs typeface="Roboto"/>
                          <a:sym typeface="Roboto"/>
                        </a:rPr>
                        <a:t>Variables globales</a:t>
                      </a:r>
                      <a:endParaRPr sz="20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200" b="1" dirty="0">
                          <a:solidFill>
                            <a:srgbClr val="FF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Heap</a:t>
                      </a:r>
                      <a:endParaRPr sz="2200" b="1" dirty="0">
                        <a:solidFill>
                          <a:srgbClr val="FF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Memoria </a:t>
                      </a:r>
                      <a:r>
                        <a:rPr lang="es-ES" sz="2000" b="1" dirty="0">
                          <a:solidFill>
                            <a:schemeClr val="accent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asignada dinámicamente</a:t>
                      </a:r>
                      <a:endParaRPr sz="2000" b="1" dirty="0">
                        <a:solidFill>
                          <a:schemeClr val="accent6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914400" lvl="1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○"/>
                      </a:pPr>
                      <a:r>
                        <a:rPr lang="es-ES" sz="20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malloc</a:t>
                      </a:r>
                      <a:r>
                        <a:rPr lang="es-ES" sz="20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en C</a:t>
                      </a:r>
                      <a:endParaRPr sz="20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914400" lvl="1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○"/>
                      </a:pPr>
                      <a:r>
                        <a:rPr lang="es-ES" sz="20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new</a:t>
                      </a:r>
                      <a:r>
                        <a:rPr lang="es-ES" sz="20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en Java o C++</a:t>
                      </a:r>
                      <a:endParaRPr sz="20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200" b="1" dirty="0">
                          <a:solidFill>
                            <a:srgbClr val="FF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Stack</a:t>
                      </a:r>
                      <a:endParaRPr sz="2200" b="1" dirty="0">
                        <a:solidFill>
                          <a:srgbClr val="FF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Memoria </a:t>
                      </a:r>
                      <a:r>
                        <a:rPr lang="es-ES" sz="2000" b="1" dirty="0">
                          <a:solidFill>
                            <a:schemeClr val="accent6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automática</a:t>
                      </a:r>
                      <a:endParaRPr sz="2000" b="1" dirty="0">
                        <a:solidFill>
                          <a:schemeClr val="accent6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Direcciones y valores de retorno</a:t>
                      </a:r>
                      <a:endParaRPr sz="20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55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Roboto"/>
                        <a:buChar char="●"/>
                      </a:pPr>
                      <a:r>
                        <a:rPr lang="es-ES" sz="20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Variables locales y argumentos pasados a rutinas</a:t>
                      </a:r>
                      <a:endParaRPr sz="20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42"/>
          <p:cNvSpPr txBox="1">
            <a:spLocks noGrp="1"/>
          </p:cNvSpPr>
          <p:nvPr>
            <p:ph type="title"/>
          </p:nvPr>
        </p:nvSpPr>
        <p:spPr>
          <a:xfrm>
            <a:off x="916649" y="96038"/>
            <a:ext cx="1015938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Espacio de direcciones: Address Space</a:t>
            </a:r>
            <a:endParaRPr dirty="0"/>
          </a:p>
        </p:txBody>
      </p:sp>
      <p:sp>
        <p:nvSpPr>
          <p:cNvPr id="646" name="Google Shape;646;p42"/>
          <p:cNvSpPr txBox="1">
            <a:spLocks noGrp="1"/>
          </p:cNvSpPr>
          <p:nvPr>
            <p:ph type="body" idx="1"/>
          </p:nvPr>
        </p:nvSpPr>
        <p:spPr>
          <a:xfrm>
            <a:off x="557174" y="854975"/>
            <a:ext cx="8114877" cy="85955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</a:rPr>
              <a:t>Todas las direcciones creadas por un programa son virtuales!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</a:rPr>
              <a:t>El SO traduce las direcciones </a:t>
            </a:r>
            <a:r>
              <a:rPr lang="es-ES" sz="2000" b="1" dirty="0">
                <a:solidFill>
                  <a:srgbClr val="FF0000"/>
                </a:solidFill>
                <a:latin typeface="+mn-lt"/>
              </a:rPr>
              <a:t>virtuales</a:t>
            </a:r>
            <a:r>
              <a:rPr lang="es-ES" sz="2000" dirty="0">
                <a:latin typeface="+mn-lt"/>
              </a:rPr>
              <a:t> a direcciones </a:t>
            </a:r>
            <a:r>
              <a:rPr lang="es-ES" sz="2000" b="1" dirty="0">
                <a:solidFill>
                  <a:schemeClr val="accent5"/>
                </a:solidFill>
                <a:latin typeface="+mn-lt"/>
              </a:rPr>
              <a:t>físicas</a:t>
            </a:r>
            <a:r>
              <a:rPr lang="es-ES" sz="2000" dirty="0">
                <a:latin typeface="+mn-lt"/>
              </a:rPr>
              <a:t>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  <p:sp>
        <p:nvSpPr>
          <p:cNvPr id="647" name="Google Shape;647;p42"/>
          <p:cNvSpPr txBox="1"/>
          <p:nvPr/>
        </p:nvSpPr>
        <p:spPr>
          <a:xfrm>
            <a:off x="1109912" y="1714526"/>
            <a:ext cx="7318563" cy="2623393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</a:t>
            </a:r>
            <a:r>
              <a:rPr lang="es-ES" sz="16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include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s-ES" sz="16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stdio.h</a:t>
            </a:r>
            <a:r>
              <a:rPr lang="es-ES" sz="16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600" dirty="0">
              <a:solidFill>
                <a:srgbClr val="032F62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</a:t>
            </a:r>
            <a:r>
              <a:rPr lang="es-ES" sz="16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include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s-ES" sz="1600" dirty="0" err="1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stdlib.h</a:t>
            </a:r>
            <a:r>
              <a:rPr lang="es-ES" sz="1600" dirty="0">
                <a:solidFill>
                  <a:srgbClr val="032F62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600" dirty="0">
              <a:solidFill>
                <a:srgbClr val="032F62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>
                <a:solidFill>
                  <a:srgbClr val="6F42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6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argc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s-ES" sz="16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char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 {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printf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("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location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code  : %p\n", (</a:t>
            </a:r>
            <a:r>
              <a:rPr lang="es-ES" sz="16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*) main);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printf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("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location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heap  : %p\n", (</a:t>
            </a:r>
            <a:r>
              <a:rPr lang="es-ES" sz="16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*) malloc(</a:t>
            </a:r>
            <a:r>
              <a:rPr lang="es-ES" sz="1600" dirty="0">
                <a:solidFill>
                  <a:srgbClr val="0B6937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x = 3;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printf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("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location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stack : %p\n", (</a:t>
            </a:r>
            <a:r>
              <a:rPr lang="es-ES" sz="16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*) &amp;x);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>
                <a:solidFill>
                  <a:srgbClr val="005CC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48" name="Google Shape;648;p42"/>
          <p:cNvSpPr txBox="1"/>
          <p:nvPr/>
        </p:nvSpPr>
        <p:spPr>
          <a:xfrm>
            <a:off x="1109911" y="5107225"/>
            <a:ext cx="7318563" cy="106949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location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code  : 0x40057d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location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heap  : 0xcf2010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location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stack : 0x7fff9ca45fcc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49" name="Google Shape;64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30502" y="1144620"/>
            <a:ext cx="2904324" cy="513422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C7999B98-F97C-420E-8134-1AE9186D6E1B}"/>
              </a:ext>
            </a:extLst>
          </p:cNvPr>
          <p:cNvSpPr txBox="1"/>
          <p:nvPr/>
        </p:nvSpPr>
        <p:spPr>
          <a:xfrm>
            <a:off x="1954617" y="4252734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Ejemplo</a:t>
            </a: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. </a:t>
            </a:r>
            <a:r>
              <a:rPr lang="es-ES" sz="1800" u="sng" dirty="0">
                <a:solidFill>
                  <a:schemeClr val="hlink"/>
                </a:solidFill>
                <a:ea typeface="Roboto"/>
                <a:cs typeface="Roboto"/>
                <a:sym typeface="Roboto"/>
                <a:hlinkClick r:id="rId4"/>
              </a:rPr>
              <a:t>va.c</a:t>
            </a: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(</a:t>
            </a:r>
            <a:r>
              <a:rPr lang="es-ES" sz="1800" u="sng" dirty="0">
                <a:solidFill>
                  <a:schemeClr val="hlink"/>
                </a:solidFill>
                <a:ea typeface="Roboto"/>
                <a:cs typeface="Roboto"/>
                <a:sym typeface="Roboto"/>
                <a:hlinkClick r:id="rId5"/>
              </a:rPr>
              <a:t>simulación</a:t>
            </a:r>
            <a:r>
              <a:rPr lang="es-ES" sz="18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) 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DF70CAC-88A8-4B03-B856-F6A7D6DBE82C}"/>
              </a:ext>
            </a:extLst>
          </p:cNvPr>
          <p:cNvSpPr txBox="1"/>
          <p:nvPr/>
        </p:nvSpPr>
        <p:spPr>
          <a:xfrm>
            <a:off x="1719963" y="6068530"/>
            <a:ext cx="6098458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output in 64-bit Linux machine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4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06800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+mj-lt"/>
              </a:rPr>
              <a:t>Espacio de direcciones: Address Space</a:t>
            </a:r>
            <a:endParaRPr dirty="0"/>
          </a:p>
        </p:txBody>
      </p:sp>
      <p:sp>
        <p:nvSpPr>
          <p:cNvPr id="657" name="Google Shape;657;p43"/>
          <p:cNvSpPr txBox="1">
            <a:spLocks noGrp="1"/>
          </p:cNvSpPr>
          <p:nvPr>
            <p:ph type="body" idx="1"/>
          </p:nvPr>
        </p:nvSpPr>
        <p:spPr>
          <a:xfrm>
            <a:off x="916650" y="829400"/>
            <a:ext cx="10789500" cy="299043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Ejemplo</a:t>
            </a:r>
            <a:endParaRPr sz="3400" dirty="0">
              <a:solidFill>
                <a:schemeClr val="accent1"/>
              </a:solidFill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Dado el siguiente fragmento de código (</a:t>
            </a:r>
            <a:r>
              <a:rPr lang="es-ES" sz="2200" u="sng" dirty="0">
                <a:solidFill>
                  <a:schemeClr val="hlink"/>
                </a:solidFill>
                <a:latin typeface="+mn-lt"/>
                <a:hlinkClick r:id="rId3"/>
              </a:rPr>
              <a:t>link</a:t>
            </a:r>
            <a:r>
              <a:rPr lang="es-ES" sz="2200" dirty="0">
                <a:latin typeface="+mn-lt"/>
              </a:rPr>
              <a:t>). 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dirty="0">
                <a:latin typeface="+mn-lt"/>
              </a:rPr>
              <a:t>¿A qué segmento pertenece cada una de las variables mencionadas?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658" name="Google Shape;658;p43"/>
          <p:cNvSpPr txBox="1"/>
          <p:nvPr/>
        </p:nvSpPr>
        <p:spPr>
          <a:xfrm>
            <a:off x="1103700" y="1969250"/>
            <a:ext cx="10520400" cy="131964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solidFill>
                  <a:srgbClr val="D73A4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x;</a:t>
            </a:r>
            <a:endParaRPr sz="1600" dirty="0">
              <a:solidFill>
                <a:srgbClr val="D73A49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>
                <a:solidFill>
                  <a:srgbClr val="6F42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600" dirty="0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argc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s-ES" sz="1600" dirty="0" err="1">
                <a:solidFill>
                  <a:srgbClr val="D73A4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char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 {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>
                <a:solidFill>
                  <a:srgbClr val="D73A4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y;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>
                <a:solidFill>
                  <a:srgbClr val="D73A4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*z = </a:t>
            </a:r>
            <a:r>
              <a:rPr lang="es-ES" sz="1600" dirty="0">
                <a:solidFill>
                  <a:srgbClr val="005CC5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malloc</a:t>
            </a:r>
            <a:r>
              <a:rPr lang="es-ES" sz="1600" dirty="0">
                <a:solidFill>
                  <a:srgbClr val="24292E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600" dirty="0" err="1">
                <a:solidFill>
                  <a:srgbClr val="D73A4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sizeof</a:t>
            </a:r>
            <a:r>
              <a:rPr lang="es-ES" sz="1600" dirty="0">
                <a:solidFill>
                  <a:srgbClr val="24292E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s-ES" sz="1600" dirty="0">
                <a:solidFill>
                  <a:srgbClr val="D73A4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rgbClr val="24292E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solidFill>
                  <a:srgbClr val="2429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24292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graphicFrame>
        <p:nvGraphicFramePr>
          <p:cNvPr id="659" name="Google Shape;659;p43"/>
          <p:cNvGraphicFramePr/>
          <p:nvPr>
            <p:extLst>
              <p:ext uri="{D42A27DB-BD31-4B8C-83A1-F6EECF244321}">
                <p14:modId xmlns:p14="http://schemas.microsoft.com/office/powerpoint/2010/main" val="508738431"/>
              </p:ext>
            </p:extLst>
          </p:nvPr>
        </p:nvGraphicFramePr>
        <p:xfrm>
          <a:off x="3996759" y="4398304"/>
          <a:ext cx="5452600" cy="2163930"/>
        </p:xfrm>
        <a:graphic>
          <a:graphicData uri="http://schemas.openxmlformats.org/drawingml/2006/table">
            <a:tbl>
              <a:tblPr>
                <a:noFill/>
                <a:tableStyleId>{A3A52A41-BABC-4418-8BB8-58FADEB799A8}</a:tableStyleId>
              </a:tblPr>
              <a:tblGrid>
                <a:gridCol w="1592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0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/>
                        <a:t>Variable</a:t>
                      </a:r>
                      <a:endParaRPr sz="1800" b="1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dirty="0"/>
                        <a:t>Location (heap, stack, code)</a:t>
                      </a:r>
                      <a:endParaRPr sz="18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x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main</a:t>
                      </a:r>
                      <a:endParaRPr sz="16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z</a:t>
                      </a:r>
                      <a:endParaRPr sz="16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60" name="Google Shape;660;p43"/>
          <p:cNvGrpSpPr/>
          <p:nvPr/>
        </p:nvGrpSpPr>
        <p:grpSpPr>
          <a:xfrm>
            <a:off x="2047688" y="4398426"/>
            <a:ext cx="1377408" cy="2163839"/>
            <a:chOff x="1775100" y="4022850"/>
            <a:chExt cx="1076100" cy="1739700"/>
          </a:xfrm>
        </p:grpSpPr>
        <p:sp>
          <p:nvSpPr>
            <p:cNvPr id="661" name="Google Shape;661;p43"/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62" name="Google Shape;662;p43"/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663" name="Google Shape;663;p43"/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664" name="Google Shape;664;p43"/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 sz="2200"/>
              </a:p>
            </p:txBody>
          </p:sp>
          <p:sp>
            <p:nvSpPr>
              <p:cNvPr id="665" name="Google Shape;665;p43"/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666" name="Google Shape;666;p43"/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667" name="Google Shape;667;p43"/>
              <p:cNvCxnSpPr>
                <a:stCxn id="665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668" name="Google Shape;668;p43"/>
              <p:cNvCxnSpPr>
                <a:stCxn id="666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5" name="Google Shape;660;p43">
            <a:extLst>
              <a:ext uri="{FF2B5EF4-FFF2-40B4-BE49-F238E27FC236}">
                <a16:creationId xmlns:a16="http://schemas.microsoft.com/office/drawing/2014/main" id="{E77CE16F-DA0A-465F-81C2-CCA2BE665DBC}"/>
              </a:ext>
            </a:extLst>
          </p:cNvPr>
          <p:cNvGrpSpPr/>
          <p:nvPr/>
        </p:nvGrpSpPr>
        <p:grpSpPr>
          <a:xfrm>
            <a:off x="9984658" y="4398304"/>
            <a:ext cx="1377408" cy="2163839"/>
            <a:chOff x="1775100" y="4022850"/>
            <a:chExt cx="1076100" cy="1739700"/>
          </a:xfrm>
        </p:grpSpPr>
        <p:sp>
          <p:nvSpPr>
            <p:cNvPr id="16" name="Google Shape;661;p43">
              <a:extLst>
                <a:ext uri="{FF2B5EF4-FFF2-40B4-BE49-F238E27FC236}">
                  <a16:creationId xmlns:a16="http://schemas.microsoft.com/office/drawing/2014/main" id="{B3A1BDA0-C30F-4D3A-8197-780F7CBE2927}"/>
                </a:ext>
              </a:extLst>
            </p:cNvPr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" name="Google Shape;662;p43">
              <a:extLst>
                <a:ext uri="{FF2B5EF4-FFF2-40B4-BE49-F238E27FC236}">
                  <a16:creationId xmlns:a16="http://schemas.microsoft.com/office/drawing/2014/main" id="{3217F360-45AD-4E54-8B44-4FEBB006D755}"/>
                </a:ext>
              </a:extLst>
            </p:cNvPr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18" name="Google Shape;663;p43">
                <a:extLst>
                  <a:ext uri="{FF2B5EF4-FFF2-40B4-BE49-F238E27FC236}">
                    <a16:creationId xmlns:a16="http://schemas.microsoft.com/office/drawing/2014/main" id="{C125966E-6D8B-4A28-B0BD-21FBB2E87D8F}"/>
                  </a:ext>
                </a:extLst>
              </p:cNvPr>
              <p:cNvSpPr/>
              <p:nvPr/>
            </p:nvSpPr>
            <p:spPr>
              <a:xfrm>
                <a:off x="7948250" y="2813125"/>
                <a:ext cx="1076100" cy="451341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Program code</a:t>
                </a:r>
                <a:endParaRPr sz="16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20" name="Google Shape;665;p43">
                <a:extLst>
                  <a:ext uri="{FF2B5EF4-FFF2-40B4-BE49-F238E27FC236}">
                    <a16:creationId xmlns:a16="http://schemas.microsoft.com/office/drawing/2014/main" id="{E8038F88-9141-4348-964A-7C1C6403A755}"/>
                  </a:ext>
                </a:extLst>
              </p:cNvPr>
              <p:cNvSpPr/>
              <p:nvPr/>
            </p:nvSpPr>
            <p:spPr>
              <a:xfrm>
                <a:off x="7948250" y="3263763"/>
                <a:ext cx="1076100" cy="2844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 sz="2200" dirty="0"/>
              </a:p>
            </p:txBody>
          </p:sp>
          <p:sp>
            <p:nvSpPr>
              <p:cNvPr id="21" name="Google Shape;666;p43">
                <a:extLst>
                  <a:ext uri="{FF2B5EF4-FFF2-40B4-BE49-F238E27FC236}">
                    <a16:creationId xmlns:a16="http://schemas.microsoft.com/office/drawing/2014/main" id="{59E1F9ED-1A68-4DA1-80AD-63F0E57DDBFB}"/>
                  </a:ext>
                </a:extLst>
              </p:cNvPr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 dirty="0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 sz="2200" dirty="0"/>
              </a:p>
            </p:txBody>
          </p:sp>
          <p:cxnSp>
            <p:nvCxnSpPr>
              <p:cNvPr id="22" name="Google Shape;667;p43">
                <a:extLst>
                  <a:ext uri="{FF2B5EF4-FFF2-40B4-BE49-F238E27FC236}">
                    <a16:creationId xmlns:a16="http://schemas.microsoft.com/office/drawing/2014/main" id="{A7F75344-8AD3-4D3F-B622-CB6F256166BA}"/>
                  </a:ext>
                </a:extLst>
              </p:cNvPr>
              <p:cNvCxnSpPr>
                <a:stCxn id="20" idx="2"/>
              </p:cNvCxnSpPr>
              <p:nvPr/>
            </p:nvCxnSpPr>
            <p:spPr>
              <a:xfrm>
                <a:off x="8486300" y="3548164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23" name="Google Shape;668;p43">
                <a:extLst>
                  <a:ext uri="{FF2B5EF4-FFF2-40B4-BE49-F238E27FC236}">
                    <a16:creationId xmlns:a16="http://schemas.microsoft.com/office/drawing/2014/main" id="{1A5C90C9-69FD-4B60-8085-1F81FFB473B3}"/>
                  </a:ext>
                </a:extLst>
              </p:cNvPr>
              <p:cNvCxnSpPr>
                <a:stCxn id="21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6C3839F-3D80-4CEA-89E0-03783F50AEA7}"/>
              </a:ext>
            </a:extLst>
          </p:cNvPr>
          <p:cNvSpPr txBox="1"/>
          <p:nvPr/>
        </p:nvSpPr>
        <p:spPr>
          <a:xfrm>
            <a:off x="9905277" y="3827765"/>
            <a:ext cx="1536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800" b="1" dirty="0" err="1">
                <a:latin typeface="+mn-lt"/>
              </a:rPr>
              <a:t>Ostep</a:t>
            </a:r>
            <a:endParaRPr lang="es-CO" b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4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/>
              <a:t>Referencias</a:t>
            </a:r>
            <a:endParaRPr sz="3200" b="1">
              <a:solidFill>
                <a:srgbClr val="701E5C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674" name="Google Shape;674;p44"/>
          <p:cNvSpPr txBox="1">
            <a:spLocks noGrp="1"/>
          </p:cNvSpPr>
          <p:nvPr>
            <p:ph type="body" idx="1"/>
          </p:nvPr>
        </p:nvSpPr>
        <p:spPr>
          <a:xfrm>
            <a:off x="1011900" y="1058100"/>
            <a:ext cx="10515600" cy="565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b="1"/>
              <a:t>Operating Systems Three Easy Pieces </a:t>
            </a:r>
            <a:r>
              <a:rPr lang="es-ES" sz="2200"/>
              <a:t>(</a:t>
            </a:r>
            <a:r>
              <a:rPr lang="es-ES" sz="2200" u="sng">
                <a:solidFill>
                  <a:schemeClr val="hlink"/>
                </a:solidFill>
                <a:hlinkClick r:id="rId3"/>
              </a:rPr>
              <a:t>website</a:t>
            </a:r>
            <a:r>
              <a:rPr lang="es-ES" sz="2200"/>
              <a:t>: Capítulos </a:t>
            </a:r>
            <a:r>
              <a:rPr lang="es-ES" sz="2200" u="sng">
                <a:solidFill>
                  <a:schemeClr val="hlink"/>
                </a:solidFill>
                <a:hlinkClick r:id="rId4"/>
              </a:rPr>
              <a:t>1</a:t>
            </a:r>
            <a:r>
              <a:rPr lang="es-ES" sz="2200"/>
              <a:t> y </a:t>
            </a:r>
            <a:r>
              <a:rPr lang="es-ES" sz="2200" u="sng">
                <a:solidFill>
                  <a:schemeClr val="hlink"/>
                </a:solidFill>
                <a:hlinkClick r:id="rId5"/>
              </a:rPr>
              <a:t>2</a:t>
            </a:r>
            <a:r>
              <a:rPr lang="es-ES" sz="2200"/>
              <a:t>)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/>
              <a:t>Videos de youtube: Clase 1 - Introducción a los sistemas operativos (</a:t>
            </a:r>
            <a:r>
              <a:rPr lang="es-ES" sz="2200" u="sng">
                <a:solidFill>
                  <a:schemeClr val="hlink"/>
                </a:solidFill>
                <a:hlinkClick r:id="rId6"/>
              </a:rPr>
              <a:t>link</a:t>
            </a:r>
            <a:r>
              <a:rPr lang="es-ES" sz="2200"/>
              <a:t>).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/>
              <a:t>Página de Remzi H. Arpaci-Dusseau (</a:t>
            </a:r>
            <a:r>
              <a:rPr lang="es-ES" sz="2200" u="sng">
                <a:solidFill>
                  <a:schemeClr val="hlink"/>
                </a:solidFill>
                <a:hlinkClick r:id="rId7"/>
              </a:rPr>
              <a:t>link</a:t>
            </a:r>
            <a:r>
              <a:rPr lang="es-ES" sz="2200"/>
              <a:t>)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/>
              <a:t>Operating System Concepts - Tenth Edition (</a:t>
            </a:r>
            <a:r>
              <a:rPr lang="es-ES" sz="2200" u="sng">
                <a:solidFill>
                  <a:schemeClr val="hlink"/>
                </a:solidFill>
                <a:hlinkClick r:id="rId8"/>
              </a:rPr>
              <a:t>website</a:t>
            </a:r>
            <a:r>
              <a:rPr lang="es-ES" sz="2200"/>
              <a:t>)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/>
              <a:t>Operating Systems Notes (</a:t>
            </a:r>
            <a:r>
              <a:rPr lang="es-ES" sz="2200" u="sng">
                <a:solidFill>
                  <a:schemeClr val="hlink"/>
                </a:solidFill>
                <a:hlinkClick r:id="rId9"/>
              </a:rPr>
              <a:t>link</a:t>
            </a:r>
            <a:r>
              <a:rPr lang="es-ES" sz="2200"/>
              <a:t>)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>
                <a:solidFill>
                  <a:schemeClr val="hlink"/>
                </a:solidFill>
                <a:hlinkClick r:id="rId10"/>
              </a:rPr>
              <a:t>https://github.com/Aniruddha-Tapas/Operating-Systems-Notes/blob/master/1-Overview.md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>
                <a:solidFill>
                  <a:schemeClr val="hlink"/>
                </a:solidFill>
                <a:hlinkClick r:id="rId11"/>
              </a:rPr>
              <a:t>https://myaut.github.io/dtrace-stap-book/kernel/proc.html</a:t>
            </a:r>
            <a:r>
              <a:rPr lang="es-ES" sz="2200"/>
              <a:t> 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>
                <a:solidFill>
                  <a:schemeClr val="hlink"/>
                </a:solidFill>
                <a:hlinkClick r:id="rId12"/>
              </a:rPr>
              <a:t>https://myaut.github.io/dtrace-stap-book/index.html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>
                <a:solidFill>
                  <a:schemeClr val="hlink"/>
                </a:solidFill>
                <a:hlinkClick r:id="rId13"/>
              </a:rPr>
              <a:t>https://www.technologyuk.net/computing/computer-software/operating-systems/operating-system-utilities.shtml</a:t>
            </a:r>
            <a:r>
              <a:rPr lang="es-ES" sz="2200"/>
              <a:t> 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>
                <a:solidFill>
                  <a:schemeClr val="hlink"/>
                </a:solidFill>
                <a:hlinkClick r:id="rId14"/>
              </a:rPr>
              <a:t>http://www.it.uu.se/education/course/homepage/os/vt18/module-4/simple-threads/</a:t>
            </a:r>
            <a:r>
              <a:rPr lang="es-ES" sz="2200"/>
              <a:t> 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200" u="sng">
                <a:solidFill>
                  <a:schemeClr val="hlink"/>
                </a:solidFill>
                <a:hlinkClick r:id="rId15"/>
              </a:rPr>
              <a:t>https://courses.cs.duke.edu/spring19/compsci590.1/slides/</a:t>
            </a:r>
            <a:r>
              <a:rPr lang="es-ES" sz="2200"/>
              <a:t> </a:t>
            </a:r>
            <a:endParaRPr sz="220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200" u="sng">
                <a:solidFill>
                  <a:schemeClr val="hlink"/>
                </a:solidFill>
                <a:hlinkClick r:id="rId16"/>
              </a:rPr>
              <a:t>http://csl.snu.ac.kr/courses/4190.307/2020-1/</a:t>
            </a:r>
            <a:r>
              <a:rPr lang="es-ES" sz="2200"/>
              <a:t> </a:t>
            </a:r>
            <a:endParaRPr sz="2200"/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200"/>
              <a:t> </a:t>
            </a:r>
            <a:endParaRPr sz="2200"/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9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</TotalTime>
  <Words>2126</Words>
  <Application>Microsoft Office PowerPoint</Application>
  <PresentationFormat>Panorámica</PresentationFormat>
  <Paragraphs>612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3" baseType="lpstr">
      <vt:lpstr>Roboto Slab</vt:lpstr>
      <vt:lpstr>Courier New</vt:lpstr>
      <vt:lpstr>Arial</vt:lpstr>
      <vt:lpstr>Calibri</vt:lpstr>
      <vt:lpstr>Calibri Light</vt:lpstr>
      <vt:lpstr>Times New Roman</vt:lpstr>
      <vt:lpstr>Roboto</vt:lpstr>
      <vt:lpstr>Tema de Office</vt:lpstr>
      <vt:lpstr>Apuntes – Clase 7</vt:lpstr>
      <vt:lpstr>Proceso</vt:lpstr>
      <vt:lpstr>Virtualización de CPU</vt:lpstr>
      <vt:lpstr>Implementación de la Virtualización</vt:lpstr>
      <vt:lpstr>Abstracción CPU - Proceso</vt:lpstr>
      <vt:lpstr>Mecanismos CPU  - Proceso</vt:lpstr>
      <vt:lpstr>Políticas CPU - Proceso</vt:lpstr>
      <vt:lpstr>Virtualización de Memoria - Contextualización</vt:lpstr>
      <vt:lpstr>Virtualización de Memoria - Contextualización</vt:lpstr>
      <vt:lpstr>Virtualización de Memoria - Contextualización</vt:lpstr>
      <vt:lpstr>Virtualización de Memoria - Contextualización</vt:lpstr>
      <vt:lpstr>Virtualización de Memoria - Contextualización</vt:lpstr>
      <vt:lpstr>Virtualización de Memoria - Contextualización</vt:lpstr>
      <vt:lpstr>Virtualización de Memoria - Contextualización</vt:lpstr>
      <vt:lpstr>Virtualización de Memoria - Contextualización</vt:lpstr>
      <vt:lpstr>Virtualización de Memoria - Contextualización</vt:lpstr>
      <vt:lpstr>Virtualización de Memoria - Contextualización</vt:lpstr>
      <vt:lpstr>Beneficios de la virtualización de Memoria</vt:lpstr>
      <vt:lpstr>Sistemas operativos y memoria</vt:lpstr>
      <vt:lpstr>Sistemas operativos y memoria</vt:lpstr>
      <vt:lpstr>Espacio de direcciones: Address Space</vt:lpstr>
      <vt:lpstr>Espacio de direcciones: Address Space</vt:lpstr>
      <vt:lpstr>Espacio de direcciones: Address Space</vt:lpstr>
      <vt:lpstr>Espacio de direcciones: Address Space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Apuntes – Clase 7</dc:title>
  <dc:creator>Usuario</dc:creator>
  <cp:lastModifiedBy>HENRY ALBERTO ARCILA RAMIREZ</cp:lastModifiedBy>
  <cp:revision>10</cp:revision>
  <dcterms:modified xsi:type="dcterms:W3CDTF">2026-03-17T11:14:59Z</dcterms:modified>
</cp:coreProperties>
</file>