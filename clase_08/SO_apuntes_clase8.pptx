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33"/>
  </p:notesMasterIdLst>
  <p:sldIdLst>
    <p:sldId id="256" r:id="rId2"/>
    <p:sldId id="259" r:id="rId3"/>
    <p:sldId id="270" r:id="rId4"/>
    <p:sldId id="271" r:id="rId5"/>
    <p:sldId id="287" r:id="rId6"/>
    <p:sldId id="289" r:id="rId7"/>
    <p:sldId id="290" r:id="rId8"/>
    <p:sldId id="291" r:id="rId9"/>
    <p:sldId id="265" r:id="rId10"/>
    <p:sldId id="292" r:id="rId11"/>
    <p:sldId id="293" r:id="rId12"/>
    <p:sldId id="294" r:id="rId13"/>
    <p:sldId id="295" r:id="rId14"/>
    <p:sldId id="297" r:id="rId15"/>
    <p:sldId id="298" r:id="rId16"/>
    <p:sldId id="299" r:id="rId17"/>
    <p:sldId id="300" r:id="rId18"/>
    <p:sldId id="275" r:id="rId19"/>
    <p:sldId id="301" r:id="rId20"/>
    <p:sldId id="302" r:id="rId21"/>
    <p:sldId id="303" r:id="rId22"/>
    <p:sldId id="304" r:id="rId23"/>
    <p:sldId id="305" r:id="rId24"/>
    <p:sldId id="312" r:id="rId25"/>
    <p:sldId id="313" r:id="rId26"/>
    <p:sldId id="306" r:id="rId27"/>
    <p:sldId id="308" r:id="rId28"/>
    <p:sldId id="309" r:id="rId29"/>
    <p:sldId id="310" r:id="rId30"/>
    <p:sldId id="311" r:id="rId31"/>
    <p:sldId id="283" r:id="rId32"/>
  </p:sldIdLst>
  <p:sldSz cx="12192000" cy="6858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  <p:embeddedFont>
      <p:font typeface="Roboto Slab" panose="020B0604020202020204" charset="0"/>
      <p:regular r:id="rId48"/>
      <p:bold r:id="rId49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A52A41-BABC-4418-8BB8-58FADEB799A8}">
  <a:tblStyle styleId="{A3A52A41-BABC-4418-8BB8-58FADEB79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b0d603767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b0d603767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02fc7111b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g102fc7111b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b0d603767_0_1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g10b0d603767_0_1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411c0b8f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10411c0b8f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e655267c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g10e655267c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0e65526bf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g10e65526bf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e65526bf7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g10e65526bf7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0e65526bf7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g10e65526bf7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0e65526bf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g10e65526bf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0e65526bf7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10e65526bf7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0e65526bf7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0e65526bf7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e65526bf7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0e65526bf7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0e65526bf7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0e65526bf7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0e65526bf7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0e65526bf7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e65526bf7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e65526bf7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e65526bf7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0e65526bf7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0411c0b8f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0411c0b8f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545288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07287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e834b482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0e834b482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0e834b482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6" name="Google Shape;616;g10e834b482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10e834b4827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4" name="Google Shape;624;g10e834b482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0e834b482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5" name="Google Shape;645;g10e834b482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0e834b482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7" name="Google Shape;657;g10e834b482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4304384e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1" name="Google Shape;671;g104304384e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83176-2AE6-4425-AF29-716B7A334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6A784E-3396-4F9C-8979-1A77C7E83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B45B00-4181-41C5-8A9C-B5C1D31D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EFB3DD-2B42-4BA1-9961-486B0DBE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54CDC-52E1-43ED-992B-8E059200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81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281D6-77CE-48A4-9892-744BC85D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8141B1-DAEE-4DB7-9836-AD530B3A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29A8D1-53A5-4E1E-ACF1-4865B6C1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BCB5C2-5985-4FE2-887A-95776FC0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0F4240-7265-4A4D-BAE4-FBF76E53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5765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AF25B-7583-4D56-840A-56C8D211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EF68F0-5020-4AAC-AFAD-4E2846B0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F13D0C-2295-4D98-9E63-B99E84FB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5BF590-BAC5-4D7C-A383-3D513C68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A64B9-8A0C-42E4-9581-F8E6A7E0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248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0A06D-73DD-4163-BACD-F86C971F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DA0CE7-726C-4C1F-A6DB-6ECBD5714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738648-8411-4072-8CF5-22D7E876B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52D4D2-8F6E-40B6-800E-58471D663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20F6D4-6894-42D6-9CFD-6499C0C7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0B5BA3-5CA4-4EAC-8E9C-B95166F8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80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ED89C-C8B4-4630-AF38-19CA8314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50C6E1-EFCB-4B64-9467-47224E6E1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CD507D-A5CC-44EC-AA06-B070C8A9B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DAEA233-B47A-4A40-A3A7-49BE99054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5F1ACF-4869-48B0-8FF6-777FE6674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D6E493-4611-4F9E-8BF9-6A45BE09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570F28-5290-4268-B1A6-1DC5CECF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407DE3-6B19-476B-ABFE-F53AC852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39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8E7AF-113A-4C7A-949A-751A78D8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E07813-6E42-4C64-9471-4572BEEA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FD0D19-044F-44A6-9915-06C8D82C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F10DD9-1CAB-4ED7-BF65-23B3FF0B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8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7D329B-5131-4B16-9B8F-C5311F1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225E4D-BF16-4CA6-844A-A6B5125E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0BEAEB-397C-434C-8C0D-97057D2E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740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75509-1703-4EC0-B650-4900780F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87CC8E-0112-4898-A3B2-F2798ED18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A45065-E2BF-49E2-B8B6-87B3B766C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B0E98C-7DCD-404C-B2F9-551A2CF6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DB60E7-D339-49BA-9EC6-3A7FC86A8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E5ACA3-F337-4573-9929-619C14E83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065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917A2-87A0-4BF2-9AE4-68690083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9965A6-EF00-4E68-93D3-A9CE8B165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761B7E-11D5-4562-8E14-D7A7675BD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5EF501-3FA3-4630-ABBE-83080E21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C9C617-0085-4B6E-909A-BE00961F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31EBE9-E21D-4795-B4F3-4EB31321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76225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BF255-CB9F-4BBF-A935-4F124C30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F2F238-B951-45F3-82E6-DACC03176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3DEEB9-8CAB-44F2-89B8-869EDD59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E0143F-DE57-48FC-A70E-5CF750FD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35D36C-06E8-4C65-B679-53CBAE89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490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8D8602-AD9F-4DF0-970C-0589B9061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115B21-C694-46E2-B782-195A85B46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6AE4A8-9F61-4BA7-8B27-AFE1D053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D4CA9-FA28-42EC-BE5B-D5F3584D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BC836-10E3-448D-A026-45EDA278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460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7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104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602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27C1BD-3B84-47A1-A28C-D7EB7ACC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C25C1C-FEF9-446A-AF29-34301A137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842EE3-E2BA-4280-8CD0-7BFB76FCC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A2BB7F-2CFA-4CB4-9552-8C4D4D53B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8498F9-6B8C-4309-BD00-C25BD9B24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97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2" Type="http://schemas.openxmlformats.org/officeDocument/2006/relationships/notesSlide" Target="../notesSlides/notesSlide31.xml"/><Relationship Id="rId16" Type="http://schemas.openxmlformats.org/officeDocument/2006/relationships/hyperlink" Target="http://csl.snu.ac.kr/courses/4190.307/2020-1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courses.cs.duke.edu/spring19/compsci590.1/slides/" TargetMode="External"/><Relationship Id="rId10" Type="http://schemas.openxmlformats.org/officeDocument/2006/relationships/hyperlink" Target="https://github.com/Aniruddha-Tapas/Operating-Systems-Notes/blob/master/1-Overview.md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://www.it.uu.se/education/course/homepage/os/vt18/module-4/simple-thre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24250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8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Memoria virtual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17/03/2026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379850" y="113988"/>
            <a:ext cx="10515600" cy="89871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idx="1"/>
          </p:nvPr>
        </p:nvSpPr>
        <p:spPr>
          <a:xfrm>
            <a:off x="379850" y="959124"/>
            <a:ext cx="10749300" cy="6996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dirty="0"/>
              <a:t>Un proceso es un </a:t>
            </a:r>
            <a:r>
              <a:rPr lang="es-ES" sz="2400" b="1" dirty="0">
                <a:solidFill>
                  <a:srgbClr val="0B6937"/>
                </a:solidFill>
              </a:rPr>
              <a:t>programa en ejecución</a:t>
            </a:r>
            <a:r>
              <a:rPr lang="es-ES" sz="2400" dirty="0"/>
              <a:t>.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457" y="4069700"/>
            <a:ext cx="970343" cy="7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20"/>
          <p:cNvGrpSpPr/>
          <p:nvPr/>
        </p:nvGrpSpPr>
        <p:grpSpPr>
          <a:xfrm>
            <a:off x="7383000" y="2232650"/>
            <a:ext cx="4549500" cy="4393500"/>
            <a:chOff x="5458950" y="1790200"/>
            <a:chExt cx="4549500" cy="4393500"/>
          </a:xfrm>
        </p:grpSpPr>
        <p:sp>
          <p:nvSpPr>
            <p:cNvPr id="161" name="Google Shape;161;p20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" name="Google Shape;162;p20"/>
            <p:cNvGrpSpPr/>
            <p:nvPr/>
          </p:nvGrpSpPr>
          <p:grpSpPr>
            <a:xfrm>
              <a:off x="5988151" y="2590500"/>
              <a:ext cx="1452724" cy="2122900"/>
              <a:chOff x="6077376" y="2623950"/>
              <a:chExt cx="1452724" cy="2122900"/>
            </a:xfrm>
          </p:grpSpPr>
          <p:sp>
            <p:nvSpPr>
              <p:cNvPr id="163" name="Google Shape;163;p20"/>
              <p:cNvSpPr txBox="1"/>
              <p:nvPr/>
            </p:nvSpPr>
            <p:spPr>
              <a:xfrm>
                <a:off x="6161500" y="2623950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164" name="Google Shape;164;p20"/>
              <p:cNvGrpSpPr/>
              <p:nvPr/>
            </p:nvGrpSpPr>
            <p:grpSpPr>
              <a:xfrm>
                <a:off x="6077376" y="3042363"/>
                <a:ext cx="1422424" cy="1401900"/>
                <a:chOff x="6077376" y="3042363"/>
                <a:chExt cx="1422424" cy="1401900"/>
              </a:xfrm>
            </p:grpSpPr>
            <p:sp>
              <p:nvSpPr>
                <p:cNvPr id="165" name="Google Shape;165;p20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6" name="Google Shape;166;p20"/>
                <p:cNvGrpSpPr/>
                <p:nvPr/>
              </p:nvGrpSpPr>
              <p:grpSpPr>
                <a:xfrm>
                  <a:off x="6131200" y="3096950"/>
                  <a:ext cx="1178925" cy="461635"/>
                  <a:chOff x="6131200" y="3096950"/>
                  <a:chExt cx="1178925" cy="461635"/>
                </a:xfrm>
              </p:grpSpPr>
              <p:sp>
                <p:nvSpPr>
                  <p:cNvPr id="167" name="Google Shape;167;p20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20"/>
                  <p:cNvSpPr txBox="1"/>
                  <p:nvPr/>
                </p:nvSpPr>
                <p:spPr>
                  <a:xfrm>
                    <a:off x="6131200" y="3096950"/>
                    <a:ext cx="5098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169" name="Google Shape;169;p20"/>
                <p:cNvGrpSpPr/>
                <p:nvPr/>
              </p:nvGrpSpPr>
              <p:grpSpPr>
                <a:xfrm>
                  <a:off x="6077376" y="3412550"/>
                  <a:ext cx="1232749" cy="461635"/>
                  <a:chOff x="6077376" y="3412550"/>
                  <a:chExt cx="1232749" cy="461635"/>
                </a:xfrm>
              </p:grpSpPr>
              <p:sp>
                <p:nvSpPr>
                  <p:cNvPr id="170" name="Google Shape;170;p20"/>
                  <p:cNvSpPr txBox="1"/>
                  <p:nvPr/>
                </p:nvSpPr>
                <p:spPr>
                  <a:xfrm>
                    <a:off x="6077376" y="3412550"/>
                    <a:ext cx="563674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71" name="Google Shape;171;p20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2" name="Google Shape;172;p20"/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173" name="Google Shape;173;p20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74" name="Google Shape;174;p20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5" name="Google Shape;175;p20"/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176" name="Google Shape;176;p20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77" name="Google Shape;177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78" name="Google Shape;178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79" name="Google Shape;179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80" name="Google Shape;180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81" name="Google Shape;181;p20"/>
                <p:cNvCxnSpPr>
                  <a:stCxn id="17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2" name="Google Shape;182;p20"/>
                <p:cNvCxnSpPr>
                  <a:stCxn id="18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83" name="Google Shape;183;p20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85" name="Google Shape;185;p20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186" name="Google Shape;186;p20"/>
          <p:cNvCxnSpPr/>
          <p:nvPr/>
        </p:nvCxnSpPr>
        <p:spPr>
          <a:xfrm>
            <a:off x="5918825" y="3486800"/>
            <a:ext cx="1401900" cy="4500"/>
          </a:xfrm>
          <a:prstGeom prst="straightConnector1">
            <a:avLst/>
          </a:prstGeom>
          <a:noFill/>
          <a:ln w="3810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30975" y="2704300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285922" y="1658812"/>
            <a:ext cx="5631038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>
                <a:latin typeface="Courier New"/>
                <a:ea typeface="Courier New"/>
                <a:cs typeface="Courier New"/>
                <a:sym typeface="Courier New"/>
              </a:rPr>
              <a:t>Proceso = CPU + Memory + I/O Info</a:t>
            </a:r>
            <a:endParaRPr sz="21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1088" y="4620713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4350" y="3985213"/>
            <a:ext cx="509450" cy="4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78225" y="3995140"/>
            <a:ext cx="1134175" cy="113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3559" y="3036049"/>
            <a:ext cx="1410191" cy="9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13862" y="5002989"/>
            <a:ext cx="1549725" cy="92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532" y="5985650"/>
            <a:ext cx="970343" cy="7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0"/>
          <p:cNvCxnSpPr/>
          <p:nvPr/>
        </p:nvCxnSpPr>
        <p:spPr>
          <a:xfrm rot="10800000" flipH="1">
            <a:off x="3086875" y="3486800"/>
            <a:ext cx="1131600" cy="582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3075225" y="4862800"/>
            <a:ext cx="1002900" cy="641400"/>
          </a:xfrm>
          <a:prstGeom prst="straightConnector1">
            <a:avLst/>
          </a:prstGeom>
          <a:noFill/>
          <a:ln w="38100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7" name="Google Shape;197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62425" y="2962575"/>
            <a:ext cx="418399" cy="41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10737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sp>
        <p:nvSpPr>
          <p:cNvPr id="462" name="Google Shape;462;p31"/>
          <p:cNvSpPr txBox="1">
            <a:spLocks noGrp="1"/>
          </p:cNvSpPr>
          <p:nvPr>
            <p:ph type="body" idx="1"/>
          </p:nvPr>
        </p:nvSpPr>
        <p:spPr>
          <a:xfrm>
            <a:off x="294968" y="1156350"/>
            <a:ext cx="5589638" cy="94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b="1" dirty="0">
                <a:latin typeface="+mn-lt"/>
              </a:rPr>
              <a:t>Virtualización de memoria</a:t>
            </a:r>
            <a:r>
              <a:rPr lang="es-ES" sz="2400" dirty="0">
                <a:latin typeface="+mn-lt"/>
              </a:rPr>
              <a:t>: Cada proceso cree que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tiene su propia memoria</a:t>
            </a:r>
            <a:r>
              <a:rPr lang="es-ES" sz="24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9395250" y="5152113"/>
            <a:ext cx="22707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Recurso</a:t>
            </a:r>
            <a:endParaRPr sz="2800" b="1">
              <a:solidFill>
                <a:srgbClr val="FF9900"/>
              </a:solidFill>
            </a:endParaRPr>
          </a:p>
        </p:txBody>
      </p:sp>
      <p:sp>
        <p:nvSpPr>
          <p:cNvPr id="454" name="Google Shape;454;p31"/>
          <p:cNvSpPr txBox="1"/>
          <p:nvPr/>
        </p:nvSpPr>
        <p:spPr>
          <a:xfrm>
            <a:off x="10046575" y="2174050"/>
            <a:ext cx="15777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Ilusión</a:t>
            </a:r>
            <a:endParaRPr sz="2800" b="1">
              <a:solidFill>
                <a:srgbClr val="FF9900"/>
              </a:solidFill>
            </a:endParaRPr>
          </a:p>
        </p:txBody>
      </p:sp>
      <p:pic>
        <p:nvPicPr>
          <p:cNvPr id="455" name="Google Shape;4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517" y="4508325"/>
            <a:ext cx="1503075" cy="15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763" y="3679000"/>
            <a:ext cx="2947038" cy="30084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31"/>
          <p:cNvCxnSpPr/>
          <p:nvPr/>
        </p:nvCxnSpPr>
        <p:spPr>
          <a:xfrm>
            <a:off x="3180175" y="3678988"/>
            <a:ext cx="8444100" cy="117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8" name="Google Shape;45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2363" y="2963900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9800" y="2955375"/>
            <a:ext cx="509450" cy="4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1"/>
          <p:cNvSpPr txBox="1"/>
          <p:nvPr/>
        </p:nvSpPr>
        <p:spPr>
          <a:xfrm>
            <a:off x="6787225" y="2947200"/>
            <a:ext cx="970200" cy="477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P0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1" name="Google Shape;461;p31"/>
          <p:cNvSpPr txBox="1"/>
          <p:nvPr/>
        </p:nvSpPr>
        <p:spPr>
          <a:xfrm>
            <a:off x="9165400" y="2947213"/>
            <a:ext cx="970200" cy="477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63" name="Google Shape;463;p31"/>
          <p:cNvGrpSpPr/>
          <p:nvPr/>
        </p:nvGrpSpPr>
        <p:grpSpPr>
          <a:xfrm>
            <a:off x="1425225" y="3108010"/>
            <a:ext cx="1076100" cy="1739700"/>
            <a:chOff x="1775100" y="4022850"/>
            <a:chExt cx="1076100" cy="1739700"/>
          </a:xfrm>
        </p:grpSpPr>
        <p:sp>
          <p:nvSpPr>
            <p:cNvPr id="464" name="Google Shape;464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5" name="Google Shape;465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66" name="Google Shape;466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67" name="Google Shape;467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68" name="Google Shape;468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69" name="Google Shape;469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70" name="Google Shape;470;p31"/>
              <p:cNvCxnSpPr>
                <a:stCxn id="468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1" name="Google Shape;471;p31"/>
              <p:cNvCxnSpPr>
                <a:stCxn id="469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72" name="Google Shape;472;p31"/>
          <p:cNvGrpSpPr/>
          <p:nvPr/>
        </p:nvGrpSpPr>
        <p:grpSpPr>
          <a:xfrm>
            <a:off x="6864154" y="1414618"/>
            <a:ext cx="806322" cy="1163511"/>
            <a:chOff x="1775100" y="4022850"/>
            <a:chExt cx="1076100" cy="1739700"/>
          </a:xfrm>
        </p:grpSpPr>
        <p:sp>
          <p:nvSpPr>
            <p:cNvPr id="473" name="Google Shape;473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4" name="Google Shape;474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75" name="Google Shape;475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6" name="Google Shape;476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77" name="Google Shape;477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78" name="Google Shape;478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79" name="Google Shape;479;p31"/>
              <p:cNvCxnSpPr>
                <a:stCxn id="477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0" name="Google Shape;480;p31"/>
              <p:cNvCxnSpPr>
                <a:stCxn id="478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81" name="Google Shape;481;p31"/>
          <p:cNvGrpSpPr/>
          <p:nvPr/>
        </p:nvGrpSpPr>
        <p:grpSpPr>
          <a:xfrm>
            <a:off x="9247342" y="1414618"/>
            <a:ext cx="806322" cy="1163511"/>
            <a:chOff x="1775100" y="4022850"/>
            <a:chExt cx="1076100" cy="1739700"/>
          </a:xfrm>
        </p:grpSpPr>
        <p:sp>
          <p:nvSpPr>
            <p:cNvPr id="482" name="Google Shape;482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3" name="Google Shape;483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84" name="Google Shape;484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86" name="Google Shape;486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87" name="Google Shape;487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88" name="Google Shape;488;p31"/>
              <p:cNvCxnSpPr>
                <a:stCxn id="48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9" name="Google Shape;489;p31"/>
              <p:cNvCxnSpPr>
                <a:stCxn id="48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"/>
          <p:cNvSpPr txBox="1">
            <a:spLocks noGrp="1"/>
          </p:cNvSpPr>
          <p:nvPr>
            <p:ph type="title"/>
          </p:nvPr>
        </p:nvSpPr>
        <p:spPr>
          <a:xfrm>
            <a:off x="799050" y="81974"/>
            <a:ext cx="10358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grpSp>
        <p:nvGrpSpPr>
          <p:cNvPr id="496" name="Google Shape;496;p32"/>
          <p:cNvGrpSpPr/>
          <p:nvPr/>
        </p:nvGrpSpPr>
        <p:grpSpPr>
          <a:xfrm>
            <a:off x="7738879" y="2144643"/>
            <a:ext cx="806322" cy="1163511"/>
            <a:chOff x="1775100" y="4022850"/>
            <a:chExt cx="1076100" cy="1739700"/>
          </a:xfrm>
        </p:grpSpPr>
        <p:sp>
          <p:nvSpPr>
            <p:cNvPr id="497" name="Google Shape;497;p3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8" name="Google Shape;498;p3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99" name="Google Shape;499;p3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00" name="Google Shape;500;p3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501" name="Google Shape;501;p3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502" name="Google Shape;502;p3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503" name="Google Shape;503;p32"/>
              <p:cNvCxnSpPr>
                <a:stCxn id="501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04" name="Google Shape;504;p32"/>
              <p:cNvCxnSpPr>
                <a:stCxn id="502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505" name="Google Shape;505;p32"/>
          <p:cNvGrpSpPr/>
          <p:nvPr/>
        </p:nvGrpSpPr>
        <p:grpSpPr>
          <a:xfrm>
            <a:off x="7738867" y="3751018"/>
            <a:ext cx="806322" cy="1163511"/>
            <a:chOff x="1775100" y="4022850"/>
            <a:chExt cx="1076100" cy="1739700"/>
          </a:xfrm>
        </p:grpSpPr>
        <p:sp>
          <p:nvSpPr>
            <p:cNvPr id="506" name="Google Shape;506;p3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7" name="Google Shape;507;p3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508" name="Google Shape;508;p3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09" name="Google Shape;509;p3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510" name="Google Shape;510;p3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511" name="Google Shape;511;p3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512" name="Google Shape;512;p32"/>
              <p:cNvCxnSpPr>
                <a:stCxn id="510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13" name="Google Shape;513;p32"/>
              <p:cNvCxnSpPr>
                <a:stCxn id="511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514" name="Google Shape;514;p32"/>
          <p:cNvGrpSpPr/>
          <p:nvPr/>
        </p:nvGrpSpPr>
        <p:grpSpPr>
          <a:xfrm>
            <a:off x="10684350" y="1375225"/>
            <a:ext cx="822300" cy="3936300"/>
            <a:chOff x="6401200" y="2480400"/>
            <a:chExt cx="822300" cy="3936300"/>
          </a:xfrm>
        </p:grpSpPr>
        <p:sp>
          <p:nvSpPr>
            <p:cNvPr id="515" name="Google Shape;515;p32"/>
            <p:cNvSpPr/>
            <p:nvPr/>
          </p:nvSpPr>
          <p:spPr>
            <a:xfrm>
              <a:off x="6401200" y="2480400"/>
              <a:ext cx="822300" cy="3936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2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517" name="Google Shape;517;p3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8" name="Google Shape;518;p3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19" name="Google Shape;519;p3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0" name="Google Shape;520;p3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521" name="Google Shape;521;p3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522" name="Google Shape;522;p3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523" name="Google Shape;523;p32"/>
                <p:cNvCxnSpPr>
                  <a:stCxn id="521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24" name="Google Shape;524;p32"/>
                <p:cNvCxnSpPr>
                  <a:stCxn id="522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525" name="Google Shape;525;p32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526" name="Google Shape;526;p3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7" name="Google Shape;527;p3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28" name="Google Shape;528;p3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9" name="Google Shape;529;p3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530" name="Google Shape;530;p3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531" name="Google Shape;531;p3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532" name="Google Shape;532;p32"/>
                <p:cNvCxnSpPr>
                  <a:stCxn id="53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33" name="Google Shape;533;p32"/>
                <p:cNvCxnSpPr>
                  <a:stCxn id="53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534" name="Google Shape;534;p32"/>
          <p:cNvSpPr/>
          <p:nvPr/>
        </p:nvSpPr>
        <p:spPr>
          <a:xfrm>
            <a:off x="5916438" y="22748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5858125" y="386797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36" name="Google Shape;536;p32"/>
          <p:cNvCxnSpPr/>
          <p:nvPr/>
        </p:nvCxnSpPr>
        <p:spPr>
          <a:xfrm rot="10800000" flipH="1">
            <a:off x="8555000" y="2002200"/>
            <a:ext cx="2125500" cy="137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32"/>
          <p:cNvCxnSpPr/>
          <p:nvPr/>
        </p:nvCxnSpPr>
        <p:spPr>
          <a:xfrm rot="10800000" flipH="1">
            <a:off x="8555000" y="3175250"/>
            <a:ext cx="2128500" cy="14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32"/>
          <p:cNvCxnSpPr/>
          <p:nvPr/>
        </p:nvCxnSpPr>
        <p:spPr>
          <a:xfrm rot="10800000" flipH="1">
            <a:off x="8555000" y="3720500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9" name="Google Shape;539;p32"/>
          <p:cNvCxnSpPr/>
          <p:nvPr/>
        </p:nvCxnSpPr>
        <p:spPr>
          <a:xfrm rot="10800000" flipH="1">
            <a:off x="8549175" y="4893775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40" name="Google Shape;540;p32"/>
          <p:cNvSpPr txBox="1"/>
          <p:nvPr/>
        </p:nvSpPr>
        <p:spPr>
          <a:xfrm>
            <a:off x="6708150" y="24865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541" name="Google Shape;541;p32"/>
          <p:cNvSpPr txBox="1"/>
          <p:nvPr/>
        </p:nvSpPr>
        <p:spPr>
          <a:xfrm>
            <a:off x="6696425" y="407512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542" name="Google Shape;542;p32"/>
          <p:cNvCxnSpPr/>
          <p:nvPr/>
        </p:nvCxnSpPr>
        <p:spPr>
          <a:xfrm rot="10800000" flipH="1">
            <a:off x="7375100" y="42321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" name="Google Shape;543;p32"/>
          <p:cNvCxnSpPr/>
          <p:nvPr/>
        </p:nvCxnSpPr>
        <p:spPr>
          <a:xfrm rot="10800000" flipH="1">
            <a:off x="7386750" y="26390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" name="Google Shape;544;p32"/>
          <p:cNvCxnSpPr>
            <a:stCxn id="501" idx="3"/>
            <a:endCxn id="521" idx="1"/>
          </p:cNvCxnSpPr>
          <p:nvPr/>
        </p:nvCxnSpPr>
        <p:spPr>
          <a:xfrm rot="10800000" flipH="1">
            <a:off x="8545201" y="2498895"/>
            <a:ext cx="2147100" cy="137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5" name="Google Shape;545;p32"/>
          <p:cNvCxnSpPr>
            <a:stCxn id="510" idx="3"/>
            <a:endCxn id="530" idx="1"/>
          </p:cNvCxnSpPr>
          <p:nvPr/>
        </p:nvCxnSpPr>
        <p:spPr>
          <a:xfrm rot="10800000" flipH="1">
            <a:off x="8545188" y="4213270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546;p32"/>
          <p:cNvSpPr txBox="1"/>
          <p:nvPr/>
        </p:nvSpPr>
        <p:spPr>
          <a:xfrm>
            <a:off x="621456" y="3709050"/>
            <a:ext cx="4030800" cy="26396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200" dirty="0" err="1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&amp;; 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[1] 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24113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[2] 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24114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address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2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2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address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2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2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1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1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2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2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3</a:t>
            </a:r>
            <a:endParaRPr sz="1200" dirty="0">
              <a:solidFill>
                <a:srgbClr val="24292E"/>
              </a:solidFill>
              <a:highlight>
                <a:srgbClr val="CFE2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3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4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4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7" name="Google Shape;547;p32"/>
          <p:cNvSpPr txBox="1"/>
          <p:nvPr/>
        </p:nvSpPr>
        <p:spPr>
          <a:xfrm>
            <a:off x="5371363" y="3131063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pid(P1)= 21113</a:t>
            </a:r>
            <a:endParaRPr sz="1400" dirty="0">
              <a:highlight>
                <a:srgbClr val="C9DAF8"/>
              </a:highlight>
            </a:endParaRPr>
          </a:p>
        </p:txBody>
      </p:sp>
      <p:sp>
        <p:nvSpPr>
          <p:cNvPr id="548" name="Google Shape;548;p32"/>
          <p:cNvSpPr txBox="1"/>
          <p:nvPr/>
        </p:nvSpPr>
        <p:spPr>
          <a:xfrm>
            <a:off x="5429688" y="4807388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pid(P2)= 21114</a:t>
            </a:r>
            <a:endParaRPr sz="1400" dirty="0">
              <a:highlight>
                <a:srgbClr val="F4CCCC"/>
              </a:highlight>
            </a:endParaRPr>
          </a:p>
        </p:txBody>
      </p:sp>
      <p:sp>
        <p:nvSpPr>
          <p:cNvPr id="549" name="Google Shape;549;p32"/>
          <p:cNvSpPr txBox="1"/>
          <p:nvPr/>
        </p:nvSpPr>
        <p:spPr>
          <a:xfrm>
            <a:off x="6199350" y="1318050"/>
            <a:ext cx="153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Dirección Virtual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0" name="Google Shape;550;p32"/>
          <p:cNvSpPr txBox="1"/>
          <p:nvPr/>
        </p:nvSpPr>
        <p:spPr>
          <a:xfrm>
            <a:off x="9035925" y="1246813"/>
            <a:ext cx="153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Dirección Física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51" name="Google Shape;551;p32"/>
          <p:cNvGrpSpPr/>
          <p:nvPr/>
        </p:nvGrpSpPr>
        <p:grpSpPr>
          <a:xfrm>
            <a:off x="7439250" y="5328100"/>
            <a:ext cx="4426050" cy="615600"/>
            <a:chOff x="7439250" y="5328100"/>
            <a:chExt cx="4426050" cy="615600"/>
          </a:xfrm>
        </p:grpSpPr>
        <p:sp>
          <p:nvSpPr>
            <p:cNvPr id="552" name="Google Shape;552;p32"/>
            <p:cNvSpPr txBox="1"/>
            <p:nvPr/>
          </p:nvSpPr>
          <p:spPr>
            <a:xfrm>
              <a:off x="743925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53" name="Google Shape;553;p32"/>
            <p:cNvSpPr txBox="1"/>
            <p:nvPr/>
          </p:nvSpPr>
          <p:spPr>
            <a:xfrm>
              <a:off x="1032570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554" name="Google Shape;554;p32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555" name="Google Shape;555;p32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2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557" name="Google Shape;5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636" y="5890300"/>
            <a:ext cx="897725" cy="8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462;p31">
            <a:extLst>
              <a:ext uri="{FF2B5EF4-FFF2-40B4-BE49-F238E27FC236}">
                <a16:creationId xmlns:a16="http://schemas.microsoft.com/office/drawing/2014/main" id="{AE862F47-DCB8-4F2C-8201-18BE5F1DB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571" y="1144112"/>
            <a:ext cx="4178526" cy="13547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b="1" dirty="0">
                <a:latin typeface="+mn-lt"/>
              </a:rPr>
              <a:t>Virtualización de memoria</a:t>
            </a:r>
            <a:r>
              <a:rPr lang="es-ES" sz="2400" dirty="0">
                <a:latin typeface="+mn-lt"/>
              </a:rPr>
              <a:t>: Cada proceso cree que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tiene su propia memoria</a:t>
            </a:r>
            <a:r>
              <a:rPr lang="es-ES" sz="24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1186753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dirty="0">
                <a:solidFill>
                  <a:schemeClr val="accent1"/>
                </a:solidFill>
              </a:rPr>
              <a:t>Hardware Address Translation - Address Translation (AT) </a:t>
            </a:r>
          </a:p>
        </p:txBody>
      </p:sp>
      <p:sp>
        <p:nvSpPr>
          <p:cNvPr id="223" name="Google Shape;223;p21"/>
          <p:cNvSpPr txBox="1">
            <a:spLocks noGrp="1"/>
          </p:cNvSpPr>
          <p:nvPr>
            <p:ph type="body" idx="1"/>
          </p:nvPr>
        </p:nvSpPr>
        <p:spPr>
          <a:xfrm>
            <a:off x="429952" y="1149983"/>
            <a:ext cx="11436097" cy="5925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89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None/>
            </a:pPr>
            <a:r>
              <a:rPr lang="es-ES" sz="2200" dirty="0"/>
              <a:t>Mecanismo mediante la traducción de </a:t>
            </a:r>
            <a:r>
              <a:rPr lang="es-ES" sz="2200" b="1" dirty="0">
                <a:solidFill>
                  <a:schemeClr val="accent2"/>
                </a:solidFill>
              </a:rPr>
              <a:t>direcciones virtuales</a:t>
            </a:r>
            <a:r>
              <a:rPr lang="es-ES" sz="2200" dirty="0"/>
              <a:t> a </a:t>
            </a:r>
            <a:r>
              <a:rPr lang="es-ES" sz="2200" b="1" dirty="0">
                <a:solidFill>
                  <a:schemeClr val="accent2"/>
                </a:solidFill>
              </a:rPr>
              <a:t>físicas</a:t>
            </a:r>
            <a:r>
              <a:rPr lang="es-ES" sz="2200" dirty="0"/>
              <a:t>.</a:t>
            </a: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>
              <a:solidFill>
                <a:srgbClr val="8CC63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4" name="Google Shape;224;p21"/>
          <p:cNvGrpSpPr/>
          <p:nvPr/>
        </p:nvGrpSpPr>
        <p:grpSpPr>
          <a:xfrm>
            <a:off x="916650" y="3216750"/>
            <a:ext cx="10949400" cy="2601000"/>
            <a:chOff x="1094825" y="3502875"/>
            <a:chExt cx="10949400" cy="2601000"/>
          </a:xfrm>
        </p:grpSpPr>
        <p:grpSp>
          <p:nvGrpSpPr>
            <p:cNvPr id="225" name="Google Shape;225;p21"/>
            <p:cNvGrpSpPr/>
            <p:nvPr/>
          </p:nvGrpSpPr>
          <p:grpSpPr>
            <a:xfrm>
              <a:off x="3591725" y="3502875"/>
              <a:ext cx="5773200" cy="2601000"/>
              <a:chOff x="3401900" y="3456225"/>
              <a:chExt cx="5773200" cy="2601000"/>
            </a:xfrm>
          </p:grpSpPr>
          <p:sp>
            <p:nvSpPr>
              <p:cNvPr id="226" name="Google Shape;226;p21"/>
              <p:cNvSpPr/>
              <p:nvPr/>
            </p:nvSpPr>
            <p:spPr>
              <a:xfrm>
                <a:off x="4883000" y="3456225"/>
                <a:ext cx="2811000" cy="2601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3000" b="1" dirty="0">
                    <a:latin typeface="Courier New"/>
                    <a:ea typeface="Courier New"/>
                    <a:cs typeface="Courier New"/>
                    <a:sym typeface="Courier New"/>
                  </a:rPr>
                  <a:t>Address </a:t>
                </a:r>
                <a:r>
                  <a:rPr lang="es-ES" sz="3000" b="1" dirty="0" err="1">
                    <a:latin typeface="Courier New"/>
                    <a:ea typeface="Courier New"/>
                    <a:cs typeface="Courier New"/>
                    <a:sym typeface="Courier New"/>
                  </a:rPr>
                  <a:t>Translation</a:t>
                </a:r>
                <a:endParaRPr sz="30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227" name="Google Shape;227;p21"/>
              <p:cNvCxnSpPr/>
              <p:nvPr/>
            </p:nvCxnSpPr>
            <p:spPr>
              <a:xfrm>
                <a:off x="34019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8" name="Google Shape;228;p21"/>
              <p:cNvCxnSpPr/>
              <p:nvPr/>
            </p:nvCxnSpPr>
            <p:spPr>
              <a:xfrm>
                <a:off x="76940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29" name="Google Shape;229;p21"/>
            <p:cNvSpPr txBox="1"/>
            <p:nvPr/>
          </p:nvSpPr>
          <p:spPr>
            <a:xfrm>
              <a:off x="1094825" y="440317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Virtual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9364925" y="440317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urier New"/>
                  <a:ea typeface="Courier New"/>
                  <a:cs typeface="Courier New"/>
                  <a:sym typeface="Courier New"/>
                </a:rPr>
                <a:t>Physical</a:t>
              </a: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8844" y="2536150"/>
            <a:ext cx="1374025" cy="13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21"/>
          <p:cNvGrpSpPr/>
          <p:nvPr/>
        </p:nvGrpSpPr>
        <p:grpSpPr>
          <a:xfrm>
            <a:off x="916637" y="2746618"/>
            <a:ext cx="2257351" cy="1163557"/>
            <a:chOff x="916638" y="3584818"/>
            <a:chExt cx="2257351" cy="1163557"/>
          </a:xfrm>
        </p:grpSpPr>
        <p:grpSp>
          <p:nvGrpSpPr>
            <p:cNvPr id="233" name="Google Shape;233;p21"/>
            <p:cNvGrpSpPr/>
            <p:nvPr/>
          </p:nvGrpSpPr>
          <p:grpSpPr>
            <a:xfrm>
              <a:off x="2367667" y="3584818"/>
              <a:ext cx="806322" cy="1163511"/>
              <a:chOff x="1775100" y="4022850"/>
              <a:chExt cx="1076100" cy="1739700"/>
            </a:xfrm>
          </p:grpSpPr>
          <p:sp>
            <p:nvSpPr>
              <p:cNvPr id="234" name="Google Shape;234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5" name="Google Shape;235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36" name="Google Shape;236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37" name="Google Shape;237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38" name="Google Shape;238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239" name="Google Shape;239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240" name="Google Shape;240;p21"/>
                <p:cNvCxnSpPr>
                  <a:stCxn id="238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41" name="Google Shape;241;p21"/>
                <p:cNvCxnSpPr>
                  <a:stCxn id="239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42" name="Google Shape;242;p21"/>
            <p:cNvSpPr/>
            <p:nvPr/>
          </p:nvSpPr>
          <p:spPr>
            <a:xfrm>
              <a:off x="916638" y="3801025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43" name="Google Shape;243;p21"/>
            <p:cNvCxnSpPr/>
            <p:nvPr/>
          </p:nvCxnSpPr>
          <p:spPr>
            <a:xfrm rot="10800000" flipH="1">
              <a:off x="1281400" y="3586350"/>
              <a:ext cx="10650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1"/>
            <p:cNvCxnSpPr/>
            <p:nvPr/>
          </p:nvCxnSpPr>
          <p:spPr>
            <a:xfrm>
              <a:off x="1274725" y="4564175"/>
              <a:ext cx="10647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105658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259" name="Google Shape;259;p23"/>
          <p:cNvSpPr txBox="1">
            <a:spLocks noGrp="1"/>
          </p:cNvSpPr>
          <p:nvPr>
            <p:ph type="body" idx="1"/>
          </p:nvPr>
        </p:nvSpPr>
        <p:spPr>
          <a:xfrm>
            <a:off x="347774" y="861525"/>
            <a:ext cx="7610551" cy="317953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Conceptos claves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 Virtualización de memoria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requiere soporte en hardware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>
                <a:latin typeface="+mn-lt"/>
              </a:rPr>
              <a:t>Similar al mecanismo de </a:t>
            </a:r>
            <a:r>
              <a:rPr lang="es-ES" sz="2200" b="1" dirty="0">
                <a:latin typeface="+mn-lt"/>
              </a:rPr>
              <a:t>Ejecución Directa Limitada</a:t>
            </a:r>
            <a:r>
              <a:rPr lang="es-ES" sz="2200" dirty="0">
                <a:latin typeface="+mn-lt"/>
              </a:rPr>
              <a:t> (</a:t>
            </a:r>
            <a:r>
              <a:rPr lang="es-ES" sz="2200" b="1" dirty="0">
                <a:latin typeface="+mn-lt"/>
              </a:rPr>
              <a:t>Limited Direct Execution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>
                <a:latin typeface="+mn-lt"/>
              </a:rPr>
              <a:t>Objetivos</a:t>
            </a:r>
            <a:r>
              <a:rPr lang="es-ES" dirty="0">
                <a:latin typeface="+mn-lt"/>
              </a:rPr>
              <a:t>: </a:t>
            </a:r>
            <a:endParaRPr dirty="0">
              <a:latin typeface="+mn-lt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b="1" dirty="0">
                <a:latin typeface="+mn-lt"/>
              </a:rPr>
              <a:t>Eficiencia</a:t>
            </a:r>
            <a:r>
              <a:rPr lang="es-ES" sz="2200" dirty="0">
                <a:latin typeface="+mn-lt"/>
              </a:rPr>
              <a:t>: Uso del recurso lo mejor posible.</a:t>
            </a:r>
            <a:endParaRPr sz="2200" dirty="0">
              <a:latin typeface="+mn-lt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b="1" dirty="0">
                <a:latin typeface="+mn-lt"/>
              </a:rPr>
              <a:t>Control</a:t>
            </a:r>
            <a:r>
              <a:rPr lang="es-ES" sz="2200" dirty="0">
                <a:latin typeface="+mn-lt"/>
              </a:rPr>
              <a:t>: Protección y acceso correcto a memoria.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60" name="Google Shape;260;p23"/>
          <p:cNvGrpSpPr/>
          <p:nvPr/>
        </p:nvGrpSpPr>
        <p:grpSpPr>
          <a:xfrm>
            <a:off x="8153066" y="1322000"/>
            <a:ext cx="3396400" cy="4214000"/>
            <a:chOff x="8238925" y="1952025"/>
            <a:chExt cx="3396400" cy="4214000"/>
          </a:xfrm>
        </p:grpSpPr>
        <p:grpSp>
          <p:nvGrpSpPr>
            <p:cNvPr id="261" name="Google Shape;261;p23"/>
            <p:cNvGrpSpPr/>
            <p:nvPr/>
          </p:nvGrpSpPr>
          <p:grpSpPr>
            <a:xfrm>
              <a:off x="8326925" y="1952025"/>
              <a:ext cx="3308400" cy="4214000"/>
              <a:chOff x="8326925" y="1952025"/>
              <a:chExt cx="3308400" cy="4214000"/>
            </a:xfrm>
          </p:grpSpPr>
          <p:grpSp>
            <p:nvGrpSpPr>
              <p:cNvPr id="262" name="Google Shape;262;p23"/>
              <p:cNvGrpSpPr/>
              <p:nvPr/>
            </p:nvGrpSpPr>
            <p:grpSpPr>
              <a:xfrm>
                <a:off x="8326925" y="1952025"/>
                <a:ext cx="3308400" cy="2861100"/>
                <a:chOff x="8326925" y="1952025"/>
                <a:chExt cx="3308400" cy="2861100"/>
              </a:xfrm>
            </p:grpSpPr>
            <p:sp>
              <p:nvSpPr>
                <p:cNvPr id="263" name="Google Shape;263;p23"/>
                <p:cNvSpPr/>
                <p:nvPr/>
              </p:nvSpPr>
              <p:spPr>
                <a:xfrm>
                  <a:off x="8326925" y="1952025"/>
                  <a:ext cx="3308400" cy="28611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64" name="Google Shape;264;p23"/>
                <p:cNvSpPr txBox="1"/>
                <p:nvPr/>
              </p:nvSpPr>
              <p:spPr>
                <a:xfrm>
                  <a:off x="8918725" y="2022248"/>
                  <a:ext cx="21030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nsolas"/>
                      <a:ea typeface="Consolas"/>
                      <a:cs typeface="Consolas"/>
                      <a:sym typeface="Consolas"/>
                    </a:rPr>
                    <a:t>Chip CPU</a:t>
                  </a:r>
                  <a:endParaRPr sz="24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65" name="Google Shape;265;p23"/>
                <p:cNvSpPr/>
                <p:nvPr/>
              </p:nvSpPr>
              <p:spPr>
                <a:xfrm>
                  <a:off x="9475825" y="2651240"/>
                  <a:ext cx="988800" cy="995400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20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66" name="Google Shape;266;p23"/>
                <p:cNvSpPr/>
                <p:nvPr/>
              </p:nvSpPr>
              <p:spPr>
                <a:xfrm>
                  <a:off x="9265525" y="4103175"/>
                  <a:ext cx="1409400" cy="523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267" name="Google Shape;267;p23"/>
              <p:cNvSpPr/>
              <p:nvPr/>
            </p:nvSpPr>
            <p:spPr>
              <a:xfrm>
                <a:off x="8873125" y="5394125"/>
                <a:ext cx="2194200" cy="7719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/>
                    <a:ea typeface="Consolas"/>
                    <a:cs typeface="Consolas"/>
                    <a:sym typeface="Consolas"/>
                  </a:rPr>
                  <a:t>Main Memory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68" name="Google Shape;268;p23"/>
              <p:cNvCxnSpPr>
                <a:stCxn id="265" idx="4"/>
                <a:endCxn id="266" idx="0"/>
              </p:cNvCxnSpPr>
              <p:nvPr/>
            </p:nvCxnSpPr>
            <p:spPr>
              <a:xfrm>
                <a:off x="9970225" y="36466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69" name="Google Shape;269;p23"/>
              <p:cNvCxnSpPr>
                <a:stCxn id="266" idx="2"/>
                <a:endCxn id="267" idx="0"/>
              </p:cNvCxnSpPr>
              <p:nvPr/>
            </p:nvCxnSpPr>
            <p:spPr>
              <a:xfrm>
                <a:off x="9970225" y="4626375"/>
                <a:ext cx="0" cy="76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70" name="Google Shape;270;p23"/>
            <p:cNvSpPr txBox="1"/>
            <p:nvPr/>
          </p:nvSpPr>
          <p:spPr>
            <a:xfrm>
              <a:off x="8238925" y="3690250"/>
              <a:ext cx="166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8238925" y="4918975"/>
              <a:ext cx="166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 err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Address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72" name="Google Shape;272;p23"/>
          <p:cNvSpPr txBox="1"/>
          <p:nvPr/>
        </p:nvSpPr>
        <p:spPr>
          <a:xfrm>
            <a:off x="345875" y="5213675"/>
            <a:ext cx="2906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Soporte en hardware</a:t>
            </a:r>
            <a:endParaRPr sz="1200" dirty="0"/>
          </a:p>
        </p:txBody>
      </p:sp>
      <p:sp>
        <p:nvSpPr>
          <p:cNvPr id="273" name="Google Shape;273;p23"/>
          <p:cNvSpPr txBox="1"/>
          <p:nvPr/>
        </p:nvSpPr>
        <p:spPr>
          <a:xfrm>
            <a:off x="3520054" y="4518878"/>
            <a:ext cx="31476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Modos de CPU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Interrupciones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Registros</a:t>
            </a:r>
            <a:endParaRPr sz="18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Segment tables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Page Tables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447316" y="4492445"/>
            <a:ext cx="308100" cy="21240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10919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280" name="Google Shape;280;p24"/>
          <p:cNvSpPr txBox="1">
            <a:spLocks noGrp="1"/>
          </p:cNvSpPr>
          <p:nvPr>
            <p:ph type="body" idx="1"/>
          </p:nvPr>
        </p:nvSpPr>
        <p:spPr>
          <a:xfrm>
            <a:off x="589935" y="835600"/>
            <a:ext cx="11246415" cy="211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Las direcciones del espacio de direcciones son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virtuales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hardware traduce las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direcciones virtuales</a:t>
            </a:r>
            <a:r>
              <a:rPr lang="es-ES" sz="2400" dirty="0">
                <a:latin typeface="+mn-lt"/>
              </a:rPr>
              <a:t> a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direcciones físicas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La información es </a:t>
            </a:r>
            <a:r>
              <a:rPr lang="es-ES" sz="2400" b="1" dirty="0">
                <a:latin typeface="+mn-lt"/>
              </a:rPr>
              <a:t>almacenada</a:t>
            </a:r>
            <a:r>
              <a:rPr lang="es-ES" sz="2400" dirty="0">
                <a:latin typeface="+mn-lt"/>
              </a:rPr>
              <a:t> en las direcciones físicas.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SO debe configurar el hardware en ciertos momentos clave.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El SO administra la memoria e interviene cuando es necesario.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096000" y="5582000"/>
            <a:ext cx="1085100" cy="8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MMU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1831961" y="5168945"/>
            <a:ext cx="1085100" cy="8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86" name="Google Shape;286;p24"/>
          <p:cNvGrpSpPr/>
          <p:nvPr/>
        </p:nvGrpSpPr>
        <p:grpSpPr>
          <a:xfrm>
            <a:off x="3304594" y="3643879"/>
            <a:ext cx="806322" cy="1163511"/>
            <a:chOff x="1775100" y="4022850"/>
            <a:chExt cx="1076100" cy="1739701"/>
          </a:xfrm>
        </p:grpSpPr>
        <p:sp>
          <p:nvSpPr>
            <p:cNvPr id="287" name="Google Shape;287;p24"/>
            <p:cNvSpPr/>
            <p:nvPr/>
          </p:nvSpPr>
          <p:spPr>
            <a:xfrm>
              <a:off x="1775100" y="4022851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" name="Google Shape;288;p24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289" name="Google Shape;289;p24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/>
                    <a:ea typeface="Consolas"/>
                    <a:cs typeface="Consolas"/>
                    <a:sym typeface="Consolas"/>
                  </a:rPr>
                  <a:t>Code</a:t>
                </a:r>
                <a:endParaRPr sz="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0" name="Google Shape;290;p24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/>
                    <a:ea typeface="Consolas"/>
                    <a:cs typeface="Consolas"/>
                    <a:sym typeface="Consolas"/>
                  </a:rPr>
                  <a:t>Data</a:t>
                </a:r>
                <a:endParaRPr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/>
                    <a:ea typeface="Consolas"/>
                    <a:cs typeface="Consolas"/>
                    <a:sym typeface="Consolas"/>
                  </a:rPr>
                  <a:t>heap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2" name="Google Shape;292;p24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/>
                    <a:ea typeface="Consolas"/>
                    <a:cs typeface="Consolas"/>
                    <a:sym typeface="Consolas"/>
                  </a:rPr>
                  <a:t>stack</a:t>
                </a:r>
                <a:endParaRPr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93" name="Google Shape;293;p24"/>
              <p:cNvCxnSpPr>
                <a:stCxn id="291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94" name="Google Shape;294;p24"/>
              <p:cNvCxnSpPr>
                <a:stCxn id="292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95" name="Google Shape;295;p24"/>
          <p:cNvGrpSpPr/>
          <p:nvPr/>
        </p:nvGrpSpPr>
        <p:grpSpPr>
          <a:xfrm>
            <a:off x="9804811" y="4317920"/>
            <a:ext cx="822300" cy="2116200"/>
            <a:chOff x="10751325" y="1410900"/>
            <a:chExt cx="822300" cy="2116200"/>
          </a:xfrm>
        </p:grpSpPr>
        <p:sp>
          <p:nvSpPr>
            <p:cNvPr id="296" name="Google Shape;296;p24"/>
            <p:cNvSpPr/>
            <p:nvPr/>
          </p:nvSpPr>
          <p:spPr>
            <a:xfrm>
              <a:off x="10751325" y="1410900"/>
              <a:ext cx="822300" cy="21162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7" name="Google Shape;297;p24"/>
            <p:cNvGrpSpPr/>
            <p:nvPr/>
          </p:nvGrpSpPr>
          <p:grpSpPr>
            <a:xfrm>
              <a:off x="10759317" y="1913468"/>
              <a:ext cx="806322" cy="1163511"/>
              <a:chOff x="1775100" y="4022850"/>
              <a:chExt cx="1076100" cy="1739700"/>
            </a:xfrm>
          </p:grpSpPr>
          <p:sp>
            <p:nvSpPr>
              <p:cNvPr id="298" name="Google Shape;298;p24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9" name="Google Shape;299;p24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300" name="Google Shape;300;p24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01" name="Google Shape;301;p24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302" name="Google Shape;302;p24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303" name="Google Shape;303;p24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304" name="Google Shape;304;p24"/>
                <p:cNvCxnSpPr>
                  <a:stCxn id="30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05" name="Google Shape;305;p24"/>
                <p:cNvCxnSpPr>
                  <a:stCxn id="30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cxnSp>
        <p:nvCxnSpPr>
          <p:cNvPr id="306" name="Google Shape;306;p24"/>
          <p:cNvCxnSpPr>
            <a:cxnSpLocks/>
            <a:stCxn id="285" idx="3"/>
            <a:endCxn id="284" idx="1"/>
          </p:cNvCxnSpPr>
          <p:nvPr/>
        </p:nvCxnSpPr>
        <p:spPr>
          <a:xfrm>
            <a:off x="2917061" y="5609345"/>
            <a:ext cx="3178939" cy="41305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24"/>
          <p:cNvCxnSpPr>
            <a:stCxn id="284" idx="3"/>
            <a:endCxn id="302" idx="1"/>
          </p:cNvCxnSpPr>
          <p:nvPr/>
        </p:nvCxnSpPr>
        <p:spPr>
          <a:xfrm flipV="1">
            <a:off x="7181100" y="5312140"/>
            <a:ext cx="2631703" cy="71026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9" name="Google Shape;309;p24"/>
          <p:cNvSpPr txBox="1"/>
          <p:nvPr/>
        </p:nvSpPr>
        <p:spPr>
          <a:xfrm>
            <a:off x="3010583" y="5260622"/>
            <a:ext cx="1728231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8679686" y="4684620"/>
            <a:ext cx="102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Address</a:t>
            </a:r>
            <a:endParaRPr sz="10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3088613" y="3265962"/>
            <a:ext cx="1331659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9851911" y="3681783"/>
            <a:ext cx="77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 Memory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AFB1D3B-5F05-4C1A-8BC3-8C5FF9294D14}"/>
              </a:ext>
            </a:extLst>
          </p:cNvPr>
          <p:cNvCxnSpPr/>
          <p:nvPr/>
        </p:nvCxnSpPr>
        <p:spPr>
          <a:xfrm>
            <a:off x="2959085" y="3738982"/>
            <a:ext cx="2641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Google Shape;309;p24">
            <a:extLst>
              <a:ext uri="{FF2B5EF4-FFF2-40B4-BE49-F238E27FC236}">
                <a16:creationId xmlns:a16="http://schemas.microsoft.com/office/drawing/2014/main" id="{EF243A74-7416-4D1F-B110-07F623C3B787}"/>
              </a:ext>
            </a:extLst>
          </p:cNvPr>
          <p:cNvSpPr txBox="1"/>
          <p:nvPr/>
        </p:nvSpPr>
        <p:spPr>
          <a:xfrm>
            <a:off x="1330853" y="3569720"/>
            <a:ext cx="166839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18" name="Google Shape;318;p25"/>
          <p:cNvSpPr txBox="1">
            <a:spLocks noGrp="1"/>
          </p:cNvSpPr>
          <p:nvPr>
            <p:ph type="body" idx="1"/>
          </p:nvPr>
        </p:nvSpPr>
        <p:spPr>
          <a:xfrm>
            <a:off x="355650" y="835600"/>
            <a:ext cx="11480700" cy="565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Para el siguiente fragmento de código asuma que la variable x está en la dirección 15360 (15K) y que las direcciones de las instrucciones generadas en lenguaje ensamblador (similar al MIPS) están en las direcciones mostradas a continuación.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+mn-lt"/>
              </a:rPr>
              <a:t>¿Cómo se ejecutaría el código asociado a la instrucción </a:t>
            </a:r>
            <a:r>
              <a:rPr lang="es-ES" sz="2000" b="1" dirty="0">
                <a:solidFill>
                  <a:srgbClr val="FF0000"/>
                </a:solidFill>
                <a:latin typeface="+mn-lt"/>
                <a:ea typeface="Courier New"/>
                <a:cs typeface="Courier New"/>
                <a:sym typeface="Courier New"/>
              </a:rPr>
              <a:t>x = x + 3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?</a:t>
            </a:r>
            <a:endParaRPr sz="2000" dirty="0">
              <a:solidFill>
                <a:srgbClr val="FF00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19" name="Google Shape;319;p25"/>
          <p:cNvGrpSpPr/>
          <p:nvPr/>
        </p:nvGrpSpPr>
        <p:grpSpPr>
          <a:xfrm>
            <a:off x="1348087" y="2725262"/>
            <a:ext cx="9495825" cy="1872375"/>
            <a:chOff x="1524825" y="3335225"/>
            <a:chExt cx="9495825" cy="1872375"/>
          </a:xfrm>
        </p:grpSpPr>
        <p:sp>
          <p:nvSpPr>
            <p:cNvPr id="320" name="Google Shape;320;p25"/>
            <p:cNvSpPr txBox="1"/>
            <p:nvPr/>
          </p:nvSpPr>
          <p:spPr>
            <a:xfrm>
              <a:off x="1524825" y="3947900"/>
              <a:ext cx="2724900" cy="12597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void func() {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int x = 3000;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s-ES" sz="1800" b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 = x + 3;</a:t>
              </a:r>
              <a:endParaRPr sz="1800" b="1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321" name="Google Shape;321;p25"/>
            <p:cNvCxnSpPr>
              <a:endCxn id="322" idx="1"/>
            </p:cNvCxnSpPr>
            <p:nvPr/>
          </p:nvCxnSpPr>
          <p:spPr>
            <a:xfrm rot="10800000" flipH="1">
              <a:off x="3499350" y="4424900"/>
              <a:ext cx="4132500" cy="305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3" name="Google Shape;323;p25"/>
            <p:cNvSpPr txBox="1"/>
            <p:nvPr/>
          </p:nvSpPr>
          <p:spPr>
            <a:xfrm>
              <a:off x="1735400" y="3423050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Roboto"/>
                  <a:ea typeface="Roboto"/>
                  <a:cs typeface="Roboto"/>
                  <a:sym typeface="Roboto"/>
                </a:rPr>
                <a:t>Lenguaje C</a:t>
              </a:r>
              <a:endParaRPr sz="20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" name="Google Shape;324;p25"/>
            <p:cNvSpPr txBox="1"/>
            <p:nvPr/>
          </p:nvSpPr>
          <p:spPr>
            <a:xfrm>
              <a:off x="8646925" y="3335225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Roboto"/>
                  <a:ea typeface="Roboto"/>
                  <a:cs typeface="Roboto"/>
                  <a:sym typeface="Roboto"/>
                </a:rPr>
                <a:t>Ensamblador</a:t>
              </a:r>
              <a:endParaRPr sz="2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5" name="Google Shape;325;p25"/>
            <p:cNvGrpSpPr/>
            <p:nvPr/>
          </p:nvGrpSpPr>
          <p:grpSpPr>
            <a:xfrm>
              <a:off x="7631850" y="3915650"/>
              <a:ext cx="3388800" cy="1018500"/>
              <a:chOff x="7631850" y="3915650"/>
              <a:chExt cx="3388800" cy="1018500"/>
            </a:xfrm>
          </p:grpSpPr>
          <p:sp>
            <p:nvSpPr>
              <p:cNvPr id="326" name="Google Shape;326;p25"/>
              <p:cNvSpPr txBox="1"/>
              <p:nvPr/>
            </p:nvSpPr>
            <p:spPr>
              <a:xfrm>
                <a:off x="8359050" y="3915650"/>
                <a:ext cx="2661600" cy="10185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lw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err="1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addi</a:t>
                </a: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 $S0, $S0, 3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err="1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sw</a:t>
                </a: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2" name="Google Shape;322;p25"/>
              <p:cNvSpPr txBox="1"/>
              <p:nvPr/>
            </p:nvSpPr>
            <p:spPr>
              <a:xfrm>
                <a:off x="7631850" y="3917000"/>
                <a:ext cx="7272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128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132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135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 txBox="1">
            <a:spLocks noGrp="1"/>
          </p:cNvSpPr>
          <p:nvPr>
            <p:ph type="title"/>
          </p:nvPr>
        </p:nvSpPr>
        <p:spPr>
          <a:xfrm>
            <a:off x="264910" y="96038"/>
            <a:ext cx="89557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32" name="Google Shape;332;p26"/>
          <p:cNvSpPr txBox="1">
            <a:spLocks noGrp="1"/>
          </p:cNvSpPr>
          <p:nvPr>
            <p:ph type="body" idx="1"/>
          </p:nvPr>
        </p:nvSpPr>
        <p:spPr>
          <a:xfrm>
            <a:off x="264910" y="998514"/>
            <a:ext cx="11662179" cy="65937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33" name="Google Shape;333;p26"/>
          <p:cNvGrpSpPr/>
          <p:nvPr/>
        </p:nvGrpSpPr>
        <p:grpSpPr>
          <a:xfrm>
            <a:off x="510877" y="2294894"/>
            <a:ext cx="3388800" cy="1625725"/>
            <a:chOff x="1309163" y="2018550"/>
            <a:chExt cx="3388800" cy="1625725"/>
          </a:xfrm>
        </p:grpSpPr>
        <p:sp>
          <p:nvSpPr>
            <p:cNvPr id="334" name="Google Shape;334;p26"/>
            <p:cNvSpPr txBox="1"/>
            <p:nvPr/>
          </p:nvSpPr>
          <p:spPr>
            <a:xfrm>
              <a:off x="2378300" y="2018550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Roboto"/>
                  <a:ea typeface="Roboto"/>
                  <a:cs typeface="Roboto"/>
                  <a:sym typeface="Roboto"/>
                </a:rPr>
                <a:t>Ensamblador</a:t>
              </a:r>
              <a:endParaRPr sz="2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35" name="Google Shape;335;p26"/>
            <p:cNvGrpSpPr/>
            <p:nvPr/>
          </p:nvGrpSpPr>
          <p:grpSpPr>
            <a:xfrm>
              <a:off x="1309163" y="2625775"/>
              <a:ext cx="3388800" cy="1018500"/>
              <a:chOff x="7631850" y="3915650"/>
              <a:chExt cx="3388800" cy="1018500"/>
            </a:xfrm>
          </p:grpSpPr>
          <p:sp>
            <p:nvSpPr>
              <p:cNvPr id="336" name="Google Shape;336;p26"/>
              <p:cNvSpPr txBox="1"/>
              <p:nvPr/>
            </p:nvSpPr>
            <p:spPr>
              <a:xfrm>
                <a:off x="8359050" y="3915650"/>
                <a:ext cx="2661600" cy="10185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lw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err="1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addi</a:t>
                </a: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 $S0, $S0, 3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err="1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sw</a:t>
                </a: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37" name="Google Shape;337;p26"/>
              <p:cNvSpPr txBox="1"/>
              <p:nvPr/>
            </p:nvSpPr>
            <p:spPr>
              <a:xfrm>
                <a:off x="7631850" y="3917000"/>
                <a:ext cx="7272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128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132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135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338" name="Google Shape;3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726" y="2294894"/>
            <a:ext cx="6555025" cy="27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pic>
        <p:nvPicPr>
          <p:cNvPr id="344" name="Google Shape;3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590" y="779799"/>
            <a:ext cx="2615760" cy="594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77" y="2455129"/>
            <a:ext cx="2491500" cy="2152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27"/>
          <p:cNvGrpSpPr/>
          <p:nvPr/>
        </p:nvGrpSpPr>
        <p:grpSpPr>
          <a:xfrm>
            <a:off x="3463152" y="1805762"/>
            <a:ext cx="3804000" cy="3246475"/>
            <a:chOff x="7362525" y="1459350"/>
            <a:chExt cx="3804000" cy="3246475"/>
          </a:xfrm>
        </p:grpSpPr>
        <p:sp>
          <p:nvSpPr>
            <p:cNvPr id="347" name="Google Shape;347;p27"/>
            <p:cNvSpPr/>
            <p:nvPr/>
          </p:nvSpPr>
          <p:spPr>
            <a:xfrm>
              <a:off x="7362525" y="2013625"/>
              <a:ext cx="3804000" cy="2692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" name="Google Shape;348;p27"/>
            <p:cNvGrpSpPr/>
            <p:nvPr/>
          </p:nvGrpSpPr>
          <p:grpSpPr>
            <a:xfrm>
              <a:off x="7536650" y="2397550"/>
              <a:ext cx="3339000" cy="1924350"/>
              <a:chOff x="7536650" y="2397550"/>
              <a:chExt cx="3339000" cy="1924350"/>
            </a:xfrm>
          </p:grpSpPr>
          <p:grpSp>
            <p:nvGrpSpPr>
              <p:cNvPr id="349" name="Google Shape;349;p27"/>
              <p:cNvGrpSpPr/>
              <p:nvPr/>
            </p:nvGrpSpPr>
            <p:grpSpPr>
              <a:xfrm>
                <a:off x="7643750" y="2397550"/>
                <a:ext cx="3231900" cy="523200"/>
                <a:chOff x="7643750" y="2397550"/>
                <a:chExt cx="3231900" cy="523200"/>
              </a:xfrm>
            </p:grpSpPr>
            <p:sp>
              <p:nvSpPr>
                <p:cNvPr id="350" name="Google Shape;350;p27"/>
                <p:cNvSpPr/>
                <p:nvPr/>
              </p:nvSpPr>
              <p:spPr>
                <a:xfrm>
                  <a:off x="8259950" y="2458150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27"/>
                <p:cNvSpPr txBox="1"/>
                <p:nvPr/>
              </p:nvSpPr>
              <p:spPr>
                <a:xfrm>
                  <a:off x="7643750" y="2397550"/>
                  <a:ext cx="5091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IR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352" name="Google Shape;352;p27"/>
              <p:cNvGrpSpPr/>
              <p:nvPr/>
            </p:nvGrpSpPr>
            <p:grpSpPr>
              <a:xfrm>
                <a:off x="7643750" y="3098125"/>
                <a:ext cx="3231900" cy="523200"/>
                <a:chOff x="7643750" y="3098125"/>
                <a:chExt cx="3231900" cy="523200"/>
              </a:xfrm>
            </p:grpSpPr>
            <p:sp>
              <p:nvSpPr>
                <p:cNvPr id="353" name="Google Shape;353;p27"/>
                <p:cNvSpPr/>
                <p:nvPr/>
              </p:nvSpPr>
              <p:spPr>
                <a:xfrm>
                  <a:off x="8259950" y="3158725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27"/>
                <p:cNvSpPr txBox="1"/>
                <p:nvPr/>
              </p:nvSpPr>
              <p:spPr>
                <a:xfrm>
                  <a:off x="7643750" y="3098125"/>
                  <a:ext cx="5091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PC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355" name="Google Shape;355;p27"/>
              <p:cNvGrpSpPr/>
              <p:nvPr/>
            </p:nvGrpSpPr>
            <p:grpSpPr>
              <a:xfrm>
                <a:off x="7536650" y="3798700"/>
                <a:ext cx="3339000" cy="523200"/>
                <a:chOff x="7536650" y="3798700"/>
                <a:chExt cx="3339000" cy="523200"/>
              </a:xfrm>
            </p:grpSpPr>
            <p:sp>
              <p:nvSpPr>
                <p:cNvPr id="356" name="Google Shape;356;p27"/>
                <p:cNvSpPr/>
                <p:nvPr/>
              </p:nvSpPr>
              <p:spPr>
                <a:xfrm>
                  <a:off x="8259950" y="3859300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27"/>
                <p:cNvSpPr txBox="1"/>
                <p:nvPr/>
              </p:nvSpPr>
              <p:spPr>
                <a:xfrm>
                  <a:off x="7536650" y="3798700"/>
                  <a:ext cx="7233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$s0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358" name="Google Shape;358;p27"/>
            <p:cNvSpPr txBox="1"/>
            <p:nvPr/>
          </p:nvSpPr>
          <p:spPr>
            <a:xfrm>
              <a:off x="8969875" y="1459350"/>
              <a:ext cx="7770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2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pic>
        <p:nvPicPr>
          <p:cNvPr id="364" name="Google Shape;3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35" y="928914"/>
            <a:ext cx="2550678" cy="5731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28"/>
          <p:cNvGrpSpPr/>
          <p:nvPr/>
        </p:nvGrpSpPr>
        <p:grpSpPr>
          <a:xfrm>
            <a:off x="3344005" y="1058450"/>
            <a:ext cx="3388800" cy="1018500"/>
            <a:chOff x="7471100" y="3795100"/>
            <a:chExt cx="3388800" cy="1018500"/>
          </a:xfrm>
        </p:grpSpPr>
        <p:sp>
          <p:nvSpPr>
            <p:cNvPr id="366" name="Google Shape;366;p28"/>
            <p:cNvSpPr txBox="1"/>
            <p:nvPr/>
          </p:nvSpPr>
          <p:spPr>
            <a:xfrm>
              <a:off x="8198300" y="3795100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 err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addi</a:t>
              </a: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$S0, 3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 err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sw</a:t>
              </a: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7471100" y="3796450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132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135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8" name="Google Shape;368;p28"/>
          <p:cNvGrpSpPr/>
          <p:nvPr/>
        </p:nvGrpSpPr>
        <p:grpSpPr>
          <a:xfrm>
            <a:off x="3335794" y="3073121"/>
            <a:ext cx="3388800" cy="1018500"/>
            <a:chOff x="7318700" y="3788400"/>
            <a:chExt cx="3388800" cy="1018500"/>
          </a:xfrm>
        </p:grpSpPr>
        <p:sp>
          <p:nvSpPr>
            <p:cNvPr id="369" name="Google Shape;369;p28"/>
            <p:cNvSpPr txBox="1"/>
            <p:nvPr/>
          </p:nvSpPr>
          <p:spPr>
            <a:xfrm>
              <a:off x="8045900" y="3788400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 err="1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addi</a:t>
              </a: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$S0, 3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 err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sw</a:t>
              </a: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0" name="Google Shape;370;p28"/>
            <p:cNvSpPr txBox="1"/>
            <p:nvPr/>
          </p:nvSpPr>
          <p:spPr>
            <a:xfrm>
              <a:off x="7318700" y="3789750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132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135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1" name="Google Shape;371;p28"/>
          <p:cNvGrpSpPr/>
          <p:nvPr/>
        </p:nvGrpSpPr>
        <p:grpSpPr>
          <a:xfrm>
            <a:off x="3335794" y="5038850"/>
            <a:ext cx="3388800" cy="1018500"/>
            <a:chOff x="7233275" y="4129925"/>
            <a:chExt cx="3388800" cy="1018500"/>
          </a:xfrm>
        </p:grpSpPr>
        <p:sp>
          <p:nvSpPr>
            <p:cNvPr id="372" name="Google Shape;372;p28"/>
            <p:cNvSpPr txBox="1"/>
            <p:nvPr/>
          </p:nvSpPr>
          <p:spPr>
            <a:xfrm>
              <a:off x="7960475" y="4129925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 err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addi</a:t>
              </a: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$S0, 3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 err="1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sw</a:t>
              </a: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15360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3" name="Google Shape;373;p28"/>
            <p:cNvSpPr txBox="1"/>
            <p:nvPr/>
          </p:nvSpPr>
          <p:spPr>
            <a:xfrm>
              <a:off x="7233275" y="4131275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132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135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74" name="Google Shape;374;p28"/>
          <p:cNvSpPr txBox="1"/>
          <p:nvPr/>
        </p:nvSpPr>
        <p:spPr>
          <a:xfrm>
            <a:off x="6822815" y="1058450"/>
            <a:ext cx="49425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Trae (</a:t>
            </a:r>
            <a:r>
              <a:rPr lang="es-ES" sz="1800" b="1" dirty="0" err="1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fetch</a:t>
            </a: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instrucción desde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128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Ejecuta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esta instrucción </a:t>
            </a: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[Acceso a </a:t>
            </a:r>
            <a:r>
              <a:rPr lang="es-ES" sz="1800" b="1" dirty="0" err="1">
                <a:latin typeface="Roboto"/>
                <a:ea typeface="Roboto"/>
                <a:cs typeface="Roboto"/>
                <a:sym typeface="Roboto"/>
              </a:rPr>
              <a:t>Mem</a:t>
            </a: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 b="1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b="1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Carga</a:t>
            </a:r>
            <a:r>
              <a:rPr lang="es-ES" sz="1800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load</a:t>
            </a:r>
            <a:r>
              <a:rPr lang="es-ES" sz="1800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dato desde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15K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28"/>
          <p:cNvSpPr txBox="1"/>
          <p:nvPr/>
        </p:nvSpPr>
        <p:spPr>
          <a:xfrm>
            <a:off x="6888075" y="3073121"/>
            <a:ext cx="51441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Trae (</a:t>
            </a:r>
            <a:r>
              <a:rPr lang="es-ES" sz="1800" b="1" dirty="0" err="1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fetch</a:t>
            </a: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instrucción desde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132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Ejecuta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esta instrucción </a:t>
            </a: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[No acceso a </a:t>
            </a:r>
            <a:r>
              <a:rPr lang="es-ES" sz="1800" b="1" dirty="0" err="1">
                <a:latin typeface="Roboto"/>
                <a:ea typeface="Roboto"/>
                <a:cs typeface="Roboto"/>
                <a:sym typeface="Roboto"/>
              </a:rPr>
              <a:t>Mem</a:t>
            </a: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 b="1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b="1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Incremento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$s0</a:t>
            </a:r>
            <a:r>
              <a:rPr lang="es-ES" sz="18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en 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6" name="Google Shape;376;p28"/>
          <p:cNvSpPr txBox="1"/>
          <p:nvPr/>
        </p:nvSpPr>
        <p:spPr>
          <a:xfrm>
            <a:off x="6888075" y="5021829"/>
            <a:ext cx="51441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Trae (</a:t>
            </a:r>
            <a:r>
              <a:rPr lang="es-ES" sz="1800" b="1" dirty="0" err="1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fetch</a:t>
            </a: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instrucción desde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135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Ejecuta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esta instrucción </a:t>
            </a:r>
            <a:r>
              <a:rPr lang="es-E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[Acceso a </a:t>
            </a:r>
            <a:r>
              <a:rPr lang="es-ES" sz="18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Mem</a:t>
            </a:r>
            <a:r>
              <a:rPr lang="es-E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b="1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Guarda</a:t>
            </a:r>
            <a:r>
              <a:rPr lang="es-ES" sz="1800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es-ES" sz="1800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dato desde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15K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 txBox="1">
            <a:spLocks noGrp="1"/>
          </p:cNvSpPr>
          <p:nvPr>
            <p:ph type="title"/>
          </p:nvPr>
        </p:nvSpPr>
        <p:spPr>
          <a:xfrm>
            <a:off x="174801" y="96038"/>
            <a:ext cx="112334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Reasignación del espacio de direccionamiento</a:t>
            </a:r>
          </a:p>
        </p:txBody>
      </p:sp>
      <p:pic>
        <p:nvPicPr>
          <p:cNvPr id="383" name="Google Shape;3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725" y="1451075"/>
            <a:ext cx="7001474" cy="515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9"/>
          <p:cNvSpPr txBox="1">
            <a:spLocks noGrp="1"/>
          </p:cNvSpPr>
          <p:nvPr>
            <p:ph type="body" idx="1"/>
          </p:nvPr>
        </p:nvSpPr>
        <p:spPr>
          <a:xfrm>
            <a:off x="421544" y="1165650"/>
            <a:ext cx="4488504" cy="4526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ES" sz="2000" dirty="0">
                <a:latin typeface="+mn-lt"/>
              </a:rPr>
              <a:t>El SO ubica el proceso en una dirección diferente de 0.</a:t>
            </a:r>
          </a:p>
          <a:p>
            <a:pPr marL="800100" lvl="1">
              <a:lnSpc>
                <a:spcPct val="100000"/>
              </a:lnSpc>
              <a:spcBef>
                <a:spcPts val="480"/>
              </a:spcBef>
            </a:pPr>
            <a:r>
              <a:rPr lang="es-ES" sz="1800" dirty="0">
                <a:latin typeface="+mn-lt"/>
              </a:rPr>
              <a:t>Potencialmente </a:t>
            </a:r>
            <a:r>
              <a:rPr lang="es-ES" sz="1800" b="1" dirty="0">
                <a:solidFill>
                  <a:srgbClr val="FF0000"/>
                </a:solidFill>
                <a:latin typeface="+mn-lt"/>
              </a:rPr>
              <a:t>cualquier lugar!</a:t>
            </a:r>
            <a:endParaRPr sz="1800" b="1" dirty="0">
              <a:solidFill>
                <a:srgbClr val="FF00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>
            <a:spLocks noGrp="1"/>
          </p:cNvSpPr>
          <p:nvPr>
            <p:ph type="title"/>
          </p:nvPr>
        </p:nvSpPr>
        <p:spPr>
          <a:xfrm>
            <a:off x="566057" y="96038"/>
            <a:ext cx="86545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 – Pregunta clave</a:t>
            </a:r>
            <a:endParaRPr dirty="0">
              <a:latin typeface="+mj-lt"/>
            </a:endParaRPr>
          </a:p>
        </p:txBody>
      </p:sp>
      <p:sp>
        <p:nvSpPr>
          <p:cNvPr id="391" name="Google Shape;391;p30"/>
          <p:cNvSpPr txBox="1">
            <a:spLocks noGrp="1"/>
          </p:cNvSpPr>
          <p:nvPr>
            <p:ph type="body" idx="1"/>
          </p:nvPr>
        </p:nvSpPr>
        <p:spPr>
          <a:xfrm>
            <a:off x="1174725" y="1303534"/>
            <a:ext cx="10219200" cy="615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0000FF"/>
                </a:solidFill>
                <a:latin typeface="+mn-lt"/>
              </a:rPr>
              <a:t>¿Cómo virtualizar memoria de manera eficiente y flexible?</a:t>
            </a:r>
            <a:endParaRPr b="1" dirty="0">
              <a:solidFill>
                <a:srgbClr val="0000FF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92" name="Google Shape;392;p30"/>
          <p:cNvGrpSpPr/>
          <p:nvPr/>
        </p:nvGrpSpPr>
        <p:grpSpPr>
          <a:xfrm>
            <a:off x="1026925" y="4786121"/>
            <a:ext cx="10949400" cy="1701054"/>
            <a:chOff x="1094825" y="3502875"/>
            <a:chExt cx="10949400" cy="2601000"/>
          </a:xfrm>
        </p:grpSpPr>
        <p:grpSp>
          <p:nvGrpSpPr>
            <p:cNvPr id="393" name="Google Shape;393;p30"/>
            <p:cNvGrpSpPr/>
            <p:nvPr/>
          </p:nvGrpSpPr>
          <p:grpSpPr>
            <a:xfrm>
              <a:off x="3591725" y="3502875"/>
              <a:ext cx="5773200" cy="2601000"/>
              <a:chOff x="3401900" y="3456225"/>
              <a:chExt cx="5773200" cy="2601000"/>
            </a:xfrm>
          </p:grpSpPr>
          <p:sp>
            <p:nvSpPr>
              <p:cNvPr id="394" name="Google Shape;394;p30"/>
              <p:cNvSpPr/>
              <p:nvPr/>
            </p:nvSpPr>
            <p:spPr>
              <a:xfrm>
                <a:off x="4883000" y="3456225"/>
                <a:ext cx="2811000" cy="2601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3000" b="1" dirty="0">
                    <a:latin typeface="Courier New"/>
                    <a:ea typeface="Courier New"/>
                    <a:cs typeface="Courier New"/>
                    <a:sym typeface="Courier New"/>
                  </a:rPr>
                  <a:t>Address </a:t>
                </a:r>
                <a:r>
                  <a:rPr lang="es-ES" sz="3000" b="1" dirty="0" err="1">
                    <a:latin typeface="Courier New"/>
                    <a:ea typeface="Courier New"/>
                    <a:cs typeface="Courier New"/>
                    <a:sym typeface="Courier New"/>
                  </a:rPr>
                  <a:t>Translation</a:t>
                </a:r>
                <a:endParaRPr sz="30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395" name="Google Shape;395;p30"/>
              <p:cNvCxnSpPr/>
              <p:nvPr/>
            </p:nvCxnSpPr>
            <p:spPr>
              <a:xfrm>
                <a:off x="34019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96" name="Google Shape;396;p30"/>
              <p:cNvCxnSpPr/>
              <p:nvPr/>
            </p:nvCxnSpPr>
            <p:spPr>
              <a:xfrm>
                <a:off x="76940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97" name="Google Shape;397;p30"/>
            <p:cNvSpPr txBox="1"/>
            <p:nvPr/>
          </p:nvSpPr>
          <p:spPr>
            <a:xfrm>
              <a:off x="1094825" y="4403175"/>
              <a:ext cx="2496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Virtual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8" name="Google Shape;398;p30"/>
            <p:cNvSpPr txBox="1"/>
            <p:nvPr/>
          </p:nvSpPr>
          <p:spPr>
            <a:xfrm>
              <a:off x="9364925" y="4403175"/>
              <a:ext cx="26793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urier New"/>
                  <a:ea typeface="Courier New"/>
                  <a:cs typeface="Courier New"/>
                  <a:sym typeface="Courier New"/>
                </a:rPr>
                <a:t>Physical</a:t>
              </a: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99" name="Google Shape;3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775" y="2380513"/>
            <a:ext cx="2559875" cy="191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30"/>
          <p:cNvCxnSpPr/>
          <p:nvPr/>
        </p:nvCxnSpPr>
        <p:spPr>
          <a:xfrm>
            <a:off x="4938125" y="3862100"/>
            <a:ext cx="843900" cy="736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01" name="Google Shape;4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025" y="3192350"/>
            <a:ext cx="1004600" cy="10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972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Dynamic Relocation - Reasignación dinámica</a:t>
            </a:r>
            <a:endParaRPr dirty="0">
              <a:latin typeface="+mj-lt"/>
            </a:endParaRPr>
          </a:p>
        </p:txBody>
      </p:sp>
      <p:sp>
        <p:nvSpPr>
          <p:cNvPr id="413" name="Google Shape;413;p32"/>
          <p:cNvSpPr txBox="1">
            <a:spLocks noGrp="1"/>
          </p:cNvSpPr>
          <p:nvPr>
            <p:ph type="body" idx="1"/>
          </p:nvPr>
        </p:nvSpPr>
        <p:spPr>
          <a:xfrm>
            <a:off x="592675" y="1102125"/>
            <a:ext cx="6562868" cy="3163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Conceptos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rgbClr val="70AD47"/>
                </a:solidFill>
                <a:latin typeface="+mn-lt"/>
              </a:rPr>
              <a:t>Objetivo</a:t>
            </a:r>
            <a:r>
              <a:rPr lang="es-ES" sz="2000" dirty="0">
                <a:solidFill>
                  <a:srgbClr val="70AD47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Traducir una dirección virtual a una física al agregar un 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offset</a:t>
            </a:r>
            <a:r>
              <a:rPr lang="es-ES" sz="2000" dirty="0">
                <a:latin typeface="+mn-lt"/>
              </a:rPr>
              <a:t> fijo cada vez 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Tambien conocida </a:t>
            </a:r>
            <a:r>
              <a:rPr lang="es-ES" sz="2000" b="1" dirty="0">
                <a:latin typeface="+mn-lt"/>
              </a:rPr>
              <a:t>Hardware-</a:t>
            </a:r>
            <a:r>
              <a:rPr lang="es-ES" sz="2000" b="1" dirty="0" err="1">
                <a:latin typeface="+mn-lt"/>
              </a:rPr>
              <a:t>based</a:t>
            </a:r>
            <a:r>
              <a:rPr lang="es-ES" sz="2000" b="1" dirty="0">
                <a:latin typeface="+mn-lt"/>
              </a:rPr>
              <a:t> realocation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ó</a:t>
            </a:r>
            <a:r>
              <a:rPr lang="es-ES" sz="2000" dirty="0">
                <a:latin typeface="+mn-lt"/>
              </a:rPr>
              <a:t> </a:t>
            </a:r>
            <a:r>
              <a:rPr lang="es-ES" sz="2000" b="1" dirty="0">
                <a:latin typeface="+mn-lt"/>
              </a:rPr>
              <a:t>base &amp; bound realocation</a:t>
            </a:r>
            <a:endParaRPr sz="20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Esta técnica hace uso de los registros </a:t>
            </a:r>
            <a:r>
              <a:rPr lang="es-ES" sz="2000" b="1" dirty="0">
                <a:latin typeface="+mn-lt"/>
              </a:rPr>
              <a:t>base</a:t>
            </a:r>
            <a:r>
              <a:rPr lang="es-ES" sz="2000" dirty="0">
                <a:latin typeface="+mn-lt"/>
              </a:rPr>
              <a:t> y </a:t>
            </a:r>
            <a:r>
              <a:rPr lang="es-ES" sz="2000" b="1" dirty="0">
                <a:latin typeface="+mn-lt"/>
              </a:rPr>
              <a:t>bounds</a:t>
            </a:r>
            <a:r>
              <a:rPr lang="es-ES" sz="2000" dirty="0">
                <a:latin typeface="+mn-lt"/>
              </a:rPr>
              <a:t>: 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base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Almacena la dirección física más pequeña.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bounds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Almacena el tamaño del segmento de memoria virtual asociada al proceso.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414" name="Google Shape;414;p32"/>
          <p:cNvGrpSpPr/>
          <p:nvPr/>
        </p:nvGrpSpPr>
        <p:grpSpPr>
          <a:xfrm>
            <a:off x="8005450" y="1566825"/>
            <a:ext cx="3308400" cy="4491900"/>
            <a:chOff x="8005450" y="1566825"/>
            <a:chExt cx="3308400" cy="4491900"/>
          </a:xfrm>
        </p:grpSpPr>
        <p:sp>
          <p:nvSpPr>
            <p:cNvPr id="415" name="Google Shape;415;p3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6" name="Google Shape;416;p32"/>
            <p:cNvSpPr txBox="1"/>
            <p:nvPr/>
          </p:nvSpPr>
          <p:spPr>
            <a:xfrm>
              <a:off x="8597250" y="1637048"/>
              <a:ext cx="2103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17" name="Google Shape;417;p32"/>
            <p:cNvGrpSpPr/>
            <p:nvPr/>
          </p:nvGrpSpPr>
          <p:grpSpPr>
            <a:xfrm>
              <a:off x="8587600" y="2266040"/>
              <a:ext cx="2112650" cy="3163135"/>
              <a:chOff x="8587600" y="2266040"/>
              <a:chExt cx="2112650" cy="3163135"/>
            </a:xfrm>
          </p:grpSpPr>
          <p:sp>
            <p:nvSpPr>
              <p:cNvPr id="418" name="Google Shape;418;p3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20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19" name="Google Shape;419;p32"/>
              <p:cNvCxnSpPr>
                <a:stCxn id="418" idx="4"/>
                <a:endCxn id="420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21" name="Google Shape;421;p32"/>
              <p:cNvGrpSpPr/>
              <p:nvPr/>
            </p:nvGrpSpPr>
            <p:grpSpPr>
              <a:xfrm>
                <a:off x="8587600" y="3717975"/>
                <a:ext cx="2112650" cy="1711200"/>
                <a:chOff x="8587600" y="3717975"/>
                <a:chExt cx="2112650" cy="1711200"/>
              </a:xfrm>
            </p:grpSpPr>
            <p:grpSp>
              <p:nvGrpSpPr>
                <p:cNvPr id="422" name="Google Shape;422;p32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20" name="Google Shape;420;p32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23" name="Google Shape;423;p32"/>
                  <p:cNvSpPr txBox="1"/>
                  <p:nvPr/>
                </p:nvSpPr>
                <p:spPr>
                  <a:xfrm>
                    <a:off x="9216100" y="3718050"/>
                    <a:ext cx="887100" cy="492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20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24" name="Google Shape;424;p32"/>
                <p:cNvGrpSpPr/>
                <p:nvPr/>
              </p:nvGrpSpPr>
              <p:grpSpPr>
                <a:xfrm>
                  <a:off x="8638450" y="4265550"/>
                  <a:ext cx="1901250" cy="461700"/>
                  <a:chOff x="8638450" y="4265550"/>
                  <a:chExt cx="1901250" cy="461700"/>
                </a:xfrm>
              </p:grpSpPr>
              <p:sp>
                <p:nvSpPr>
                  <p:cNvPr id="425" name="Google Shape;425;p32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6" name="Google Shape;426;p32"/>
                  <p:cNvSpPr txBox="1"/>
                  <p:nvPr/>
                </p:nvSpPr>
                <p:spPr>
                  <a:xfrm>
                    <a:off x="8638450" y="4265550"/>
                    <a:ext cx="8871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12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27" name="Google Shape;427;p32"/>
                <p:cNvGrpSpPr/>
                <p:nvPr/>
              </p:nvGrpSpPr>
              <p:grpSpPr>
                <a:xfrm>
                  <a:off x="8587600" y="4782150"/>
                  <a:ext cx="1952100" cy="461700"/>
                  <a:chOff x="8587600" y="4782150"/>
                  <a:chExt cx="1952100" cy="461700"/>
                </a:xfrm>
              </p:grpSpPr>
              <p:sp>
                <p:nvSpPr>
                  <p:cNvPr id="428" name="Google Shape;428;p32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9" name="Google Shape;429;p32"/>
                  <p:cNvSpPr txBox="1"/>
                  <p:nvPr/>
                </p:nvSpPr>
                <p:spPr>
                  <a:xfrm>
                    <a:off x="8587600" y="4782150"/>
                    <a:ext cx="9888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02325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Dynamic Relocation - Reasignación dinámica</a:t>
            </a:r>
            <a:endParaRPr dirty="0"/>
          </a:p>
        </p:txBody>
      </p:sp>
      <p:sp>
        <p:nvSpPr>
          <p:cNvPr id="435" name="Google Shape;435;p33"/>
          <p:cNvSpPr txBox="1">
            <a:spLocks noGrp="1"/>
          </p:cNvSpPr>
          <p:nvPr>
            <p:ph type="body" idx="1"/>
          </p:nvPr>
        </p:nvSpPr>
        <p:spPr>
          <a:xfrm>
            <a:off x="377371" y="965812"/>
            <a:ext cx="7880400" cy="53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j-lt"/>
              </a:rPr>
              <a:t>MMU (</a:t>
            </a:r>
            <a:r>
              <a:rPr lang="es-ES" sz="2800" b="1" dirty="0" err="1">
                <a:solidFill>
                  <a:schemeClr val="accent1"/>
                </a:solidFill>
                <a:latin typeface="+mj-lt"/>
              </a:rPr>
              <a:t>Memory</a:t>
            </a:r>
            <a:r>
              <a:rPr lang="es-ES" sz="2800" b="1" dirty="0">
                <a:solidFill>
                  <a:schemeClr val="accent1"/>
                </a:solidFill>
                <a:latin typeface="+mj-lt"/>
              </a:rPr>
              <a:t> Management </a:t>
            </a:r>
            <a:r>
              <a:rPr lang="es-ES" sz="2800" b="1" dirty="0" err="1">
                <a:solidFill>
                  <a:schemeClr val="accent1"/>
                </a:solidFill>
                <a:latin typeface="+mj-lt"/>
              </a:rPr>
              <a:t>Unit</a:t>
            </a:r>
            <a:r>
              <a:rPr lang="es-ES" sz="2800" b="1" dirty="0">
                <a:solidFill>
                  <a:schemeClr val="accent1"/>
                </a:solidFill>
                <a:latin typeface="+mj-lt"/>
              </a:rPr>
              <a:t>)</a:t>
            </a:r>
            <a:endParaRPr sz="3400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2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</p:txBody>
      </p:sp>
      <p:pic>
        <p:nvPicPr>
          <p:cNvPr id="436" name="Google Shape;4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662" y="1687352"/>
            <a:ext cx="7880324" cy="4795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33"/>
          <p:cNvGrpSpPr/>
          <p:nvPr/>
        </p:nvGrpSpPr>
        <p:grpSpPr>
          <a:xfrm>
            <a:off x="1203501" y="1880909"/>
            <a:ext cx="2340362" cy="3256628"/>
            <a:chOff x="8005450" y="1566825"/>
            <a:chExt cx="3308400" cy="4491900"/>
          </a:xfrm>
        </p:grpSpPr>
        <p:sp>
          <p:nvSpPr>
            <p:cNvPr id="438" name="Google Shape;438;p3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9" name="Google Shape;439;p33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40" name="Google Shape;440;p33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441" name="Google Shape;441;p33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42" name="Google Shape;442;p33"/>
              <p:cNvCxnSpPr>
                <a:stCxn id="441" idx="4"/>
                <a:endCxn id="443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44" name="Google Shape;444;p33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445" name="Google Shape;445;p33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43" name="Google Shape;443;p33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46" name="Google Shape;446;p33"/>
                  <p:cNvSpPr txBox="1"/>
                  <p:nvPr/>
                </p:nvSpPr>
                <p:spPr>
                  <a:xfrm>
                    <a:off x="9216100" y="3718050"/>
                    <a:ext cx="887100" cy="5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47" name="Google Shape;447;p33"/>
                <p:cNvGrpSpPr/>
                <p:nvPr/>
              </p:nvGrpSpPr>
              <p:grpSpPr>
                <a:xfrm>
                  <a:off x="8638450" y="4265550"/>
                  <a:ext cx="1901250" cy="509400"/>
                  <a:chOff x="8638450" y="4265550"/>
                  <a:chExt cx="1901250" cy="509400"/>
                </a:xfrm>
              </p:grpSpPr>
              <p:sp>
                <p:nvSpPr>
                  <p:cNvPr id="448" name="Google Shape;448;p33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3"/>
                  <p:cNvSpPr txBox="1"/>
                  <p:nvPr/>
                </p:nvSpPr>
                <p:spPr>
                  <a:xfrm>
                    <a:off x="8638450" y="4265550"/>
                    <a:ext cx="8871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50" name="Google Shape;450;p33"/>
                <p:cNvGrpSpPr/>
                <p:nvPr/>
              </p:nvGrpSpPr>
              <p:grpSpPr>
                <a:xfrm>
                  <a:off x="8483375" y="4782162"/>
                  <a:ext cx="2056325" cy="509400"/>
                  <a:chOff x="8483375" y="4782162"/>
                  <a:chExt cx="2056325" cy="509400"/>
                </a:xfrm>
              </p:grpSpPr>
              <p:sp>
                <p:nvSpPr>
                  <p:cNvPr id="451" name="Google Shape;451;p33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2" name="Google Shape;452;p33"/>
                  <p:cNvSpPr txBox="1"/>
                  <p:nvPr/>
                </p:nvSpPr>
                <p:spPr>
                  <a:xfrm>
                    <a:off x="8483375" y="4782162"/>
                    <a:ext cx="10929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453" name="Google Shape;453;p33"/>
          <p:cNvSpPr txBox="1"/>
          <p:nvPr/>
        </p:nvSpPr>
        <p:spPr>
          <a:xfrm>
            <a:off x="693105" y="5289380"/>
            <a:ext cx="3361151" cy="107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MMU</a:t>
            </a:r>
            <a:r>
              <a:rPr lang="es-ES" sz="18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Hardware encargado de realizar la traducción de direcciones lógicas a físicas.</a:t>
            </a:r>
            <a:endParaRPr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459" name="Google Shape;459;p34"/>
          <p:cNvSpPr txBox="1">
            <a:spLocks noGrp="1"/>
          </p:cNvSpPr>
          <p:nvPr>
            <p:ph type="body" idx="1"/>
          </p:nvPr>
        </p:nvSpPr>
        <p:spPr>
          <a:xfrm>
            <a:off x="735400" y="904075"/>
            <a:ext cx="6435175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Cuando el proceso es creado, el SO decide </a:t>
            </a:r>
            <a:r>
              <a:rPr lang="es-ES" sz="2400" b="1" dirty="0">
                <a:latin typeface="+mn-lt"/>
              </a:rPr>
              <a:t>dónde</a:t>
            </a:r>
            <a:r>
              <a:rPr lang="es-ES" sz="2400" dirty="0">
                <a:latin typeface="+mn-lt"/>
              </a:rPr>
              <a:t> (en memoria física) será </a:t>
            </a:r>
            <a:r>
              <a:rPr lang="es-ES" sz="2400" b="1" dirty="0">
                <a:latin typeface="+mn-lt"/>
              </a:rPr>
              <a:t>cargada</a:t>
            </a:r>
            <a:r>
              <a:rPr lang="es-ES" sz="2400" dirty="0">
                <a:latin typeface="+mn-lt"/>
              </a:rPr>
              <a:t> su imagen de memoria.  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Fija un valor para el registro base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1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00"/>
              <a:buChar char="○"/>
            </a:pPr>
            <a:r>
              <a:rPr lang="es-ES" sz="2400" dirty="0">
                <a:latin typeface="+mn-lt"/>
              </a:rPr>
              <a:t>Las direcciones virtuales no deben ser mayores al valor en el registro bounds </a:t>
            </a:r>
            <a:r>
              <a:rPr lang="es-ES" sz="2600" dirty="0">
                <a:latin typeface="+mn-lt"/>
              </a:rPr>
              <a:t>(limit) ni negativas.</a:t>
            </a:r>
            <a:endParaRPr sz="26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460" name="Google Shape;460;p34"/>
          <p:cNvGrpSpPr/>
          <p:nvPr/>
        </p:nvGrpSpPr>
        <p:grpSpPr>
          <a:xfrm>
            <a:off x="1952350" y="2758040"/>
            <a:ext cx="4246800" cy="723300"/>
            <a:chOff x="1628875" y="2402100"/>
            <a:chExt cx="4246800" cy="723300"/>
          </a:xfrm>
        </p:grpSpPr>
        <p:sp>
          <p:nvSpPr>
            <p:cNvPr id="461" name="Google Shape;461;p34"/>
            <p:cNvSpPr/>
            <p:nvPr/>
          </p:nvSpPr>
          <p:spPr>
            <a:xfrm>
              <a:off x="1628875" y="2402100"/>
              <a:ext cx="4246800" cy="7233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62" name="Google Shape;462;p34" title="[0,0,0,&quot;https://latex-staging.easygenerator.com/eqneditor/editor.php?latex=PA%20%3D%20VA%20%2B%20base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3512" y="2566588"/>
              <a:ext cx="3616475" cy="39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3" name="Google Shape;463;p34"/>
          <p:cNvGrpSpPr/>
          <p:nvPr/>
        </p:nvGrpSpPr>
        <p:grpSpPr>
          <a:xfrm>
            <a:off x="2084275" y="5312400"/>
            <a:ext cx="4246800" cy="723300"/>
            <a:chOff x="1628875" y="4767425"/>
            <a:chExt cx="4246800" cy="723300"/>
          </a:xfrm>
        </p:grpSpPr>
        <p:sp>
          <p:nvSpPr>
            <p:cNvPr id="464" name="Google Shape;464;p34"/>
            <p:cNvSpPr/>
            <p:nvPr/>
          </p:nvSpPr>
          <p:spPr>
            <a:xfrm>
              <a:off x="1628875" y="4767425"/>
              <a:ext cx="4246800" cy="7233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65" name="Google Shape;465;p34" title="[0,0,0,&quot;https://latex-staging.easygenerator.com/eqneditor/editor.php?latex=0%20%5Cleq%20VA%20%3C%20bounds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83388" y="4929175"/>
              <a:ext cx="3656724" cy="41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6" name="Google Shape;466;p34"/>
          <p:cNvGrpSpPr/>
          <p:nvPr/>
        </p:nvGrpSpPr>
        <p:grpSpPr>
          <a:xfrm>
            <a:off x="7535925" y="1622175"/>
            <a:ext cx="4246800" cy="4214000"/>
            <a:chOff x="7924350" y="1952025"/>
            <a:chExt cx="4246800" cy="4214000"/>
          </a:xfrm>
        </p:grpSpPr>
        <p:grpSp>
          <p:nvGrpSpPr>
            <p:cNvPr id="467" name="Google Shape;467;p34"/>
            <p:cNvGrpSpPr/>
            <p:nvPr/>
          </p:nvGrpSpPr>
          <p:grpSpPr>
            <a:xfrm>
              <a:off x="7924350" y="1952025"/>
              <a:ext cx="4246800" cy="4214000"/>
              <a:chOff x="7924350" y="1952025"/>
              <a:chExt cx="4246800" cy="4214000"/>
            </a:xfrm>
          </p:grpSpPr>
          <p:grpSp>
            <p:nvGrpSpPr>
              <p:cNvPr id="468" name="Google Shape;468;p34"/>
              <p:cNvGrpSpPr/>
              <p:nvPr/>
            </p:nvGrpSpPr>
            <p:grpSpPr>
              <a:xfrm>
                <a:off x="7924350" y="1952025"/>
                <a:ext cx="4246800" cy="2861100"/>
                <a:chOff x="7924350" y="1952025"/>
                <a:chExt cx="4246800" cy="2861100"/>
              </a:xfrm>
            </p:grpSpPr>
            <p:sp>
              <p:nvSpPr>
                <p:cNvPr id="469" name="Google Shape;469;p34"/>
                <p:cNvSpPr/>
                <p:nvPr/>
              </p:nvSpPr>
              <p:spPr>
                <a:xfrm>
                  <a:off x="7924350" y="1952025"/>
                  <a:ext cx="4246800" cy="28611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0" name="Google Shape;470;p34"/>
                <p:cNvSpPr txBox="1"/>
                <p:nvPr/>
              </p:nvSpPr>
              <p:spPr>
                <a:xfrm>
                  <a:off x="8918725" y="2022248"/>
                  <a:ext cx="21030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nsolas"/>
                      <a:ea typeface="Consolas"/>
                      <a:cs typeface="Consolas"/>
                      <a:sym typeface="Consolas"/>
                    </a:rPr>
                    <a:t>Chip CPU</a:t>
                  </a:r>
                  <a:endParaRPr sz="24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1" name="Google Shape;471;p34"/>
                <p:cNvSpPr/>
                <p:nvPr/>
              </p:nvSpPr>
              <p:spPr>
                <a:xfrm>
                  <a:off x="9475825" y="2651240"/>
                  <a:ext cx="988800" cy="995400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20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2" name="Google Shape;472;p34"/>
                <p:cNvSpPr/>
                <p:nvPr/>
              </p:nvSpPr>
              <p:spPr>
                <a:xfrm>
                  <a:off x="9265525" y="4103175"/>
                  <a:ext cx="1409400" cy="523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473" name="Google Shape;473;p34"/>
              <p:cNvSpPr/>
              <p:nvPr/>
            </p:nvSpPr>
            <p:spPr>
              <a:xfrm>
                <a:off x="8873125" y="5394125"/>
                <a:ext cx="2194200" cy="7719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/>
                    <a:ea typeface="Consolas"/>
                    <a:cs typeface="Consolas"/>
                    <a:sym typeface="Consolas"/>
                  </a:rPr>
                  <a:t>Main Memory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74" name="Google Shape;474;p34"/>
              <p:cNvCxnSpPr>
                <a:stCxn id="471" idx="4"/>
                <a:endCxn id="472" idx="0"/>
              </p:cNvCxnSpPr>
              <p:nvPr/>
            </p:nvCxnSpPr>
            <p:spPr>
              <a:xfrm>
                <a:off x="9970225" y="36466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5" name="Google Shape;475;p34"/>
              <p:cNvCxnSpPr>
                <a:stCxn id="472" idx="2"/>
                <a:endCxn id="473" idx="0"/>
              </p:cNvCxnSpPr>
              <p:nvPr/>
            </p:nvCxnSpPr>
            <p:spPr>
              <a:xfrm>
                <a:off x="9970225" y="4626375"/>
                <a:ext cx="0" cy="76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76" name="Google Shape;476;p34"/>
            <p:cNvSpPr txBox="1"/>
            <p:nvPr/>
          </p:nvSpPr>
          <p:spPr>
            <a:xfrm>
              <a:off x="8023388" y="3690263"/>
              <a:ext cx="1915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7" name="Google Shape;477;p34"/>
            <p:cNvSpPr txBox="1"/>
            <p:nvPr/>
          </p:nvSpPr>
          <p:spPr>
            <a:xfrm>
              <a:off x="7958150" y="4918975"/>
              <a:ext cx="198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 err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Address (PA)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963495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 - Formulas</a:t>
            </a:r>
            <a:endParaRPr dirty="0">
              <a:latin typeface="+mj-lt"/>
            </a:endParaRPr>
          </a:p>
        </p:txBody>
      </p:sp>
      <p:pic>
        <p:nvPicPr>
          <p:cNvPr id="483" name="Google Shape;4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549" y="1045550"/>
            <a:ext cx="9634951" cy="4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35"/>
          <p:cNvGrpSpPr/>
          <p:nvPr/>
        </p:nvGrpSpPr>
        <p:grpSpPr>
          <a:xfrm>
            <a:off x="6549161" y="5753564"/>
            <a:ext cx="4246800" cy="723300"/>
            <a:chOff x="1628875" y="2402100"/>
            <a:chExt cx="4246800" cy="723300"/>
          </a:xfrm>
        </p:grpSpPr>
        <p:sp>
          <p:nvSpPr>
            <p:cNvPr id="485" name="Google Shape;485;p35"/>
            <p:cNvSpPr/>
            <p:nvPr/>
          </p:nvSpPr>
          <p:spPr>
            <a:xfrm>
              <a:off x="1628875" y="2402100"/>
              <a:ext cx="4246800" cy="7233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86" name="Google Shape;486;p35" title="[0,0,0,&quot;https://latex-staging.easygenerator.com/eqneditor/editor.php?latex=PA%20%3D%20VA%20%2B%20base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03512" y="2566588"/>
              <a:ext cx="3616475" cy="39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7" name="Google Shape;487;p35"/>
          <p:cNvGrpSpPr/>
          <p:nvPr/>
        </p:nvGrpSpPr>
        <p:grpSpPr>
          <a:xfrm>
            <a:off x="1396039" y="5753564"/>
            <a:ext cx="4246800" cy="723300"/>
            <a:chOff x="1628875" y="4767425"/>
            <a:chExt cx="4246800" cy="723300"/>
          </a:xfrm>
        </p:grpSpPr>
        <p:sp>
          <p:nvSpPr>
            <p:cNvPr id="488" name="Google Shape;488;p35"/>
            <p:cNvSpPr/>
            <p:nvPr/>
          </p:nvSpPr>
          <p:spPr>
            <a:xfrm>
              <a:off x="1628875" y="4767425"/>
              <a:ext cx="4246800" cy="7233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89" name="Google Shape;489;p35" title="[0,0,0,&quot;https://latex-staging.easygenerator.com/eqneditor/editor.php?latex=0%20%5Cleq%20VA%20%3C%20bounds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83388" y="4929175"/>
              <a:ext cx="3656724" cy="414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"/>
          <p:cNvSpPr txBox="1">
            <a:spLocks noGrp="1"/>
          </p:cNvSpPr>
          <p:nvPr>
            <p:ph type="title"/>
          </p:nvPr>
        </p:nvSpPr>
        <p:spPr>
          <a:xfrm>
            <a:off x="362857" y="96038"/>
            <a:ext cx="8857793" cy="8202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496" name="Google Shape;496;p36"/>
          <p:cNvSpPr txBox="1">
            <a:spLocks noGrp="1"/>
          </p:cNvSpPr>
          <p:nvPr>
            <p:ph type="body" idx="1"/>
          </p:nvPr>
        </p:nvSpPr>
        <p:spPr>
          <a:xfrm>
            <a:off x="4214825" y="979163"/>
            <a:ext cx="7414200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 - ¿Como un programa accede a memoria?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Dado el siguiente espacio de memoria asociado a un proceso. Analice qué sucede cuando se ejecuta la instrucción.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Asuma que el registro base tiene un valor de 32 K.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497" name="Google Shape;4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085" y="905037"/>
            <a:ext cx="2550529" cy="5798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36"/>
          <p:cNvGrpSpPr/>
          <p:nvPr/>
        </p:nvGrpSpPr>
        <p:grpSpPr>
          <a:xfrm>
            <a:off x="6096000" y="3285350"/>
            <a:ext cx="3388800" cy="524550"/>
            <a:chOff x="6225425" y="3045000"/>
            <a:chExt cx="3388800" cy="524550"/>
          </a:xfrm>
        </p:grpSpPr>
        <p:sp>
          <p:nvSpPr>
            <p:cNvPr id="499" name="Google Shape;499;p36"/>
            <p:cNvSpPr txBox="1"/>
            <p:nvPr/>
          </p:nvSpPr>
          <p:spPr>
            <a:xfrm>
              <a:off x="6952625" y="3045000"/>
              <a:ext cx="2661600" cy="46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2200" b="1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0" name="Google Shape;500;p36"/>
            <p:cNvSpPr txBox="1"/>
            <p:nvPr/>
          </p:nvSpPr>
          <p:spPr>
            <a:xfrm>
              <a:off x="6225425" y="3046350"/>
              <a:ext cx="727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22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Traducción de direcciones</a:t>
            </a:r>
            <a:endParaRPr/>
          </a:p>
        </p:txBody>
      </p:sp>
      <p:sp>
        <p:nvSpPr>
          <p:cNvPr id="506" name="Google Shape;506;p37"/>
          <p:cNvSpPr txBox="1">
            <a:spLocks noGrp="1"/>
          </p:cNvSpPr>
          <p:nvPr>
            <p:ph type="body" idx="1"/>
          </p:nvPr>
        </p:nvSpPr>
        <p:spPr>
          <a:xfrm>
            <a:off x="3851471" y="972025"/>
            <a:ext cx="8064758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 - ¿Como un programa accede a memoria?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Para ejecutar la instrucción, se ejecutan dos accesos a memoria.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>
                <a:latin typeface="+mn-lt"/>
              </a:rPr>
              <a:t>Traer la instrucción de la dirección 128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+mj-lt"/>
              <a:buAutoNum type="arabicPeriod" startAt="2"/>
            </a:pPr>
            <a:r>
              <a:rPr lang="es-ES" sz="2200" dirty="0">
                <a:latin typeface="+mn-lt"/>
              </a:rPr>
              <a:t>Ejecutar la instrucción I: </a:t>
            </a:r>
            <a:r>
              <a:rPr lang="es-ES" sz="2200" b="1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lw $s0, 15360</a:t>
            </a:r>
            <a:endParaRPr sz="2200" b="1" dirty="0"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07" name="Google Shape;507;p37"/>
          <p:cNvGrpSpPr/>
          <p:nvPr/>
        </p:nvGrpSpPr>
        <p:grpSpPr>
          <a:xfrm>
            <a:off x="6189450" y="1903150"/>
            <a:ext cx="3388800" cy="524550"/>
            <a:chOff x="6373025" y="2576200"/>
            <a:chExt cx="3388800" cy="524550"/>
          </a:xfrm>
        </p:grpSpPr>
        <p:sp>
          <p:nvSpPr>
            <p:cNvPr id="508" name="Google Shape;508;p37"/>
            <p:cNvSpPr txBox="1"/>
            <p:nvPr/>
          </p:nvSpPr>
          <p:spPr>
            <a:xfrm>
              <a:off x="7100225" y="2576200"/>
              <a:ext cx="2661600" cy="46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2200" b="1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9" name="Google Shape;509;p37"/>
            <p:cNvSpPr txBox="1"/>
            <p:nvPr/>
          </p:nvSpPr>
          <p:spPr>
            <a:xfrm>
              <a:off x="6373025" y="2577550"/>
              <a:ext cx="727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22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10" name="Google Shape;510;p37"/>
          <p:cNvSpPr txBox="1"/>
          <p:nvPr/>
        </p:nvSpPr>
        <p:spPr>
          <a:xfrm>
            <a:off x="6559050" y="3698612"/>
            <a:ext cx="2661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 = Fetch[</a:t>
            </a:r>
            <a:r>
              <a:rPr lang="es-ES" sz="2200" b="1" dirty="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200" b="1" dirty="0">
              <a:solidFill>
                <a:srgbClr val="24292E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1" name="Google Shape;511;p37"/>
          <p:cNvSpPr txBox="1"/>
          <p:nvPr/>
        </p:nvSpPr>
        <p:spPr>
          <a:xfrm>
            <a:off x="6553050" y="5062906"/>
            <a:ext cx="2661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(I)</a:t>
            </a:r>
            <a:endParaRPr sz="2200" b="1" dirty="0">
              <a:solidFill>
                <a:srgbClr val="24292E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12" name="Google Shape;5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796" y="972025"/>
            <a:ext cx="2550529" cy="579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518" name="Google Shape;518;p38"/>
          <p:cNvSpPr txBox="1">
            <a:spLocks noGrp="1"/>
          </p:cNvSpPr>
          <p:nvPr>
            <p:ph type="body" idx="1"/>
          </p:nvPr>
        </p:nvSpPr>
        <p:spPr>
          <a:xfrm>
            <a:off x="449943" y="918450"/>
            <a:ext cx="11142207" cy="9696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 - ¿Como un programa accede a memoria?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Traer la instrucción de la dirección </a:t>
            </a:r>
            <a:r>
              <a:rPr lang="es-ES" sz="2400" b="1" dirty="0">
                <a:latin typeface="+mn-lt"/>
              </a:rPr>
              <a:t>128</a:t>
            </a: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19" name="Google Shape;519;p38"/>
          <p:cNvSpPr txBox="1"/>
          <p:nvPr/>
        </p:nvSpPr>
        <p:spPr>
          <a:xfrm>
            <a:off x="2513938" y="30768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128</a:t>
            </a:r>
            <a:endParaRPr sz="20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0" name="Google Shape;520;p38"/>
          <p:cNvSpPr/>
          <p:nvPr/>
        </p:nvSpPr>
        <p:spPr>
          <a:xfrm>
            <a:off x="48842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1" name="Google Shape;521;p38"/>
          <p:cNvSpPr/>
          <p:nvPr/>
        </p:nvSpPr>
        <p:spPr>
          <a:xfrm>
            <a:off x="30385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16384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2" name="Google Shape;522;p38"/>
          <p:cNvSpPr/>
          <p:nvPr/>
        </p:nvSpPr>
        <p:spPr>
          <a:xfrm>
            <a:off x="3306450" y="3288125"/>
            <a:ext cx="924225" cy="562575"/>
          </a:xfrm>
          <a:prstGeom prst="flowChartDecision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5366475" y="3307063"/>
            <a:ext cx="495600" cy="52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+</a:t>
            </a:r>
            <a:endParaRPr/>
          </a:p>
        </p:txBody>
      </p:sp>
      <p:sp>
        <p:nvSpPr>
          <p:cNvPr id="524" name="Google Shape;524;p38"/>
          <p:cNvSpPr/>
          <p:nvPr/>
        </p:nvSpPr>
        <p:spPr>
          <a:xfrm>
            <a:off x="1388575" y="3187675"/>
            <a:ext cx="736800" cy="763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5" name="Google Shape;525;p38"/>
          <p:cNvCxnSpPr>
            <a:stCxn id="524" idx="3"/>
            <a:endCxn id="522" idx="1"/>
          </p:cNvCxnSpPr>
          <p:nvPr/>
        </p:nvCxnSpPr>
        <p:spPr>
          <a:xfrm>
            <a:off x="2125375" y="3569425"/>
            <a:ext cx="118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38"/>
          <p:cNvCxnSpPr>
            <a:stCxn id="521" idx="2"/>
            <a:endCxn id="522" idx="0"/>
          </p:cNvCxnSpPr>
          <p:nvPr/>
        </p:nvCxnSpPr>
        <p:spPr>
          <a:xfrm>
            <a:off x="3768575" y="2669950"/>
            <a:ext cx="0" cy="61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7" name="Google Shape;527;p38"/>
          <p:cNvCxnSpPr>
            <a:stCxn id="520" idx="2"/>
            <a:endCxn id="523" idx="0"/>
          </p:cNvCxnSpPr>
          <p:nvPr/>
        </p:nvCxnSpPr>
        <p:spPr>
          <a:xfrm>
            <a:off x="5614275" y="2669950"/>
            <a:ext cx="0" cy="6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Google Shape;528;p38"/>
          <p:cNvCxnSpPr>
            <a:stCxn id="522" idx="3"/>
            <a:endCxn id="523" idx="2"/>
          </p:cNvCxnSpPr>
          <p:nvPr/>
        </p:nvCxnSpPr>
        <p:spPr>
          <a:xfrm>
            <a:off x="4230675" y="3569413"/>
            <a:ext cx="11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9" name="Google Shape;529;p38"/>
          <p:cNvCxnSpPr/>
          <p:nvPr/>
        </p:nvCxnSpPr>
        <p:spPr>
          <a:xfrm>
            <a:off x="3768575" y="3850688"/>
            <a:ext cx="2400" cy="90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0" name="Google Shape;530;p38"/>
          <p:cNvSpPr txBox="1"/>
          <p:nvPr/>
        </p:nvSpPr>
        <p:spPr>
          <a:xfrm>
            <a:off x="3622188" y="375355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38"/>
          <p:cNvSpPr txBox="1"/>
          <p:nvPr/>
        </p:nvSpPr>
        <p:spPr>
          <a:xfrm>
            <a:off x="4134863" y="31530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38"/>
          <p:cNvSpPr/>
          <p:nvPr/>
        </p:nvSpPr>
        <p:spPr>
          <a:xfrm>
            <a:off x="7769125" y="1644025"/>
            <a:ext cx="2212800" cy="4665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8"/>
          <p:cNvSpPr/>
          <p:nvPr/>
        </p:nvSpPr>
        <p:spPr>
          <a:xfrm>
            <a:off x="10562725" y="27101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38"/>
          <p:cNvSpPr/>
          <p:nvPr/>
        </p:nvSpPr>
        <p:spPr>
          <a:xfrm>
            <a:off x="10562725" y="50273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49152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5" name="Google Shape;535;p38"/>
          <p:cNvCxnSpPr/>
          <p:nvPr/>
        </p:nvCxnSpPr>
        <p:spPr>
          <a:xfrm rot="10800000">
            <a:off x="9981925" y="28976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6" name="Google Shape;536;p38"/>
          <p:cNvSpPr/>
          <p:nvPr/>
        </p:nvSpPr>
        <p:spPr>
          <a:xfrm>
            <a:off x="7769125" y="2897675"/>
            <a:ext cx="2212800" cy="2317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8"/>
          <p:cNvSpPr txBox="1"/>
          <p:nvPr/>
        </p:nvSpPr>
        <p:spPr>
          <a:xfrm>
            <a:off x="7769125" y="3366125"/>
            <a:ext cx="2212800" cy="46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lw $S0, 15360</a:t>
            </a:r>
            <a:endParaRPr sz="2200" b="1" dirty="0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8" name="Google Shape;538;p38"/>
          <p:cNvSpPr txBox="1"/>
          <p:nvPr/>
        </p:nvSpPr>
        <p:spPr>
          <a:xfrm>
            <a:off x="7769125" y="4297700"/>
            <a:ext cx="2212800" cy="461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2200" b="1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39" name="Google Shape;539;p38"/>
          <p:cNvCxnSpPr/>
          <p:nvPr/>
        </p:nvCxnSpPr>
        <p:spPr>
          <a:xfrm rot="10800000">
            <a:off x="9981925" y="52148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" name="Google Shape;540;p38"/>
          <p:cNvCxnSpPr/>
          <p:nvPr/>
        </p:nvCxnSpPr>
        <p:spPr>
          <a:xfrm rot="10800000" flipH="1">
            <a:off x="5862075" y="3567313"/>
            <a:ext cx="18912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1" name="Google Shape;541;p38"/>
          <p:cNvSpPr txBox="1"/>
          <p:nvPr/>
        </p:nvSpPr>
        <p:spPr>
          <a:xfrm>
            <a:off x="10056150" y="3335150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32890</a:t>
            </a:r>
            <a:endParaRPr/>
          </a:p>
        </p:txBody>
      </p:sp>
      <p:sp>
        <p:nvSpPr>
          <p:cNvPr id="542" name="Google Shape;542;p38"/>
          <p:cNvSpPr txBox="1"/>
          <p:nvPr/>
        </p:nvSpPr>
        <p:spPr>
          <a:xfrm>
            <a:off x="10056150" y="4265225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48128</a:t>
            </a:r>
            <a:endParaRPr/>
          </a:p>
        </p:txBody>
      </p:sp>
      <p:sp>
        <p:nvSpPr>
          <p:cNvPr id="543" name="Google Shape;543;p38"/>
          <p:cNvSpPr txBox="1"/>
          <p:nvPr/>
        </p:nvSpPr>
        <p:spPr>
          <a:xfrm>
            <a:off x="6328107" y="3076825"/>
            <a:ext cx="113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32890</a:t>
            </a:r>
            <a:endParaRPr sz="2000" b="1">
              <a:solidFill>
                <a:srgbClr val="0B6937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1884175" y="3795125"/>
            <a:ext cx="6349000" cy="1404175"/>
          </a:xfrm>
          <a:custGeom>
            <a:avLst/>
            <a:gdLst/>
            <a:ahLst/>
            <a:cxnLst/>
            <a:rect l="l" t="t" r="r" b="b"/>
            <a:pathLst>
              <a:path w="253960" h="56167" extrusionOk="0">
                <a:moveTo>
                  <a:pt x="253960" y="0"/>
                </a:moveTo>
                <a:cubicBezTo>
                  <a:pt x="250477" y="3661"/>
                  <a:pt x="241458" y="15002"/>
                  <a:pt x="233064" y="21967"/>
                </a:cubicBezTo>
                <a:cubicBezTo>
                  <a:pt x="224670" y="28932"/>
                  <a:pt x="214312" y="36880"/>
                  <a:pt x="203596" y="41791"/>
                </a:cubicBezTo>
                <a:cubicBezTo>
                  <a:pt x="192881" y="46702"/>
                  <a:pt x="180558" y="49113"/>
                  <a:pt x="168771" y="51435"/>
                </a:cubicBezTo>
                <a:cubicBezTo>
                  <a:pt x="156984" y="53757"/>
                  <a:pt x="145732" y="55185"/>
                  <a:pt x="132873" y="55721"/>
                </a:cubicBezTo>
                <a:cubicBezTo>
                  <a:pt x="120014" y="56257"/>
                  <a:pt x="105013" y="56435"/>
                  <a:pt x="91618" y="54649"/>
                </a:cubicBezTo>
                <a:cubicBezTo>
                  <a:pt x="78224" y="52863"/>
                  <a:pt x="65365" y="49827"/>
                  <a:pt x="52506" y="45005"/>
                </a:cubicBezTo>
                <a:cubicBezTo>
                  <a:pt x="39647" y="40183"/>
                  <a:pt x="23217" y="30718"/>
                  <a:pt x="14466" y="25717"/>
                </a:cubicBezTo>
                <a:cubicBezTo>
                  <a:pt x="5715" y="20717"/>
                  <a:pt x="2411" y="16788"/>
                  <a:pt x="0" y="15002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45" name="Google Shape;545;p38"/>
          <p:cNvSpPr txBox="1"/>
          <p:nvPr/>
        </p:nvSpPr>
        <p:spPr>
          <a:xfrm>
            <a:off x="3770975" y="5348800"/>
            <a:ext cx="1749300" cy="37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lw $S0,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15360</a:t>
            </a:r>
            <a:endParaRPr sz="1800" b="1" dirty="0">
              <a:solidFill>
                <a:schemeClr val="dk1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6" name="Google Shape;546;p38"/>
          <p:cNvSpPr txBox="1"/>
          <p:nvPr/>
        </p:nvSpPr>
        <p:spPr>
          <a:xfrm>
            <a:off x="3768575" y="4430275"/>
            <a:ext cx="20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Protection fault</a:t>
            </a:r>
            <a:endParaRPr sz="16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9"/>
          <p:cNvSpPr txBox="1">
            <a:spLocks noGrp="1"/>
          </p:cNvSpPr>
          <p:nvPr>
            <p:ph type="title"/>
          </p:nvPr>
        </p:nvSpPr>
        <p:spPr>
          <a:xfrm>
            <a:off x="485975" y="96038"/>
            <a:ext cx="873467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552" name="Google Shape;552;p39"/>
          <p:cNvSpPr txBox="1">
            <a:spLocks noGrp="1"/>
          </p:cNvSpPr>
          <p:nvPr>
            <p:ph type="body" idx="1"/>
          </p:nvPr>
        </p:nvSpPr>
        <p:spPr>
          <a:xfrm>
            <a:off x="485975" y="917950"/>
            <a:ext cx="11277600" cy="1060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 - ¿Como un programa accede a memoria?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s-ES" sz="2400" dirty="0">
                <a:latin typeface="+mn-lt"/>
              </a:rPr>
              <a:t>Ejecutar la instrucción I: </a:t>
            </a:r>
            <a:r>
              <a:rPr lang="es-ES" sz="2400" b="1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lw $s0, 15360</a:t>
            </a:r>
            <a:endParaRPr sz="2400" b="1" dirty="0"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53" name="Google Shape;553;p39"/>
          <p:cNvSpPr txBox="1"/>
          <p:nvPr/>
        </p:nvSpPr>
        <p:spPr>
          <a:xfrm>
            <a:off x="2316928" y="3076825"/>
            <a:ext cx="92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15360</a:t>
            </a:r>
            <a:endParaRPr sz="20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48842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5" name="Google Shape;555;p39"/>
          <p:cNvSpPr/>
          <p:nvPr/>
        </p:nvSpPr>
        <p:spPr>
          <a:xfrm>
            <a:off x="30385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16384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3306450" y="3288125"/>
            <a:ext cx="924225" cy="562575"/>
          </a:xfrm>
          <a:prstGeom prst="flowChartDecision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7" name="Google Shape;557;p39"/>
          <p:cNvSpPr/>
          <p:nvPr/>
        </p:nvSpPr>
        <p:spPr>
          <a:xfrm>
            <a:off x="5366475" y="3307063"/>
            <a:ext cx="495600" cy="52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+</a:t>
            </a:r>
            <a:endParaRPr/>
          </a:p>
        </p:txBody>
      </p:sp>
      <p:sp>
        <p:nvSpPr>
          <p:cNvPr id="558" name="Google Shape;558;p39"/>
          <p:cNvSpPr/>
          <p:nvPr/>
        </p:nvSpPr>
        <p:spPr>
          <a:xfrm>
            <a:off x="1388575" y="3187675"/>
            <a:ext cx="736800" cy="763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9" name="Google Shape;559;p39"/>
          <p:cNvCxnSpPr>
            <a:stCxn id="558" idx="3"/>
            <a:endCxn id="556" idx="1"/>
          </p:cNvCxnSpPr>
          <p:nvPr/>
        </p:nvCxnSpPr>
        <p:spPr>
          <a:xfrm>
            <a:off x="2125375" y="3569425"/>
            <a:ext cx="118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" name="Google Shape;560;p39"/>
          <p:cNvCxnSpPr>
            <a:stCxn id="555" idx="2"/>
            <a:endCxn id="556" idx="0"/>
          </p:cNvCxnSpPr>
          <p:nvPr/>
        </p:nvCxnSpPr>
        <p:spPr>
          <a:xfrm>
            <a:off x="3768575" y="2669950"/>
            <a:ext cx="0" cy="61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1" name="Google Shape;561;p39"/>
          <p:cNvCxnSpPr>
            <a:stCxn id="554" idx="2"/>
            <a:endCxn id="557" idx="0"/>
          </p:cNvCxnSpPr>
          <p:nvPr/>
        </p:nvCxnSpPr>
        <p:spPr>
          <a:xfrm>
            <a:off x="5614275" y="2669950"/>
            <a:ext cx="0" cy="6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2" name="Google Shape;562;p39"/>
          <p:cNvCxnSpPr>
            <a:stCxn id="556" idx="3"/>
            <a:endCxn id="557" idx="2"/>
          </p:cNvCxnSpPr>
          <p:nvPr/>
        </p:nvCxnSpPr>
        <p:spPr>
          <a:xfrm>
            <a:off x="4230675" y="3569413"/>
            <a:ext cx="11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" name="Google Shape;563;p39"/>
          <p:cNvCxnSpPr/>
          <p:nvPr/>
        </p:nvCxnSpPr>
        <p:spPr>
          <a:xfrm>
            <a:off x="3768575" y="3850688"/>
            <a:ext cx="2400" cy="90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4" name="Google Shape;564;p39"/>
          <p:cNvSpPr txBox="1"/>
          <p:nvPr/>
        </p:nvSpPr>
        <p:spPr>
          <a:xfrm>
            <a:off x="3622188" y="375355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5" name="Google Shape;565;p39"/>
          <p:cNvSpPr txBox="1"/>
          <p:nvPr/>
        </p:nvSpPr>
        <p:spPr>
          <a:xfrm>
            <a:off x="4134863" y="31530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6" name="Google Shape;566;p39"/>
          <p:cNvSpPr/>
          <p:nvPr/>
        </p:nvSpPr>
        <p:spPr>
          <a:xfrm>
            <a:off x="7769125" y="1644025"/>
            <a:ext cx="2212800" cy="4665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9"/>
          <p:cNvSpPr/>
          <p:nvPr/>
        </p:nvSpPr>
        <p:spPr>
          <a:xfrm>
            <a:off x="10562725" y="27101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8" name="Google Shape;568;p39"/>
          <p:cNvSpPr/>
          <p:nvPr/>
        </p:nvSpPr>
        <p:spPr>
          <a:xfrm>
            <a:off x="10562725" y="50273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49152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9" name="Google Shape;569;p39"/>
          <p:cNvCxnSpPr/>
          <p:nvPr/>
        </p:nvCxnSpPr>
        <p:spPr>
          <a:xfrm rot="10800000">
            <a:off x="9981925" y="28976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0" name="Google Shape;570;p39"/>
          <p:cNvSpPr/>
          <p:nvPr/>
        </p:nvSpPr>
        <p:spPr>
          <a:xfrm>
            <a:off x="7769125" y="2897675"/>
            <a:ext cx="2212800" cy="2317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7769125" y="3366125"/>
            <a:ext cx="2212800" cy="46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lw $S0, 15360</a:t>
            </a:r>
            <a:endParaRPr sz="2200" b="1" dirty="0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2" name="Google Shape;572;p39"/>
          <p:cNvSpPr txBox="1"/>
          <p:nvPr/>
        </p:nvSpPr>
        <p:spPr>
          <a:xfrm>
            <a:off x="7769125" y="4297700"/>
            <a:ext cx="2212800" cy="461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2200" b="1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73" name="Google Shape;573;p39"/>
          <p:cNvCxnSpPr/>
          <p:nvPr/>
        </p:nvCxnSpPr>
        <p:spPr>
          <a:xfrm rot="10800000">
            <a:off x="9981925" y="52148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4" name="Google Shape;574;p39"/>
          <p:cNvCxnSpPr/>
          <p:nvPr/>
        </p:nvCxnSpPr>
        <p:spPr>
          <a:xfrm rot="10800000" flipH="1">
            <a:off x="5862075" y="3567313"/>
            <a:ext cx="18912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5" name="Google Shape;575;p39"/>
          <p:cNvSpPr txBox="1"/>
          <p:nvPr/>
        </p:nvSpPr>
        <p:spPr>
          <a:xfrm>
            <a:off x="10056150" y="3335150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32890</a:t>
            </a:r>
            <a:endParaRPr/>
          </a:p>
        </p:txBody>
      </p:sp>
      <p:sp>
        <p:nvSpPr>
          <p:cNvPr id="576" name="Google Shape;576;p39"/>
          <p:cNvSpPr txBox="1"/>
          <p:nvPr/>
        </p:nvSpPr>
        <p:spPr>
          <a:xfrm>
            <a:off x="10056150" y="4265225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48128</a:t>
            </a:r>
            <a:endParaRPr/>
          </a:p>
        </p:txBody>
      </p:sp>
      <p:sp>
        <p:nvSpPr>
          <p:cNvPr id="577" name="Google Shape;577;p39"/>
          <p:cNvSpPr txBox="1"/>
          <p:nvPr/>
        </p:nvSpPr>
        <p:spPr>
          <a:xfrm>
            <a:off x="6328107" y="3076825"/>
            <a:ext cx="113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48128</a:t>
            </a:r>
            <a:endParaRPr sz="2000" b="1">
              <a:solidFill>
                <a:srgbClr val="0B6937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8" name="Google Shape;578;p39"/>
          <p:cNvSpPr txBox="1"/>
          <p:nvPr/>
        </p:nvSpPr>
        <p:spPr>
          <a:xfrm>
            <a:off x="903725" y="2753525"/>
            <a:ext cx="1749300" cy="37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lw $S0, 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15360</a:t>
            </a:r>
            <a:endParaRPr sz="1800" b="1" dirty="0">
              <a:solidFill>
                <a:srgbClr val="FF0000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9" name="Google Shape;579;p39"/>
          <p:cNvSpPr/>
          <p:nvPr/>
        </p:nvSpPr>
        <p:spPr>
          <a:xfrm>
            <a:off x="1723425" y="4089800"/>
            <a:ext cx="6456175" cy="1529200"/>
          </a:xfrm>
          <a:custGeom>
            <a:avLst/>
            <a:gdLst/>
            <a:ahLst/>
            <a:cxnLst/>
            <a:rect l="l" t="t" r="r" b="b"/>
            <a:pathLst>
              <a:path w="258247" h="61168" extrusionOk="0">
                <a:moveTo>
                  <a:pt x="258247" y="24646"/>
                </a:moveTo>
                <a:cubicBezTo>
                  <a:pt x="256640" y="26253"/>
                  <a:pt x="253782" y="30540"/>
                  <a:pt x="248603" y="34290"/>
                </a:cubicBezTo>
                <a:cubicBezTo>
                  <a:pt x="243424" y="38041"/>
                  <a:pt x="235386" y="43934"/>
                  <a:pt x="227171" y="47149"/>
                </a:cubicBezTo>
                <a:cubicBezTo>
                  <a:pt x="218956" y="50364"/>
                  <a:pt x="209669" y="51792"/>
                  <a:pt x="199311" y="53578"/>
                </a:cubicBezTo>
                <a:cubicBezTo>
                  <a:pt x="188953" y="55364"/>
                  <a:pt x="176630" y="56614"/>
                  <a:pt x="165021" y="57864"/>
                </a:cubicBezTo>
                <a:cubicBezTo>
                  <a:pt x="153412" y="59114"/>
                  <a:pt x="144661" y="61258"/>
                  <a:pt x="129659" y="61079"/>
                </a:cubicBezTo>
                <a:cubicBezTo>
                  <a:pt x="114657" y="60901"/>
                  <a:pt x="89565" y="58936"/>
                  <a:pt x="75010" y="56793"/>
                </a:cubicBezTo>
                <a:cubicBezTo>
                  <a:pt x="60455" y="54650"/>
                  <a:pt x="51346" y="51792"/>
                  <a:pt x="42327" y="48220"/>
                </a:cubicBezTo>
                <a:cubicBezTo>
                  <a:pt x="33308" y="44648"/>
                  <a:pt x="26879" y="40272"/>
                  <a:pt x="20896" y="35361"/>
                </a:cubicBezTo>
                <a:cubicBezTo>
                  <a:pt x="14913" y="30450"/>
                  <a:pt x="9913" y="24646"/>
                  <a:pt x="6430" y="18752"/>
                </a:cubicBezTo>
                <a:cubicBezTo>
                  <a:pt x="2947" y="12859"/>
                  <a:pt x="1072" y="3125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80" name="Google Shape;580;p39"/>
          <p:cNvSpPr txBox="1"/>
          <p:nvPr/>
        </p:nvSpPr>
        <p:spPr>
          <a:xfrm>
            <a:off x="4434975" y="5784075"/>
            <a:ext cx="727200" cy="375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800" b="1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1" name="Google Shape;581;p39"/>
          <p:cNvSpPr txBox="1"/>
          <p:nvPr/>
        </p:nvSpPr>
        <p:spPr>
          <a:xfrm>
            <a:off x="3768575" y="4430275"/>
            <a:ext cx="20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Protection fault</a:t>
            </a:r>
            <a:endParaRPr sz="16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0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113848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pic>
        <p:nvPicPr>
          <p:cNvPr id="587" name="Google Shape;5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50" y="1102800"/>
            <a:ext cx="2150500" cy="48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125" y="1102800"/>
            <a:ext cx="8303999" cy="516572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0"/>
          <p:cNvSpPr/>
          <p:nvPr/>
        </p:nvSpPr>
        <p:spPr>
          <a:xfrm>
            <a:off x="1614775" y="6079100"/>
            <a:ext cx="496500" cy="508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90" name="Google Shape;59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4926" y="6049075"/>
            <a:ext cx="585500" cy="58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1" name="Google Shape;591;p40"/>
          <p:cNvCxnSpPr/>
          <p:nvPr/>
        </p:nvCxnSpPr>
        <p:spPr>
          <a:xfrm rot="10800000" flipH="1">
            <a:off x="2165500" y="6320075"/>
            <a:ext cx="475200" cy="360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92" name="Google Shape;592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6125" y="6079100"/>
            <a:ext cx="701150" cy="70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40"/>
          <p:cNvCxnSpPr/>
          <p:nvPr/>
        </p:nvCxnSpPr>
        <p:spPr>
          <a:xfrm flipH="1">
            <a:off x="3518375" y="1030250"/>
            <a:ext cx="11700" cy="5691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290285" y="96038"/>
            <a:ext cx="1042125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93871" y="889562"/>
            <a:ext cx="10877400" cy="151981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Un proceso con un espacio de direccionamiento de 4KB fue asignado a una memoria física a partir de 16KB. Teniendo en cuenta lo anterior, realizar la traducción de direcciones virtuales a físicas mostradas en la siguiente tabla: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00" name="Google Shape;600;p41"/>
          <p:cNvGraphicFramePr/>
          <p:nvPr>
            <p:extLst>
              <p:ext uri="{D42A27DB-BD31-4B8C-83A1-F6EECF244321}">
                <p14:modId xmlns:p14="http://schemas.microsoft.com/office/powerpoint/2010/main" val="3947895056"/>
              </p:ext>
            </p:extLst>
          </p:nvPr>
        </p:nvGraphicFramePr>
        <p:xfrm>
          <a:off x="4034970" y="2624020"/>
          <a:ext cx="4586516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8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Virtual Address (VA)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 err="1"/>
                        <a:t>Physical</a:t>
                      </a:r>
                      <a:r>
                        <a:rPr lang="es-ES" sz="1800" b="1" dirty="0"/>
                        <a:t> Address (PA)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Traducción de direcciones</a:t>
            </a:r>
            <a:endParaRPr/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7" y="904075"/>
            <a:ext cx="11669486" cy="6344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Solución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00" name="Google Shape;600;p41"/>
          <p:cNvGraphicFramePr/>
          <p:nvPr>
            <p:extLst>
              <p:ext uri="{D42A27DB-BD31-4B8C-83A1-F6EECF244321}">
                <p14:modId xmlns:p14="http://schemas.microsoft.com/office/powerpoint/2010/main" val="3372272068"/>
              </p:ext>
            </p:extLst>
          </p:nvPr>
        </p:nvGraphicFramePr>
        <p:xfrm>
          <a:off x="464457" y="1538514"/>
          <a:ext cx="2351314" cy="21944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Virtual Address (VA)</a:t>
                      </a:r>
                      <a:endParaRPr sz="14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 err="1"/>
                        <a:t>Physical</a:t>
                      </a:r>
                      <a:r>
                        <a:rPr lang="es-ES" sz="1400" b="1" dirty="0"/>
                        <a:t> Address (PA)</a:t>
                      </a:r>
                      <a:endParaRPr sz="14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639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Traducción de direcciones</a:t>
            </a:r>
            <a:endParaRPr/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7" y="904075"/>
            <a:ext cx="11669486" cy="6344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Solución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00" name="Google Shape;600;p41"/>
          <p:cNvGraphicFramePr/>
          <p:nvPr/>
        </p:nvGraphicFramePr>
        <p:xfrm>
          <a:off x="464457" y="1538514"/>
          <a:ext cx="2351314" cy="21944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Virtual Address (VA)</a:t>
                      </a:r>
                      <a:endParaRPr sz="14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 err="1"/>
                        <a:t>Physical</a:t>
                      </a:r>
                      <a:r>
                        <a:rPr lang="es-ES" sz="1400" b="1" dirty="0"/>
                        <a:t> Address (PA)</a:t>
                      </a:r>
                      <a:endParaRPr sz="14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68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606" name="Google Shape;606;p42"/>
          <p:cNvSpPr txBox="1">
            <a:spLocks noGrp="1"/>
          </p:cNvSpPr>
          <p:nvPr>
            <p:ph type="body" idx="1"/>
          </p:nvPr>
        </p:nvSpPr>
        <p:spPr>
          <a:xfrm>
            <a:off x="735400" y="904075"/>
            <a:ext cx="10877400" cy="15343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Un proceso con un espacio de direccionamiento de 4KB fue asignado a una memoria física a partir de 16KB. Teniendo en cuenta lo anterior, realizar la traducción de direcciones virtuales a físicas mostradas en la siguiente tabla: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07" name="Google Shape;607;p42"/>
          <p:cNvGraphicFramePr/>
          <p:nvPr>
            <p:extLst>
              <p:ext uri="{D42A27DB-BD31-4B8C-83A1-F6EECF244321}">
                <p14:modId xmlns:p14="http://schemas.microsoft.com/office/powerpoint/2010/main" val="2392206869"/>
              </p:ext>
            </p:extLst>
          </p:nvPr>
        </p:nvGraphicFramePr>
        <p:xfrm>
          <a:off x="3243943" y="2712880"/>
          <a:ext cx="5704114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2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Virtual Address (VA)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 err="1"/>
                        <a:t>Physical</a:t>
                      </a:r>
                      <a:r>
                        <a:rPr lang="es-ES" sz="1800" b="1" dirty="0"/>
                        <a:t> Address (PA)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19684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Fault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s-ES" sz="1800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Out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800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bounds)</a:t>
                      </a:r>
                      <a:endParaRPr sz="18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4"/>
          <p:cNvSpPr txBox="1">
            <a:spLocks noGrp="1"/>
          </p:cNvSpPr>
          <p:nvPr>
            <p:ph type="title"/>
          </p:nvPr>
        </p:nvSpPr>
        <p:spPr>
          <a:xfrm>
            <a:off x="466706" y="50625"/>
            <a:ext cx="898209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19" name="Google Shape;619;p44"/>
          <p:cNvSpPr txBox="1">
            <a:spLocks noGrp="1"/>
          </p:cNvSpPr>
          <p:nvPr>
            <p:ph type="body" idx="1"/>
          </p:nvPr>
        </p:nvSpPr>
        <p:spPr>
          <a:xfrm>
            <a:off x="620015" y="1000125"/>
            <a:ext cx="5356500" cy="24288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El SO debe realizar acciones para el correcto funcionamiento del sistema </a:t>
            </a:r>
            <a:r>
              <a:rPr lang="es-ES" sz="2400" b="1" dirty="0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base &amp; bound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un proceso inicia su ejecución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un proceso termina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ocurre un cambio de contexto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20" name="Google Shape;620;p44"/>
          <p:cNvSpPr txBox="1"/>
          <p:nvPr/>
        </p:nvSpPr>
        <p:spPr>
          <a:xfrm>
            <a:off x="800311" y="3626638"/>
            <a:ext cx="4731300" cy="9386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Free list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Lista de rangos de espacio libre en memoria física.</a:t>
            </a:r>
            <a:endParaRPr sz="1200" dirty="0"/>
          </a:p>
        </p:txBody>
      </p:sp>
      <p:pic>
        <p:nvPicPr>
          <p:cNvPr id="621" name="Google Shape;62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675" y="955801"/>
            <a:ext cx="5356625" cy="53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5"/>
          <p:cNvSpPr txBox="1">
            <a:spLocks noGrp="1"/>
          </p:cNvSpPr>
          <p:nvPr>
            <p:ph type="title"/>
          </p:nvPr>
        </p:nvSpPr>
        <p:spPr>
          <a:xfrm>
            <a:off x="522514" y="96038"/>
            <a:ext cx="869813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27" name="Google Shape;627;p45"/>
          <p:cNvSpPr txBox="1">
            <a:spLocks noGrp="1"/>
          </p:cNvSpPr>
          <p:nvPr>
            <p:ph type="body" idx="1"/>
          </p:nvPr>
        </p:nvSpPr>
        <p:spPr>
          <a:xfrm>
            <a:off x="275770" y="850037"/>
            <a:ext cx="11524343" cy="101166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Creación de un proceso</a:t>
            </a:r>
            <a:endParaRPr sz="2400" b="1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SO debe encontrar un espacio para la memoria del nuevo proceso (</a:t>
            </a:r>
            <a:r>
              <a:rPr lang="es-ES" sz="2200" b="1" dirty="0">
                <a:latin typeface="+mn-lt"/>
              </a:rPr>
              <a:t>address space</a:t>
            </a:r>
            <a:r>
              <a:rPr lang="es-ES" sz="2200" dirty="0">
                <a:latin typeface="+mn-lt"/>
              </a:rPr>
              <a:t>).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628" name="Google Shape;628;p45"/>
          <p:cNvGrpSpPr/>
          <p:nvPr/>
        </p:nvGrpSpPr>
        <p:grpSpPr>
          <a:xfrm>
            <a:off x="9542762" y="3811610"/>
            <a:ext cx="2257351" cy="1163557"/>
            <a:chOff x="916638" y="3584818"/>
            <a:chExt cx="2257351" cy="1163557"/>
          </a:xfrm>
        </p:grpSpPr>
        <p:grpSp>
          <p:nvGrpSpPr>
            <p:cNvPr id="629" name="Google Shape;629;p45"/>
            <p:cNvGrpSpPr/>
            <p:nvPr/>
          </p:nvGrpSpPr>
          <p:grpSpPr>
            <a:xfrm>
              <a:off x="2367667" y="3584818"/>
              <a:ext cx="806322" cy="1163511"/>
              <a:chOff x="1775100" y="4022850"/>
              <a:chExt cx="1076100" cy="1739700"/>
            </a:xfrm>
          </p:grpSpPr>
          <p:sp>
            <p:nvSpPr>
              <p:cNvPr id="630" name="Google Shape;630;p45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1" name="Google Shape;631;p45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632" name="Google Shape;632;p45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633" name="Google Shape;633;p45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634" name="Google Shape;634;p45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635" name="Google Shape;635;p45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636" name="Google Shape;636;p45"/>
                <p:cNvCxnSpPr>
                  <a:stCxn id="63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37" name="Google Shape;637;p45"/>
                <p:cNvCxnSpPr>
                  <a:stCxn id="63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638" name="Google Shape;638;p45"/>
            <p:cNvSpPr/>
            <p:nvPr/>
          </p:nvSpPr>
          <p:spPr>
            <a:xfrm>
              <a:off x="916638" y="3801025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39" name="Google Shape;639;p45"/>
            <p:cNvCxnSpPr/>
            <p:nvPr/>
          </p:nvCxnSpPr>
          <p:spPr>
            <a:xfrm rot="10800000" flipH="1">
              <a:off x="1281400" y="3586350"/>
              <a:ext cx="10650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45"/>
            <p:cNvCxnSpPr/>
            <p:nvPr/>
          </p:nvCxnSpPr>
          <p:spPr>
            <a:xfrm>
              <a:off x="1274725" y="4564175"/>
              <a:ext cx="10647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41" name="Google Shape;641;p45"/>
          <p:cNvCxnSpPr/>
          <p:nvPr/>
        </p:nvCxnSpPr>
        <p:spPr>
          <a:xfrm rot="10800000">
            <a:off x="8295699" y="4404567"/>
            <a:ext cx="1026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42" name="Google Shape;6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099" y="2235917"/>
            <a:ext cx="3913550" cy="394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16148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48" name="Google Shape;648;p46"/>
          <p:cNvSpPr txBox="1">
            <a:spLocks noGrp="1"/>
          </p:cNvSpPr>
          <p:nvPr>
            <p:ph type="body" idx="1"/>
          </p:nvPr>
        </p:nvSpPr>
        <p:spPr>
          <a:xfrm>
            <a:off x="275772" y="978743"/>
            <a:ext cx="11538857" cy="908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Terminación de un proceso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SO recupera la memoria para su re-uso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649" name="Google Shape;6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587" y="2979150"/>
            <a:ext cx="3693538" cy="37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6973" y="2908750"/>
            <a:ext cx="3758500" cy="3719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6"/>
          <p:cNvSpPr/>
          <p:nvPr/>
        </p:nvSpPr>
        <p:spPr>
          <a:xfrm>
            <a:off x="4252375" y="2202000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2" name="Google Shape;652;p46"/>
          <p:cNvSpPr/>
          <p:nvPr/>
        </p:nvSpPr>
        <p:spPr>
          <a:xfrm>
            <a:off x="9326875" y="2202000"/>
            <a:ext cx="537300" cy="5418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53" name="Google Shape;653;p46"/>
          <p:cNvCxnSpPr/>
          <p:nvPr/>
        </p:nvCxnSpPr>
        <p:spPr>
          <a:xfrm>
            <a:off x="5897725" y="2488175"/>
            <a:ext cx="23211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54" name="Google Shape;65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6025" y="1975000"/>
            <a:ext cx="364950" cy="3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7"/>
          <p:cNvSpPr txBox="1">
            <a:spLocks noGrp="1"/>
          </p:cNvSpPr>
          <p:nvPr>
            <p:ph type="title"/>
          </p:nvPr>
        </p:nvSpPr>
        <p:spPr>
          <a:xfrm>
            <a:off x="290285" y="96038"/>
            <a:ext cx="1165497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660" name="Google Shape;660;p47"/>
          <p:cNvSpPr txBox="1">
            <a:spLocks noGrp="1"/>
          </p:cNvSpPr>
          <p:nvPr>
            <p:ph type="body" idx="1"/>
          </p:nvPr>
        </p:nvSpPr>
        <p:spPr>
          <a:xfrm>
            <a:off x="374460" y="917888"/>
            <a:ext cx="107991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Cambio de contexto</a:t>
            </a:r>
            <a:endParaRPr sz="24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/>
              <a:t>El SO almacena y restaura los registros </a:t>
            </a:r>
            <a:r>
              <a:rPr lang="es-ES" sz="2200" b="1" dirty="0"/>
              <a:t>base</a:t>
            </a:r>
            <a:r>
              <a:rPr lang="es-ES" sz="2200" dirty="0"/>
              <a:t> y </a:t>
            </a:r>
            <a:r>
              <a:rPr lang="es-ES" sz="2200" b="1" dirty="0"/>
              <a:t>bound</a:t>
            </a:r>
            <a:r>
              <a:rPr lang="es-ES" sz="2200" dirty="0"/>
              <a:t> en el PCB.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661" name="Google Shape;66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314" y="2167337"/>
            <a:ext cx="7526898" cy="391414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7"/>
          <p:cNvSpPr/>
          <p:nvPr/>
        </p:nvSpPr>
        <p:spPr>
          <a:xfrm>
            <a:off x="9198354" y="2147438"/>
            <a:ext cx="537300" cy="5418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47"/>
          <p:cNvSpPr/>
          <p:nvPr/>
        </p:nvSpPr>
        <p:spPr>
          <a:xfrm>
            <a:off x="5348946" y="2138308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64" name="Google Shape;664;p47"/>
          <p:cNvCxnSpPr/>
          <p:nvPr/>
        </p:nvCxnSpPr>
        <p:spPr>
          <a:xfrm>
            <a:off x="6096000" y="2409208"/>
            <a:ext cx="2892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/>
              <a:t>Referencias</a:t>
            </a:r>
            <a:endParaRPr sz="3200" b="1">
              <a:solidFill>
                <a:srgbClr val="701E5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4" name="Google Shape;674;p44"/>
          <p:cNvSpPr txBox="1">
            <a:spLocks noGrp="1"/>
          </p:cNvSpPr>
          <p:nvPr>
            <p:ph type="body" idx="1"/>
          </p:nvPr>
        </p:nvSpPr>
        <p:spPr>
          <a:xfrm>
            <a:off x="1011900" y="1058100"/>
            <a:ext cx="105156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/>
              <a:t>Operating Systems Three Easy Pieces </a:t>
            </a:r>
            <a:r>
              <a:rPr lang="es-ES" sz="2200"/>
              <a:t>(</a:t>
            </a:r>
            <a:r>
              <a:rPr lang="es-ES" sz="2200" u="sng">
                <a:solidFill>
                  <a:schemeClr val="hlink"/>
                </a:solidFill>
                <a:hlinkClick r:id="rId3"/>
              </a:rPr>
              <a:t>website</a:t>
            </a:r>
            <a:r>
              <a:rPr lang="es-ES" sz="2200"/>
              <a:t>: Capítulos </a:t>
            </a:r>
            <a:r>
              <a:rPr lang="es-ES" sz="2200" u="sng">
                <a:solidFill>
                  <a:schemeClr val="hlink"/>
                </a:solidFill>
                <a:hlinkClick r:id="rId4"/>
              </a:rPr>
              <a:t>1</a:t>
            </a:r>
            <a:r>
              <a:rPr lang="es-ES" sz="2200"/>
              <a:t> y </a:t>
            </a:r>
            <a:r>
              <a:rPr lang="es-ES" sz="2200" u="sng">
                <a:solidFill>
                  <a:schemeClr val="hlink"/>
                </a:solidFill>
                <a:hlinkClick r:id="rId5"/>
              </a:rPr>
              <a:t>2</a:t>
            </a:r>
            <a:r>
              <a:rPr lang="es-ES" sz="2200"/>
              <a:t>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/>
              <a:t>Videos de youtube: Clase 1 - Introducción a los sistemas operativos (</a:t>
            </a:r>
            <a:r>
              <a:rPr lang="es-ES" sz="2200" u="sng">
                <a:solidFill>
                  <a:schemeClr val="hlink"/>
                </a:solidFill>
                <a:hlinkClick r:id="rId6"/>
              </a:rPr>
              <a:t>link</a:t>
            </a:r>
            <a:r>
              <a:rPr lang="es-ES" sz="2200"/>
              <a:t>).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/>
              <a:t>Página de Remzi H. Arpaci-Dusseau (</a:t>
            </a:r>
            <a:r>
              <a:rPr lang="es-ES" sz="2200" u="sng">
                <a:solidFill>
                  <a:schemeClr val="hlink"/>
                </a:solidFill>
                <a:hlinkClick r:id="rId7"/>
              </a:rPr>
              <a:t>link</a:t>
            </a:r>
            <a:r>
              <a:rPr lang="es-ES" sz="2200"/>
              <a:t>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/>
              <a:t>Operating System Concepts - Tenth Edition (</a:t>
            </a:r>
            <a:r>
              <a:rPr lang="es-ES" sz="2200" u="sng">
                <a:solidFill>
                  <a:schemeClr val="hlink"/>
                </a:solidFill>
                <a:hlinkClick r:id="rId8"/>
              </a:rPr>
              <a:t>website</a:t>
            </a:r>
            <a:r>
              <a:rPr lang="es-ES" sz="2200"/>
              <a:t>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/>
              <a:t>Operating Systems Notes (</a:t>
            </a:r>
            <a:r>
              <a:rPr lang="es-ES" sz="2200" u="sng">
                <a:solidFill>
                  <a:schemeClr val="hlink"/>
                </a:solidFill>
                <a:hlinkClick r:id="rId9"/>
              </a:rPr>
              <a:t>link</a:t>
            </a:r>
            <a:r>
              <a:rPr lang="es-ES" sz="2200"/>
              <a:t>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0"/>
              </a:rPr>
              <a:t>https://github.com/Aniruddha-Tapas/Operating-Systems-Notes/blob/master/1-Overview.md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1"/>
              </a:rPr>
              <a:t>https://myaut.github.io/dtrace-stap-book/kernel/proc.html</a:t>
            </a:r>
            <a:r>
              <a:rPr lang="es-ES" sz="2200"/>
              <a:t> 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2"/>
              </a:rPr>
              <a:t>https://myaut.github.io/dtrace-stap-book/index.html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3"/>
              </a:rPr>
              <a:t>https://www.technologyuk.net/computing/computer-software/operating-systems/operating-system-utilities.shtml</a:t>
            </a:r>
            <a:r>
              <a:rPr lang="es-ES" sz="2200"/>
              <a:t> 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4"/>
              </a:rPr>
              <a:t>http://www.it.uu.se/education/course/homepage/os/vt18/module-4/simple-threads/</a:t>
            </a:r>
            <a:r>
              <a:rPr lang="es-ES" sz="2200"/>
              <a:t> 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>
                <a:solidFill>
                  <a:schemeClr val="hlink"/>
                </a:solidFill>
                <a:hlinkClick r:id="rId15"/>
              </a:rPr>
              <a:t>https://courses.cs.duke.edu/spring19/compsci590.1/slides/</a:t>
            </a:r>
            <a:r>
              <a:rPr lang="es-ES" sz="2200"/>
              <a:t> 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6"/>
              </a:rPr>
              <a:t>http://csl.snu.ac.kr/courses/4190.307/2020-1/</a:t>
            </a:r>
            <a:r>
              <a:rPr lang="es-ES" sz="2200"/>
              <a:t> 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/>
              <a:t> 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</TotalTime>
  <Words>1963</Words>
  <Application>Microsoft Office PowerPoint</Application>
  <PresentationFormat>Panorámica</PresentationFormat>
  <Paragraphs>824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40" baseType="lpstr">
      <vt:lpstr>Calibri</vt:lpstr>
      <vt:lpstr>Courier New</vt:lpstr>
      <vt:lpstr>Arial</vt:lpstr>
      <vt:lpstr>Calibri Light</vt:lpstr>
      <vt:lpstr>Times New Roman</vt:lpstr>
      <vt:lpstr>Roboto Slab</vt:lpstr>
      <vt:lpstr>Roboto</vt:lpstr>
      <vt:lpstr>Consolas</vt:lpstr>
      <vt:lpstr>Tema de Office</vt:lpstr>
      <vt:lpstr>Apuntes – Clase 8</vt:lpstr>
      <vt:lpstr>Proceso</vt:lpstr>
      <vt:lpstr>Virtualización de Memoria - Contextualización</vt:lpstr>
      <vt:lpstr>Virtualización de Memoria - Contextualización</vt:lpstr>
      <vt:lpstr>Hardware Address Translation - Address Translation (AT) </vt:lpstr>
      <vt:lpstr>Contextualización</vt:lpstr>
      <vt:lpstr>Traducción de direcciones</vt:lpstr>
      <vt:lpstr>Contextualización</vt:lpstr>
      <vt:lpstr>Contextualización</vt:lpstr>
      <vt:lpstr>Contextualización</vt:lpstr>
      <vt:lpstr>Contextualización</vt:lpstr>
      <vt:lpstr>Reasignación del espacio de direccionamiento</vt:lpstr>
      <vt:lpstr>Contextualización – Pregunta clave</vt:lpstr>
      <vt:lpstr>Dynamic Relocation - Reasignación dinámica</vt:lpstr>
      <vt:lpstr>Dynamic Relocation - Reasignación dinámica</vt:lpstr>
      <vt:lpstr>Traducción de direcciones</vt:lpstr>
      <vt:lpstr>Traducción de direcciones - Formulas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Acciones del sistema operativo</vt:lpstr>
      <vt:lpstr>Acciones del sistema operativo</vt:lpstr>
      <vt:lpstr>Acciones del sistema operativo</vt:lpstr>
      <vt:lpstr>Acciones del sistema operativo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– Clase 7</dc:title>
  <dc:creator>Usuario</dc:creator>
  <cp:lastModifiedBy>HENRY ALBERTO ARCILA RAMIREZ</cp:lastModifiedBy>
  <cp:revision>10</cp:revision>
  <dcterms:modified xsi:type="dcterms:W3CDTF">2026-03-17T11:13:27Z</dcterms:modified>
</cp:coreProperties>
</file>