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5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5" r:id="rId17"/>
    <p:sldId id="276" r:id="rId18"/>
    <p:sldId id="277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5" r:id="rId43"/>
    <p:sldId id="306" r:id="rId44"/>
    <p:sldId id="307" r:id="rId45"/>
    <p:sldId id="309" r:id="rId46"/>
    <p:sldId id="311" r:id="rId47"/>
    <p:sldId id="313" r:id="rId48"/>
    <p:sldId id="315" r:id="rId49"/>
    <p:sldId id="316" r:id="rId50"/>
  </p:sldIdLst>
  <p:sldSz cx="12192000" cy="6858000"/>
  <p:notesSz cx="6858000" cy="9144000"/>
  <p:embeddedFontLs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Calibri Light" panose="020F0302020204030204" pitchFamily="34" charset="0"/>
      <p:regular r:id="rId56"/>
      <p:italic r:id="rId57"/>
    </p:embeddedFon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Roboto" panose="02000000000000000000" pitchFamily="2" charset="0"/>
      <p:regular r:id="rId62"/>
      <p:bold r:id="rId63"/>
      <p:italic r:id="rId64"/>
      <p:boldItalic r:id="rId65"/>
    </p:embeddedFont>
    <p:embeddedFont>
      <p:font typeface="Roboto Slab" panose="020B0604020202020204" charset="0"/>
      <p:regular r:id="rId66"/>
      <p:bold r:id="rId67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5C7703-E2AC-41A6-8DEA-2D5C455BA520}">
  <a:tblStyle styleId="{CA5C7703-E2AC-41A6-8DEA-2D5C455BA5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2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1542c71b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1542c71b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b0d60376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b0d603767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0e4de4385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0e4de4385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0e4de4385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0e4de4385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e4de43856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0e4de43856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0e4de43856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0e4de43856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0e4de43856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0e4de43856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0e4de43856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0e4de43856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0e4de43856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0e4de43856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0e4de43856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10e4de43856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0e4de43856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0e4de43856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0e4de43856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0e4de43856_0_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0411c0b8f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g10411c0b8f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0e4de43856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0e4de43856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10e4de43856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10e4de43856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8" name="Google Shape;818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0e4de43856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4" name="Google Shape;834;g10e4de43856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10e4de43856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2" name="Google Shape;852;g10e4de43856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10e4de43856_0_9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9" name="Google Shape;869;g10e4de43856_0_9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0e4de43856_0_10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6" name="Google Shape;886;g10e4de43856_0_10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10e4de43856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7" name="Google Shape;907;g10e4de43856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0e4de43856_0_1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7" name="Google Shape;917;g10e4de43856_0_1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0e4de43856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10e4de43856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0eab4ff59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0eab4ff59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0eab4ff5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0eab4ff5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10eab4ff599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10eab4ff599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10eab4ff599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10eab4ff599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10eab4ff599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10eab4ff599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10f18a32a9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10f18a32a9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10e655267c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g10e655267c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10eab4ff599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g10eab4ff599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10e65526bf7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g10e65526bf7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10eab4ff599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g10eab4ff599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10eab4ff599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6" name="Google Shape;1186;g10eab4ff599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10eab4ff599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2" name="Google Shape;1202;g10eab4ff599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10eab4ff599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g10eab4ff599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10eab4ff599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g10eab4ff599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10e4de43856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10e4de43856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10eab4ff599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10eab4ff599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10eab4ff599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10eab4ff599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10eab4ff599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00" name="Google Shape;1500;g10eab4ff599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10f18a32a9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0" name="Google Shape;1550;g10f18a32a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10e65526bf7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9" name="Google Shape;1569;g10e65526bf7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10e65526bf7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10e65526bf7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10e834b482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96" name="Google Shape;1596;g10e834b482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1C467-E5B3-4D78-8F66-EE6790560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73C799-5794-45CA-AF2E-33897DFC8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2AED8C-0FB6-458A-B8C3-BC55940A1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539152-6A63-470D-9186-4C60E10F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D89AE-DC2B-4430-8DCD-D3EABA7E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742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59475-5E5B-4EDB-8437-83453B3F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8EC2D0-6CC5-4CD3-A1BD-565E16861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3A557E-E367-4C6D-8365-8DB8C47E4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B33BC1-90AC-4F06-9CAC-F3ABD002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707619-C9C2-449B-8756-9216ADDC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6199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7302E-18EF-405D-8EB1-1C8603AE1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D598C-DA1E-4F84-8E07-9A294C43E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FAF2F5-EEB9-4C18-9A4A-594536D13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B37971-3E41-445F-91AB-4252512D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65E6B2-BCB3-4430-8ADD-F1BCE84F8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329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742F3-2430-4DBA-933A-2F1F8386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7E26BA-F9EA-4BB4-9172-AB4374BE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4EEAEC-0978-46C5-986F-3434A782A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F0C5A-C724-4F31-91F6-999DEAABE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880D55-9A3C-46B2-A0DB-B221DEFD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41B772-77ED-4270-829B-E045F36B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0219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BECC0-43EE-4959-B9D3-58FA7812B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A22FA1-12E6-418B-8A3D-2472B772D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D20B6B-1CAA-4552-879F-870761379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6B406C-6B11-4C27-8CF2-B8530C229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36E1C3-04B9-41A0-AF7F-740C194B4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0F61458-C1C6-4A44-8752-D9938FBF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053F62D-F752-4915-AB70-4AEBD66F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BDC451-123A-46AB-BE6A-E262E1D77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377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A1F34-E852-40EE-98C1-5A367DB0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B522490-93F0-4EE7-ABA8-72B84EDB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667B6B-1B2D-4D70-BA00-470886C6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38DAA6-B61A-4761-985E-07098EAA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174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ADBD293-F60F-4C16-8D1F-A98E6DF7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342E0B8-2C73-4E96-832E-F4B9F6472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AB8D91-CEFE-45EF-AE75-916708D0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30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C03EC-8076-4E70-9F43-1F6D8BEC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E618DF-E6DD-40BB-81C7-3F8CCC4CB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278C3F-1FDA-4E1B-A8CE-61298C0F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CC91F2-A7BB-4E8A-B0BF-B2760EAE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66137C-6AF9-4F0E-B626-B6E9CF49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8A92ED-DF99-464C-8227-018BB5A2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6450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D2B69-1A20-4CEC-B4CF-AA92BAB86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1CBA46-1A92-4574-AC3A-8F983F7CF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C82C1C-DD72-42D3-A2AB-C556049C8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C525B4-60BB-4174-9C2A-797FE7295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0F7B6A-5D39-4447-9706-ECEE0FC16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3993CC-2594-41EC-9336-4040B83C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571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6E8FD-84AD-4BA5-9AC2-EFAC6017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DCBBC6E-E1DB-4B75-9C95-163CD02FE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AB4373-D40F-456B-B92A-135703207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AC070D-19FE-425E-98C3-8E4DB224C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70C2D6-0E37-45B1-BEB7-34FB13F6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4528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D8D6DD-F0E1-4AFD-8132-843C82BDA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2DFE0A-F6E0-4010-8FDF-BCC2C80FC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F54809-6890-4E9C-AAB8-79EFF9A5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4EED50-E1AE-4ADF-BFD2-9B908BAA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09A790-4801-4CFA-9DC9-5CB8EB1B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8148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8676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6327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277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21BE253-63B4-4592-9836-5EE78788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61CC22-284D-4852-88A6-42FAE879E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FF3DB4-8DB5-4128-80EC-44D189CB5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C8284F-694B-4884-99C3-8C7EF2C15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1EE26D-5BEE-4136-B76E-FB6BB99F6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125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s-book.com/OS10/index.html" TargetMode="External"/><Relationship Id="rId13" Type="http://schemas.openxmlformats.org/officeDocument/2006/relationships/hyperlink" Target="https://www.technologyuk.net/computing/computer-software/operating-systems/operating-system-utilities.shtml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://pages.cs.wisc.edu/~remzi/" TargetMode="External"/><Relationship Id="rId12" Type="http://schemas.openxmlformats.org/officeDocument/2006/relationships/hyperlink" Target="https://myaut.github.io/dtrace-stap-book/index.html" TargetMode="External"/><Relationship Id="rId2" Type="http://schemas.openxmlformats.org/officeDocument/2006/relationships/notesSlide" Target="../notesSlides/notesSlide49.xml"/><Relationship Id="rId16" Type="http://schemas.openxmlformats.org/officeDocument/2006/relationships/hyperlink" Target="http://csl.snu.ac.kr/courses/4190.307/2020-1/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youtube.com/playlist?list=PLlTZ99qnw3zKBiKz7pZ_ErH3AR3rpaaKT" TargetMode="External"/><Relationship Id="rId11" Type="http://schemas.openxmlformats.org/officeDocument/2006/relationships/hyperlink" Target="https://myaut.github.io/dtrace-stap-book/kernel/proc.html" TargetMode="External"/><Relationship Id="rId5" Type="http://schemas.openxmlformats.org/officeDocument/2006/relationships/hyperlink" Target="http://pages.cs.wisc.edu/~remzi/OSTEP/intro.pdf" TargetMode="External"/><Relationship Id="rId15" Type="http://schemas.openxmlformats.org/officeDocument/2006/relationships/hyperlink" Target="https://courses.cs.duke.edu/spring19/compsci590.1/slides/" TargetMode="External"/><Relationship Id="rId10" Type="http://schemas.openxmlformats.org/officeDocument/2006/relationships/hyperlink" Target="https://github.com/Aniruddha-Tapas/Operating-Systems-Notes/blob/master/1-Overview.md" TargetMode="External"/><Relationship Id="rId4" Type="http://schemas.openxmlformats.org/officeDocument/2006/relationships/hyperlink" Target="http://pages.cs.wisc.edu/~remzi/OSTEP/dialogue-threeeasy.pdf" TargetMode="External"/><Relationship Id="rId9" Type="http://schemas.openxmlformats.org/officeDocument/2006/relationships/hyperlink" Target="https://applied-programming.github.io/Operating-Systems-Notes/" TargetMode="External"/><Relationship Id="rId14" Type="http://schemas.openxmlformats.org/officeDocument/2006/relationships/hyperlink" Target="http://www.it.uu.se/education/course/homepage/os/vt18/module-4/simple-threa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5" y="2964875"/>
            <a:ext cx="11050772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Sistemas Operativos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Segmentación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>
                <a:ea typeface="Roboto"/>
                <a:cs typeface="Roboto"/>
                <a:sym typeface="Roboto"/>
              </a:rPr>
              <a:t>19/03/2026</a:t>
            </a:r>
            <a:endParaRPr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Memoria Física – Memoria Virtual</a:t>
            </a: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4834054" y="2812868"/>
            <a:ext cx="806322" cy="1163511"/>
            <a:chOff x="1775100" y="4022850"/>
            <a:chExt cx="1076100" cy="1739700"/>
          </a:xfrm>
        </p:grpSpPr>
        <p:sp>
          <p:nvSpPr>
            <p:cNvPr id="160" name="Google Shape;160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" name="Google Shape;161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62" name="Google Shape;162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63" name="Google Shape;163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164" name="Google Shape;164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165" name="Google Shape;165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166" name="Google Shape;166;p20"/>
              <p:cNvCxnSpPr>
                <a:stCxn id="164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7" name="Google Shape;167;p20"/>
              <p:cNvCxnSpPr>
                <a:stCxn id="16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68" name="Google Shape;168;p20"/>
          <p:cNvGrpSpPr/>
          <p:nvPr/>
        </p:nvGrpSpPr>
        <p:grpSpPr>
          <a:xfrm>
            <a:off x="4834042" y="4419243"/>
            <a:ext cx="806322" cy="1163511"/>
            <a:chOff x="1775100" y="4022850"/>
            <a:chExt cx="1076100" cy="1739700"/>
          </a:xfrm>
        </p:grpSpPr>
        <p:sp>
          <p:nvSpPr>
            <p:cNvPr id="169" name="Google Shape;169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71" name="Google Shape;171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72" name="Google Shape;172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175" name="Google Shape;175;p20"/>
              <p:cNvCxnSpPr>
                <a:stCxn id="173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76" name="Google Shape;176;p20"/>
              <p:cNvCxnSpPr>
                <a:stCxn id="174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77" name="Google Shape;177;p20"/>
          <p:cNvGrpSpPr/>
          <p:nvPr/>
        </p:nvGrpSpPr>
        <p:grpSpPr>
          <a:xfrm>
            <a:off x="7779525" y="1761450"/>
            <a:ext cx="822300" cy="4218300"/>
            <a:chOff x="6401200" y="2198400"/>
            <a:chExt cx="822300" cy="4218300"/>
          </a:xfrm>
        </p:grpSpPr>
        <p:sp>
          <p:nvSpPr>
            <p:cNvPr id="178" name="Google Shape;178;p20"/>
            <p:cNvSpPr/>
            <p:nvPr/>
          </p:nvSpPr>
          <p:spPr>
            <a:xfrm>
              <a:off x="6401200" y="2198400"/>
              <a:ext cx="822300" cy="4218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" name="Google Shape;179;p20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180" name="Google Shape;180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1" name="Google Shape;181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82" name="Google Shape;182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83" name="Google Shape;183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84" name="Google Shape;184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185" name="Google Shape;185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186" name="Google Shape;186;p20"/>
                <p:cNvCxnSpPr>
                  <a:stCxn id="18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87" name="Google Shape;187;p20"/>
                <p:cNvCxnSpPr>
                  <a:stCxn id="18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188" name="Google Shape;188;p20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0" name="Google Shape;190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91" name="Google Shape;191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92" name="Google Shape;192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93" name="Google Shape;193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194" name="Google Shape;194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195" name="Google Shape;195;p20"/>
                <p:cNvCxnSpPr>
                  <a:stCxn id="193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6" name="Google Shape;196;p20"/>
                <p:cNvCxnSpPr>
                  <a:stCxn id="194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197" name="Google Shape;197;p20"/>
          <p:cNvSpPr/>
          <p:nvPr/>
        </p:nvSpPr>
        <p:spPr>
          <a:xfrm>
            <a:off x="3108625" y="2909900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102813" y="4536225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 rot="10800000" flipH="1">
            <a:off x="5650175" y="2670425"/>
            <a:ext cx="2125500" cy="137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0"/>
          <p:cNvCxnSpPr/>
          <p:nvPr/>
        </p:nvCxnSpPr>
        <p:spPr>
          <a:xfrm rot="10800000" flipH="1">
            <a:off x="5650175" y="3843475"/>
            <a:ext cx="2128500" cy="140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0"/>
          <p:cNvCxnSpPr/>
          <p:nvPr/>
        </p:nvCxnSpPr>
        <p:spPr>
          <a:xfrm rot="10800000" flipH="1">
            <a:off x="5650175" y="4388725"/>
            <a:ext cx="2128500" cy="2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0"/>
          <p:cNvCxnSpPr/>
          <p:nvPr/>
        </p:nvCxnSpPr>
        <p:spPr>
          <a:xfrm rot="10800000" flipH="1">
            <a:off x="5644350" y="5562000"/>
            <a:ext cx="2134500" cy="24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3" name="Google Shape;203;p20"/>
          <p:cNvSpPr txBox="1"/>
          <p:nvPr/>
        </p:nvSpPr>
        <p:spPr>
          <a:xfrm>
            <a:off x="3803325" y="3154775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791600" y="4743350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 rot="10800000" flipH="1">
            <a:off x="4470275" y="490040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206;p20"/>
          <p:cNvCxnSpPr/>
          <p:nvPr/>
        </p:nvCxnSpPr>
        <p:spPr>
          <a:xfrm rot="10800000" flipH="1">
            <a:off x="4481925" y="330730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p20"/>
          <p:cNvCxnSpPr>
            <a:stCxn id="164" idx="3"/>
            <a:endCxn id="184" idx="1"/>
          </p:cNvCxnSpPr>
          <p:nvPr/>
        </p:nvCxnSpPr>
        <p:spPr>
          <a:xfrm rot="10800000" flipH="1">
            <a:off x="5640376" y="3167120"/>
            <a:ext cx="2147100" cy="137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p20"/>
          <p:cNvCxnSpPr>
            <a:stCxn id="173" idx="3"/>
            <a:endCxn id="193" idx="1"/>
          </p:cNvCxnSpPr>
          <p:nvPr/>
        </p:nvCxnSpPr>
        <p:spPr>
          <a:xfrm rot="10800000" flipH="1">
            <a:off x="5640363" y="4881495"/>
            <a:ext cx="2147100" cy="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9" name="Google Shape;209;p20"/>
          <p:cNvGrpSpPr/>
          <p:nvPr/>
        </p:nvGrpSpPr>
        <p:grpSpPr>
          <a:xfrm>
            <a:off x="4534425" y="5996325"/>
            <a:ext cx="4426050" cy="615600"/>
            <a:chOff x="7439250" y="5328100"/>
            <a:chExt cx="4426050" cy="615600"/>
          </a:xfrm>
        </p:grpSpPr>
        <p:sp>
          <p:nvSpPr>
            <p:cNvPr id="210" name="Google Shape;210;p20"/>
            <p:cNvSpPr txBox="1"/>
            <p:nvPr/>
          </p:nvSpPr>
          <p:spPr>
            <a:xfrm>
              <a:off x="743925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Virtual</a:t>
              </a:r>
              <a:endParaRPr b="1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1032570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Física</a:t>
              </a:r>
              <a:endParaRPr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12" name="Google Shape;212;p20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213" name="Google Shape;213;p20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EA99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0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chemeClr val="lt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215" name="Google Shape;215;p20"/>
          <p:cNvSpPr/>
          <p:nvPr/>
        </p:nvSpPr>
        <p:spPr>
          <a:xfrm>
            <a:off x="7780000" y="1772550"/>
            <a:ext cx="822300" cy="554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latin typeface="Courier New"/>
                <a:ea typeface="Courier New"/>
                <a:cs typeface="Courier New"/>
                <a:sym typeface="Courier New"/>
              </a:rPr>
              <a:t>Operating system</a:t>
            </a:r>
            <a:endParaRPr sz="9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Address translation - Mapeo</a:t>
            </a:r>
            <a:endParaRPr dirty="0"/>
          </a:p>
        </p:txBody>
      </p:sp>
      <p:grpSp>
        <p:nvGrpSpPr>
          <p:cNvPr id="222" name="Google Shape;222;p21"/>
          <p:cNvGrpSpPr/>
          <p:nvPr/>
        </p:nvGrpSpPr>
        <p:grpSpPr>
          <a:xfrm>
            <a:off x="1707350" y="5436125"/>
            <a:ext cx="9378375" cy="1156800"/>
            <a:chOff x="1094825" y="3951525"/>
            <a:chExt cx="9378375" cy="1156800"/>
          </a:xfrm>
        </p:grpSpPr>
        <p:grpSp>
          <p:nvGrpSpPr>
            <p:cNvPr id="223" name="Google Shape;223;p21"/>
            <p:cNvGrpSpPr/>
            <p:nvPr/>
          </p:nvGrpSpPr>
          <p:grpSpPr>
            <a:xfrm>
              <a:off x="3591725" y="3951525"/>
              <a:ext cx="4103700" cy="1156800"/>
              <a:chOff x="3401900" y="3904875"/>
              <a:chExt cx="4103700" cy="1156800"/>
            </a:xfrm>
          </p:grpSpPr>
          <p:sp>
            <p:nvSpPr>
              <p:cNvPr id="224" name="Google Shape;224;p21"/>
              <p:cNvSpPr/>
              <p:nvPr/>
            </p:nvSpPr>
            <p:spPr>
              <a:xfrm>
                <a:off x="4883000" y="3904875"/>
                <a:ext cx="1141500" cy="1156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25" name="Google Shape;225;p21"/>
              <p:cNvCxnSpPr/>
              <p:nvPr/>
            </p:nvCxnSpPr>
            <p:spPr>
              <a:xfrm>
                <a:off x="34019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26" name="Google Shape;226;p21"/>
              <p:cNvCxnSpPr/>
              <p:nvPr/>
            </p:nvCxnSpPr>
            <p:spPr>
              <a:xfrm>
                <a:off x="60245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27" name="Google Shape;227;p21"/>
            <p:cNvSpPr txBox="1"/>
            <p:nvPr/>
          </p:nvSpPr>
          <p:spPr>
            <a:xfrm>
              <a:off x="1094825" y="412972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Virtual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7793900" y="412972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29" name="Google Shape;229;p21"/>
          <p:cNvGrpSpPr/>
          <p:nvPr/>
        </p:nvGrpSpPr>
        <p:grpSpPr>
          <a:xfrm>
            <a:off x="1753088" y="3053189"/>
            <a:ext cx="2514286" cy="1890706"/>
            <a:chOff x="1378950" y="2483639"/>
            <a:chExt cx="2514286" cy="1890706"/>
          </a:xfrm>
        </p:grpSpPr>
        <p:grpSp>
          <p:nvGrpSpPr>
            <p:cNvPr id="230" name="Google Shape;230;p21"/>
            <p:cNvGrpSpPr/>
            <p:nvPr/>
          </p:nvGrpSpPr>
          <p:grpSpPr>
            <a:xfrm>
              <a:off x="2957029" y="2483639"/>
              <a:ext cx="936207" cy="1890706"/>
              <a:chOff x="1775100" y="4022850"/>
              <a:chExt cx="1076100" cy="1739700"/>
            </a:xfrm>
          </p:grpSpPr>
          <p:sp>
            <p:nvSpPr>
              <p:cNvPr id="231" name="Google Shape;231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2" name="Google Shape;232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33" name="Google Shape;233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34" name="Google Shape;234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235" name="Google Shape;235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236" name="Google Shape;236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237" name="Google Shape;237;p21"/>
                <p:cNvCxnSpPr>
                  <a:stCxn id="235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38" name="Google Shape;238;p21"/>
                <p:cNvCxnSpPr>
                  <a:stCxn id="236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39" name="Google Shape;239;p21"/>
            <p:cNvSpPr/>
            <p:nvPr/>
          </p:nvSpPr>
          <p:spPr>
            <a:xfrm>
              <a:off x="1378950" y="3063450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40" name="Google Shape;240;p21"/>
            <p:cNvCxnSpPr/>
            <p:nvPr/>
          </p:nvCxnSpPr>
          <p:spPr>
            <a:xfrm rot="10800000" flipH="1">
              <a:off x="1781475" y="2484825"/>
              <a:ext cx="1145100" cy="5334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21"/>
            <p:cNvCxnSpPr/>
            <p:nvPr/>
          </p:nvCxnSpPr>
          <p:spPr>
            <a:xfrm>
              <a:off x="1779250" y="3833075"/>
              <a:ext cx="1138500" cy="535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242" name="Google Shape;242;p21"/>
          <p:cNvSpPr txBox="1"/>
          <p:nvPr/>
        </p:nvSpPr>
        <p:spPr>
          <a:xfrm>
            <a:off x="2236625" y="2473675"/>
            <a:ext cx="1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Mapa de memoria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43" name="Google Shape;243;p21"/>
          <p:cNvGrpSpPr/>
          <p:nvPr/>
        </p:nvGrpSpPr>
        <p:grpSpPr>
          <a:xfrm>
            <a:off x="9377638" y="2554025"/>
            <a:ext cx="822300" cy="2750411"/>
            <a:chOff x="8636788" y="1783150"/>
            <a:chExt cx="822300" cy="2750411"/>
          </a:xfrm>
        </p:grpSpPr>
        <p:sp>
          <p:nvSpPr>
            <p:cNvPr id="244" name="Google Shape;244;p21"/>
            <p:cNvSpPr/>
            <p:nvPr/>
          </p:nvSpPr>
          <p:spPr>
            <a:xfrm>
              <a:off x="8636788" y="1783161"/>
              <a:ext cx="822300" cy="27504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5" name="Google Shape;245;p21"/>
            <p:cNvGrpSpPr/>
            <p:nvPr/>
          </p:nvGrpSpPr>
          <p:grpSpPr>
            <a:xfrm>
              <a:off x="8644770" y="2674080"/>
              <a:ext cx="806322" cy="1056346"/>
              <a:chOff x="1775100" y="4022850"/>
              <a:chExt cx="1076100" cy="1739700"/>
            </a:xfrm>
          </p:grpSpPr>
          <p:sp>
            <p:nvSpPr>
              <p:cNvPr id="246" name="Google Shape;246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7" name="Google Shape;247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48" name="Google Shape;248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0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49" name="Google Shape;249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 sz="1600"/>
                </a:p>
              </p:txBody>
            </p:sp>
            <p:sp>
              <p:nvSpPr>
                <p:cNvPr id="250" name="Google Shape;250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 dirty="0"/>
                </a:p>
              </p:txBody>
            </p:sp>
            <p:sp>
              <p:nvSpPr>
                <p:cNvPr id="251" name="Google Shape;251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 dirty="0"/>
                </a:p>
              </p:txBody>
            </p:sp>
            <p:cxnSp>
              <p:nvCxnSpPr>
                <p:cNvPr id="252" name="Google Shape;252;p21"/>
                <p:cNvCxnSpPr>
                  <a:stCxn id="250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53" name="Google Shape;253;p21"/>
                <p:cNvCxnSpPr>
                  <a:stCxn id="251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54" name="Google Shape;254;p21"/>
            <p:cNvSpPr/>
            <p:nvPr/>
          </p:nvSpPr>
          <p:spPr>
            <a:xfrm>
              <a:off x="8636788" y="1783150"/>
              <a:ext cx="822300" cy="5541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OS</a:t>
              </a:r>
              <a:endParaRPr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255" name="Google Shape;255;p21"/>
          <p:cNvCxnSpPr/>
          <p:nvPr/>
        </p:nvCxnSpPr>
        <p:spPr>
          <a:xfrm>
            <a:off x="4339525" y="3059300"/>
            <a:ext cx="4982700" cy="375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21"/>
          <p:cNvCxnSpPr/>
          <p:nvPr/>
        </p:nvCxnSpPr>
        <p:spPr>
          <a:xfrm rot="10800000" flipH="1">
            <a:off x="4339525" y="4505925"/>
            <a:ext cx="4982700" cy="455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7" name="Google Shape;257;p21"/>
          <p:cNvSpPr txBox="1"/>
          <p:nvPr/>
        </p:nvSpPr>
        <p:spPr>
          <a:xfrm>
            <a:off x="2761150" y="3398600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VA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cxnSp>
        <p:nvCxnSpPr>
          <p:cNvPr id="258" name="Google Shape;258;p21"/>
          <p:cNvCxnSpPr>
            <a:stCxn id="234" idx="1"/>
          </p:cNvCxnSpPr>
          <p:nvPr/>
        </p:nvCxnSpPr>
        <p:spPr>
          <a:xfrm flipH="1">
            <a:off x="3105255" y="3550997"/>
            <a:ext cx="228000" cy="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59" name="Google Shape;259;p21"/>
          <p:cNvSpPr txBox="1"/>
          <p:nvPr/>
        </p:nvSpPr>
        <p:spPr>
          <a:xfrm>
            <a:off x="8805550" y="3551000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accent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PA</a:t>
            </a:r>
            <a:endParaRPr sz="800">
              <a:solidFill>
                <a:schemeClr val="accent6"/>
              </a:solidFill>
              <a:highlight>
                <a:schemeClr val="lt1"/>
              </a:highlight>
            </a:endParaRPr>
          </a:p>
        </p:txBody>
      </p:sp>
      <p:cxnSp>
        <p:nvCxnSpPr>
          <p:cNvPr id="260" name="Google Shape;260;p21"/>
          <p:cNvCxnSpPr/>
          <p:nvPr/>
        </p:nvCxnSpPr>
        <p:spPr>
          <a:xfrm flipH="1">
            <a:off x="9149655" y="3703397"/>
            <a:ext cx="228000" cy="30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61" name="Google Shape;261;p21"/>
          <p:cNvCxnSpPr/>
          <p:nvPr/>
        </p:nvCxnSpPr>
        <p:spPr>
          <a:xfrm>
            <a:off x="4267375" y="3560825"/>
            <a:ext cx="4538700" cy="153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65C113-5C72-4321-B9C6-1D5F0794F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9228"/>
            <a:ext cx="10515600" cy="522414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Asociación entre direcciones virtuales y físicas</a:t>
            </a:r>
          </a:p>
          <a:p>
            <a:endParaRPr lang="es-C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Dynamic Relocation (base &amp; bounds)</a:t>
            </a:r>
            <a:endParaRPr dirty="0"/>
          </a:p>
        </p:txBody>
      </p:sp>
      <p:grpSp>
        <p:nvGrpSpPr>
          <p:cNvPr id="268" name="Google Shape;268;p22"/>
          <p:cNvGrpSpPr/>
          <p:nvPr/>
        </p:nvGrpSpPr>
        <p:grpSpPr>
          <a:xfrm>
            <a:off x="2764822" y="4342825"/>
            <a:ext cx="3303251" cy="837000"/>
            <a:chOff x="3888184" y="3951525"/>
            <a:chExt cx="3303251" cy="837000"/>
          </a:xfrm>
        </p:grpSpPr>
        <p:grpSp>
          <p:nvGrpSpPr>
            <p:cNvPr id="269" name="Google Shape;269;p22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270" name="Google Shape;270;p22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71" name="Google Shape;271;p22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72" name="Google Shape;272;p22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73" name="Google Shape;273;p22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4" name="Google Shape;274;p22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75" name="Google Shape;275;p22"/>
          <p:cNvGrpSpPr/>
          <p:nvPr/>
        </p:nvGrpSpPr>
        <p:grpSpPr>
          <a:xfrm>
            <a:off x="7188716" y="3266970"/>
            <a:ext cx="2340362" cy="3256628"/>
            <a:chOff x="8005450" y="1566825"/>
            <a:chExt cx="3308400" cy="4491900"/>
          </a:xfrm>
        </p:grpSpPr>
        <p:sp>
          <p:nvSpPr>
            <p:cNvPr id="276" name="Google Shape;276;p22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78" name="Google Shape;278;p22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279" name="Google Shape;279;p22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80" name="Google Shape;280;p22"/>
              <p:cNvCxnSpPr>
                <a:stCxn id="279" idx="4"/>
                <a:endCxn id="281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82" name="Google Shape;282;p22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283" name="Google Shape;283;p22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281" name="Google Shape;281;p22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284" name="Google Shape;284;p22"/>
                  <p:cNvSpPr txBox="1"/>
                  <p:nvPr/>
                </p:nvSpPr>
                <p:spPr>
                  <a:xfrm>
                    <a:off x="9216100" y="3718050"/>
                    <a:ext cx="887100" cy="55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85" name="Google Shape;285;p22"/>
                <p:cNvGrpSpPr/>
                <p:nvPr/>
              </p:nvGrpSpPr>
              <p:grpSpPr>
                <a:xfrm>
                  <a:off x="8638450" y="4265550"/>
                  <a:ext cx="1901250" cy="509400"/>
                  <a:chOff x="8638450" y="4265550"/>
                  <a:chExt cx="1901250" cy="509400"/>
                </a:xfrm>
              </p:grpSpPr>
              <p:sp>
                <p:nvSpPr>
                  <p:cNvPr id="286" name="Google Shape;286;p22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7" name="Google Shape;287;p22"/>
                  <p:cNvSpPr txBox="1"/>
                  <p:nvPr/>
                </p:nvSpPr>
                <p:spPr>
                  <a:xfrm>
                    <a:off x="8638450" y="4265550"/>
                    <a:ext cx="8871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88" name="Google Shape;288;p22"/>
                <p:cNvGrpSpPr/>
                <p:nvPr/>
              </p:nvGrpSpPr>
              <p:grpSpPr>
                <a:xfrm>
                  <a:off x="8483375" y="4782162"/>
                  <a:ext cx="2056325" cy="509400"/>
                  <a:chOff x="8483375" y="4782162"/>
                  <a:chExt cx="2056325" cy="509400"/>
                </a:xfrm>
              </p:grpSpPr>
              <p:sp>
                <p:nvSpPr>
                  <p:cNvPr id="289" name="Google Shape;289;p22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0" name="Google Shape;290;p22"/>
                  <p:cNvSpPr txBox="1"/>
                  <p:nvPr/>
                </p:nvSpPr>
                <p:spPr>
                  <a:xfrm>
                    <a:off x="8483375" y="4782162"/>
                    <a:ext cx="10929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AAF24-C3BD-4870-B3CC-BB4443177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110" y="1353987"/>
            <a:ext cx="10515600" cy="1773420"/>
          </a:xfrm>
        </p:spPr>
        <p:txBody>
          <a:bodyPr/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2800" dirty="0"/>
              <a:t>Registros asociados: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MX" sz="2800" b="1" dirty="0">
                <a:solidFill>
                  <a:schemeClr val="accent2"/>
                </a:solidFill>
              </a:rPr>
              <a:t>base</a:t>
            </a:r>
            <a:r>
              <a:rPr lang="es-MX" sz="2800" dirty="0">
                <a:solidFill>
                  <a:schemeClr val="accent2"/>
                </a:solidFill>
              </a:rPr>
              <a:t>:</a:t>
            </a:r>
            <a:r>
              <a:rPr lang="es-MX" sz="2800" dirty="0"/>
              <a:t> Almacena la dirección física </a:t>
            </a:r>
            <a:r>
              <a:rPr lang="es-MX" sz="2800" dirty="0">
                <a:solidFill>
                  <a:srgbClr val="FF0000"/>
                </a:solidFill>
              </a:rPr>
              <a:t>(</a:t>
            </a:r>
            <a:r>
              <a:rPr lang="es-MX" sz="2800" b="1" dirty="0">
                <a:solidFill>
                  <a:srgbClr val="FF0000"/>
                </a:solidFill>
              </a:rPr>
              <a:t>offset</a:t>
            </a:r>
            <a:r>
              <a:rPr lang="es-MX" sz="2800" dirty="0">
                <a:solidFill>
                  <a:srgbClr val="FF0000"/>
                </a:solidFill>
              </a:rPr>
              <a:t>)</a:t>
            </a:r>
            <a:r>
              <a:rPr lang="es-MX" sz="2800" dirty="0"/>
              <a:t> a partir de la cual el address space de un proceso será mapeado.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MX" sz="2800" b="1" dirty="0">
                <a:solidFill>
                  <a:schemeClr val="accent2"/>
                </a:solidFill>
              </a:rPr>
              <a:t>bounds</a:t>
            </a:r>
            <a:r>
              <a:rPr lang="es-MX" sz="2800" dirty="0">
                <a:solidFill>
                  <a:schemeClr val="accent2"/>
                </a:solidFill>
              </a:rPr>
              <a:t>:</a:t>
            </a:r>
            <a:r>
              <a:rPr lang="es-MX" sz="2800" dirty="0"/>
              <a:t> Almacena el tamaño del address space.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MX" sz="2800" dirty="0"/>
          </a:p>
          <a:p>
            <a:endParaRPr lang="es-C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 txBox="1">
            <a:spLocks noGrp="1"/>
          </p:cNvSpPr>
          <p:nvPr>
            <p:ph type="title"/>
          </p:nvPr>
        </p:nvSpPr>
        <p:spPr>
          <a:xfrm>
            <a:off x="487800" y="365125"/>
            <a:ext cx="112164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/>
              <a:t>Traducción de direcciones usando Dynamic Relocation</a:t>
            </a:r>
            <a:endParaRPr sz="4000" dirty="0"/>
          </a:p>
        </p:txBody>
      </p:sp>
      <p:grpSp>
        <p:nvGrpSpPr>
          <p:cNvPr id="297" name="Google Shape;297;p23"/>
          <p:cNvGrpSpPr/>
          <p:nvPr/>
        </p:nvGrpSpPr>
        <p:grpSpPr>
          <a:xfrm>
            <a:off x="1696666" y="2470420"/>
            <a:ext cx="2340362" cy="3256628"/>
            <a:chOff x="8005450" y="1566825"/>
            <a:chExt cx="3308400" cy="4491900"/>
          </a:xfrm>
        </p:grpSpPr>
        <p:sp>
          <p:nvSpPr>
            <p:cNvPr id="298" name="Google Shape;298;p23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9" name="Google Shape;299;p23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00" name="Google Shape;300;p23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301" name="Google Shape;301;p23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02" name="Google Shape;302;p23"/>
              <p:cNvCxnSpPr>
                <a:stCxn id="301" idx="4"/>
                <a:endCxn id="303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04" name="Google Shape;304;p23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305" name="Google Shape;305;p23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303" name="Google Shape;303;p23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306" name="Google Shape;306;p23"/>
                  <p:cNvSpPr txBox="1"/>
                  <p:nvPr/>
                </p:nvSpPr>
                <p:spPr>
                  <a:xfrm>
                    <a:off x="9216100" y="3718050"/>
                    <a:ext cx="887100" cy="55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307" name="Google Shape;307;p23"/>
                <p:cNvGrpSpPr/>
                <p:nvPr/>
              </p:nvGrpSpPr>
              <p:grpSpPr>
                <a:xfrm>
                  <a:off x="8638450" y="4265550"/>
                  <a:ext cx="1901250" cy="509400"/>
                  <a:chOff x="8638450" y="4265550"/>
                  <a:chExt cx="1901250" cy="509400"/>
                </a:xfrm>
              </p:grpSpPr>
              <p:sp>
                <p:nvSpPr>
                  <p:cNvPr id="308" name="Google Shape;308;p23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23"/>
                  <p:cNvSpPr txBox="1"/>
                  <p:nvPr/>
                </p:nvSpPr>
                <p:spPr>
                  <a:xfrm>
                    <a:off x="8638450" y="4265550"/>
                    <a:ext cx="8871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310" name="Google Shape;310;p23"/>
                <p:cNvGrpSpPr/>
                <p:nvPr/>
              </p:nvGrpSpPr>
              <p:grpSpPr>
                <a:xfrm>
                  <a:off x="8483375" y="4782162"/>
                  <a:ext cx="2056325" cy="509400"/>
                  <a:chOff x="8483375" y="4782162"/>
                  <a:chExt cx="2056325" cy="509400"/>
                </a:xfrm>
              </p:grpSpPr>
              <p:sp>
                <p:nvSpPr>
                  <p:cNvPr id="311" name="Google Shape;311;p23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312;p23"/>
                  <p:cNvSpPr txBox="1"/>
                  <p:nvPr/>
                </p:nvSpPr>
                <p:spPr>
                  <a:xfrm>
                    <a:off x="8483375" y="4782162"/>
                    <a:ext cx="10929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grpSp>
        <p:nvGrpSpPr>
          <p:cNvPr id="313" name="Google Shape;313;p23"/>
          <p:cNvGrpSpPr/>
          <p:nvPr/>
        </p:nvGrpSpPr>
        <p:grpSpPr>
          <a:xfrm>
            <a:off x="5039685" y="3970175"/>
            <a:ext cx="5468492" cy="2566425"/>
            <a:chOff x="4905735" y="3809425"/>
            <a:chExt cx="5468492" cy="2566425"/>
          </a:xfrm>
        </p:grpSpPr>
        <p:sp>
          <p:nvSpPr>
            <p:cNvPr id="314" name="Google Shape;314;p23"/>
            <p:cNvSpPr txBox="1"/>
            <p:nvPr/>
          </p:nvSpPr>
          <p:spPr>
            <a:xfrm>
              <a:off x="4905735" y="4836550"/>
              <a:ext cx="669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79146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base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60689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bounds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17" name="Google Shape;317;p23"/>
            <p:cNvSpPr/>
            <p:nvPr/>
          </p:nvSpPr>
          <p:spPr>
            <a:xfrm>
              <a:off x="6336900" y="4802600"/>
              <a:ext cx="924225" cy="562575"/>
            </a:xfrm>
            <a:prstGeom prst="flowChartDecision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18" name="Google Shape;318;p23"/>
            <p:cNvSpPr/>
            <p:nvPr/>
          </p:nvSpPr>
          <p:spPr>
            <a:xfrm>
              <a:off x="8396925" y="4821538"/>
              <a:ext cx="495600" cy="524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+</a:t>
              </a:r>
              <a:endParaRPr/>
            </a:p>
          </p:txBody>
        </p:sp>
        <p:cxnSp>
          <p:nvCxnSpPr>
            <p:cNvPr id="319" name="Google Shape;319;p23"/>
            <p:cNvCxnSpPr>
              <a:stCxn id="314" idx="3"/>
              <a:endCxn id="317" idx="1"/>
            </p:cNvCxnSpPr>
            <p:nvPr/>
          </p:nvCxnSpPr>
          <p:spPr>
            <a:xfrm>
              <a:off x="5575635" y="5082850"/>
              <a:ext cx="761400" cy="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0" name="Google Shape;320;p23"/>
            <p:cNvCxnSpPr>
              <a:stCxn id="316" idx="2"/>
              <a:endCxn id="317" idx="0"/>
            </p:cNvCxnSpPr>
            <p:nvPr/>
          </p:nvCxnSpPr>
          <p:spPr>
            <a:xfrm>
              <a:off x="6799025" y="4184425"/>
              <a:ext cx="0" cy="61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1" name="Google Shape;321;p23"/>
            <p:cNvCxnSpPr>
              <a:stCxn id="315" idx="2"/>
              <a:endCxn id="318" idx="0"/>
            </p:cNvCxnSpPr>
            <p:nvPr/>
          </p:nvCxnSpPr>
          <p:spPr>
            <a:xfrm>
              <a:off x="8644725" y="4184425"/>
              <a:ext cx="0" cy="63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2" name="Google Shape;322;p23"/>
            <p:cNvCxnSpPr>
              <a:stCxn id="317" idx="3"/>
              <a:endCxn id="318" idx="2"/>
            </p:cNvCxnSpPr>
            <p:nvPr/>
          </p:nvCxnSpPr>
          <p:spPr>
            <a:xfrm>
              <a:off x="7261125" y="5083888"/>
              <a:ext cx="113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3" name="Google Shape;323;p23"/>
            <p:cNvCxnSpPr/>
            <p:nvPr/>
          </p:nvCxnSpPr>
          <p:spPr>
            <a:xfrm>
              <a:off x="6799025" y="5365163"/>
              <a:ext cx="2400" cy="908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4" name="Google Shape;324;p23"/>
            <p:cNvSpPr txBox="1"/>
            <p:nvPr/>
          </p:nvSpPr>
          <p:spPr>
            <a:xfrm>
              <a:off x="6652638" y="5268025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7165313" y="4667500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26" name="Google Shape;326;p23"/>
            <p:cNvCxnSpPr/>
            <p:nvPr/>
          </p:nvCxnSpPr>
          <p:spPr>
            <a:xfrm rot="10800000" flipH="1">
              <a:off x="8892525" y="5080888"/>
              <a:ext cx="720300" cy="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7" name="Google Shape;327;p23"/>
            <p:cNvSpPr txBox="1"/>
            <p:nvPr/>
          </p:nvSpPr>
          <p:spPr>
            <a:xfrm>
              <a:off x="9612827" y="4836100"/>
              <a:ext cx="76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6799025" y="5944750"/>
              <a:ext cx="2013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Protection fault</a:t>
              </a:r>
              <a:endParaRPr sz="1600" b="1" dirty="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9" name="Google Shape;329;p23"/>
          <p:cNvGrpSpPr/>
          <p:nvPr/>
        </p:nvGrpSpPr>
        <p:grpSpPr>
          <a:xfrm>
            <a:off x="6364884" y="2664950"/>
            <a:ext cx="3132600" cy="637200"/>
            <a:chOff x="6652650" y="1665575"/>
            <a:chExt cx="3132600" cy="637200"/>
          </a:xfrm>
        </p:grpSpPr>
        <p:sp>
          <p:nvSpPr>
            <p:cNvPr id="330" name="Google Shape;330;p23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3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32" name="Google Shape;332;p23"/>
          <p:cNvGrpSpPr/>
          <p:nvPr/>
        </p:nvGrpSpPr>
        <p:grpSpPr>
          <a:xfrm>
            <a:off x="6364884" y="1687025"/>
            <a:ext cx="3132600" cy="637200"/>
            <a:chOff x="6652650" y="2614950"/>
            <a:chExt cx="3132600" cy="637200"/>
          </a:xfrm>
        </p:grpSpPr>
        <p:sp>
          <p:nvSpPr>
            <p:cNvPr id="333" name="Google Shape;333;p23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3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4" name="Elipse 3">
            <a:extLst>
              <a:ext uri="{FF2B5EF4-FFF2-40B4-BE49-F238E27FC236}">
                <a16:creationId xmlns:a16="http://schemas.microsoft.com/office/drawing/2014/main" id="{95ACF30B-1FDE-4C6B-8B7C-11A998741DFE}"/>
              </a:ext>
            </a:extLst>
          </p:cNvPr>
          <p:cNvSpPr/>
          <p:nvPr/>
        </p:nvSpPr>
        <p:spPr>
          <a:xfrm>
            <a:off x="5716071" y="1782070"/>
            <a:ext cx="484738" cy="4616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1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86FD9B5E-1B69-4094-B5A5-ED4CB2179C58}"/>
              </a:ext>
            </a:extLst>
          </p:cNvPr>
          <p:cNvSpPr/>
          <p:nvPr/>
        </p:nvSpPr>
        <p:spPr>
          <a:xfrm>
            <a:off x="5716071" y="2754632"/>
            <a:ext cx="484738" cy="4616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"/>
          <p:cNvSpPr txBox="1">
            <a:spLocks noGrp="1"/>
          </p:cNvSpPr>
          <p:nvPr>
            <p:ph type="title"/>
          </p:nvPr>
        </p:nvSpPr>
        <p:spPr>
          <a:xfrm>
            <a:off x="524065" y="72362"/>
            <a:ext cx="10829735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1  - Clase anterior</a:t>
            </a:r>
            <a:endParaRPr dirty="0"/>
          </a:p>
        </p:txBody>
      </p:sp>
      <p:graphicFrame>
        <p:nvGraphicFramePr>
          <p:cNvPr id="341" name="Google Shape;341;p24"/>
          <p:cNvGraphicFramePr/>
          <p:nvPr>
            <p:extLst>
              <p:ext uri="{D42A27DB-BD31-4B8C-83A1-F6EECF244321}">
                <p14:modId xmlns:p14="http://schemas.microsoft.com/office/powerpoint/2010/main" val="1195261380"/>
              </p:ext>
            </p:extLst>
          </p:nvPr>
        </p:nvGraphicFramePr>
        <p:xfrm>
          <a:off x="524065" y="4021853"/>
          <a:ext cx="10719575" cy="243825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301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 Address (VA)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 &lt;= VA &lt; 4KB 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VA + 16KB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OK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 + 16KB = 16KB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OK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1+ 16KB = 17KB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OK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 + 16KB = 3300 + 16(1024)=19684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Error</a:t>
                      </a:r>
                      <a:endParaRPr sz="2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Dirección fuera de rango</a:t>
                      </a:r>
                      <a:endParaRPr sz="20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2" name="Google Shape;342;p24"/>
          <p:cNvSpPr txBox="1"/>
          <p:nvPr/>
        </p:nvSpPr>
        <p:spPr>
          <a:xfrm>
            <a:off x="524065" y="2620763"/>
            <a:ext cx="2504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</a:rPr>
              <a:t>Datos</a:t>
            </a:r>
            <a:r>
              <a:rPr lang="es-ES" sz="2200" dirty="0">
                <a:solidFill>
                  <a:schemeClr val="accent2"/>
                </a:solidFill>
              </a:rPr>
              <a:t>:</a:t>
            </a:r>
            <a:endParaRPr sz="2200" dirty="0">
              <a:solidFill>
                <a:schemeClr val="accent2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base = 16 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bounds = 4KB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340761C-EBCD-43B1-A971-1221EB43A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065" y="1253331"/>
            <a:ext cx="10829735" cy="1325563"/>
          </a:xfrm>
        </p:spPr>
        <p:txBody>
          <a:bodyPr>
            <a:normAutofit fontScale="92500"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800" dirty="0"/>
              <a:t>Un proceso con un espacio de direccionamiento de 4KB fue asignado a una memoria física de 16KB. Teniendo en cuenta lo anterior, realizar la traducción de direcciones virtuales a físicas mostradas en la siguiente tabla:</a:t>
            </a: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MX" sz="28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MX" sz="2800" dirty="0"/>
          </a:p>
          <a:p>
            <a:endParaRPr lang="es-CO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1 - Clase anterior</a:t>
            </a:r>
            <a:endParaRPr dirty="0"/>
          </a:p>
        </p:txBody>
      </p:sp>
      <p:graphicFrame>
        <p:nvGraphicFramePr>
          <p:cNvPr id="349" name="Google Shape;349;p25"/>
          <p:cNvGraphicFramePr/>
          <p:nvPr/>
        </p:nvGraphicFramePr>
        <p:xfrm>
          <a:off x="1114725" y="3103688"/>
          <a:ext cx="3803425" cy="283452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84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 Address (VA)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Address (PA)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19684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Dirección fuera de rango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0" name="Google Shape;350;p25"/>
          <p:cNvSpPr txBox="1"/>
          <p:nvPr/>
        </p:nvSpPr>
        <p:spPr>
          <a:xfrm>
            <a:off x="1107743" y="1506801"/>
            <a:ext cx="2504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</a:rPr>
              <a:t>Datos</a:t>
            </a:r>
            <a:r>
              <a:rPr lang="es-ES" sz="2200" dirty="0">
                <a:solidFill>
                  <a:schemeClr val="accent2"/>
                </a:solidFill>
              </a:rPr>
              <a:t>:</a:t>
            </a:r>
            <a:endParaRPr sz="2200" dirty="0">
              <a:solidFill>
                <a:schemeClr val="accent2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base = 16 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bounds = 4KB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51" name="Google Shape;351;p25"/>
          <p:cNvGrpSpPr/>
          <p:nvPr/>
        </p:nvGrpSpPr>
        <p:grpSpPr>
          <a:xfrm>
            <a:off x="6566512" y="2655163"/>
            <a:ext cx="936207" cy="2406005"/>
            <a:chOff x="1775100" y="4022850"/>
            <a:chExt cx="1076100" cy="1739700"/>
          </a:xfrm>
        </p:grpSpPr>
        <p:sp>
          <p:nvSpPr>
            <p:cNvPr id="352" name="Google Shape;352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3" name="Google Shape;353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354" name="Google Shape;354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55" name="Google Shape;355;p25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 sz="1600"/>
              </a:p>
            </p:txBody>
          </p:sp>
          <p:sp>
            <p:nvSpPr>
              <p:cNvPr id="356" name="Google Shape;356;p25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/>
              </a:p>
            </p:txBody>
          </p:sp>
          <p:sp>
            <p:nvSpPr>
              <p:cNvPr id="357" name="Google Shape;357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1600" dirty="0"/>
              </a:p>
            </p:txBody>
          </p:sp>
          <p:cxnSp>
            <p:nvCxnSpPr>
              <p:cNvPr id="358" name="Google Shape;358;p25"/>
              <p:cNvCxnSpPr>
                <a:stCxn id="356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59" name="Google Shape;359;p25"/>
              <p:cNvCxnSpPr>
                <a:stCxn id="35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360" name="Google Shape;360;p25"/>
          <p:cNvCxnSpPr/>
          <p:nvPr/>
        </p:nvCxnSpPr>
        <p:spPr>
          <a:xfrm rot="10800000" flipH="1">
            <a:off x="7502725" y="2620975"/>
            <a:ext cx="1911300" cy="34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25"/>
          <p:cNvCxnSpPr/>
          <p:nvPr/>
        </p:nvCxnSpPr>
        <p:spPr>
          <a:xfrm rot="10800000" flipH="1">
            <a:off x="7545625" y="5040875"/>
            <a:ext cx="1839600" cy="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2" name="Google Shape;362;p25"/>
          <p:cNvSpPr/>
          <p:nvPr/>
        </p:nvSpPr>
        <p:spPr>
          <a:xfrm>
            <a:off x="9438675" y="1464475"/>
            <a:ext cx="933000" cy="444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3" name="Google Shape;363;p25"/>
          <p:cNvGrpSpPr/>
          <p:nvPr/>
        </p:nvGrpSpPr>
        <p:grpSpPr>
          <a:xfrm>
            <a:off x="9438687" y="2613363"/>
            <a:ext cx="936207" cy="2406005"/>
            <a:chOff x="1775100" y="4022850"/>
            <a:chExt cx="1076100" cy="1739700"/>
          </a:xfrm>
        </p:grpSpPr>
        <p:sp>
          <p:nvSpPr>
            <p:cNvPr id="364" name="Google Shape;364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" name="Google Shape;365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366" name="Google Shape;366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67" name="Google Shape;367;p25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 sz="1600"/>
              </a:p>
            </p:txBody>
          </p:sp>
          <p:sp>
            <p:nvSpPr>
              <p:cNvPr id="368" name="Google Shape;368;p25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/>
              </a:p>
            </p:txBody>
          </p:sp>
          <p:sp>
            <p:nvSpPr>
              <p:cNvPr id="369" name="Google Shape;369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1600" dirty="0"/>
              </a:p>
            </p:txBody>
          </p:sp>
          <p:cxnSp>
            <p:nvCxnSpPr>
              <p:cNvPr id="370" name="Google Shape;370;p25"/>
              <p:cNvCxnSpPr>
                <a:stCxn id="368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71" name="Google Shape;371;p25"/>
              <p:cNvCxnSpPr>
                <a:stCxn id="369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372" name="Google Shape;372;p25"/>
          <p:cNvCxnSpPr/>
          <p:nvPr/>
        </p:nvCxnSpPr>
        <p:spPr>
          <a:xfrm>
            <a:off x="6061050" y="26551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" name="Google Shape;373;p25"/>
          <p:cNvCxnSpPr/>
          <p:nvPr/>
        </p:nvCxnSpPr>
        <p:spPr>
          <a:xfrm>
            <a:off x="6061050" y="3103700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4" name="Google Shape;374;p25"/>
          <p:cNvCxnSpPr/>
          <p:nvPr/>
        </p:nvCxnSpPr>
        <p:spPr>
          <a:xfrm>
            <a:off x="6061050" y="4386500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5" name="Google Shape;375;p25"/>
          <p:cNvCxnSpPr/>
          <p:nvPr/>
        </p:nvCxnSpPr>
        <p:spPr>
          <a:xfrm>
            <a:off x="6061050" y="547842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" name="Google Shape;376;p25"/>
          <p:cNvCxnSpPr/>
          <p:nvPr/>
        </p:nvCxnSpPr>
        <p:spPr>
          <a:xfrm>
            <a:off x="9039700" y="26133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7" name="Google Shape;377;p25"/>
          <p:cNvCxnSpPr/>
          <p:nvPr/>
        </p:nvCxnSpPr>
        <p:spPr>
          <a:xfrm>
            <a:off x="9039700" y="3103700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" name="Google Shape;378;p25"/>
          <p:cNvCxnSpPr/>
          <p:nvPr/>
        </p:nvCxnSpPr>
        <p:spPr>
          <a:xfrm>
            <a:off x="9004575" y="4386500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9" name="Google Shape;379;p25"/>
          <p:cNvSpPr txBox="1"/>
          <p:nvPr/>
        </p:nvSpPr>
        <p:spPr>
          <a:xfrm>
            <a:off x="5594250" y="2485825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0 KB</a:t>
            </a:r>
            <a:endParaRPr sz="1000"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25"/>
          <p:cNvSpPr txBox="1"/>
          <p:nvPr/>
        </p:nvSpPr>
        <p:spPr>
          <a:xfrm>
            <a:off x="8476500" y="2444025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16 KB</a:t>
            </a:r>
            <a:endParaRPr sz="1000"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p25"/>
          <p:cNvSpPr txBox="1"/>
          <p:nvPr/>
        </p:nvSpPr>
        <p:spPr>
          <a:xfrm>
            <a:off x="5594250" y="2934350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 KB</a:t>
            </a:r>
            <a:endParaRPr sz="10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8476600" y="2934350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17 KB</a:t>
            </a:r>
            <a:endParaRPr sz="10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" name="Google Shape;383;p25"/>
          <p:cNvSpPr txBox="1"/>
          <p:nvPr/>
        </p:nvSpPr>
        <p:spPr>
          <a:xfrm>
            <a:off x="5594250" y="4217150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3300</a:t>
            </a:r>
            <a:endParaRPr sz="1000" b="1">
              <a:solidFill>
                <a:srgbClr val="88888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8428350" y="4217150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19684</a:t>
            </a:r>
            <a:endParaRPr sz="1000" b="1">
              <a:solidFill>
                <a:srgbClr val="88888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" name="Google Shape;385;p25"/>
          <p:cNvSpPr txBox="1"/>
          <p:nvPr/>
        </p:nvSpPr>
        <p:spPr>
          <a:xfrm>
            <a:off x="5594250" y="5309075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4400</a:t>
            </a:r>
            <a:endParaRPr sz="1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6" name="Google Shape;386;p25"/>
          <p:cNvCxnSpPr/>
          <p:nvPr/>
        </p:nvCxnSpPr>
        <p:spPr>
          <a:xfrm>
            <a:off x="6126925" y="50611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7" name="Google Shape;387;p25"/>
          <p:cNvSpPr/>
          <p:nvPr/>
        </p:nvSpPr>
        <p:spPr>
          <a:xfrm>
            <a:off x="5557800" y="4967425"/>
            <a:ext cx="5397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4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" name="Google Shape;388;p25"/>
          <p:cNvSpPr/>
          <p:nvPr/>
        </p:nvSpPr>
        <p:spPr>
          <a:xfrm>
            <a:off x="5487300" y="4754050"/>
            <a:ext cx="7032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Consolas"/>
                <a:ea typeface="Consolas"/>
                <a:cs typeface="Consolas"/>
                <a:sym typeface="Consolas"/>
              </a:rPr>
              <a:t>bounds</a:t>
            </a:r>
            <a:endParaRPr sz="1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p25"/>
          <p:cNvSpPr/>
          <p:nvPr/>
        </p:nvSpPr>
        <p:spPr>
          <a:xfrm>
            <a:off x="10773325" y="4917675"/>
            <a:ext cx="6612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20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10815500" y="2519625"/>
            <a:ext cx="6612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16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10794500" y="2298325"/>
            <a:ext cx="7032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base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10604000" y="4687625"/>
            <a:ext cx="13395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Consolas"/>
                <a:ea typeface="Consolas"/>
                <a:cs typeface="Consolas"/>
                <a:sym typeface="Consolas"/>
              </a:rPr>
              <a:t>base + bounds</a:t>
            </a:r>
            <a:endParaRPr sz="1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3" name="Google Shape;393;p25"/>
          <p:cNvCxnSpPr/>
          <p:nvPr/>
        </p:nvCxnSpPr>
        <p:spPr>
          <a:xfrm>
            <a:off x="10422738" y="261337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94" name="Google Shape;394;p25"/>
          <p:cNvCxnSpPr/>
          <p:nvPr/>
        </p:nvCxnSpPr>
        <p:spPr>
          <a:xfrm>
            <a:off x="10401638" y="501142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395" name="Google Shape;3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6500" y="5306900"/>
            <a:ext cx="364950" cy="3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"/>
          <p:cNvSpPr txBox="1">
            <a:spLocks noGrp="1"/>
          </p:cNvSpPr>
          <p:nvPr>
            <p:ph type="title"/>
          </p:nvPr>
        </p:nvSpPr>
        <p:spPr>
          <a:xfrm>
            <a:off x="705465" y="276635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2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7270B6-AB8E-4ECE-BFAC-DD206D820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65" y="1473251"/>
            <a:ext cx="10515600" cy="3911498"/>
          </a:xfrm>
        </p:spPr>
        <p:txBody>
          <a:bodyPr>
            <a:normAutofit fontScale="92500"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800" dirty="0"/>
              <a:t>Suponga que se tienen dos procesos con un espacio de direcciones (Address Space) de 1KB. Estos procesos se mapean en memoria física (Physical Address) a partir de las direcciones 1 KB y 4KB respectivamente. 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MX" sz="2800" dirty="0"/>
              <a:t>Dibuje un bosquejo de cómo queda la memoria física.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MX" sz="2800" dirty="0"/>
              <a:t>Si el proceso P1 ejecuta la instrucción </a:t>
            </a:r>
            <a:r>
              <a:rPr lang="es-MX" sz="2800" b="1" dirty="0">
                <a:latin typeface="Consolas"/>
                <a:ea typeface="Consolas"/>
                <a:cs typeface="Consolas"/>
                <a:sym typeface="Consolas"/>
              </a:rPr>
              <a:t>load 100, R</a:t>
            </a:r>
            <a:r>
              <a:rPr lang="es-MX" sz="2800" dirty="0"/>
              <a:t> ¿A que dirección de memoria accediendo para obtener el valor que será llevado a R?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MX" sz="2800" dirty="0"/>
              <a:t>Si el proceso P2 ejecuta la instrucción </a:t>
            </a:r>
            <a:r>
              <a:rPr lang="es-MX" sz="2800" b="1" dirty="0">
                <a:latin typeface="Consolas"/>
                <a:ea typeface="Consolas"/>
                <a:cs typeface="Consolas"/>
                <a:sym typeface="Consolas"/>
              </a:rPr>
              <a:t>load 100, R</a:t>
            </a:r>
            <a:r>
              <a:rPr lang="es-MX" sz="2800" dirty="0"/>
              <a:t> ¿A que dirección de memoria accediendo para obtener el valor que será llevado a R?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MX" sz="2800" dirty="0"/>
              <a:t>Analice la ejecución </a:t>
            </a:r>
            <a:r>
              <a:rPr lang="es-MX" sz="2800" b="1" dirty="0">
                <a:latin typeface="Consolas"/>
                <a:ea typeface="Consolas"/>
                <a:cs typeface="Consolas"/>
                <a:sym typeface="Consolas"/>
              </a:rPr>
              <a:t>load 100, R </a:t>
            </a:r>
            <a:r>
              <a:rPr lang="es-MX" sz="2800" dirty="0"/>
              <a:t>para el proceso 1</a:t>
            </a:r>
          </a:p>
          <a:p>
            <a:endParaRPr lang="es-CO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7"/>
          <p:cNvSpPr txBox="1">
            <a:spLocks noGrp="1"/>
          </p:cNvSpPr>
          <p:nvPr>
            <p:ph type="title"/>
          </p:nvPr>
        </p:nvSpPr>
        <p:spPr>
          <a:xfrm>
            <a:off x="407575" y="204343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2</a:t>
            </a:r>
            <a:endParaRPr dirty="0"/>
          </a:p>
        </p:txBody>
      </p:sp>
      <p:sp>
        <p:nvSpPr>
          <p:cNvPr id="408" name="Google Shape;408;p27"/>
          <p:cNvSpPr txBox="1"/>
          <p:nvPr/>
        </p:nvSpPr>
        <p:spPr>
          <a:xfrm>
            <a:off x="534613" y="1759725"/>
            <a:ext cx="32817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</a:rPr>
              <a:t>Datos</a:t>
            </a:r>
            <a:r>
              <a:rPr lang="es-ES" sz="2200" dirty="0">
                <a:solidFill>
                  <a:schemeClr val="accent2"/>
                </a:solidFill>
              </a:rPr>
              <a:t>:</a:t>
            </a:r>
            <a:endParaRPr sz="2200" dirty="0">
              <a:solidFill>
                <a:schemeClr val="accent2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base(P1) = 1 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bounds(P1) = 1 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Char char="●"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base(P2) = 4 KB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Char char="●"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bounds(P2) = 1 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09" name="Google Shape;409;p27"/>
          <p:cNvGrpSpPr/>
          <p:nvPr/>
        </p:nvGrpSpPr>
        <p:grpSpPr>
          <a:xfrm>
            <a:off x="8054300" y="1616375"/>
            <a:ext cx="3789100" cy="4446900"/>
            <a:chOff x="6987500" y="1616375"/>
            <a:chExt cx="3789100" cy="4446900"/>
          </a:xfrm>
        </p:grpSpPr>
        <p:grpSp>
          <p:nvGrpSpPr>
            <p:cNvPr id="410" name="Google Shape;410;p27"/>
            <p:cNvGrpSpPr/>
            <p:nvPr/>
          </p:nvGrpSpPr>
          <p:grpSpPr>
            <a:xfrm>
              <a:off x="6987500" y="1616375"/>
              <a:ext cx="1200900" cy="4446900"/>
              <a:chOff x="6799975" y="1750300"/>
              <a:chExt cx="1200900" cy="4446900"/>
            </a:xfrm>
          </p:grpSpPr>
          <p:sp>
            <p:nvSpPr>
              <p:cNvPr id="411" name="Google Shape;411;p27"/>
              <p:cNvSpPr/>
              <p:nvPr/>
            </p:nvSpPr>
            <p:spPr>
              <a:xfrm>
                <a:off x="6799975" y="1750300"/>
                <a:ext cx="1200900" cy="44469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7"/>
              <p:cNvSpPr/>
              <p:nvPr/>
            </p:nvSpPr>
            <p:spPr>
              <a:xfrm>
                <a:off x="6799975" y="2657000"/>
                <a:ext cx="1200900" cy="7548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P1</a:t>
                </a:r>
                <a:endParaRPr sz="1600"/>
              </a:p>
            </p:txBody>
          </p:sp>
          <p:sp>
            <p:nvSpPr>
              <p:cNvPr id="413" name="Google Shape;413;p27"/>
              <p:cNvSpPr/>
              <p:nvPr/>
            </p:nvSpPr>
            <p:spPr>
              <a:xfrm>
                <a:off x="6799975" y="4542200"/>
                <a:ext cx="1200900" cy="754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P2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14" name="Google Shape;414;p27"/>
            <p:cNvGrpSpPr/>
            <p:nvPr/>
          </p:nvGrpSpPr>
          <p:grpSpPr>
            <a:xfrm>
              <a:off x="8266188" y="2188975"/>
              <a:ext cx="1224163" cy="437775"/>
              <a:chOff x="8266188" y="2188975"/>
              <a:chExt cx="1224163" cy="437775"/>
            </a:xfrm>
          </p:grpSpPr>
          <p:grpSp>
            <p:nvGrpSpPr>
              <p:cNvPr id="415" name="Google Shape;415;p27"/>
              <p:cNvGrpSpPr/>
              <p:nvPr/>
            </p:nvGrpSpPr>
            <p:grpSpPr>
              <a:xfrm>
                <a:off x="8461950" y="2188975"/>
                <a:ext cx="1028400" cy="437775"/>
                <a:chOff x="8461950" y="2188975"/>
                <a:chExt cx="1028400" cy="437775"/>
              </a:xfrm>
            </p:grpSpPr>
            <p:sp>
              <p:nvSpPr>
                <p:cNvPr id="416" name="Google Shape;416;p27"/>
                <p:cNvSpPr/>
                <p:nvPr/>
              </p:nvSpPr>
              <p:spPr>
                <a:xfrm>
                  <a:off x="8658950" y="2439250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17" name="Google Shape;417;p27"/>
                <p:cNvSpPr/>
                <p:nvPr/>
              </p:nvSpPr>
              <p:spPr>
                <a:xfrm>
                  <a:off x="8461950" y="2188975"/>
                  <a:ext cx="10284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base(P1)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18" name="Google Shape;418;p27"/>
              <p:cNvCxnSpPr/>
              <p:nvPr/>
            </p:nvCxnSpPr>
            <p:spPr>
              <a:xfrm>
                <a:off x="8266188" y="253300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grpSp>
          <p:nvGrpSpPr>
            <p:cNvPr id="419" name="Google Shape;419;p27"/>
            <p:cNvGrpSpPr/>
            <p:nvPr/>
          </p:nvGrpSpPr>
          <p:grpSpPr>
            <a:xfrm>
              <a:off x="8266188" y="2913125"/>
              <a:ext cx="2510413" cy="441975"/>
              <a:chOff x="8266188" y="2913125"/>
              <a:chExt cx="2510413" cy="441975"/>
            </a:xfrm>
          </p:grpSpPr>
          <p:grpSp>
            <p:nvGrpSpPr>
              <p:cNvPr id="420" name="Google Shape;420;p27"/>
              <p:cNvGrpSpPr/>
              <p:nvPr/>
            </p:nvGrpSpPr>
            <p:grpSpPr>
              <a:xfrm>
                <a:off x="8607900" y="2913125"/>
                <a:ext cx="2168700" cy="441975"/>
                <a:chOff x="8607900" y="2913125"/>
                <a:chExt cx="2168700" cy="441975"/>
              </a:xfrm>
            </p:grpSpPr>
            <p:sp>
              <p:nvSpPr>
                <p:cNvPr id="421" name="Google Shape;421;p27"/>
                <p:cNvSpPr/>
                <p:nvPr/>
              </p:nvSpPr>
              <p:spPr>
                <a:xfrm>
                  <a:off x="8658950" y="3167600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2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22" name="Google Shape;422;p27"/>
                <p:cNvSpPr/>
                <p:nvPr/>
              </p:nvSpPr>
              <p:spPr>
                <a:xfrm>
                  <a:off x="8607900" y="2913125"/>
                  <a:ext cx="2168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base(P1) + bounds (P1)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23" name="Google Shape;423;p27"/>
              <p:cNvCxnSpPr/>
              <p:nvPr/>
            </p:nvCxnSpPr>
            <p:spPr>
              <a:xfrm>
                <a:off x="8266188" y="326135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grpSp>
          <p:nvGrpSpPr>
            <p:cNvPr id="424" name="Google Shape;424;p27"/>
            <p:cNvGrpSpPr/>
            <p:nvPr/>
          </p:nvGrpSpPr>
          <p:grpSpPr>
            <a:xfrm>
              <a:off x="8266188" y="4082650"/>
              <a:ext cx="1224163" cy="437775"/>
              <a:chOff x="8266188" y="4082650"/>
              <a:chExt cx="1224163" cy="437775"/>
            </a:xfrm>
          </p:grpSpPr>
          <p:grpSp>
            <p:nvGrpSpPr>
              <p:cNvPr id="425" name="Google Shape;425;p27"/>
              <p:cNvGrpSpPr/>
              <p:nvPr/>
            </p:nvGrpSpPr>
            <p:grpSpPr>
              <a:xfrm>
                <a:off x="8461950" y="4082650"/>
                <a:ext cx="1028400" cy="437775"/>
                <a:chOff x="8461950" y="4082650"/>
                <a:chExt cx="1028400" cy="437775"/>
              </a:xfrm>
            </p:grpSpPr>
            <p:sp>
              <p:nvSpPr>
                <p:cNvPr id="426" name="Google Shape;426;p27"/>
                <p:cNvSpPr/>
                <p:nvPr/>
              </p:nvSpPr>
              <p:spPr>
                <a:xfrm>
                  <a:off x="8658950" y="4332925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4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27" name="Google Shape;427;p27"/>
                <p:cNvSpPr/>
                <p:nvPr/>
              </p:nvSpPr>
              <p:spPr>
                <a:xfrm>
                  <a:off x="8461950" y="4082650"/>
                  <a:ext cx="10284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base(P2)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28" name="Google Shape;428;p27"/>
              <p:cNvCxnSpPr/>
              <p:nvPr/>
            </p:nvCxnSpPr>
            <p:spPr>
              <a:xfrm>
                <a:off x="8266188" y="442667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grpSp>
          <p:nvGrpSpPr>
            <p:cNvPr id="429" name="Google Shape;429;p27"/>
            <p:cNvGrpSpPr/>
            <p:nvPr/>
          </p:nvGrpSpPr>
          <p:grpSpPr>
            <a:xfrm>
              <a:off x="8266188" y="4820200"/>
              <a:ext cx="2510413" cy="441975"/>
              <a:chOff x="8266188" y="4820200"/>
              <a:chExt cx="2510413" cy="441975"/>
            </a:xfrm>
          </p:grpSpPr>
          <p:grpSp>
            <p:nvGrpSpPr>
              <p:cNvPr id="430" name="Google Shape;430;p27"/>
              <p:cNvGrpSpPr/>
              <p:nvPr/>
            </p:nvGrpSpPr>
            <p:grpSpPr>
              <a:xfrm>
                <a:off x="8607900" y="4820200"/>
                <a:ext cx="2168700" cy="441975"/>
                <a:chOff x="8607900" y="4820200"/>
                <a:chExt cx="2168700" cy="441975"/>
              </a:xfrm>
            </p:grpSpPr>
            <p:sp>
              <p:nvSpPr>
                <p:cNvPr id="431" name="Google Shape;431;p27"/>
                <p:cNvSpPr/>
                <p:nvPr/>
              </p:nvSpPr>
              <p:spPr>
                <a:xfrm>
                  <a:off x="8658950" y="5074675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5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32" name="Google Shape;432;p27"/>
                <p:cNvSpPr/>
                <p:nvPr/>
              </p:nvSpPr>
              <p:spPr>
                <a:xfrm>
                  <a:off x="8607900" y="4820200"/>
                  <a:ext cx="2168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base(P2) + bounds (P2)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33" name="Google Shape;433;p27"/>
              <p:cNvCxnSpPr/>
              <p:nvPr/>
            </p:nvCxnSpPr>
            <p:spPr>
              <a:xfrm>
                <a:off x="8266188" y="516842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</p:grpSp>
      <p:grpSp>
        <p:nvGrpSpPr>
          <p:cNvPr id="434" name="Google Shape;434;p27"/>
          <p:cNvGrpSpPr/>
          <p:nvPr/>
        </p:nvGrpSpPr>
        <p:grpSpPr>
          <a:xfrm>
            <a:off x="4543675" y="4185625"/>
            <a:ext cx="2734200" cy="821775"/>
            <a:chOff x="4342750" y="4024900"/>
            <a:chExt cx="2734200" cy="821775"/>
          </a:xfrm>
        </p:grpSpPr>
        <p:sp>
          <p:nvSpPr>
            <p:cNvPr id="435" name="Google Shape;435;p27"/>
            <p:cNvSpPr/>
            <p:nvPr/>
          </p:nvSpPr>
          <p:spPr>
            <a:xfrm>
              <a:off x="5876050" y="4024900"/>
              <a:ext cx="1200900" cy="75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436" name="Google Shape;436;p27"/>
            <p:cNvGrpSpPr/>
            <p:nvPr/>
          </p:nvGrpSpPr>
          <p:grpSpPr>
            <a:xfrm>
              <a:off x="4342750" y="4404700"/>
              <a:ext cx="1446488" cy="441975"/>
              <a:chOff x="4342750" y="4404700"/>
              <a:chExt cx="1446488" cy="441975"/>
            </a:xfrm>
          </p:grpSpPr>
          <p:grpSp>
            <p:nvGrpSpPr>
              <p:cNvPr id="437" name="Google Shape;437;p27"/>
              <p:cNvGrpSpPr/>
              <p:nvPr/>
            </p:nvGrpSpPr>
            <p:grpSpPr>
              <a:xfrm>
                <a:off x="4342750" y="4404700"/>
                <a:ext cx="1121700" cy="441975"/>
                <a:chOff x="4342750" y="4404700"/>
                <a:chExt cx="1121700" cy="441975"/>
              </a:xfrm>
            </p:grpSpPr>
            <p:sp>
              <p:nvSpPr>
                <p:cNvPr id="438" name="Google Shape;438;p27"/>
                <p:cNvSpPr/>
                <p:nvPr/>
              </p:nvSpPr>
              <p:spPr>
                <a:xfrm>
                  <a:off x="4699550" y="4659175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39" name="Google Shape;439;p27"/>
                <p:cNvSpPr/>
                <p:nvPr/>
              </p:nvSpPr>
              <p:spPr>
                <a:xfrm>
                  <a:off x="4342750" y="4404700"/>
                  <a:ext cx="1121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bounds (P2)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40" name="Google Shape;440;p27"/>
              <p:cNvCxnSpPr/>
              <p:nvPr/>
            </p:nvCxnSpPr>
            <p:spPr>
              <a:xfrm>
                <a:off x="5447538" y="475292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41" name="Google Shape;441;p27"/>
          <p:cNvGrpSpPr/>
          <p:nvPr/>
        </p:nvGrpSpPr>
        <p:grpSpPr>
          <a:xfrm>
            <a:off x="4543675" y="2756925"/>
            <a:ext cx="2734200" cy="822325"/>
            <a:chOff x="4342750" y="3051600"/>
            <a:chExt cx="2734200" cy="822325"/>
          </a:xfrm>
        </p:grpSpPr>
        <p:sp>
          <p:nvSpPr>
            <p:cNvPr id="442" name="Google Shape;442;p27"/>
            <p:cNvSpPr/>
            <p:nvPr/>
          </p:nvSpPr>
          <p:spPr>
            <a:xfrm>
              <a:off x="5876050" y="3051600"/>
              <a:ext cx="1200900" cy="75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600"/>
            </a:p>
          </p:txBody>
        </p:sp>
        <p:grpSp>
          <p:nvGrpSpPr>
            <p:cNvPr id="443" name="Google Shape;443;p27"/>
            <p:cNvGrpSpPr/>
            <p:nvPr/>
          </p:nvGrpSpPr>
          <p:grpSpPr>
            <a:xfrm>
              <a:off x="4342750" y="3431950"/>
              <a:ext cx="1464938" cy="441975"/>
              <a:chOff x="4342750" y="3431950"/>
              <a:chExt cx="1464938" cy="441975"/>
            </a:xfrm>
          </p:grpSpPr>
          <p:cxnSp>
            <p:nvCxnSpPr>
              <p:cNvPr id="444" name="Google Shape;444;p27"/>
              <p:cNvCxnSpPr/>
              <p:nvPr/>
            </p:nvCxnSpPr>
            <p:spPr>
              <a:xfrm>
                <a:off x="5465988" y="380697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45" name="Google Shape;445;p27"/>
              <p:cNvGrpSpPr/>
              <p:nvPr/>
            </p:nvGrpSpPr>
            <p:grpSpPr>
              <a:xfrm>
                <a:off x="4342750" y="3431950"/>
                <a:ext cx="1121700" cy="441975"/>
                <a:chOff x="4342750" y="3431950"/>
                <a:chExt cx="1121700" cy="441975"/>
              </a:xfrm>
            </p:grpSpPr>
            <p:sp>
              <p:nvSpPr>
                <p:cNvPr id="446" name="Google Shape;446;p27"/>
                <p:cNvSpPr/>
                <p:nvPr/>
              </p:nvSpPr>
              <p:spPr>
                <a:xfrm>
                  <a:off x="4718025" y="3686425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47" name="Google Shape;447;p27"/>
                <p:cNvSpPr/>
                <p:nvPr/>
              </p:nvSpPr>
              <p:spPr>
                <a:xfrm>
                  <a:off x="4342750" y="3431950"/>
                  <a:ext cx="1121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bounds (P1)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cxnSp>
        <p:nvCxnSpPr>
          <p:cNvPr id="448" name="Google Shape;448;p27"/>
          <p:cNvCxnSpPr/>
          <p:nvPr/>
        </p:nvCxnSpPr>
        <p:spPr>
          <a:xfrm>
            <a:off x="7308950" y="4947050"/>
            <a:ext cx="696600" cy="201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49" name="Google Shape;449;p27"/>
          <p:cNvCxnSpPr/>
          <p:nvPr/>
        </p:nvCxnSpPr>
        <p:spPr>
          <a:xfrm>
            <a:off x="7317788" y="4185625"/>
            <a:ext cx="696600" cy="201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0" name="Google Shape;450;p27"/>
          <p:cNvCxnSpPr/>
          <p:nvPr/>
        </p:nvCxnSpPr>
        <p:spPr>
          <a:xfrm rot="10800000" flipH="1">
            <a:off x="7317775" y="3286000"/>
            <a:ext cx="687600" cy="219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27"/>
          <p:cNvCxnSpPr/>
          <p:nvPr/>
        </p:nvCxnSpPr>
        <p:spPr>
          <a:xfrm rot="10800000" flipH="1">
            <a:off x="7309450" y="2527575"/>
            <a:ext cx="687600" cy="219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8"/>
          <p:cNvSpPr txBox="1">
            <a:spLocks noGrp="1"/>
          </p:cNvSpPr>
          <p:nvPr>
            <p:ph type="title"/>
          </p:nvPr>
        </p:nvSpPr>
        <p:spPr>
          <a:xfrm>
            <a:off x="734250" y="217957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2</a:t>
            </a:r>
            <a:endParaRPr dirty="0"/>
          </a:p>
        </p:txBody>
      </p:sp>
      <p:sp>
        <p:nvSpPr>
          <p:cNvPr id="458" name="Google Shape;458;p28"/>
          <p:cNvSpPr txBox="1"/>
          <p:nvPr/>
        </p:nvSpPr>
        <p:spPr>
          <a:xfrm>
            <a:off x="1022937" y="1607892"/>
            <a:ext cx="32817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</a:rPr>
              <a:t>Datos</a:t>
            </a:r>
            <a:r>
              <a:rPr lang="es-ES" sz="2200" dirty="0">
                <a:solidFill>
                  <a:schemeClr val="accent2"/>
                </a:solidFill>
              </a:rPr>
              <a:t>:</a:t>
            </a:r>
            <a:endParaRPr sz="2200" dirty="0">
              <a:solidFill>
                <a:schemeClr val="accent2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base(P1) = 1 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bounds(P1) = 1 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VA = 100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PA(VA=100) = ?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59" name="Google Shape;459;p28"/>
          <p:cNvGrpSpPr/>
          <p:nvPr/>
        </p:nvGrpSpPr>
        <p:grpSpPr>
          <a:xfrm>
            <a:off x="1223538" y="3772900"/>
            <a:ext cx="7255875" cy="2848500"/>
            <a:chOff x="2643363" y="3772900"/>
            <a:chExt cx="7255875" cy="2848500"/>
          </a:xfrm>
        </p:grpSpPr>
        <p:sp>
          <p:nvSpPr>
            <p:cNvPr id="460" name="Google Shape;460;p28"/>
            <p:cNvSpPr/>
            <p:nvPr/>
          </p:nvSpPr>
          <p:spPr>
            <a:xfrm>
              <a:off x="4148200" y="4913450"/>
              <a:ext cx="1200900" cy="1198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600"/>
            </a:p>
          </p:txBody>
        </p:sp>
        <p:grpSp>
          <p:nvGrpSpPr>
            <p:cNvPr id="461" name="Google Shape;461;p28"/>
            <p:cNvGrpSpPr/>
            <p:nvPr/>
          </p:nvGrpSpPr>
          <p:grpSpPr>
            <a:xfrm>
              <a:off x="2643363" y="5725925"/>
              <a:ext cx="1464938" cy="441975"/>
              <a:chOff x="4342750" y="3431950"/>
              <a:chExt cx="1464938" cy="441975"/>
            </a:xfrm>
          </p:grpSpPr>
          <p:cxnSp>
            <p:nvCxnSpPr>
              <p:cNvPr id="462" name="Google Shape;462;p28"/>
              <p:cNvCxnSpPr/>
              <p:nvPr/>
            </p:nvCxnSpPr>
            <p:spPr>
              <a:xfrm>
                <a:off x="5465988" y="380697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63" name="Google Shape;463;p28"/>
              <p:cNvGrpSpPr/>
              <p:nvPr/>
            </p:nvGrpSpPr>
            <p:grpSpPr>
              <a:xfrm>
                <a:off x="4342750" y="3431950"/>
                <a:ext cx="1121700" cy="441975"/>
                <a:chOff x="4342750" y="3431950"/>
                <a:chExt cx="1121700" cy="441975"/>
              </a:xfrm>
            </p:grpSpPr>
            <p:sp>
              <p:nvSpPr>
                <p:cNvPr id="464" name="Google Shape;464;p28"/>
                <p:cNvSpPr/>
                <p:nvPr/>
              </p:nvSpPr>
              <p:spPr>
                <a:xfrm>
                  <a:off x="4718025" y="3686425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65" name="Google Shape;465;p28"/>
                <p:cNvSpPr/>
                <p:nvPr/>
              </p:nvSpPr>
              <p:spPr>
                <a:xfrm>
                  <a:off x="4342750" y="3431950"/>
                  <a:ext cx="1121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bounds (P1)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cxnSp>
          <p:nvCxnSpPr>
            <p:cNvPr id="466" name="Google Shape;466;p28"/>
            <p:cNvCxnSpPr/>
            <p:nvPr/>
          </p:nvCxnSpPr>
          <p:spPr>
            <a:xfrm>
              <a:off x="5433725" y="6098975"/>
              <a:ext cx="629400" cy="267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67" name="Google Shape;467;p28"/>
            <p:cNvCxnSpPr/>
            <p:nvPr/>
          </p:nvCxnSpPr>
          <p:spPr>
            <a:xfrm rot="10800000" flipH="1">
              <a:off x="5380663" y="4684100"/>
              <a:ext cx="687600" cy="2190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468" name="Google Shape;468;p28"/>
            <p:cNvGrpSpPr/>
            <p:nvPr/>
          </p:nvGrpSpPr>
          <p:grpSpPr>
            <a:xfrm>
              <a:off x="6125513" y="3772900"/>
              <a:ext cx="1200913" cy="2848500"/>
              <a:chOff x="6799975" y="1750300"/>
              <a:chExt cx="1200913" cy="2848500"/>
            </a:xfrm>
          </p:grpSpPr>
          <p:sp>
            <p:nvSpPr>
              <p:cNvPr id="469" name="Google Shape;469;p28"/>
              <p:cNvSpPr/>
              <p:nvPr/>
            </p:nvSpPr>
            <p:spPr>
              <a:xfrm>
                <a:off x="6799975" y="1750300"/>
                <a:ext cx="1200900" cy="28485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8"/>
              <p:cNvSpPr/>
              <p:nvPr/>
            </p:nvSpPr>
            <p:spPr>
              <a:xfrm>
                <a:off x="6799988" y="2657000"/>
                <a:ext cx="1200900" cy="17139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P1</a:t>
                </a:r>
                <a:endParaRPr sz="1600"/>
              </a:p>
            </p:txBody>
          </p:sp>
        </p:grpSp>
        <p:grpSp>
          <p:nvGrpSpPr>
            <p:cNvPr id="471" name="Google Shape;471;p28"/>
            <p:cNvGrpSpPr/>
            <p:nvPr/>
          </p:nvGrpSpPr>
          <p:grpSpPr>
            <a:xfrm>
              <a:off x="7404200" y="4345500"/>
              <a:ext cx="1224163" cy="437775"/>
              <a:chOff x="8266188" y="2188975"/>
              <a:chExt cx="1224163" cy="437775"/>
            </a:xfrm>
          </p:grpSpPr>
          <p:grpSp>
            <p:nvGrpSpPr>
              <p:cNvPr id="472" name="Google Shape;472;p28"/>
              <p:cNvGrpSpPr/>
              <p:nvPr/>
            </p:nvGrpSpPr>
            <p:grpSpPr>
              <a:xfrm>
                <a:off x="8461950" y="2188975"/>
                <a:ext cx="1028400" cy="437775"/>
                <a:chOff x="8461950" y="2188975"/>
                <a:chExt cx="1028400" cy="437775"/>
              </a:xfrm>
            </p:grpSpPr>
            <p:sp>
              <p:nvSpPr>
                <p:cNvPr id="473" name="Google Shape;473;p28"/>
                <p:cNvSpPr/>
                <p:nvPr/>
              </p:nvSpPr>
              <p:spPr>
                <a:xfrm>
                  <a:off x="8658950" y="2439250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4" name="Google Shape;474;p28"/>
                <p:cNvSpPr/>
                <p:nvPr/>
              </p:nvSpPr>
              <p:spPr>
                <a:xfrm>
                  <a:off x="8461950" y="2188975"/>
                  <a:ext cx="10284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base(P1)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75" name="Google Shape;475;p28"/>
              <p:cNvCxnSpPr/>
              <p:nvPr/>
            </p:nvCxnSpPr>
            <p:spPr>
              <a:xfrm>
                <a:off x="8266188" y="253300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grpSp>
          <p:nvGrpSpPr>
            <p:cNvPr id="476" name="Google Shape;476;p28"/>
            <p:cNvGrpSpPr/>
            <p:nvPr/>
          </p:nvGrpSpPr>
          <p:grpSpPr>
            <a:xfrm>
              <a:off x="7388825" y="6011925"/>
              <a:ext cx="2510413" cy="441975"/>
              <a:chOff x="8266188" y="2913125"/>
              <a:chExt cx="2510413" cy="441975"/>
            </a:xfrm>
          </p:grpSpPr>
          <p:grpSp>
            <p:nvGrpSpPr>
              <p:cNvPr id="477" name="Google Shape;477;p28"/>
              <p:cNvGrpSpPr/>
              <p:nvPr/>
            </p:nvGrpSpPr>
            <p:grpSpPr>
              <a:xfrm>
                <a:off x="8607900" y="2913125"/>
                <a:ext cx="2168700" cy="441975"/>
                <a:chOff x="8607900" y="2913125"/>
                <a:chExt cx="2168700" cy="441975"/>
              </a:xfrm>
            </p:grpSpPr>
            <p:sp>
              <p:nvSpPr>
                <p:cNvPr id="478" name="Google Shape;478;p28"/>
                <p:cNvSpPr/>
                <p:nvPr/>
              </p:nvSpPr>
              <p:spPr>
                <a:xfrm>
                  <a:off x="8658950" y="3167600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2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9" name="Google Shape;479;p28"/>
                <p:cNvSpPr/>
                <p:nvPr/>
              </p:nvSpPr>
              <p:spPr>
                <a:xfrm>
                  <a:off x="8607900" y="2913125"/>
                  <a:ext cx="2168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base(P1) + bounds (P1)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80" name="Google Shape;480;p28"/>
              <p:cNvCxnSpPr/>
              <p:nvPr/>
            </p:nvCxnSpPr>
            <p:spPr>
              <a:xfrm>
                <a:off x="8266188" y="326135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481" name="Google Shape;481;p28"/>
            <p:cNvSpPr txBox="1"/>
            <p:nvPr/>
          </p:nvSpPr>
          <p:spPr>
            <a:xfrm>
              <a:off x="4148200" y="4903100"/>
              <a:ext cx="1460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load 100, R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82" name="Google Shape;482;p28"/>
            <p:cNvSpPr txBox="1"/>
            <p:nvPr/>
          </p:nvSpPr>
          <p:spPr>
            <a:xfrm>
              <a:off x="3420700" y="5213113"/>
              <a:ext cx="68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483" name="Google Shape;483;p28"/>
            <p:cNvSpPr txBox="1"/>
            <p:nvPr/>
          </p:nvSpPr>
          <p:spPr>
            <a:xfrm>
              <a:off x="5437913" y="4903100"/>
              <a:ext cx="68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1124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484" name="Google Shape;484;p28"/>
            <p:cNvSpPr txBox="1"/>
            <p:nvPr/>
          </p:nvSpPr>
          <p:spPr>
            <a:xfrm>
              <a:off x="6068275" y="4607900"/>
              <a:ext cx="1460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load 100, R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85" name="Google Shape;485;p28"/>
          <p:cNvGrpSpPr/>
          <p:nvPr/>
        </p:nvGrpSpPr>
        <p:grpSpPr>
          <a:xfrm>
            <a:off x="8638375" y="5088725"/>
            <a:ext cx="3132600" cy="637200"/>
            <a:chOff x="6652650" y="1665575"/>
            <a:chExt cx="3132600" cy="637200"/>
          </a:xfrm>
        </p:grpSpPr>
        <p:sp>
          <p:nvSpPr>
            <p:cNvPr id="486" name="Google Shape;486;p28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8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88" name="Google Shape;488;p28"/>
          <p:cNvGrpSpPr/>
          <p:nvPr/>
        </p:nvGrpSpPr>
        <p:grpSpPr>
          <a:xfrm>
            <a:off x="8638375" y="4042400"/>
            <a:ext cx="3132600" cy="637200"/>
            <a:chOff x="6652650" y="2614950"/>
            <a:chExt cx="3132600" cy="637200"/>
          </a:xfrm>
        </p:grpSpPr>
        <p:sp>
          <p:nvSpPr>
            <p:cNvPr id="489" name="Google Shape;489;p28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8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491" name="Google Shape;491;p28"/>
          <p:cNvSpPr txBox="1"/>
          <p:nvPr/>
        </p:nvSpPr>
        <p:spPr>
          <a:xfrm>
            <a:off x="5992050" y="1656525"/>
            <a:ext cx="533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</a:rPr>
              <a:t>Instrucción</a:t>
            </a:r>
            <a:r>
              <a:rPr lang="es-ES" sz="2200" dirty="0">
                <a:solidFill>
                  <a:schemeClr val="accent2"/>
                </a:solidFill>
              </a:rPr>
              <a:t>: 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load 100, R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28"/>
          <p:cNvSpPr txBox="1"/>
          <p:nvPr/>
        </p:nvSpPr>
        <p:spPr>
          <a:xfrm>
            <a:off x="5992050" y="2357638"/>
            <a:ext cx="5620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PA(P1) = VA + base(P1)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PA(P1) = 100 + 1K = 100 + 1024 = </a:t>
            </a: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1124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2</a:t>
            </a:r>
            <a:endParaRPr dirty="0"/>
          </a:p>
        </p:txBody>
      </p:sp>
      <p:sp>
        <p:nvSpPr>
          <p:cNvPr id="499" name="Google Shape;499;p29"/>
          <p:cNvSpPr txBox="1"/>
          <p:nvPr/>
        </p:nvSpPr>
        <p:spPr>
          <a:xfrm>
            <a:off x="1026925" y="1656525"/>
            <a:ext cx="32817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</a:rPr>
              <a:t>Datos</a:t>
            </a:r>
            <a:r>
              <a:rPr lang="es-ES" sz="2200" dirty="0">
                <a:solidFill>
                  <a:schemeClr val="accent2"/>
                </a:solidFill>
              </a:rPr>
              <a:t>:</a:t>
            </a:r>
            <a:endParaRPr sz="2200" dirty="0">
              <a:solidFill>
                <a:schemeClr val="accent2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base(P2) = 4 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bounds(P2) = 1 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VA = 100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PA(VA=100) = ?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00" name="Google Shape;500;p29"/>
          <p:cNvGrpSpPr/>
          <p:nvPr/>
        </p:nvGrpSpPr>
        <p:grpSpPr>
          <a:xfrm>
            <a:off x="1223538" y="3772900"/>
            <a:ext cx="7255875" cy="2848500"/>
            <a:chOff x="2643363" y="3772900"/>
            <a:chExt cx="7255875" cy="2848500"/>
          </a:xfrm>
        </p:grpSpPr>
        <p:sp>
          <p:nvSpPr>
            <p:cNvPr id="501" name="Google Shape;501;p29"/>
            <p:cNvSpPr/>
            <p:nvPr/>
          </p:nvSpPr>
          <p:spPr>
            <a:xfrm>
              <a:off x="4148200" y="4913450"/>
              <a:ext cx="1200900" cy="1198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600"/>
            </a:p>
          </p:txBody>
        </p:sp>
        <p:grpSp>
          <p:nvGrpSpPr>
            <p:cNvPr id="502" name="Google Shape;502;p29"/>
            <p:cNvGrpSpPr/>
            <p:nvPr/>
          </p:nvGrpSpPr>
          <p:grpSpPr>
            <a:xfrm>
              <a:off x="2643363" y="5725925"/>
              <a:ext cx="1464938" cy="441975"/>
              <a:chOff x="4342750" y="3431950"/>
              <a:chExt cx="1464938" cy="441975"/>
            </a:xfrm>
          </p:grpSpPr>
          <p:cxnSp>
            <p:nvCxnSpPr>
              <p:cNvPr id="503" name="Google Shape;503;p29"/>
              <p:cNvCxnSpPr/>
              <p:nvPr/>
            </p:nvCxnSpPr>
            <p:spPr>
              <a:xfrm>
                <a:off x="5465988" y="380697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504" name="Google Shape;504;p29"/>
              <p:cNvGrpSpPr/>
              <p:nvPr/>
            </p:nvGrpSpPr>
            <p:grpSpPr>
              <a:xfrm>
                <a:off x="4342750" y="3431950"/>
                <a:ext cx="1121700" cy="441975"/>
                <a:chOff x="4342750" y="3431950"/>
                <a:chExt cx="1121700" cy="441975"/>
              </a:xfrm>
            </p:grpSpPr>
            <p:sp>
              <p:nvSpPr>
                <p:cNvPr id="505" name="Google Shape;505;p29"/>
                <p:cNvSpPr/>
                <p:nvPr/>
              </p:nvSpPr>
              <p:spPr>
                <a:xfrm>
                  <a:off x="4718025" y="3686425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06" name="Google Shape;506;p29"/>
                <p:cNvSpPr/>
                <p:nvPr/>
              </p:nvSpPr>
              <p:spPr>
                <a:xfrm>
                  <a:off x="4342750" y="3431950"/>
                  <a:ext cx="1121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bounds (P2)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cxnSp>
          <p:nvCxnSpPr>
            <p:cNvPr id="507" name="Google Shape;507;p29"/>
            <p:cNvCxnSpPr/>
            <p:nvPr/>
          </p:nvCxnSpPr>
          <p:spPr>
            <a:xfrm>
              <a:off x="5433725" y="6098975"/>
              <a:ext cx="629400" cy="267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08" name="Google Shape;508;p29"/>
            <p:cNvCxnSpPr/>
            <p:nvPr/>
          </p:nvCxnSpPr>
          <p:spPr>
            <a:xfrm rot="10800000" flipH="1">
              <a:off x="5380663" y="4684100"/>
              <a:ext cx="687600" cy="2190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509" name="Google Shape;509;p29"/>
            <p:cNvGrpSpPr/>
            <p:nvPr/>
          </p:nvGrpSpPr>
          <p:grpSpPr>
            <a:xfrm>
              <a:off x="6125513" y="3772900"/>
              <a:ext cx="1200913" cy="2848500"/>
              <a:chOff x="6799975" y="1750300"/>
              <a:chExt cx="1200913" cy="2848500"/>
            </a:xfrm>
          </p:grpSpPr>
          <p:sp>
            <p:nvSpPr>
              <p:cNvPr id="510" name="Google Shape;510;p29"/>
              <p:cNvSpPr/>
              <p:nvPr/>
            </p:nvSpPr>
            <p:spPr>
              <a:xfrm>
                <a:off x="6799975" y="1750300"/>
                <a:ext cx="1200900" cy="28485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9"/>
              <p:cNvSpPr/>
              <p:nvPr/>
            </p:nvSpPr>
            <p:spPr>
              <a:xfrm>
                <a:off x="6799988" y="2657000"/>
                <a:ext cx="1200900" cy="17139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P2</a:t>
                </a:r>
                <a:endParaRPr sz="1600"/>
              </a:p>
            </p:txBody>
          </p:sp>
        </p:grpSp>
        <p:grpSp>
          <p:nvGrpSpPr>
            <p:cNvPr id="512" name="Google Shape;512;p29"/>
            <p:cNvGrpSpPr/>
            <p:nvPr/>
          </p:nvGrpSpPr>
          <p:grpSpPr>
            <a:xfrm>
              <a:off x="7404200" y="4345500"/>
              <a:ext cx="1224163" cy="437775"/>
              <a:chOff x="8266188" y="2188975"/>
              <a:chExt cx="1224163" cy="437775"/>
            </a:xfrm>
          </p:grpSpPr>
          <p:grpSp>
            <p:nvGrpSpPr>
              <p:cNvPr id="513" name="Google Shape;513;p29"/>
              <p:cNvGrpSpPr/>
              <p:nvPr/>
            </p:nvGrpSpPr>
            <p:grpSpPr>
              <a:xfrm>
                <a:off x="8461950" y="2188975"/>
                <a:ext cx="1028400" cy="437775"/>
                <a:chOff x="8461950" y="2188975"/>
                <a:chExt cx="1028400" cy="437775"/>
              </a:xfrm>
            </p:grpSpPr>
            <p:sp>
              <p:nvSpPr>
                <p:cNvPr id="514" name="Google Shape;514;p29"/>
                <p:cNvSpPr/>
                <p:nvPr/>
              </p:nvSpPr>
              <p:spPr>
                <a:xfrm>
                  <a:off x="8658950" y="2439250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4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15" name="Google Shape;515;p29"/>
                <p:cNvSpPr/>
                <p:nvPr/>
              </p:nvSpPr>
              <p:spPr>
                <a:xfrm>
                  <a:off x="8461950" y="2188975"/>
                  <a:ext cx="10284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base(P2)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516" name="Google Shape;516;p29"/>
              <p:cNvCxnSpPr/>
              <p:nvPr/>
            </p:nvCxnSpPr>
            <p:spPr>
              <a:xfrm>
                <a:off x="8266188" y="253300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grpSp>
          <p:nvGrpSpPr>
            <p:cNvPr id="517" name="Google Shape;517;p29"/>
            <p:cNvGrpSpPr/>
            <p:nvPr/>
          </p:nvGrpSpPr>
          <p:grpSpPr>
            <a:xfrm>
              <a:off x="7388825" y="6011925"/>
              <a:ext cx="2510413" cy="441975"/>
              <a:chOff x="8266188" y="2913125"/>
              <a:chExt cx="2510413" cy="441975"/>
            </a:xfrm>
          </p:grpSpPr>
          <p:grpSp>
            <p:nvGrpSpPr>
              <p:cNvPr id="518" name="Google Shape;518;p29"/>
              <p:cNvGrpSpPr/>
              <p:nvPr/>
            </p:nvGrpSpPr>
            <p:grpSpPr>
              <a:xfrm>
                <a:off x="8607900" y="2913125"/>
                <a:ext cx="2168700" cy="441975"/>
                <a:chOff x="8607900" y="2913125"/>
                <a:chExt cx="2168700" cy="441975"/>
              </a:xfrm>
            </p:grpSpPr>
            <p:sp>
              <p:nvSpPr>
                <p:cNvPr id="519" name="Google Shape;519;p29"/>
                <p:cNvSpPr/>
                <p:nvPr/>
              </p:nvSpPr>
              <p:spPr>
                <a:xfrm>
                  <a:off x="8658950" y="3167600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5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20" name="Google Shape;520;p29"/>
                <p:cNvSpPr/>
                <p:nvPr/>
              </p:nvSpPr>
              <p:spPr>
                <a:xfrm>
                  <a:off x="8607900" y="2913125"/>
                  <a:ext cx="2168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base(P2) + bounds (P2)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521" name="Google Shape;521;p29"/>
              <p:cNvCxnSpPr/>
              <p:nvPr/>
            </p:nvCxnSpPr>
            <p:spPr>
              <a:xfrm>
                <a:off x="8266188" y="326135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522" name="Google Shape;522;p29"/>
            <p:cNvSpPr txBox="1"/>
            <p:nvPr/>
          </p:nvSpPr>
          <p:spPr>
            <a:xfrm>
              <a:off x="4148200" y="4903100"/>
              <a:ext cx="1460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load 100, R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23" name="Google Shape;523;p29"/>
            <p:cNvSpPr txBox="1"/>
            <p:nvPr/>
          </p:nvSpPr>
          <p:spPr>
            <a:xfrm>
              <a:off x="3420700" y="5213113"/>
              <a:ext cx="68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24" name="Google Shape;524;p29"/>
            <p:cNvSpPr txBox="1"/>
            <p:nvPr/>
          </p:nvSpPr>
          <p:spPr>
            <a:xfrm>
              <a:off x="5437913" y="4903100"/>
              <a:ext cx="68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4196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25" name="Google Shape;525;p29"/>
            <p:cNvSpPr txBox="1"/>
            <p:nvPr/>
          </p:nvSpPr>
          <p:spPr>
            <a:xfrm>
              <a:off x="6068275" y="4607900"/>
              <a:ext cx="1460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load 100, R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26" name="Google Shape;526;p29"/>
          <p:cNvGrpSpPr/>
          <p:nvPr/>
        </p:nvGrpSpPr>
        <p:grpSpPr>
          <a:xfrm>
            <a:off x="8577200" y="4349475"/>
            <a:ext cx="3132600" cy="637200"/>
            <a:chOff x="6652650" y="1665575"/>
            <a:chExt cx="3132600" cy="637200"/>
          </a:xfrm>
        </p:grpSpPr>
        <p:sp>
          <p:nvSpPr>
            <p:cNvPr id="527" name="Google Shape;527;p29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29" name="Google Shape;529;p29"/>
          <p:cNvGrpSpPr/>
          <p:nvPr/>
        </p:nvGrpSpPr>
        <p:grpSpPr>
          <a:xfrm>
            <a:off x="8577200" y="5407625"/>
            <a:ext cx="3132600" cy="637200"/>
            <a:chOff x="6652650" y="2614950"/>
            <a:chExt cx="3132600" cy="637200"/>
          </a:xfrm>
        </p:grpSpPr>
        <p:sp>
          <p:nvSpPr>
            <p:cNvPr id="530" name="Google Shape;530;p29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32" name="Google Shape;532;p29"/>
          <p:cNvSpPr txBox="1"/>
          <p:nvPr/>
        </p:nvSpPr>
        <p:spPr>
          <a:xfrm>
            <a:off x="5992050" y="1656525"/>
            <a:ext cx="533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accent2"/>
                </a:solidFill>
              </a:rPr>
              <a:t>Instrucción</a:t>
            </a:r>
            <a:r>
              <a:rPr lang="es-ES" sz="2200">
                <a:solidFill>
                  <a:schemeClr val="accent2"/>
                </a:solidFill>
              </a:rPr>
              <a:t>: </a:t>
            </a: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load 100, R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29"/>
          <p:cNvSpPr txBox="1"/>
          <p:nvPr/>
        </p:nvSpPr>
        <p:spPr>
          <a:xfrm>
            <a:off x="5992050" y="2357638"/>
            <a:ext cx="5620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PA(P2) = VA + base(P2)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PA(P2) = 100 + 1K = 100 + 4096 = </a:t>
            </a: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4196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0"/>
          <p:cNvSpPr txBox="1">
            <a:spLocks noGrp="1"/>
          </p:cNvSpPr>
          <p:nvPr>
            <p:ph type="title"/>
          </p:nvPr>
        </p:nvSpPr>
        <p:spPr>
          <a:xfrm>
            <a:off x="838200" y="156843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3</a:t>
            </a:r>
            <a:endParaRPr dirty="0"/>
          </a:p>
        </p:txBody>
      </p:sp>
      <p:sp>
        <p:nvSpPr>
          <p:cNvPr id="540" name="Google Shape;540;p30"/>
          <p:cNvSpPr txBox="1"/>
          <p:nvPr/>
        </p:nvSpPr>
        <p:spPr>
          <a:xfrm>
            <a:off x="4031050" y="4425213"/>
            <a:ext cx="68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7394050" y="4425213"/>
            <a:ext cx="68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1124</a:t>
            </a:r>
            <a:endParaRPr sz="1800">
              <a:solidFill>
                <a:srgbClr val="FF0000"/>
              </a:solidFill>
            </a:endParaRPr>
          </a:p>
        </p:txBody>
      </p:sp>
      <p:grpSp>
        <p:nvGrpSpPr>
          <p:cNvPr id="542" name="Google Shape;542;p30"/>
          <p:cNvGrpSpPr/>
          <p:nvPr/>
        </p:nvGrpSpPr>
        <p:grpSpPr>
          <a:xfrm>
            <a:off x="1742150" y="3075675"/>
            <a:ext cx="10094188" cy="3130200"/>
            <a:chOff x="2011075" y="3008700"/>
            <a:chExt cx="10094188" cy="3130200"/>
          </a:xfrm>
        </p:grpSpPr>
        <p:grpSp>
          <p:nvGrpSpPr>
            <p:cNvPr id="543" name="Google Shape;543;p30"/>
            <p:cNvGrpSpPr/>
            <p:nvPr/>
          </p:nvGrpSpPr>
          <p:grpSpPr>
            <a:xfrm>
              <a:off x="8274325" y="3290400"/>
              <a:ext cx="3830938" cy="2848500"/>
              <a:chOff x="8274325" y="3290400"/>
              <a:chExt cx="3830938" cy="2848500"/>
            </a:xfrm>
          </p:grpSpPr>
          <p:grpSp>
            <p:nvGrpSpPr>
              <p:cNvPr id="544" name="Google Shape;544;p30"/>
              <p:cNvGrpSpPr/>
              <p:nvPr/>
            </p:nvGrpSpPr>
            <p:grpSpPr>
              <a:xfrm>
                <a:off x="8331563" y="3290400"/>
                <a:ext cx="1200913" cy="2848500"/>
                <a:chOff x="6799975" y="1750300"/>
                <a:chExt cx="1200913" cy="2848500"/>
              </a:xfrm>
            </p:grpSpPr>
            <p:sp>
              <p:nvSpPr>
                <p:cNvPr id="545" name="Google Shape;545;p30"/>
                <p:cNvSpPr/>
                <p:nvPr/>
              </p:nvSpPr>
              <p:spPr>
                <a:xfrm>
                  <a:off x="6799975" y="1750300"/>
                  <a:ext cx="1200900" cy="28485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" name="Google Shape;546;p30"/>
                <p:cNvSpPr/>
                <p:nvPr/>
              </p:nvSpPr>
              <p:spPr>
                <a:xfrm>
                  <a:off x="6799988" y="2657000"/>
                  <a:ext cx="1200900" cy="17139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P1</a:t>
                  </a:r>
                  <a:endParaRPr sz="1600"/>
                </a:p>
              </p:txBody>
            </p:sp>
          </p:grpSp>
          <p:grpSp>
            <p:nvGrpSpPr>
              <p:cNvPr id="547" name="Google Shape;547;p30"/>
              <p:cNvGrpSpPr/>
              <p:nvPr/>
            </p:nvGrpSpPr>
            <p:grpSpPr>
              <a:xfrm>
                <a:off x="9610250" y="3863000"/>
                <a:ext cx="1224163" cy="437775"/>
                <a:chOff x="8266188" y="2188975"/>
                <a:chExt cx="1224163" cy="437775"/>
              </a:xfrm>
            </p:grpSpPr>
            <p:grpSp>
              <p:nvGrpSpPr>
                <p:cNvPr id="548" name="Google Shape;548;p30"/>
                <p:cNvGrpSpPr/>
                <p:nvPr/>
              </p:nvGrpSpPr>
              <p:grpSpPr>
                <a:xfrm>
                  <a:off x="8461950" y="2188975"/>
                  <a:ext cx="1028400" cy="437775"/>
                  <a:chOff x="8461950" y="2188975"/>
                  <a:chExt cx="1028400" cy="437775"/>
                </a:xfrm>
              </p:grpSpPr>
              <p:sp>
                <p:nvSpPr>
                  <p:cNvPr id="549" name="Google Shape;549;p30"/>
                  <p:cNvSpPr/>
                  <p:nvPr/>
                </p:nvSpPr>
                <p:spPr>
                  <a:xfrm>
                    <a:off x="8658950" y="2439250"/>
                    <a:ext cx="661200" cy="187500"/>
                  </a:xfrm>
                  <a:prstGeom prst="rect">
                    <a:avLst/>
                  </a:prstGeom>
                  <a:solidFill>
                    <a:srgbClr val="C9DAF8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latin typeface="Consolas"/>
                        <a:ea typeface="Consolas"/>
                        <a:cs typeface="Consolas"/>
                        <a:sym typeface="Consolas"/>
                      </a:rPr>
                      <a:t>1 KB</a:t>
                    </a:r>
                    <a:endParaRPr sz="1200"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50" name="Google Shape;550;p30"/>
                  <p:cNvSpPr/>
                  <p:nvPr/>
                </p:nvSpPr>
                <p:spPr>
                  <a:xfrm>
                    <a:off x="8461950" y="2188975"/>
                    <a:ext cx="1028400" cy="187500"/>
                  </a:xfrm>
                  <a:prstGeom prst="rect">
                    <a:avLst/>
                  </a:prstGeom>
                  <a:solidFill>
                    <a:schemeClr val="lt1"/>
                  </a:soli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latin typeface="Consolas"/>
                        <a:ea typeface="Consolas"/>
                        <a:cs typeface="Consolas"/>
                        <a:sym typeface="Consolas"/>
                      </a:rPr>
                      <a:t>base(P1)</a:t>
                    </a:r>
                    <a:endParaRPr sz="1200"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cxnSp>
              <p:nvCxnSpPr>
                <p:cNvPr id="551" name="Google Shape;551;p30"/>
                <p:cNvCxnSpPr/>
                <p:nvPr/>
              </p:nvCxnSpPr>
              <p:spPr>
                <a:xfrm>
                  <a:off x="8266188" y="2533000"/>
                  <a:ext cx="341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</p:grpSp>
          <p:grpSp>
            <p:nvGrpSpPr>
              <p:cNvPr id="552" name="Google Shape;552;p30"/>
              <p:cNvGrpSpPr/>
              <p:nvPr/>
            </p:nvGrpSpPr>
            <p:grpSpPr>
              <a:xfrm>
                <a:off x="9594875" y="5529425"/>
                <a:ext cx="2510388" cy="441975"/>
                <a:chOff x="8266188" y="2913125"/>
                <a:chExt cx="2510388" cy="441975"/>
              </a:xfrm>
            </p:grpSpPr>
            <p:grpSp>
              <p:nvGrpSpPr>
                <p:cNvPr id="553" name="Google Shape;553;p30"/>
                <p:cNvGrpSpPr/>
                <p:nvPr/>
              </p:nvGrpSpPr>
              <p:grpSpPr>
                <a:xfrm>
                  <a:off x="8607875" y="2913125"/>
                  <a:ext cx="2168700" cy="441975"/>
                  <a:chOff x="8607875" y="2913125"/>
                  <a:chExt cx="2168700" cy="441975"/>
                </a:xfrm>
              </p:grpSpPr>
              <p:sp>
                <p:nvSpPr>
                  <p:cNvPr id="554" name="Google Shape;554;p30"/>
                  <p:cNvSpPr/>
                  <p:nvPr/>
                </p:nvSpPr>
                <p:spPr>
                  <a:xfrm>
                    <a:off x="8658950" y="3167600"/>
                    <a:ext cx="661200" cy="187500"/>
                  </a:xfrm>
                  <a:prstGeom prst="rect">
                    <a:avLst/>
                  </a:prstGeom>
                  <a:solidFill>
                    <a:srgbClr val="C9DAF8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latin typeface="Consolas"/>
                        <a:ea typeface="Consolas"/>
                        <a:cs typeface="Consolas"/>
                        <a:sym typeface="Consolas"/>
                      </a:rPr>
                      <a:t>2 KB</a:t>
                    </a:r>
                    <a:endParaRPr sz="1200"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55" name="Google Shape;555;p30"/>
                  <p:cNvSpPr/>
                  <p:nvPr/>
                </p:nvSpPr>
                <p:spPr>
                  <a:xfrm>
                    <a:off x="8607875" y="2913125"/>
                    <a:ext cx="2168700" cy="187500"/>
                  </a:xfrm>
                  <a:prstGeom prst="rect">
                    <a:avLst/>
                  </a:prstGeom>
                  <a:solidFill>
                    <a:schemeClr val="lt1"/>
                  </a:soli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latin typeface="Consolas"/>
                        <a:ea typeface="Consolas"/>
                        <a:cs typeface="Consolas"/>
                        <a:sym typeface="Consolas"/>
                      </a:rPr>
                      <a:t>base(P1) + bounds (P1)</a:t>
                    </a:r>
                    <a:endParaRPr sz="1200" b="1" dirty="0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cxnSp>
              <p:nvCxnSpPr>
                <p:cNvPr id="556" name="Google Shape;556;p30"/>
                <p:cNvCxnSpPr/>
                <p:nvPr/>
              </p:nvCxnSpPr>
              <p:spPr>
                <a:xfrm>
                  <a:off x="8266188" y="3261350"/>
                  <a:ext cx="341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</p:grpSp>
          <p:sp>
            <p:nvSpPr>
              <p:cNvPr id="557" name="Google Shape;557;p30"/>
              <p:cNvSpPr txBox="1"/>
              <p:nvPr/>
            </p:nvSpPr>
            <p:spPr>
              <a:xfrm>
                <a:off x="8274325" y="4125400"/>
                <a:ext cx="14601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load 100, R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558" name="Google Shape;558;p30"/>
            <p:cNvGrpSpPr/>
            <p:nvPr/>
          </p:nvGrpSpPr>
          <p:grpSpPr>
            <a:xfrm>
              <a:off x="2011075" y="3749663"/>
              <a:ext cx="2158500" cy="2007900"/>
              <a:chOff x="1817200" y="3963500"/>
              <a:chExt cx="2158500" cy="2007900"/>
            </a:xfrm>
          </p:grpSpPr>
          <p:sp>
            <p:nvSpPr>
              <p:cNvPr id="559" name="Google Shape;559;p30"/>
              <p:cNvSpPr/>
              <p:nvPr/>
            </p:nvSpPr>
            <p:spPr>
              <a:xfrm>
                <a:off x="1817200" y="3963500"/>
                <a:ext cx="2158500" cy="20079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grpSp>
            <p:nvGrpSpPr>
              <p:cNvPr id="560" name="Google Shape;560;p30"/>
              <p:cNvGrpSpPr/>
              <p:nvPr/>
            </p:nvGrpSpPr>
            <p:grpSpPr>
              <a:xfrm>
                <a:off x="1970525" y="4751900"/>
                <a:ext cx="1824001" cy="431100"/>
                <a:chOff x="1970525" y="4751900"/>
                <a:chExt cx="1824001" cy="431100"/>
              </a:xfrm>
            </p:grpSpPr>
            <p:sp>
              <p:nvSpPr>
                <p:cNvPr id="561" name="Google Shape;561;p30"/>
                <p:cNvSpPr txBox="1"/>
                <p:nvPr/>
              </p:nvSpPr>
              <p:spPr>
                <a:xfrm>
                  <a:off x="1970525" y="4751900"/>
                  <a:ext cx="468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IR</a:t>
                  </a:r>
                  <a:endParaRPr sz="16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62" name="Google Shape;562;p30"/>
                <p:cNvSpPr txBox="1"/>
                <p:nvPr/>
              </p:nvSpPr>
              <p:spPr>
                <a:xfrm>
                  <a:off x="2439426" y="4767350"/>
                  <a:ext cx="1355100" cy="400079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load 100, R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563" name="Google Shape;563;p30"/>
              <p:cNvGrpSpPr/>
              <p:nvPr/>
            </p:nvGrpSpPr>
            <p:grpSpPr>
              <a:xfrm>
                <a:off x="1970525" y="5243750"/>
                <a:ext cx="1824001" cy="437850"/>
                <a:chOff x="1970525" y="5243750"/>
                <a:chExt cx="1824001" cy="437850"/>
              </a:xfrm>
            </p:grpSpPr>
            <p:sp>
              <p:nvSpPr>
                <p:cNvPr id="564" name="Google Shape;564;p30"/>
                <p:cNvSpPr txBox="1"/>
                <p:nvPr/>
              </p:nvSpPr>
              <p:spPr>
                <a:xfrm>
                  <a:off x="1970525" y="5243750"/>
                  <a:ext cx="468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R</a:t>
                  </a:r>
                  <a:endParaRPr sz="16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65" name="Google Shape;565;p30"/>
                <p:cNvSpPr txBox="1"/>
                <p:nvPr/>
              </p:nvSpPr>
              <p:spPr>
                <a:xfrm>
                  <a:off x="2439426" y="5281400"/>
                  <a:ext cx="1355100" cy="4002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566" name="Google Shape;566;p30"/>
              <p:cNvSpPr txBox="1"/>
              <p:nvPr/>
            </p:nvSpPr>
            <p:spPr>
              <a:xfrm>
                <a:off x="2461650" y="4079200"/>
                <a:ext cx="976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8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567" name="Google Shape;567;p30"/>
            <p:cNvGrpSpPr/>
            <p:nvPr/>
          </p:nvGrpSpPr>
          <p:grpSpPr>
            <a:xfrm>
              <a:off x="4231850" y="3008700"/>
              <a:ext cx="4037325" cy="3028125"/>
              <a:chOff x="4231850" y="3008700"/>
              <a:chExt cx="4037325" cy="3028125"/>
            </a:xfrm>
          </p:grpSpPr>
          <p:grpSp>
            <p:nvGrpSpPr>
              <p:cNvPr id="568" name="Google Shape;568;p30"/>
              <p:cNvGrpSpPr/>
              <p:nvPr/>
            </p:nvGrpSpPr>
            <p:grpSpPr>
              <a:xfrm>
                <a:off x="4231850" y="3470400"/>
                <a:ext cx="4037325" cy="2566425"/>
                <a:chOff x="5575500" y="3809425"/>
                <a:chExt cx="4037325" cy="2566425"/>
              </a:xfrm>
            </p:grpSpPr>
            <p:sp>
              <p:nvSpPr>
                <p:cNvPr id="569" name="Google Shape;569;p30"/>
                <p:cNvSpPr/>
                <p:nvPr/>
              </p:nvSpPr>
              <p:spPr>
                <a:xfrm>
                  <a:off x="7914675" y="3809425"/>
                  <a:ext cx="1460100" cy="3750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 b="1">
                      <a:latin typeface="Consolas"/>
                      <a:ea typeface="Consolas"/>
                      <a:cs typeface="Consolas"/>
                      <a:sym typeface="Consolas"/>
                    </a:rPr>
                    <a:t>1024</a:t>
                  </a:r>
                  <a:endParaRPr sz="18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70" name="Google Shape;570;p30"/>
                <p:cNvSpPr/>
                <p:nvPr/>
              </p:nvSpPr>
              <p:spPr>
                <a:xfrm>
                  <a:off x="6068975" y="3809425"/>
                  <a:ext cx="1460100" cy="3750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 b="1">
                      <a:latin typeface="Consolas"/>
                      <a:ea typeface="Consolas"/>
                      <a:cs typeface="Consolas"/>
                      <a:sym typeface="Consolas"/>
                    </a:rPr>
                    <a:t>1024</a:t>
                  </a:r>
                  <a:endParaRPr sz="18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71" name="Google Shape;571;p30"/>
                <p:cNvSpPr/>
                <p:nvPr/>
              </p:nvSpPr>
              <p:spPr>
                <a:xfrm>
                  <a:off x="6336900" y="4802600"/>
                  <a:ext cx="924225" cy="562575"/>
                </a:xfrm>
                <a:prstGeom prst="flowChartDecision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>
                      <a:latin typeface="Consolas"/>
                      <a:ea typeface="Consolas"/>
                      <a:cs typeface="Consolas"/>
                      <a:sym typeface="Consolas"/>
                    </a:rPr>
                    <a:t>&lt;</a:t>
                  </a:r>
                  <a:endParaRPr sz="20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72" name="Google Shape;572;p30"/>
                <p:cNvSpPr/>
                <p:nvPr/>
              </p:nvSpPr>
              <p:spPr>
                <a:xfrm>
                  <a:off x="8396925" y="4821538"/>
                  <a:ext cx="495600" cy="5247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>
                      <a:latin typeface="Consolas"/>
                      <a:ea typeface="Consolas"/>
                      <a:cs typeface="Consolas"/>
                      <a:sym typeface="Consolas"/>
                    </a:rPr>
                    <a:t>+</a:t>
                  </a:r>
                  <a:endParaRPr/>
                </a:p>
              </p:txBody>
            </p:sp>
            <p:cxnSp>
              <p:nvCxnSpPr>
                <p:cNvPr id="573" name="Google Shape;573;p30"/>
                <p:cNvCxnSpPr>
                  <a:stCxn id="574" idx="3"/>
                  <a:endCxn id="571" idx="1"/>
                </p:cNvCxnSpPr>
                <p:nvPr/>
              </p:nvCxnSpPr>
              <p:spPr>
                <a:xfrm>
                  <a:off x="5575500" y="5082988"/>
                  <a:ext cx="761400" cy="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75" name="Google Shape;575;p30"/>
                <p:cNvCxnSpPr>
                  <a:stCxn id="570" idx="2"/>
                  <a:endCxn id="571" idx="0"/>
                </p:cNvCxnSpPr>
                <p:nvPr/>
              </p:nvCxnSpPr>
              <p:spPr>
                <a:xfrm>
                  <a:off x="6799025" y="4184425"/>
                  <a:ext cx="0" cy="618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76" name="Google Shape;576;p30"/>
                <p:cNvCxnSpPr>
                  <a:stCxn id="569" idx="2"/>
                  <a:endCxn id="572" idx="0"/>
                </p:cNvCxnSpPr>
                <p:nvPr/>
              </p:nvCxnSpPr>
              <p:spPr>
                <a:xfrm>
                  <a:off x="8644725" y="4184425"/>
                  <a:ext cx="0" cy="63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77" name="Google Shape;577;p30"/>
                <p:cNvCxnSpPr>
                  <a:stCxn id="571" idx="3"/>
                  <a:endCxn id="572" idx="2"/>
                </p:cNvCxnSpPr>
                <p:nvPr/>
              </p:nvCxnSpPr>
              <p:spPr>
                <a:xfrm>
                  <a:off x="7261125" y="5083888"/>
                  <a:ext cx="113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78" name="Google Shape;578;p30"/>
                <p:cNvCxnSpPr/>
                <p:nvPr/>
              </p:nvCxnSpPr>
              <p:spPr>
                <a:xfrm>
                  <a:off x="6799025" y="5365163"/>
                  <a:ext cx="2400" cy="908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579" name="Google Shape;579;p30"/>
                <p:cNvSpPr txBox="1"/>
                <p:nvPr/>
              </p:nvSpPr>
              <p:spPr>
                <a:xfrm>
                  <a:off x="6652638" y="5268025"/>
                  <a:ext cx="7272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solidFill>
                        <a:schemeClr val="dk1"/>
                      </a:solidFill>
                      <a:highlight>
                        <a:schemeClr val="lt1"/>
                      </a:highlight>
                      <a:latin typeface="Consolas"/>
                      <a:ea typeface="Consolas"/>
                      <a:cs typeface="Consolas"/>
                      <a:sym typeface="Consolas"/>
                    </a:rPr>
                    <a:t>No</a:t>
                  </a:r>
                  <a:endParaRPr sz="2000" b="1">
                    <a:solidFill>
                      <a:schemeClr val="dk1"/>
                    </a:solidFill>
                    <a:highlight>
                      <a:schemeClr val="lt1"/>
                    </a:highlight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80" name="Google Shape;580;p30"/>
                <p:cNvSpPr txBox="1"/>
                <p:nvPr/>
              </p:nvSpPr>
              <p:spPr>
                <a:xfrm>
                  <a:off x="7165313" y="4667500"/>
                  <a:ext cx="7272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solidFill>
                        <a:schemeClr val="dk1"/>
                      </a:solidFill>
                      <a:highlight>
                        <a:schemeClr val="lt1"/>
                      </a:highlight>
                      <a:latin typeface="Consolas"/>
                      <a:ea typeface="Consolas"/>
                      <a:cs typeface="Consolas"/>
                      <a:sym typeface="Consolas"/>
                    </a:rPr>
                    <a:t>Yes</a:t>
                  </a:r>
                  <a:endParaRPr sz="2000" b="1">
                    <a:solidFill>
                      <a:schemeClr val="dk1"/>
                    </a:solidFill>
                    <a:highlight>
                      <a:schemeClr val="lt1"/>
                    </a:highlight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cxnSp>
              <p:nvCxnSpPr>
                <p:cNvPr id="581" name="Google Shape;581;p30"/>
                <p:cNvCxnSpPr/>
                <p:nvPr/>
              </p:nvCxnSpPr>
              <p:spPr>
                <a:xfrm rot="10800000" flipH="1">
                  <a:off x="8892525" y="5080888"/>
                  <a:ext cx="720300" cy="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582" name="Google Shape;582;p30"/>
                <p:cNvSpPr txBox="1"/>
                <p:nvPr/>
              </p:nvSpPr>
              <p:spPr>
                <a:xfrm>
                  <a:off x="6799025" y="5944750"/>
                  <a:ext cx="20133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solidFill>
                        <a:srgbClr val="FF0000"/>
                      </a:solidFill>
                      <a:highlight>
                        <a:schemeClr val="lt1"/>
                      </a:highlight>
                      <a:latin typeface="Consolas"/>
                      <a:ea typeface="Consolas"/>
                      <a:cs typeface="Consolas"/>
                      <a:sym typeface="Consolas"/>
                    </a:rPr>
                    <a:t>Protection fault</a:t>
                  </a:r>
                  <a:endParaRPr sz="1600" b="1" dirty="0">
                    <a:solidFill>
                      <a:srgbClr val="FF0000"/>
                    </a:solidFill>
                    <a:highlight>
                      <a:schemeClr val="lt1"/>
                    </a:highlight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583" name="Google Shape;583;p30"/>
              <p:cNvSpPr txBox="1"/>
              <p:nvPr/>
            </p:nvSpPr>
            <p:spPr>
              <a:xfrm>
                <a:off x="4919575" y="3008700"/>
                <a:ext cx="976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>
                    <a:latin typeface="Consolas"/>
                    <a:ea typeface="Consolas"/>
                    <a:cs typeface="Consolas"/>
                    <a:sym typeface="Consolas"/>
                  </a:rPr>
                  <a:t>bounds</a:t>
                </a:r>
                <a:endParaRPr sz="18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84" name="Google Shape;584;p30"/>
              <p:cNvSpPr txBox="1"/>
              <p:nvPr/>
            </p:nvSpPr>
            <p:spPr>
              <a:xfrm>
                <a:off x="6813275" y="3008700"/>
                <a:ext cx="976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nsolas"/>
                    <a:ea typeface="Consolas"/>
                    <a:cs typeface="Consolas"/>
                    <a:sym typeface="Consolas"/>
                  </a:rPr>
                  <a:t>base</a:t>
                </a:r>
                <a:endParaRPr sz="18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sp>
        <p:nvSpPr>
          <p:cNvPr id="585" name="Google Shape;585;p30"/>
          <p:cNvSpPr/>
          <p:nvPr/>
        </p:nvSpPr>
        <p:spPr>
          <a:xfrm>
            <a:off x="8145151" y="4547025"/>
            <a:ext cx="985500" cy="18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3277200" y="4665750"/>
            <a:ext cx="5036559" cy="1613500"/>
          </a:xfrm>
          <a:custGeom>
            <a:avLst/>
            <a:gdLst/>
            <a:ahLst/>
            <a:cxnLst/>
            <a:rect l="l" t="t" r="r" b="b"/>
            <a:pathLst>
              <a:path w="189131" h="64540" extrusionOk="0">
                <a:moveTo>
                  <a:pt x="189131" y="0"/>
                </a:moveTo>
                <a:cubicBezTo>
                  <a:pt x="188685" y="2768"/>
                  <a:pt x="187881" y="11252"/>
                  <a:pt x="186452" y="16610"/>
                </a:cubicBezTo>
                <a:cubicBezTo>
                  <a:pt x="185023" y="21968"/>
                  <a:pt x="183594" y="27325"/>
                  <a:pt x="180558" y="32147"/>
                </a:cubicBezTo>
                <a:cubicBezTo>
                  <a:pt x="177522" y="36969"/>
                  <a:pt x="173950" y="40988"/>
                  <a:pt x="168235" y="45542"/>
                </a:cubicBezTo>
                <a:cubicBezTo>
                  <a:pt x="162520" y="50096"/>
                  <a:pt x="153590" y="56436"/>
                  <a:pt x="146268" y="59472"/>
                </a:cubicBezTo>
                <a:cubicBezTo>
                  <a:pt x="138946" y="62508"/>
                  <a:pt x="132159" y="62954"/>
                  <a:pt x="124301" y="63758"/>
                </a:cubicBezTo>
                <a:cubicBezTo>
                  <a:pt x="116443" y="64562"/>
                  <a:pt x="108227" y="64651"/>
                  <a:pt x="99119" y="64294"/>
                </a:cubicBezTo>
                <a:cubicBezTo>
                  <a:pt x="90011" y="63937"/>
                  <a:pt x="77420" y="63044"/>
                  <a:pt x="69651" y="61615"/>
                </a:cubicBezTo>
                <a:cubicBezTo>
                  <a:pt x="61882" y="60186"/>
                  <a:pt x="58221" y="58222"/>
                  <a:pt x="52506" y="55722"/>
                </a:cubicBezTo>
                <a:cubicBezTo>
                  <a:pt x="46791" y="53222"/>
                  <a:pt x="40362" y="49471"/>
                  <a:pt x="35361" y="46613"/>
                </a:cubicBezTo>
                <a:cubicBezTo>
                  <a:pt x="30361" y="43756"/>
                  <a:pt x="27504" y="42060"/>
                  <a:pt x="22503" y="38577"/>
                </a:cubicBezTo>
                <a:cubicBezTo>
                  <a:pt x="17503" y="35095"/>
                  <a:pt x="9109" y="28486"/>
                  <a:pt x="5358" y="25718"/>
                </a:cubicBezTo>
                <a:cubicBezTo>
                  <a:pt x="1608" y="22950"/>
                  <a:pt x="893" y="22592"/>
                  <a:pt x="0" y="21967"/>
                </a:cubicBezTo>
              </a:path>
            </a:pathLst>
          </a:custGeom>
          <a:noFill/>
          <a:ln w="19050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33CA8E-A208-4AB0-BCF3-D5505F3FA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1" y="1371082"/>
            <a:ext cx="11305395" cy="1649543"/>
          </a:xfrm>
        </p:spPr>
        <p:txBody>
          <a:bodyPr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800" dirty="0"/>
              <a:t>Análisis de la ejecución de la instrucción </a:t>
            </a:r>
            <a:r>
              <a:rPr lang="es-MX" sz="2800" b="1" dirty="0">
                <a:latin typeface="Consolas"/>
                <a:ea typeface="Consolas"/>
                <a:cs typeface="Consolas"/>
                <a:sym typeface="Consolas"/>
              </a:rPr>
              <a:t>load 100, R</a:t>
            </a:r>
            <a:r>
              <a:rPr lang="es-MX" sz="2800" dirty="0"/>
              <a:t> para el proceso </a:t>
            </a:r>
            <a:r>
              <a:rPr lang="es-MX" sz="2800" b="1" dirty="0"/>
              <a:t>P1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MX" sz="2800" dirty="0"/>
              <a:t>Conversión de dirección lógica a física para </a:t>
            </a:r>
            <a:r>
              <a:rPr lang="es-MX" sz="2800" b="1" dirty="0"/>
              <a:t>P1</a:t>
            </a:r>
            <a:r>
              <a:rPr lang="es-MX" sz="2800" dirty="0"/>
              <a:t>: </a:t>
            </a:r>
            <a:r>
              <a:rPr lang="es-MX" sz="2800" b="1" dirty="0">
                <a:latin typeface="Consolas"/>
                <a:ea typeface="Consolas"/>
                <a:cs typeface="Consolas"/>
                <a:sym typeface="Consolas"/>
              </a:rPr>
              <a:t>PA(VA = 100) = 1124</a:t>
            </a:r>
            <a:endParaRPr lang="es-MX" sz="28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MX" sz="2800" dirty="0"/>
              <a:t>Se lanza el load a </a:t>
            </a:r>
            <a:r>
              <a:rPr lang="es-MX" sz="2800" b="1" dirty="0">
                <a:latin typeface="Consolas"/>
                <a:ea typeface="Consolas"/>
                <a:cs typeface="Consolas"/>
                <a:sym typeface="Consolas"/>
              </a:rPr>
              <a:t>PA = 1124</a:t>
            </a:r>
            <a:endParaRPr lang="es-MX" sz="28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MX" sz="2800" dirty="0"/>
              <a:t>Se pone el resultado en </a:t>
            </a:r>
            <a:r>
              <a:rPr lang="es-MX" sz="2800" b="1" dirty="0"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s-MX" sz="2800" dirty="0"/>
              <a:t>.</a:t>
            </a: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MX" sz="2800" dirty="0"/>
          </a:p>
          <a:p>
            <a:endParaRPr lang="es-CO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1"/>
          <p:cNvSpPr txBox="1">
            <a:spLocks noGrp="1"/>
          </p:cNvSpPr>
          <p:nvPr>
            <p:ph type="title"/>
          </p:nvPr>
        </p:nvSpPr>
        <p:spPr>
          <a:xfrm>
            <a:off x="434100" y="98878"/>
            <a:ext cx="109197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Acciones del sistema operativo</a:t>
            </a:r>
            <a:endParaRPr dirty="0"/>
          </a:p>
        </p:txBody>
      </p:sp>
      <p:pic>
        <p:nvPicPr>
          <p:cNvPr id="593" name="Google Shape;5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876" y="2773400"/>
            <a:ext cx="2172475" cy="218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4600" y="2773400"/>
            <a:ext cx="2210685" cy="218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2700" y="2412776"/>
            <a:ext cx="5062500" cy="26327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6" name="Google Shape;596;p31"/>
          <p:cNvCxnSpPr/>
          <p:nvPr/>
        </p:nvCxnSpPr>
        <p:spPr>
          <a:xfrm>
            <a:off x="3812975" y="1665375"/>
            <a:ext cx="13500" cy="4768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1"/>
          <p:cNvCxnSpPr/>
          <p:nvPr/>
        </p:nvCxnSpPr>
        <p:spPr>
          <a:xfrm>
            <a:off x="6925550" y="1746775"/>
            <a:ext cx="8400" cy="4633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98" name="Google Shape;598;p31"/>
          <p:cNvSpPr/>
          <p:nvPr/>
        </p:nvSpPr>
        <p:spPr>
          <a:xfrm>
            <a:off x="4182675" y="5456875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9" name="Google Shape;599;p31"/>
          <p:cNvSpPr/>
          <p:nvPr/>
        </p:nvSpPr>
        <p:spPr>
          <a:xfrm>
            <a:off x="5828175" y="5456875"/>
            <a:ext cx="537300" cy="5418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00" name="Google Shape;60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7325" y="5229875"/>
            <a:ext cx="364950" cy="3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1"/>
          <p:cNvSpPr/>
          <p:nvPr/>
        </p:nvSpPr>
        <p:spPr>
          <a:xfrm>
            <a:off x="2647375" y="5456875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2" name="Google Shape;602;p31"/>
          <p:cNvSpPr/>
          <p:nvPr/>
        </p:nvSpPr>
        <p:spPr>
          <a:xfrm>
            <a:off x="7702175" y="5456875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3" name="Google Shape;603;p31"/>
          <p:cNvSpPr/>
          <p:nvPr/>
        </p:nvSpPr>
        <p:spPr>
          <a:xfrm>
            <a:off x="10093925" y="5456875"/>
            <a:ext cx="537300" cy="5418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04" name="Google Shape;604;p31"/>
          <p:cNvCxnSpPr/>
          <p:nvPr/>
        </p:nvCxnSpPr>
        <p:spPr>
          <a:xfrm>
            <a:off x="8390300" y="5725825"/>
            <a:ext cx="1552800" cy="3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5" name="Google Shape;605;p31"/>
          <p:cNvCxnSpPr/>
          <p:nvPr/>
        </p:nvCxnSpPr>
        <p:spPr>
          <a:xfrm>
            <a:off x="4837863" y="5721925"/>
            <a:ext cx="872400" cy="11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6" name="Google Shape;606;p31"/>
          <p:cNvSpPr txBox="1"/>
          <p:nvPr/>
        </p:nvSpPr>
        <p:spPr>
          <a:xfrm>
            <a:off x="1174250" y="1665375"/>
            <a:ext cx="23601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70AD47"/>
                </a:solidFill>
                <a:latin typeface="Roboto"/>
                <a:ea typeface="Roboto"/>
                <a:cs typeface="Roboto"/>
                <a:sym typeface="Roboto"/>
              </a:rPr>
              <a:t>Creación de un proceso</a:t>
            </a:r>
            <a:endParaRPr sz="2200" b="1">
              <a:solidFill>
                <a:srgbClr val="70AD4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1"/>
          <p:cNvSpPr txBox="1"/>
          <p:nvPr/>
        </p:nvSpPr>
        <p:spPr>
          <a:xfrm>
            <a:off x="4195963" y="1746775"/>
            <a:ext cx="23601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70AD47"/>
                </a:solidFill>
                <a:latin typeface="Roboto"/>
                <a:ea typeface="Roboto"/>
                <a:cs typeface="Roboto"/>
                <a:sym typeface="Roboto"/>
              </a:rPr>
              <a:t>Terminación de un proceso</a:t>
            </a:r>
            <a:endParaRPr sz="2200" b="1">
              <a:solidFill>
                <a:srgbClr val="70AD4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1"/>
          <p:cNvSpPr txBox="1"/>
          <p:nvPr/>
        </p:nvSpPr>
        <p:spPr>
          <a:xfrm>
            <a:off x="8085438" y="1746775"/>
            <a:ext cx="23601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70AD47"/>
                </a:solidFill>
                <a:latin typeface="Roboto"/>
                <a:ea typeface="Roboto"/>
                <a:cs typeface="Roboto"/>
                <a:sym typeface="Roboto"/>
              </a:rPr>
              <a:t>Cambio de contexto</a:t>
            </a:r>
            <a:endParaRPr sz="2200" b="1">
              <a:solidFill>
                <a:srgbClr val="70AD4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3"/>
          <p:cNvSpPr txBox="1">
            <a:spLocks noGrp="1"/>
          </p:cNvSpPr>
          <p:nvPr>
            <p:ph type="title"/>
          </p:nvPr>
        </p:nvSpPr>
        <p:spPr>
          <a:xfrm>
            <a:off x="191729" y="96037"/>
            <a:ext cx="11617921" cy="1142337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Ventajas y desventajas de la reasignación dinámica (base &amp; bound)</a:t>
            </a:r>
            <a:endParaRPr dirty="0">
              <a:latin typeface="+mj-lt"/>
            </a:endParaRPr>
          </a:p>
        </p:txBody>
      </p:sp>
      <p:graphicFrame>
        <p:nvGraphicFramePr>
          <p:cNvPr id="624" name="Google Shape;624;p33"/>
          <p:cNvGraphicFramePr/>
          <p:nvPr>
            <p:extLst>
              <p:ext uri="{D42A27DB-BD31-4B8C-83A1-F6EECF244321}">
                <p14:modId xmlns:p14="http://schemas.microsoft.com/office/powerpoint/2010/main" val="1906064627"/>
              </p:ext>
            </p:extLst>
          </p:nvPr>
        </p:nvGraphicFramePr>
        <p:xfrm>
          <a:off x="671411" y="1452208"/>
          <a:ext cx="11042550" cy="49986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552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/>
                        <a:t>Ventajas</a:t>
                      </a:r>
                      <a:endParaRPr sz="24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/>
                        <a:t>Desventajas</a:t>
                      </a:r>
                      <a:endParaRPr sz="2400" b="1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/>
                        <a:t>Rápida y simple.</a:t>
                      </a:r>
                      <a:endParaRPr sz="2000"/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/>
                        <a:t>Ofrece protección</a:t>
                      </a:r>
                      <a:endParaRPr sz="2000"/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/>
                        <a:t>Poco overhead (2 registros por proceso)</a:t>
                      </a:r>
                      <a:endParaRPr sz="2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dirty="0"/>
                        <a:t>No es flexible.</a:t>
                      </a:r>
                      <a:endParaRPr sz="2000" dirty="0"/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dirty="0"/>
                        <a:t>Gasto de memoria (sobre todo para espacios de direccionamiento grandes) → Fragmentación interna.</a:t>
                      </a:r>
                      <a:endParaRPr sz="2000" dirty="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25" name="Google Shape;625;p33"/>
          <p:cNvGrpSpPr/>
          <p:nvPr/>
        </p:nvGrpSpPr>
        <p:grpSpPr>
          <a:xfrm>
            <a:off x="7151304" y="4393443"/>
            <a:ext cx="806322" cy="1163511"/>
            <a:chOff x="1775100" y="4022850"/>
            <a:chExt cx="1076100" cy="1739700"/>
          </a:xfrm>
        </p:grpSpPr>
        <p:sp>
          <p:nvSpPr>
            <p:cNvPr id="626" name="Google Shape;626;p33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7" name="Google Shape;627;p33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628" name="Google Shape;628;p33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29" name="Google Shape;629;p33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630" name="Google Shape;630;p33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631" name="Google Shape;631;p33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632" name="Google Shape;632;p33"/>
              <p:cNvCxnSpPr>
                <a:stCxn id="630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33" name="Google Shape;633;p33"/>
              <p:cNvCxnSpPr>
                <a:stCxn id="631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634" name="Google Shape;634;p33"/>
          <p:cNvGrpSpPr/>
          <p:nvPr/>
        </p:nvGrpSpPr>
        <p:grpSpPr>
          <a:xfrm>
            <a:off x="8803975" y="3923700"/>
            <a:ext cx="822300" cy="2103000"/>
            <a:chOff x="9574400" y="2884300"/>
            <a:chExt cx="822300" cy="2103000"/>
          </a:xfrm>
        </p:grpSpPr>
        <p:sp>
          <p:nvSpPr>
            <p:cNvPr id="635" name="Google Shape;635;p33"/>
            <p:cNvSpPr/>
            <p:nvPr/>
          </p:nvSpPr>
          <p:spPr>
            <a:xfrm>
              <a:off x="9574400" y="2884300"/>
              <a:ext cx="822300" cy="21030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6" name="Google Shape;636;p33"/>
            <p:cNvGrpSpPr/>
            <p:nvPr/>
          </p:nvGrpSpPr>
          <p:grpSpPr>
            <a:xfrm>
              <a:off x="9582392" y="3376118"/>
              <a:ext cx="806322" cy="1163511"/>
              <a:chOff x="1775100" y="4022850"/>
              <a:chExt cx="1076100" cy="1739700"/>
            </a:xfrm>
          </p:grpSpPr>
          <p:sp>
            <p:nvSpPr>
              <p:cNvPr id="637" name="Google Shape;637;p33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8" name="Google Shape;638;p33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639" name="Google Shape;639;p33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640" name="Google Shape;640;p33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641" name="Google Shape;641;p33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642" name="Google Shape;642;p33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643" name="Google Shape;643;p33"/>
                <p:cNvCxnSpPr>
                  <a:stCxn id="641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44" name="Google Shape;644;p33"/>
                <p:cNvCxnSpPr>
                  <a:stCxn id="642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cxnSp>
        <p:nvCxnSpPr>
          <p:cNvPr id="645" name="Google Shape;645;p33"/>
          <p:cNvCxnSpPr/>
          <p:nvPr/>
        </p:nvCxnSpPr>
        <p:spPr>
          <a:xfrm>
            <a:off x="8032788" y="4393450"/>
            <a:ext cx="696000" cy="4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646" name="Google Shape;646;p33"/>
          <p:cNvGrpSpPr/>
          <p:nvPr/>
        </p:nvGrpSpPr>
        <p:grpSpPr>
          <a:xfrm>
            <a:off x="952504" y="3463442"/>
            <a:ext cx="2340362" cy="3023498"/>
            <a:chOff x="8005450" y="1566825"/>
            <a:chExt cx="3308400" cy="4491900"/>
          </a:xfrm>
        </p:grpSpPr>
        <p:sp>
          <p:nvSpPr>
            <p:cNvPr id="647" name="Google Shape;647;p33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48" name="Google Shape;648;p33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649" name="Google Shape;649;p33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650" name="Google Shape;650;p33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651" name="Google Shape;651;p33"/>
              <p:cNvCxnSpPr>
                <a:stCxn id="650" idx="4"/>
                <a:endCxn id="652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653" name="Google Shape;653;p33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654" name="Google Shape;654;p33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652" name="Google Shape;652;p33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655" name="Google Shape;655;p33"/>
                  <p:cNvSpPr txBox="1"/>
                  <p:nvPr/>
                </p:nvSpPr>
                <p:spPr>
                  <a:xfrm>
                    <a:off x="9216100" y="3718050"/>
                    <a:ext cx="887100" cy="594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656" name="Google Shape;656;p33"/>
                <p:cNvGrpSpPr/>
                <p:nvPr/>
              </p:nvGrpSpPr>
              <p:grpSpPr>
                <a:xfrm>
                  <a:off x="8638450" y="4265550"/>
                  <a:ext cx="1901250" cy="548700"/>
                  <a:chOff x="8638450" y="4265550"/>
                  <a:chExt cx="1901250" cy="548700"/>
                </a:xfrm>
              </p:grpSpPr>
              <p:sp>
                <p:nvSpPr>
                  <p:cNvPr id="657" name="Google Shape;657;p33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8" name="Google Shape;658;p33"/>
                  <p:cNvSpPr txBox="1"/>
                  <p:nvPr/>
                </p:nvSpPr>
                <p:spPr>
                  <a:xfrm>
                    <a:off x="8638450" y="4265550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659" name="Google Shape;659;p33"/>
                <p:cNvGrpSpPr/>
                <p:nvPr/>
              </p:nvGrpSpPr>
              <p:grpSpPr>
                <a:xfrm>
                  <a:off x="8483375" y="4782162"/>
                  <a:ext cx="2056325" cy="548700"/>
                  <a:chOff x="8483375" y="4782162"/>
                  <a:chExt cx="2056325" cy="548700"/>
                </a:xfrm>
              </p:grpSpPr>
              <p:sp>
                <p:nvSpPr>
                  <p:cNvPr id="660" name="Google Shape;660;p33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1" name="Google Shape;661;p33"/>
                  <p:cNvSpPr txBox="1"/>
                  <p:nvPr/>
                </p:nvSpPr>
                <p:spPr>
                  <a:xfrm>
                    <a:off x="8483375" y="4782162"/>
                    <a:ext cx="10929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sp>
        <p:nvSpPr>
          <p:cNvPr id="662" name="Google Shape;662;p33"/>
          <p:cNvSpPr/>
          <p:nvPr/>
        </p:nvSpPr>
        <p:spPr>
          <a:xfrm>
            <a:off x="3700550" y="3752250"/>
            <a:ext cx="602700" cy="648300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P1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3" name="Google Shape;663;p33"/>
          <p:cNvSpPr/>
          <p:nvPr/>
        </p:nvSpPr>
        <p:spPr>
          <a:xfrm>
            <a:off x="3700550" y="5431975"/>
            <a:ext cx="602700" cy="6483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P2</a:t>
            </a:r>
            <a:endParaRPr sz="16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64" name="Google Shape;664;p33"/>
          <p:cNvGrpSpPr/>
          <p:nvPr/>
        </p:nvGrpSpPr>
        <p:grpSpPr>
          <a:xfrm>
            <a:off x="4710925" y="3301750"/>
            <a:ext cx="1191600" cy="1270250"/>
            <a:chOff x="4710925" y="3301750"/>
            <a:chExt cx="1191600" cy="1270250"/>
          </a:xfrm>
        </p:grpSpPr>
        <p:grpSp>
          <p:nvGrpSpPr>
            <p:cNvPr id="665" name="Google Shape;665;p33"/>
            <p:cNvGrpSpPr/>
            <p:nvPr/>
          </p:nvGrpSpPr>
          <p:grpSpPr>
            <a:xfrm>
              <a:off x="4710925" y="3580800"/>
              <a:ext cx="1191600" cy="991200"/>
              <a:chOff x="4710925" y="3580800"/>
              <a:chExt cx="1191600" cy="991200"/>
            </a:xfrm>
          </p:grpSpPr>
          <p:sp>
            <p:nvSpPr>
              <p:cNvPr id="666" name="Google Shape;666;p33"/>
              <p:cNvSpPr/>
              <p:nvPr/>
            </p:nvSpPr>
            <p:spPr>
              <a:xfrm>
                <a:off x="4710925" y="3580800"/>
                <a:ext cx="1191600" cy="991200"/>
              </a:xfrm>
              <a:prstGeom prst="roundRect">
                <a:avLst>
                  <a:gd name="adj" fmla="val 16667"/>
                </a:avLst>
              </a:prstGeom>
              <a:solidFill>
                <a:srgbClr val="C9DAF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67" name="Google Shape;667;p33"/>
              <p:cNvGrpSpPr/>
              <p:nvPr/>
            </p:nvGrpSpPr>
            <p:grpSpPr>
              <a:xfrm>
                <a:off x="4820975" y="3752250"/>
                <a:ext cx="1014598" cy="338700"/>
                <a:chOff x="4820975" y="3752250"/>
                <a:chExt cx="1014598" cy="338700"/>
              </a:xfrm>
            </p:grpSpPr>
            <p:sp>
              <p:nvSpPr>
                <p:cNvPr id="668" name="Google Shape;668;p33"/>
                <p:cNvSpPr txBox="1"/>
                <p:nvPr/>
              </p:nvSpPr>
              <p:spPr>
                <a:xfrm>
                  <a:off x="4820975" y="3752250"/>
                  <a:ext cx="4788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base</a:t>
                  </a:r>
                  <a:endParaRPr sz="4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69" name="Google Shape;669;p33"/>
                <p:cNvSpPr/>
                <p:nvPr/>
              </p:nvSpPr>
              <p:spPr>
                <a:xfrm>
                  <a:off x="5299773" y="3817950"/>
                  <a:ext cx="535800" cy="2073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0" name="Google Shape;670;p33"/>
              <p:cNvGrpSpPr/>
              <p:nvPr/>
            </p:nvGrpSpPr>
            <p:grpSpPr>
              <a:xfrm>
                <a:off x="4710926" y="4090950"/>
                <a:ext cx="1124648" cy="338700"/>
                <a:chOff x="4710926" y="4090950"/>
                <a:chExt cx="1124648" cy="338700"/>
              </a:xfrm>
            </p:grpSpPr>
            <p:sp>
              <p:nvSpPr>
                <p:cNvPr id="671" name="Google Shape;671;p33"/>
                <p:cNvSpPr txBox="1"/>
                <p:nvPr/>
              </p:nvSpPr>
              <p:spPr>
                <a:xfrm>
                  <a:off x="4710926" y="4090950"/>
                  <a:ext cx="602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bounds</a:t>
                  </a:r>
                  <a:endParaRPr sz="4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72" name="Google Shape;672;p33"/>
                <p:cNvSpPr/>
                <p:nvPr/>
              </p:nvSpPr>
              <p:spPr>
                <a:xfrm>
                  <a:off x="5299773" y="4156650"/>
                  <a:ext cx="535800" cy="2073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73" name="Google Shape;673;p33"/>
            <p:cNvSpPr txBox="1"/>
            <p:nvPr/>
          </p:nvSpPr>
          <p:spPr>
            <a:xfrm>
              <a:off x="4918225" y="3301750"/>
              <a:ext cx="7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PCB(P1)</a:t>
              </a:r>
              <a:endParaRPr sz="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74" name="Google Shape;674;p33"/>
          <p:cNvGrpSpPr/>
          <p:nvPr/>
        </p:nvGrpSpPr>
        <p:grpSpPr>
          <a:xfrm>
            <a:off x="4710925" y="5034725"/>
            <a:ext cx="1191600" cy="1266575"/>
            <a:chOff x="4710925" y="4760125"/>
            <a:chExt cx="1191600" cy="1266575"/>
          </a:xfrm>
        </p:grpSpPr>
        <p:grpSp>
          <p:nvGrpSpPr>
            <p:cNvPr id="675" name="Google Shape;675;p33"/>
            <p:cNvGrpSpPr/>
            <p:nvPr/>
          </p:nvGrpSpPr>
          <p:grpSpPr>
            <a:xfrm>
              <a:off x="4710925" y="5035500"/>
              <a:ext cx="1191600" cy="991200"/>
              <a:chOff x="4710925" y="3580800"/>
              <a:chExt cx="1191600" cy="991200"/>
            </a:xfrm>
          </p:grpSpPr>
          <p:sp>
            <p:nvSpPr>
              <p:cNvPr id="676" name="Google Shape;676;p33"/>
              <p:cNvSpPr/>
              <p:nvPr/>
            </p:nvSpPr>
            <p:spPr>
              <a:xfrm>
                <a:off x="4710925" y="3580800"/>
                <a:ext cx="1191600" cy="991200"/>
              </a:xfrm>
              <a:prstGeom prst="roundRect">
                <a:avLst>
                  <a:gd name="adj" fmla="val 16667"/>
                </a:avLst>
              </a:prstGeom>
              <a:solidFill>
                <a:srgbClr val="F4CC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7" name="Google Shape;677;p33"/>
              <p:cNvGrpSpPr/>
              <p:nvPr/>
            </p:nvGrpSpPr>
            <p:grpSpPr>
              <a:xfrm>
                <a:off x="4820975" y="3752250"/>
                <a:ext cx="1014598" cy="338700"/>
                <a:chOff x="4820975" y="3752250"/>
                <a:chExt cx="1014598" cy="338700"/>
              </a:xfrm>
            </p:grpSpPr>
            <p:sp>
              <p:nvSpPr>
                <p:cNvPr id="678" name="Google Shape;678;p33"/>
                <p:cNvSpPr txBox="1"/>
                <p:nvPr/>
              </p:nvSpPr>
              <p:spPr>
                <a:xfrm>
                  <a:off x="4820975" y="3752250"/>
                  <a:ext cx="4788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base</a:t>
                  </a:r>
                  <a:endParaRPr sz="4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79" name="Google Shape;679;p33"/>
                <p:cNvSpPr/>
                <p:nvPr/>
              </p:nvSpPr>
              <p:spPr>
                <a:xfrm>
                  <a:off x="5299773" y="3817950"/>
                  <a:ext cx="535800" cy="2073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0" name="Google Shape;680;p33"/>
              <p:cNvGrpSpPr/>
              <p:nvPr/>
            </p:nvGrpSpPr>
            <p:grpSpPr>
              <a:xfrm>
                <a:off x="4710926" y="4090950"/>
                <a:ext cx="1124648" cy="338700"/>
                <a:chOff x="4710926" y="4090950"/>
                <a:chExt cx="1124648" cy="338700"/>
              </a:xfrm>
            </p:grpSpPr>
            <p:sp>
              <p:nvSpPr>
                <p:cNvPr id="681" name="Google Shape;681;p33"/>
                <p:cNvSpPr txBox="1"/>
                <p:nvPr/>
              </p:nvSpPr>
              <p:spPr>
                <a:xfrm>
                  <a:off x="4710926" y="4090950"/>
                  <a:ext cx="602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bounds</a:t>
                  </a:r>
                  <a:endParaRPr sz="4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82" name="Google Shape;682;p33"/>
                <p:cNvSpPr/>
                <p:nvPr/>
              </p:nvSpPr>
              <p:spPr>
                <a:xfrm>
                  <a:off x="5299773" y="4156650"/>
                  <a:ext cx="535800" cy="2073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83" name="Google Shape;683;p33"/>
            <p:cNvSpPr txBox="1"/>
            <p:nvPr/>
          </p:nvSpPr>
          <p:spPr>
            <a:xfrm>
              <a:off x="4896500" y="4760125"/>
              <a:ext cx="7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PCB(P2)</a:t>
              </a:r>
              <a:endParaRPr sz="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84" name="Google Shape;684;p33"/>
          <p:cNvSpPr/>
          <p:nvPr/>
        </p:nvSpPr>
        <p:spPr>
          <a:xfrm>
            <a:off x="9706575" y="5014025"/>
            <a:ext cx="134100" cy="348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5" name="Google Shape;685;p33"/>
          <p:cNvCxnSpPr/>
          <p:nvPr/>
        </p:nvCxnSpPr>
        <p:spPr>
          <a:xfrm>
            <a:off x="8032788" y="5556950"/>
            <a:ext cx="696000" cy="4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86" name="Google Shape;686;p33"/>
          <p:cNvSpPr txBox="1"/>
          <p:nvPr/>
        </p:nvSpPr>
        <p:spPr>
          <a:xfrm>
            <a:off x="9920975" y="4849625"/>
            <a:ext cx="183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Fragmentación interna</a:t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Pregunta clave</a:t>
            </a:r>
            <a:endParaRPr dirty="0">
              <a:latin typeface="+mj-lt"/>
            </a:endParaRPr>
          </a:p>
        </p:txBody>
      </p:sp>
      <p:sp>
        <p:nvSpPr>
          <p:cNvPr id="693" name="Google Shape;693;p34"/>
          <p:cNvSpPr txBox="1"/>
          <p:nvPr/>
        </p:nvSpPr>
        <p:spPr>
          <a:xfrm>
            <a:off x="626021" y="1086707"/>
            <a:ext cx="10980959" cy="132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latin typeface="Roboto"/>
                <a:ea typeface="Roboto"/>
                <a:cs typeface="Roboto"/>
                <a:sym typeface="Roboto"/>
              </a:rPr>
              <a:t>¿Como soportar grandes espacio de d</a:t>
            </a:r>
            <a:r>
              <a:rPr lang="es-ES" sz="26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s-ES" sz="2600" b="1" dirty="0">
                <a:latin typeface="Roboto"/>
                <a:ea typeface="Roboto"/>
                <a:cs typeface="Roboto"/>
                <a:sym typeface="Roboto"/>
              </a:rPr>
              <a:t>recciones?</a:t>
            </a:r>
            <a:endParaRPr sz="2600" b="1" dirty="0">
              <a:latin typeface="Roboto"/>
              <a:ea typeface="Roboto"/>
              <a:cs typeface="Roboto"/>
              <a:sym typeface="Roboto"/>
            </a:endParaRPr>
          </a:p>
          <a:p>
            <a:pPr marL="419100" lvl="0" indent="-342900" algn="l" rtl="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s-ES" sz="2400" dirty="0">
                <a:latin typeface="Roboto"/>
                <a:ea typeface="Roboto"/>
                <a:cs typeface="Roboto"/>
                <a:sym typeface="Roboto"/>
              </a:rPr>
              <a:t>¿Cómo soportar un espacio de direcciones grande con un (potencial) espacio libre grande  entre el stack y el heap?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94" name="Google Shape;694;p34"/>
          <p:cNvGrpSpPr/>
          <p:nvPr/>
        </p:nvGrpSpPr>
        <p:grpSpPr>
          <a:xfrm>
            <a:off x="4284854" y="4018393"/>
            <a:ext cx="806322" cy="1163511"/>
            <a:chOff x="1775100" y="4022850"/>
            <a:chExt cx="1076100" cy="1739700"/>
          </a:xfrm>
        </p:grpSpPr>
        <p:sp>
          <p:nvSpPr>
            <p:cNvPr id="695" name="Google Shape;695;p34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6" name="Google Shape;696;p34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697" name="Google Shape;697;p34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98" name="Google Shape;698;p34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699" name="Google Shape;699;p34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700" name="Google Shape;700;p34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701" name="Google Shape;701;p34"/>
              <p:cNvCxnSpPr>
                <a:stCxn id="699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02" name="Google Shape;702;p34"/>
              <p:cNvCxnSpPr>
                <a:stCxn id="700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703" name="Google Shape;703;p34"/>
          <p:cNvGrpSpPr/>
          <p:nvPr/>
        </p:nvGrpSpPr>
        <p:grpSpPr>
          <a:xfrm>
            <a:off x="5937525" y="3548650"/>
            <a:ext cx="822300" cy="2103000"/>
            <a:chOff x="9574400" y="2884300"/>
            <a:chExt cx="822300" cy="2103000"/>
          </a:xfrm>
        </p:grpSpPr>
        <p:sp>
          <p:nvSpPr>
            <p:cNvPr id="704" name="Google Shape;704;p34"/>
            <p:cNvSpPr/>
            <p:nvPr/>
          </p:nvSpPr>
          <p:spPr>
            <a:xfrm>
              <a:off x="9574400" y="2884300"/>
              <a:ext cx="822300" cy="21030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5" name="Google Shape;705;p34"/>
            <p:cNvGrpSpPr/>
            <p:nvPr/>
          </p:nvGrpSpPr>
          <p:grpSpPr>
            <a:xfrm>
              <a:off x="9582392" y="3376118"/>
              <a:ext cx="806322" cy="1163511"/>
              <a:chOff x="1775100" y="4022850"/>
              <a:chExt cx="1076100" cy="1739700"/>
            </a:xfrm>
          </p:grpSpPr>
          <p:sp>
            <p:nvSpPr>
              <p:cNvPr id="706" name="Google Shape;706;p34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7" name="Google Shape;707;p34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708" name="Google Shape;708;p34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709" name="Google Shape;709;p34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710" name="Google Shape;710;p34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711" name="Google Shape;711;p34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712" name="Google Shape;712;p34"/>
                <p:cNvCxnSpPr>
                  <a:stCxn id="710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13" name="Google Shape;713;p34"/>
                <p:cNvCxnSpPr>
                  <a:stCxn id="711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cxnSp>
        <p:nvCxnSpPr>
          <p:cNvPr id="714" name="Google Shape;714;p34"/>
          <p:cNvCxnSpPr>
            <a:cxnSpLocks/>
          </p:cNvCxnSpPr>
          <p:nvPr/>
        </p:nvCxnSpPr>
        <p:spPr>
          <a:xfrm>
            <a:off x="5166338" y="4018400"/>
            <a:ext cx="696000" cy="4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15" name="Google Shape;715;p34"/>
          <p:cNvSpPr/>
          <p:nvPr/>
        </p:nvSpPr>
        <p:spPr>
          <a:xfrm>
            <a:off x="6840125" y="4638975"/>
            <a:ext cx="134100" cy="348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6" name="Google Shape;716;p34"/>
          <p:cNvCxnSpPr>
            <a:cxnSpLocks/>
          </p:cNvCxnSpPr>
          <p:nvPr/>
        </p:nvCxnSpPr>
        <p:spPr>
          <a:xfrm>
            <a:off x="5166338" y="5181900"/>
            <a:ext cx="696000" cy="4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17" name="Google Shape;717;p34"/>
          <p:cNvSpPr txBox="1"/>
          <p:nvPr/>
        </p:nvSpPr>
        <p:spPr>
          <a:xfrm>
            <a:off x="7054525" y="4474575"/>
            <a:ext cx="183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Fragmentación interna</a:t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6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112382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Segmentación</a:t>
            </a:r>
            <a:endParaRPr dirty="0">
              <a:latin typeface="+mj-lt"/>
            </a:endParaRPr>
          </a:p>
        </p:txBody>
      </p:sp>
      <p:grpSp>
        <p:nvGrpSpPr>
          <p:cNvPr id="730" name="Google Shape;730;p36"/>
          <p:cNvGrpSpPr/>
          <p:nvPr/>
        </p:nvGrpSpPr>
        <p:grpSpPr>
          <a:xfrm>
            <a:off x="1793344" y="3348211"/>
            <a:ext cx="1122049" cy="2086944"/>
            <a:chOff x="1775100" y="4022850"/>
            <a:chExt cx="1076100" cy="1739700"/>
          </a:xfrm>
        </p:grpSpPr>
        <p:sp>
          <p:nvSpPr>
            <p:cNvPr id="731" name="Google Shape;731;p36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2" name="Google Shape;732;p36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733" name="Google Shape;733;p36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34" name="Google Shape;734;p36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5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 sz="2100"/>
              </a:p>
            </p:txBody>
          </p:sp>
          <p:sp>
            <p:nvSpPr>
              <p:cNvPr id="735" name="Google Shape;735;p36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736" name="Google Shape;736;p36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737" name="Google Shape;737;p36"/>
              <p:cNvCxnSpPr>
                <a:stCxn id="735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38" name="Google Shape;738;p36"/>
              <p:cNvCxnSpPr>
                <a:stCxn id="736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aphicFrame>
        <p:nvGraphicFramePr>
          <p:cNvPr id="739" name="Google Shape;739;p36"/>
          <p:cNvGraphicFramePr/>
          <p:nvPr/>
        </p:nvGraphicFramePr>
        <p:xfrm>
          <a:off x="8388675" y="3823750"/>
          <a:ext cx="2204750" cy="18591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40" name="Google Shape;740;p36"/>
          <p:cNvGraphicFramePr/>
          <p:nvPr/>
        </p:nvGraphicFramePr>
        <p:xfrm>
          <a:off x="3274475" y="3233513"/>
          <a:ext cx="1948100" cy="231633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41" name="Google Shape;7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3279" y="2656475"/>
            <a:ext cx="1368644" cy="886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36"/>
          <p:cNvSpPr/>
          <p:nvPr/>
        </p:nvSpPr>
        <p:spPr>
          <a:xfrm>
            <a:off x="6597525" y="2361900"/>
            <a:ext cx="4180800" cy="3924600"/>
          </a:xfrm>
          <a:prstGeom prst="roundRect">
            <a:avLst>
              <a:gd name="adj" fmla="val 6826"/>
            </a:avLst>
          </a:prstGeom>
          <a:solidFill>
            <a:srgbClr val="000000">
              <a:alpha val="0"/>
            </a:srgbClr>
          </a:solidFill>
          <a:ln w="2857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3" name="Google Shape;743;p36"/>
          <p:cNvGrpSpPr/>
          <p:nvPr/>
        </p:nvGrpSpPr>
        <p:grpSpPr>
          <a:xfrm>
            <a:off x="6861569" y="3823761"/>
            <a:ext cx="1122056" cy="2086969"/>
            <a:chOff x="1775100" y="4022829"/>
            <a:chExt cx="1076106" cy="1739721"/>
          </a:xfrm>
        </p:grpSpPr>
        <p:sp>
          <p:nvSpPr>
            <p:cNvPr id="744" name="Google Shape;744;p36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5" name="Google Shape;745;p36"/>
            <p:cNvGrpSpPr/>
            <p:nvPr/>
          </p:nvGrpSpPr>
          <p:grpSpPr>
            <a:xfrm>
              <a:off x="1775100" y="4022829"/>
              <a:ext cx="1076106" cy="1739696"/>
              <a:chOff x="7948250" y="2813104"/>
              <a:chExt cx="1076106" cy="1739696"/>
            </a:xfrm>
          </p:grpSpPr>
          <p:sp>
            <p:nvSpPr>
              <p:cNvPr id="746" name="Google Shape;746;p36"/>
              <p:cNvSpPr/>
              <p:nvPr/>
            </p:nvSpPr>
            <p:spPr>
              <a:xfrm>
                <a:off x="7948256" y="2813104"/>
                <a:ext cx="1076100" cy="592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47" name="Google Shape;747;p36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748" name="Google Shape;748;p36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749" name="Google Shape;749;p36"/>
              <p:cNvCxnSpPr>
                <a:stCxn id="747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50" name="Google Shape;750;p36"/>
              <p:cNvCxnSpPr>
                <a:stCxn id="748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E6B4D9-DFD1-4036-8CDF-30C0DDB50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3736" y="1051600"/>
            <a:ext cx="11238270" cy="896258"/>
          </a:xfrm>
        </p:spPr>
        <p:txBody>
          <a:bodyPr/>
          <a:lstStyle/>
          <a:p>
            <a:r>
              <a:rPr lang="es-MX" sz="2400" b="1" dirty="0">
                <a:latin typeface="+mn-lt"/>
              </a:rPr>
              <a:t>Segmento</a:t>
            </a:r>
            <a:r>
              <a:rPr lang="es-MX" sz="2400" dirty="0">
                <a:latin typeface="+mn-lt"/>
              </a:rPr>
              <a:t>: porción contigua del espacio de direccionamiento (con un tamaño particular).</a:t>
            </a:r>
          </a:p>
          <a:p>
            <a:endParaRPr lang="es-CO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Segmentación</a:t>
            </a:r>
            <a:endParaRPr dirty="0">
              <a:latin typeface="+mj-lt"/>
            </a:endParaRPr>
          </a:p>
        </p:txBody>
      </p:sp>
      <p:grpSp>
        <p:nvGrpSpPr>
          <p:cNvPr id="757" name="Google Shape;757;p37"/>
          <p:cNvGrpSpPr/>
          <p:nvPr/>
        </p:nvGrpSpPr>
        <p:grpSpPr>
          <a:xfrm>
            <a:off x="2843219" y="3079699"/>
            <a:ext cx="1122056" cy="2086969"/>
            <a:chOff x="1775100" y="4022829"/>
            <a:chExt cx="1076106" cy="1739721"/>
          </a:xfrm>
        </p:grpSpPr>
        <p:sp>
          <p:nvSpPr>
            <p:cNvPr id="758" name="Google Shape;758;p37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9" name="Google Shape;759;p37"/>
            <p:cNvGrpSpPr/>
            <p:nvPr/>
          </p:nvGrpSpPr>
          <p:grpSpPr>
            <a:xfrm>
              <a:off x="1775100" y="4022829"/>
              <a:ext cx="1076106" cy="1739696"/>
              <a:chOff x="7948250" y="2813104"/>
              <a:chExt cx="1076106" cy="1739696"/>
            </a:xfrm>
          </p:grpSpPr>
          <p:sp>
            <p:nvSpPr>
              <p:cNvPr id="760" name="Google Shape;760;p37"/>
              <p:cNvSpPr/>
              <p:nvPr/>
            </p:nvSpPr>
            <p:spPr>
              <a:xfrm>
                <a:off x="7948256" y="2813104"/>
                <a:ext cx="1076100" cy="592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61" name="Google Shape;761;p37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762" name="Google Shape;762;p37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763" name="Google Shape;763;p37"/>
              <p:cNvCxnSpPr>
                <a:stCxn id="761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64" name="Google Shape;764;p37"/>
              <p:cNvCxnSpPr>
                <a:stCxn id="762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765" name="Google Shape;765;p37"/>
          <p:cNvGrpSpPr/>
          <p:nvPr/>
        </p:nvGrpSpPr>
        <p:grpSpPr>
          <a:xfrm>
            <a:off x="5286069" y="2398650"/>
            <a:ext cx="1122006" cy="3442200"/>
            <a:chOff x="7643519" y="3004850"/>
            <a:chExt cx="1122006" cy="3442200"/>
          </a:xfrm>
        </p:grpSpPr>
        <p:sp>
          <p:nvSpPr>
            <p:cNvPr id="766" name="Google Shape;766;p37"/>
            <p:cNvSpPr/>
            <p:nvPr/>
          </p:nvSpPr>
          <p:spPr>
            <a:xfrm>
              <a:off x="7643525" y="3004850"/>
              <a:ext cx="1122000" cy="34422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7"/>
            <p:cNvSpPr/>
            <p:nvPr/>
          </p:nvSpPr>
          <p:spPr>
            <a:xfrm>
              <a:off x="7643525" y="4220086"/>
              <a:ext cx="1122000" cy="711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Code</a:t>
              </a:r>
              <a:endParaRPr sz="16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68" name="Google Shape;768;p37"/>
            <p:cNvSpPr/>
            <p:nvPr/>
          </p:nvSpPr>
          <p:spPr>
            <a:xfrm>
              <a:off x="7643519" y="3675634"/>
              <a:ext cx="1122000" cy="3411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stack</a:t>
              </a:r>
              <a:endParaRPr sz="2200" dirty="0"/>
            </a:p>
          </p:txBody>
        </p:sp>
        <p:sp>
          <p:nvSpPr>
            <p:cNvPr id="769" name="Google Shape;769;p37"/>
            <p:cNvSpPr/>
            <p:nvPr/>
          </p:nvSpPr>
          <p:spPr>
            <a:xfrm>
              <a:off x="7643519" y="5187434"/>
              <a:ext cx="1122000" cy="3411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2200" dirty="0"/>
            </a:p>
          </p:txBody>
        </p:sp>
        <p:cxnSp>
          <p:nvCxnSpPr>
            <p:cNvPr id="770" name="Google Shape;770;p37"/>
            <p:cNvCxnSpPr/>
            <p:nvPr/>
          </p:nvCxnSpPr>
          <p:spPr>
            <a:xfrm rot="10800000" flipH="1">
              <a:off x="8202268" y="3396334"/>
              <a:ext cx="4500" cy="279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71" name="Google Shape;771;p37"/>
            <p:cNvCxnSpPr/>
            <p:nvPr/>
          </p:nvCxnSpPr>
          <p:spPr>
            <a:xfrm>
              <a:off x="8200918" y="5528525"/>
              <a:ext cx="7200" cy="313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772" name="Google Shape;772;p37"/>
          <p:cNvCxnSpPr>
            <a:stCxn id="760" idx="3"/>
            <a:endCxn id="767" idx="1"/>
          </p:cNvCxnSpPr>
          <p:nvPr/>
        </p:nvCxnSpPr>
        <p:spPr>
          <a:xfrm>
            <a:off x="3965274" y="3435260"/>
            <a:ext cx="1320900" cy="534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3" name="Google Shape;773;p37"/>
          <p:cNvCxnSpPr>
            <a:stCxn id="761" idx="3"/>
            <a:endCxn id="769" idx="1"/>
          </p:cNvCxnSpPr>
          <p:nvPr/>
        </p:nvCxnSpPr>
        <p:spPr>
          <a:xfrm>
            <a:off x="3965268" y="3961580"/>
            <a:ext cx="1320900" cy="79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4" name="Google Shape;774;p37"/>
          <p:cNvCxnSpPr>
            <a:stCxn id="762" idx="3"/>
            <a:endCxn id="768" idx="1"/>
          </p:cNvCxnSpPr>
          <p:nvPr/>
        </p:nvCxnSpPr>
        <p:spPr>
          <a:xfrm rot="10800000" flipH="1">
            <a:off x="3965268" y="3239855"/>
            <a:ext cx="1320900" cy="17562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775" name="Google Shape;775;p37"/>
          <p:cNvGraphicFramePr/>
          <p:nvPr/>
        </p:nvGraphicFramePr>
        <p:xfrm>
          <a:off x="7161425" y="3427098"/>
          <a:ext cx="4028600" cy="18591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2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0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CBCDEB-2704-4401-A2B1-653CE5C5E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668" y="984542"/>
            <a:ext cx="10515600" cy="1023072"/>
          </a:xfrm>
        </p:spPr>
        <p:txBody>
          <a:bodyPr/>
          <a:lstStyle/>
          <a:p>
            <a:r>
              <a:rPr lang="es-MX" sz="2400" b="1" dirty="0">
                <a:latin typeface="+mn-lt"/>
              </a:rPr>
              <a:t>Idea clave</a:t>
            </a:r>
            <a:r>
              <a:rPr lang="es-MX" sz="2400" dirty="0">
                <a:latin typeface="+mn-lt"/>
              </a:rPr>
              <a:t>: Cada segmento puede ser ubicado en una parte diferentes de la memoria física.</a:t>
            </a:r>
          </a:p>
          <a:p>
            <a:endParaRPr lang="es-CO" sz="2400" dirty="0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8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Segmentación</a:t>
            </a:r>
            <a:endParaRPr dirty="0">
              <a:latin typeface="+mj-lt"/>
            </a:endParaRPr>
          </a:p>
        </p:txBody>
      </p:sp>
      <p:grpSp>
        <p:nvGrpSpPr>
          <p:cNvPr id="782" name="Google Shape;782;p38"/>
          <p:cNvGrpSpPr/>
          <p:nvPr/>
        </p:nvGrpSpPr>
        <p:grpSpPr>
          <a:xfrm>
            <a:off x="2267294" y="3219350"/>
            <a:ext cx="3564856" cy="3442200"/>
            <a:chOff x="2320844" y="3135350"/>
            <a:chExt cx="3564856" cy="3442200"/>
          </a:xfrm>
        </p:grpSpPr>
        <p:grpSp>
          <p:nvGrpSpPr>
            <p:cNvPr id="783" name="Google Shape;783;p38"/>
            <p:cNvGrpSpPr/>
            <p:nvPr/>
          </p:nvGrpSpPr>
          <p:grpSpPr>
            <a:xfrm>
              <a:off x="2320844" y="3816399"/>
              <a:ext cx="1122056" cy="2086969"/>
              <a:chOff x="1775100" y="4022829"/>
              <a:chExt cx="1076106" cy="1739721"/>
            </a:xfrm>
          </p:grpSpPr>
          <p:sp>
            <p:nvSpPr>
              <p:cNvPr id="784" name="Google Shape;784;p38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85" name="Google Shape;785;p38"/>
              <p:cNvGrpSpPr/>
              <p:nvPr/>
            </p:nvGrpSpPr>
            <p:grpSpPr>
              <a:xfrm>
                <a:off x="1775100" y="4022829"/>
                <a:ext cx="1076106" cy="1739696"/>
                <a:chOff x="7948250" y="2813104"/>
                <a:chExt cx="1076106" cy="1739696"/>
              </a:xfrm>
            </p:grpSpPr>
            <p:sp>
              <p:nvSpPr>
                <p:cNvPr id="786" name="Google Shape;786;p38"/>
                <p:cNvSpPr/>
                <p:nvPr/>
              </p:nvSpPr>
              <p:spPr>
                <a:xfrm>
                  <a:off x="7948256" y="2813104"/>
                  <a:ext cx="1076100" cy="5928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787" name="Google Shape;787;p38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2200" dirty="0"/>
                </a:p>
              </p:txBody>
            </p:sp>
            <p:sp>
              <p:nvSpPr>
                <p:cNvPr id="788" name="Google Shape;788;p38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2200" dirty="0"/>
                </a:p>
              </p:txBody>
            </p:sp>
            <p:cxnSp>
              <p:nvCxnSpPr>
                <p:cNvPr id="789" name="Google Shape;789;p38"/>
                <p:cNvCxnSpPr>
                  <a:stCxn id="787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90" name="Google Shape;790;p38"/>
                <p:cNvCxnSpPr>
                  <a:stCxn id="788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791" name="Google Shape;791;p38"/>
            <p:cNvGrpSpPr/>
            <p:nvPr/>
          </p:nvGrpSpPr>
          <p:grpSpPr>
            <a:xfrm>
              <a:off x="4763694" y="3135350"/>
              <a:ext cx="1122006" cy="3442200"/>
              <a:chOff x="7643519" y="3004850"/>
              <a:chExt cx="1122006" cy="3442200"/>
            </a:xfrm>
          </p:grpSpPr>
          <p:sp>
            <p:nvSpPr>
              <p:cNvPr id="792" name="Google Shape;792;p38"/>
              <p:cNvSpPr/>
              <p:nvPr/>
            </p:nvSpPr>
            <p:spPr>
              <a:xfrm>
                <a:off x="7643525" y="3004850"/>
                <a:ext cx="1122000" cy="34422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38"/>
              <p:cNvSpPr/>
              <p:nvPr/>
            </p:nvSpPr>
            <p:spPr>
              <a:xfrm>
                <a:off x="7643525" y="4220086"/>
                <a:ext cx="1122000" cy="711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94" name="Google Shape;794;p38"/>
              <p:cNvSpPr/>
              <p:nvPr/>
            </p:nvSpPr>
            <p:spPr>
              <a:xfrm>
                <a:off x="7643519" y="3675634"/>
                <a:ext cx="1122000" cy="3411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sp>
            <p:nvSpPr>
              <p:cNvPr id="795" name="Google Shape;795;p38"/>
              <p:cNvSpPr/>
              <p:nvPr/>
            </p:nvSpPr>
            <p:spPr>
              <a:xfrm>
                <a:off x="7643519" y="5187434"/>
                <a:ext cx="1122000" cy="3411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cxnSp>
            <p:nvCxnSpPr>
              <p:cNvPr id="796" name="Google Shape;796;p38"/>
              <p:cNvCxnSpPr/>
              <p:nvPr/>
            </p:nvCxnSpPr>
            <p:spPr>
              <a:xfrm rot="10800000" flipH="1">
                <a:off x="8202268" y="3396334"/>
                <a:ext cx="4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97" name="Google Shape;797;p38"/>
              <p:cNvCxnSpPr/>
              <p:nvPr/>
            </p:nvCxnSpPr>
            <p:spPr>
              <a:xfrm>
                <a:off x="8200918" y="5528525"/>
                <a:ext cx="7200" cy="31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cxnSp>
          <p:nvCxnSpPr>
            <p:cNvPr id="798" name="Google Shape;798;p38"/>
            <p:cNvCxnSpPr>
              <a:stCxn id="786" idx="3"/>
              <a:endCxn id="793" idx="1"/>
            </p:cNvCxnSpPr>
            <p:nvPr/>
          </p:nvCxnSpPr>
          <p:spPr>
            <a:xfrm>
              <a:off x="3442899" y="4171960"/>
              <a:ext cx="1320900" cy="5340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9" name="Google Shape;799;p38"/>
            <p:cNvCxnSpPr>
              <a:stCxn id="787" idx="3"/>
              <a:endCxn id="795" idx="1"/>
            </p:cNvCxnSpPr>
            <p:nvPr/>
          </p:nvCxnSpPr>
          <p:spPr>
            <a:xfrm>
              <a:off x="3442893" y="4698280"/>
              <a:ext cx="1320900" cy="7902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0" name="Google Shape;800;p38"/>
            <p:cNvCxnSpPr>
              <a:stCxn id="788" idx="3"/>
              <a:endCxn id="794" idx="1"/>
            </p:cNvCxnSpPr>
            <p:nvPr/>
          </p:nvCxnSpPr>
          <p:spPr>
            <a:xfrm rot="10800000" flipH="1">
              <a:off x="3442893" y="3976555"/>
              <a:ext cx="1320900" cy="17562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01" name="Google Shape;801;p38"/>
          <p:cNvGrpSpPr/>
          <p:nvPr/>
        </p:nvGrpSpPr>
        <p:grpSpPr>
          <a:xfrm>
            <a:off x="7224425" y="3135350"/>
            <a:ext cx="4005000" cy="3526200"/>
            <a:chOff x="7148225" y="3135350"/>
            <a:chExt cx="4005000" cy="3526200"/>
          </a:xfrm>
        </p:grpSpPr>
        <p:sp>
          <p:nvSpPr>
            <p:cNvPr id="802" name="Google Shape;802;p38"/>
            <p:cNvSpPr/>
            <p:nvPr/>
          </p:nvSpPr>
          <p:spPr>
            <a:xfrm>
              <a:off x="7148225" y="3135350"/>
              <a:ext cx="4005000" cy="35262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03" name="Google Shape;803;p38"/>
            <p:cNvSpPr txBox="1"/>
            <p:nvPr/>
          </p:nvSpPr>
          <p:spPr>
            <a:xfrm>
              <a:off x="8360056" y="3135357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04" name="Google Shape;804;p38"/>
            <p:cNvSpPr/>
            <p:nvPr/>
          </p:nvSpPr>
          <p:spPr>
            <a:xfrm>
              <a:off x="8802311" y="3558789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805" name="Google Shape;805;p38"/>
            <p:cNvCxnSpPr>
              <a:stCxn id="804" idx="4"/>
              <a:endCxn id="806" idx="0"/>
            </p:cNvCxnSpPr>
            <p:nvPr/>
          </p:nvCxnSpPr>
          <p:spPr>
            <a:xfrm>
              <a:off x="9152111" y="4280589"/>
              <a:ext cx="0" cy="345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807" name="Google Shape;807;p38"/>
            <p:cNvGrpSpPr/>
            <p:nvPr/>
          </p:nvGrpSpPr>
          <p:grpSpPr>
            <a:xfrm>
              <a:off x="7691895" y="4580223"/>
              <a:ext cx="2920431" cy="1904411"/>
              <a:chOff x="8597231" y="3675891"/>
              <a:chExt cx="4880400" cy="1753278"/>
            </a:xfrm>
          </p:grpSpPr>
          <p:sp>
            <p:nvSpPr>
              <p:cNvPr id="806" name="Google Shape;806;p38"/>
              <p:cNvSpPr/>
              <p:nvPr/>
            </p:nvSpPr>
            <p:spPr>
              <a:xfrm>
                <a:off x="8597231" y="3717969"/>
                <a:ext cx="4880400" cy="17112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808" name="Google Shape;808;p38"/>
              <p:cNvSpPr txBox="1"/>
              <p:nvPr/>
            </p:nvSpPr>
            <p:spPr>
              <a:xfrm>
                <a:off x="10593876" y="3675891"/>
                <a:ext cx="887101" cy="396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MMU</a:t>
                </a:r>
                <a:endParaRPr sz="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aphicFrame>
        <p:nvGraphicFramePr>
          <p:cNvPr id="809" name="Google Shape;809;p38"/>
          <p:cNvGraphicFramePr/>
          <p:nvPr/>
        </p:nvGraphicFramePr>
        <p:xfrm>
          <a:off x="7988075" y="4959147"/>
          <a:ext cx="2477700" cy="13410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8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D5353D-D142-4C01-AF81-91D0CE44F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4343" y="947133"/>
            <a:ext cx="11047385" cy="1842878"/>
          </a:xfrm>
        </p:spPr>
        <p:txBody>
          <a:bodyPr/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MX" sz="2800" dirty="0">
                <a:latin typeface="+mn-lt"/>
              </a:rPr>
              <a:t>Cada </a:t>
            </a:r>
            <a:r>
              <a:rPr lang="es-MX" sz="2800" b="1" dirty="0">
                <a:latin typeface="+mn-lt"/>
              </a:rPr>
              <a:t>segmento</a:t>
            </a:r>
            <a:r>
              <a:rPr lang="es-MX" sz="2800" dirty="0">
                <a:latin typeface="+mn-lt"/>
              </a:rPr>
              <a:t> puede ser ubicado en una parte diferentes de la memoria física tiene sus propios registros </a:t>
            </a:r>
            <a:r>
              <a:rPr lang="es-MX" sz="2800" b="1" dirty="0">
                <a:latin typeface="+mn-lt"/>
              </a:rPr>
              <a:t>base &amp; bounds</a:t>
            </a:r>
            <a:r>
              <a:rPr lang="es-MX" sz="2800" dirty="0">
                <a:latin typeface="+mn-lt"/>
              </a:rPr>
              <a:t>.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MX" sz="2800" dirty="0">
                <a:latin typeface="+mn-lt"/>
              </a:rPr>
              <a:t>La MMU tendrá una tabla con tres pares de registros donde cada uno de estos pares estará relacionado a un segmento.</a:t>
            </a:r>
          </a:p>
          <a:p>
            <a:endParaRPr lang="es-CO" dirty="0">
              <a:latin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n-lt"/>
              </a:rPr>
              <a:t>Traducción de direcciones (I)</a:t>
            </a:r>
            <a:endParaRPr sz="3200" b="0" dirty="0">
              <a:solidFill>
                <a:srgbClr val="701E5C"/>
              </a:solidFill>
              <a:latin typeface="+mn-lt"/>
              <a:sym typeface="Roboto Slab"/>
            </a:endParaRPr>
          </a:p>
        </p:txBody>
      </p:sp>
      <p:sp>
        <p:nvSpPr>
          <p:cNvPr id="821" name="Google Shape;821;p40"/>
          <p:cNvSpPr txBox="1">
            <a:spLocks noGrp="1"/>
          </p:cNvSpPr>
          <p:nvPr>
            <p:ph type="body" idx="1"/>
          </p:nvPr>
        </p:nvSpPr>
        <p:spPr>
          <a:xfrm>
            <a:off x="916650" y="913675"/>
            <a:ext cx="10651800" cy="208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822" name="Google Shape;8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144" y="1120763"/>
            <a:ext cx="2238831" cy="55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87900" y="1769500"/>
            <a:ext cx="2362650" cy="4269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4" name="Google Shape;824;p40"/>
          <p:cNvGrpSpPr/>
          <p:nvPr/>
        </p:nvGrpSpPr>
        <p:grpSpPr>
          <a:xfrm>
            <a:off x="4670581" y="2935953"/>
            <a:ext cx="3616864" cy="2546722"/>
            <a:chOff x="8597218" y="3717980"/>
            <a:chExt cx="4880400" cy="2036400"/>
          </a:xfrm>
        </p:grpSpPr>
        <p:sp>
          <p:nvSpPr>
            <p:cNvPr id="825" name="Google Shape;825;p40"/>
            <p:cNvSpPr/>
            <p:nvPr/>
          </p:nvSpPr>
          <p:spPr>
            <a:xfrm>
              <a:off x="8597218" y="3717980"/>
              <a:ext cx="4880400" cy="20364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26" name="Google Shape;826;p40"/>
            <p:cNvSpPr txBox="1"/>
            <p:nvPr/>
          </p:nvSpPr>
          <p:spPr>
            <a:xfrm>
              <a:off x="10593875" y="3778912"/>
              <a:ext cx="887100" cy="4431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AT</a:t>
              </a:r>
              <a:endParaRPr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827" name="Google Shape;827;p40"/>
          <p:cNvGraphicFramePr/>
          <p:nvPr/>
        </p:nvGraphicFramePr>
        <p:xfrm>
          <a:off x="5080513" y="3499148"/>
          <a:ext cx="2796975" cy="171039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28" name="Google Shape;828;p40"/>
          <p:cNvCxnSpPr>
            <a:endCxn id="825" idx="1"/>
          </p:cNvCxnSpPr>
          <p:nvPr/>
        </p:nvCxnSpPr>
        <p:spPr>
          <a:xfrm>
            <a:off x="3880081" y="4197013"/>
            <a:ext cx="790500" cy="12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9" name="Google Shape;829;p40"/>
          <p:cNvCxnSpPr/>
          <p:nvPr/>
        </p:nvCxnSpPr>
        <p:spPr>
          <a:xfrm>
            <a:off x="8287456" y="4348188"/>
            <a:ext cx="790500" cy="12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0" name="Google Shape;830;p40"/>
          <p:cNvSpPr txBox="1"/>
          <p:nvPr/>
        </p:nvSpPr>
        <p:spPr>
          <a:xfrm>
            <a:off x="3303654" y="3941579"/>
            <a:ext cx="65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6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1" name="Google Shape;831;p40"/>
          <p:cNvSpPr txBox="1"/>
          <p:nvPr/>
        </p:nvSpPr>
        <p:spPr>
          <a:xfrm>
            <a:off x="9001754" y="4092754"/>
            <a:ext cx="65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6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1"/>
          <p:cNvSpPr txBox="1">
            <a:spLocks noGrp="1"/>
          </p:cNvSpPr>
          <p:nvPr>
            <p:ph type="title"/>
          </p:nvPr>
        </p:nvSpPr>
        <p:spPr>
          <a:xfrm>
            <a:off x="324465" y="96038"/>
            <a:ext cx="1053034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n-lt"/>
              </a:rPr>
              <a:t>Traducción de direcciones (I)</a:t>
            </a:r>
            <a:endParaRPr b="0" dirty="0">
              <a:latin typeface="+mn-lt"/>
            </a:endParaRPr>
          </a:p>
        </p:txBody>
      </p:sp>
      <p:sp>
        <p:nvSpPr>
          <p:cNvPr id="837" name="Google Shape;837;p41"/>
          <p:cNvSpPr txBox="1">
            <a:spLocks noGrp="1"/>
          </p:cNvSpPr>
          <p:nvPr>
            <p:ph type="body" idx="1"/>
          </p:nvPr>
        </p:nvSpPr>
        <p:spPr>
          <a:xfrm>
            <a:off x="324465" y="833325"/>
            <a:ext cx="11243985" cy="11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Segmento code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En este segmento se cumple que: 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VA = offset</a:t>
            </a:r>
            <a:endParaRPr sz="20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838" name="Google Shape;838;p41"/>
          <p:cNvGrpSpPr/>
          <p:nvPr/>
        </p:nvGrpSpPr>
        <p:grpSpPr>
          <a:xfrm>
            <a:off x="1075000" y="2758050"/>
            <a:ext cx="4636464" cy="637200"/>
            <a:chOff x="5127833" y="1665575"/>
            <a:chExt cx="3048300" cy="637200"/>
          </a:xfrm>
        </p:grpSpPr>
        <p:sp>
          <p:nvSpPr>
            <p:cNvPr id="839" name="Google Shape;839;p41"/>
            <p:cNvSpPr/>
            <p:nvPr/>
          </p:nvSpPr>
          <p:spPr>
            <a:xfrm>
              <a:off x="5127833" y="1665575"/>
              <a:ext cx="30483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1"/>
            <p:cNvSpPr txBox="1"/>
            <p:nvPr/>
          </p:nvSpPr>
          <p:spPr>
            <a:xfrm>
              <a:off x="5215999" y="1707125"/>
              <a:ext cx="277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PA = </a:t>
              </a: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+ base(code)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841" name="Google Shape;841;p41"/>
          <p:cNvSpPr txBox="1"/>
          <p:nvPr/>
        </p:nvSpPr>
        <p:spPr>
          <a:xfrm>
            <a:off x="6061450" y="1855950"/>
            <a:ext cx="56562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latin typeface="Consolas"/>
                <a:ea typeface="Consolas"/>
                <a:cs typeface="Consolas"/>
                <a:sym typeface="Consolas"/>
              </a:rPr>
              <a:t>Donde:</a:t>
            </a:r>
            <a:endParaRPr sz="24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offset segmento code.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base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Valor del registro base del segmento code.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PA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Physical Address.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42" name="Google Shape;842;p41"/>
          <p:cNvGraphicFramePr/>
          <p:nvPr/>
        </p:nvGraphicFramePr>
        <p:xfrm>
          <a:off x="1709813" y="4619272"/>
          <a:ext cx="2796975" cy="171039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43" name="Google Shape;84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4738" y="3691975"/>
            <a:ext cx="3295650" cy="2847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4" name="Google Shape;844;p41"/>
          <p:cNvGrpSpPr/>
          <p:nvPr/>
        </p:nvGrpSpPr>
        <p:grpSpPr>
          <a:xfrm>
            <a:off x="1074650" y="1978725"/>
            <a:ext cx="4636248" cy="637200"/>
            <a:chOff x="5127836" y="1665575"/>
            <a:chExt cx="3132600" cy="637200"/>
          </a:xfrm>
        </p:grpSpPr>
        <p:sp>
          <p:nvSpPr>
            <p:cNvPr id="845" name="Google Shape;845;p41"/>
            <p:cNvSpPr/>
            <p:nvPr/>
          </p:nvSpPr>
          <p:spPr>
            <a:xfrm>
              <a:off x="5127836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1"/>
            <p:cNvSpPr txBox="1"/>
            <p:nvPr/>
          </p:nvSpPr>
          <p:spPr>
            <a:xfrm>
              <a:off x="5410761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= VA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47" name="Google Shape;847;p41"/>
          <p:cNvGrpSpPr/>
          <p:nvPr/>
        </p:nvGrpSpPr>
        <p:grpSpPr>
          <a:xfrm>
            <a:off x="1074538" y="3537363"/>
            <a:ext cx="4636464" cy="637200"/>
            <a:chOff x="5127833" y="1665575"/>
            <a:chExt cx="3048300" cy="637200"/>
          </a:xfrm>
        </p:grpSpPr>
        <p:sp>
          <p:nvSpPr>
            <p:cNvPr id="848" name="Google Shape;848;p41"/>
            <p:cNvSpPr/>
            <p:nvPr/>
          </p:nvSpPr>
          <p:spPr>
            <a:xfrm>
              <a:off x="5127833" y="1665575"/>
              <a:ext cx="3048300" cy="637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1"/>
            <p:cNvSpPr txBox="1"/>
            <p:nvPr/>
          </p:nvSpPr>
          <p:spPr>
            <a:xfrm>
              <a:off x="5215999" y="1707125"/>
              <a:ext cx="277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</a:t>
              </a: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&lt; size(code)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2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886668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n-lt"/>
              </a:rPr>
              <a:t>Traducción de direcciones (I)</a:t>
            </a:r>
            <a:endParaRPr b="0" dirty="0">
              <a:latin typeface="+mn-lt"/>
            </a:endParaRPr>
          </a:p>
        </p:txBody>
      </p:sp>
      <p:sp>
        <p:nvSpPr>
          <p:cNvPr id="855" name="Google Shape;855;p42"/>
          <p:cNvSpPr txBox="1">
            <a:spLocks noGrp="1"/>
          </p:cNvSpPr>
          <p:nvPr>
            <p:ph type="body" idx="1"/>
          </p:nvPr>
        </p:nvSpPr>
        <p:spPr>
          <a:xfrm>
            <a:off x="191729" y="886900"/>
            <a:ext cx="4510971" cy="571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Segmento code - Ejemplo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Chequear límites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Obtener la dirección física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856" name="Google Shape;856;p42"/>
          <p:cNvGrpSpPr/>
          <p:nvPr/>
        </p:nvGrpSpPr>
        <p:grpSpPr>
          <a:xfrm>
            <a:off x="880489" y="2140612"/>
            <a:ext cx="3646980" cy="492426"/>
            <a:chOff x="1036325" y="2068050"/>
            <a:chExt cx="3071400" cy="497400"/>
          </a:xfrm>
        </p:grpSpPr>
        <p:sp>
          <p:nvSpPr>
            <p:cNvPr id="857" name="Google Shape;857;p42"/>
            <p:cNvSpPr/>
            <p:nvPr/>
          </p:nvSpPr>
          <p:spPr>
            <a:xfrm>
              <a:off x="1036325" y="2068050"/>
              <a:ext cx="30714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/>
            <p:cNvSpPr txBox="1"/>
            <p:nvPr/>
          </p:nvSpPr>
          <p:spPr>
            <a:xfrm>
              <a:off x="1096548" y="2068050"/>
              <a:ext cx="29832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0 &lt;= </a:t>
              </a:r>
              <a:r>
                <a:rPr lang="es-ES" sz="20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 &lt; size(code)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859" name="Google Shape;8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700" y="3243957"/>
            <a:ext cx="7288147" cy="30093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0" name="Google Shape;860;p42"/>
          <p:cNvGraphicFramePr/>
          <p:nvPr>
            <p:extLst>
              <p:ext uri="{D42A27DB-BD31-4B8C-83A1-F6EECF244321}">
                <p14:modId xmlns:p14="http://schemas.microsoft.com/office/powerpoint/2010/main" val="890270387"/>
              </p:ext>
            </p:extLst>
          </p:nvPr>
        </p:nvGraphicFramePr>
        <p:xfrm>
          <a:off x="5216229" y="2201596"/>
          <a:ext cx="2512416" cy="85338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42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61" name="Google Shape;861;p42"/>
          <p:cNvGrpSpPr/>
          <p:nvPr/>
        </p:nvGrpSpPr>
        <p:grpSpPr>
          <a:xfrm>
            <a:off x="883310" y="4072223"/>
            <a:ext cx="3647100" cy="492600"/>
            <a:chOff x="1036325" y="2068050"/>
            <a:chExt cx="3647100" cy="492600"/>
          </a:xfrm>
        </p:grpSpPr>
        <p:sp>
          <p:nvSpPr>
            <p:cNvPr id="862" name="Google Shape;862;p42"/>
            <p:cNvSpPr/>
            <p:nvPr/>
          </p:nvSpPr>
          <p:spPr>
            <a:xfrm>
              <a:off x="1036325" y="2068050"/>
              <a:ext cx="36471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/>
            <p:cNvSpPr txBox="1"/>
            <p:nvPr/>
          </p:nvSpPr>
          <p:spPr>
            <a:xfrm>
              <a:off x="1114600" y="2068050"/>
              <a:ext cx="356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PA = </a:t>
              </a:r>
              <a:r>
                <a:rPr lang="es-ES" sz="20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 </a:t>
              </a: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+ base(code)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864" name="Google Shape;864;p42"/>
          <p:cNvSpPr txBox="1"/>
          <p:nvPr/>
        </p:nvSpPr>
        <p:spPr>
          <a:xfrm>
            <a:off x="1865300" y="2782256"/>
            <a:ext cx="190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0 &lt; 100 &lt; 2K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5" name="Google Shape;865;p42"/>
          <p:cNvSpPr txBox="1"/>
          <p:nvPr/>
        </p:nvSpPr>
        <p:spPr>
          <a:xfrm>
            <a:off x="4787305" y="886900"/>
            <a:ext cx="7050734" cy="98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¿Cuál es la </a:t>
            </a:r>
            <a:r>
              <a:rPr lang="es-ES" sz="22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PA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100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?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VA ubicada en el code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VA = 100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6" name="Google Shape;866;p42"/>
          <p:cNvSpPr txBox="1"/>
          <p:nvPr/>
        </p:nvSpPr>
        <p:spPr>
          <a:xfrm>
            <a:off x="1233410" y="4662983"/>
            <a:ext cx="2946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PA = 100 + 32K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100 + 32(1024)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 = 32868</a:t>
            </a:r>
            <a:endParaRPr sz="18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3"/>
          <p:cNvSpPr txBox="1">
            <a:spLocks noGrp="1"/>
          </p:cNvSpPr>
          <p:nvPr>
            <p:ph type="title"/>
          </p:nvPr>
        </p:nvSpPr>
        <p:spPr>
          <a:xfrm>
            <a:off x="309716" y="96038"/>
            <a:ext cx="891093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j-lt"/>
              </a:rPr>
              <a:t>Traducción de direcciones (I)</a:t>
            </a:r>
            <a:endParaRPr b="0" dirty="0">
              <a:latin typeface="+mj-lt"/>
            </a:endParaRPr>
          </a:p>
        </p:txBody>
      </p:sp>
      <p:sp>
        <p:nvSpPr>
          <p:cNvPr id="872" name="Google Shape;872;p43"/>
          <p:cNvSpPr txBox="1">
            <a:spLocks noGrp="1"/>
          </p:cNvSpPr>
          <p:nvPr>
            <p:ph type="body" idx="1"/>
          </p:nvPr>
        </p:nvSpPr>
        <p:spPr>
          <a:xfrm>
            <a:off x="427702" y="819925"/>
            <a:ext cx="11454581" cy="11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Segmento heap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En este caso </a:t>
            </a:r>
            <a:r>
              <a:rPr lang="es-ES" sz="24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+ offset</a:t>
            </a:r>
            <a:r>
              <a:rPr lang="es-ES" sz="2400" b="1" dirty="0">
                <a:solidFill>
                  <a:srgbClr val="FF0000"/>
                </a:solidFill>
                <a:latin typeface="+mn-lt"/>
                <a:ea typeface="Consolas"/>
                <a:cs typeface="Consolas"/>
                <a:sym typeface="Consolas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no es la dirección física correcta</a:t>
            </a:r>
            <a:endParaRPr sz="2400" b="1" dirty="0">
              <a:solidFill>
                <a:srgbClr val="FF0000"/>
              </a:solidFill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873" name="Google Shape;873;p43"/>
          <p:cNvGrpSpPr/>
          <p:nvPr/>
        </p:nvGrpSpPr>
        <p:grpSpPr>
          <a:xfrm>
            <a:off x="1118628" y="2063846"/>
            <a:ext cx="4636561" cy="637200"/>
            <a:chOff x="6050601" y="1607225"/>
            <a:chExt cx="3132600" cy="637200"/>
          </a:xfrm>
        </p:grpSpPr>
        <p:sp>
          <p:nvSpPr>
            <p:cNvPr id="874" name="Google Shape;874;p43"/>
            <p:cNvSpPr/>
            <p:nvPr/>
          </p:nvSpPr>
          <p:spPr>
            <a:xfrm>
              <a:off x="6050601" y="160722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3"/>
            <p:cNvSpPr txBox="1"/>
            <p:nvPr/>
          </p:nvSpPr>
          <p:spPr>
            <a:xfrm>
              <a:off x="6333526" y="164877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= VA - VA(heap)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876" name="Google Shape;876;p43"/>
          <p:cNvGraphicFramePr/>
          <p:nvPr>
            <p:extLst>
              <p:ext uri="{D42A27DB-BD31-4B8C-83A1-F6EECF244321}">
                <p14:modId xmlns:p14="http://schemas.microsoft.com/office/powerpoint/2010/main" val="1248579365"/>
              </p:ext>
            </p:extLst>
          </p:nvPr>
        </p:nvGraphicFramePr>
        <p:xfrm>
          <a:off x="2126375" y="4609012"/>
          <a:ext cx="2796975" cy="171039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32K</a:t>
                      </a:r>
                      <a:endParaRPr sz="1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77" name="Google Shape;87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2048" y="2428362"/>
            <a:ext cx="3495675" cy="3324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8" name="Google Shape;878;p43"/>
          <p:cNvGrpSpPr/>
          <p:nvPr/>
        </p:nvGrpSpPr>
        <p:grpSpPr>
          <a:xfrm>
            <a:off x="1118628" y="2939527"/>
            <a:ext cx="4636561" cy="637200"/>
            <a:chOff x="6050601" y="1443225"/>
            <a:chExt cx="3132600" cy="637200"/>
          </a:xfrm>
        </p:grpSpPr>
        <p:sp>
          <p:nvSpPr>
            <p:cNvPr id="879" name="Google Shape;879;p43"/>
            <p:cNvSpPr/>
            <p:nvPr/>
          </p:nvSpPr>
          <p:spPr>
            <a:xfrm>
              <a:off x="6050601" y="144322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3"/>
            <p:cNvSpPr txBox="1"/>
            <p:nvPr/>
          </p:nvSpPr>
          <p:spPr>
            <a:xfrm>
              <a:off x="6166292" y="1484775"/>
              <a:ext cx="2908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PA = </a:t>
              </a: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+ base(heap)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81" name="Google Shape;881;p43"/>
          <p:cNvGrpSpPr/>
          <p:nvPr/>
        </p:nvGrpSpPr>
        <p:grpSpPr>
          <a:xfrm>
            <a:off x="1118628" y="3771875"/>
            <a:ext cx="4636464" cy="637200"/>
            <a:chOff x="5127833" y="1665575"/>
            <a:chExt cx="3048300" cy="637200"/>
          </a:xfrm>
        </p:grpSpPr>
        <p:sp>
          <p:nvSpPr>
            <p:cNvPr id="882" name="Google Shape;882;p43"/>
            <p:cNvSpPr/>
            <p:nvPr/>
          </p:nvSpPr>
          <p:spPr>
            <a:xfrm>
              <a:off x="5127833" y="1665575"/>
              <a:ext cx="3048300" cy="637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3"/>
            <p:cNvSpPr txBox="1"/>
            <p:nvPr/>
          </p:nvSpPr>
          <p:spPr>
            <a:xfrm>
              <a:off x="5215999" y="1707125"/>
              <a:ext cx="277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</a:t>
              </a: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&lt; size(heap)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4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1080421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n-lt"/>
              </a:rPr>
              <a:t>Traducción de direcciones (I)</a:t>
            </a:r>
            <a:endParaRPr b="0" dirty="0">
              <a:latin typeface="+mn-lt"/>
            </a:endParaRPr>
          </a:p>
        </p:txBody>
      </p:sp>
      <p:sp>
        <p:nvSpPr>
          <p:cNvPr id="889" name="Google Shape;889;p44"/>
          <p:cNvSpPr txBox="1">
            <a:spLocks noGrp="1"/>
          </p:cNvSpPr>
          <p:nvPr>
            <p:ph type="body" idx="1"/>
          </p:nvPr>
        </p:nvSpPr>
        <p:spPr>
          <a:xfrm>
            <a:off x="280220" y="979683"/>
            <a:ext cx="4365413" cy="541247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Segmento heap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Obtener offset(heap)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Verificar límites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Obtener PA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</p:txBody>
      </p:sp>
      <p:grpSp>
        <p:nvGrpSpPr>
          <p:cNvPr id="890" name="Google Shape;890;p44"/>
          <p:cNvGrpSpPr/>
          <p:nvPr/>
        </p:nvGrpSpPr>
        <p:grpSpPr>
          <a:xfrm>
            <a:off x="779883" y="1956258"/>
            <a:ext cx="3756526" cy="492600"/>
            <a:chOff x="973322" y="3626850"/>
            <a:chExt cx="3729303" cy="492600"/>
          </a:xfrm>
        </p:grpSpPr>
        <p:sp>
          <p:nvSpPr>
            <p:cNvPr id="891" name="Google Shape;891;p44"/>
            <p:cNvSpPr/>
            <p:nvPr/>
          </p:nvSpPr>
          <p:spPr>
            <a:xfrm>
              <a:off x="973325" y="3626850"/>
              <a:ext cx="37293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4"/>
            <p:cNvSpPr txBox="1"/>
            <p:nvPr/>
          </p:nvSpPr>
          <p:spPr>
            <a:xfrm>
              <a:off x="973322" y="3626850"/>
              <a:ext cx="3420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 = VA - VA(heap)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893" name="Google Shape;893;p44"/>
          <p:cNvSpPr txBox="1"/>
          <p:nvPr/>
        </p:nvSpPr>
        <p:spPr>
          <a:xfrm>
            <a:off x="766563" y="3974185"/>
            <a:ext cx="269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0 &lt; 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104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&lt; 2K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4" name="Google Shape;894;p44"/>
          <p:cNvSpPr txBox="1"/>
          <p:nvPr/>
        </p:nvSpPr>
        <p:spPr>
          <a:xfrm>
            <a:off x="5301900" y="1166100"/>
            <a:ext cx="5904900" cy="98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¿Cuál es la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4200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?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Va ubicada en el heap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4200</a:t>
            </a:r>
            <a:endParaRPr sz="20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895" name="Google Shape;895;p44"/>
          <p:cNvSpPr txBox="1"/>
          <p:nvPr/>
        </p:nvSpPr>
        <p:spPr>
          <a:xfrm>
            <a:off x="772890" y="2364770"/>
            <a:ext cx="3633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offset = 4200 - 4K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4200 - 4(1024)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104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96" name="Google Shape;8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8679" y="3301491"/>
            <a:ext cx="7184501" cy="33404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7" name="Google Shape;897;p44"/>
          <p:cNvGraphicFramePr/>
          <p:nvPr>
            <p:extLst>
              <p:ext uri="{D42A27DB-BD31-4B8C-83A1-F6EECF244321}">
                <p14:modId xmlns:p14="http://schemas.microsoft.com/office/powerpoint/2010/main" val="3425675882"/>
              </p:ext>
            </p:extLst>
          </p:nvPr>
        </p:nvGraphicFramePr>
        <p:xfrm>
          <a:off x="4977146" y="2446488"/>
          <a:ext cx="2691747" cy="85338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11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98" name="Google Shape;898;p44"/>
          <p:cNvGrpSpPr/>
          <p:nvPr/>
        </p:nvGrpSpPr>
        <p:grpSpPr>
          <a:xfrm>
            <a:off x="746726" y="4791188"/>
            <a:ext cx="3685327" cy="492600"/>
            <a:chOff x="992850" y="4393700"/>
            <a:chExt cx="4195500" cy="492600"/>
          </a:xfrm>
        </p:grpSpPr>
        <p:sp>
          <p:nvSpPr>
            <p:cNvPr id="899" name="Google Shape;899;p44"/>
            <p:cNvSpPr/>
            <p:nvPr/>
          </p:nvSpPr>
          <p:spPr>
            <a:xfrm>
              <a:off x="992850" y="4393700"/>
              <a:ext cx="41955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4"/>
            <p:cNvSpPr txBox="1"/>
            <p:nvPr/>
          </p:nvSpPr>
          <p:spPr>
            <a:xfrm>
              <a:off x="1049525" y="4424600"/>
              <a:ext cx="403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 = </a:t>
              </a: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 + base(heap)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901" name="Google Shape;901;p44"/>
          <p:cNvSpPr txBox="1"/>
          <p:nvPr/>
        </p:nvSpPr>
        <p:spPr>
          <a:xfrm>
            <a:off x="686016" y="5222460"/>
            <a:ext cx="3633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PA = offset + base(heap)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104 + 34K 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104 + 34(1024)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 = 34920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902" name="Google Shape;902;p44"/>
          <p:cNvGrpSpPr/>
          <p:nvPr/>
        </p:nvGrpSpPr>
        <p:grpSpPr>
          <a:xfrm>
            <a:off x="779883" y="3554894"/>
            <a:ext cx="3685294" cy="492600"/>
            <a:chOff x="973325" y="3626850"/>
            <a:chExt cx="3729300" cy="492600"/>
          </a:xfrm>
        </p:grpSpPr>
        <p:sp>
          <p:nvSpPr>
            <p:cNvPr id="903" name="Google Shape;903;p44"/>
            <p:cNvSpPr/>
            <p:nvPr/>
          </p:nvSpPr>
          <p:spPr>
            <a:xfrm>
              <a:off x="973325" y="3626850"/>
              <a:ext cx="37293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4"/>
            <p:cNvSpPr txBox="1"/>
            <p:nvPr/>
          </p:nvSpPr>
          <p:spPr>
            <a:xfrm>
              <a:off x="973330" y="3626850"/>
              <a:ext cx="366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 &lt;= </a:t>
              </a: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&lt; size(heap)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5"/>
          <p:cNvSpPr txBox="1">
            <a:spLocks noGrp="1"/>
          </p:cNvSpPr>
          <p:nvPr>
            <p:ph type="title"/>
          </p:nvPr>
        </p:nvSpPr>
        <p:spPr>
          <a:xfrm>
            <a:off x="457200" y="96038"/>
            <a:ext cx="87634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j-lt"/>
              </a:rPr>
              <a:t>Traducción de direcciones (I)</a:t>
            </a:r>
            <a:endParaRPr sz="3200" b="0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910" name="Google Shape;910;p45"/>
          <p:cNvSpPr txBox="1">
            <a:spLocks noGrp="1"/>
          </p:cNvSpPr>
          <p:nvPr>
            <p:ph type="body" idx="1"/>
          </p:nvPr>
        </p:nvSpPr>
        <p:spPr>
          <a:xfrm>
            <a:off x="627749" y="858942"/>
            <a:ext cx="10993979" cy="11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Fallo de segmentación - segmentation fault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Acceso a una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dirección ilegal</a:t>
            </a:r>
            <a:endParaRPr sz="2400" b="1" dirty="0">
              <a:solidFill>
                <a:srgbClr val="FF0000"/>
              </a:solidFill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11" name="Google Shape;911;p45"/>
          <p:cNvGraphicFramePr/>
          <p:nvPr/>
        </p:nvGraphicFramePr>
        <p:xfrm>
          <a:off x="1946213" y="3039698"/>
          <a:ext cx="2796975" cy="171039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12" name="Google Shape;912;p45"/>
          <p:cNvGrpSpPr/>
          <p:nvPr/>
        </p:nvGrpSpPr>
        <p:grpSpPr>
          <a:xfrm>
            <a:off x="5588700" y="2028313"/>
            <a:ext cx="3686612" cy="4295775"/>
            <a:chOff x="5588700" y="2028313"/>
            <a:chExt cx="3686612" cy="4295775"/>
          </a:xfrm>
        </p:grpSpPr>
        <p:pic>
          <p:nvPicPr>
            <p:cNvPr id="913" name="Google Shape;913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9638" y="2028313"/>
              <a:ext cx="3495675" cy="4295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4" name="Google Shape;9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88700" y="4261650"/>
              <a:ext cx="364950" cy="343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6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1070535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n-lt"/>
              </a:rPr>
              <a:t>Traducción de direcciones (I)</a:t>
            </a:r>
            <a:endParaRPr sz="3200" b="0" dirty="0">
              <a:solidFill>
                <a:srgbClr val="701E5C"/>
              </a:solidFill>
              <a:latin typeface="+mn-lt"/>
              <a:sym typeface="Roboto Slab"/>
            </a:endParaRPr>
          </a:p>
        </p:txBody>
      </p:sp>
      <p:sp>
        <p:nvSpPr>
          <p:cNvPr id="920" name="Google Shape;920;p46"/>
          <p:cNvSpPr txBox="1">
            <a:spLocks noGrp="1"/>
          </p:cNvSpPr>
          <p:nvPr>
            <p:ph type="body" idx="1"/>
          </p:nvPr>
        </p:nvSpPr>
        <p:spPr>
          <a:xfrm>
            <a:off x="523156" y="1166100"/>
            <a:ext cx="41280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Segmento heap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Verificar límites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921" name="Google Shape;921;p46"/>
          <p:cNvSpPr txBox="1"/>
          <p:nvPr/>
        </p:nvSpPr>
        <p:spPr>
          <a:xfrm>
            <a:off x="821425" y="4055769"/>
            <a:ext cx="269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 &lt;= 3K &lt; 2K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2" name="Google Shape;922;p46"/>
          <p:cNvSpPr txBox="1"/>
          <p:nvPr/>
        </p:nvSpPr>
        <p:spPr>
          <a:xfrm>
            <a:off x="5301900" y="1166100"/>
            <a:ext cx="5904900" cy="98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¿Cuál es la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7K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?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 dirección se encuentra más allá del </a:t>
            </a:r>
            <a:r>
              <a:rPr lang="es-ES" sz="22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heap</a:t>
            </a:r>
            <a:endParaRPr sz="2200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923" name="Google Shape;923;p46"/>
          <p:cNvSpPr txBox="1"/>
          <p:nvPr/>
        </p:nvSpPr>
        <p:spPr>
          <a:xfrm>
            <a:off x="583175" y="4742401"/>
            <a:ext cx="4304700" cy="15393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Como la dirección a la que se hace referencia está fuera de los límites, el Sistema Operativo lanza un </a:t>
            </a: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fallo de segmentación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endParaRPr sz="2200" b="1" dirty="0">
              <a:ea typeface="Roboto"/>
              <a:cs typeface="Roboto"/>
              <a:sym typeface="Roboto"/>
            </a:endParaRPr>
          </a:p>
        </p:txBody>
      </p:sp>
      <p:grpSp>
        <p:nvGrpSpPr>
          <p:cNvPr id="924" name="Google Shape;924;p46"/>
          <p:cNvGrpSpPr/>
          <p:nvPr/>
        </p:nvGrpSpPr>
        <p:grpSpPr>
          <a:xfrm>
            <a:off x="794243" y="3494181"/>
            <a:ext cx="3383221" cy="492600"/>
            <a:chOff x="973325" y="3626850"/>
            <a:chExt cx="3729300" cy="492600"/>
          </a:xfrm>
        </p:grpSpPr>
        <p:sp>
          <p:nvSpPr>
            <p:cNvPr id="925" name="Google Shape;925;p46"/>
            <p:cNvSpPr/>
            <p:nvPr/>
          </p:nvSpPr>
          <p:spPr>
            <a:xfrm>
              <a:off x="973325" y="3626850"/>
              <a:ext cx="37293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6"/>
            <p:cNvSpPr txBox="1"/>
            <p:nvPr/>
          </p:nvSpPr>
          <p:spPr>
            <a:xfrm>
              <a:off x="973330" y="3626850"/>
              <a:ext cx="366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 &lt;= </a:t>
              </a: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&lt; size(heap)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927" name="Google Shape;92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3050" y="2362450"/>
            <a:ext cx="3495675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8800" y="4574800"/>
            <a:ext cx="364950" cy="3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5525" y="4172619"/>
            <a:ext cx="364950" cy="343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0" name="Google Shape;930;p46"/>
          <p:cNvGrpSpPr/>
          <p:nvPr/>
        </p:nvGrpSpPr>
        <p:grpSpPr>
          <a:xfrm>
            <a:off x="821464" y="2192981"/>
            <a:ext cx="3328773" cy="492600"/>
            <a:chOff x="973325" y="3626850"/>
            <a:chExt cx="3729300" cy="492600"/>
          </a:xfrm>
        </p:grpSpPr>
        <p:sp>
          <p:nvSpPr>
            <p:cNvPr id="931" name="Google Shape;931;p46"/>
            <p:cNvSpPr/>
            <p:nvPr/>
          </p:nvSpPr>
          <p:spPr>
            <a:xfrm>
              <a:off x="973325" y="3626850"/>
              <a:ext cx="37293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6"/>
            <p:cNvSpPr txBox="1"/>
            <p:nvPr/>
          </p:nvSpPr>
          <p:spPr>
            <a:xfrm>
              <a:off x="973330" y="3626850"/>
              <a:ext cx="366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= VA - VA(heap)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933" name="Google Shape;933;p46"/>
          <p:cNvSpPr txBox="1"/>
          <p:nvPr/>
        </p:nvSpPr>
        <p:spPr>
          <a:xfrm>
            <a:off x="821425" y="2751319"/>
            <a:ext cx="2697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= 7K - 4K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3K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8"/>
          <p:cNvSpPr txBox="1">
            <a:spLocks noGrp="1"/>
          </p:cNvSpPr>
          <p:nvPr>
            <p:ph type="title"/>
          </p:nvPr>
        </p:nvSpPr>
        <p:spPr>
          <a:xfrm>
            <a:off x="550850" y="34349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945" name="Google Shape;945;p48"/>
          <p:cNvSpPr txBox="1">
            <a:spLocks noGrp="1"/>
          </p:cNvSpPr>
          <p:nvPr>
            <p:ph idx="1"/>
          </p:nvPr>
        </p:nvSpPr>
        <p:spPr>
          <a:xfrm>
            <a:off x="302150" y="908400"/>
            <a:ext cx="9037150" cy="25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Ejemplo</a:t>
            </a:r>
            <a:r>
              <a:rPr lang="es-ES" sz="2800" dirty="0">
                <a:solidFill>
                  <a:schemeClr val="accent5"/>
                </a:solidFill>
              </a:rPr>
              <a:t>:</a:t>
            </a:r>
            <a:endParaRPr sz="2800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Dado el espacio de direcciones mostrado en la siguiente figura ¿Cuántos bits son necesarios para direccionar?</a:t>
            </a:r>
            <a:endParaRPr sz="2000" dirty="0"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</a:rPr>
              <a:t>Datos</a:t>
            </a:r>
            <a:r>
              <a:rPr lang="es-ES" sz="2000" dirty="0">
                <a:solidFill>
                  <a:schemeClr val="accent2"/>
                </a:solidFill>
              </a:rPr>
              <a:t>:</a:t>
            </a:r>
            <a:endParaRPr sz="2000" dirty="0">
              <a:solidFill>
                <a:schemeClr val="accent2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b="1" dirty="0">
                <a:ea typeface="Consolas"/>
                <a:cs typeface="Consolas"/>
                <a:sym typeface="Consolas"/>
              </a:rPr>
              <a:t>size = 16K</a:t>
            </a:r>
            <a:r>
              <a:rPr lang="es-ES" sz="2000" dirty="0"/>
              <a:t> (tamaño de la memoria virtual)</a:t>
            </a:r>
            <a:endParaRPr sz="20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b="1" dirty="0">
                <a:ea typeface="Consolas"/>
                <a:cs typeface="Consolas"/>
                <a:sym typeface="Consolas"/>
              </a:rPr>
              <a:t>n = ?</a:t>
            </a:r>
            <a:r>
              <a:rPr lang="es-ES" sz="2000" dirty="0"/>
              <a:t> (Número de bits necesarios para direccionar)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46" name="Google Shape;94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1019" y="1201113"/>
            <a:ext cx="2238831" cy="55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48"/>
          <p:cNvSpPr txBox="1"/>
          <p:nvPr/>
        </p:nvSpPr>
        <p:spPr>
          <a:xfrm>
            <a:off x="3073925" y="3182105"/>
            <a:ext cx="38178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2^n = 16K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16(2^10)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(2^4)(2^10)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2^14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log2(2^n) = log2(2^14)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14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8" name="Google Shape;948;p48"/>
          <p:cNvSpPr txBox="1"/>
          <p:nvPr/>
        </p:nvSpPr>
        <p:spPr>
          <a:xfrm>
            <a:off x="996050" y="4890100"/>
            <a:ext cx="4812600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ea typeface="Roboto"/>
                <a:cs typeface="Roboto"/>
                <a:sym typeface="Roboto"/>
              </a:rPr>
              <a:t>Solución</a:t>
            </a:r>
            <a:r>
              <a:rPr lang="es-ES" sz="2400" dirty="0">
                <a:solidFill>
                  <a:schemeClr val="accent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necesitan 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14 bits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949" name="Google Shape;949;p48"/>
          <p:cNvGraphicFramePr/>
          <p:nvPr>
            <p:extLst>
              <p:ext uri="{D42A27DB-BD31-4B8C-83A1-F6EECF244321}">
                <p14:modId xmlns:p14="http://schemas.microsoft.com/office/powerpoint/2010/main" val="2759370113"/>
              </p:ext>
            </p:extLst>
          </p:nvPr>
        </p:nvGraphicFramePr>
        <p:xfrm>
          <a:off x="2361250" y="5592000"/>
          <a:ext cx="6032950" cy="457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0" name="Google Shape;950;p48"/>
          <p:cNvSpPr txBox="1"/>
          <p:nvPr/>
        </p:nvSpPr>
        <p:spPr>
          <a:xfrm>
            <a:off x="1759725" y="55920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951" name="Google Shape;951;p48"/>
          <p:cNvSpPr/>
          <p:nvPr/>
        </p:nvSpPr>
        <p:spPr>
          <a:xfrm rot="5400000">
            <a:off x="5237175" y="3232800"/>
            <a:ext cx="281100" cy="60459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48"/>
          <p:cNvSpPr txBox="1"/>
          <p:nvPr/>
        </p:nvSpPr>
        <p:spPr>
          <a:xfrm>
            <a:off x="4766100" y="639630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14 bits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9"/>
          <p:cNvSpPr txBox="1">
            <a:spLocks noGrp="1"/>
          </p:cNvSpPr>
          <p:nvPr>
            <p:ph type="title"/>
          </p:nvPr>
        </p:nvSpPr>
        <p:spPr>
          <a:xfrm>
            <a:off x="254834" y="155999"/>
            <a:ext cx="11411140" cy="99657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958" name="Google Shape;958;p49"/>
          <p:cNvSpPr txBox="1">
            <a:spLocks noGrp="1"/>
          </p:cNvSpPr>
          <p:nvPr>
            <p:ph idx="1"/>
          </p:nvPr>
        </p:nvSpPr>
        <p:spPr>
          <a:xfrm>
            <a:off x="254833" y="1037760"/>
            <a:ext cx="6716441" cy="268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Ejemplo</a:t>
            </a:r>
            <a:r>
              <a:rPr lang="es-ES" sz="2800" dirty="0">
                <a:solidFill>
                  <a:schemeClr val="accent5"/>
                </a:solidFill>
              </a:rPr>
              <a:t>:</a:t>
            </a:r>
            <a:endParaRPr sz="2800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/>
              <a:t>Anteriormente se demostró que con 14 bits se puede direccionar una memoria de 16K. Se tienen 3 segmentos de modo que: </a:t>
            </a:r>
            <a:r>
              <a:rPr lang="es-ES" sz="2400" b="1" dirty="0">
                <a:solidFill>
                  <a:srgbClr val="FF0000"/>
                </a:solidFill>
              </a:rPr>
              <a:t>¿Como sabemos a cuál segmento pertenece una dirección determinada?</a:t>
            </a:r>
            <a:endParaRPr sz="2400" b="1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59" name="Google Shape;95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1019" y="1201113"/>
            <a:ext cx="2238831" cy="5567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0" name="Google Shape;960;p49"/>
          <p:cNvGraphicFramePr/>
          <p:nvPr/>
        </p:nvGraphicFramePr>
        <p:xfrm>
          <a:off x="2811650" y="4181875"/>
          <a:ext cx="603295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61" name="Google Shape;961;p49"/>
          <p:cNvSpPr txBox="1"/>
          <p:nvPr/>
        </p:nvSpPr>
        <p:spPr>
          <a:xfrm>
            <a:off x="2241925" y="457827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962" name="Google Shape;962;p49"/>
          <p:cNvSpPr/>
          <p:nvPr/>
        </p:nvSpPr>
        <p:spPr>
          <a:xfrm rot="5400000">
            <a:off x="6147175" y="2646875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49"/>
          <p:cNvSpPr txBox="1"/>
          <p:nvPr/>
        </p:nvSpPr>
        <p:spPr>
          <a:xfrm>
            <a:off x="5614075" y="536735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graphicFrame>
        <p:nvGraphicFramePr>
          <p:cNvPr id="964" name="Google Shape;964;p49"/>
          <p:cNvGraphicFramePr/>
          <p:nvPr>
            <p:extLst>
              <p:ext uri="{D42A27DB-BD31-4B8C-83A1-F6EECF244321}">
                <p14:modId xmlns:p14="http://schemas.microsoft.com/office/powerpoint/2010/main" val="474517336"/>
              </p:ext>
            </p:extLst>
          </p:nvPr>
        </p:nvGraphicFramePr>
        <p:xfrm>
          <a:off x="7288056" y="1367603"/>
          <a:ext cx="1959753" cy="213712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9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00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01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11</a:t>
                      </a:r>
                      <a:endParaRPr sz="1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10</a:t>
                      </a:r>
                      <a:endParaRPr sz="1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65" name="Google Shape;965;p49"/>
          <p:cNvSpPr/>
          <p:nvPr/>
        </p:nvSpPr>
        <p:spPr>
          <a:xfrm rot="5400000">
            <a:off x="3098050" y="4814975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49"/>
          <p:cNvSpPr txBox="1"/>
          <p:nvPr/>
        </p:nvSpPr>
        <p:spPr>
          <a:xfrm>
            <a:off x="2560000" y="536735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0"/>
          <p:cNvSpPr txBox="1">
            <a:spLocks noGrp="1"/>
          </p:cNvSpPr>
          <p:nvPr>
            <p:ph type="title"/>
          </p:nvPr>
        </p:nvSpPr>
        <p:spPr>
          <a:xfrm>
            <a:off x="162100" y="67290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972" name="Google Shape;972;p50"/>
          <p:cNvSpPr txBox="1">
            <a:spLocks noGrp="1"/>
          </p:cNvSpPr>
          <p:nvPr>
            <p:ph idx="1"/>
          </p:nvPr>
        </p:nvSpPr>
        <p:spPr>
          <a:xfrm>
            <a:off x="337449" y="1092370"/>
            <a:ext cx="11505506" cy="25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 err="1">
                <a:solidFill>
                  <a:schemeClr val="accent5"/>
                </a:solidFill>
              </a:rPr>
              <a:t>Explicit</a:t>
            </a:r>
            <a:r>
              <a:rPr lang="es-ES" sz="2800" b="1" dirty="0">
                <a:solidFill>
                  <a:schemeClr val="accent5"/>
                </a:solidFill>
              </a:rPr>
              <a:t> </a:t>
            </a:r>
            <a:r>
              <a:rPr lang="es-ES" sz="2800" b="1" dirty="0" err="1">
                <a:solidFill>
                  <a:schemeClr val="accent5"/>
                </a:solidFill>
              </a:rPr>
              <a:t>approach</a:t>
            </a:r>
            <a:r>
              <a:rPr lang="es-ES" sz="2800" dirty="0">
                <a:solidFill>
                  <a:schemeClr val="accent5"/>
                </a:solidFill>
              </a:rPr>
              <a:t>:</a:t>
            </a:r>
            <a:endParaRPr sz="2800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/>
              <a:t>Divide el espacio de direccionamiento de tal manera que una dirección virtual está compuesta por dos partes </a:t>
            </a:r>
            <a:r>
              <a:rPr lang="es-ES" sz="2000" b="1" dirty="0">
                <a:latin typeface="Consolas" panose="020B0609020204030204" pitchFamily="49" charset="0"/>
              </a:rPr>
              <a:t>[</a:t>
            </a:r>
            <a:r>
              <a:rPr lang="es-E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segment</a:t>
            </a:r>
            <a:r>
              <a:rPr lang="es-ES" sz="2000" b="1" dirty="0">
                <a:latin typeface="Consolas" panose="020B0609020204030204" pitchFamily="49" charset="0"/>
              </a:rPr>
              <a:t>|</a:t>
            </a:r>
            <a:r>
              <a:rPr lang="es-E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offset</a:t>
            </a:r>
            <a:r>
              <a:rPr lang="es-ES" sz="2000" b="1" dirty="0">
                <a:latin typeface="Consolas" panose="020B0609020204030204" pitchFamily="49" charset="0"/>
              </a:rPr>
              <a:t>]</a:t>
            </a:r>
            <a:endParaRPr sz="2000" b="1" dirty="0">
              <a:latin typeface="Consolas" panose="020B0609020204030204" pitchFamily="49" charset="0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solidFill>
                  <a:schemeClr val="accent2"/>
                </a:solidFill>
              </a:rPr>
              <a:t>segment</a:t>
            </a:r>
            <a:r>
              <a:rPr lang="es-ES" sz="2200" dirty="0">
                <a:solidFill>
                  <a:schemeClr val="accent2"/>
                </a:solidFill>
              </a:rPr>
              <a:t>:</a:t>
            </a:r>
            <a:r>
              <a:rPr lang="es-ES" sz="2200" dirty="0"/>
              <a:t> Compuesto por los bits más significativos (top bits) de la dirección lógica.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solidFill>
                  <a:schemeClr val="accent2"/>
                </a:solidFill>
              </a:rPr>
              <a:t>Offset dentro del segmento elegido</a:t>
            </a:r>
            <a:r>
              <a:rPr lang="es-ES" sz="2200" dirty="0">
                <a:solidFill>
                  <a:schemeClr val="accent2"/>
                </a:solidFill>
              </a:rPr>
              <a:t>:</a:t>
            </a:r>
            <a:r>
              <a:rPr lang="es-ES" sz="2200" dirty="0"/>
              <a:t> Parte compuesta por los bits menos significativos que hace referencia al  offset respecto al segmento seleccionado.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73" name="Google Shape;973;p50"/>
          <p:cNvGraphicFramePr/>
          <p:nvPr>
            <p:extLst>
              <p:ext uri="{D42A27DB-BD31-4B8C-83A1-F6EECF244321}">
                <p14:modId xmlns:p14="http://schemas.microsoft.com/office/powerpoint/2010/main" val="3700078153"/>
              </p:ext>
            </p:extLst>
          </p:nvPr>
        </p:nvGraphicFramePr>
        <p:xfrm>
          <a:off x="1798741" y="4186997"/>
          <a:ext cx="603295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74" name="Google Shape;974;p50"/>
          <p:cNvSpPr txBox="1"/>
          <p:nvPr/>
        </p:nvSpPr>
        <p:spPr>
          <a:xfrm>
            <a:off x="1229016" y="4583397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975" name="Google Shape;975;p50"/>
          <p:cNvSpPr/>
          <p:nvPr/>
        </p:nvSpPr>
        <p:spPr>
          <a:xfrm rot="5400000">
            <a:off x="5134266" y="2651997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50"/>
          <p:cNvSpPr txBox="1"/>
          <p:nvPr/>
        </p:nvSpPr>
        <p:spPr>
          <a:xfrm>
            <a:off x="4601166" y="5372472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graphicFrame>
        <p:nvGraphicFramePr>
          <p:cNvPr id="977" name="Google Shape;977;p50"/>
          <p:cNvGraphicFramePr/>
          <p:nvPr>
            <p:extLst>
              <p:ext uri="{D42A27DB-BD31-4B8C-83A1-F6EECF244321}">
                <p14:modId xmlns:p14="http://schemas.microsoft.com/office/powerpoint/2010/main" val="3248789594"/>
              </p:ext>
            </p:extLst>
          </p:nvPr>
        </p:nvGraphicFramePr>
        <p:xfrm>
          <a:off x="9153359" y="3956604"/>
          <a:ext cx="1809625" cy="213712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1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00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01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11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10</a:t>
                      </a:r>
                      <a:endParaRPr sz="1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8" name="Google Shape;978;p50"/>
          <p:cNvSpPr/>
          <p:nvPr/>
        </p:nvSpPr>
        <p:spPr>
          <a:xfrm rot="5400000">
            <a:off x="2085141" y="4820097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50"/>
          <p:cNvSpPr txBox="1"/>
          <p:nvPr/>
        </p:nvSpPr>
        <p:spPr>
          <a:xfrm>
            <a:off x="1547091" y="5372472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51"/>
          <p:cNvSpPr txBox="1">
            <a:spLocks noGrp="1"/>
          </p:cNvSpPr>
          <p:nvPr>
            <p:ph type="title"/>
          </p:nvPr>
        </p:nvSpPr>
        <p:spPr>
          <a:xfrm>
            <a:off x="357675" y="99102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985" name="Google Shape;985;p51"/>
          <p:cNvSpPr txBox="1">
            <a:spLocks noGrp="1"/>
          </p:cNvSpPr>
          <p:nvPr>
            <p:ph idx="1"/>
          </p:nvPr>
        </p:nvSpPr>
        <p:spPr>
          <a:xfrm>
            <a:off x="357675" y="1052200"/>
            <a:ext cx="11618015" cy="100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Ejemplo</a:t>
            </a:r>
            <a:r>
              <a:rPr lang="es-ES" sz="2800" dirty="0">
                <a:solidFill>
                  <a:schemeClr val="accent5"/>
                </a:solidFill>
              </a:rPr>
              <a:t>:</a:t>
            </a:r>
            <a:endParaRPr sz="2800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/>
              <a:t>Dada la dirección virtual </a:t>
            </a:r>
            <a:r>
              <a:rPr lang="es-ES" sz="2400" dirty="0">
                <a:ea typeface="Consolas"/>
                <a:cs typeface="Consolas"/>
                <a:sym typeface="Consolas"/>
              </a:rPr>
              <a:t>VA = 4200</a:t>
            </a:r>
            <a:r>
              <a:rPr lang="es-ES" sz="2400" dirty="0"/>
              <a:t> </a:t>
            </a:r>
            <a:r>
              <a:rPr lang="es-ES" sz="2400" b="1" dirty="0">
                <a:solidFill>
                  <a:srgbClr val="FF0000"/>
                </a:solidFill>
              </a:rPr>
              <a:t>¿Cual es el segmento al que pertenece?</a:t>
            </a:r>
            <a:endParaRPr sz="2400" b="1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86" name="Google Shape;986;p51"/>
          <p:cNvGraphicFramePr/>
          <p:nvPr>
            <p:extLst>
              <p:ext uri="{D42A27DB-BD31-4B8C-83A1-F6EECF244321}">
                <p14:modId xmlns:p14="http://schemas.microsoft.com/office/powerpoint/2010/main" val="190341241"/>
              </p:ext>
            </p:extLst>
          </p:nvPr>
        </p:nvGraphicFramePr>
        <p:xfrm>
          <a:off x="1424250" y="5007475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87" name="Google Shape;987;p51"/>
          <p:cNvSpPr txBox="1"/>
          <p:nvPr/>
        </p:nvSpPr>
        <p:spPr>
          <a:xfrm>
            <a:off x="854525" y="538847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988" name="Google Shape;988;p51"/>
          <p:cNvSpPr/>
          <p:nvPr/>
        </p:nvSpPr>
        <p:spPr>
          <a:xfrm rot="5400000">
            <a:off x="4759775" y="3472475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51"/>
          <p:cNvSpPr txBox="1"/>
          <p:nvPr/>
        </p:nvSpPr>
        <p:spPr>
          <a:xfrm>
            <a:off x="4226675" y="619295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graphicFrame>
        <p:nvGraphicFramePr>
          <p:cNvPr id="990" name="Google Shape;990;p51"/>
          <p:cNvGraphicFramePr/>
          <p:nvPr>
            <p:extLst>
              <p:ext uri="{D42A27DB-BD31-4B8C-83A1-F6EECF244321}">
                <p14:modId xmlns:p14="http://schemas.microsoft.com/office/powerpoint/2010/main" val="1181789592"/>
              </p:ext>
            </p:extLst>
          </p:nvPr>
        </p:nvGraphicFramePr>
        <p:xfrm>
          <a:off x="1309045" y="2767125"/>
          <a:ext cx="3818100" cy="21335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1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91" name="Google Shape;991;p51"/>
          <p:cNvSpPr/>
          <p:nvPr/>
        </p:nvSpPr>
        <p:spPr>
          <a:xfrm rot="5400000">
            <a:off x="1710650" y="5640575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51"/>
          <p:cNvSpPr txBox="1"/>
          <p:nvPr/>
        </p:nvSpPr>
        <p:spPr>
          <a:xfrm>
            <a:off x="1172600" y="619295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800" dirty="0"/>
          </a:p>
        </p:txBody>
      </p:sp>
      <p:sp>
        <p:nvSpPr>
          <p:cNvPr id="993" name="Google Shape;993;p51"/>
          <p:cNvSpPr txBox="1"/>
          <p:nvPr/>
        </p:nvSpPr>
        <p:spPr>
          <a:xfrm>
            <a:off x="1009200" y="2101575"/>
            <a:ext cx="508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VA = 4200 = </a:t>
            </a:r>
            <a:r>
              <a:rPr lang="es-ES" sz="22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01 </a:t>
            </a:r>
            <a:r>
              <a:rPr lang="es-ES" sz="22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0000 0110 1000</a:t>
            </a:r>
            <a:endParaRPr sz="22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994" name="Google Shape;994;p51"/>
          <p:cNvGrpSpPr/>
          <p:nvPr/>
        </p:nvGrpSpPr>
        <p:grpSpPr>
          <a:xfrm>
            <a:off x="7407275" y="2190800"/>
            <a:ext cx="4719450" cy="3957700"/>
            <a:chOff x="7407275" y="2114600"/>
            <a:chExt cx="4719450" cy="3957700"/>
          </a:xfrm>
        </p:grpSpPr>
        <p:grpSp>
          <p:nvGrpSpPr>
            <p:cNvPr id="995" name="Google Shape;995;p51"/>
            <p:cNvGrpSpPr/>
            <p:nvPr/>
          </p:nvGrpSpPr>
          <p:grpSpPr>
            <a:xfrm>
              <a:off x="7407275" y="2114600"/>
              <a:ext cx="3298049" cy="3957700"/>
              <a:chOff x="7026275" y="2114600"/>
              <a:chExt cx="3298049" cy="3957700"/>
            </a:xfrm>
          </p:grpSpPr>
          <p:grpSp>
            <p:nvGrpSpPr>
              <p:cNvPr id="996" name="Google Shape;996;p51"/>
              <p:cNvGrpSpPr/>
              <p:nvPr/>
            </p:nvGrpSpPr>
            <p:grpSpPr>
              <a:xfrm>
                <a:off x="9202259" y="2201623"/>
                <a:ext cx="1122065" cy="3842866"/>
                <a:chOff x="1775100" y="4022831"/>
                <a:chExt cx="1076115" cy="1739719"/>
              </a:xfrm>
            </p:grpSpPr>
            <p:sp>
              <p:nvSpPr>
                <p:cNvPr id="997" name="Google Shape;997;p51"/>
                <p:cNvSpPr/>
                <p:nvPr/>
              </p:nvSpPr>
              <p:spPr>
                <a:xfrm>
                  <a:off x="1775100" y="4022850"/>
                  <a:ext cx="1076100" cy="17397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98" name="Google Shape;998;p51"/>
                <p:cNvGrpSpPr/>
                <p:nvPr/>
              </p:nvGrpSpPr>
              <p:grpSpPr>
                <a:xfrm>
                  <a:off x="1775100" y="4022831"/>
                  <a:ext cx="1076115" cy="1739694"/>
                  <a:chOff x="7948250" y="2813106"/>
                  <a:chExt cx="1076115" cy="1739694"/>
                </a:xfrm>
              </p:grpSpPr>
              <p:sp>
                <p:nvSpPr>
                  <p:cNvPr id="999" name="Google Shape;999;p51"/>
                  <p:cNvSpPr/>
                  <p:nvPr/>
                </p:nvSpPr>
                <p:spPr>
                  <a:xfrm>
                    <a:off x="7948265" y="2813106"/>
                    <a:ext cx="1076100" cy="324600"/>
                  </a:xfrm>
                  <a:prstGeom prst="rect">
                    <a:avLst/>
                  </a:prstGeom>
                  <a:solidFill>
                    <a:srgbClr val="F4CCCC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Code</a:t>
                    </a:r>
                    <a:endParaRPr sz="1600"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1000" name="Google Shape;1000;p51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sp>
                <p:nvSpPr>
                  <p:cNvPr id="1001" name="Google Shape;1001;p51"/>
                  <p:cNvSpPr/>
                  <p:nvPr/>
                </p:nvSpPr>
                <p:spPr>
                  <a:xfrm>
                    <a:off x="7948250" y="4268400"/>
                    <a:ext cx="1076100" cy="284400"/>
                  </a:xfrm>
                  <a:prstGeom prst="rect">
                    <a:avLst/>
                  </a:prstGeom>
                  <a:solidFill>
                    <a:srgbClr val="CFE2F3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stack</a:t>
                    </a:r>
                    <a:endParaRPr sz="2200" dirty="0"/>
                  </a:p>
                </p:txBody>
              </p:sp>
              <p:cxnSp>
                <p:nvCxnSpPr>
                  <p:cNvPr id="1002" name="Google Shape;1002;p51"/>
                  <p:cNvCxnSpPr>
                    <a:stCxn id="1000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003" name="Google Shape;1003;p51"/>
                  <p:cNvCxnSpPr>
                    <a:stCxn id="1001" idx="0"/>
                  </p:cNvCxnSpPr>
                  <p:nvPr/>
                </p:nvCxnSpPr>
                <p:spPr>
                  <a:xfrm rot="10800000" flipH="1">
                    <a:off x="8486300" y="4035600"/>
                    <a:ext cx="4200" cy="232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sp>
            <p:nvSpPr>
              <p:cNvPr id="1004" name="Google Shape;1004;p51"/>
              <p:cNvSpPr txBox="1"/>
              <p:nvPr/>
            </p:nvSpPr>
            <p:spPr>
              <a:xfrm>
                <a:off x="7608650" y="211460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</a:t>
                </a:r>
                <a:r>
                  <a:rPr lang="es-ES" sz="10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000000000000</a:t>
                </a:r>
                <a:endParaRPr sz="1000" dirty="0"/>
              </a:p>
            </p:txBody>
          </p:sp>
          <p:sp>
            <p:nvSpPr>
              <p:cNvPr id="1005" name="Google Shape;1005;p51"/>
              <p:cNvSpPr txBox="1"/>
              <p:nvPr/>
            </p:nvSpPr>
            <p:spPr>
              <a:xfrm>
                <a:off x="7608650" y="262510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</a:t>
                </a: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111111111111</a:t>
                </a:r>
                <a:endParaRPr sz="200"/>
              </a:p>
            </p:txBody>
          </p:sp>
          <p:sp>
            <p:nvSpPr>
              <p:cNvPr id="1006" name="Google Shape;1006;p51"/>
              <p:cNvSpPr txBox="1"/>
              <p:nvPr/>
            </p:nvSpPr>
            <p:spPr>
              <a:xfrm>
                <a:off x="7608650" y="3418975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01</a:t>
                </a: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000000000000</a:t>
                </a:r>
                <a:endParaRPr sz="200"/>
              </a:p>
            </p:txBody>
          </p:sp>
          <p:sp>
            <p:nvSpPr>
              <p:cNvPr id="1007" name="Google Shape;1007;p51"/>
              <p:cNvSpPr txBox="1"/>
              <p:nvPr/>
            </p:nvSpPr>
            <p:spPr>
              <a:xfrm>
                <a:off x="7608650" y="385825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</a:t>
                </a: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111111111111</a:t>
                </a:r>
                <a:endParaRPr sz="200"/>
              </a:p>
            </p:txBody>
          </p:sp>
          <p:sp>
            <p:nvSpPr>
              <p:cNvPr id="1008" name="Google Shape;1008;p51"/>
              <p:cNvSpPr txBox="1"/>
              <p:nvPr/>
            </p:nvSpPr>
            <p:spPr>
              <a:xfrm>
                <a:off x="7608650" y="536430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</a:t>
                </a: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000000000000</a:t>
                </a:r>
                <a:endParaRPr sz="200"/>
              </a:p>
            </p:txBody>
          </p:sp>
          <p:sp>
            <p:nvSpPr>
              <p:cNvPr id="1009" name="Google Shape;1009;p51"/>
              <p:cNvSpPr txBox="1"/>
              <p:nvPr/>
            </p:nvSpPr>
            <p:spPr>
              <a:xfrm>
                <a:off x="7608650" y="573360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</a:t>
                </a: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111111111111</a:t>
                </a:r>
                <a:endParaRPr sz="200"/>
              </a:p>
            </p:txBody>
          </p:sp>
          <p:sp>
            <p:nvSpPr>
              <p:cNvPr id="1010" name="Google Shape;1010;p51"/>
              <p:cNvSpPr txBox="1"/>
              <p:nvPr/>
            </p:nvSpPr>
            <p:spPr>
              <a:xfrm>
                <a:off x="7026275" y="364025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10</a:t>
                </a:r>
                <a:r>
                  <a:rPr lang="es-ES" sz="10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000001101000</a:t>
                </a:r>
                <a:endParaRPr sz="200" dirty="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1011" name="Google Shape;1011;p51"/>
              <p:cNvCxnSpPr/>
              <p:nvPr/>
            </p:nvCxnSpPr>
            <p:spPr>
              <a:xfrm>
                <a:off x="8619875" y="3815913"/>
                <a:ext cx="551700" cy="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012" name="Google Shape;1012;p51"/>
            <p:cNvGrpSpPr/>
            <p:nvPr/>
          </p:nvGrpSpPr>
          <p:grpSpPr>
            <a:xfrm>
              <a:off x="10780750" y="3496825"/>
              <a:ext cx="1345975" cy="338700"/>
              <a:chOff x="10780750" y="3496825"/>
              <a:chExt cx="1345975" cy="338700"/>
            </a:xfrm>
          </p:grpSpPr>
          <p:cxnSp>
            <p:nvCxnSpPr>
              <p:cNvPr id="1013" name="Google Shape;1013;p51"/>
              <p:cNvCxnSpPr/>
              <p:nvPr/>
            </p:nvCxnSpPr>
            <p:spPr>
              <a:xfrm>
                <a:off x="10780750" y="351452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14" name="Google Shape;1014;p51"/>
              <p:cNvGrpSpPr/>
              <p:nvPr/>
            </p:nvGrpSpPr>
            <p:grpSpPr>
              <a:xfrm>
                <a:off x="10780750" y="3496825"/>
                <a:ext cx="1345975" cy="338700"/>
                <a:chOff x="10399750" y="3496825"/>
                <a:chExt cx="1345975" cy="338700"/>
              </a:xfrm>
            </p:grpSpPr>
            <p:cxnSp>
              <p:nvCxnSpPr>
                <p:cNvPr id="1015" name="Google Shape;1015;p51"/>
                <p:cNvCxnSpPr/>
                <p:nvPr/>
              </p:nvCxnSpPr>
              <p:spPr>
                <a:xfrm>
                  <a:off x="10399750" y="3793500"/>
                  <a:ext cx="466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16" name="Google Shape;1016;p51"/>
                <p:cNvCxnSpPr/>
                <p:nvPr/>
              </p:nvCxnSpPr>
              <p:spPr>
                <a:xfrm>
                  <a:off x="10492275" y="3514525"/>
                  <a:ext cx="0" cy="303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  <p:sp>
              <p:nvSpPr>
                <p:cNvPr id="1017" name="Google Shape;1017;p51"/>
                <p:cNvSpPr txBox="1"/>
                <p:nvPr/>
              </p:nvSpPr>
              <p:spPr>
                <a:xfrm>
                  <a:off x="10573925" y="3496825"/>
                  <a:ext cx="11718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dirty="0">
                      <a:solidFill>
                        <a:schemeClr val="accent2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000001101000</a:t>
                  </a:r>
                  <a:endParaRPr sz="200" dirty="0">
                    <a:solidFill>
                      <a:schemeClr val="accent2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52"/>
          <p:cNvSpPr txBox="1">
            <a:spLocks noGrp="1"/>
          </p:cNvSpPr>
          <p:nvPr>
            <p:ph type="title"/>
          </p:nvPr>
        </p:nvSpPr>
        <p:spPr>
          <a:xfrm>
            <a:off x="368300" y="187270"/>
            <a:ext cx="111887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1023" name="Google Shape;1023;p52"/>
          <p:cNvSpPr txBox="1">
            <a:spLocks noGrp="1"/>
          </p:cNvSpPr>
          <p:nvPr>
            <p:ph idx="1"/>
          </p:nvPr>
        </p:nvSpPr>
        <p:spPr>
          <a:xfrm>
            <a:off x="368300" y="1258888"/>
            <a:ext cx="11455400" cy="208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Ejemplo</a:t>
            </a:r>
            <a:r>
              <a:rPr lang="es-ES" sz="2800" dirty="0">
                <a:solidFill>
                  <a:schemeClr val="accent5"/>
                </a:solidFill>
              </a:rPr>
              <a:t>:</a:t>
            </a:r>
            <a:endParaRPr sz="2800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Si se tiene una memoria física de 64K</a:t>
            </a:r>
            <a:r>
              <a:rPr lang="es-ES" sz="2200" b="1" dirty="0">
                <a:solidFill>
                  <a:srgbClr val="FF0000"/>
                </a:solidFill>
              </a:rPr>
              <a:t> ¿Cuántos bits son necesarios para direccionarla?</a:t>
            </a:r>
            <a:endParaRPr sz="2200" b="1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●"/>
            </a:pPr>
            <a:r>
              <a:rPr lang="es-ES" sz="2200" b="1" dirty="0">
                <a:solidFill>
                  <a:schemeClr val="accent2"/>
                </a:solidFill>
              </a:rPr>
              <a:t>Datos</a:t>
            </a:r>
            <a:r>
              <a:rPr lang="es-ES" sz="2200" dirty="0">
                <a:solidFill>
                  <a:schemeClr val="accent2"/>
                </a:solidFill>
              </a:rPr>
              <a:t>:</a:t>
            </a:r>
            <a:endParaRPr sz="2200" dirty="0">
              <a:solidFill>
                <a:schemeClr val="accent2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200" b="1" dirty="0">
                <a:ea typeface="Consolas"/>
                <a:cs typeface="Consolas"/>
                <a:sym typeface="Consolas"/>
              </a:rPr>
              <a:t>size(PM) = 64K</a:t>
            </a:r>
            <a:r>
              <a:rPr lang="es-ES" sz="2200" dirty="0"/>
              <a:t> (tamaño de la memoria física)</a:t>
            </a:r>
            <a:endParaRPr sz="22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200" b="1" dirty="0">
                <a:ea typeface="Consolas"/>
                <a:cs typeface="Consolas"/>
                <a:sym typeface="Consolas"/>
              </a:rPr>
              <a:t>n = ?</a:t>
            </a:r>
            <a:r>
              <a:rPr lang="es-ES" sz="2200" dirty="0"/>
              <a:t> (Número de bits necesarios para direccionar la memoria física)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0000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24" name="Google Shape;1024;p52"/>
          <p:cNvGraphicFramePr/>
          <p:nvPr>
            <p:extLst>
              <p:ext uri="{D42A27DB-BD31-4B8C-83A1-F6EECF244321}">
                <p14:modId xmlns:p14="http://schemas.microsoft.com/office/powerpoint/2010/main" val="3190441088"/>
              </p:ext>
            </p:extLst>
          </p:nvPr>
        </p:nvGraphicFramePr>
        <p:xfrm>
          <a:off x="795100" y="4292615"/>
          <a:ext cx="780280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8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5" name="Google Shape;1025;p52"/>
          <p:cNvSpPr txBox="1"/>
          <p:nvPr/>
        </p:nvSpPr>
        <p:spPr>
          <a:xfrm>
            <a:off x="181425" y="459741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026" name="Google Shape;1026;p52"/>
          <p:cNvSpPr txBox="1"/>
          <p:nvPr/>
        </p:nvSpPr>
        <p:spPr>
          <a:xfrm>
            <a:off x="8851000" y="3935465"/>
            <a:ext cx="29727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2^n = 64K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64(2^10)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(2^6)(2^10)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2^16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log2(2^n) = log2(2^16)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16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53"/>
          <p:cNvSpPr txBox="1">
            <a:spLocks noGrp="1"/>
          </p:cNvSpPr>
          <p:nvPr>
            <p:ph type="title"/>
          </p:nvPr>
        </p:nvSpPr>
        <p:spPr>
          <a:xfrm>
            <a:off x="368300" y="365126"/>
            <a:ext cx="10985500" cy="77741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1032" name="Google Shape;1032;p53"/>
          <p:cNvSpPr txBox="1">
            <a:spLocks noGrp="1"/>
          </p:cNvSpPr>
          <p:nvPr>
            <p:ph idx="1"/>
          </p:nvPr>
        </p:nvSpPr>
        <p:spPr>
          <a:xfrm>
            <a:off x="368300" y="1059619"/>
            <a:ext cx="11455400" cy="10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Ejemplo</a:t>
            </a:r>
            <a:r>
              <a:rPr lang="es-ES" sz="2800" dirty="0">
                <a:solidFill>
                  <a:schemeClr val="accent5"/>
                </a:solidFill>
              </a:rPr>
              <a:t>:</a:t>
            </a:r>
            <a:endParaRPr sz="2800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/>
              <a:t>Teniendo en cuenta lo anterior </a:t>
            </a:r>
            <a:r>
              <a:rPr lang="es-ES" sz="2400" b="1" dirty="0">
                <a:solidFill>
                  <a:srgbClr val="FF0000"/>
                </a:solidFill>
              </a:rPr>
              <a:t>¿Cual la dirección física asociada?</a:t>
            </a:r>
            <a:endParaRPr sz="2400" b="1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33" name="Google Shape;1033;p53"/>
          <p:cNvGraphicFramePr/>
          <p:nvPr>
            <p:extLst>
              <p:ext uri="{D42A27DB-BD31-4B8C-83A1-F6EECF244321}">
                <p14:modId xmlns:p14="http://schemas.microsoft.com/office/powerpoint/2010/main" val="3396266949"/>
              </p:ext>
            </p:extLst>
          </p:nvPr>
        </p:nvGraphicFramePr>
        <p:xfrm>
          <a:off x="853250" y="2131926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34" name="Google Shape;1034;p53"/>
          <p:cNvSpPr txBox="1"/>
          <p:nvPr/>
        </p:nvSpPr>
        <p:spPr>
          <a:xfrm>
            <a:off x="321175" y="2485076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035" name="Google Shape;1035;p53"/>
          <p:cNvSpPr/>
          <p:nvPr/>
        </p:nvSpPr>
        <p:spPr>
          <a:xfrm rot="5400000">
            <a:off x="4161950" y="553676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53"/>
          <p:cNvSpPr txBox="1"/>
          <p:nvPr/>
        </p:nvSpPr>
        <p:spPr>
          <a:xfrm>
            <a:off x="3623900" y="3274901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037" name="Google Shape;1037;p53"/>
          <p:cNvSpPr/>
          <p:nvPr/>
        </p:nvSpPr>
        <p:spPr>
          <a:xfrm rot="5400000">
            <a:off x="1120663" y="2721776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53"/>
          <p:cNvSpPr txBox="1"/>
          <p:nvPr/>
        </p:nvSpPr>
        <p:spPr>
          <a:xfrm>
            <a:off x="582625" y="3274901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800" dirty="0"/>
          </a:p>
        </p:txBody>
      </p:sp>
      <p:grpSp>
        <p:nvGrpSpPr>
          <p:cNvPr id="1039" name="Google Shape;1039;p53"/>
          <p:cNvGrpSpPr/>
          <p:nvPr/>
        </p:nvGrpSpPr>
        <p:grpSpPr>
          <a:xfrm>
            <a:off x="1192225" y="3995125"/>
            <a:ext cx="3579525" cy="2339900"/>
            <a:chOff x="1192225" y="3995125"/>
            <a:chExt cx="3579525" cy="2339900"/>
          </a:xfrm>
        </p:grpSpPr>
        <p:sp>
          <p:nvSpPr>
            <p:cNvPr id="1040" name="Google Shape;1040;p53"/>
            <p:cNvSpPr txBox="1"/>
            <p:nvPr/>
          </p:nvSpPr>
          <p:spPr>
            <a:xfrm>
              <a:off x="1192225" y="47190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4200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1041" name="Google Shape;1041;p53"/>
            <p:cNvCxnSpPr/>
            <p:nvPr/>
          </p:nvCxnSpPr>
          <p:spPr>
            <a:xfrm>
              <a:off x="1743925" y="4925638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042" name="Google Shape;1042;p53"/>
            <p:cNvGrpSpPr/>
            <p:nvPr/>
          </p:nvGrpSpPr>
          <p:grpSpPr>
            <a:xfrm>
              <a:off x="3478275" y="4599125"/>
              <a:ext cx="1293475" cy="369300"/>
              <a:chOff x="3478275" y="4599125"/>
              <a:chExt cx="1293475" cy="369300"/>
            </a:xfrm>
          </p:grpSpPr>
          <p:cxnSp>
            <p:nvCxnSpPr>
              <p:cNvPr id="1043" name="Google Shape;1043;p53"/>
              <p:cNvCxnSpPr/>
              <p:nvPr/>
            </p:nvCxnSpPr>
            <p:spPr>
              <a:xfrm>
                <a:off x="3493375" y="463382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44" name="Google Shape;1044;p53"/>
              <p:cNvGrpSpPr/>
              <p:nvPr/>
            </p:nvGrpSpPr>
            <p:grpSpPr>
              <a:xfrm>
                <a:off x="3478275" y="4599125"/>
                <a:ext cx="1293475" cy="369300"/>
                <a:chOff x="10399750" y="3478125"/>
                <a:chExt cx="1293475" cy="369300"/>
              </a:xfrm>
            </p:grpSpPr>
            <p:cxnSp>
              <p:nvCxnSpPr>
                <p:cNvPr id="1045" name="Google Shape;1045;p53"/>
                <p:cNvCxnSpPr/>
                <p:nvPr/>
              </p:nvCxnSpPr>
              <p:spPr>
                <a:xfrm>
                  <a:off x="10399750" y="3808075"/>
                  <a:ext cx="466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46" name="Google Shape;1046;p53"/>
                <p:cNvCxnSpPr/>
                <p:nvPr/>
              </p:nvCxnSpPr>
              <p:spPr>
                <a:xfrm>
                  <a:off x="10492275" y="3514525"/>
                  <a:ext cx="0" cy="303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  <p:sp>
              <p:nvSpPr>
                <p:cNvPr id="1047" name="Google Shape;1047;p53"/>
                <p:cNvSpPr txBox="1"/>
                <p:nvPr/>
              </p:nvSpPr>
              <p:spPr>
                <a:xfrm>
                  <a:off x="10521425" y="3478125"/>
                  <a:ext cx="1171800" cy="36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>
                      <a:solidFill>
                        <a:schemeClr val="accent2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104</a:t>
                  </a:r>
                  <a:endParaRPr sz="400">
                    <a:solidFill>
                      <a:schemeClr val="accent2"/>
                    </a:solidFill>
                  </a:endParaRPr>
                </a:p>
              </p:txBody>
            </p:sp>
          </p:grpSp>
        </p:grpSp>
        <p:grpSp>
          <p:nvGrpSpPr>
            <p:cNvPr id="1048" name="Google Shape;1048;p53"/>
            <p:cNvGrpSpPr/>
            <p:nvPr/>
          </p:nvGrpSpPr>
          <p:grpSpPr>
            <a:xfrm>
              <a:off x="2285700" y="3995125"/>
              <a:ext cx="1125359" cy="2339900"/>
              <a:chOff x="2625425" y="3871775"/>
              <a:chExt cx="1125359" cy="2339900"/>
            </a:xfrm>
          </p:grpSpPr>
          <p:grpSp>
            <p:nvGrpSpPr>
              <p:cNvPr id="1049" name="Google Shape;1049;p53"/>
              <p:cNvGrpSpPr/>
              <p:nvPr/>
            </p:nvGrpSpPr>
            <p:grpSpPr>
              <a:xfrm>
                <a:off x="2626525" y="4273149"/>
                <a:ext cx="1124259" cy="1619400"/>
                <a:chOff x="2626525" y="4273149"/>
                <a:chExt cx="1124259" cy="1619400"/>
              </a:xfrm>
            </p:grpSpPr>
            <p:sp>
              <p:nvSpPr>
                <p:cNvPr id="1050" name="Google Shape;1050;p53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51" name="Google Shape;1051;p53"/>
                <p:cNvGrpSpPr/>
                <p:nvPr/>
              </p:nvGrpSpPr>
              <p:grpSpPr>
                <a:xfrm>
                  <a:off x="2628734" y="4495878"/>
                  <a:ext cx="1122049" cy="1205397"/>
                  <a:chOff x="7948250" y="3406050"/>
                  <a:chExt cx="1076100" cy="545700"/>
                </a:xfrm>
              </p:grpSpPr>
              <p:sp>
                <p:nvSpPr>
                  <p:cNvPr id="1052" name="Google Shape;1052;p53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cxnSp>
                <p:nvCxnSpPr>
                  <p:cNvPr id="1053" name="Google Shape;1053;p53"/>
                  <p:cNvCxnSpPr>
                    <a:stCxn id="1052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cxnSp>
            <p:nvCxnSpPr>
              <p:cNvPr id="1054" name="Google Shape;1054;p53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5" name="Google Shape;1055;p53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6" name="Google Shape;1056;p53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7" name="Google Shape;1057;p53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58" name="Google Shape;1058;p53"/>
          <p:cNvSpPr txBox="1"/>
          <p:nvPr/>
        </p:nvSpPr>
        <p:spPr>
          <a:xfrm>
            <a:off x="7137400" y="2098296"/>
            <a:ext cx="4913875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4200 = </a:t>
            </a:r>
            <a:r>
              <a:rPr lang="es-ES" sz="2000" b="1" dirty="0">
                <a:solidFill>
                  <a:srgbClr val="70AD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20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0000 0110 1000</a:t>
            </a:r>
            <a:endParaRPr sz="20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segment: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offset: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0000 0110 1000 = 0x068 = 104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9" name="Google Shape;1059;p53"/>
          <p:cNvSpPr txBox="1"/>
          <p:nvPr/>
        </p:nvSpPr>
        <p:spPr>
          <a:xfrm>
            <a:off x="4604350" y="5812450"/>
            <a:ext cx="5736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34920 = </a:t>
            </a:r>
            <a:r>
              <a:rPr lang="es-ES" sz="20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1000 1000 0110 1000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060" name="Google Shape;1060;p53"/>
          <p:cNvGraphicFramePr/>
          <p:nvPr/>
        </p:nvGraphicFramePr>
        <p:xfrm>
          <a:off x="7913925" y="3134948"/>
          <a:ext cx="3818100" cy="213345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1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61" name="Google Shape;1061;p53"/>
          <p:cNvGrpSpPr/>
          <p:nvPr/>
        </p:nvGrpSpPr>
        <p:grpSpPr>
          <a:xfrm>
            <a:off x="1707350" y="4415013"/>
            <a:ext cx="551700" cy="977300"/>
            <a:chOff x="2077025" y="3805088"/>
            <a:chExt cx="551700" cy="977300"/>
          </a:xfrm>
        </p:grpSpPr>
        <p:sp>
          <p:nvSpPr>
            <p:cNvPr id="1062" name="Google Shape;1062;p53"/>
            <p:cNvSpPr txBox="1"/>
            <p:nvPr/>
          </p:nvSpPr>
          <p:spPr>
            <a:xfrm>
              <a:off x="2077025" y="3805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4K</a:t>
              </a:r>
              <a:endParaRPr sz="400"/>
            </a:p>
          </p:txBody>
        </p:sp>
        <p:sp>
          <p:nvSpPr>
            <p:cNvPr id="1063" name="Google Shape;1063;p53"/>
            <p:cNvSpPr txBox="1"/>
            <p:nvPr/>
          </p:nvSpPr>
          <p:spPr>
            <a:xfrm>
              <a:off x="2077025" y="4413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6K</a:t>
              </a:r>
              <a:endParaRPr sz="400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1069" name="Google Shape;1069;p54"/>
          <p:cNvSpPr txBox="1">
            <a:spLocks noGrp="1"/>
          </p:cNvSpPr>
          <p:nvPr>
            <p:ph idx="1"/>
          </p:nvPr>
        </p:nvSpPr>
        <p:spPr>
          <a:xfrm>
            <a:off x="268337" y="1223883"/>
            <a:ext cx="106881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Ejemplo</a:t>
            </a:r>
            <a:r>
              <a:rPr lang="es-ES" sz="2800" dirty="0">
                <a:solidFill>
                  <a:schemeClr val="accent5"/>
                </a:solidFill>
              </a:rPr>
              <a:t>: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70" name="Google Shape;1070;p54"/>
          <p:cNvGraphicFramePr/>
          <p:nvPr>
            <p:extLst>
              <p:ext uri="{D42A27DB-BD31-4B8C-83A1-F6EECF244321}">
                <p14:modId xmlns:p14="http://schemas.microsoft.com/office/powerpoint/2010/main" val="1929537623"/>
              </p:ext>
            </p:extLst>
          </p:nvPr>
        </p:nvGraphicFramePr>
        <p:xfrm>
          <a:off x="1342250" y="1776351"/>
          <a:ext cx="603295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71" name="Google Shape;1071;p54"/>
          <p:cNvSpPr txBox="1"/>
          <p:nvPr/>
        </p:nvSpPr>
        <p:spPr>
          <a:xfrm>
            <a:off x="810175" y="2129501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072" name="Google Shape;1072;p54"/>
          <p:cNvSpPr/>
          <p:nvPr/>
        </p:nvSpPr>
        <p:spPr>
          <a:xfrm rot="5400000">
            <a:off x="4650950" y="198101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54"/>
          <p:cNvSpPr txBox="1"/>
          <p:nvPr/>
        </p:nvSpPr>
        <p:spPr>
          <a:xfrm>
            <a:off x="4112900" y="286812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074" name="Google Shape;1074;p54"/>
          <p:cNvSpPr/>
          <p:nvPr/>
        </p:nvSpPr>
        <p:spPr>
          <a:xfrm rot="5400000">
            <a:off x="1609663" y="2366201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54"/>
          <p:cNvSpPr txBox="1"/>
          <p:nvPr/>
        </p:nvSpPr>
        <p:spPr>
          <a:xfrm>
            <a:off x="1071625" y="286812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800" dirty="0"/>
          </a:p>
        </p:txBody>
      </p:sp>
      <p:graphicFrame>
        <p:nvGraphicFramePr>
          <p:cNvPr id="1076" name="Google Shape;1076;p54"/>
          <p:cNvGraphicFramePr/>
          <p:nvPr>
            <p:extLst>
              <p:ext uri="{D42A27DB-BD31-4B8C-83A1-F6EECF244321}">
                <p14:modId xmlns:p14="http://schemas.microsoft.com/office/powerpoint/2010/main" val="3687844918"/>
              </p:ext>
            </p:extLst>
          </p:nvPr>
        </p:nvGraphicFramePr>
        <p:xfrm>
          <a:off x="1417850" y="5855296"/>
          <a:ext cx="780280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8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1</a:t>
                      </a:r>
                      <a:endParaRPr sz="1600" b="1" dirty="0"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0</a:t>
                      </a:r>
                      <a:endParaRPr sz="1600" b="1" dirty="0"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0</a:t>
                      </a:r>
                      <a:endParaRPr sz="1600" b="1" dirty="0"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0</a:t>
                      </a:r>
                      <a:endParaRPr sz="1600" b="1" dirty="0"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77" name="Google Shape;1077;p54"/>
          <p:cNvSpPr txBox="1"/>
          <p:nvPr/>
        </p:nvSpPr>
        <p:spPr>
          <a:xfrm>
            <a:off x="854525" y="61167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grpSp>
        <p:nvGrpSpPr>
          <p:cNvPr id="1078" name="Google Shape;1078;p54"/>
          <p:cNvGrpSpPr/>
          <p:nvPr/>
        </p:nvGrpSpPr>
        <p:grpSpPr>
          <a:xfrm>
            <a:off x="1221225" y="3357800"/>
            <a:ext cx="3610350" cy="2339900"/>
            <a:chOff x="1498250" y="3357800"/>
            <a:chExt cx="3610350" cy="2339900"/>
          </a:xfrm>
        </p:grpSpPr>
        <p:sp>
          <p:nvSpPr>
            <p:cNvPr id="1079" name="Google Shape;1079;p54"/>
            <p:cNvSpPr txBox="1"/>
            <p:nvPr/>
          </p:nvSpPr>
          <p:spPr>
            <a:xfrm>
              <a:off x="1498250" y="4028350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4200</a:t>
              </a:r>
              <a:endParaRPr sz="400" dirty="0">
                <a:solidFill>
                  <a:schemeClr val="accent2"/>
                </a:solidFill>
              </a:endParaRPr>
            </a:p>
          </p:txBody>
        </p:sp>
        <p:cxnSp>
          <p:nvCxnSpPr>
            <p:cNvPr id="1080" name="Google Shape;1080;p54"/>
            <p:cNvCxnSpPr/>
            <p:nvPr/>
          </p:nvCxnSpPr>
          <p:spPr>
            <a:xfrm>
              <a:off x="2049950" y="4234975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081" name="Google Shape;1081;p54"/>
            <p:cNvGrpSpPr/>
            <p:nvPr/>
          </p:nvGrpSpPr>
          <p:grpSpPr>
            <a:xfrm>
              <a:off x="3815125" y="3935050"/>
              <a:ext cx="1293475" cy="369300"/>
              <a:chOff x="3823450" y="4564200"/>
              <a:chExt cx="1293475" cy="369300"/>
            </a:xfrm>
          </p:grpSpPr>
          <p:cxnSp>
            <p:nvCxnSpPr>
              <p:cNvPr id="1082" name="Google Shape;1082;p54"/>
              <p:cNvCxnSpPr/>
              <p:nvPr/>
            </p:nvCxnSpPr>
            <p:spPr>
              <a:xfrm>
                <a:off x="3824050" y="46075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3" name="Google Shape;1083;p54"/>
              <p:cNvCxnSpPr/>
              <p:nvPr/>
            </p:nvCxnSpPr>
            <p:spPr>
              <a:xfrm>
                <a:off x="3823450" y="4894150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4" name="Google Shape;1084;p54"/>
              <p:cNvCxnSpPr/>
              <p:nvPr/>
            </p:nvCxnSpPr>
            <p:spPr>
              <a:xfrm>
                <a:off x="3915975" y="4600600"/>
                <a:ext cx="0" cy="30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085" name="Google Shape;1085;p54"/>
              <p:cNvSpPr txBox="1"/>
              <p:nvPr/>
            </p:nvSpPr>
            <p:spPr>
              <a:xfrm>
                <a:off x="3945125" y="4564200"/>
                <a:ext cx="117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104</a:t>
                </a:r>
                <a:endParaRPr sz="4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1086" name="Google Shape;1086;p54"/>
            <p:cNvGrpSpPr/>
            <p:nvPr/>
          </p:nvGrpSpPr>
          <p:grpSpPr>
            <a:xfrm>
              <a:off x="2619275" y="3357800"/>
              <a:ext cx="1125359" cy="2339900"/>
              <a:chOff x="2625425" y="3871775"/>
              <a:chExt cx="1125359" cy="2339900"/>
            </a:xfrm>
          </p:grpSpPr>
          <p:grpSp>
            <p:nvGrpSpPr>
              <p:cNvPr id="1087" name="Google Shape;1087;p54"/>
              <p:cNvGrpSpPr/>
              <p:nvPr/>
            </p:nvGrpSpPr>
            <p:grpSpPr>
              <a:xfrm>
                <a:off x="2626525" y="4273149"/>
                <a:ext cx="1124259" cy="1619400"/>
                <a:chOff x="2626525" y="4273149"/>
                <a:chExt cx="1124259" cy="1619400"/>
              </a:xfrm>
            </p:grpSpPr>
            <p:sp>
              <p:nvSpPr>
                <p:cNvPr id="1088" name="Google Shape;1088;p54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89" name="Google Shape;1089;p54"/>
                <p:cNvGrpSpPr/>
                <p:nvPr/>
              </p:nvGrpSpPr>
              <p:grpSpPr>
                <a:xfrm>
                  <a:off x="2628734" y="4495878"/>
                  <a:ext cx="1122049" cy="1205397"/>
                  <a:chOff x="7948250" y="3406050"/>
                  <a:chExt cx="1076100" cy="545700"/>
                </a:xfrm>
              </p:grpSpPr>
              <p:sp>
                <p:nvSpPr>
                  <p:cNvPr id="1090" name="Google Shape;1090;p54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cxnSp>
                <p:nvCxnSpPr>
                  <p:cNvPr id="1091" name="Google Shape;1091;p54"/>
                  <p:cNvCxnSpPr>
                    <a:stCxn id="1090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cxnSp>
            <p:nvCxnSpPr>
              <p:cNvPr id="1092" name="Google Shape;1092;p54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3" name="Google Shape;1093;p54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4" name="Google Shape;1094;p54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5" name="Google Shape;1095;p54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96" name="Google Shape;1096;p54"/>
            <p:cNvSpPr txBox="1"/>
            <p:nvPr/>
          </p:nvSpPr>
          <p:spPr>
            <a:xfrm>
              <a:off x="2077025" y="3805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4K</a:t>
              </a:r>
              <a:endParaRPr sz="400"/>
            </a:p>
          </p:txBody>
        </p:sp>
        <p:sp>
          <p:nvSpPr>
            <p:cNvPr id="1097" name="Google Shape;1097;p54"/>
            <p:cNvSpPr txBox="1"/>
            <p:nvPr/>
          </p:nvSpPr>
          <p:spPr>
            <a:xfrm>
              <a:off x="2077025" y="4413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6K</a:t>
              </a:r>
              <a:endParaRPr sz="400"/>
            </a:p>
          </p:txBody>
        </p:sp>
      </p:grpSp>
      <p:grpSp>
        <p:nvGrpSpPr>
          <p:cNvPr id="1098" name="Google Shape;1098;p54"/>
          <p:cNvGrpSpPr/>
          <p:nvPr/>
        </p:nvGrpSpPr>
        <p:grpSpPr>
          <a:xfrm>
            <a:off x="8151500" y="3357800"/>
            <a:ext cx="3706875" cy="2339900"/>
            <a:chOff x="6832275" y="3357800"/>
            <a:chExt cx="3706875" cy="2339900"/>
          </a:xfrm>
        </p:grpSpPr>
        <p:grpSp>
          <p:nvGrpSpPr>
            <p:cNvPr id="1099" name="Google Shape;1099;p54"/>
            <p:cNvGrpSpPr/>
            <p:nvPr/>
          </p:nvGrpSpPr>
          <p:grpSpPr>
            <a:xfrm>
              <a:off x="6832275" y="4045838"/>
              <a:ext cx="1182875" cy="369300"/>
              <a:chOff x="6858500" y="4714063"/>
              <a:chExt cx="1182875" cy="369300"/>
            </a:xfrm>
          </p:grpSpPr>
          <p:sp>
            <p:nvSpPr>
              <p:cNvPr id="1100" name="Google Shape;1100;p54"/>
              <p:cNvSpPr txBox="1"/>
              <p:nvPr/>
            </p:nvSpPr>
            <p:spPr>
              <a:xfrm>
                <a:off x="6858500" y="4714063"/>
                <a:ext cx="631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34920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1101" name="Google Shape;1101;p54"/>
              <p:cNvCxnSpPr/>
              <p:nvPr/>
            </p:nvCxnSpPr>
            <p:spPr>
              <a:xfrm>
                <a:off x="7489675" y="4920688"/>
                <a:ext cx="551700" cy="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cxnSp>
          <p:nvCxnSpPr>
            <p:cNvPr id="1102" name="Google Shape;1102;p54"/>
            <p:cNvCxnSpPr/>
            <p:nvPr/>
          </p:nvCxnSpPr>
          <p:spPr>
            <a:xfrm>
              <a:off x="9246275" y="3989425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03" name="Google Shape;1103;p54"/>
            <p:cNvGrpSpPr/>
            <p:nvPr/>
          </p:nvGrpSpPr>
          <p:grpSpPr>
            <a:xfrm>
              <a:off x="9245675" y="3946050"/>
              <a:ext cx="1293475" cy="369300"/>
              <a:chOff x="10399750" y="3478125"/>
              <a:chExt cx="1293475" cy="369300"/>
            </a:xfrm>
          </p:grpSpPr>
          <p:cxnSp>
            <p:nvCxnSpPr>
              <p:cNvPr id="1104" name="Google Shape;1104;p54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5" name="Google Shape;1105;p54"/>
              <p:cNvCxnSpPr/>
              <p:nvPr/>
            </p:nvCxnSpPr>
            <p:spPr>
              <a:xfrm>
                <a:off x="10492275" y="3514525"/>
                <a:ext cx="0" cy="30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106" name="Google Shape;1106;p54"/>
              <p:cNvSpPr txBox="1"/>
              <p:nvPr/>
            </p:nvSpPr>
            <p:spPr>
              <a:xfrm>
                <a:off x="10521425" y="3478125"/>
                <a:ext cx="117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104</a:t>
                </a:r>
                <a:endParaRPr sz="4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1107" name="Google Shape;1107;p54"/>
            <p:cNvGrpSpPr/>
            <p:nvPr/>
          </p:nvGrpSpPr>
          <p:grpSpPr>
            <a:xfrm>
              <a:off x="8064825" y="3357800"/>
              <a:ext cx="1125359" cy="2339900"/>
              <a:chOff x="2625425" y="3871775"/>
              <a:chExt cx="1125359" cy="2339900"/>
            </a:xfrm>
          </p:grpSpPr>
          <p:grpSp>
            <p:nvGrpSpPr>
              <p:cNvPr id="1108" name="Google Shape;1108;p54"/>
              <p:cNvGrpSpPr/>
              <p:nvPr/>
            </p:nvGrpSpPr>
            <p:grpSpPr>
              <a:xfrm>
                <a:off x="2626525" y="4273149"/>
                <a:ext cx="1124259" cy="1619400"/>
                <a:chOff x="2626525" y="4273149"/>
                <a:chExt cx="1124259" cy="1619400"/>
              </a:xfrm>
            </p:grpSpPr>
            <p:sp>
              <p:nvSpPr>
                <p:cNvPr id="1109" name="Google Shape;1109;p54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10" name="Google Shape;1110;p54"/>
                <p:cNvGrpSpPr/>
                <p:nvPr/>
              </p:nvGrpSpPr>
              <p:grpSpPr>
                <a:xfrm>
                  <a:off x="2628734" y="4495878"/>
                  <a:ext cx="1122049" cy="1205397"/>
                  <a:chOff x="7948250" y="3406050"/>
                  <a:chExt cx="1076100" cy="545700"/>
                </a:xfrm>
              </p:grpSpPr>
              <p:sp>
                <p:nvSpPr>
                  <p:cNvPr id="1111" name="Google Shape;1111;p54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cxnSp>
                <p:nvCxnSpPr>
                  <p:cNvPr id="1112" name="Google Shape;1112;p54"/>
                  <p:cNvCxnSpPr>
                    <a:stCxn id="1111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cxnSp>
            <p:nvCxnSpPr>
              <p:cNvPr id="1113" name="Google Shape;1113;p54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4" name="Google Shape;1114;p54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5" name="Google Shape;1115;p54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6" name="Google Shape;1116;p54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17" name="Google Shape;1117;p54"/>
            <p:cNvSpPr txBox="1"/>
            <p:nvPr/>
          </p:nvSpPr>
          <p:spPr>
            <a:xfrm>
              <a:off x="7501200" y="3805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34K</a:t>
              </a:r>
              <a:endParaRPr sz="400"/>
            </a:p>
          </p:txBody>
        </p:sp>
        <p:sp>
          <p:nvSpPr>
            <p:cNvPr id="1118" name="Google Shape;1118;p54"/>
            <p:cNvSpPr txBox="1"/>
            <p:nvPr/>
          </p:nvSpPr>
          <p:spPr>
            <a:xfrm>
              <a:off x="7501200" y="4413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36K</a:t>
              </a:r>
              <a:endParaRPr sz="400"/>
            </a:p>
          </p:txBody>
        </p:sp>
      </p:grpSp>
      <p:grpSp>
        <p:nvGrpSpPr>
          <p:cNvPr id="1119" name="Google Shape;1119;p54"/>
          <p:cNvGrpSpPr/>
          <p:nvPr/>
        </p:nvGrpSpPr>
        <p:grpSpPr>
          <a:xfrm>
            <a:off x="4724084" y="4244375"/>
            <a:ext cx="3303251" cy="837000"/>
            <a:chOff x="3888184" y="3951525"/>
            <a:chExt cx="3303251" cy="837000"/>
          </a:xfrm>
        </p:grpSpPr>
        <p:grpSp>
          <p:nvGrpSpPr>
            <p:cNvPr id="1120" name="Google Shape;1120;p54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1121" name="Google Shape;1121;p54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1122" name="Google Shape;1122;p54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23" name="Google Shape;1123;p54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124" name="Google Shape;1124;p54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25" name="Google Shape;1125;p54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1" name="Google Shape;1079;p54">
            <a:extLst>
              <a:ext uri="{FF2B5EF4-FFF2-40B4-BE49-F238E27FC236}">
                <a16:creationId xmlns:a16="http://schemas.microsoft.com/office/drawing/2014/main" id="{008AA597-FDDF-4C62-89C0-C88598C135A4}"/>
              </a:ext>
            </a:extLst>
          </p:cNvPr>
          <p:cNvSpPr txBox="1"/>
          <p:nvPr/>
        </p:nvSpPr>
        <p:spPr>
          <a:xfrm>
            <a:off x="4739470" y="4813411"/>
            <a:ext cx="55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4200</a:t>
            </a:r>
            <a:endParaRPr sz="400" dirty="0">
              <a:solidFill>
                <a:schemeClr val="accent2"/>
              </a:solidFill>
            </a:endParaRPr>
          </a:p>
        </p:txBody>
      </p:sp>
      <p:sp>
        <p:nvSpPr>
          <p:cNvPr id="62" name="Google Shape;1100;p54">
            <a:extLst>
              <a:ext uri="{FF2B5EF4-FFF2-40B4-BE49-F238E27FC236}">
                <a16:creationId xmlns:a16="http://schemas.microsoft.com/office/drawing/2014/main" id="{1DF08BBC-A1C4-4161-9ED7-C1CB9910B8A2}"/>
              </a:ext>
            </a:extLst>
          </p:cNvPr>
          <p:cNvSpPr txBox="1"/>
          <p:nvPr/>
        </p:nvSpPr>
        <p:spPr>
          <a:xfrm>
            <a:off x="7386650" y="4782388"/>
            <a:ext cx="63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34920</a:t>
            </a:r>
            <a:endParaRPr sz="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55"/>
          <p:cNvSpPr txBox="1">
            <a:spLocks noGrp="1"/>
          </p:cNvSpPr>
          <p:nvPr>
            <p:ph type="title"/>
          </p:nvPr>
        </p:nvSpPr>
        <p:spPr>
          <a:xfrm>
            <a:off x="482600" y="365125"/>
            <a:ext cx="10871200" cy="11715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- Pseudocódigo</a:t>
            </a:r>
            <a:endParaRPr dirty="0"/>
          </a:p>
        </p:txBody>
      </p:sp>
      <p:sp>
        <p:nvSpPr>
          <p:cNvPr id="1132" name="Google Shape;1132;p55"/>
          <p:cNvSpPr txBox="1"/>
          <p:nvPr/>
        </p:nvSpPr>
        <p:spPr>
          <a:xfrm>
            <a:off x="482600" y="1506460"/>
            <a:ext cx="7070550" cy="273302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</a:t>
            </a:r>
            <a:r>
              <a:rPr lang="es-ES" sz="1600" dirty="0">
                <a:solidFill>
                  <a:srgbClr val="4F81BD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solidFill>
                  <a:srgbClr val="4F81BD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s-ES" sz="1600" dirty="0">
                <a:solidFill>
                  <a:srgbClr val="4F81BD"/>
                </a:solidFill>
                <a:latin typeface="Courier New"/>
                <a:ea typeface="Courier New"/>
                <a:cs typeface="Courier New"/>
                <a:sym typeface="Courier New"/>
              </a:rPr>
              <a:t> top 2 bits </a:t>
            </a:r>
            <a:r>
              <a:rPr lang="es-ES" sz="1600" dirty="0" err="1">
                <a:solidFill>
                  <a:srgbClr val="4F81BD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rgbClr val="4F81BD"/>
                </a:solidFill>
                <a:latin typeface="Courier New"/>
                <a:ea typeface="Courier New"/>
                <a:cs typeface="Courier New"/>
                <a:sym typeface="Courier New"/>
              </a:rPr>
              <a:t> 14-bit VA</a:t>
            </a:r>
            <a:endParaRPr sz="1600" dirty="0">
              <a:solidFill>
                <a:srgbClr val="4F81B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  Segment = (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VirtualAddress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&amp; SEG_MASK) &gt;&gt; SEG_SHIFT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-ES" sz="1600" dirty="0">
                <a:solidFill>
                  <a:srgbClr val="E46C0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>
                <a:solidFill>
                  <a:srgbClr val="4F81BD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solidFill>
                  <a:srgbClr val="4F81BD"/>
                </a:solidFill>
                <a:latin typeface="Courier New"/>
                <a:ea typeface="Courier New"/>
                <a:cs typeface="Courier New"/>
                <a:sym typeface="Courier New"/>
              </a:rPr>
              <a:t>now</a:t>
            </a:r>
            <a:r>
              <a:rPr lang="es-ES" sz="1600" dirty="0">
                <a:solidFill>
                  <a:srgbClr val="4F81BD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rgbClr val="4F81BD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s-ES" sz="1600" dirty="0">
                <a:solidFill>
                  <a:srgbClr val="4F81BD"/>
                </a:solidFill>
                <a:latin typeface="Courier New"/>
                <a:ea typeface="Courier New"/>
                <a:cs typeface="Courier New"/>
                <a:sym typeface="Courier New"/>
              </a:rPr>
              <a:t> offset</a:t>
            </a:r>
            <a:endParaRPr sz="1600" dirty="0">
              <a:solidFill>
                <a:srgbClr val="4F81B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  Offset =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VirtualAddress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&amp; OFFSET_MASK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  </a:t>
            </a:r>
            <a:r>
              <a:rPr lang="es-ES" sz="1600" dirty="0" err="1">
                <a:solidFill>
                  <a:srgbClr val="E46C0A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(Offset &gt;= Bounds[Segment])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    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RaiseException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(PROTECTION_FAULT)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   </a:t>
            </a:r>
            <a:r>
              <a:rPr lang="es-ES" sz="1600" dirty="0" err="1">
                <a:solidFill>
                  <a:srgbClr val="E46C0A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600" dirty="0">
              <a:solidFill>
                <a:srgbClr val="E46C0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8    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PhysAddr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Base[Segment] + Offset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9     Register =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AccessMemory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PhysAddr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3" name="Google Shape;1133;p55"/>
          <p:cNvSpPr txBox="1"/>
          <p:nvPr/>
        </p:nvSpPr>
        <p:spPr>
          <a:xfrm>
            <a:off x="482600" y="4408662"/>
            <a:ext cx="5800550" cy="139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SEG_MASK = 0x3000(11000000000000)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SEG_SHIFT = 12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OFFSET_MASK = 0xFFF (00111111111111)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012189-3AE4-4EAA-8445-A0A554D2B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556" y="4311610"/>
            <a:ext cx="4328388" cy="6445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364345B-F966-4F9A-89E3-7C26EFF60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900" y="5891089"/>
            <a:ext cx="5219700" cy="60178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A576552-F49C-4EA5-B73D-111E67FC3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162" y="5028243"/>
            <a:ext cx="3305175" cy="838200"/>
          </a:xfrm>
          <a:prstGeom prst="rect">
            <a:avLst/>
          </a:prstGeom>
        </p:spPr>
      </p:pic>
      <p:graphicFrame>
        <p:nvGraphicFramePr>
          <p:cNvPr id="15" name="Google Shape;1060;p53">
            <a:extLst>
              <a:ext uri="{FF2B5EF4-FFF2-40B4-BE49-F238E27FC236}">
                <a16:creationId xmlns:a16="http://schemas.microsoft.com/office/drawing/2014/main" id="{C49AE30C-543A-4D79-AFE7-2548877179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1379057"/>
              </p:ext>
            </p:extLst>
          </p:nvPr>
        </p:nvGraphicFramePr>
        <p:xfrm>
          <a:off x="7891300" y="1710675"/>
          <a:ext cx="3818100" cy="213345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1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7"/>
          <p:cNvSpPr txBox="1">
            <a:spLocks noGrp="1"/>
          </p:cNvSpPr>
          <p:nvPr>
            <p:ph type="title"/>
          </p:nvPr>
        </p:nvSpPr>
        <p:spPr>
          <a:xfrm>
            <a:off x="469900" y="96038"/>
            <a:ext cx="87507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 (II)</a:t>
            </a:r>
            <a:endParaRPr dirty="0">
              <a:latin typeface="+mj-lt"/>
            </a:endParaRPr>
          </a:p>
        </p:txBody>
      </p:sp>
      <p:sp>
        <p:nvSpPr>
          <p:cNvPr id="1148" name="Google Shape;1148;p57"/>
          <p:cNvSpPr txBox="1">
            <a:spLocks noGrp="1"/>
          </p:cNvSpPr>
          <p:nvPr>
            <p:ph type="body" idx="1"/>
          </p:nvPr>
        </p:nvSpPr>
        <p:spPr>
          <a:xfrm>
            <a:off x="429150" y="860300"/>
            <a:ext cx="11445350" cy="256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Segmento stack (pila)</a:t>
            </a:r>
            <a:endParaRPr sz="2800" b="1" dirty="0">
              <a:solidFill>
                <a:schemeClr val="accent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La pila crece </a:t>
            </a:r>
            <a:r>
              <a:rPr lang="es-ES" sz="2400" b="1" dirty="0">
                <a:solidFill>
                  <a:srgbClr val="FF0000"/>
                </a:solidFill>
              </a:rPr>
              <a:t>hacia atras (grows background)</a:t>
            </a:r>
            <a:endParaRPr sz="2400" b="1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Es necesario agregar soporte de hardware adicional que indique el sentido de crecimiento del segmento: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0:</a:t>
            </a:r>
            <a:r>
              <a:rPr lang="es-ES" sz="2400" dirty="0"/>
              <a:t> Crecimiento en dirección negativa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1:</a:t>
            </a:r>
            <a:r>
              <a:rPr lang="es-ES" sz="2400" dirty="0"/>
              <a:t> Crecimiento en dirección positiva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149" name="Google Shape;1149;p57"/>
          <p:cNvGraphicFramePr/>
          <p:nvPr>
            <p:extLst>
              <p:ext uri="{D42A27DB-BD31-4B8C-83A1-F6EECF244321}">
                <p14:modId xmlns:p14="http://schemas.microsoft.com/office/powerpoint/2010/main" val="518512936"/>
              </p:ext>
            </p:extLst>
          </p:nvPr>
        </p:nvGraphicFramePr>
        <p:xfrm>
          <a:off x="2818087" y="3479801"/>
          <a:ext cx="6667475" cy="182868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3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32K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28K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50" name="Google Shape;1150;p57"/>
          <p:cNvSpPr txBox="1"/>
          <p:nvPr/>
        </p:nvSpPr>
        <p:spPr>
          <a:xfrm>
            <a:off x="2562750" y="5377582"/>
            <a:ext cx="7066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Segment Registers (With Negative-Growth Support) </a:t>
            </a:r>
            <a:endParaRPr sz="18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n-lt"/>
              </a:rPr>
              <a:t>Traducción de direcciones (II)</a:t>
            </a:r>
            <a:endParaRPr b="0" dirty="0">
              <a:latin typeface="+mn-lt"/>
            </a:endParaRPr>
          </a:p>
        </p:txBody>
      </p:sp>
      <p:sp>
        <p:nvSpPr>
          <p:cNvPr id="1156" name="Google Shape;1156;p58"/>
          <p:cNvSpPr txBox="1">
            <a:spLocks noGrp="1"/>
          </p:cNvSpPr>
          <p:nvPr>
            <p:ph type="body" idx="1"/>
          </p:nvPr>
        </p:nvSpPr>
        <p:spPr>
          <a:xfrm>
            <a:off x="916650" y="1020500"/>
            <a:ext cx="10919700" cy="76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Segmento stack (pila)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157" name="Google Shape;1157;p58"/>
          <p:cNvGraphicFramePr/>
          <p:nvPr>
            <p:extLst>
              <p:ext uri="{D42A27DB-BD31-4B8C-83A1-F6EECF244321}">
                <p14:modId xmlns:p14="http://schemas.microsoft.com/office/powerpoint/2010/main" val="3451932490"/>
              </p:ext>
            </p:extLst>
          </p:nvPr>
        </p:nvGraphicFramePr>
        <p:xfrm>
          <a:off x="5324400" y="2431473"/>
          <a:ext cx="6009050" cy="17068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19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58" name="Google Shape;1158;p58"/>
          <p:cNvSpPr txBox="1"/>
          <p:nvPr/>
        </p:nvSpPr>
        <p:spPr>
          <a:xfrm>
            <a:off x="4700350" y="4318050"/>
            <a:ext cx="7066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Segment Registers (With Negative-Growth Support) 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9" name="Google Shape;115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875" y="2195200"/>
            <a:ext cx="2526618" cy="31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59"/>
          <p:cNvSpPr txBox="1">
            <a:spLocks noGrp="1"/>
          </p:cNvSpPr>
          <p:nvPr>
            <p:ph type="title"/>
          </p:nvPr>
        </p:nvSpPr>
        <p:spPr>
          <a:xfrm>
            <a:off x="266700" y="96038"/>
            <a:ext cx="89539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 (II)</a:t>
            </a:r>
            <a:endParaRPr dirty="0">
              <a:latin typeface="+mj-lt"/>
            </a:endParaRPr>
          </a:p>
        </p:txBody>
      </p:sp>
      <p:sp>
        <p:nvSpPr>
          <p:cNvPr id="1165" name="Google Shape;1165;p59"/>
          <p:cNvSpPr txBox="1">
            <a:spLocks noGrp="1"/>
          </p:cNvSpPr>
          <p:nvPr>
            <p:ph type="body" idx="1"/>
          </p:nvPr>
        </p:nvSpPr>
        <p:spPr>
          <a:xfrm>
            <a:off x="266700" y="825423"/>
            <a:ext cx="7785100" cy="3079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Para el mismo ejemplo que se ha venido trabajando y teniendo en cuenta los segmentos mostrados en la tabla adjunta.  Si </a:t>
            </a:r>
            <a:r>
              <a:rPr lang="es-ES" sz="2400" dirty="0">
                <a:latin typeface="+mn-lt"/>
                <a:ea typeface="Consolas"/>
                <a:cs typeface="Consolas"/>
                <a:sym typeface="Consolas"/>
              </a:rPr>
              <a:t>VA = 15K</a:t>
            </a:r>
            <a:r>
              <a:rPr lang="es-ES" sz="2400" dirty="0">
                <a:latin typeface="+mn-lt"/>
              </a:rPr>
              <a:t>, determine: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 ¿A cuál segmento pertenece dicha VA?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¿Cual es el offset?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¿Cual es la dirección física?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66" name="Google Shape;1166;p59"/>
          <p:cNvGraphicFramePr/>
          <p:nvPr>
            <p:extLst>
              <p:ext uri="{D42A27DB-BD31-4B8C-83A1-F6EECF244321}">
                <p14:modId xmlns:p14="http://schemas.microsoft.com/office/powerpoint/2010/main" val="1487170695"/>
              </p:ext>
            </p:extLst>
          </p:nvPr>
        </p:nvGraphicFramePr>
        <p:xfrm>
          <a:off x="958950" y="3905223"/>
          <a:ext cx="6740800" cy="182868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33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67" name="Google Shape;116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2775" y="1045538"/>
            <a:ext cx="2780275" cy="502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60"/>
          <p:cNvSpPr txBox="1">
            <a:spLocks noGrp="1"/>
          </p:cNvSpPr>
          <p:nvPr>
            <p:ph type="title"/>
          </p:nvPr>
        </p:nvSpPr>
        <p:spPr>
          <a:xfrm>
            <a:off x="482600" y="96038"/>
            <a:ext cx="8738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 (II)</a:t>
            </a:r>
            <a:endParaRPr dirty="0">
              <a:latin typeface="+mj-lt"/>
            </a:endParaRPr>
          </a:p>
        </p:txBody>
      </p:sp>
      <p:sp>
        <p:nvSpPr>
          <p:cNvPr id="1173" name="Google Shape;1173;p60"/>
          <p:cNvSpPr txBox="1">
            <a:spLocks noGrp="1"/>
          </p:cNvSpPr>
          <p:nvPr>
            <p:ph type="body" idx="1"/>
          </p:nvPr>
        </p:nvSpPr>
        <p:spPr>
          <a:xfrm>
            <a:off x="486900" y="835364"/>
            <a:ext cx="7524600" cy="13819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Datos ejemplo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18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15K</a:t>
            </a:r>
            <a:endParaRPr sz="18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18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seg(VA) = ?</a:t>
            </a:r>
            <a:endParaRPr sz="18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74" name="Google Shape;1174;p60"/>
          <p:cNvGraphicFramePr/>
          <p:nvPr>
            <p:extLst>
              <p:ext uri="{D42A27DB-BD31-4B8C-83A1-F6EECF244321}">
                <p14:modId xmlns:p14="http://schemas.microsoft.com/office/powerpoint/2010/main" val="124387953"/>
              </p:ext>
            </p:extLst>
          </p:nvPr>
        </p:nvGraphicFramePr>
        <p:xfrm>
          <a:off x="2571075" y="1991440"/>
          <a:ext cx="6313762" cy="17067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43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8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75" name="Google Shape;117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3525" y="1134489"/>
            <a:ext cx="2532950" cy="4577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60"/>
          <p:cNvSpPr txBox="1"/>
          <p:nvPr/>
        </p:nvSpPr>
        <p:spPr>
          <a:xfrm>
            <a:off x="2386050" y="3688250"/>
            <a:ext cx="7419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15K = 15(2^10) = 15(1024) = 15360 = 0x3C00</a:t>
            </a:r>
            <a:endParaRPr dirty="0"/>
          </a:p>
        </p:txBody>
      </p:sp>
      <p:graphicFrame>
        <p:nvGraphicFramePr>
          <p:cNvPr id="1177" name="Google Shape;1177;p60"/>
          <p:cNvGraphicFramePr/>
          <p:nvPr>
            <p:extLst>
              <p:ext uri="{D42A27DB-BD31-4B8C-83A1-F6EECF244321}">
                <p14:modId xmlns:p14="http://schemas.microsoft.com/office/powerpoint/2010/main" val="2457309827"/>
              </p:ext>
            </p:extLst>
          </p:nvPr>
        </p:nvGraphicFramePr>
        <p:xfrm>
          <a:off x="2627800" y="4304900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78" name="Google Shape;1178;p60"/>
          <p:cNvSpPr txBox="1"/>
          <p:nvPr/>
        </p:nvSpPr>
        <p:spPr>
          <a:xfrm>
            <a:off x="2058075" y="47013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179" name="Google Shape;1179;p60"/>
          <p:cNvSpPr/>
          <p:nvPr/>
        </p:nvSpPr>
        <p:spPr>
          <a:xfrm rot="5400000">
            <a:off x="5963325" y="2769900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60"/>
          <p:cNvSpPr txBox="1"/>
          <p:nvPr/>
        </p:nvSpPr>
        <p:spPr>
          <a:xfrm>
            <a:off x="5417400" y="550560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 dirty="0">
              <a:solidFill>
                <a:srgbClr val="FF0000"/>
              </a:solidFill>
            </a:endParaRPr>
          </a:p>
        </p:txBody>
      </p:sp>
      <p:sp>
        <p:nvSpPr>
          <p:cNvPr id="1181" name="Google Shape;1181;p60"/>
          <p:cNvSpPr/>
          <p:nvPr/>
        </p:nvSpPr>
        <p:spPr>
          <a:xfrm rot="5400000">
            <a:off x="2914200" y="4938000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60"/>
          <p:cNvSpPr txBox="1"/>
          <p:nvPr/>
        </p:nvSpPr>
        <p:spPr>
          <a:xfrm>
            <a:off x="2357250" y="552394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>
              <a:solidFill>
                <a:srgbClr val="00B050"/>
              </a:solidFill>
            </a:endParaRPr>
          </a:p>
        </p:txBody>
      </p:sp>
      <p:sp>
        <p:nvSpPr>
          <p:cNvPr id="1183" name="Google Shape;1183;p60"/>
          <p:cNvSpPr txBox="1"/>
          <p:nvPr/>
        </p:nvSpPr>
        <p:spPr>
          <a:xfrm>
            <a:off x="1934325" y="5877660"/>
            <a:ext cx="7419900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Segmento: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stack</a:t>
            </a:r>
            <a:endParaRPr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61"/>
          <p:cNvSpPr txBox="1">
            <a:spLocks noGrp="1"/>
          </p:cNvSpPr>
          <p:nvPr>
            <p:ph type="title"/>
          </p:nvPr>
        </p:nvSpPr>
        <p:spPr>
          <a:xfrm>
            <a:off x="177800" y="96038"/>
            <a:ext cx="90428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(II)</a:t>
            </a:r>
            <a:endParaRPr b="0" dirty="0">
              <a:latin typeface="+mj-lt"/>
            </a:endParaRPr>
          </a:p>
        </p:txBody>
      </p:sp>
      <p:sp>
        <p:nvSpPr>
          <p:cNvPr id="1189" name="Google Shape;1189;p61"/>
          <p:cNvSpPr txBox="1">
            <a:spLocks noGrp="1"/>
          </p:cNvSpPr>
          <p:nvPr>
            <p:ph type="body" idx="1"/>
          </p:nvPr>
        </p:nvSpPr>
        <p:spPr>
          <a:xfrm>
            <a:off x="268950" y="931550"/>
            <a:ext cx="2601250" cy="12788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Datos ejemplo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15K</a:t>
            </a:r>
            <a:endParaRPr sz="20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offset(VA) = ?</a:t>
            </a:r>
            <a:endParaRPr sz="20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90" name="Google Shape;1190;p61"/>
          <p:cNvGraphicFramePr/>
          <p:nvPr>
            <p:extLst>
              <p:ext uri="{D42A27DB-BD31-4B8C-83A1-F6EECF244321}">
                <p14:modId xmlns:p14="http://schemas.microsoft.com/office/powerpoint/2010/main" val="2048555661"/>
              </p:ext>
            </p:extLst>
          </p:nvPr>
        </p:nvGraphicFramePr>
        <p:xfrm>
          <a:off x="3192086" y="1129248"/>
          <a:ext cx="5658403" cy="17067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91" name="Google Shape;119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376" y="1045871"/>
            <a:ext cx="2532950" cy="4577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61"/>
          <p:cNvSpPr txBox="1"/>
          <p:nvPr/>
        </p:nvSpPr>
        <p:spPr>
          <a:xfrm>
            <a:off x="3277275" y="4853600"/>
            <a:ext cx="52710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1100 0000 0000 = 0xC00 = 3072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3072/1024 = 3K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193" name="Google Shape;1193;p61"/>
          <p:cNvGraphicFramePr/>
          <p:nvPr/>
        </p:nvGraphicFramePr>
        <p:xfrm>
          <a:off x="2171725" y="3158125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94" name="Google Shape;1194;p61"/>
          <p:cNvSpPr txBox="1"/>
          <p:nvPr/>
        </p:nvSpPr>
        <p:spPr>
          <a:xfrm>
            <a:off x="1602000" y="35545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195" name="Google Shape;1195;p61"/>
          <p:cNvSpPr/>
          <p:nvPr/>
        </p:nvSpPr>
        <p:spPr>
          <a:xfrm rot="5400000">
            <a:off x="5507250" y="1623125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61"/>
          <p:cNvSpPr txBox="1"/>
          <p:nvPr/>
        </p:nvSpPr>
        <p:spPr>
          <a:xfrm>
            <a:off x="4974150" y="434360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97" name="Google Shape;1197;p61"/>
          <p:cNvSpPr/>
          <p:nvPr/>
        </p:nvSpPr>
        <p:spPr>
          <a:xfrm rot="5400000">
            <a:off x="2458125" y="3791225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61"/>
          <p:cNvSpPr txBox="1"/>
          <p:nvPr/>
        </p:nvSpPr>
        <p:spPr>
          <a:xfrm>
            <a:off x="1920075" y="434360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>
              <a:solidFill>
                <a:srgbClr val="00B050"/>
              </a:solidFill>
            </a:endParaRPr>
          </a:p>
        </p:txBody>
      </p:sp>
      <p:sp>
        <p:nvSpPr>
          <p:cNvPr id="1199" name="Google Shape;1199;p61"/>
          <p:cNvSpPr txBox="1"/>
          <p:nvPr/>
        </p:nvSpPr>
        <p:spPr>
          <a:xfrm>
            <a:off x="1128375" y="5801352"/>
            <a:ext cx="7419900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offset: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3K</a:t>
            </a:r>
            <a:endParaRPr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62"/>
          <p:cNvSpPr txBox="1">
            <a:spLocks noGrp="1"/>
          </p:cNvSpPr>
          <p:nvPr>
            <p:ph type="title"/>
          </p:nvPr>
        </p:nvSpPr>
        <p:spPr>
          <a:xfrm>
            <a:off x="228602" y="96038"/>
            <a:ext cx="899204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(II)</a:t>
            </a:r>
            <a:endParaRPr b="0" dirty="0">
              <a:latin typeface="+mj-lt"/>
            </a:endParaRPr>
          </a:p>
        </p:txBody>
      </p:sp>
      <p:sp>
        <p:nvSpPr>
          <p:cNvPr id="1205" name="Google Shape;1205;p62"/>
          <p:cNvSpPr txBox="1">
            <a:spLocks noGrp="1"/>
          </p:cNvSpPr>
          <p:nvPr>
            <p:ph type="body" idx="1"/>
          </p:nvPr>
        </p:nvSpPr>
        <p:spPr>
          <a:xfrm>
            <a:off x="320425" y="1032031"/>
            <a:ext cx="2873550" cy="1327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Datos ejemplo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18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15K</a:t>
            </a:r>
            <a:endParaRPr sz="18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18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offset(VA) = ?</a:t>
            </a:r>
            <a:endParaRPr sz="18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graphicFrame>
        <p:nvGraphicFramePr>
          <p:cNvPr id="1206" name="Google Shape;1206;p62"/>
          <p:cNvGraphicFramePr/>
          <p:nvPr>
            <p:extLst>
              <p:ext uri="{D42A27DB-BD31-4B8C-83A1-F6EECF244321}">
                <p14:modId xmlns:p14="http://schemas.microsoft.com/office/powerpoint/2010/main" val="2464937595"/>
              </p:ext>
            </p:extLst>
          </p:nvPr>
        </p:nvGraphicFramePr>
        <p:xfrm>
          <a:off x="3643299" y="1031934"/>
          <a:ext cx="6472213" cy="182868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43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7" name="Google Shape;1207;p62"/>
          <p:cNvSpPr txBox="1"/>
          <p:nvPr/>
        </p:nvSpPr>
        <p:spPr>
          <a:xfrm>
            <a:off x="660975" y="4725544"/>
            <a:ext cx="3422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segment = stack</a:t>
            </a:r>
            <a:endParaRPr sz="1800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3K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208" name="Google Shape;1208;p62"/>
          <p:cNvGraphicFramePr/>
          <p:nvPr>
            <p:extLst>
              <p:ext uri="{D42A27DB-BD31-4B8C-83A1-F6EECF244321}">
                <p14:modId xmlns:p14="http://schemas.microsoft.com/office/powerpoint/2010/main" val="3109004559"/>
              </p:ext>
            </p:extLst>
          </p:nvPr>
        </p:nvGraphicFramePr>
        <p:xfrm>
          <a:off x="1280950" y="3078357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09" name="Google Shape;1209;p62"/>
          <p:cNvSpPr txBox="1"/>
          <p:nvPr/>
        </p:nvSpPr>
        <p:spPr>
          <a:xfrm>
            <a:off x="711225" y="3474757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210" name="Google Shape;1210;p62"/>
          <p:cNvSpPr/>
          <p:nvPr/>
        </p:nvSpPr>
        <p:spPr>
          <a:xfrm rot="5400000">
            <a:off x="4616475" y="1543357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62"/>
          <p:cNvSpPr txBox="1"/>
          <p:nvPr/>
        </p:nvSpPr>
        <p:spPr>
          <a:xfrm>
            <a:off x="4083375" y="4263832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12" name="Google Shape;1212;p62"/>
          <p:cNvSpPr/>
          <p:nvPr/>
        </p:nvSpPr>
        <p:spPr>
          <a:xfrm rot="5400000">
            <a:off x="1567350" y="3711457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70AD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62"/>
          <p:cNvSpPr txBox="1"/>
          <p:nvPr/>
        </p:nvSpPr>
        <p:spPr>
          <a:xfrm>
            <a:off x="1029300" y="4263832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>
              <a:solidFill>
                <a:srgbClr val="70AD47"/>
              </a:solidFill>
            </a:endParaRPr>
          </a:p>
        </p:txBody>
      </p:sp>
      <p:grpSp>
        <p:nvGrpSpPr>
          <p:cNvPr id="1214" name="Google Shape;1214;p62"/>
          <p:cNvGrpSpPr/>
          <p:nvPr/>
        </p:nvGrpSpPr>
        <p:grpSpPr>
          <a:xfrm>
            <a:off x="8039475" y="3672700"/>
            <a:ext cx="4019425" cy="2108288"/>
            <a:chOff x="8074225" y="3809775"/>
            <a:chExt cx="4019425" cy="2108288"/>
          </a:xfrm>
        </p:grpSpPr>
        <p:sp>
          <p:nvSpPr>
            <p:cNvPr id="1215" name="Google Shape;1215;p62"/>
            <p:cNvSpPr txBox="1"/>
            <p:nvPr/>
          </p:nvSpPr>
          <p:spPr>
            <a:xfrm>
              <a:off x="8117250" y="53376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15K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1216" name="Google Shape;1216;p62"/>
            <p:cNvCxnSpPr/>
            <p:nvPr/>
          </p:nvCxnSpPr>
          <p:spPr>
            <a:xfrm>
              <a:off x="8668950" y="5521813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17" name="Google Shape;1217;p62"/>
            <p:cNvCxnSpPr/>
            <p:nvPr/>
          </p:nvCxnSpPr>
          <p:spPr>
            <a:xfrm>
              <a:off x="10417375" y="5479550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18" name="Google Shape;1218;p62"/>
            <p:cNvGrpSpPr/>
            <p:nvPr/>
          </p:nvGrpSpPr>
          <p:grpSpPr>
            <a:xfrm>
              <a:off x="10417375" y="5475600"/>
              <a:ext cx="1638175" cy="373250"/>
              <a:chOff x="10399750" y="3474175"/>
              <a:chExt cx="1638175" cy="373250"/>
            </a:xfrm>
          </p:grpSpPr>
          <p:cxnSp>
            <p:nvCxnSpPr>
              <p:cNvPr id="1219" name="Google Shape;1219;p62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0" name="Google Shape;1220;p62"/>
              <p:cNvCxnSpPr/>
              <p:nvPr/>
            </p:nvCxnSpPr>
            <p:spPr>
              <a:xfrm flipH="1">
                <a:off x="10492400" y="3474175"/>
                <a:ext cx="4800" cy="34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1221" name="Google Shape;1221;p62"/>
              <p:cNvSpPr txBox="1"/>
              <p:nvPr/>
            </p:nvSpPr>
            <p:spPr>
              <a:xfrm>
                <a:off x="10521425" y="3478125"/>
                <a:ext cx="151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1K (grows bg)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222" name="Google Shape;1222;p62"/>
            <p:cNvSpPr/>
            <p:nvPr/>
          </p:nvSpPr>
          <p:spPr>
            <a:xfrm>
              <a:off x="9237475" y="4211149"/>
              <a:ext cx="1122000" cy="16194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3" name="Google Shape;1223;p62"/>
            <p:cNvGrpSpPr/>
            <p:nvPr/>
          </p:nvGrpSpPr>
          <p:grpSpPr>
            <a:xfrm>
              <a:off x="9236734" y="4617139"/>
              <a:ext cx="1122049" cy="1211850"/>
              <a:chOff x="7945421" y="3489015"/>
              <a:chExt cx="1076100" cy="548621"/>
            </a:xfrm>
          </p:grpSpPr>
          <p:sp>
            <p:nvSpPr>
              <p:cNvPr id="1224" name="Google Shape;1224;p62"/>
              <p:cNvSpPr/>
              <p:nvPr/>
            </p:nvSpPr>
            <p:spPr>
              <a:xfrm>
                <a:off x="7945421" y="3753236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225" name="Google Shape;1225;p62"/>
              <p:cNvCxnSpPr/>
              <p:nvPr/>
            </p:nvCxnSpPr>
            <p:spPr>
              <a:xfrm>
                <a:off x="8480006" y="3489015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cxnSp>
          <p:nvCxnSpPr>
            <p:cNvPr id="1226" name="Google Shape;1226;p62"/>
            <p:cNvCxnSpPr/>
            <p:nvPr/>
          </p:nvCxnSpPr>
          <p:spPr>
            <a:xfrm rot="10800000">
              <a:off x="9236375" y="3810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7" name="Google Shape;1227;p62"/>
            <p:cNvCxnSpPr/>
            <p:nvPr/>
          </p:nvCxnSpPr>
          <p:spPr>
            <a:xfrm rot="10800000">
              <a:off x="10359550" y="3809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8" name="Google Shape;1228;p62"/>
            <p:cNvCxnSpPr/>
            <p:nvPr/>
          </p:nvCxnSpPr>
          <p:spPr>
            <a:xfrm>
              <a:off x="10417375" y="4201225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9" name="Google Shape;1229;p62"/>
            <p:cNvCxnSpPr/>
            <p:nvPr/>
          </p:nvCxnSpPr>
          <p:spPr>
            <a:xfrm flipH="1">
              <a:off x="10507800" y="4201225"/>
              <a:ext cx="21300" cy="1271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30" name="Google Shape;1230;p62"/>
            <p:cNvSpPr txBox="1"/>
            <p:nvPr/>
          </p:nvSpPr>
          <p:spPr>
            <a:xfrm>
              <a:off x="10577150" y="4588400"/>
              <a:ext cx="151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3K (offset)</a:t>
              </a:r>
              <a:endParaRPr sz="400">
                <a:solidFill>
                  <a:srgbClr val="FF0000"/>
                </a:solidFill>
              </a:endParaRPr>
            </a:p>
          </p:txBody>
        </p:sp>
        <p:cxnSp>
          <p:nvCxnSpPr>
            <p:cNvPr id="1231" name="Google Shape;1231;p62"/>
            <p:cNvCxnSpPr/>
            <p:nvPr/>
          </p:nvCxnSpPr>
          <p:spPr>
            <a:xfrm rot="10800000" flipH="1">
              <a:off x="8074225" y="4200025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2" name="Google Shape;1232;p62"/>
            <p:cNvCxnSpPr/>
            <p:nvPr/>
          </p:nvCxnSpPr>
          <p:spPr>
            <a:xfrm rot="10800000" flipH="1">
              <a:off x="8092425" y="5829000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3" name="Google Shape;1233;p62"/>
            <p:cNvCxnSpPr/>
            <p:nvPr/>
          </p:nvCxnSpPr>
          <p:spPr>
            <a:xfrm flipH="1">
              <a:off x="8202725" y="4218000"/>
              <a:ext cx="23700" cy="16110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34" name="Google Shape;1234;p62"/>
            <p:cNvSpPr txBox="1"/>
            <p:nvPr/>
          </p:nvSpPr>
          <p:spPr>
            <a:xfrm>
              <a:off x="8262575" y="4714775"/>
              <a:ext cx="85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4K (max)</a:t>
              </a:r>
              <a:endParaRPr sz="400" dirty="0">
                <a:solidFill>
                  <a:schemeClr val="accent5"/>
                </a:solidFill>
              </a:endParaRPr>
            </a:p>
          </p:txBody>
        </p:sp>
        <p:sp>
          <p:nvSpPr>
            <p:cNvPr id="1235" name="Google Shape;1235;p62"/>
            <p:cNvSpPr txBox="1"/>
            <p:nvPr/>
          </p:nvSpPr>
          <p:spPr>
            <a:xfrm>
              <a:off x="8677363" y="55487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16K</a:t>
              </a:r>
              <a:endParaRPr sz="400"/>
            </a:p>
          </p:txBody>
        </p:sp>
        <p:sp>
          <p:nvSpPr>
            <p:cNvPr id="1236" name="Google Shape;1236;p62"/>
            <p:cNvSpPr txBox="1"/>
            <p:nvPr/>
          </p:nvSpPr>
          <p:spPr>
            <a:xfrm>
              <a:off x="8677363" y="50840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14K</a:t>
              </a:r>
              <a:endParaRPr sz="400"/>
            </a:p>
          </p:txBody>
        </p:sp>
      </p:grpSp>
      <p:sp>
        <p:nvSpPr>
          <p:cNvPr id="1237" name="Google Shape;1237;p62"/>
          <p:cNvSpPr txBox="1"/>
          <p:nvPr/>
        </p:nvSpPr>
        <p:spPr>
          <a:xfrm>
            <a:off x="779406" y="5533892"/>
            <a:ext cx="6691531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el offset hay 12 bits, por lo tanto el </a:t>
            </a:r>
            <a:r>
              <a:rPr lang="es-ES" sz="1800" b="1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offset máximo</a:t>
            </a:r>
            <a:r>
              <a:rPr lang="es-ES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será: 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offset(max) = 2^12 = 4096 = 4K (max)</a:t>
            </a:r>
            <a:endParaRPr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63"/>
          <p:cNvSpPr txBox="1">
            <a:spLocks noGrp="1"/>
          </p:cNvSpPr>
          <p:nvPr>
            <p:ph type="title"/>
          </p:nvPr>
        </p:nvSpPr>
        <p:spPr>
          <a:xfrm>
            <a:off x="381000" y="96038"/>
            <a:ext cx="8839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(II)</a:t>
            </a:r>
            <a:endParaRPr b="0" dirty="0">
              <a:latin typeface="+mj-lt"/>
            </a:endParaRPr>
          </a:p>
        </p:txBody>
      </p:sp>
      <p:sp>
        <p:nvSpPr>
          <p:cNvPr id="1243" name="Google Shape;1243;p63"/>
          <p:cNvSpPr txBox="1">
            <a:spLocks noGrp="1"/>
          </p:cNvSpPr>
          <p:nvPr>
            <p:ph type="body" idx="1"/>
          </p:nvPr>
        </p:nvSpPr>
        <p:spPr>
          <a:xfrm>
            <a:off x="381000" y="955300"/>
            <a:ext cx="8253200" cy="56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Segmento stack (pila)</a:t>
            </a:r>
            <a:endParaRPr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44" name="Google Shape;1244;p63"/>
          <p:cNvSpPr txBox="1"/>
          <p:nvPr/>
        </p:nvSpPr>
        <p:spPr>
          <a:xfrm>
            <a:off x="782706" y="1827456"/>
            <a:ext cx="4396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VA = [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1100000000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Char char="○"/>
            </a:pPr>
            <a:r>
              <a:rPr lang="es-ES" sz="18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segment = stack</a:t>
            </a:r>
            <a:endParaRPr sz="1800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onsolas"/>
              <a:buChar char="○"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3K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245" name="Google Shape;1245;p63"/>
          <p:cNvGrpSpPr/>
          <p:nvPr/>
        </p:nvGrpSpPr>
        <p:grpSpPr>
          <a:xfrm>
            <a:off x="498061" y="3944308"/>
            <a:ext cx="4019425" cy="2108288"/>
            <a:chOff x="8074225" y="3809775"/>
            <a:chExt cx="4019425" cy="2108288"/>
          </a:xfrm>
        </p:grpSpPr>
        <p:sp>
          <p:nvSpPr>
            <p:cNvPr id="1246" name="Google Shape;1246;p63"/>
            <p:cNvSpPr txBox="1"/>
            <p:nvPr/>
          </p:nvSpPr>
          <p:spPr>
            <a:xfrm>
              <a:off x="8117250" y="53376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15K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1247" name="Google Shape;1247;p63"/>
            <p:cNvCxnSpPr/>
            <p:nvPr/>
          </p:nvCxnSpPr>
          <p:spPr>
            <a:xfrm>
              <a:off x="8668950" y="5521813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48" name="Google Shape;1248;p63"/>
            <p:cNvCxnSpPr/>
            <p:nvPr/>
          </p:nvCxnSpPr>
          <p:spPr>
            <a:xfrm>
              <a:off x="10417375" y="5479550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49" name="Google Shape;1249;p63"/>
            <p:cNvGrpSpPr/>
            <p:nvPr/>
          </p:nvGrpSpPr>
          <p:grpSpPr>
            <a:xfrm>
              <a:off x="10417375" y="5475600"/>
              <a:ext cx="1638175" cy="373250"/>
              <a:chOff x="10399750" y="3474175"/>
              <a:chExt cx="1638175" cy="373250"/>
            </a:xfrm>
          </p:grpSpPr>
          <p:cxnSp>
            <p:nvCxnSpPr>
              <p:cNvPr id="1250" name="Google Shape;1250;p63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1" name="Google Shape;1251;p63"/>
              <p:cNvCxnSpPr/>
              <p:nvPr/>
            </p:nvCxnSpPr>
            <p:spPr>
              <a:xfrm flipH="1">
                <a:off x="10492400" y="3474175"/>
                <a:ext cx="4800" cy="34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1252" name="Google Shape;1252;p63"/>
              <p:cNvSpPr txBox="1"/>
              <p:nvPr/>
            </p:nvSpPr>
            <p:spPr>
              <a:xfrm>
                <a:off x="10521425" y="3478125"/>
                <a:ext cx="151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1K (grows bg)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253" name="Google Shape;1253;p63"/>
            <p:cNvSpPr/>
            <p:nvPr/>
          </p:nvSpPr>
          <p:spPr>
            <a:xfrm>
              <a:off x="9237475" y="4211149"/>
              <a:ext cx="1122000" cy="16194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4" name="Google Shape;1254;p63"/>
            <p:cNvGrpSpPr/>
            <p:nvPr/>
          </p:nvGrpSpPr>
          <p:grpSpPr>
            <a:xfrm>
              <a:off x="9236734" y="4617139"/>
              <a:ext cx="1122049" cy="1211850"/>
              <a:chOff x="7945421" y="3489015"/>
              <a:chExt cx="1076100" cy="548621"/>
            </a:xfrm>
          </p:grpSpPr>
          <p:sp>
            <p:nvSpPr>
              <p:cNvPr id="1255" name="Google Shape;1255;p63"/>
              <p:cNvSpPr/>
              <p:nvPr/>
            </p:nvSpPr>
            <p:spPr>
              <a:xfrm>
                <a:off x="7945421" y="3753236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256" name="Google Shape;1256;p63"/>
              <p:cNvCxnSpPr/>
              <p:nvPr/>
            </p:nvCxnSpPr>
            <p:spPr>
              <a:xfrm>
                <a:off x="8480006" y="3489015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cxnSp>
          <p:nvCxnSpPr>
            <p:cNvPr id="1257" name="Google Shape;1257;p63"/>
            <p:cNvCxnSpPr/>
            <p:nvPr/>
          </p:nvCxnSpPr>
          <p:spPr>
            <a:xfrm rot="10800000">
              <a:off x="9236375" y="3810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8" name="Google Shape;1258;p63"/>
            <p:cNvCxnSpPr/>
            <p:nvPr/>
          </p:nvCxnSpPr>
          <p:spPr>
            <a:xfrm rot="10800000">
              <a:off x="10359550" y="3809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9" name="Google Shape;1259;p63"/>
            <p:cNvCxnSpPr/>
            <p:nvPr/>
          </p:nvCxnSpPr>
          <p:spPr>
            <a:xfrm>
              <a:off x="10417375" y="4201225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0" name="Google Shape;1260;p63"/>
            <p:cNvCxnSpPr/>
            <p:nvPr/>
          </p:nvCxnSpPr>
          <p:spPr>
            <a:xfrm flipH="1">
              <a:off x="10507800" y="4201225"/>
              <a:ext cx="21300" cy="1271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61" name="Google Shape;1261;p63"/>
            <p:cNvSpPr txBox="1"/>
            <p:nvPr/>
          </p:nvSpPr>
          <p:spPr>
            <a:xfrm>
              <a:off x="10577150" y="4588400"/>
              <a:ext cx="151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3K (offset)</a:t>
              </a:r>
              <a:endParaRPr sz="400">
                <a:solidFill>
                  <a:srgbClr val="FF0000"/>
                </a:solidFill>
              </a:endParaRPr>
            </a:p>
          </p:txBody>
        </p:sp>
        <p:cxnSp>
          <p:nvCxnSpPr>
            <p:cNvPr id="1262" name="Google Shape;1262;p63"/>
            <p:cNvCxnSpPr/>
            <p:nvPr/>
          </p:nvCxnSpPr>
          <p:spPr>
            <a:xfrm rot="10800000" flipH="1">
              <a:off x="8074225" y="4200025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3" name="Google Shape;1263;p63"/>
            <p:cNvCxnSpPr/>
            <p:nvPr/>
          </p:nvCxnSpPr>
          <p:spPr>
            <a:xfrm rot="10800000" flipH="1">
              <a:off x="8092425" y="5829000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4" name="Google Shape;1264;p63"/>
            <p:cNvCxnSpPr/>
            <p:nvPr/>
          </p:nvCxnSpPr>
          <p:spPr>
            <a:xfrm flipH="1">
              <a:off x="8202725" y="4218000"/>
              <a:ext cx="23700" cy="16110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65" name="Google Shape;1265;p63"/>
            <p:cNvSpPr txBox="1"/>
            <p:nvPr/>
          </p:nvSpPr>
          <p:spPr>
            <a:xfrm>
              <a:off x="8262575" y="4714775"/>
              <a:ext cx="85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4K (max)</a:t>
              </a:r>
              <a:endParaRPr sz="400" dirty="0">
                <a:solidFill>
                  <a:schemeClr val="accent5"/>
                </a:solidFill>
              </a:endParaRPr>
            </a:p>
          </p:txBody>
        </p:sp>
        <p:sp>
          <p:nvSpPr>
            <p:cNvPr id="1266" name="Google Shape;1266;p63"/>
            <p:cNvSpPr txBox="1"/>
            <p:nvPr/>
          </p:nvSpPr>
          <p:spPr>
            <a:xfrm>
              <a:off x="8677363" y="55487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16K</a:t>
              </a:r>
              <a:endParaRPr sz="400"/>
            </a:p>
          </p:txBody>
        </p:sp>
        <p:sp>
          <p:nvSpPr>
            <p:cNvPr id="1267" name="Google Shape;1267;p63"/>
            <p:cNvSpPr txBox="1"/>
            <p:nvPr/>
          </p:nvSpPr>
          <p:spPr>
            <a:xfrm>
              <a:off x="8677363" y="50840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14K</a:t>
              </a:r>
              <a:endParaRPr sz="400"/>
            </a:p>
          </p:txBody>
        </p:sp>
      </p:grpSp>
      <p:sp>
        <p:nvSpPr>
          <p:cNvPr id="1268" name="Google Shape;1268;p63"/>
          <p:cNvSpPr txBox="1"/>
          <p:nvPr/>
        </p:nvSpPr>
        <p:spPr>
          <a:xfrm>
            <a:off x="405750" y="2897653"/>
            <a:ext cx="43968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Cálculo de la dirección física (PA):</a:t>
            </a:r>
            <a:endParaRPr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269" name="Google Shape;1269;p63"/>
          <p:cNvGrpSpPr/>
          <p:nvPr/>
        </p:nvGrpSpPr>
        <p:grpSpPr>
          <a:xfrm>
            <a:off x="5255550" y="1553913"/>
            <a:ext cx="6592200" cy="637200"/>
            <a:chOff x="6050601" y="1607225"/>
            <a:chExt cx="3132600" cy="637200"/>
          </a:xfrm>
        </p:grpSpPr>
        <p:sp>
          <p:nvSpPr>
            <p:cNvPr id="1270" name="Google Shape;1270;p63"/>
            <p:cNvSpPr/>
            <p:nvPr/>
          </p:nvSpPr>
          <p:spPr>
            <a:xfrm>
              <a:off x="6050601" y="160722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63"/>
            <p:cNvSpPr txBox="1"/>
            <p:nvPr/>
          </p:nvSpPr>
          <p:spPr>
            <a:xfrm>
              <a:off x="6102665" y="1648775"/>
              <a:ext cx="3044400" cy="55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offset(stack)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= offset - offset(max)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272" name="Google Shape;1272;p63"/>
          <p:cNvGrpSpPr/>
          <p:nvPr/>
        </p:nvGrpSpPr>
        <p:grpSpPr>
          <a:xfrm>
            <a:off x="5255551" y="2309256"/>
            <a:ext cx="6592199" cy="637200"/>
            <a:chOff x="6050601" y="1443225"/>
            <a:chExt cx="3132600" cy="637200"/>
          </a:xfrm>
        </p:grpSpPr>
        <p:sp>
          <p:nvSpPr>
            <p:cNvPr id="1273" name="Google Shape;1273;p63"/>
            <p:cNvSpPr/>
            <p:nvPr/>
          </p:nvSpPr>
          <p:spPr>
            <a:xfrm>
              <a:off x="6050601" y="144322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63"/>
            <p:cNvSpPr txBox="1"/>
            <p:nvPr/>
          </p:nvSpPr>
          <p:spPr>
            <a:xfrm>
              <a:off x="6283540" y="1484775"/>
              <a:ext cx="28257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PA = base(stack) + </a:t>
              </a: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offset(stack)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275" name="Google Shape;1275;p63"/>
          <p:cNvSpPr txBox="1"/>
          <p:nvPr/>
        </p:nvSpPr>
        <p:spPr>
          <a:xfrm>
            <a:off x="4525106" y="4512260"/>
            <a:ext cx="3600108" cy="4949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offset(stack) = 3K - 4K = -1K</a:t>
            </a:r>
            <a:endParaRPr sz="12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6" name="Google Shape;1276;p63"/>
          <p:cNvSpPr txBox="1"/>
          <p:nvPr/>
        </p:nvSpPr>
        <p:spPr>
          <a:xfrm>
            <a:off x="4511036" y="5179373"/>
            <a:ext cx="3600108" cy="4949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 = 28 + (-1K) = 27K</a:t>
            </a:r>
            <a:endParaRPr sz="1200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7" name="Google Shape;1314;p64">
            <a:extLst>
              <a:ext uri="{FF2B5EF4-FFF2-40B4-BE49-F238E27FC236}">
                <a16:creationId xmlns:a16="http://schemas.microsoft.com/office/drawing/2014/main" id="{18154925-0DC5-4370-B98C-0C8FACC3D2DF}"/>
              </a:ext>
            </a:extLst>
          </p:cNvPr>
          <p:cNvGrpSpPr/>
          <p:nvPr/>
        </p:nvGrpSpPr>
        <p:grpSpPr>
          <a:xfrm>
            <a:off x="8276400" y="3676704"/>
            <a:ext cx="3915600" cy="2287425"/>
            <a:chOff x="7606875" y="3042163"/>
            <a:chExt cx="3915600" cy="2287425"/>
          </a:xfrm>
        </p:grpSpPr>
        <p:sp>
          <p:nvSpPr>
            <p:cNvPr id="38" name="Google Shape;1315;p64">
              <a:extLst>
                <a:ext uri="{FF2B5EF4-FFF2-40B4-BE49-F238E27FC236}">
                  <a16:creationId xmlns:a16="http://schemas.microsoft.com/office/drawing/2014/main" id="{827C4FEF-C061-4570-B0F9-2286EF3E2D58}"/>
                </a:ext>
              </a:extLst>
            </p:cNvPr>
            <p:cNvSpPr txBox="1"/>
            <p:nvPr/>
          </p:nvSpPr>
          <p:spPr>
            <a:xfrm>
              <a:off x="7606875" y="4146150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27K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39" name="Google Shape;1316;p64">
              <a:extLst>
                <a:ext uri="{FF2B5EF4-FFF2-40B4-BE49-F238E27FC236}">
                  <a16:creationId xmlns:a16="http://schemas.microsoft.com/office/drawing/2014/main" id="{64577D65-2BA6-4DE4-B8DD-F31150D0C75D}"/>
                </a:ext>
              </a:extLst>
            </p:cNvPr>
            <p:cNvCxnSpPr/>
            <p:nvPr/>
          </p:nvCxnSpPr>
          <p:spPr>
            <a:xfrm>
              <a:off x="8158575" y="4330350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1317;p64">
              <a:extLst>
                <a:ext uri="{FF2B5EF4-FFF2-40B4-BE49-F238E27FC236}">
                  <a16:creationId xmlns:a16="http://schemas.microsoft.com/office/drawing/2014/main" id="{C98CAFE1-B428-4697-B9E2-6D7C279D22A8}"/>
                </a:ext>
              </a:extLst>
            </p:cNvPr>
            <p:cNvCxnSpPr/>
            <p:nvPr/>
          </p:nvCxnSpPr>
          <p:spPr>
            <a:xfrm>
              <a:off x="9884300" y="4298413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1" name="Google Shape;1318;p64">
              <a:extLst>
                <a:ext uri="{FF2B5EF4-FFF2-40B4-BE49-F238E27FC236}">
                  <a16:creationId xmlns:a16="http://schemas.microsoft.com/office/drawing/2014/main" id="{729C29FD-BC03-4866-B005-E7AD17330284}"/>
                </a:ext>
              </a:extLst>
            </p:cNvPr>
            <p:cNvGrpSpPr/>
            <p:nvPr/>
          </p:nvGrpSpPr>
          <p:grpSpPr>
            <a:xfrm>
              <a:off x="9884300" y="4298413"/>
              <a:ext cx="1638175" cy="373250"/>
              <a:chOff x="10399750" y="3474175"/>
              <a:chExt cx="1638175" cy="373250"/>
            </a:xfrm>
          </p:grpSpPr>
          <p:cxnSp>
            <p:nvCxnSpPr>
              <p:cNvPr id="54" name="Google Shape;1319;p64">
                <a:extLst>
                  <a:ext uri="{FF2B5EF4-FFF2-40B4-BE49-F238E27FC236}">
                    <a16:creationId xmlns:a16="http://schemas.microsoft.com/office/drawing/2014/main" id="{D3C0FB4F-F1EE-4ADF-A67B-FD211C7100B5}"/>
                  </a:ext>
                </a:extLst>
              </p:cNvPr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1320;p64">
                <a:extLst>
                  <a:ext uri="{FF2B5EF4-FFF2-40B4-BE49-F238E27FC236}">
                    <a16:creationId xmlns:a16="http://schemas.microsoft.com/office/drawing/2014/main" id="{BC6932D8-B594-4963-A2C3-77227D503F00}"/>
                  </a:ext>
                </a:extLst>
              </p:cNvPr>
              <p:cNvCxnSpPr/>
              <p:nvPr/>
            </p:nvCxnSpPr>
            <p:spPr>
              <a:xfrm flipH="1">
                <a:off x="10492400" y="3474175"/>
                <a:ext cx="4800" cy="34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56" name="Google Shape;1321;p64">
                <a:extLst>
                  <a:ext uri="{FF2B5EF4-FFF2-40B4-BE49-F238E27FC236}">
                    <a16:creationId xmlns:a16="http://schemas.microsoft.com/office/drawing/2014/main" id="{30D0D1FE-34B5-429E-A798-D01CD3F02DDF}"/>
                  </a:ext>
                </a:extLst>
              </p:cNvPr>
              <p:cNvSpPr txBox="1"/>
              <p:nvPr/>
            </p:nvSpPr>
            <p:spPr>
              <a:xfrm>
                <a:off x="10521425" y="3478125"/>
                <a:ext cx="151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1K (grows bg)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2" name="Google Shape;1322;p64">
              <a:extLst>
                <a:ext uri="{FF2B5EF4-FFF2-40B4-BE49-F238E27FC236}">
                  <a16:creationId xmlns:a16="http://schemas.microsoft.com/office/drawing/2014/main" id="{572B8A1F-7AAB-460A-885F-047D9301000D}"/>
                </a:ext>
              </a:extLst>
            </p:cNvPr>
            <p:cNvSpPr txBox="1"/>
            <p:nvPr/>
          </p:nvSpPr>
          <p:spPr>
            <a:xfrm>
              <a:off x="8158563" y="4428700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28K</a:t>
              </a:r>
              <a:endParaRPr sz="400"/>
            </a:p>
          </p:txBody>
        </p:sp>
        <p:sp>
          <p:nvSpPr>
            <p:cNvPr id="43" name="Google Shape;1323;p64">
              <a:extLst>
                <a:ext uri="{FF2B5EF4-FFF2-40B4-BE49-F238E27FC236}">
                  <a16:creationId xmlns:a16="http://schemas.microsoft.com/office/drawing/2014/main" id="{B460E173-9356-4384-AC90-C436CC4DC41D}"/>
                </a:ext>
              </a:extLst>
            </p:cNvPr>
            <p:cNvSpPr txBox="1"/>
            <p:nvPr/>
          </p:nvSpPr>
          <p:spPr>
            <a:xfrm>
              <a:off x="8158563" y="39053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26K</a:t>
              </a:r>
              <a:endParaRPr sz="400"/>
            </a:p>
          </p:txBody>
        </p:sp>
        <p:grpSp>
          <p:nvGrpSpPr>
            <p:cNvPr id="44" name="Google Shape;1324;p64">
              <a:extLst>
                <a:ext uri="{FF2B5EF4-FFF2-40B4-BE49-F238E27FC236}">
                  <a16:creationId xmlns:a16="http://schemas.microsoft.com/office/drawing/2014/main" id="{9FBB7823-F5AF-4E17-98C6-1A02458888F5}"/>
                </a:ext>
              </a:extLst>
            </p:cNvPr>
            <p:cNvGrpSpPr/>
            <p:nvPr/>
          </p:nvGrpSpPr>
          <p:grpSpPr>
            <a:xfrm>
              <a:off x="8717550" y="3042163"/>
              <a:ext cx="1123200" cy="2287425"/>
              <a:chOff x="8717550" y="3042163"/>
              <a:chExt cx="1123200" cy="2287425"/>
            </a:xfrm>
          </p:grpSpPr>
          <p:grpSp>
            <p:nvGrpSpPr>
              <p:cNvPr id="45" name="Google Shape;1325;p64">
                <a:extLst>
                  <a:ext uri="{FF2B5EF4-FFF2-40B4-BE49-F238E27FC236}">
                    <a16:creationId xmlns:a16="http://schemas.microsoft.com/office/drawing/2014/main" id="{EDEF9C64-1FAD-41D5-B561-2F5773FD7117}"/>
                  </a:ext>
                </a:extLst>
              </p:cNvPr>
              <p:cNvGrpSpPr/>
              <p:nvPr/>
            </p:nvGrpSpPr>
            <p:grpSpPr>
              <a:xfrm>
                <a:off x="8718675" y="3443525"/>
                <a:ext cx="1122000" cy="1575000"/>
                <a:chOff x="8718675" y="3443525"/>
                <a:chExt cx="1122000" cy="1575000"/>
              </a:xfrm>
            </p:grpSpPr>
            <p:sp>
              <p:nvSpPr>
                <p:cNvPr id="50" name="Google Shape;1326;p64">
                  <a:extLst>
                    <a:ext uri="{FF2B5EF4-FFF2-40B4-BE49-F238E27FC236}">
                      <a16:creationId xmlns:a16="http://schemas.microsoft.com/office/drawing/2014/main" id="{E39BD65D-5775-4E29-96D2-AA56CD788211}"/>
                    </a:ext>
                  </a:extLst>
                </p:cNvPr>
                <p:cNvSpPr/>
                <p:nvPr/>
              </p:nvSpPr>
              <p:spPr>
                <a:xfrm>
                  <a:off x="8718675" y="3443525"/>
                  <a:ext cx="1122000" cy="15750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" name="Google Shape;1327;p64">
                  <a:extLst>
                    <a:ext uri="{FF2B5EF4-FFF2-40B4-BE49-F238E27FC236}">
                      <a16:creationId xmlns:a16="http://schemas.microsoft.com/office/drawing/2014/main" id="{46220097-637E-4AD0-A578-0A991138C21F}"/>
                    </a:ext>
                  </a:extLst>
                </p:cNvPr>
                <p:cNvGrpSpPr/>
                <p:nvPr/>
              </p:nvGrpSpPr>
              <p:grpSpPr>
                <a:xfrm>
                  <a:off x="8718675" y="3503776"/>
                  <a:ext cx="1122000" cy="1117847"/>
                  <a:chOff x="8718675" y="3503776"/>
                  <a:chExt cx="1122000" cy="1117847"/>
                </a:xfrm>
              </p:grpSpPr>
              <p:sp>
                <p:nvSpPr>
                  <p:cNvPr id="52" name="Google Shape;1328;p64">
                    <a:extLst>
                      <a:ext uri="{FF2B5EF4-FFF2-40B4-BE49-F238E27FC236}">
                        <a16:creationId xmlns:a16="http://schemas.microsoft.com/office/drawing/2014/main" id="{29BA32B9-BB44-4A06-8A34-B486F52725F7}"/>
                      </a:ext>
                    </a:extLst>
                  </p:cNvPr>
                  <p:cNvSpPr/>
                  <p:nvPr/>
                </p:nvSpPr>
                <p:spPr>
                  <a:xfrm>
                    <a:off x="8718675" y="4076524"/>
                    <a:ext cx="1122000" cy="5451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stack</a:t>
                    </a:r>
                    <a:endParaRPr sz="2200" dirty="0"/>
                  </a:p>
                </p:txBody>
              </p:sp>
              <p:cxnSp>
                <p:nvCxnSpPr>
                  <p:cNvPr id="53" name="Google Shape;1329;p64">
                    <a:extLst>
                      <a:ext uri="{FF2B5EF4-FFF2-40B4-BE49-F238E27FC236}">
                        <a16:creationId xmlns:a16="http://schemas.microsoft.com/office/drawing/2014/main" id="{4F5A8B86-E65D-4942-8F1A-B1BDC1B09594}"/>
                      </a:ext>
                    </a:extLst>
                  </p:cNvPr>
                  <p:cNvCxnSpPr/>
                  <p:nvPr/>
                </p:nvCxnSpPr>
                <p:spPr>
                  <a:xfrm>
                    <a:off x="9275572" y="3503776"/>
                    <a:ext cx="7200" cy="57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triangle" w="med" len="med"/>
                    <a:tailEnd type="none" w="med" len="med"/>
                  </a:ln>
                </p:spPr>
              </p:cxnSp>
            </p:grpSp>
          </p:grpSp>
          <p:cxnSp>
            <p:nvCxnSpPr>
              <p:cNvPr id="46" name="Google Shape;1330;p64">
                <a:extLst>
                  <a:ext uri="{FF2B5EF4-FFF2-40B4-BE49-F238E27FC236}">
                    <a16:creationId xmlns:a16="http://schemas.microsoft.com/office/drawing/2014/main" id="{EA023EEB-55A2-4F85-ADB7-7B0F36F1ED5D}"/>
                  </a:ext>
                </a:extLst>
              </p:cNvPr>
              <p:cNvCxnSpPr/>
              <p:nvPr/>
            </p:nvCxnSpPr>
            <p:spPr>
              <a:xfrm rot="10800000">
                <a:off x="8717575" y="304288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" name="Google Shape;1331;p64">
                <a:extLst>
                  <a:ext uri="{FF2B5EF4-FFF2-40B4-BE49-F238E27FC236}">
                    <a16:creationId xmlns:a16="http://schemas.microsoft.com/office/drawing/2014/main" id="{C9C3B2CF-F93B-4A16-A3F0-A7EF5E5994C3}"/>
                  </a:ext>
                </a:extLst>
              </p:cNvPr>
              <p:cNvCxnSpPr/>
              <p:nvPr/>
            </p:nvCxnSpPr>
            <p:spPr>
              <a:xfrm rot="10800000">
                <a:off x="9840750" y="3042163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" name="Google Shape;1332;p64">
                <a:extLst>
                  <a:ext uri="{FF2B5EF4-FFF2-40B4-BE49-F238E27FC236}">
                    <a16:creationId xmlns:a16="http://schemas.microsoft.com/office/drawing/2014/main" id="{8F8B6C6B-0DF4-4871-9636-6E7A8E8221B2}"/>
                  </a:ext>
                </a:extLst>
              </p:cNvPr>
              <p:cNvCxnSpPr/>
              <p:nvPr/>
            </p:nvCxnSpPr>
            <p:spPr>
              <a:xfrm rot="10800000">
                <a:off x="8717550" y="486308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" name="Google Shape;1333;p64">
                <a:extLst>
                  <a:ext uri="{FF2B5EF4-FFF2-40B4-BE49-F238E27FC236}">
                    <a16:creationId xmlns:a16="http://schemas.microsoft.com/office/drawing/2014/main" id="{7EA4AA23-C266-4B4B-96DD-8ECDFFBFFB71}"/>
                  </a:ext>
                </a:extLst>
              </p:cNvPr>
              <p:cNvCxnSpPr/>
              <p:nvPr/>
            </p:nvCxnSpPr>
            <p:spPr>
              <a:xfrm rot="10800000">
                <a:off x="9840750" y="482973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64"/>
          <p:cNvSpPr txBox="1">
            <a:spLocks noGrp="1"/>
          </p:cNvSpPr>
          <p:nvPr>
            <p:ph type="title"/>
          </p:nvPr>
        </p:nvSpPr>
        <p:spPr>
          <a:xfrm>
            <a:off x="355600" y="96038"/>
            <a:ext cx="8865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(II)</a:t>
            </a:r>
            <a:endParaRPr b="0" dirty="0">
              <a:latin typeface="+mj-lt"/>
            </a:endParaRPr>
          </a:p>
        </p:txBody>
      </p:sp>
      <p:sp>
        <p:nvSpPr>
          <p:cNvPr id="1282" name="Google Shape;1282;p64"/>
          <p:cNvSpPr txBox="1">
            <a:spLocks noGrp="1"/>
          </p:cNvSpPr>
          <p:nvPr>
            <p:ph type="body" idx="1"/>
          </p:nvPr>
        </p:nvSpPr>
        <p:spPr>
          <a:xfrm>
            <a:off x="526100" y="934689"/>
            <a:ext cx="6611300" cy="5887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283" name="Google Shape;1283;p64"/>
          <p:cNvGrpSpPr/>
          <p:nvPr/>
        </p:nvGrpSpPr>
        <p:grpSpPr>
          <a:xfrm>
            <a:off x="1065325" y="3503763"/>
            <a:ext cx="4019425" cy="2108288"/>
            <a:chOff x="8074225" y="3809775"/>
            <a:chExt cx="4019425" cy="2108288"/>
          </a:xfrm>
        </p:grpSpPr>
        <p:sp>
          <p:nvSpPr>
            <p:cNvPr id="1284" name="Google Shape;1284;p64"/>
            <p:cNvSpPr txBox="1"/>
            <p:nvPr/>
          </p:nvSpPr>
          <p:spPr>
            <a:xfrm>
              <a:off x="8117250" y="53376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15K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1285" name="Google Shape;1285;p64"/>
            <p:cNvCxnSpPr/>
            <p:nvPr/>
          </p:nvCxnSpPr>
          <p:spPr>
            <a:xfrm>
              <a:off x="8668950" y="5521813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86" name="Google Shape;1286;p64"/>
            <p:cNvCxnSpPr/>
            <p:nvPr/>
          </p:nvCxnSpPr>
          <p:spPr>
            <a:xfrm>
              <a:off x="10417375" y="5479550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87" name="Google Shape;1287;p64"/>
            <p:cNvGrpSpPr/>
            <p:nvPr/>
          </p:nvGrpSpPr>
          <p:grpSpPr>
            <a:xfrm>
              <a:off x="10417375" y="5475600"/>
              <a:ext cx="1638175" cy="373250"/>
              <a:chOff x="10399750" y="3474175"/>
              <a:chExt cx="1638175" cy="373250"/>
            </a:xfrm>
          </p:grpSpPr>
          <p:cxnSp>
            <p:nvCxnSpPr>
              <p:cNvPr id="1288" name="Google Shape;1288;p64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9" name="Google Shape;1289;p64"/>
              <p:cNvCxnSpPr/>
              <p:nvPr/>
            </p:nvCxnSpPr>
            <p:spPr>
              <a:xfrm flipH="1">
                <a:off x="10492400" y="3474175"/>
                <a:ext cx="4800" cy="34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1290" name="Google Shape;1290;p64"/>
              <p:cNvSpPr txBox="1"/>
              <p:nvPr/>
            </p:nvSpPr>
            <p:spPr>
              <a:xfrm>
                <a:off x="10521425" y="3478125"/>
                <a:ext cx="151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1K (grows bg)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291" name="Google Shape;1291;p64"/>
            <p:cNvSpPr/>
            <p:nvPr/>
          </p:nvSpPr>
          <p:spPr>
            <a:xfrm>
              <a:off x="9237475" y="4211149"/>
              <a:ext cx="1122000" cy="16194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92" name="Google Shape;1292;p64"/>
            <p:cNvGrpSpPr/>
            <p:nvPr/>
          </p:nvGrpSpPr>
          <p:grpSpPr>
            <a:xfrm>
              <a:off x="9236734" y="4617139"/>
              <a:ext cx="1122049" cy="1211850"/>
              <a:chOff x="7945421" y="3489015"/>
              <a:chExt cx="1076100" cy="548621"/>
            </a:xfrm>
          </p:grpSpPr>
          <p:sp>
            <p:nvSpPr>
              <p:cNvPr id="1293" name="Google Shape;1293;p64"/>
              <p:cNvSpPr/>
              <p:nvPr/>
            </p:nvSpPr>
            <p:spPr>
              <a:xfrm>
                <a:off x="7945421" y="3753236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294" name="Google Shape;1294;p64"/>
              <p:cNvCxnSpPr/>
              <p:nvPr/>
            </p:nvCxnSpPr>
            <p:spPr>
              <a:xfrm>
                <a:off x="8480006" y="3489015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cxnSp>
          <p:nvCxnSpPr>
            <p:cNvPr id="1295" name="Google Shape;1295;p64"/>
            <p:cNvCxnSpPr/>
            <p:nvPr/>
          </p:nvCxnSpPr>
          <p:spPr>
            <a:xfrm rot="10800000">
              <a:off x="9236375" y="3810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6" name="Google Shape;1296;p64"/>
            <p:cNvCxnSpPr/>
            <p:nvPr/>
          </p:nvCxnSpPr>
          <p:spPr>
            <a:xfrm rot="10800000">
              <a:off x="10359550" y="3809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7" name="Google Shape;1297;p64"/>
            <p:cNvCxnSpPr/>
            <p:nvPr/>
          </p:nvCxnSpPr>
          <p:spPr>
            <a:xfrm>
              <a:off x="10417375" y="4201225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8" name="Google Shape;1298;p64"/>
            <p:cNvCxnSpPr/>
            <p:nvPr/>
          </p:nvCxnSpPr>
          <p:spPr>
            <a:xfrm flipH="1">
              <a:off x="10507800" y="4201225"/>
              <a:ext cx="21300" cy="1271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99" name="Google Shape;1299;p64"/>
            <p:cNvSpPr txBox="1"/>
            <p:nvPr/>
          </p:nvSpPr>
          <p:spPr>
            <a:xfrm>
              <a:off x="10577150" y="4588400"/>
              <a:ext cx="151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3K (offset)</a:t>
              </a:r>
              <a:endParaRPr sz="400">
                <a:solidFill>
                  <a:srgbClr val="FF0000"/>
                </a:solidFill>
              </a:endParaRPr>
            </a:p>
          </p:txBody>
        </p:sp>
        <p:cxnSp>
          <p:nvCxnSpPr>
            <p:cNvPr id="1300" name="Google Shape;1300;p64"/>
            <p:cNvCxnSpPr/>
            <p:nvPr/>
          </p:nvCxnSpPr>
          <p:spPr>
            <a:xfrm rot="10800000" flipH="1">
              <a:off x="8074225" y="4200025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1" name="Google Shape;1301;p64"/>
            <p:cNvCxnSpPr/>
            <p:nvPr/>
          </p:nvCxnSpPr>
          <p:spPr>
            <a:xfrm rot="10800000" flipH="1">
              <a:off x="8092425" y="5829000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2" name="Google Shape;1302;p64"/>
            <p:cNvCxnSpPr/>
            <p:nvPr/>
          </p:nvCxnSpPr>
          <p:spPr>
            <a:xfrm flipH="1">
              <a:off x="8202725" y="4218000"/>
              <a:ext cx="23700" cy="16110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303" name="Google Shape;1303;p64"/>
            <p:cNvSpPr txBox="1"/>
            <p:nvPr/>
          </p:nvSpPr>
          <p:spPr>
            <a:xfrm>
              <a:off x="8262575" y="4714775"/>
              <a:ext cx="85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4K (max)</a:t>
              </a:r>
              <a:endParaRPr sz="400" dirty="0">
                <a:solidFill>
                  <a:schemeClr val="accent5"/>
                </a:solidFill>
              </a:endParaRPr>
            </a:p>
          </p:txBody>
        </p:sp>
        <p:sp>
          <p:nvSpPr>
            <p:cNvPr id="1304" name="Google Shape;1304;p64"/>
            <p:cNvSpPr txBox="1"/>
            <p:nvPr/>
          </p:nvSpPr>
          <p:spPr>
            <a:xfrm>
              <a:off x="8677363" y="55487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16K</a:t>
              </a:r>
              <a:endParaRPr sz="400"/>
            </a:p>
          </p:txBody>
        </p:sp>
        <p:sp>
          <p:nvSpPr>
            <p:cNvPr id="1305" name="Google Shape;1305;p64"/>
            <p:cNvSpPr txBox="1"/>
            <p:nvPr/>
          </p:nvSpPr>
          <p:spPr>
            <a:xfrm>
              <a:off x="8677363" y="50840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14K</a:t>
              </a:r>
              <a:endParaRPr sz="400"/>
            </a:p>
          </p:txBody>
        </p:sp>
      </p:grpSp>
      <p:graphicFrame>
        <p:nvGraphicFramePr>
          <p:cNvPr id="1306" name="Google Shape;1306;p64"/>
          <p:cNvGraphicFramePr/>
          <p:nvPr>
            <p:extLst>
              <p:ext uri="{D42A27DB-BD31-4B8C-83A1-F6EECF244321}">
                <p14:modId xmlns:p14="http://schemas.microsoft.com/office/powerpoint/2010/main" val="2553284012"/>
              </p:ext>
            </p:extLst>
          </p:nvPr>
        </p:nvGraphicFramePr>
        <p:xfrm>
          <a:off x="1058175" y="1571813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07" name="Google Shape;1307;p64"/>
          <p:cNvSpPr txBox="1"/>
          <p:nvPr/>
        </p:nvSpPr>
        <p:spPr>
          <a:xfrm>
            <a:off x="526100" y="192496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308" name="Google Shape;1308;p64"/>
          <p:cNvSpPr/>
          <p:nvPr/>
        </p:nvSpPr>
        <p:spPr>
          <a:xfrm rot="5400000">
            <a:off x="4366875" y="-6437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64"/>
          <p:cNvSpPr txBox="1"/>
          <p:nvPr/>
        </p:nvSpPr>
        <p:spPr>
          <a:xfrm>
            <a:off x="3828825" y="2714788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 dirty="0">
              <a:solidFill>
                <a:srgbClr val="FF0000"/>
              </a:solidFill>
            </a:endParaRPr>
          </a:p>
        </p:txBody>
      </p:sp>
      <p:sp>
        <p:nvSpPr>
          <p:cNvPr id="1310" name="Google Shape;1310;p64"/>
          <p:cNvSpPr/>
          <p:nvPr/>
        </p:nvSpPr>
        <p:spPr>
          <a:xfrm rot="5400000">
            <a:off x="1325588" y="2161663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64"/>
          <p:cNvSpPr txBox="1"/>
          <p:nvPr/>
        </p:nvSpPr>
        <p:spPr>
          <a:xfrm>
            <a:off x="787550" y="2714788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800" dirty="0">
              <a:solidFill>
                <a:srgbClr val="00B050"/>
              </a:solidFill>
            </a:endParaRPr>
          </a:p>
        </p:txBody>
      </p:sp>
      <p:graphicFrame>
        <p:nvGraphicFramePr>
          <p:cNvPr id="1312" name="Google Shape;1312;p64"/>
          <p:cNvGraphicFramePr/>
          <p:nvPr>
            <p:extLst>
              <p:ext uri="{D42A27DB-BD31-4B8C-83A1-F6EECF244321}">
                <p14:modId xmlns:p14="http://schemas.microsoft.com/office/powerpoint/2010/main" val="347050475"/>
              </p:ext>
            </p:extLst>
          </p:nvPr>
        </p:nvGraphicFramePr>
        <p:xfrm>
          <a:off x="1178059" y="5802239"/>
          <a:ext cx="780280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8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/>
                        <a:t>1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13" name="Google Shape;1313;p64"/>
          <p:cNvSpPr txBox="1"/>
          <p:nvPr/>
        </p:nvSpPr>
        <p:spPr>
          <a:xfrm>
            <a:off x="526088" y="619423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grpSp>
        <p:nvGrpSpPr>
          <p:cNvPr id="1314" name="Google Shape;1314;p64"/>
          <p:cNvGrpSpPr/>
          <p:nvPr/>
        </p:nvGrpSpPr>
        <p:grpSpPr>
          <a:xfrm>
            <a:off x="7916425" y="3414188"/>
            <a:ext cx="3915600" cy="2287425"/>
            <a:chOff x="7606875" y="3042163"/>
            <a:chExt cx="3915600" cy="2287425"/>
          </a:xfrm>
        </p:grpSpPr>
        <p:sp>
          <p:nvSpPr>
            <p:cNvPr id="1315" name="Google Shape;1315;p64"/>
            <p:cNvSpPr txBox="1"/>
            <p:nvPr/>
          </p:nvSpPr>
          <p:spPr>
            <a:xfrm>
              <a:off x="7606875" y="4146150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27K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1316" name="Google Shape;1316;p64"/>
            <p:cNvCxnSpPr/>
            <p:nvPr/>
          </p:nvCxnSpPr>
          <p:spPr>
            <a:xfrm>
              <a:off x="8158575" y="4330350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17" name="Google Shape;1317;p64"/>
            <p:cNvCxnSpPr/>
            <p:nvPr/>
          </p:nvCxnSpPr>
          <p:spPr>
            <a:xfrm>
              <a:off x="9884300" y="4298413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18" name="Google Shape;1318;p64"/>
            <p:cNvGrpSpPr/>
            <p:nvPr/>
          </p:nvGrpSpPr>
          <p:grpSpPr>
            <a:xfrm>
              <a:off x="9884300" y="4298413"/>
              <a:ext cx="1638175" cy="373250"/>
              <a:chOff x="10399750" y="3474175"/>
              <a:chExt cx="1638175" cy="373250"/>
            </a:xfrm>
          </p:grpSpPr>
          <p:cxnSp>
            <p:nvCxnSpPr>
              <p:cNvPr id="1319" name="Google Shape;1319;p64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0" name="Google Shape;1320;p64"/>
              <p:cNvCxnSpPr/>
              <p:nvPr/>
            </p:nvCxnSpPr>
            <p:spPr>
              <a:xfrm flipH="1">
                <a:off x="10492400" y="3474175"/>
                <a:ext cx="4800" cy="34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1321" name="Google Shape;1321;p64"/>
              <p:cNvSpPr txBox="1"/>
              <p:nvPr/>
            </p:nvSpPr>
            <p:spPr>
              <a:xfrm>
                <a:off x="10521425" y="3478125"/>
                <a:ext cx="151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1K (grows bg)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322" name="Google Shape;1322;p64"/>
            <p:cNvSpPr txBox="1"/>
            <p:nvPr/>
          </p:nvSpPr>
          <p:spPr>
            <a:xfrm>
              <a:off x="8158563" y="4428700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28K</a:t>
              </a:r>
              <a:endParaRPr sz="400"/>
            </a:p>
          </p:txBody>
        </p:sp>
        <p:sp>
          <p:nvSpPr>
            <p:cNvPr id="1323" name="Google Shape;1323;p64"/>
            <p:cNvSpPr txBox="1"/>
            <p:nvPr/>
          </p:nvSpPr>
          <p:spPr>
            <a:xfrm>
              <a:off x="8158563" y="39053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26K</a:t>
              </a:r>
              <a:endParaRPr sz="400"/>
            </a:p>
          </p:txBody>
        </p:sp>
        <p:grpSp>
          <p:nvGrpSpPr>
            <p:cNvPr id="1324" name="Google Shape;1324;p64"/>
            <p:cNvGrpSpPr/>
            <p:nvPr/>
          </p:nvGrpSpPr>
          <p:grpSpPr>
            <a:xfrm>
              <a:off x="8717550" y="3042163"/>
              <a:ext cx="1123200" cy="2287425"/>
              <a:chOff x="8717550" y="3042163"/>
              <a:chExt cx="1123200" cy="2287425"/>
            </a:xfrm>
          </p:grpSpPr>
          <p:grpSp>
            <p:nvGrpSpPr>
              <p:cNvPr id="1325" name="Google Shape;1325;p64"/>
              <p:cNvGrpSpPr/>
              <p:nvPr/>
            </p:nvGrpSpPr>
            <p:grpSpPr>
              <a:xfrm>
                <a:off x="8718675" y="3443525"/>
                <a:ext cx="1122000" cy="1575000"/>
                <a:chOff x="8718675" y="3443525"/>
                <a:chExt cx="1122000" cy="1575000"/>
              </a:xfrm>
            </p:grpSpPr>
            <p:sp>
              <p:nvSpPr>
                <p:cNvPr id="1326" name="Google Shape;1326;p64"/>
                <p:cNvSpPr/>
                <p:nvPr/>
              </p:nvSpPr>
              <p:spPr>
                <a:xfrm>
                  <a:off x="8718675" y="3443525"/>
                  <a:ext cx="1122000" cy="15750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27" name="Google Shape;1327;p64"/>
                <p:cNvGrpSpPr/>
                <p:nvPr/>
              </p:nvGrpSpPr>
              <p:grpSpPr>
                <a:xfrm>
                  <a:off x="8718675" y="3503776"/>
                  <a:ext cx="1122000" cy="1117847"/>
                  <a:chOff x="8718675" y="3503776"/>
                  <a:chExt cx="1122000" cy="1117847"/>
                </a:xfrm>
              </p:grpSpPr>
              <p:sp>
                <p:nvSpPr>
                  <p:cNvPr id="1328" name="Google Shape;1328;p64"/>
                  <p:cNvSpPr/>
                  <p:nvPr/>
                </p:nvSpPr>
                <p:spPr>
                  <a:xfrm>
                    <a:off x="8718675" y="4076524"/>
                    <a:ext cx="1122000" cy="5451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stack</a:t>
                    </a:r>
                    <a:endParaRPr sz="2200" dirty="0"/>
                  </a:p>
                </p:txBody>
              </p:sp>
              <p:cxnSp>
                <p:nvCxnSpPr>
                  <p:cNvPr id="1329" name="Google Shape;1329;p64"/>
                  <p:cNvCxnSpPr/>
                  <p:nvPr/>
                </p:nvCxnSpPr>
                <p:spPr>
                  <a:xfrm>
                    <a:off x="9275572" y="3503776"/>
                    <a:ext cx="7200" cy="57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triangle" w="med" len="med"/>
                    <a:tailEnd type="none" w="med" len="med"/>
                  </a:ln>
                </p:spPr>
              </p:cxnSp>
            </p:grpSp>
          </p:grpSp>
          <p:cxnSp>
            <p:nvCxnSpPr>
              <p:cNvPr id="1330" name="Google Shape;1330;p64"/>
              <p:cNvCxnSpPr/>
              <p:nvPr/>
            </p:nvCxnSpPr>
            <p:spPr>
              <a:xfrm rot="10800000">
                <a:off x="8717575" y="304288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1" name="Google Shape;1331;p64"/>
              <p:cNvCxnSpPr/>
              <p:nvPr/>
            </p:nvCxnSpPr>
            <p:spPr>
              <a:xfrm rot="10800000">
                <a:off x="9840750" y="3042163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2" name="Google Shape;1332;p64"/>
              <p:cNvCxnSpPr/>
              <p:nvPr/>
            </p:nvCxnSpPr>
            <p:spPr>
              <a:xfrm rot="10800000">
                <a:off x="8717550" y="486308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3" name="Google Shape;1333;p64"/>
              <p:cNvCxnSpPr/>
              <p:nvPr/>
            </p:nvCxnSpPr>
            <p:spPr>
              <a:xfrm rot="10800000">
                <a:off x="9840750" y="482973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aphicFrame>
        <p:nvGraphicFramePr>
          <p:cNvPr id="1334" name="Google Shape;1334;p64"/>
          <p:cNvGraphicFramePr/>
          <p:nvPr/>
        </p:nvGraphicFramePr>
        <p:xfrm>
          <a:off x="7757625" y="1313185"/>
          <a:ext cx="4233200" cy="13410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98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35" name="Google Shape;1335;p64"/>
          <p:cNvGrpSpPr/>
          <p:nvPr/>
        </p:nvGrpSpPr>
        <p:grpSpPr>
          <a:xfrm>
            <a:off x="4783359" y="4348625"/>
            <a:ext cx="3303251" cy="837000"/>
            <a:chOff x="3888184" y="3951525"/>
            <a:chExt cx="3303251" cy="837000"/>
          </a:xfrm>
        </p:grpSpPr>
        <p:grpSp>
          <p:nvGrpSpPr>
            <p:cNvPr id="1336" name="Google Shape;1336;p64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1337" name="Google Shape;1337;p64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1338" name="Google Shape;1338;p64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39" name="Google Shape;1339;p64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340" name="Google Shape;1340;p64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41" name="Google Shape;1341;p64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66"/>
          <p:cNvSpPr txBox="1">
            <a:spLocks noGrp="1"/>
          </p:cNvSpPr>
          <p:nvPr>
            <p:ph type="title"/>
          </p:nvPr>
        </p:nvSpPr>
        <p:spPr>
          <a:xfrm>
            <a:off x="381000" y="96038"/>
            <a:ext cx="8839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Segmentos compartidos</a:t>
            </a:r>
            <a:endParaRPr b="0" dirty="0">
              <a:latin typeface="+mj-lt"/>
            </a:endParaRPr>
          </a:p>
        </p:txBody>
      </p:sp>
      <p:sp>
        <p:nvSpPr>
          <p:cNvPr id="1353" name="Google Shape;1353;p66"/>
          <p:cNvSpPr txBox="1">
            <a:spLocks noGrp="1"/>
          </p:cNvSpPr>
          <p:nvPr>
            <p:ph type="body" idx="1"/>
          </p:nvPr>
        </p:nvSpPr>
        <p:spPr>
          <a:xfrm>
            <a:off x="381000" y="881500"/>
            <a:ext cx="10999800" cy="163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Escenario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¿Que pasa cuando se ejecutan dos procesos con la misma imagen?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Algunos segmentos (como el segmento de código) podrían compartirse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354" name="Google Shape;1354;p66"/>
          <p:cNvGrpSpPr/>
          <p:nvPr/>
        </p:nvGrpSpPr>
        <p:grpSpPr>
          <a:xfrm>
            <a:off x="2298850" y="2651700"/>
            <a:ext cx="7908700" cy="3442200"/>
            <a:chOff x="1615350" y="2674875"/>
            <a:chExt cx="7908700" cy="3442200"/>
          </a:xfrm>
        </p:grpSpPr>
        <p:grpSp>
          <p:nvGrpSpPr>
            <p:cNvPr id="1355" name="Google Shape;1355;p66"/>
            <p:cNvGrpSpPr/>
            <p:nvPr/>
          </p:nvGrpSpPr>
          <p:grpSpPr>
            <a:xfrm>
              <a:off x="1615350" y="2674875"/>
              <a:ext cx="4529575" cy="3442200"/>
              <a:chOff x="3260350" y="2674875"/>
              <a:chExt cx="4529575" cy="3442200"/>
            </a:xfrm>
          </p:grpSpPr>
          <p:grpSp>
            <p:nvGrpSpPr>
              <p:cNvPr id="1356" name="Google Shape;1356;p66"/>
              <p:cNvGrpSpPr/>
              <p:nvPr/>
            </p:nvGrpSpPr>
            <p:grpSpPr>
              <a:xfrm>
                <a:off x="4225059" y="2811427"/>
                <a:ext cx="1122056" cy="1374379"/>
                <a:chOff x="1775100" y="4022829"/>
                <a:chExt cx="1076106" cy="1739721"/>
              </a:xfrm>
            </p:grpSpPr>
            <p:sp>
              <p:nvSpPr>
                <p:cNvPr id="1357" name="Google Shape;1357;p66"/>
                <p:cNvSpPr/>
                <p:nvPr/>
              </p:nvSpPr>
              <p:spPr>
                <a:xfrm>
                  <a:off x="1775100" y="4022850"/>
                  <a:ext cx="1076100" cy="17397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58" name="Google Shape;1358;p66"/>
                <p:cNvGrpSpPr/>
                <p:nvPr/>
              </p:nvGrpSpPr>
              <p:grpSpPr>
                <a:xfrm>
                  <a:off x="1775100" y="4022829"/>
                  <a:ext cx="1076106" cy="1739696"/>
                  <a:chOff x="7948250" y="2813104"/>
                  <a:chExt cx="1076106" cy="1739696"/>
                </a:xfrm>
              </p:grpSpPr>
              <p:sp>
                <p:nvSpPr>
                  <p:cNvPr id="1359" name="Google Shape;1359;p66"/>
                  <p:cNvSpPr/>
                  <p:nvPr/>
                </p:nvSpPr>
                <p:spPr>
                  <a:xfrm>
                    <a:off x="7948256" y="2813104"/>
                    <a:ext cx="1076100" cy="592800"/>
                  </a:xfrm>
                  <a:prstGeom prst="rect">
                    <a:avLst/>
                  </a:prstGeom>
                  <a:solidFill>
                    <a:srgbClr val="F4CCCC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Code</a:t>
                    </a:r>
                    <a:endParaRPr sz="1600"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1360" name="Google Shape;1360;p66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sp>
                <p:nvSpPr>
                  <p:cNvPr id="1361" name="Google Shape;1361;p66"/>
                  <p:cNvSpPr/>
                  <p:nvPr/>
                </p:nvSpPr>
                <p:spPr>
                  <a:xfrm>
                    <a:off x="7948250" y="4268400"/>
                    <a:ext cx="1076100" cy="284400"/>
                  </a:xfrm>
                  <a:prstGeom prst="rect">
                    <a:avLst/>
                  </a:prstGeom>
                  <a:solidFill>
                    <a:srgbClr val="CFE2F3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stack</a:t>
                    </a:r>
                    <a:endParaRPr sz="2200" dirty="0"/>
                  </a:p>
                </p:txBody>
              </p:sp>
              <p:cxnSp>
                <p:nvCxnSpPr>
                  <p:cNvPr id="1362" name="Google Shape;1362;p66"/>
                  <p:cNvCxnSpPr>
                    <a:stCxn id="1360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363" name="Google Shape;1363;p66"/>
                  <p:cNvCxnSpPr>
                    <a:stCxn id="1361" idx="0"/>
                  </p:cNvCxnSpPr>
                  <p:nvPr/>
                </p:nvCxnSpPr>
                <p:spPr>
                  <a:xfrm rot="10800000" flipH="1">
                    <a:off x="8486300" y="4035600"/>
                    <a:ext cx="4200" cy="232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sp>
            <p:nvSpPr>
              <p:cNvPr id="1364" name="Google Shape;1364;p66"/>
              <p:cNvSpPr/>
              <p:nvPr/>
            </p:nvSpPr>
            <p:spPr>
              <a:xfrm>
                <a:off x="6667925" y="2674875"/>
                <a:ext cx="1122000" cy="34422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66"/>
              <p:cNvSpPr/>
              <p:nvPr/>
            </p:nvSpPr>
            <p:spPr>
              <a:xfrm>
                <a:off x="6667925" y="3412698"/>
                <a:ext cx="1122000" cy="3411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1366" name="Google Shape;1366;p66"/>
              <p:cNvGrpSpPr/>
              <p:nvPr/>
            </p:nvGrpSpPr>
            <p:grpSpPr>
              <a:xfrm>
                <a:off x="6667925" y="2767272"/>
                <a:ext cx="1122000" cy="552881"/>
                <a:chOff x="6667925" y="2767272"/>
                <a:chExt cx="1122000" cy="552881"/>
              </a:xfrm>
            </p:grpSpPr>
            <p:sp>
              <p:nvSpPr>
                <p:cNvPr id="1367" name="Google Shape;1367;p66"/>
                <p:cNvSpPr/>
                <p:nvPr/>
              </p:nvSpPr>
              <p:spPr>
                <a:xfrm>
                  <a:off x="6667925" y="3040853"/>
                  <a:ext cx="1122000" cy="2793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2200" dirty="0"/>
                </a:p>
              </p:txBody>
            </p:sp>
            <p:cxnSp>
              <p:nvCxnSpPr>
                <p:cNvPr id="1368" name="Google Shape;1368;p66"/>
                <p:cNvCxnSpPr/>
                <p:nvPr/>
              </p:nvCxnSpPr>
              <p:spPr>
                <a:xfrm rot="10800000" flipH="1">
                  <a:off x="7226668" y="2767272"/>
                  <a:ext cx="4500" cy="279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grpSp>
            <p:nvGrpSpPr>
              <p:cNvPr id="1369" name="Google Shape;1369;p66"/>
              <p:cNvGrpSpPr/>
              <p:nvPr/>
            </p:nvGrpSpPr>
            <p:grpSpPr>
              <a:xfrm>
                <a:off x="6667925" y="4560101"/>
                <a:ext cx="1122000" cy="591500"/>
                <a:chOff x="6667919" y="3952022"/>
                <a:chExt cx="1122000" cy="654604"/>
              </a:xfrm>
            </p:grpSpPr>
            <p:sp>
              <p:nvSpPr>
                <p:cNvPr id="1370" name="Google Shape;1370;p66"/>
                <p:cNvSpPr/>
                <p:nvPr/>
              </p:nvSpPr>
              <p:spPr>
                <a:xfrm>
                  <a:off x="6667919" y="3952022"/>
                  <a:ext cx="1122000" cy="3411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2200" dirty="0"/>
                </a:p>
              </p:txBody>
            </p:sp>
            <p:cxnSp>
              <p:nvCxnSpPr>
                <p:cNvPr id="1371" name="Google Shape;1371;p66"/>
                <p:cNvCxnSpPr/>
                <p:nvPr/>
              </p:nvCxnSpPr>
              <p:spPr>
                <a:xfrm>
                  <a:off x="7225318" y="4293125"/>
                  <a:ext cx="7200" cy="31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cxnSp>
            <p:nvCxnSpPr>
              <p:cNvPr id="1372" name="Google Shape;1372;p66"/>
              <p:cNvCxnSpPr>
                <a:stCxn id="1359" idx="3"/>
                <a:endCxn id="1365" idx="1"/>
              </p:cNvCxnSpPr>
              <p:nvPr/>
            </p:nvCxnSpPr>
            <p:spPr>
              <a:xfrm>
                <a:off x="5347115" y="3045583"/>
                <a:ext cx="1320900" cy="537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73" name="Google Shape;1373;p66"/>
              <p:cNvCxnSpPr>
                <a:stCxn id="1360" idx="3"/>
                <a:endCxn id="1370" idx="1"/>
              </p:cNvCxnSpPr>
              <p:nvPr/>
            </p:nvCxnSpPr>
            <p:spPr>
              <a:xfrm>
                <a:off x="5347109" y="3392192"/>
                <a:ext cx="1320900" cy="1322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74" name="Google Shape;1374;p66"/>
              <p:cNvCxnSpPr>
                <a:stCxn id="1361" idx="3"/>
                <a:endCxn id="1367" idx="1"/>
              </p:cNvCxnSpPr>
              <p:nvPr/>
            </p:nvCxnSpPr>
            <p:spPr>
              <a:xfrm rot="10800000" flipH="1">
                <a:off x="5347109" y="3180649"/>
                <a:ext cx="1320900" cy="89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1375" name="Google Shape;1375;p66"/>
              <p:cNvGrpSpPr/>
              <p:nvPr/>
            </p:nvGrpSpPr>
            <p:grpSpPr>
              <a:xfrm>
                <a:off x="4225059" y="4606627"/>
                <a:ext cx="1122056" cy="1374379"/>
                <a:chOff x="1775100" y="4022829"/>
                <a:chExt cx="1076106" cy="1739721"/>
              </a:xfrm>
            </p:grpSpPr>
            <p:sp>
              <p:nvSpPr>
                <p:cNvPr id="1376" name="Google Shape;1376;p66"/>
                <p:cNvSpPr/>
                <p:nvPr/>
              </p:nvSpPr>
              <p:spPr>
                <a:xfrm>
                  <a:off x="1775100" y="4022850"/>
                  <a:ext cx="1076100" cy="17397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77" name="Google Shape;1377;p66"/>
                <p:cNvGrpSpPr/>
                <p:nvPr/>
              </p:nvGrpSpPr>
              <p:grpSpPr>
                <a:xfrm>
                  <a:off x="1775100" y="4022829"/>
                  <a:ext cx="1076106" cy="1739696"/>
                  <a:chOff x="7948250" y="2813104"/>
                  <a:chExt cx="1076106" cy="1739696"/>
                </a:xfrm>
              </p:grpSpPr>
              <p:sp>
                <p:nvSpPr>
                  <p:cNvPr id="1378" name="Google Shape;1378;p66"/>
                  <p:cNvSpPr/>
                  <p:nvPr/>
                </p:nvSpPr>
                <p:spPr>
                  <a:xfrm>
                    <a:off x="7948256" y="2813104"/>
                    <a:ext cx="1076100" cy="592800"/>
                  </a:xfrm>
                  <a:prstGeom prst="rect">
                    <a:avLst/>
                  </a:prstGeom>
                  <a:solidFill>
                    <a:srgbClr val="F4CCCC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Code</a:t>
                    </a:r>
                    <a:endParaRPr sz="1600"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1379" name="Google Shape;1379;p66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D9D2E9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sp>
                <p:nvSpPr>
                  <p:cNvPr id="1380" name="Google Shape;1380;p66"/>
                  <p:cNvSpPr/>
                  <p:nvPr/>
                </p:nvSpPr>
                <p:spPr>
                  <a:xfrm>
                    <a:off x="7948250" y="4268400"/>
                    <a:ext cx="1076100" cy="2844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stack</a:t>
                    </a:r>
                    <a:endParaRPr sz="2200" dirty="0"/>
                  </a:p>
                </p:txBody>
              </p:sp>
              <p:cxnSp>
                <p:nvCxnSpPr>
                  <p:cNvPr id="1381" name="Google Shape;1381;p66"/>
                  <p:cNvCxnSpPr>
                    <a:stCxn id="1379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382" name="Google Shape;1382;p66"/>
                  <p:cNvCxnSpPr>
                    <a:stCxn id="1380" idx="0"/>
                  </p:cNvCxnSpPr>
                  <p:nvPr/>
                </p:nvCxnSpPr>
                <p:spPr>
                  <a:xfrm rot="10800000" flipH="1">
                    <a:off x="8486300" y="4035600"/>
                    <a:ext cx="4200" cy="232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grpSp>
            <p:nvGrpSpPr>
              <p:cNvPr id="1383" name="Google Shape;1383;p66"/>
              <p:cNvGrpSpPr/>
              <p:nvPr/>
            </p:nvGrpSpPr>
            <p:grpSpPr>
              <a:xfrm>
                <a:off x="6667925" y="3880509"/>
                <a:ext cx="1122000" cy="552881"/>
                <a:chOff x="6667925" y="2767272"/>
                <a:chExt cx="1122000" cy="552881"/>
              </a:xfrm>
            </p:grpSpPr>
            <p:sp>
              <p:nvSpPr>
                <p:cNvPr id="1384" name="Google Shape;1384;p66"/>
                <p:cNvSpPr/>
                <p:nvPr/>
              </p:nvSpPr>
              <p:spPr>
                <a:xfrm>
                  <a:off x="6667925" y="3040853"/>
                  <a:ext cx="1122000" cy="2793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2200" dirty="0"/>
                </a:p>
              </p:txBody>
            </p:sp>
            <p:cxnSp>
              <p:nvCxnSpPr>
                <p:cNvPr id="1385" name="Google Shape;1385;p66"/>
                <p:cNvCxnSpPr/>
                <p:nvPr/>
              </p:nvCxnSpPr>
              <p:spPr>
                <a:xfrm rot="10800000" flipH="1">
                  <a:off x="7226668" y="2767272"/>
                  <a:ext cx="4500" cy="279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grpSp>
            <p:nvGrpSpPr>
              <p:cNvPr id="1386" name="Google Shape;1386;p66"/>
              <p:cNvGrpSpPr/>
              <p:nvPr/>
            </p:nvGrpSpPr>
            <p:grpSpPr>
              <a:xfrm>
                <a:off x="6667925" y="5389501"/>
                <a:ext cx="1122000" cy="591500"/>
                <a:chOff x="6667919" y="3952022"/>
                <a:chExt cx="1122000" cy="654604"/>
              </a:xfrm>
            </p:grpSpPr>
            <p:sp>
              <p:nvSpPr>
                <p:cNvPr id="1387" name="Google Shape;1387;p66"/>
                <p:cNvSpPr/>
                <p:nvPr/>
              </p:nvSpPr>
              <p:spPr>
                <a:xfrm>
                  <a:off x="6667919" y="3952022"/>
                  <a:ext cx="1122000" cy="341100"/>
                </a:xfrm>
                <a:prstGeom prst="rect">
                  <a:avLst/>
                </a:prstGeom>
                <a:solidFill>
                  <a:srgbClr val="D9D2E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2200" dirty="0"/>
                </a:p>
              </p:txBody>
            </p:sp>
            <p:cxnSp>
              <p:nvCxnSpPr>
                <p:cNvPr id="1388" name="Google Shape;1388;p66"/>
                <p:cNvCxnSpPr/>
                <p:nvPr/>
              </p:nvCxnSpPr>
              <p:spPr>
                <a:xfrm>
                  <a:off x="7225318" y="4293125"/>
                  <a:ext cx="7200" cy="31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cxnSp>
            <p:nvCxnSpPr>
              <p:cNvPr id="1389" name="Google Shape;1389;p66"/>
              <p:cNvCxnSpPr>
                <a:stCxn id="1378" idx="3"/>
                <a:endCxn id="1365" idx="1"/>
              </p:cNvCxnSpPr>
              <p:nvPr/>
            </p:nvCxnSpPr>
            <p:spPr>
              <a:xfrm rot="10800000" flipH="1">
                <a:off x="5347115" y="3583183"/>
                <a:ext cx="1320900" cy="1257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90" name="Google Shape;1390;p66"/>
              <p:cNvCxnSpPr>
                <a:stCxn id="1379" idx="3"/>
                <a:endCxn id="1387" idx="1"/>
              </p:cNvCxnSpPr>
              <p:nvPr/>
            </p:nvCxnSpPr>
            <p:spPr>
              <a:xfrm>
                <a:off x="5347109" y="5187392"/>
                <a:ext cx="1320900" cy="356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E7CC3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91" name="Google Shape;1391;p66"/>
              <p:cNvCxnSpPr>
                <a:stCxn id="1380" idx="3"/>
                <a:endCxn id="1384" idx="1"/>
              </p:cNvCxnSpPr>
              <p:nvPr/>
            </p:nvCxnSpPr>
            <p:spPr>
              <a:xfrm rot="10800000" flipH="1">
                <a:off x="5347109" y="4293649"/>
                <a:ext cx="1320900" cy="1575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392" name="Google Shape;1392;p66"/>
              <p:cNvSpPr/>
              <p:nvPr/>
            </p:nvSpPr>
            <p:spPr>
              <a:xfrm>
                <a:off x="3260350" y="3104850"/>
                <a:ext cx="602700" cy="648300"/>
              </a:xfrm>
              <a:prstGeom prst="ellipse">
                <a:avLst/>
              </a:prstGeom>
              <a:solidFill>
                <a:srgbClr val="C9DAF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P1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393" name="Google Shape;1393;p66"/>
              <p:cNvSpPr/>
              <p:nvPr/>
            </p:nvSpPr>
            <p:spPr>
              <a:xfrm>
                <a:off x="3260350" y="4895200"/>
                <a:ext cx="602700" cy="648300"/>
              </a:xfrm>
              <a:prstGeom prst="ellipse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P2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394" name="Google Shape;1394;p66"/>
            <p:cNvSpPr/>
            <p:nvPr/>
          </p:nvSpPr>
          <p:spPr>
            <a:xfrm>
              <a:off x="6246550" y="3424950"/>
              <a:ext cx="32775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(R/X) Segmento compartido</a:t>
              </a:r>
              <a:endParaRPr sz="2000">
                <a:solidFill>
                  <a:srgbClr val="FF0000"/>
                </a:solidFill>
              </a:endParaRPr>
            </a:p>
          </p:txBody>
        </p:sp>
        <p:sp>
          <p:nvSpPr>
            <p:cNvPr id="1395" name="Google Shape;1395;p66"/>
            <p:cNvSpPr/>
            <p:nvPr/>
          </p:nvSpPr>
          <p:spPr>
            <a:xfrm>
              <a:off x="6246550" y="3021300"/>
              <a:ext cx="32775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(R/W)</a:t>
              </a:r>
              <a:endParaRPr sz="2000">
                <a:solidFill>
                  <a:srgbClr val="70AD47"/>
                </a:solidFill>
              </a:endParaRPr>
            </a:p>
          </p:txBody>
        </p:sp>
        <p:sp>
          <p:nvSpPr>
            <p:cNvPr id="1396" name="Google Shape;1396;p66"/>
            <p:cNvSpPr/>
            <p:nvPr/>
          </p:nvSpPr>
          <p:spPr>
            <a:xfrm>
              <a:off x="6246550" y="4158400"/>
              <a:ext cx="32775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(R/W)</a:t>
              </a:r>
              <a:endParaRPr sz="2000">
                <a:solidFill>
                  <a:srgbClr val="70AD47"/>
                </a:solidFill>
              </a:endParaRPr>
            </a:p>
          </p:txBody>
        </p:sp>
        <p:sp>
          <p:nvSpPr>
            <p:cNvPr id="1397" name="Google Shape;1397;p66"/>
            <p:cNvSpPr/>
            <p:nvPr/>
          </p:nvSpPr>
          <p:spPr>
            <a:xfrm>
              <a:off x="6246550" y="4565650"/>
              <a:ext cx="32775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(R/W)</a:t>
              </a:r>
              <a:endParaRPr sz="2000">
                <a:solidFill>
                  <a:srgbClr val="70AD47"/>
                </a:solidFill>
              </a:endParaRPr>
            </a:p>
          </p:txBody>
        </p:sp>
        <p:sp>
          <p:nvSpPr>
            <p:cNvPr id="1398" name="Google Shape;1398;p66"/>
            <p:cNvSpPr/>
            <p:nvPr/>
          </p:nvSpPr>
          <p:spPr>
            <a:xfrm>
              <a:off x="6246550" y="5413125"/>
              <a:ext cx="32775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(R/W)</a:t>
              </a:r>
              <a:endParaRPr sz="2000">
                <a:solidFill>
                  <a:srgbClr val="70AD47"/>
                </a:solidFill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67"/>
          <p:cNvSpPr txBox="1">
            <a:spLocks noGrp="1"/>
          </p:cNvSpPr>
          <p:nvPr>
            <p:ph type="title"/>
          </p:nvPr>
        </p:nvSpPr>
        <p:spPr>
          <a:xfrm>
            <a:off x="275550" y="96038"/>
            <a:ext cx="8945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Segmentos compartidos</a:t>
            </a:r>
            <a:endParaRPr dirty="0">
              <a:latin typeface="+mj-lt"/>
            </a:endParaRPr>
          </a:p>
        </p:txBody>
      </p:sp>
      <p:sp>
        <p:nvSpPr>
          <p:cNvPr id="1404" name="Google Shape;1404;p67"/>
          <p:cNvSpPr txBox="1">
            <a:spLocks noGrp="1"/>
          </p:cNvSpPr>
          <p:nvPr>
            <p:ph type="body" idx="1"/>
          </p:nvPr>
        </p:nvSpPr>
        <p:spPr>
          <a:xfrm>
            <a:off x="275550" y="793125"/>
            <a:ext cx="11640900" cy="14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Escenario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¿Que pasa cuando se ejecutan dos procesos con la misma imagen?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Algunos segmentos (como el segmento de código) podrían compartirse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405" name="Google Shape;1405;p67"/>
          <p:cNvGrpSpPr/>
          <p:nvPr/>
        </p:nvGrpSpPr>
        <p:grpSpPr>
          <a:xfrm>
            <a:off x="1070900" y="2686450"/>
            <a:ext cx="4529575" cy="3442200"/>
            <a:chOff x="3260350" y="2674875"/>
            <a:chExt cx="4529575" cy="3442200"/>
          </a:xfrm>
        </p:grpSpPr>
        <p:grpSp>
          <p:nvGrpSpPr>
            <p:cNvPr id="1406" name="Google Shape;1406;p67"/>
            <p:cNvGrpSpPr/>
            <p:nvPr/>
          </p:nvGrpSpPr>
          <p:grpSpPr>
            <a:xfrm>
              <a:off x="4225059" y="2811427"/>
              <a:ext cx="1122056" cy="1374379"/>
              <a:chOff x="1775100" y="4022829"/>
              <a:chExt cx="1076106" cy="1739721"/>
            </a:xfrm>
          </p:grpSpPr>
          <p:sp>
            <p:nvSpPr>
              <p:cNvPr id="1407" name="Google Shape;1407;p67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08" name="Google Shape;1408;p67"/>
              <p:cNvGrpSpPr/>
              <p:nvPr/>
            </p:nvGrpSpPr>
            <p:grpSpPr>
              <a:xfrm>
                <a:off x="1775100" y="4022829"/>
                <a:ext cx="1076106" cy="1739696"/>
                <a:chOff x="7948250" y="2813104"/>
                <a:chExt cx="1076106" cy="1739696"/>
              </a:xfrm>
            </p:grpSpPr>
            <p:sp>
              <p:nvSpPr>
                <p:cNvPr id="1409" name="Google Shape;1409;p67"/>
                <p:cNvSpPr/>
                <p:nvPr/>
              </p:nvSpPr>
              <p:spPr>
                <a:xfrm>
                  <a:off x="7948256" y="2813104"/>
                  <a:ext cx="1076100" cy="5928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410" name="Google Shape;1410;p67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2200" dirty="0"/>
                </a:p>
              </p:txBody>
            </p:sp>
            <p:sp>
              <p:nvSpPr>
                <p:cNvPr id="1411" name="Google Shape;1411;p67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2200" dirty="0"/>
                </a:p>
              </p:txBody>
            </p:sp>
            <p:cxnSp>
              <p:nvCxnSpPr>
                <p:cNvPr id="1412" name="Google Shape;1412;p67"/>
                <p:cNvCxnSpPr>
                  <a:stCxn id="1410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413" name="Google Shape;1413;p67"/>
                <p:cNvCxnSpPr>
                  <a:stCxn id="1411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1414" name="Google Shape;1414;p67"/>
            <p:cNvSpPr/>
            <p:nvPr/>
          </p:nvSpPr>
          <p:spPr>
            <a:xfrm>
              <a:off x="6667925" y="2674875"/>
              <a:ext cx="1122000" cy="34422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67"/>
            <p:cNvSpPr/>
            <p:nvPr/>
          </p:nvSpPr>
          <p:spPr>
            <a:xfrm>
              <a:off x="6667925" y="3412698"/>
              <a:ext cx="1122000" cy="3411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Code</a:t>
              </a:r>
              <a:endParaRPr sz="16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416" name="Google Shape;1416;p67"/>
            <p:cNvGrpSpPr/>
            <p:nvPr/>
          </p:nvGrpSpPr>
          <p:grpSpPr>
            <a:xfrm>
              <a:off x="6667925" y="2767272"/>
              <a:ext cx="1122000" cy="552881"/>
              <a:chOff x="6667925" y="2767272"/>
              <a:chExt cx="1122000" cy="552881"/>
            </a:xfrm>
          </p:grpSpPr>
          <p:sp>
            <p:nvSpPr>
              <p:cNvPr id="1417" name="Google Shape;1417;p67"/>
              <p:cNvSpPr/>
              <p:nvPr/>
            </p:nvSpPr>
            <p:spPr>
              <a:xfrm>
                <a:off x="6667925" y="3040853"/>
                <a:ext cx="1122000" cy="279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418" name="Google Shape;1418;p67"/>
              <p:cNvCxnSpPr/>
              <p:nvPr/>
            </p:nvCxnSpPr>
            <p:spPr>
              <a:xfrm rot="10800000" flipH="1">
                <a:off x="7226668" y="2767272"/>
                <a:ext cx="4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419" name="Google Shape;1419;p67"/>
            <p:cNvGrpSpPr/>
            <p:nvPr/>
          </p:nvGrpSpPr>
          <p:grpSpPr>
            <a:xfrm>
              <a:off x="6667925" y="4560101"/>
              <a:ext cx="1122000" cy="591500"/>
              <a:chOff x="6667919" y="3952022"/>
              <a:chExt cx="1122000" cy="654604"/>
            </a:xfrm>
          </p:grpSpPr>
          <p:sp>
            <p:nvSpPr>
              <p:cNvPr id="1420" name="Google Shape;1420;p67"/>
              <p:cNvSpPr/>
              <p:nvPr/>
            </p:nvSpPr>
            <p:spPr>
              <a:xfrm>
                <a:off x="6667919" y="3952022"/>
                <a:ext cx="1122000" cy="3411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cxnSp>
            <p:nvCxnSpPr>
              <p:cNvPr id="1421" name="Google Shape;1421;p67"/>
              <p:cNvCxnSpPr/>
              <p:nvPr/>
            </p:nvCxnSpPr>
            <p:spPr>
              <a:xfrm>
                <a:off x="7225318" y="4293125"/>
                <a:ext cx="7200" cy="31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cxnSp>
          <p:nvCxnSpPr>
            <p:cNvPr id="1422" name="Google Shape;1422;p67"/>
            <p:cNvCxnSpPr>
              <a:stCxn id="1409" idx="3"/>
              <a:endCxn id="1415" idx="1"/>
            </p:cNvCxnSpPr>
            <p:nvPr/>
          </p:nvCxnSpPr>
          <p:spPr>
            <a:xfrm>
              <a:off x="5347115" y="3045583"/>
              <a:ext cx="1320900" cy="5376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23" name="Google Shape;1423;p67"/>
            <p:cNvCxnSpPr>
              <a:stCxn id="1410" idx="3"/>
              <a:endCxn id="1420" idx="1"/>
            </p:cNvCxnSpPr>
            <p:nvPr/>
          </p:nvCxnSpPr>
          <p:spPr>
            <a:xfrm>
              <a:off x="5347109" y="3392192"/>
              <a:ext cx="1320900" cy="13221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24" name="Google Shape;1424;p67"/>
            <p:cNvCxnSpPr>
              <a:stCxn id="1411" idx="3"/>
              <a:endCxn id="1417" idx="1"/>
            </p:cNvCxnSpPr>
            <p:nvPr/>
          </p:nvCxnSpPr>
          <p:spPr>
            <a:xfrm rot="10800000" flipH="1">
              <a:off x="5347109" y="3180649"/>
              <a:ext cx="1320900" cy="8928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425" name="Google Shape;1425;p67"/>
            <p:cNvGrpSpPr/>
            <p:nvPr/>
          </p:nvGrpSpPr>
          <p:grpSpPr>
            <a:xfrm>
              <a:off x="4225059" y="4606627"/>
              <a:ext cx="1122056" cy="1374379"/>
              <a:chOff x="1775100" y="4022829"/>
              <a:chExt cx="1076106" cy="1739721"/>
            </a:xfrm>
          </p:grpSpPr>
          <p:sp>
            <p:nvSpPr>
              <p:cNvPr id="1426" name="Google Shape;1426;p67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27" name="Google Shape;1427;p67"/>
              <p:cNvGrpSpPr/>
              <p:nvPr/>
            </p:nvGrpSpPr>
            <p:grpSpPr>
              <a:xfrm>
                <a:off x="1775100" y="4022829"/>
                <a:ext cx="1076106" cy="1739696"/>
                <a:chOff x="7948250" y="2813104"/>
                <a:chExt cx="1076106" cy="1739696"/>
              </a:xfrm>
            </p:grpSpPr>
            <p:sp>
              <p:nvSpPr>
                <p:cNvPr id="1428" name="Google Shape;1428;p67"/>
                <p:cNvSpPr/>
                <p:nvPr/>
              </p:nvSpPr>
              <p:spPr>
                <a:xfrm>
                  <a:off x="7948256" y="2813104"/>
                  <a:ext cx="1076100" cy="5928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429" name="Google Shape;1429;p67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D9D2E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2200" dirty="0"/>
                </a:p>
              </p:txBody>
            </p:sp>
            <p:sp>
              <p:nvSpPr>
                <p:cNvPr id="1430" name="Google Shape;1430;p67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2200" dirty="0"/>
                </a:p>
              </p:txBody>
            </p:sp>
            <p:cxnSp>
              <p:nvCxnSpPr>
                <p:cNvPr id="1431" name="Google Shape;1431;p67"/>
                <p:cNvCxnSpPr>
                  <a:stCxn id="1429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432" name="Google Shape;1432;p67"/>
                <p:cNvCxnSpPr>
                  <a:stCxn id="1430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1433" name="Google Shape;1433;p67"/>
            <p:cNvGrpSpPr/>
            <p:nvPr/>
          </p:nvGrpSpPr>
          <p:grpSpPr>
            <a:xfrm>
              <a:off x="6667925" y="3880509"/>
              <a:ext cx="1122000" cy="552881"/>
              <a:chOff x="6667925" y="2767272"/>
              <a:chExt cx="1122000" cy="552881"/>
            </a:xfrm>
          </p:grpSpPr>
          <p:sp>
            <p:nvSpPr>
              <p:cNvPr id="1434" name="Google Shape;1434;p67"/>
              <p:cNvSpPr/>
              <p:nvPr/>
            </p:nvSpPr>
            <p:spPr>
              <a:xfrm>
                <a:off x="6667925" y="3040853"/>
                <a:ext cx="1122000" cy="279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435" name="Google Shape;1435;p67"/>
              <p:cNvCxnSpPr/>
              <p:nvPr/>
            </p:nvCxnSpPr>
            <p:spPr>
              <a:xfrm rot="10800000" flipH="1">
                <a:off x="7226668" y="2767272"/>
                <a:ext cx="4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436" name="Google Shape;1436;p67"/>
            <p:cNvGrpSpPr/>
            <p:nvPr/>
          </p:nvGrpSpPr>
          <p:grpSpPr>
            <a:xfrm>
              <a:off x="6667925" y="5389501"/>
              <a:ext cx="1122000" cy="591500"/>
              <a:chOff x="6667919" y="3952022"/>
              <a:chExt cx="1122000" cy="654604"/>
            </a:xfrm>
          </p:grpSpPr>
          <p:sp>
            <p:nvSpPr>
              <p:cNvPr id="1437" name="Google Shape;1437;p67"/>
              <p:cNvSpPr/>
              <p:nvPr/>
            </p:nvSpPr>
            <p:spPr>
              <a:xfrm>
                <a:off x="6667919" y="3952022"/>
                <a:ext cx="1122000" cy="341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cxnSp>
            <p:nvCxnSpPr>
              <p:cNvPr id="1438" name="Google Shape;1438;p67"/>
              <p:cNvCxnSpPr/>
              <p:nvPr/>
            </p:nvCxnSpPr>
            <p:spPr>
              <a:xfrm>
                <a:off x="7225318" y="4293125"/>
                <a:ext cx="7200" cy="31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cxnSp>
          <p:nvCxnSpPr>
            <p:cNvPr id="1439" name="Google Shape;1439;p67"/>
            <p:cNvCxnSpPr>
              <a:stCxn id="1428" idx="3"/>
              <a:endCxn id="1415" idx="1"/>
            </p:cNvCxnSpPr>
            <p:nvPr/>
          </p:nvCxnSpPr>
          <p:spPr>
            <a:xfrm rot="10800000" flipH="1">
              <a:off x="5347115" y="3583183"/>
              <a:ext cx="1320900" cy="12576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0" name="Google Shape;1440;p67"/>
            <p:cNvCxnSpPr>
              <a:stCxn id="1429" idx="3"/>
              <a:endCxn id="1437" idx="1"/>
            </p:cNvCxnSpPr>
            <p:nvPr/>
          </p:nvCxnSpPr>
          <p:spPr>
            <a:xfrm>
              <a:off x="5347109" y="5187392"/>
              <a:ext cx="1320900" cy="356100"/>
            </a:xfrm>
            <a:prstGeom prst="straightConnector1">
              <a:avLst/>
            </a:prstGeom>
            <a:noFill/>
            <a:ln w="19050" cap="flat" cmpd="sng">
              <a:solidFill>
                <a:srgbClr val="8E7CC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1" name="Google Shape;1441;p67"/>
            <p:cNvCxnSpPr>
              <a:stCxn id="1430" idx="3"/>
              <a:endCxn id="1434" idx="1"/>
            </p:cNvCxnSpPr>
            <p:nvPr/>
          </p:nvCxnSpPr>
          <p:spPr>
            <a:xfrm rot="10800000" flipH="1">
              <a:off x="5347109" y="4293649"/>
              <a:ext cx="1320900" cy="15750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42" name="Google Shape;1442;p67"/>
            <p:cNvSpPr/>
            <p:nvPr/>
          </p:nvSpPr>
          <p:spPr>
            <a:xfrm>
              <a:off x="3260350" y="3104850"/>
              <a:ext cx="602700" cy="648300"/>
            </a:xfrm>
            <a:prstGeom prst="ellipse">
              <a:avLst/>
            </a:prstGeom>
            <a:solidFill>
              <a:srgbClr val="C9DAF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43" name="Google Shape;1443;p67"/>
            <p:cNvSpPr/>
            <p:nvPr/>
          </p:nvSpPr>
          <p:spPr>
            <a:xfrm>
              <a:off x="3260350" y="4895200"/>
              <a:ext cx="602700" cy="648300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444" name="Google Shape;1444;p67"/>
          <p:cNvSpPr txBox="1"/>
          <p:nvPr/>
        </p:nvSpPr>
        <p:spPr>
          <a:xfrm>
            <a:off x="6157790" y="2778847"/>
            <a:ext cx="5209500" cy="3175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¿Cómo hacerlo?</a:t>
            </a:r>
            <a:endParaRPr sz="24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agrega HW adicional usando </a:t>
            </a:r>
            <a:r>
              <a:rPr lang="es-ES" sz="2400" b="1" dirty="0">
                <a:solidFill>
                  <a:srgbClr val="70AD47"/>
                </a:solidFill>
                <a:ea typeface="Roboto"/>
                <a:cs typeface="Roboto"/>
                <a:sym typeface="Roboto"/>
              </a:rPr>
              <a:t>bits de protección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 indicar los permisos de un segmento en particular: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R</a:t>
            </a:r>
            <a:r>
              <a:rPr lang="es-ES" sz="2200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Lectura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b="1" dirty="0">
                <a:solidFill>
                  <a:srgbClr val="70AD47"/>
                </a:solidFill>
                <a:ea typeface="Consolas"/>
                <a:cs typeface="Consolas"/>
                <a:sym typeface="Consolas"/>
              </a:rPr>
              <a:t>W</a:t>
            </a:r>
            <a:r>
              <a:rPr lang="es-ES" sz="2200" dirty="0">
                <a:solidFill>
                  <a:srgbClr val="70AD47"/>
                </a:solidFill>
                <a:ea typeface="Consolas"/>
                <a:cs typeface="Consolas"/>
                <a:sym typeface="Consolas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Escritura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b="1" dirty="0">
                <a:solidFill>
                  <a:schemeClr val="accent5"/>
                </a:solidFill>
                <a:ea typeface="Consolas"/>
                <a:cs typeface="Consolas"/>
                <a:sym typeface="Consolas"/>
              </a:rPr>
              <a:t>X</a:t>
            </a:r>
            <a:r>
              <a:rPr lang="es-ES" sz="2200" dirty="0">
                <a:solidFill>
                  <a:schemeClr val="accent5"/>
                </a:solidFill>
                <a:ea typeface="Consolas"/>
                <a:cs typeface="Consolas"/>
                <a:sym typeface="Consolas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Ejecución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68"/>
          <p:cNvSpPr txBox="1">
            <a:spLocks noGrp="1"/>
          </p:cNvSpPr>
          <p:nvPr>
            <p:ph type="title"/>
          </p:nvPr>
        </p:nvSpPr>
        <p:spPr>
          <a:xfrm>
            <a:off x="275550" y="96038"/>
            <a:ext cx="8945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Segmentos compartidos</a:t>
            </a:r>
            <a:endParaRPr b="0" dirty="0">
              <a:latin typeface="+mj-lt"/>
            </a:endParaRPr>
          </a:p>
        </p:txBody>
      </p:sp>
      <p:sp>
        <p:nvSpPr>
          <p:cNvPr id="1450" name="Google Shape;1450;p68"/>
          <p:cNvSpPr txBox="1">
            <a:spLocks noGrp="1"/>
          </p:cNvSpPr>
          <p:nvPr>
            <p:ph type="body" idx="1"/>
          </p:nvPr>
        </p:nvSpPr>
        <p:spPr>
          <a:xfrm>
            <a:off x="431800" y="793125"/>
            <a:ext cx="11484650" cy="14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Escenario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¿Que pasa cuando se ejecutan dos procesos con la misma imagen?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Algunos segmentos (como el segmento de código) podrían compartirse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451" name="Google Shape;1451;p68"/>
          <p:cNvGrpSpPr/>
          <p:nvPr/>
        </p:nvGrpSpPr>
        <p:grpSpPr>
          <a:xfrm>
            <a:off x="1577997" y="2735902"/>
            <a:ext cx="1122056" cy="1374379"/>
            <a:chOff x="1775100" y="4022829"/>
            <a:chExt cx="1076106" cy="1739721"/>
          </a:xfrm>
        </p:grpSpPr>
        <p:sp>
          <p:nvSpPr>
            <p:cNvPr id="1452" name="Google Shape;1452;p68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53" name="Google Shape;1453;p68"/>
            <p:cNvGrpSpPr/>
            <p:nvPr/>
          </p:nvGrpSpPr>
          <p:grpSpPr>
            <a:xfrm>
              <a:off x="1775100" y="4022829"/>
              <a:ext cx="1076106" cy="1739696"/>
              <a:chOff x="7948250" y="2813104"/>
              <a:chExt cx="1076106" cy="1739696"/>
            </a:xfrm>
          </p:grpSpPr>
          <p:sp>
            <p:nvSpPr>
              <p:cNvPr id="1454" name="Google Shape;1454;p68"/>
              <p:cNvSpPr/>
              <p:nvPr/>
            </p:nvSpPr>
            <p:spPr>
              <a:xfrm>
                <a:off x="7948256" y="2813104"/>
                <a:ext cx="1076100" cy="592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455" name="Google Shape;1455;p68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1456" name="Google Shape;1456;p68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457" name="Google Shape;1457;p68"/>
              <p:cNvCxnSpPr>
                <a:stCxn id="1455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58" name="Google Shape;1458;p68"/>
              <p:cNvCxnSpPr>
                <a:stCxn id="1456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1459" name="Google Shape;1459;p68"/>
          <p:cNvCxnSpPr>
            <a:stCxn id="1454" idx="3"/>
            <a:endCxn id="1460" idx="1"/>
          </p:cNvCxnSpPr>
          <p:nvPr/>
        </p:nvCxnSpPr>
        <p:spPr>
          <a:xfrm>
            <a:off x="2700053" y="2970058"/>
            <a:ext cx="837000" cy="5901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1" name="Google Shape;1461;p68"/>
          <p:cNvCxnSpPr>
            <a:stCxn id="1455" idx="3"/>
            <a:endCxn id="1462" idx="1"/>
          </p:cNvCxnSpPr>
          <p:nvPr/>
        </p:nvCxnSpPr>
        <p:spPr>
          <a:xfrm>
            <a:off x="2700046" y="3316667"/>
            <a:ext cx="837000" cy="1374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3" name="Google Shape;1463;p68"/>
          <p:cNvCxnSpPr>
            <a:stCxn id="1456" idx="3"/>
            <a:endCxn id="1464" idx="1"/>
          </p:cNvCxnSpPr>
          <p:nvPr/>
        </p:nvCxnSpPr>
        <p:spPr>
          <a:xfrm rot="10800000" flipH="1">
            <a:off x="2700046" y="3157324"/>
            <a:ext cx="837000" cy="8406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5" name="Google Shape;1465;p68"/>
          <p:cNvGrpSpPr/>
          <p:nvPr/>
        </p:nvGrpSpPr>
        <p:grpSpPr>
          <a:xfrm>
            <a:off x="1609847" y="4560252"/>
            <a:ext cx="1122056" cy="1374379"/>
            <a:chOff x="1775100" y="4022829"/>
            <a:chExt cx="1076106" cy="1739721"/>
          </a:xfrm>
        </p:grpSpPr>
        <p:sp>
          <p:nvSpPr>
            <p:cNvPr id="1466" name="Google Shape;1466;p68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7" name="Google Shape;1467;p68"/>
            <p:cNvGrpSpPr/>
            <p:nvPr/>
          </p:nvGrpSpPr>
          <p:grpSpPr>
            <a:xfrm>
              <a:off x="1775100" y="4022829"/>
              <a:ext cx="1076106" cy="1739696"/>
              <a:chOff x="7948250" y="2813104"/>
              <a:chExt cx="1076106" cy="1739696"/>
            </a:xfrm>
          </p:grpSpPr>
          <p:sp>
            <p:nvSpPr>
              <p:cNvPr id="1468" name="Google Shape;1468;p68"/>
              <p:cNvSpPr/>
              <p:nvPr/>
            </p:nvSpPr>
            <p:spPr>
              <a:xfrm>
                <a:off x="7948256" y="2813104"/>
                <a:ext cx="1076100" cy="592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469" name="Google Shape;1469;p68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1470" name="Google Shape;1470;p68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471" name="Google Shape;1471;p68"/>
              <p:cNvCxnSpPr>
                <a:stCxn id="1469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72" name="Google Shape;1472;p68"/>
              <p:cNvCxnSpPr>
                <a:stCxn id="1470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473" name="Google Shape;1473;p68"/>
          <p:cNvGrpSpPr/>
          <p:nvPr/>
        </p:nvGrpSpPr>
        <p:grpSpPr>
          <a:xfrm>
            <a:off x="3537113" y="2651675"/>
            <a:ext cx="1122000" cy="3442200"/>
            <a:chOff x="4324225" y="2628525"/>
            <a:chExt cx="1122000" cy="3442200"/>
          </a:xfrm>
        </p:grpSpPr>
        <p:sp>
          <p:nvSpPr>
            <p:cNvPr id="1474" name="Google Shape;1474;p68"/>
            <p:cNvSpPr/>
            <p:nvPr/>
          </p:nvSpPr>
          <p:spPr>
            <a:xfrm>
              <a:off x="4324225" y="2628525"/>
              <a:ext cx="1122000" cy="34422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68"/>
            <p:cNvSpPr/>
            <p:nvPr/>
          </p:nvSpPr>
          <p:spPr>
            <a:xfrm>
              <a:off x="4324225" y="3366348"/>
              <a:ext cx="1122000" cy="3411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Code</a:t>
              </a:r>
              <a:endParaRPr sz="16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475" name="Google Shape;1475;p68"/>
            <p:cNvGrpSpPr/>
            <p:nvPr/>
          </p:nvGrpSpPr>
          <p:grpSpPr>
            <a:xfrm>
              <a:off x="4324225" y="2720922"/>
              <a:ext cx="1122000" cy="552881"/>
              <a:chOff x="6667925" y="2767272"/>
              <a:chExt cx="1122000" cy="552881"/>
            </a:xfrm>
          </p:grpSpPr>
          <p:sp>
            <p:nvSpPr>
              <p:cNvPr id="1464" name="Google Shape;1464;p68"/>
              <p:cNvSpPr/>
              <p:nvPr/>
            </p:nvSpPr>
            <p:spPr>
              <a:xfrm>
                <a:off x="6667925" y="3040853"/>
                <a:ext cx="1122000" cy="279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476" name="Google Shape;1476;p68"/>
              <p:cNvCxnSpPr/>
              <p:nvPr/>
            </p:nvCxnSpPr>
            <p:spPr>
              <a:xfrm rot="10800000" flipH="1">
                <a:off x="7226668" y="2767272"/>
                <a:ext cx="4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477" name="Google Shape;1477;p68"/>
            <p:cNvGrpSpPr/>
            <p:nvPr/>
          </p:nvGrpSpPr>
          <p:grpSpPr>
            <a:xfrm>
              <a:off x="4324225" y="4513751"/>
              <a:ext cx="1122000" cy="591500"/>
              <a:chOff x="6667919" y="3952022"/>
              <a:chExt cx="1122000" cy="654604"/>
            </a:xfrm>
          </p:grpSpPr>
          <p:sp>
            <p:nvSpPr>
              <p:cNvPr id="1462" name="Google Shape;1462;p68"/>
              <p:cNvSpPr/>
              <p:nvPr/>
            </p:nvSpPr>
            <p:spPr>
              <a:xfrm>
                <a:off x="6667919" y="3952022"/>
                <a:ext cx="1122000" cy="3411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cxnSp>
            <p:nvCxnSpPr>
              <p:cNvPr id="1478" name="Google Shape;1478;p68"/>
              <p:cNvCxnSpPr/>
              <p:nvPr/>
            </p:nvCxnSpPr>
            <p:spPr>
              <a:xfrm>
                <a:off x="7225318" y="4293125"/>
                <a:ext cx="7200" cy="31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479" name="Google Shape;1479;p68"/>
            <p:cNvGrpSpPr/>
            <p:nvPr/>
          </p:nvGrpSpPr>
          <p:grpSpPr>
            <a:xfrm>
              <a:off x="4324225" y="3834159"/>
              <a:ext cx="1122000" cy="552881"/>
              <a:chOff x="6667925" y="2767272"/>
              <a:chExt cx="1122000" cy="552881"/>
            </a:xfrm>
          </p:grpSpPr>
          <p:sp>
            <p:nvSpPr>
              <p:cNvPr id="1480" name="Google Shape;1480;p68"/>
              <p:cNvSpPr/>
              <p:nvPr/>
            </p:nvSpPr>
            <p:spPr>
              <a:xfrm>
                <a:off x="6667925" y="3040853"/>
                <a:ext cx="1122000" cy="279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481" name="Google Shape;1481;p68"/>
              <p:cNvCxnSpPr/>
              <p:nvPr/>
            </p:nvCxnSpPr>
            <p:spPr>
              <a:xfrm rot="10800000" flipH="1">
                <a:off x="7226668" y="2767272"/>
                <a:ext cx="4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482" name="Google Shape;1482;p68"/>
            <p:cNvGrpSpPr/>
            <p:nvPr/>
          </p:nvGrpSpPr>
          <p:grpSpPr>
            <a:xfrm>
              <a:off x="4324225" y="5343151"/>
              <a:ext cx="1122000" cy="591500"/>
              <a:chOff x="6667919" y="3952022"/>
              <a:chExt cx="1122000" cy="654604"/>
            </a:xfrm>
          </p:grpSpPr>
          <p:sp>
            <p:nvSpPr>
              <p:cNvPr id="1483" name="Google Shape;1483;p68"/>
              <p:cNvSpPr/>
              <p:nvPr/>
            </p:nvSpPr>
            <p:spPr>
              <a:xfrm>
                <a:off x="6667919" y="3952022"/>
                <a:ext cx="1122000" cy="341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cxnSp>
            <p:nvCxnSpPr>
              <p:cNvPr id="1484" name="Google Shape;1484;p68"/>
              <p:cNvCxnSpPr/>
              <p:nvPr/>
            </p:nvCxnSpPr>
            <p:spPr>
              <a:xfrm>
                <a:off x="7225318" y="4293125"/>
                <a:ext cx="7200" cy="31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1485" name="Google Shape;1485;p68"/>
          <p:cNvCxnSpPr>
            <a:stCxn id="1468" idx="3"/>
            <a:endCxn id="1460" idx="1"/>
          </p:cNvCxnSpPr>
          <p:nvPr/>
        </p:nvCxnSpPr>
        <p:spPr>
          <a:xfrm rot="10800000" flipH="1">
            <a:off x="2731903" y="3559908"/>
            <a:ext cx="805200" cy="1234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86" name="Google Shape;1486;p68"/>
          <p:cNvCxnSpPr>
            <a:stCxn id="1469" idx="3"/>
            <a:endCxn id="1483" idx="1"/>
          </p:cNvCxnSpPr>
          <p:nvPr/>
        </p:nvCxnSpPr>
        <p:spPr>
          <a:xfrm>
            <a:off x="2731896" y="5141017"/>
            <a:ext cx="805200" cy="379500"/>
          </a:xfrm>
          <a:prstGeom prst="straightConnector1">
            <a:avLst/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87" name="Google Shape;1487;p68"/>
          <p:cNvCxnSpPr>
            <a:stCxn id="1470" idx="3"/>
            <a:endCxn id="1480" idx="1"/>
          </p:cNvCxnSpPr>
          <p:nvPr/>
        </p:nvCxnSpPr>
        <p:spPr>
          <a:xfrm rot="10800000" flipH="1">
            <a:off x="2731896" y="4270674"/>
            <a:ext cx="805200" cy="15516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88" name="Google Shape;1488;p68"/>
          <p:cNvSpPr/>
          <p:nvPr/>
        </p:nvSpPr>
        <p:spPr>
          <a:xfrm>
            <a:off x="835550" y="3098938"/>
            <a:ext cx="602700" cy="648300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P1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9" name="Google Shape;1489;p68"/>
          <p:cNvSpPr/>
          <p:nvPr/>
        </p:nvSpPr>
        <p:spPr>
          <a:xfrm>
            <a:off x="835550" y="4842600"/>
            <a:ext cx="602700" cy="6483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P2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90" name="Google Shape;1490;p68"/>
          <p:cNvGraphicFramePr/>
          <p:nvPr>
            <p:extLst>
              <p:ext uri="{D42A27DB-BD31-4B8C-83A1-F6EECF244321}">
                <p14:modId xmlns:p14="http://schemas.microsoft.com/office/powerpoint/2010/main" val="1422028008"/>
              </p:ext>
            </p:extLst>
          </p:nvPr>
        </p:nvGraphicFramePr>
        <p:xfrm>
          <a:off x="5035614" y="3206460"/>
          <a:ext cx="6993075" cy="19506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245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(max 4K)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Protección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Read-Execute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91" name="Google Shape;1491;p68"/>
          <p:cNvSpPr txBox="1"/>
          <p:nvPr/>
        </p:nvSpPr>
        <p:spPr>
          <a:xfrm>
            <a:off x="4962189" y="5178428"/>
            <a:ext cx="7066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Segment Register Values (with Protection)</a:t>
            </a:r>
            <a:endParaRPr sz="18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70"/>
          <p:cNvSpPr txBox="1">
            <a:spLocks noGrp="1"/>
          </p:cNvSpPr>
          <p:nvPr>
            <p:ph type="title"/>
          </p:nvPr>
        </p:nvSpPr>
        <p:spPr>
          <a:xfrm>
            <a:off x="711200" y="96038"/>
            <a:ext cx="85094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Hardware de segmentación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1503" name="Google Shape;1503;p70"/>
          <p:cNvSpPr txBox="1"/>
          <p:nvPr/>
        </p:nvSpPr>
        <p:spPr>
          <a:xfrm>
            <a:off x="806010" y="4299825"/>
            <a:ext cx="669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20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4" name="Google Shape;1504;p70"/>
          <p:cNvSpPr/>
          <p:nvPr/>
        </p:nvSpPr>
        <p:spPr>
          <a:xfrm>
            <a:off x="4792925" y="4266325"/>
            <a:ext cx="924225" cy="562575"/>
          </a:xfrm>
          <a:prstGeom prst="flowChartDecision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5" name="Google Shape;1505;p70"/>
          <p:cNvSpPr/>
          <p:nvPr/>
        </p:nvSpPr>
        <p:spPr>
          <a:xfrm>
            <a:off x="6852950" y="4285263"/>
            <a:ext cx="495600" cy="524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+</a:t>
            </a:r>
            <a:endParaRPr/>
          </a:p>
        </p:txBody>
      </p:sp>
      <p:cxnSp>
        <p:nvCxnSpPr>
          <p:cNvPr id="1506" name="Google Shape;1506;p70"/>
          <p:cNvCxnSpPr/>
          <p:nvPr/>
        </p:nvCxnSpPr>
        <p:spPr>
          <a:xfrm>
            <a:off x="3575725" y="4543000"/>
            <a:ext cx="1217100" cy="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7" name="Google Shape;1507;p70"/>
          <p:cNvCxnSpPr>
            <a:stCxn id="1504" idx="3"/>
            <a:endCxn id="1505" idx="2"/>
          </p:cNvCxnSpPr>
          <p:nvPr/>
        </p:nvCxnSpPr>
        <p:spPr>
          <a:xfrm>
            <a:off x="5717150" y="4547613"/>
            <a:ext cx="113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8" name="Google Shape;1508;p70"/>
          <p:cNvCxnSpPr/>
          <p:nvPr/>
        </p:nvCxnSpPr>
        <p:spPr>
          <a:xfrm>
            <a:off x="5255050" y="4828888"/>
            <a:ext cx="2400" cy="90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9" name="Google Shape;1509;p70"/>
          <p:cNvSpPr txBox="1"/>
          <p:nvPr/>
        </p:nvSpPr>
        <p:spPr>
          <a:xfrm>
            <a:off x="5108663" y="4731750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No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0" name="Google Shape;1510;p70"/>
          <p:cNvSpPr txBox="1"/>
          <p:nvPr/>
        </p:nvSpPr>
        <p:spPr>
          <a:xfrm>
            <a:off x="5621338" y="4131225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Yes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11" name="Google Shape;1511;p70"/>
          <p:cNvCxnSpPr/>
          <p:nvPr/>
        </p:nvCxnSpPr>
        <p:spPr>
          <a:xfrm>
            <a:off x="7348550" y="4547613"/>
            <a:ext cx="1393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2" name="Google Shape;1512;p70"/>
          <p:cNvSpPr txBox="1"/>
          <p:nvPr/>
        </p:nvSpPr>
        <p:spPr>
          <a:xfrm>
            <a:off x="5255050" y="5408475"/>
            <a:ext cx="201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Protection fault</a:t>
            </a:r>
            <a:endParaRPr sz="1600" b="1" dirty="0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513" name="Google Shape;1513;p70"/>
          <p:cNvGraphicFramePr/>
          <p:nvPr>
            <p:extLst>
              <p:ext uri="{D42A27DB-BD31-4B8C-83A1-F6EECF244321}">
                <p14:modId xmlns:p14="http://schemas.microsoft.com/office/powerpoint/2010/main" val="258133715"/>
              </p:ext>
            </p:extLst>
          </p:nvPr>
        </p:nvGraphicFramePr>
        <p:xfrm>
          <a:off x="2971350" y="1228523"/>
          <a:ext cx="7352550" cy="19506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(max 4K)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Protection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Read-Execute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14" name="Google Shape;1514;p70"/>
          <p:cNvGraphicFramePr/>
          <p:nvPr>
            <p:extLst>
              <p:ext uri="{D42A27DB-BD31-4B8C-83A1-F6EECF244321}">
                <p14:modId xmlns:p14="http://schemas.microsoft.com/office/powerpoint/2010/main" val="3220525503"/>
              </p:ext>
            </p:extLst>
          </p:nvPr>
        </p:nvGraphicFramePr>
        <p:xfrm>
          <a:off x="1416925" y="4332775"/>
          <a:ext cx="2143500" cy="4267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000001101000</a:t>
                      </a:r>
                      <a:endParaRPr sz="16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15" name="Google Shape;1515;p70"/>
          <p:cNvCxnSpPr>
            <a:cxnSpLocks/>
          </p:cNvCxnSpPr>
          <p:nvPr/>
        </p:nvCxnSpPr>
        <p:spPr>
          <a:xfrm rot="5400000" flipH="1" flipV="1">
            <a:off x="1423845" y="2779407"/>
            <a:ext cx="1773214" cy="1292101"/>
          </a:xfrm>
          <a:prstGeom prst="bentConnector3">
            <a:avLst>
              <a:gd name="adj1" fmla="val 10013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16" name="Google Shape;1516;p70"/>
          <p:cNvGrpSpPr/>
          <p:nvPr/>
        </p:nvGrpSpPr>
        <p:grpSpPr>
          <a:xfrm>
            <a:off x="4352118" y="2538850"/>
            <a:ext cx="2751342" cy="1727475"/>
            <a:chOff x="4866700" y="2297525"/>
            <a:chExt cx="2236500" cy="1721450"/>
          </a:xfrm>
        </p:grpSpPr>
        <p:cxnSp>
          <p:nvCxnSpPr>
            <p:cNvPr id="1517" name="Google Shape;1517;p70"/>
            <p:cNvCxnSpPr/>
            <p:nvPr/>
          </p:nvCxnSpPr>
          <p:spPr>
            <a:xfrm>
              <a:off x="4866700" y="3186175"/>
              <a:ext cx="2236500" cy="832800"/>
            </a:xfrm>
            <a:prstGeom prst="bentConnector3">
              <a:avLst>
                <a:gd name="adj1" fmla="val 9978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18" name="Google Shape;1518;p70"/>
            <p:cNvCxnSpPr/>
            <p:nvPr/>
          </p:nvCxnSpPr>
          <p:spPr>
            <a:xfrm>
              <a:off x="4866700" y="2297525"/>
              <a:ext cx="0" cy="880500"/>
            </a:xfrm>
            <a:prstGeom prst="straightConnector1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cxnSp>
        <p:nvCxnSpPr>
          <p:cNvPr id="1519" name="Google Shape;1519;p70"/>
          <p:cNvCxnSpPr>
            <a:endCxn id="1504" idx="0"/>
          </p:cNvCxnSpPr>
          <p:nvPr/>
        </p:nvCxnSpPr>
        <p:spPr>
          <a:xfrm flipH="1">
            <a:off x="5255038" y="2550325"/>
            <a:ext cx="12000" cy="171600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</p:spPr>
      </p:cxnSp>
      <p:grpSp>
        <p:nvGrpSpPr>
          <p:cNvPr id="1520" name="Google Shape;1520;p70"/>
          <p:cNvGrpSpPr/>
          <p:nvPr/>
        </p:nvGrpSpPr>
        <p:grpSpPr>
          <a:xfrm>
            <a:off x="8934025" y="3546025"/>
            <a:ext cx="3037950" cy="2339900"/>
            <a:chOff x="7501200" y="3357800"/>
            <a:chExt cx="3037950" cy="2339900"/>
          </a:xfrm>
        </p:grpSpPr>
        <p:cxnSp>
          <p:nvCxnSpPr>
            <p:cNvPr id="1521" name="Google Shape;1521;p70"/>
            <p:cNvCxnSpPr/>
            <p:nvPr/>
          </p:nvCxnSpPr>
          <p:spPr>
            <a:xfrm>
              <a:off x="9246275" y="3989425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22" name="Google Shape;1522;p70"/>
            <p:cNvGrpSpPr/>
            <p:nvPr/>
          </p:nvGrpSpPr>
          <p:grpSpPr>
            <a:xfrm>
              <a:off x="9245675" y="3946050"/>
              <a:ext cx="1293475" cy="369300"/>
              <a:chOff x="10399750" y="3478125"/>
              <a:chExt cx="1293475" cy="369300"/>
            </a:xfrm>
          </p:grpSpPr>
          <p:cxnSp>
            <p:nvCxnSpPr>
              <p:cNvPr id="1523" name="Google Shape;1523;p70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4" name="Google Shape;1524;p70"/>
              <p:cNvCxnSpPr/>
              <p:nvPr/>
            </p:nvCxnSpPr>
            <p:spPr>
              <a:xfrm>
                <a:off x="10492275" y="3514525"/>
                <a:ext cx="0" cy="30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525" name="Google Shape;1525;p70"/>
              <p:cNvSpPr txBox="1"/>
              <p:nvPr/>
            </p:nvSpPr>
            <p:spPr>
              <a:xfrm>
                <a:off x="10521425" y="3478125"/>
                <a:ext cx="117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104</a:t>
                </a:r>
                <a:endParaRPr sz="4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1526" name="Google Shape;1526;p70"/>
            <p:cNvGrpSpPr/>
            <p:nvPr/>
          </p:nvGrpSpPr>
          <p:grpSpPr>
            <a:xfrm>
              <a:off x="8064825" y="3357800"/>
              <a:ext cx="1125359" cy="2339900"/>
              <a:chOff x="2625425" y="3871775"/>
              <a:chExt cx="1125359" cy="2339900"/>
            </a:xfrm>
          </p:grpSpPr>
          <p:grpSp>
            <p:nvGrpSpPr>
              <p:cNvPr id="1527" name="Google Shape;1527;p70"/>
              <p:cNvGrpSpPr/>
              <p:nvPr/>
            </p:nvGrpSpPr>
            <p:grpSpPr>
              <a:xfrm>
                <a:off x="2626525" y="4273149"/>
                <a:ext cx="1124259" cy="1619400"/>
                <a:chOff x="2626525" y="4273149"/>
                <a:chExt cx="1124259" cy="1619400"/>
              </a:xfrm>
            </p:grpSpPr>
            <p:sp>
              <p:nvSpPr>
                <p:cNvPr id="1528" name="Google Shape;1528;p70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529" name="Google Shape;1529;p70"/>
                <p:cNvGrpSpPr/>
                <p:nvPr/>
              </p:nvGrpSpPr>
              <p:grpSpPr>
                <a:xfrm>
                  <a:off x="2628734" y="4495878"/>
                  <a:ext cx="1122049" cy="1205397"/>
                  <a:chOff x="7948250" y="3406050"/>
                  <a:chExt cx="1076100" cy="545700"/>
                </a:xfrm>
              </p:grpSpPr>
              <p:sp>
                <p:nvSpPr>
                  <p:cNvPr id="1530" name="Google Shape;1530;p70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cxnSp>
                <p:nvCxnSpPr>
                  <p:cNvPr id="1531" name="Google Shape;1531;p70"/>
                  <p:cNvCxnSpPr>
                    <a:stCxn id="1530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cxnSp>
            <p:nvCxnSpPr>
              <p:cNvPr id="1532" name="Google Shape;1532;p70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3" name="Google Shape;1533;p70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4" name="Google Shape;1534;p70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5" name="Google Shape;1535;p70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36" name="Google Shape;1536;p70"/>
            <p:cNvSpPr txBox="1"/>
            <p:nvPr/>
          </p:nvSpPr>
          <p:spPr>
            <a:xfrm>
              <a:off x="7501200" y="3805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34K</a:t>
              </a:r>
              <a:endParaRPr sz="400"/>
            </a:p>
          </p:txBody>
        </p:sp>
        <p:sp>
          <p:nvSpPr>
            <p:cNvPr id="1537" name="Google Shape;1537;p70"/>
            <p:cNvSpPr txBox="1"/>
            <p:nvPr/>
          </p:nvSpPr>
          <p:spPr>
            <a:xfrm>
              <a:off x="7501200" y="4413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36K</a:t>
              </a:r>
              <a:endParaRPr sz="400"/>
            </a:p>
          </p:txBody>
        </p:sp>
      </p:grpSp>
      <p:graphicFrame>
        <p:nvGraphicFramePr>
          <p:cNvPr id="1538" name="Google Shape;1538;p70"/>
          <p:cNvGraphicFramePr/>
          <p:nvPr>
            <p:extLst>
              <p:ext uri="{D42A27DB-BD31-4B8C-83A1-F6EECF244321}">
                <p14:modId xmlns:p14="http://schemas.microsoft.com/office/powerpoint/2010/main" val="3448402187"/>
              </p:ext>
            </p:extLst>
          </p:nvPr>
        </p:nvGraphicFramePr>
        <p:xfrm>
          <a:off x="7878775" y="3970975"/>
          <a:ext cx="1055250" cy="4267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5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0x4868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9" name="Google Shape;1539;p70"/>
          <p:cNvSpPr txBox="1"/>
          <p:nvPr/>
        </p:nvSpPr>
        <p:spPr>
          <a:xfrm>
            <a:off x="7268360" y="3938025"/>
            <a:ext cx="669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2000" b="1">
              <a:solidFill>
                <a:srgbClr val="0B6937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0" name="Google Shape;1540;p70"/>
          <p:cNvSpPr/>
          <p:nvPr/>
        </p:nvSpPr>
        <p:spPr>
          <a:xfrm rot="5400000">
            <a:off x="2588050" y="4126050"/>
            <a:ext cx="225300" cy="17040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70"/>
          <p:cNvSpPr txBox="1"/>
          <p:nvPr/>
        </p:nvSpPr>
        <p:spPr>
          <a:xfrm>
            <a:off x="2022100" y="5075488"/>
            <a:ext cx="1357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0x068 = 104</a:t>
            </a:r>
            <a:endParaRPr sz="1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72"/>
          <p:cNvSpPr txBox="1">
            <a:spLocks noGrp="1"/>
          </p:cNvSpPr>
          <p:nvPr>
            <p:ph type="title"/>
          </p:nvPr>
        </p:nvSpPr>
        <p:spPr>
          <a:xfrm>
            <a:off x="558800" y="82174"/>
            <a:ext cx="10515600" cy="10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Segmentation granularity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aphicFrame>
        <p:nvGraphicFramePr>
          <p:cNvPr id="1553" name="Google Shape;1553;p72"/>
          <p:cNvGraphicFramePr/>
          <p:nvPr>
            <p:extLst>
              <p:ext uri="{D42A27DB-BD31-4B8C-83A1-F6EECF244321}">
                <p14:modId xmlns:p14="http://schemas.microsoft.com/office/powerpoint/2010/main" val="1356291316"/>
              </p:ext>
            </p:extLst>
          </p:nvPr>
        </p:nvGraphicFramePr>
        <p:xfrm>
          <a:off x="916650" y="1136965"/>
          <a:ext cx="11042550" cy="49986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550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 dirty="0">
                          <a:latin typeface="+mn-lt"/>
                          <a:cs typeface="Arial" panose="020B0604020202020204" pitchFamily="34" charset="0"/>
                        </a:rPr>
                        <a:t>Grano grueso (Coarse-grained)</a:t>
                      </a:r>
                      <a:endParaRPr sz="2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>
                          <a:latin typeface="+mn-lt"/>
                          <a:cs typeface="Arial" panose="020B0604020202020204" pitchFamily="34" charset="0"/>
                        </a:rPr>
                        <a:t>Grano fino (Fined-grained)</a:t>
                      </a:r>
                      <a:endParaRPr sz="24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Se utilizan pocos segmentos relativamente grandes (ej: code, heap, stack)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Emplea muchos segmentos pequeños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914400" lvl="1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○"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Mayor flexibilidad.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914400" lvl="1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○"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Requiere más soporte de hw (Tabla de segmentos).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54" name="Google Shape;155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375" y="3584113"/>
            <a:ext cx="1488250" cy="19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3850" y="3665750"/>
            <a:ext cx="1575925" cy="204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6" name="Google Shape;1556;p72"/>
          <p:cNvGraphicFramePr/>
          <p:nvPr/>
        </p:nvGraphicFramePr>
        <p:xfrm>
          <a:off x="3415400" y="3237325"/>
          <a:ext cx="1952450" cy="28983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9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57" name="Google Shape;1557;p72"/>
          <p:cNvGraphicFramePr/>
          <p:nvPr/>
        </p:nvGraphicFramePr>
        <p:xfrm>
          <a:off x="9438300" y="3237325"/>
          <a:ext cx="1952450" cy="28983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9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74"/>
          <p:cNvSpPr txBox="1">
            <a:spLocks noGrp="1"/>
          </p:cNvSpPr>
          <p:nvPr>
            <p:ph type="title"/>
          </p:nvPr>
        </p:nvSpPr>
        <p:spPr>
          <a:xfrm>
            <a:off x="916650" y="96050"/>
            <a:ext cx="100434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n-lt"/>
              </a:rPr>
              <a:t>Ventajas y desventajas de la segmentación</a:t>
            </a:r>
            <a:endParaRPr b="0" dirty="0">
              <a:latin typeface="+mn-lt"/>
            </a:endParaRPr>
          </a:p>
        </p:txBody>
      </p:sp>
      <p:graphicFrame>
        <p:nvGraphicFramePr>
          <p:cNvPr id="1572" name="Google Shape;1572;p74"/>
          <p:cNvGraphicFramePr/>
          <p:nvPr>
            <p:extLst>
              <p:ext uri="{D42A27DB-BD31-4B8C-83A1-F6EECF244321}">
                <p14:modId xmlns:p14="http://schemas.microsoft.com/office/powerpoint/2010/main" val="1401877957"/>
              </p:ext>
            </p:extLst>
          </p:nvPr>
        </p:nvGraphicFramePr>
        <p:xfrm>
          <a:off x="310736" y="929670"/>
          <a:ext cx="11042550" cy="49986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552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Ventajas</a:t>
                      </a:r>
                      <a:endParaRPr sz="24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Desventajas</a:t>
                      </a:r>
                      <a:endParaRPr sz="24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Permite espacios de direcciones pequeños. El stack y el heap pueden crecer independientemente.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Ahorro de memoria al compartir segmentos.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Facilita la protección de los segmentos.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b="1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Fragmentación externa</a:t>
                      </a:r>
                      <a:r>
                        <a:rPr lang="es-ES" sz="2000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 Pequeños huecos de espacio libre en memoria física difíciles de utilizar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73" name="Google Shape;157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4425" y="2436675"/>
            <a:ext cx="2198239" cy="402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74"/>
          <p:cNvSpPr txBox="1"/>
          <p:nvPr/>
        </p:nvSpPr>
        <p:spPr>
          <a:xfrm>
            <a:off x="6184900" y="2727484"/>
            <a:ext cx="3231425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Ejemplo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Dada la siguiente memoria fisica, responder: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ES" sz="1600" dirty="0">
                <a:ea typeface="Roboto"/>
                <a:cs typeface="Roboto"/>
                <a:sym typeface="Roboto"/>
              </a:rPr>
              <a:t>¿Cuanta memoria </a:t>
            </a:r>
            <a:r>
              <a:rPr lang="es-ES" sz="1600" dirty="0" err="1">
                <a:ea typeface="Roboto"/>
                <a:cs typeface="Roboto"/>
                <a:sym typeface="Roboto"/>
              </a:rPr>
              <a:t>memoria</a:t>
            </a:r>
            <a:r>
              <a:rPr lang="es-ES" sz="1600" dirty="0">
                <a:ea typeface="Roboto"/>
                <a:cs typeface="Roboto"/>
                <a:sym typeface="Roboto"/>
              </a:rPr>
              <a:t> tiene ocupada?</a:t>
            </a:r>
            <a:endParaRPr sz="16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Rta</a:t>
            </a:r>
            <a:r>
              <a:rPr lang="es-ES" sz="16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600" dirty="0">
                <a:ea typeface="Roboto"/>
                <a:cs typeface="Roboto"/>
                <a:sym typeface="Roboto"/>
              </a:rPr>
              <a:t> 40K</a:t>
            </a:r>
            <a:endParaRPr sz="1600" dirty="0"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ES" sz="1600" dirty="0">
                <a:ea typeface="Roboto"/>
                <a:cs typeface="Roboto"/>
                <a:sym typeface="Roboto"/>
              </a:rPr>
              <a:t>¿Cuanta memoria libre?</a:t>
            </a:r>
            <a:endParaRPr sz="16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Rta</a:t>
            </a:r>
            <a:r>
              <a:rPr lang="es-ES" sz="16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24K, pero no están contiguos los segmentos.</a:t>
            </a:r>
            <a:endParaRPr sz="1600" dirty="0"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ES" sz="1600" dirty="0">
                <a:ea typeface="Roboto"/>
                <a:cs typeface="Roboto"/>
                <a:sym typeface="Roboto"/>
              </a:rPr>
              <a:t>¿Es posible ubicar un segmento con un tamaño de 20K?</a:t>
            </a:r>
            <a:endParaRPr sz="16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Rta</a:t>
            </a:r>
            <a:r>
              <a:rPr lang="es-ES" sz="16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1600" dirty="0">
                <a:ea typeface="Roboto"/>
                <a:cs typeface="Roboto"/>
                <a:sym typeface="Roboto"/>
              </a:rPr>
              <a:t>No es posible</a:t>
            </a:r>
            <a:endParaRPr sz="16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76"/>
          <p:cNvSpPr txBox="1">
            <a:spLocks noGrp="1"/>
          </p:cNvSpPr>
          <p:nvPr>
            <p:ph type="title"/>
          </p:nvPr>
        </p:nvSpPr>
        <p:spPr>
          <a:xfrm>
            <a:off x="368300" y="96038"/>
            <a:ext cx="88523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Compactación</a:t>
            </a:r>
            <a:endParaRPr b="0" dirty="0">
              <a:latin typeface="+mj-lt"/>
            </a:endParaRPr>
          </a:p>
        </p:txBody>
      </p:sp>
      <p:sp>
        <p:nvSpPr>
          <p:cNvPr id="1586" name="Google Shape;1586;p76"/>
          <p:cNvSpPr txBox="1">
            <a:spLocks noGrp="1"/>
          </p:cNvSpPr>
          <p:nvPr>
            <p:ph type="body" idx="1"/>
          </p:nvPr>
        </p:nvSpPr>
        <p:spPr>
          <a:xfrm>
            <a:off x="368300" y="984825"/>
            <a:ext cx="10882800" cy="61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Reorganización </a:t>
            </a:r>
            <a:r>
              <a:rPr lang="es-ES" sz="2400" dirty="0">
                <a:latin typeface="+mn-lt"/>
              </a:rPr>
              <a:t>de los </a:t>
            </a:r>
            <a:r>
              <a:rPr lang="es-ES" sz="2400" b="1" dirty="0">
                <a:latin typeface="+mn-lt"/>
              </a:rPr>
              <a:t>segmentos</a:t>
            </a:r>
            <a:r>
              <a:rPr lang="es-ES" sz="2400" dirty="0">
                <a:latin typeface="+mn-lt"/>
              </a:rPr>
              <a:t> existentes en memoria física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587" name="Google Shape;1587;p76"/>
          <p:cNvSpPr txBox="1"/>
          <p:nvPr/>
        </p:nvSpPr>
        <p:spPr>
          <a:xfrm>
            <a:off x="8331925" y="1881325"/>
            <a:ext cx="3537300" cy="2498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Proceso Costoso</a:t>
            </a:r>
            <a:r>
              <a:rPr lang="es-ES" sz="2200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Detener procesos en ejecución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Copiar datos en un nuevo lugar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Cambiar valores de los registro para el segmento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588" name="Google Shape;158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825" y="1788275"/>
            <a:ext cx="2382462" cy="47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9" name="Google Shape;158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650" y="1788275"/>
            <a:ext cx="2394871" cy="4764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0" name="Google Shape;1590;p76"/>
          <p:cNvGrpSpPr/>
          <p:nvPr/>
        </p:nvGrpSpPr>
        <p:grpSpPr>
          <a:xfrm>
            <a:off x="3550600" y="3697825"/>
            <a:ext cx="1983277" cy="615600"/>
            <a:chOff x="7605285" y="2960475"/>
            <a:chExt cx="1243200" cy="615600"/>
          </a:xfrm>
        </p:grpSpPr>
        <p:sp>
          <p:nvSpPr>
            <p:cNvPr id="1591" name="Google Shape;1591;p76"/>
            <p:cNvSpPr/>
            <p:nvPr/>
          </p:nvSpPr>
          <p:spPr>
            <a:xfrm>
              <a:off x="7605285" y="2960475"/>
              <a:ext cx="1243200" cy="615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76"/>
            <p:cNvSpPr txBox="1"/>
            <p:nvPr/>
          </p:nvSpPr>
          <p:spPr>
            <a:xfrm>
              <a:off x="7642314" y="3049375"/>
              <a:ext cx="1096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 b="1" dirty="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Compactación</a:t>
              </a:r>
              <a:endParaRPr sz="1700" b="1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1593" name="Google Shape;1593;p76"/>
          <p:cNvSpPr txBox="1"/>
          <p:nvPr/>
        </p:nvSpPr>
        <p:spPr>
          <a:xfrm>
            <a:off x="8413575" y="4499775"/>
            <a:ext cx="3537300" cy="157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000FF"/>
                </a:solidFill>
                <a:ea typeface="Roboto"/>
                <a:cs typeface="Roboto"/>
                <a:sym typeface="Roboto"/>
              </a:rPr>
              <a:t>Algoritmos de ubicación</a:t>
            </a:r>
            <a:r>
              <a:rPr lang="es-ES" sz="2200" dirty="0">
                <a:solidFill>
                  <a:srgbClr val="0000FF"/>
                </a:solidFill>
                <a:ea typeface="Roboto"/>
                <a:cs typeface="Roboto"/>
                <a:sym typeface="Roboto"/>
              </a:rPr>
              <a:t>: </a:t>
            </a:r>
            <a:endParaRPr sz="2200" dirty="0">
              <a:solidFill>
                <a:srgbClr val="0000FF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Best-fit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First-fit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Worse-fit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n-lt"/>
              </a:rPr>
              <a:t>Referencias</a:t>
            </a:r>
            <a:endParaRPr sz="3200" b="0" dirty="0">
              <a:solidFill>
                <a:srgbClr val="701E5C"/>
              </a:solidFill>
              <a:latin typeface="+mn-lt"/>
              <a:sym typeface="Roboto Slab"/>
            </a:endParaRPr>
          </a:p>
        </p:txBody>
      </p:sp>
      <p:sp>
        <p:nvSpPr>
          <p:cNvPr id="1599" name="Google Shape;1599;p77"/>
          <p:cNvSpPr txBox="1">
            <a:spLocks noGrp="1"/>
          </p:cNvSpPr>
          <p:nvPr>
            <p:ph type="body" idx="1"/>
          </p:nvPr>
        </p:nvSpPr>
        <p:spPr>
          <a:xfrm>
            <a:off x="916650" y="918400"/>
            <a:ext cx="10515600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 err="1">
                <a:latin typeface="+mn-lt"/>
              </a:rPr>
              <a:t>Operating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Systems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Three</a:t>
            </a:r>
            <a:r>
              <a:rPr lang="es-ES" sz="2200" b="1" dirty="0">
                <a:latin typeface="+mn-lt"/>
              </a:rPr>
              <a:t> Easy </a:t>
            </a:r>
            <a:r>
              <a:rPr lang="es-ES" sz="2200" b="1" dirty="0" err="1">
                <a:latin typeface="+mn-lt"/>
              </a:rPr>
              <a:t>Pieces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dirty="0">
                <a:latin typeface="+mn-lt"/>
              </a:rPr>
              <a:t>(</a:t>
            </a:r>
            <a:r>
              <a:rPr lang="es-ES" sz="2200" u="sng" dirty="0" err="1">
                <a:solidFill>
                  <a:schemeClr val="hlink"/>
                </a:solidFill>
                <a:latin typeface="+mn-lt"/>
                <a:hlinkClick r:id="rId3"/>
              </a:rPr>
              <a:t>website</a:t>
            </a:r>
            <a:r>
              <a:rPr lang="es-ES" sz="2200" dirty="0">
                <a:latin typeface="+mn-lt"/>
              </a:rPr>
              <a:t>: Capítulos 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4"/>
              </a:rPr>
              <a:t>1</a:t>
            </a:r>
            <a:r>
              <a:rPr lang="es-ES" sz="2200" dirty="0">
                <a:latin typeface="+mn-lt"/>
              </a:rPr>
              <a:t> y 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5"/>
              </a:rPr>
              <a:t>2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>
                <a:latin typeface="+mn-lt"/>
              </a:rPr>
              <a:t>Videos de </a:t>
            </a:r>
            <a:r>
              <a:rPr lang="es-ES" sz="2200" dirty="0" err="1">
                <a:latin typeface="+mn-lt"/>
              </a:rPr>
              <a:t>youtube</a:t>
            </a:r>
            <a:r>
              <a:rPr lang="es-ES" sz="2200" dirty="0">
                <a:latin typeface="+mn-lt"/>
              </a:rPr>
              <a:t>: Clase 1 - Introducción a los sistemas operativos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6"/>
              </a:rPr>
              <a:t>link</a:t>
            </a:r>
            <a:r>
              <a:rPr lang="es-ES" sz="2200" dirty="0">
                <a:latin typeface="+mn-lt"/>
              </a:rPr>
              <a:t>).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>
                <a:latin typeface="+mn-lt"/>
              </a:rPr>
              <a:t>Página de </a:t>
            </a:r>
            <a:r>
              <a:rPr lang="es-ES" sz="2200" dirty="0" err="1">
                <a:latin typeface="+mn-lt"/>
              </a:rPr>
              <a:t>Remzi</a:t>
            </a:r>
            <a:r>
              <a:rPr lang="es-ES" sz="2200" dirty="0">
                <a:latin typeface="+mn-lt"/>
              </a:rPr>
              <a:t> H. </a:t>
            </a:r>
            <a:r>
              <a:rPr lang="es-ES" sz="2200" dirty="0" err="1">
                <a:latin typeface="+mn-lt"/>
              </a:rPr>
              <a:t>Arpaci-Dusseau</a:t>
            </a:r>
            <a:r>
              <a:rPr lang="es-ES" sz="2200" dirty="0">
                <a:latin typeface="+mn-lt"/>
              </a:rPr>
              <a:t>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7"/>
              </a:rPr>
              <a:t>link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 err="1">
                <a:latin typeface="+mn-lt"/>
              </a:rPr>
              <a:t>Operating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System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Concepts</a:t>
            </a:r>
            <a:r>
              <a:rPr lang="es-ES" sz="2200" dirty="0">
                <a:latin typeface="+mn-lt"/>
              </a:rPr>
              <a:t> - </a:t>
            </a:r>
            <a:r>
              <a:rPr lang="es-ES" sz="2200" dirty="0" err="1">
                <a:latin typeface="+mn-lt"/>
              </a:rPr>
              <a:t>Tenth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Edition</a:t>
            </a:r>
            <a:r>
              <a:rPr lang="es-ES" sz="2200" dirty="0">
                <a:latin typeface="+mn-lt"/>
              </a:rPr>
              <a:t> (</a:t>
            </a:r>
            <a:r>
              <a:rPr lang="es-ES" sz="2200" u="sng" dirty="0" err="1">
                <a:solidFill>
                  <a:schemeClr val="hlink"/>
                </a:solidFill>
                <a:latin typeface="+mn-lt"/>
                <a:hlinkClick r:id="rId8"/>
              </a:rPr>
              <a:t>website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 err="1">
                <a:latin typeface="+mn-lt"/>
              </a:rPr>
              <a:t>Operating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Systems</a:t>
            </a:r>
            <a:r>
              <a:rPr lang="es-ES" sz="2200" dirty="0">
                <a:latin typeface="+mn-lt"/>
              </a:rPr>
              <a:t> Notes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9"/>
              </a:rPr>
              <a:t>link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0"/>
              </a:rPr>
              <a:t>https://github.com/Aniruddha-Tapas/Operating-Systems-Notes/blob/master/1-Overview.md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1"/>
              </a:rPr>
              <a:t>https://myaut.github.io/dtrace-stap-book/kernel/proc.html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2"/>
              </a:rPr>
              <a:t>https://myaut.github.io/dtrace-stap-book/index.html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3"/>
              </a:rPr>
              <a:t>https://www.technologyuk.net/computing/computer-software/operating-systems/operating-system-utilities.shtml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4"/>
              </a:rPr>
              <a:t>http://www.it.uu.se/education/course/homepage/os/vt18/module-4/simple-threads/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5"/>
              </a:rPr>
              <a:t>https://courses.cs.duke.edu/spring19/compsci590.1/slides/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6"/>
              </a:rPr>
              <a:t>http://csl.snu.ac.kr/courses/4190.307/2020-1/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4329</Words>
  <Application>Microsoft Office PowerPoint</Application>
  <PresentationFormat>Panorámica</PresentationFormat>
  <Paragraphs>1712</Paragraphs>
  <Slides>49</Slides>
  <Notes>49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8" baseType="lpstr">
      <vt:lpstr>Roboto</vt:lpstr>
      <vt:lpstr>Consolas</vt:lpstr>
      <vt:lpstr>Calibri</vt:lpstr>
      <vt:lpstr>Courier New</vt:lpstr>
      <vt:lpstr>Arial</vt:lpstr>
      <vt:lpstr>Calibri Light</vt:lpstr>
      <vt:lpstr>Times New Roman</vt:lpstr>
      <vt:lpstr>Roboto Slab</vt:lpstr>
      <vt:lpstr>Tema de Office</vt:lpstr>
      <vt:lpstr>Sistemas Operativos</vt:lpstr>
      <vt:lpstr>Memoria Física – Memoria Virtual</vt:lpstr>
      <vt:lpstr>Address translation - Mapeo</vt:lpstr>
      <vt:lpstr>Dynamic Relocation (base &amp; bounds)</vt:lpstr>
      <vt:lpstr>Traducción de direcciones usando Dynamic Relocation</vt:lpstr>
      <vt:lpstr>Ejemplo 1  - Clase anterior</vt:lpstr>
      <vt:lpstr>Ejemplo 1 - Clase anterior</vt:lpstr>
      <vt:lpstr>Ejemplo 2</vt:lpstr>
      <vt:lpstr>Ejemplo 2</vt:lpstr>
      <vt:lpstr>Ejemplo 2</vt:lpstr>
      <vt:lpstr>Ejemplo 2</vt:lpstr>
      <vt:lpstr>Ejemplo 3</vt:lpstr>
      <vt:lpstr>Acciones del sistema operativo</vt:lpstr>
      <vt:lpstr>Ventajas y desventajas de la reasignación dinámica (base &amp; bound)</vt:lpstr>
      <vt:lpstr>Pregunta clave</vt:lpstr>
      <vt:lpstr>Segmentación</vt:lpstr>
      <vt:lpstr>Segmentación</vt:lpstr>
      <vt:lpstr>Segmentación</vt:lpstr>
      <vt:lpstr>Traducción de direcciones (I)</vt:lpstr>
      <vt:lpstr>Traducción de direcciones (I)</vt:lpstr>
      <vt:lpstr>Traducción de direcciones (I)</vt:lpstr>
      <vt:lpstr>Traducción de direcciones (I)</vt:lpstr>
      <vt:lpstr>Traducción de direcciones (I)</vt:lpstr>
      <vt:lpstr>Traducción de direcciones (I)</vt:lpstr>
      <vt:lpstr>Traducción de direcciones (I)</vt:lpstr>
      <vt:lpstr>Referenciando un segmento</vt:lpstr>
      <vt:lpstr>Referenciando un segmento</vt:lpstr>
      <vt:lpstr>Referenciando un segmento</vt:lpstr>
      <vt:lpstr>Referenciando un segmento</vt:lpstr>
      <vt:lpstr>Referenciando un segmento</vt:lpstr>
      <vt:lpstr>Referenciando un segmento</vt:lpstr>
      <vt:lpstr>Referenciando un segmento</vt:lpstr>
      <vt:lpstr>Traducción de direcciones - Pseudocódigo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Segmentos compartidos</vt:lpstr>
      <vt:lpstr>Segmentos compartidos</vt:lpstr>
      <vt:lpstr>Segmentos compartidos</vt:lpstr>
      <vt:lpstr>Hardware de segmentación</vt:lpstr>
      <vt:lpstr>Segmentation granularity</vt:lpstr>
      <vt:lpstr>Ventajas y desventajas de la segmentación</vt:lpstr>
      <vt:lpstr>Compactación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cp:lastModifiedBy>HENRY ALBERTO ARCILA RAMIREZ</cp:lastModifiedBy>
  <cp:revision>17</cp:revision>
  <dcterms:modified xsi:type="dcterms:W3CDTF">2026-03-19T01:10:22Z</dcterms:modified>
</cp:coreProperties>
</file>