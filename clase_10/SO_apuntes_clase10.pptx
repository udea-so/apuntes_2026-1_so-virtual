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97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2" r:id="rId15"/>
    <p:sldId id="273" r:id="rId16"/>
    <p:sldId id="275" r:id="rId17"/>
    <p:sldId id="276" r:id="rId18"/>
    <p:sldId id="277" r:id="rId19"/>
    <p:sldId id="278" r:id="rId20"/>
    <p:sldId id="279" r:id="rId21"/>
    <p:sldId id="355" r:id="rId22"/>
    <p:sldId id="356" r:id="rId23"/>
    <p:sldId id="280" r:id="rId24"/>
    <p:sldId id="281" r:id="rId25"/>
    <p:sldId id="282" r:id="rId26"/>
    <p:sldId id="284" r:id="rId27"/>
    <p:sldId id="285" r:id="rId28"/>
    <p:sldId id="357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359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60" r:id="rId52"/>
    <p:sldId id="308" r:id="rId53"/>
    <p:sldId id="309" r:id="rId54"/>
    <p:sldId id="361" r:id="rId55"/>
    <p:sldId id="310" r:id="rId56"/>
    <p:sldId id="311" r:id="rId57"/>
    <p:sldId id="312" r:id="rId58"/>
    <p:sldId id="313" r:id="rId59"/>
    <p:sldId id="314" r:id="rId60"/>
    <p:sldId id="315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40" r:id="rId84"/>
    <p:sldId id="341" r:id="rId85"/>
    <p:sldId id="342" r:id="rId86"/>
    <p:sldId id="343" r:id="rId87"/>
    <p:sldId id="344" r:id="rId88"/>
    <p:sldId id="345" r:id="rId89"/>
    <p:sldId id="346" r:id="rId90"/>
    <p:sldId id="348" r:id="rId91"/>
    <p:sldId id="349" r:id="rId92"/>
    <p:sldId id="350" r:id="rId93"/>
    <p:sldId id="351" r:id="rId94"/>
    <p:sldId id="352" r:id="rId95"/>
    <p:sldId id="353" r:id="rId96"/>
  </p:sldIdLst>
  <p:sldSz cx="12192000" cy="6858000"/>
  <p:notesSz cx="6858000" cy="9144000"/>
  <p:embeddedFontLst>
    <p:embeddedFont>
      <p:font typeface="Calibri" panose="020F0502020204030204" pitchFamily="34" charset="0"/>
      <p:regular r:id="rId98"/>
      <p:bold r:id="rId99"/>
      <p:italic r:id="rId100"/>
      <p:boldItalic r:id="rId101"/>
    </p:embeddedFont>
    <p:embeddedFont>
      <p:font typeface="Calibri Light" panose="020F0302020204030204" pitchFamily="34" charset="0"/>
      <p:regular r:id="rId102"/>
      <p:italic r:id="rId103"/>
    </p:embeddedFont>
    <p:embeddedFont>
      <p:font typeface="Consolas" panose="020B0609020204030204" pitchFamily="49" charset="0"/>
      <p:regular r:id="rId104"/>
      <p:bold r:id="rId105"/>
      <p:italic r:id="rId106"/>
      <p:boldItalic r:id="rId107"/>
    </p:embeddedFont>
    <p:embeddedFont>
      <p:font typeface="Roboto" panose="02000000000000000000" pitchFamily="2" charset="0"/>
      <p:regular r:id="rId108"/>
      <p:bold r:id="rId109"/>
      <p:italic r:id="rId110"/>
      <p:boldItalic r:id="rId111"/>
    </p:embeddedFont>
    <p:embeddedFont>
      <p:font typeface="Roboto Slab" panose="020B0604020202020204" charset="0"/>
      <p:regular r:id="rId112"/>
      <p:bold r:id="rId113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3666690-7EF2-4E8B-8E0B-2A96984E9CDD}">
  <a:tblStyle styleId="{03666690-7EF2-4E8B-8E0B-2A96984E9CD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ableStyles" Target="tableStyle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font" Target="fonts/font15.fntdata"/><Relationship Id="rId16" Type="http://schemas.openxmlformats.org/officeDocument/2006/relationships/slide" Target="slides/slide15.xml"/><Relationship Id="rId107" Type="http://schemas.openxmlformats.org/officeDocument/2006/relationships/font" Target="fonts/font10.fntdata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font" Target="fonts/font5.fntdata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font" Target="fonts/font16.fntdata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font" Target="fonts/font6.fntdata"/><Relationship Id="rId108" Type="http://schemas.openxmlformats.org/officeDocument/2006/relationships/font" Target="fonts/font11.fntdata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font" Target="fonts/font2.fntdata"/><Relationship Id="rId10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font" Target="fonts/font12.fntdata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notesMaster" Target="notesMasters/notesMaster1.xml"/><Relationship Id="rId104" Type="http://schemas.openxmlformats.org/officeDocument/2006/relationships/font" Target="fonts/font7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font" Target="fonts/font13.fntdata"/><Relationship Id="rId115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font" Target="fonts/font3.fntdata"/><Relationship Id="rId105" Type="http://schemas.openxmlformats.org/officeDocument/2006/relationships/font" Target="fonts/font8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font" Target="fonts/font1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font" Target="fonts/font14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78358aba08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78358aba08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91542c71b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91542c71b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0b0d603767_0_5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10b0d603767_0_5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10e4de43856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10e4de43856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0e4de43856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10e4de43856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10c6a2e83cc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10c6a2e83cc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10e4de43856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10e4de43856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10c6a2e83cc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10c6a2e83cc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10c6a2e83cc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10c6a2e83cc_0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10c6a2e83cc_0_3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10c6a2e83cc_0_3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10f71ec7bc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10f71ec7bc9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10f71ec7bc9_1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10f71ec7bc9_1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10e4de43856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10e4de43856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10e655267c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0" name="Google Shape;650;g10e655267c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10f9d150ef3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7" name="Google Shape;657;g10f9d150ef3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10411c0b8ff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1" name="Google Shape;711;g10411c0b8ff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10e4de43856_0_8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10e4de43856_0_8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10f9d150ef3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10f9d150ef3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10f9d150ef3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10f9d150ef3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10e4de43856_0_8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" name="Google Shape;791;g10e4de43856_0_8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10e4de43856_0_8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" name="Google Shape;791;g10e4de43856_0_8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2740616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10e4de43856_0_8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" name="Google Shape;791;g10e4de43856_0_8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9254627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10f9d150ef3_0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10f9d150ef3_0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10f9d150ef3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10f9d150ef3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10f9d150ef3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10f9d150ef3_0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10e4de43856_0_9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95" name="Google Shape;895;g10e4de43856_0_9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10e4de43856_0_9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16" name="Google Shape;916;g10e4de43856_0_9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10e4de43856_0_9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16" name="Google Shape;916;g10e4de43856_0_9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980885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10f9d150ef3_0_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40" name="Google Shape;940;g10f9d150ef3_0_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10f9d150ef3_0_3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66" name="Google Shape;966;g10f9d150ef3_0_3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10f9d150ef3_0_4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2" name="Google Shape;992;g10f9d150ef3_0_4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10f9d150ef3_0_4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8" name="Google Shape;1018;g10f9d150ef3_0_4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10cb0ccef6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50" name="Google Shape;1050;g10cb0ccef6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g10cb0ccef61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70" name="Google Shape;1070;g10cb0ccef61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10cb0ccef61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28" name="Google Shape;1128;g10cb0ccef61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10cb0ccef61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49" name="Google Shape;1149;g10cb0ccef61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10cb0ccef61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49" name="Google Shape;1149;g10cb0ccef61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9552126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g10cb0ccef61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81" name="Google Shape;1181;g10cb0ccef61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g10cb0ccef61_0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14" name="Google Shape;1214;g10cb0ccef61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g10cb0ccef61_0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47" name="Google Shape;1247;g10cb0ccef61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g10cb0ccef61_0_2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1280" name="Google Shape;1280;g10cb0ccef61_0_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g11086bf1bc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19" name="Google Shape;1319;g11086bf1bc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g10e4de43856_0_9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46" name="Google Shape;1346;g10e4de43856_0_9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g11086bf1bc5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55" name="Google Shape;1355;g11086bf1bc5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g11086bf1bc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74" name="Google Shape;1374;g11086bf1bc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g11086bf1bc5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18" name="Google Shape;1418;g11086bf1bc5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g11086bf1bc5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1468" name="Google Shape;1468;g11086bf1bc5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g11086bf1bc5_0_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94" name="Google Shape;1494;g11086bf1bc5_0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g11086bf1bc5_0_3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01" name="Google Shape;1501;g11086bf1bc5_0_3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g11086bf1bc5_0_3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10" name="Google Shape;1510;g11086bf1bc5_0_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g10e4de43856_0_10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5" name="Google Shape;1525;g10e4de43856_0_10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 dirty="0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406701830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g10e4de43856_0_10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5" name="Google Shape;1525;g10e4de43856_0_10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g10e4de43856_0_1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9" name="Google Shape;1559;g10e4de43856_0_1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g10e4de43856_0_1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9" name="Google Shape;1559;g10e4de43856_0_1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99808665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g10dd4e9c58c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5" name="Google Shape;1565;g10dd4e9c58c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g10dd4e9c58c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9" name="Google Shape;1579;g10dd4e9c58c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g10dd4e9c58c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2" name="Google Shape;1592;g10dd4e9c58c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0" name="Google Shape;1610;g10dd4e9c58c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1" name="Google Shape;1611;g10dd4e9c58c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Google Shape;1628;g10dd4e9c58c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9" name="Google Shape;1629;g10dd4e9c58c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g10dd4e9c58c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5" name="Google Shape;1635;g10dd4e9c58c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Google Shape;1663;g10dd4e9c58c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4" name="Google Shape;1664;g10dd4e9c58c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g10e655267c9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7" name="Google Shape;1677;g10e655267c9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" name="Google Shape;1690;g10e65526bf7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1" name="Google Shape;1691;g10e65526bf7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Google Shape;1697;g10dd4e9c58c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8" name="Google Shape;1698;g10dd4e9c58c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g10eab4ff599_0_3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8" name="Google Shape;1708;g10eab4ff599_0_3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Google Shape;1747;g10dd4e9c58c_0_2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8" name="Google Shape;1748;g10dd4e9c58c_0_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Google Shape;1780;g10dd4e9c58c_0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1" name="Google Shape;1781;g10dd4e9c58c_0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Google Shape;1786;g10dd4e9c58c_0_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7" name="Google Shape;1787;g10dd4e9c58c_0_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Google Shape;1826;g10dd4e9c58c_0_3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7" name="Google Shape;1827;g10dd4e9c58c_0_3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Google Shape;1832;g10dd4e9c58c_0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3" name="Google Shape;1833;g10dd4e9c58c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Google Shape;1872;g10dd4e9c58c_0_3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3" name="Google Shape;1873;g10dd4e9c58c_0_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8" name="Google Shape;1878;g10dd4e9c58c_0_3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9" name="Google Shape;1879;g10dd4e9c58c_0_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8" name="Google Shape;1918;g10dd4e9c58c_0_4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9" name="Google Shape;1919;g10dd4e9c58c_0_4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" name="Google Shape;1925;g10dd4e9c58c_0_4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6" name="Google Shape;1926;g10dd4e9c58c_0_4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2" name="Google Shape;1932;g111060a042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3" name="Google Shape;1933;g111060a042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7" name="Google Shape;1977;g111060a042a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8" name="Google Shape;1978;g111060a042a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Google Shape;2004;g111060a042a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5" name="Google Shape;2005;g111060a042a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0" name="Google Shape;2010;g111060a042a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1" name="Google Shape;2011;g111060a042a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3" name="Google Shape;2023;g111060a042a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4" name="Google Shape;2024;g111060a042a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Google Shape;2049;g111060a042a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0" name="Google Shape;2050;g111060a042a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Google Shape;2066;g111060a042a_0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7" name="Google Shape;2067;g111060a042a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5" name="Google Shape;2085;g111060a042a_0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6" name="Google Shape;2086;g111060a042a_0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4" name="Google Shape;2114;g10e4de43856_0_9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5" name="Google Shape;2115;g10e4de43856_0_9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1" name="Google Shape;2121;g10eab4ff599_0_4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2" name="Google Shape;2122;g10eab4ff599_0_4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3" name="Google Shape;2143;g10eab4ff599_0_5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4" name="Google Shape;2144;g10eab4ff599_0_5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4" name="Google Shape;2164;g11199df30bc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5" name="Google Shape;2165;g11199df30bc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2" name="Google Shape;2182;g11199df30bc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3" name="Google Shape;2183;g11199df30bc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8" name="Google Shape;2198;g11199df30bc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9" name="Google Shape;2199;g11199df30bc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6" name="Google Shape;2226;g11199df30bc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7" name="Google Shape;2227;g11199df30bc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1" name="Google Shape;2241;g10eab4ff599_0_6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42" name="Google Shape;2242;g10eab4ff599_0_6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4" name="Google Shape;2254;g11199df30bc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55" name="Google Shape;2255;g11199df30bc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4" name="Google Shape;2264;g11199df30bc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65" name="Google Shape;2265;g11199df30bc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" name="Google Shape;2304;g11199df30bc_0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05" name="Google Shape;2305;g11199df30bc_0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3" name="Google Shape;2313;g11199df30bc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14" name="Google Shape;2314;g11199df30bc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0" name="Google Shape;2320;g10e834b4827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21" name="Google Shape;2321;g10e834b4827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F35DE9-CC8A-4FA8-BF9E-D8F3C1F662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29B0C27-53CF-4DDF-B2E4-BAB27E3384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A9BF378-0ACA-475E-8244-08EF99CAA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AE5F28-FCBA-4576-B893-5F45BCF98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777FB6-407D-4987-9FEC-9B9CB6D2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98385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585094-4883-4137-9814-4B7CF56D2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5A0080-4F73-48ED-B2BD-B3319E45B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051160-F195-4452-A067-CF90B0F34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AFDB686-C7CF-4692-A3E6-F34EBCF42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2F4ED7-9216-46E0-AD38-220CD7D89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404534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A7DA91-3168-4647-8B42-09F78F7B8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63696FE-C634-4EB0-88C4-3005044FC8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6B18DFA-7A94-4C88-8014-634C7453A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84B7FC-2C02-4399-BF08-64C3576A5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903335-D2BC-414A-8BE6-9D006C550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3683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757365-316D-4F76-9FD0-E0A5953B0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213D1A-9CFA-438F-8650-CDF0E33CA0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B8CB90-D439-40F2-8687-452ED9E4D2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B082640-E62A-4D4E-AC05-14951D054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E7BEEA2-1FB1-4276-A849-0B4C51143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995AF8D-D4E0-450D-BDE4-46F481A62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35200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1B4A76-F12B-4DB3-848B-C8DCB3AA3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8734D7C-D01D-4471-B3A3-8A786C23A4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0C2F9DD-69E2-4FB4-8420-5FA7EBF301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C3BC885-4BED-4C0A-8976-76C3CECAE4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5356F70-D1B4-40B9-80B3-9FE1DC44CF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D671937-DE24-4936-93DA-F6BF15A39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71239B5-AA3C-4990-885D-6665B0F09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F5FC488-BFA8-4AE9-9419-451279AB3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0861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E752EA-FE92-41F8-89B5-A416326E1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FDD97DA-E930-4782-A235-FDCF0667D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C022BB4-D72B-4305-A791-8A9B2CC57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F5ECE28-55D8-4508-9C88-CCE9BD564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6348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11D67EC-3348-486E-BCD9-076F8F498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0F40806-E768-412B-9819-BB6AF5422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7439BFD-D3F7-44FD-83F6-4B3301453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4152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3AEC30-D59B-47D1-8587-C42FC1930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27D313-9244-413D-A290-6C8E5D623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E4349A8-A353-4708-AC6F-2FC2DDAE59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ECA1E25-5E7A-41FA-AA75-17C217D47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49B8C4B-14E4-4763-B822-5EAEF4ABE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78AF1CB-CFB9-4078-9716-250E45C04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78294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CE2ACC-AFEF-4E0E-AB60-4FF47E8E8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D92AFF7-EEC0-4660-8DAD-76118B81AA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7660A96-1873-4210-9314-AA116D9E6A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FFE6D2-6034-430F-9C3F-08A271159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B5FC16C-6B49-410E-8132-8481F694F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1BBF373-35A3-4734-9A68-1B0026EDF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02221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9DBD1B-EA96-495C-8CA8-EA80873A9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1E52D15-1271-4A07-BBB0-55D806A0D9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F5EB4E-E2A9-48E0-BC71-F98E5B6EF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F3C6F1-2CD4-4636-9953-65E7EAC12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74E985-AA36-4D25-A35E-ADC967DF5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70394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3403B9E-F551-4431-A77F-DA77AA3C1C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21F4A24-7A1F-4598-A1DC-03B5D50C3F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F9088C-D76C-43A7-97DF-8E36B942F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D76C97-1AAF-4E1A-BCC8-C25A5C3AC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B09C47-015F-4AD3-A8CA-4958EE969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672416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">
  <p:cSld name="UdeA-Nueva 1 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8CC63E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76114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">
  <p:cSld name="UdeA-Nueva 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8A02B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204075" y="62974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48616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222187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 1">
  <p:cSld name="UdeA-Nueva 1 1 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701E5C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2335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6360F8E-C8BB-4D7F-8490-1931ED39E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2FE8AE-F760-456C-A6A5-BAC52F929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18DC63-D96D-494E-86DB-C7CEAA5F94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CC6B4A-E04B-4506-B892-2D095E8FAE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C1897E-8381-449E-B1A5-3D578DB162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06702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3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3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stanford.edu/class/cs107/resources/x86-64-reference.pdf" TargetMode="External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4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stanford.edu/class/cs107/resources/x86-64-reference.pdf" TargetMode="External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4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4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4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stanford.edu/class/cs107/resources/x86-64-reference.pdf" TargetMode="External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4.xml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hyperlink" Target="https://applied-programming.github.io/Operating-Systems-Notes/" TargetMode="External"/><Relationship Id="rId13" Type="http://schemas.openxmlformats.org/officeDocument/2006/relationships/hyperlink" Target="http://www.it.uu.se/education/course/homepage/os/vt18/module-4/simple-threads/" TargetMode="External"/><Relationship Id="rId18" Type="http://schemas.openxmlformats.org/officeDocument/2006/relationships/hyperlink" Target="https://flint.cs.yale.edu/cs421/papers/x86-asm/asm.html" TargetMode="External"/><Relationship Id="rId3" Type="http://schemas.openxmlformats.org/officeDocument/2006/relationships/hyperlink" Target="http://pages.cs.wisc.edu/~remzi/OSTEP/" TargetMode="External"/><Relationship Id="rId7" Type="http://schemas.openxmlformats.org/officeDocument/2006/relationships/hyperlink" Target="https://www.os-book.com/OS10/index.html" TargetMode="External"/><Relationship Id="rId12" Type="http://schemas.openxmlformats.org/officeDocument/2006/relationships/hyperlink" Target="https://www.technologyuk.net/computing/computer-software/operating-systems/operating-system-utilities.shtml" TargetMode="External"/><Relationship Id="rId17" Type="http://schemas.openxmlformats.org/officeDocument/2006/relationships/hyperlink" Target="https://www.scs.stanford.edu/22wi-cs212/" TargetMode="External"/><Relationship Id="rId2" Type="http://schemas.openxmlformats.org/officeDocument/2006/relationships/notesSlide" Target="../notesSlides/notesSlide95.xml"/><Relationship Id="rId16" Type="http://schemas.openxmlformats.org/officeDocument/2006/relationships/hyperlink" Target="http://pages.cs.wisc.edu/~bart/537/lecturenotes/titlepage.html" TargetMode="Externa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://pages.cs.wisc.edu/~remzi/" TargetMode="External"/><Relationship Id="rId11" Type="http://schemas.openxmlformats.org/officeDocument/2006/relationships/hyperlink" Target="https://myaut.github.io/dtrace-stap-book/index.html" TargetMode="External"/><Relationship Id="rId5" Type="http://schemas.openxmlformats.org/officeDocument/2006/relationships/hyperlink" Target="https://www.youtube.com/playlist?list=PLlTZ99qnw3zKBiKz7pZ_ErH3AR3rpaaKT" TargetMode="External"/><Relationship Id="rId15" Type="http://schemas.openxmlformats.org/officeDocument/2006/relationships/hyperlink" Target="http://csl.snu.ac.kr/courses/4190.307/2020-1/" TargetMode="External"/><Relationship Id="rId10" Type="http://schemas.openxmlformats.org/officeDocument/2006/relationships/hyperlink" Target="https://myaut.github.io/dtrace-stap-book/kernel/proc.html" TargetMode="External"/><Relationship Id="rId4" Type="http://schemas.openxmlformats.org/officeDocument/2006/relationships/hyperlink" Target="https://pages.cs.wisc.edu/~remzi/OSTEP/vm-paging.pdf" TargetMode="External"/><Relationship Id="rId9" Type="http://schemas.openxmlformats.org/officeDocument/2006/relationships/hyperlink" Target="https://github.com/Aniruddha-Tapas/Operating-Systems-Notes/blob/master/1-Overview.md" TargetMode="External"/><Relationship Id="rId14" Type="http://schemas.openxmlformats.org/officeDocument/2006/relationships/hyperlink" Target="https://courses.cs.duke.edu/spring19/compsci590.1/slid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>
            <a:spLocks noGrp="1"/>
          </p:cNvSpPr>
          <p:nvPr>
            <p:ph type="ctrTitle"/>
          </p:nvPr>
        </p:nvSpPr>
        <p:spPr>
          <a:xfrm>
            <a:off x="408724" y="2964875"/>
            <a:ext cx="11330991" cy="922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Slab"/>
              <a:buNone/>
            </a:pPr>
            <a:r>
              <a:rPr lang="es-ES" b="1" dirty="0"/>
              <a:t>Sistemas Operativos</a:t>
            </a:r>
            <a:endParaRPr sz="3200" dirty="0"/>
          </a:p>
        </p:txBody>
      </p:sp>
      <p:sp>
        <p:nvSpPr>
          <p:cNvPr id="140" name="Google Shape;140;p17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3200" b="1" dirty="0"/>
              <a:t>Paginación</a:t>
            </a: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dirty="0">
                <a:sym typeface="Roboto"/>
              </a:rPr>
              <a:t>26/03/2026</a:t>
            </a:r>
            <a:endParaRPr dirty="0"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>
            <a:spLocks noGrp="1"/>
          </p:cNvSpPr>
          <p:nvPr>
            <p:ph type="title"/>
          </p:nvPr>
        </p:nvSpPr>
        <p:spPr>
          <a:xfrm>
            <a:off x="838200" y="204950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Virtualización de memoria</a:t>
            </a:r>
            <a:endParaRPr dirty="0"/>
          </a:p>
        </p:txBody>
      </p:sp>
      <p:grpSp>
        <p:nvGrpSpPr>
          <p:cNvPr id="159" name="Google Shape;159;p20"/>
          <p:cNvGrpSpPr/>
          <p:nvPr/>
        </p:nvGrpSpPr>
        <p:grpSpPr>
          <a:xfrm>
            <a:off x="2653842" y="2205743"/>
            <a:ext cx="806322" cy="1163511"/>
            <a:chOff x="1775100" y="4022850"/>
            <a:chExt cx="1076100" cy="1739700"/>
          </a:xfrm>
        </p:grpSpPr>
        <p:sp>
          <p:nvSpPr>
            <p:cNvPr id="160" name="Google Shape;160;p20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1" name="Google Shape;161;p20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162" name="Google Shape;162;p20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8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163" name="Google Shape;163;p20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Data</a:t>
                </a:r>
                <a:endParaRPr/>
              </a:p>
            </p:txBody>
          </p:sp>
          <p:sp>
            <p:nvSpPr>
              <p:cNvPr id="164" name="Google Shape;164;p20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dirty="0"/>
              </a:p>
            </p:txBody>
          </p:sp>
          <p:sp>
            <p:nvSpPr>
              <p:cNvPr id="165" name="Google Shape;165;p20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dirty="0"/>
              </a:p>
            </p:txBody>
          </p:sp>
          <p:cxnSp>
            <p:nvCxnSpPr>
              <p:cNvPr id="166" name="Google Shape;166;p20"/>
              <p:cNvCxnSpPr>
                <a:stCxn id="164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67" name="Google Shape;167;p20"/>
              <p:cNvCxnSpPr>
                <a:stCxn id="165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168" name="Google Shape;168;p20"/>
          <p:cNvGrpSpPr/>
          <p:nvPr/>
        </p:nvGrpSpPr>
        <p:grpSpPr>
          <a:xfrm>
            <a:off x="2647879" y="4325918"/>
            <a:ext cx="806322" cy="1163511"/>
            <a:chOff x="1775100" y="4022850"/>
            <a:chExt cx="1076100" cy="1739700"/>
          </a:xfrm>
        </p:grpSpPr>
        <p:sp>
          <p:nvSpPr>
            <p:cNvPr id="169" name="Google Shape;169;p20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0" name="Google Shape;170;p20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171" name="Google Shape;171;p20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8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172" name="Google Shape;172;p20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Data</a:t>
                </a:r>
                <a:endParaRPr/>
              </a:p>
            </p:txBody>
          </p:sp>
          <p:sp>
            <p:nvSpPr>
              <p:cNvPr id="173" name="Google Shape;173;p20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dirty="0"/>
              </a:p>
            </p:txBody>
          </p:sp>
          <p:sp>
            <p:nvSpPr>
              <p:cNvPr id="174" name="Google Shape;174;p20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dirty="0"/>
              </a:p>
            </p:txBody>
          </p:sp>
          <p:cxnSp>
            <p:nvCxnSpPr>
              <p:cNvPr id="175" name="Google Shape;175;p20"/>
              <p:cNvCxnSpPr>
                <a:stCxn id="173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76" name="Google Shape;176;p20"/>
              <p:cNvCxnSpPr>
                <a:stCxn id="174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177" name="Google Shape;177;p20"/>
          <p:cNvGrpSpPr/>
          <p:nvPr/>
        </p:nvGrpSpPr>
        <p:grpSpPr>
          <a:xfrm>
            <a:off x="5593363" y="1668125"/>
            <a:ext cx="822300" cy="4218300"/>
            <a:chOff x="6401200" y="2198400"/>
            <a:chExt cx="822300" cy="4218300"/>
          </a:xfrm>
        </p:grpSpPr>
        <p:sp>
          <p:nvSpPr>
            <p:cNvPr id="178" name="Google Shape;178;p20"/>
            <p:cNvSpPr/>
            <p:nvPr/>
          </p:nvSpPr>
          <p:spPr>
            <a:xfrm>
              <a:off x="6401200" y="2198400"/>
              <a:ext cx="822300" cy="42183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9" name="Google Shape;179;p20"/>
            <p:cNvGrpSpPr/>
            <p:nvPr/>
          </p:nvGrpSpPr>
          <p:grpSpPr>
            <a:xfrm>
              <a:off x="6409192" y="3112418"/>
              <a:ext cx="806322" cy="1163511"/>
              <a:chOff x="1775100" y="4022850"/>
              <a:chExt cx="1076100" cy="1739700"/>
            </a:xfrm>
          </p:grpSpPr>
          <p:sp>
            <p:nvSpPr>
              <p:cNvPr id="180" name="Google Shape;180;p20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81" name="Google Shape;181;p20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182" name="Google Shape;182;p20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800" b="1" dirty="0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183" name="Google Shape;183;p20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/>
                </a:p>
              </p:txBody>
            </p:sp>
            <p:sp>
              <p:nvSpPr>
                <p:cNvPr id="184" name="Google Shape;184;p20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 dirty="0"/>
                </a:p>
              </p:txBody>
            </p:sp>
            <p:sp>
              <p:nvSpPr>
                <p:cNvPr id="185" name="Google Shape;185;p20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dirty="0"/>
                </a:p>
              </p:txBody>
            </p:sp>
            <p:cxnSp>
              <p:nvCxnSpPr>
                <p:cNvPr id="186" name="Google Shape;186;p20"/>
                <p:cNvCxnSpPr>
                  <a:stCxn id="184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187" name="Google Shape;187;p20"/>
                <p:cNvCxnSpPr>
                  <a:stCxn id="185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  <p:grpSp>
          <p:nvGrpSpPr>
            <p:cNvPr id="188" name="Google Shape;188;p20"/>
            <p:cNvGrpSpPr/>
            <p:nvPr/>
          </p:nvGrpSpPr>
          <p:grpSpPr>
            <a:xfrm>
              <a:off x="6409192" y="4826918"/>
              <a:ext cx="806322" cy="1163511"/>
              <a:chOff x="1775100" y="4022850"/>
              <a:chExt cx="1076100" cy="1739700"/>
            </a:xfrm>
          </p:grpSpPr>
          <p:sp>
            <p:nvSpPr>
              <p:cNvPr id="189" name="Google Shape;189;p20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90" name="Google Shape;190;p20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191" name="Google Shape;191;p20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800" b="1" dirty="0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192" name="Google Shape;192;p20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/>
                </a:p>
              </p:txBody>
            </p:sp>
            <p:sp>
              <p:nvSpPr>
                <p:cNvPr id="193" name="Google Shape;193;p20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 dirty="0"/>
                </a:p>
              </p:txBody>
            </p:sp>
            <p:sp>
              <p:nvSpPr>
                <p:cNvPr id="194" name="Google Shape;194;p20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dirty="0"/>
                </a:p>
              </p:txBody>
            </p:sp>
            <p:cxnSp>
              <p:nvCxnSpPr>
                <p:cNvPr id="195" name="Google Shape;195;p20"/>
                <p:cNvCxnSpPr>
                  <a:stCxn id="193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196" name="Google Shape;196;p20"/>
                <p:cNvCxnSpPr>
                  <a:stCxn id="194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</p:grpSp>
      <p:sp>
        <p:nvSpPr>
          <p:cNvPr id="197" name="Google Shape;197;p20"/>
          <p:cNvSpPr/>
          <p:nvPr/>
        </p:nvSpPr>
        <p:spPr>
          <a:xfrm>
            <a:off x="922463" y="2816575"/>
            <a:ext cx="731100" cy="73110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P1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916650" y="4442900"/>
            <a:ext cx="731100" cy="7311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P2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99" name="Google Shape;199;p20"/>
          <p:cNvCxnSpPr/>
          <p:nvPr/>
        </p:nvCxnSpPr>
        <p:spPr>
          <a:xfrm>
            <a:off x="3483725" y="2219900"/>
            <a:ext cx="2105700" cy="3573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0" name="Google Shape;200;p20"/>
          <p:cNvCxnSpPr/>
          <p:nvPr/>
        </p:nvCxnSpPr>
        <p:spPr>
          <a:xfrm>
            <a:off x="3483725" y="3386225"/>
            <a:ext cx="2108700" cy="3639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1" name="Google Shape;201;p20"/>
          <p:cNvCxnSpPr/>
          <p:nvPr/>
        </p:nvCxnSpPr>
        <p:spPr>
          <a:xfrm rot="10800000" flipH="1">
            <a:off x="3464013" y="4295400"/>
            <a:ext cx="2128500" cy="264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2" name="Google Shape;202;p20"/>
          <p:cNvCxnSpPr/>
          <p:nvPr/>
        </p:nvCxnSpPr>
        <p:spPr>
          <a:xfrm rot="10800000" flipH="1">
            <a:off x="3458188" y="5468675"/>
            <a:ext cx="2134500" cy="243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3" name="Google Shape;203;p20"/>
          <p:cNvSpPr txBox="1"/>
          <p:nvPr/>
        </p:nvSpPr>
        <p:spPr>
          <a:xfrm>
            <a:off x="1617163" y="3061450"/>
            <a:ext cx="7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>
                <a:solidFill>
                  <a:srgbClr val="FF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0x200000</a:t>
            </a:r>
            <a:endParaRPr sz="800">
              <a:solidFill>
                <a:srgbClr val="FF0000"/>
              </a:solidFill>
              <a:highlight>
                <a:schemeClr val="lt1"/>
              </a:highlight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1605438" y="4650025"/>
            <a:ext cx="7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>
                <a:solidFill>
                  <a:srgbClr val="FF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0x200000</a:t>
            </a:r>
            <a:endParaRPr sz="800">
              <a:solidFill>
                <a:srgbClr val="FF0000"/>
              </a:solidFill>
              <a:highlight>
                <a:schemeClr val="lt1"/>
              </a:highlight>
            </a:endParaRPr>
          </a:p>
        </p:txBody>
      </p:sp>
      <p:cxnSp>
        <p:nvCxnSpPr>
          <p:cNvPr id="205" name="Google Shape;205;p20"/>
          <p:cNvCxnSpPr/>
          <p:nvPr/>
        </p:nvCxnSpPr>
        <p:spPr>
          <a:xfrm rot="10800000" flipH="1">
            <a:off x="2284113" y="4807075"/>
            <a:ext cx="352200" cy="2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6" name="Google Shape;206;p20"/>
          <p:cNvCxnSpPr/>
          <p:nvPr/>
        </p:nvCxnSpPr>
        <p:spPr>
          <a:xfrm rot="10800000" flipH="1">
            <a:off x="2295763" y="3213975"/>
            <a:ext cx="352200" cy="2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7" name="Google Shape;207;p20"/>
          <p:cNvCxnSpPr>
            <a:stCxn id="164" idx="3"/>
            <a:endCxn id="184" idx="1"/>
          </p:cNvCxnSpPr>
          <p:nvPr/>
        </p:nvCxnSpPr>
        <p:spPr>
          <a:xfrm>
            <a:off x="3460163" y="2697395"/>
            <a:ext cx="2141100" cy="376500"/>
          </a:xfrm>
          <a:prstGeom prst="bentConnector3">
            <a:avLst>
              <a:gd name="adj1" fmla="val 50002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8" name="Google Shape;208;p20"/>
          <p:cNvCxnSpPr>
            <a:stCxn id="173" idx="3"/>
            <a:endCxn id="193" idx="1"/>
          </p:cNvCxnSpPr>
          <p:nvPr/>
        </p:nvCxnSpPr>
        <p:spPr>
          <a:xfrm rot="10800000" flipH="1">
            <a:off x="3454201" y="4788170"/>
            <a:ext cx="2147100" cy="29400"/>
          </a:xfrm>
          <a:prstGeom prst="bentConnector3">
            <a:avLst>
              <a:gd name="adj1" fmla="val 50001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09" name="Google Shape;209;p20"/>
          <p:cNvGrpSpPr/>
          <p:nvPr/>
        </p:nvGrpSpPr>
        <p:grpSpPr>
          <a:xfrm>
            <a:off x="2348263" y="5903000"/>
            <a:ext cx="4426050" cy="677100"/>
            <a:chOff x="7439250" y="5328100"/>
            <a:chExt cx="4426050" cy="677100"/>
          </a:xfrm>
        </p:grpSpPr>
        <p:sp>
          <p:nvSpPr>
            <p:cNvPr id="210" name="Google Shape;210;p20"/>
            <p:cNvSpPr txBox="1"/>
            <p:nvPr/>
          </p:nvSpPr>
          <p:spPr>
            <a:xfrm>
              <a:off x="7439250" y="5328100"/>
              <a:ext cx="15396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Memoria Virtual</a:t>
              </a:r>
              <a:endParaRPr sz="16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11" name="Google Shape;211;p20"/>
            <p:cNvSpPr txBox="1"/>
            <p:nvPr/>
          </p:nvSpPr>
          <p:spPr>
            <a:xfrm>
              <a:off x="10325700" y="5328100"/>
              <a:ext cx="15396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24292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Memoria Física</a:t>
              </a:r>
              <a:endParaRPr sz="1600" b="1">
                <a:solidFill>
                  <a:srgbClr val="24292E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212" name="Google Shape;212;p20"/>
            <p:cNvGrpSpPr/>
            <p:nvPr/>
          </p:nvGrpSpPr>
          <p:grpSpPr>
            <a:xfrm>
              <a:off x="9023475" y="5328100"/>
              <a:ext cx="1353000" cy="615600"/>
              <a:chOff x="9023475" y="5328100"/>
              <a:chExt cx="1353000" cy="615600"/>
            </a:xfrm>
          </p:grpSpPr>
          <p:sp>
            <p:nvSpPr>
              <p:cNvPr id="213" name="Google Shape;213;p20"/>
              <p:cNvSpPr/>
              <p:nvPr/>
            </p:nvSpPr>
            <p:spPr>
              <a:xfrm>
                <a:off x="9023475" y="5328100"/>
                <a:ext cx="1353000" cy="6156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EA9999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20"/>
              <p:cNvSpPr txBox="1"/>
              <p:nvPr/>
            </p:nvSpPr>
            <p:spPr>
              <a:xfrm>
                <a:off x="9170324" y="5404300"/>
                <a:ext cx="963900" cy="44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700" b="1">
                    <a:solidFill>
                      <a:schemeClr val="lt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Mapeo</a:t>
                </a:r>
                <a:endParaRPr sz="1700" b="1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sp>
        <p:nvSpPr>
          <p:cNvPr id="215" name="Google Shape;215;p20"/>
          <p:cNvSpPr/>
          <p:nvPr/>
        </p:nvSpPr>
        <p:spPr>
          <a:xfrm>
            <a:off x="5593838" y="1679225"/>
            <a:ext cx="822300" cy="5541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00" b="1">
                <a:latin typeface="Courier New"/>
                <a:ea typeface="Courier New"/>
                <a:cs typeface="Courier New"/>
                <a:sym typeface="Courier New"/>
              </a:rPr>
              <a:t>Operating system</a:t>
            </a:r>
            <a:endParaRPr sz="9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16" name="Google Shape;2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9150" y="4442900"/>
            <a:ext cx="1163500" cy="11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0"/>
          <p:cNvSpPr/>
          <p:nvPr/>
        </p:nvSpPr>
        <p:spPr>
          <a:xfrm>
            <a:off x="7189838" y="1846100"/>
            <a:ext cx="731100" cy="73110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P1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9220650" y="1846100"/>
            <a:ext cx="731100" cy="7311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P2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19" name="Google Shape;21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2238" y="2872288"/>
            <a:ext cx="806325" cy="8063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0"/>
          <p:cNvSpPr/>
          <p:nvPr/>
        </p:nvSpPr>
        <p:spPr>
          <a:xfrm>
            <a:off x="6930188" y="3678600"/>
            <a:ext cx="12504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urier New"/>
                <a:ea typeface="Courier New"/>
                <a:cs typeface="Courier New"/>
                <a:sym typeface="Courier New"/>
              </a:rPr>
              <a:t>AS(P1)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2431825" y="3889850"/>
            <a:ext cx="12504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AS(P2)</a:t>
            </a:r>
            <a:endParaRPr sz="1600" b="1">
              <a:solidFill>
                <a:srgbClr val="CC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2431813" y="1757963"/>
            <a:ext cx="12504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AS(P1)</a:t>
            </a:r>
            <a:endParaRPr sz="1600" b="1">
              <a:solidFill>
                <a:schemeClr val="accent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23" name="Google Shape;22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83038" y="2778963"/>
            <a:ext cx="806325" cy="80632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0"/>
          <p:cNvSpPr/>
          <p:nvPr/>
        </p:nvSpPr>
        <p:spPr>
          <a:xfrm>
            <a:off x="8960988" y="3678175"/>
            <a:ext cx="12504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urier New"/>
                <a:ea typeface="Courier New"/>
                <a:cs typeface="Courier New"/>
                <a:sym typeface="Courier New"/>
              </a:rPr>
              <a:t>AS(P2)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25" name="Google Shape;225;p20"/>
          <p:cNvCxnSpPr/>
          <p:nvPr/>
        </p:nvCxnSpPr>
        <p:spPr>
          <a:xfrm rot="10800000" flipH="1">
            <a:off x="6930200" y="4144275"/>
            <a:ext cx="5067300" cy="2340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6" name="Google Shape;226;p20"/>
          <p:cNvSpPr txBox="1"/>
          <p:nvPr/>
        </p:nvSpPr>
        <p:spPr>
          <a:xfrm>
            <a:off x="10355463" y="2843575"/>
            <a:ext cx="1539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70AD47"/>
                </a:solidFill>
                <a:latin typeface="Courier New"/>
                <a:ea typeface="Courier New"/>
                <a:cs typeface="Courier New"/>
                <a:sym typeface="Courier New"/>
              </a:rPr>
              <a:t>Memoria Virtual</a:t>
            </a:r>
            <a:endParaRPr sz="1600" b="1">
              <a:solidFill>
                <a:srgbClr val="70AD4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10304688" y="4569125"/>
            <a:ext cx="1539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24292E"/>
                </a:solidFill>
                <a:latin typeface="Courier New"/>
                <a:ea typeface="Courier New"/>
                <a:cs typeface="Courier New"/>
                <a:sym typeface="Courier New"/>
              </a:rPr>
              <a:t>Memoria Física</a:t>
            </a:r>
            <a:endParaRPr sz="1600" b="1">
              <a:solidFill>
                <a:srgbClr val="24292E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Address Translation (Mapeo)</a:t>
            </a:r>
            <a:endParaRPr dirty="0"/>
          </a:p>
        </p:txBody>
      </p:sp>
      <p:grpSp>
        <p:nvGrpSpPr>
          <p:cNvPr id="234" name="Google Shape;234;p21"/>
          <p:cNvGrpSpPr/>
          <p:nvPr/>
        </p:nvGrpSpPr>
        <p:grpSpPr>
          <a:xfrm>
            <a:off x="1707350" y="5436125"/>
            <a:ext cx="9378375" cy="1156800"/>
            <a:chOff x="1094825" y="3951525"/>
            <a:chExt cx="9378375" cy="1156800"/>
          </a:xfrm>
        </p:grpSpPr>
        <p:grpSp>
          <p:nvGrpSpPr>
            <p:cNvPr id="235" name="Google Shape;235;p21"/>
            <p:cNvGrpSpPr/>
            <p:nvPr/>
          </p:nvGrpSpPr>
          <p:grpSpPr>
            <a:xfrm>
              <a:off x="3591725" y="3951525"/>
              <a:ext cx="4103700" cy="1156800"/>
              <a:chOff x="3401900" y="3904875"/>
              <a:chExt cx="4103700" cy="1156800"/>
            </a:xfrm>
          </p:grpSpPr>
          <p:sp>
            <p:nvSpPr>
              <p:cNvPr id="236" name="Google Shape;236;p21"/>
              <p:cNvSpPr/>
              <p:nvPr/>
            </p:nvSpPr>
            <p:spPr>
              <a:xfrm>
                <a:off x="4883000" y="3904875"/>
                <a:ext cx="1141500" cy="11568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500" b="1">
                    <a:latin typeface="Consolas"/>
                    <a:ea typeface="Consolas"/>
                    <a:cs typeface="Consolas"/>
                    <a:sym typeface="Consolas"/>
                  </a:rPr>
                  <a:t>AT</a:t>
                </a:r>
                <a:endParaRPr sz="25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237" name="Google Shape;237;p21"/>
              <p:cNvCxnSpPr/>
              <p:nvPr/>
            </p:nvCxnSpPr>
            <p:spPr>
              <a:xfrm>
                <a:off x="3401900" y="4483275"/>
                <a:ext cx="1481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38" name="Google Shape;238;p21"/>
              <p:cNvCxnSpPr/>
              <p:nvPr/>
            </p:nvCxnSpPr>
            <p:spPr>
              <a:xfrm>
                <a:off x="6024500" y="4483275"/>
                <a:ext cx="1481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239" name="Google Shape;239;p21"/>
            <p:cNvSpPr txBox="1"/>
            <p:nvPr/>
          </p:nvSpPr>
          <p:spPr>
            <a:xfrm>
              <a:off x="1094825" y="4129725"/>
              <a:ext cx="24969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latin typeface="Consolas"/>
                  <a:ea typeface="Consolas"/>
                  <a:cs typeface="Consolas"/>
                  <a:sym typeface="Consolas"/>
                </a:rPr>
                <a:t>Virtual Address</a:t>
              </a:r>
              <a:endParaRPr sz="20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VA</a:t>
              </a:r>
              <a:endParaRPr sz="2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40" name="Google Shape;240;p21"/>
            <p:cNvSpPr txBox="1"/>
            <p:nvPr/>
          </p:nvSpPr>
          <p:spPr>
            <a:xfrm>
              <a:off x="7793900" y="4129725"/>
              <a:ext cx="26793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latin typeface="Consolas"/>
                  <a:ea typeface="Consolas"/>
                  <a:cs typeface="Consolas"/>
                  <a:sym typeface="Consolas"/>
                </a:rPr>
                <a:t>Physical Address</a:t>
              </a:r>
              <a:endParaRPr sz="20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PA</a:t>
              </a:r>
              <a:endParaRPr sz="2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241" name="Google Shape;241;p21"/>
          <p:cNvGrpSpPr/>
          <p:nvPr/>
        </p:nvGrpSpPr>
        <p:grpSpPr>
          <a:xfrm>
            <a:off x="1753088" y="3053189"/>
            <a:ext cx="2514286" cy="1890706"/>
            <a:chOff x="1378950" y="2483639"/>
            <a:chExt cx="2514286" cy="1890706"/>
          </a:xfrm>
        </p:grpSpPr>
        <p:grpSp>
          <p:nvGrpSpPr>
            <p:cNvPr id="242" name="Google Shape;242;p21"/>
            <p:cNvGrpSpPr/>
            <p:nvPr/>
          </p:nvGrpSpPr>
          <p:grpSpPr>
            <a:xfrm>
              <a:off x="2957029" y="2483639"/>
              <a:ext cx="936207" cy="1890706"/>
              <a:chOff x="1775100" y="4022850"/>
              <a:chExt cx="1076100" cy="1739700"/>
            </a:xfrm>
          </p:grpSpPr>
          <p:sp>
            <p:nvSpPr>
              <p:cNvPr id="243" name="Google Shape;243;p21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44" name="Google Shape;244;p21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245" name="Google Shape;245;p21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b="1" dirty="0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246" name="Google Shape;246;p21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>
                      <a:latin typeface="Courier New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/>
                </a:p>
              </p:txBody>
            </p:sp>
            <p:sp>
              <p:nvSpPr>
                <p:cNvPr id="247" name="Google Shape;247;p21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 dirty="0"/>
                </a:p>
              </p:txBody>
            </p:sp>
            <p:sp>
              <p:nvSpPr>
                <p:cNvPr id="248" name="Google Shape;248;p21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dirty="0"/>
                </a:p>
              </p:txBody>
            </p:sp>
            <p:cxnSp>
              <p:nvCxnSpPr>
                <p:cNvPr id="249" name="Google Shape;249;p21"/>
                <p:cNvCxnSpPr>
                  <a:stCxn id="247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250" name="Google Shape;250;p21"/>
                <p:cNvCxnSpPr>
                  <a:stCxn id="248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  <p:sp>
          <p:nvSpPr>
            <p:cNvPr id="251" name="Google Shape;251;p21"/>
            <p:cNvSpPr/>
            <p:nvPr/>
          </p:nvSpPr>
          <p:spPr>
            <a:xfrm>
              <a:off x="1378950" y="3063450"/>
              <a:ext cx="731100" cy="731100"/>
            </a:xfrm>
            <a:prstGeom prst="ellipse">
              <a:avLst/>
            </a:prstGeom>
            <a:solidFill>
              <a:srgbClr val="C9DAF8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urier New"/>
                  <a:ea typeface="Courier New"/>
                  <a:cs typeface="Courier New"/>
                  <a:sym typeface="Courier New"/>
                </a:rPr>
                <a:t>P</a:t>
              </a:r>
              <a:endParaRPr sz="18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252" name="Google Shape;252;p21"/>
            <p:cNvCxnSpPr/>
            <p:nvPr/>
          </p:nvCxnSpPr>
          <p:spPr>
            <a:xfrm rot="10800000" flipH="1">
              <a:off x="1781475" y="2484825"/>
              <a:ext cx="1145100" cy="5334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253" name="Google Shape;253;p21"/>
            <p:cNvCxnSpPr/>
            <p:nvPr/>
          </p:nvCxnSpPr>
          <p:spPr>
            <a:xfrm>
              <a:off x="1779250" y="3833075"/>
              <a:ext cx="1138500" cy="5358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sp>
        <p:nvSpPr>
          <p:cNvPr id="254" name="Google Shape;254;p21"/>
          <p:cNvSpPr txBox="1"/>
          <p:nvPr/>
        </p:nvSpPr>
        <p:spPr>
          <a:xfrm>
            <a:off x="2236625" y="2473675"/>
            <a:ext cx="1975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Mapa de memoria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55" name="Google Shape;255;p21"/>
          <p:cNvGrpSpPr/>
          <p:nvPr/>
        </p:nvGrpSpPr>
        <p:grpSpPr>
          <a:xfrm>
            <a:off x="9377638" y="2554025"/>
            <a:ext cx="822300" cy="2750411"/>
            <a:chOff x="8636788" y="1783150"/>
            <a:chExt cx="822300" cy="2750411"/>
          </a:xfrm>
        </p:grpSpPr>
        <p:sp>
          <p:nvSpPr>
            <p:cNvPr id="256" name="Google Shape;256;p21"/>
            <p:cNvSpPr/>
            <p:nvPr/>
          </p:nvSpPr>
          <p:spPr>
            <a:xfrm>
              <a:off x="8636788" y="1783161"/>
              <a:ext cx="822300" cy="27504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7" name="Google Shape;257;p21"/>
            <p:cNvGrpSpPr/>
            <p:nvPr/>
          </p:nvGrpSpPr>
          <p:grpSpPr>
            <a:xfrm>
              <a:off x="8644770" y="2674080"/>
              <a:ext cx="806322" cy="1056346"/>
              <a:chOff x="1775100" y="4022850"/>
              <a:chExt cx="1076100" cy="1739700"/>
            </a:xfrm>
          </p:grpSpPr>
          <p:sp>
            <p:nvSpPr>
              <p:cNvPr id="258" name="Google Shape;258;p21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59" name="Google Shape;259;p21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260" name="Google Shape;260;p21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1000" b="1" dirty="0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261" name="Google Shape;261;p21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 sz="1600"/>
                </a:p>
              </p:txBody>
            </p:sp>
            <p:sp>
              <p:nvSpPr>
                <p:cNvPr id="262" name="Google Shape;262;p21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 sz="1600" dirty="0"/>
                </a:p>
              </p:txBody>
            </p:sp>
            <p:sp>
              <p:nvSpPr>
                <p:cNvPr id="263" name="Google Shape;263;p21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sz="1600" dirty="0"/>
                </a:p>
              </p:txBody>
            </p:sp>
            <p:cxnSp>
              <p:nvCxnSpPr>
                <p:cNvPr id="264" name="Google Shape;264;p21"/>
                <p:cNvCxnSpPr>
                  <a:stCxn id="262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265" name="Google Shape;265;p21"/>
                <p:cNvCxnSpPr>
                  <a:stCxn id="263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  <p:sp>
          <p:nvSpPr>
            <p:cNvPr id="266" name="Google Shape;266;p21"/>
            <p:cNvSpPr/>
            <p:nvPr/>
          </p:nvSpPr>
          <p:spPr>
            <a:xfrm>
              <a:off x="8636788" y="1783150"/>
              <a:ext cx="822300" cy="5541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OS</a:t>
              </a:r>
              <a:endParaRPr sz="1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cxnSp>
        <p:nvCxnSpPr>
          <p:cNvPr id="267" name="Google Shape;267;p21"/>
          <p:cNvCxnSpPr/>
          <p:nvPr/>
        </p:nvCxnSpPr>
        <p:spPr>
          <a:xfrm>
            <a:off x="4339525" y="3059300"/>
            <a:ext cx="4982700" cy="375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68" name="Google Shape;268;p21"/>
          <p:cNvCxnSpPr/>
          <p:nvPr/>
        </p:nvCxnSpPr>
        <p:spPr>
          <a:xfrm rot="10800000" flipH="1">
            <a:off x="4339525" y="4505925"/>
            <a:ext cx="4982700" cy="4554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69" name="Google Shape;269;p21"/>
          <p:cNvSpPr txBox="1"/>
          <p:nvPr/>
        </p:nvSpPr>
        <p:spPr>
          <a:xfrm>
            <a:off x="2761150" y="3398600"/>
            <a:ext cx="344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>
                <a:solidFill>
                  <a:srgbClr val="FF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VA</a:t>
            </a:r>
            <a:endParaRPr sz="800">
              <a:solidFill>
                <a:srgbClr val="FF0000"/>
              </a:solidFill>
              <a:highlight>
                <a:schemeClr val="lt1"/>
              </a:highlight>
            </a:endParaRPr>
          </a:p>
        </p:txBody>
      </p:sp>
      <p:cxnSp>
        <p:nvCxnSpPr>
          <p:cNvPr id="270" name="Google Shape;270;p21"/>
          <p:cNvCxnSpPr>
            <a:stCxn id="246" idx="1"/>
          </p:cNvCxnSpPr>
          <p:nvPr/>
        </p:nvCxnSpPr>
        <p:spPr>
          <a:xfrm flipH="1">
            <a:off x="3105255" y="3550997"/>
            <a:ext cx="228000" cy="3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271" name="Google Shape;271;p21"/>
          <p:cNvSpPr txBox="1"/>
          <p:nvPr/>
        </p:nvSpPr>
        <p:spPr>
          <a:xfrm>
            <a:off x="8805550" y="3551000"/>
            <a:ext cx="344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>
                <a:solidFill>
                  <a:schemeClr val="accent6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PA</a:t>
            </a:r>
            <a:endParaRPr sz="800">
              <a:solidFill>
                <a:schemeClr val="accent6"/>
              </a:solidFill>
              <a:highlight>
                <a:schemeClr val="lt1"/>
              </a:highlight>
            </a:endParaRPr>
          </a:p>
        </p:txBody>
      </p:sp>
      <p:cxnSp>
        <p:nvCxnSpPr>
          <p:cNvPr id="272" name="Google Shape;272;p21"/>
          <p:cNvCxnSpPr/>
          <p:nvPr/>
        </p:nvCxnSpPr>
        <p:spPr>
          <a:xfrm flipH="1">
            <a:off x="9149655" y="3703397"/>
            <a:ext cx="228000" cy="300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73" name="Google Shape;273;p21"/>
          <p:cNvCxnSpPr/>
          <p:nvPr/>
        </p:nvCxnSpPr>
        <p:spPr>
          <a:xfrm>
            <a:off x="4267375" y="3560825"/>
            <a:ext cx="4538700" cy="1539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2"/>
          <p:cNvSpPr txBox="1">
            <a:spLocks noGrp="1"/>
          </p:cNvSpPr>
          <p:nvPr>
            <p:ph type="title"/>
          </p:nvPr>
        </p:nvSpPr>
        <p:spPr>
          <a:xfrm>
            <a:off x="838200" y="200710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Memory Management Unit (MMU)</a:t>
            </a:r>
            <a:endParaRPr dirty="0"/>
          </a:p>
        </p:txBody>
      </p:sp>
      <p:grpSp>
        <p:nvGrpSpPr>
          <p:cNvPr id="280" name="Google Shape;280;p22"/>
          <p:cNvGrpSpPr/>
          <p:nvPr/>
        </p:nvGrpSpPr>
        <p:grpSpPr>
          <a:xfrm>
            <a:off x="1035311" y="1782574"/>
            <a:ext cx="3283535" cy="837000"/>
            <a:chOff x="3907900" y="3985043"/>
            <a:chExt cx="3283535" cy="837000"/>
          </a:xfrm>
        </p:grpSpPr>
        <p:grpSp>
          <p:nvGrpSpPr>
            <p:cNvPr id="281" name="Google Shape;281;p22"/>
            <p:cNvGrpSpPr/>
            <p:nvPr/>
          </p:nvGrpSpPr>
          <p:grpSpPr>
            <a:xfrm>
              <a:off x="4500100" y="3985043"/>
              <a:ext cx="2062535" cy="837000"/>
              <a:chOff x="4310275" y="3938393"/>
              <a:chExt cx="2062535" cy="837000"/>
            </a:xfrm>
          </p:grpSpPr>
          <p:sp>
            <p:nvSpPr>
              <p:cNvPr id="282" name="Google Shape;282;p22"/>
              <p:cNvSpPr/>
              <p:nvPr/>
            </p:nvSpPr>
            <p:spPr>
              <a:xfrm>
                <a:off x="4939075" y="3938393"/>
                <a:ext cx="806400" cy="8370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500" b="1">
                    <a:latin typeface="Consolas"/>
                    <a:ea typeface="Consolas"/>
                    <a:cs typeface="Consolas"/>
                    <a:sym typeface="Consolas"/>
                  </a:rPr>
                  <a:t>AT</a:t>
                </a:r>
                <a:endParaRPr sz="25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283" name="Google Shape;283;p22"/>
              <p:cNvCxnSpPr>
                <a:cxnSpLocks/>
                <a:stCxn id="285" idx="3"/>
                <a:endCxn id="282" idx="1"/>
              </p:cNvCxnSpPr>
              <p:nvPr/>
            </p:nvCxnSpPr>
            <p:spPr>
              <a:xfrm>
                <a:off x="4310275" y="4352467"/>
                <a:ext cx="628800" cy="4426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84" name="Google Shape;284;p22"/>
              <p:cNvCxnSpPr>
                <a:cxnSpLocks/>
                <a:stCxn id="282" idx="3"/>
                <a:endCxn id="286" idx="1"/>
              </p:cNvCxnSpPr>
              <p:nvPr/>
            </p:nvCxnSpPr>
            <p:spPr>
              <a:xfrm>
                <a:off x="5745475" y="4356893"/>
                <a:ext cx="627335" cy="60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285" name="Google Shape;285;p22"/>
            <p:cNvSpPr txBox="1"/>
            <p:nvPr/>
          </p:nvSpPr>
          <p:spPr>
            <a:xfrm>
              <a:off x="3907900" y="4152817"/>
              <a:ext cx="592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VA</a:t>
              </a:r>
              <a:endParaRPr sz="2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86" name="Google Shape;286;p22"/>
            <p:cNvSpPr txBox="1"/>
            <p:nvPr/>
          </p:nvSpPr>
          <p:spPr>
            <a:xfrm>
              <a:off x="6562635" y="4163243"/>
              <a:ext cx="628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PA</a:t>
              </a:r>
              <a:endParaRPr sz="2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287" name="Google Shape;287;p22"/>
          <p:cNvGrpSpPr/>
          <p:nvPr/>
        </p:nvGrpSpPr>
        <p:grpSpPr>
          <a:xfrm>
            <a:off x="1497041" y="3271320"/>
            <a:ext cx="2340362" cy="2606506"/>
            <a:chOff x="8005450" y="1566825"/>
            <a:chExt cx="3308400" cy="3595180"/>
          </a:xfrm>
        </p:grpSpPr>
        <p:sp>
          <p:nvSpPr>
            <p:cNvPr id="288" name="Google Shape;288;p22"/>
            <p:cNvSpPr/>
            <p:nvPr/>
          </p:nvSpPr>
          <p:spPr>
            <a:xfrm>
              <a:off x="8005450" y="1566825"/>
              <a:ext cx="3308400" cy="359518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89" name="Google Shape;289;p22"/>
            <p:cNvSpPr txBox="1"/>
            <p:nvPr/>
          </p:nvSpPr>
          <p:spPr>
            <a:xfrm>
              <a:off x="8597250" y="1637048"/>
              <a:ext cx="2103000" cy="67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CPU Chip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290" name="Google Shape;290;p22"/>
            <p:cNvGrpSpPr/>
            <p:nvPr/>
          </p:nvGrpSpPr>
          <p:grpSpPr>
            <a:xfrm>
              <a:off x="8597250" y="2266040"/>
              <a:ext cx="2103000" cy="2488894"/>
              <a:chOff x="8597250" y="2266040"/>
              <a:chExt cx="2103000" cy="2488894"/>
            </a:xfrm>
          </p:grpSpPr>
          <p:sp>
            <p:nvSpPr>
              <p:cNvPr id="291" name="Google Shape;291;p22"/>
              <p:cNvSpPr/>
              <p:nvPr/>
            </p:nvSpPr>
            <p:spPr>
              <a:xfrm>
                <a:off x="9154350" y="2266040"/>
                <a:ext cx="988800" cy="9954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 b="1" dirty="0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sz="1500" b="1"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292" name="Google Shape;292;p22"/>
              <p:cNvCxnSpPr>
                <a:cxnSpLocks/>
                <a:stCxn id="291" idx="4"/>
                <a:endCxn id="293" idx="0"/>
              </p:cNvCxnSpPr>
              <p:nvPr/>
            </p:nvCxnSpPr>
            <p:spPr>
              <a:xfrm>
                <a:off x="9648750" y="3261440"/>
                <a:ext cx="0" cy="456535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294" name="Google Shape;294;p22"/>
              <p:cNvGrpSpPr/>
              <p:nvPr/>
            </p:nvGrpSpPr>
            <p:grpSpPr>
              <a:xfrm>
                <a:off x="8597250" y="3717975"/>
                <a:ext cx="2103000" cy="1036959"/>
                <a:chOff x="8597250" y="3717975"/>
                <a:chExt cx="2103000" cy="1036959"/>
              </a:xfrm>
            </p:grpSpPr>
            <p:sp>
              <p:nvSpPr>
                <p:cNvPr id="293" name="Google Shape;293;p22"/>
                <p:cNvSpPr/>
                <p:nvPr/>
              </p:nvSpPr>
              <p:spPr>
                <a:xfrm>
                  <a:off x="8597250" y="3717975"/>
                  <a:ext cx="2103000" cy="1036959"/>
                </a:xfrm>
                <a:prstGeom prst="rect">
                  <a:avLst/>
                </a:prstGeom>
                <a:solidFill>
                  <a:srgbClr val="B6D7A8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295" name="Google Shape;295;p22"/>
                <p:cNvSpPr txBox="1"/>
                <p:nvPr/>
              </p:nvSpPr>
              <p:spPr>
                <a:xfrm>
                  <a:off x="9216099" y="3718049"/>
                  <a:ext cx="887099" cy="5518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4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rPr>
                    <a:t>MMU</a:t>
                  </a:r>
                  <a:endParaRPr sz="6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</p:grpSp>
      </p:grpSp>
      <p:grpSp>
        <p:nvGrpSpPr>
          <p:cNvPr id="296" name="Google Shape;296;p22"/>
          <p:cNvGrpSpPr/>
          <p:nvPr/>
        </p:nvGrpSpPr>
        <p:grpSpPr>
          <a:xfrm>
            <a:off x="4973481" y="2822807"/>
            <a:ext cx="5734875" cy="3579418"/>
            <a:chOff x="4973481" y="2822807"/>
            <a:chExt cx="5734875" cy="3579418"/>
          </a:xfrm>
        </p:grpSpPr>
        <p:grpSp>
          <p:nvGrpSpPr>
            <p:cNvPr id="297" name="Google Shape;297;p22"/>
            <p:cNvGrpSpPr/>
            <p:nvPr/>
          </p:nvGrpSpPr>
          <p:grpSpPr>
            <a:xfrm>
              <a:off x="4973481" y="3397057"/>
              <a:ext cx="5571969" cy="3005168"/>
              <a:chOff x="4471956" y="3182707"/>
              <a:chExt cx="5571969" cy="3005168"/>
            </a:xfrm>
          </p:grpSpPr>
          <p:sp>
            <p:nvSpPr>
              <p:cNvPr id="298" name="Google Shape;298;p22"/>
              <p:cNvSpPr/>
              <p:nvPr/>
            </p:nvSpPr>
            <p:spPr>
              <a:xfrm>
                <a:off x="4509800" y="3771125"/>
                <a:ext cx="3114300" cy="1492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0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299" name="Google Shape;299;p22"/>
              <p:cNvSpPr txBox="1"/>
              <p:nvPr/>
            </p:nvSpPr>
            <p:spPr>
              <a:xfrm>
                <a:off x="4471956" y="3182707"/>
                <a:ext cx="14877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>
                    <a:solidFill>
                      <a:srgbClr val="999999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CPU Chip</a:t>
                </a:r>
                <a:endParaRPr sz="2000" b="1">
                  <a:solidFill>
                    <a:srgbClr val="999999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300" name="Google Shape;300;p22"/>
              <p:cNvSpPr/>
              <p:nvPr/>
            </p:nvSpPr>
            <p:spPr>
              <a:xfrm>
                <a:off x="4657298" y="4179826"/>
                <a:ext cx="699600" cy="7218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 b="1" dirty="0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sz="1400" b="1"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301" name="Google Shape;301;p22"/>
              <p:cNvCxnSpPr>
                <a:stCxn id="300" idx="6"/>
                <a:endCxn id="302" idx="1"/>
              </p:cNvCxnSpPr>
              <p:nvPr/>
            </p:nvCxnSpPr>
            <p:spPr>
              <a:xfrm>
                <a:off x="5356898" y="4540726"/>
                <a:ext cx="12324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303" name="Google Shape;303;p22"/>
              <p:cNvGrpSpPr/>
              <p:nvPr/>
            </p:nvGrpSpPr>
            <p:grpSpPr>
              <a:xfrm>
                <a:off x="6589263" y="4081121"/>
                <a:ext cx="895500" cy="878104"/>
                <a:chOff x="6589263" y="4081121"/>
                <a:chExt cx="895500" cy="878104"/>
              </a:xfrm>
            </p:grpSpPr>
            <p:sp>
              <p:nvSpPr>
                <p:cNvPr id="302" name="Google Shape;302;p22"/>
                <p:cNvSpPr/>
                <p:nvPr/>
              </p:nvSpPr>
              <p:spPr>
                <a:xfrm>
                  <a:off x="6589263" y="4122225"/>
                  <a:ext cx="895500" cy="837000"/>
                </a:xfrm>
                <a:prstGeom prst="rect">
                  <a:avLst/>
                </a:prstGeom>
                <a:solidFill>
                  <a:srgbClr val="B6D7A8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304" name="Google Shape;304;p22"/>
                <p:cNvSpPr txBox="1"/>
                <p:nvPr/>
              </p:nvSpPr>
              <p:spPr>
                <a:xfrm>
                  <a:off x="6746730" y="4081121"/>
                  <a:ext cx="627600" cy="4000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4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rPr>
                    <a:t>MMU</a:t>
                  </a:r>
                  <a:endParaRPr sz="6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  <p:cxnSp>
            <p:nvCxnSpPr>
              <p:cNvPr id="305" name="Google Shape;305;p22"/>
              <p:cNvCxnSpPr>
                <a:stCxn id="302" idx="3"/>
              </p:cNvCxnSpPr>
              <p:nvPr/>
            </p:nvCxnSpPr>
            <p:spPr>
              <a:xfrm>
                <a:off x="7484763" y="4540725"/>
                <a:ext cx="1428000" cy="9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306" name="Google Shape;306;p22"/>
              <p:cNvGrpSpPr/>
              <p:nvPr/>
            </p:nvGrpSpPr>
            <p:grpSpPr>
              <a:xfrm>
                <a:off x="8918625" y="3347575"/>
                <a:ext cx="1125300" cy="2339900"/>
                <a:chOff x="2625425" y="3871775"/>
                <a:chExt cx="1125300" cy="2339900"/>
              </a:xfrm>
            </p:grpSpPr>
            <p:grpSp>
              <p:nvGrpSpPr>
                <p:cNvPr id="307" name="Google Shape;307;p22"/>
                <p:cNvGrpSpPr/>
                <p:nvPr/>
              </p:nvGrpSpPr>
              <p:grpSpPr>
                <a:xfrm>
                  <a:off x="2626525" y="4273149"/>
                  <a:ext cx="1124200" cy="1619400"/>
                  <a:chOff x="2626525" y="4273149"/>
                  <a:chExt cx="1124200" cy="1619400"/>
                </a:xfrm>
              </p:grpSpPr>
              <p:sp>
                <p:nvSpPr>
                  <p:cNvPr id="308" name="Google Shape;308;p22"/>
                  <p:cNvSpPr/>
                  <p:nvPr/>
                </p:nvSpPr>
                <p:spPr>
                  <a:xfrm>
                    <a:off x="2626525" y="4273149"/>
                    <a:ext cx="1122000" cy="1619400"/>
                  </a:xfrm>
                  <a:prstGeom prst="rect">
                    <a:avLst/>
                  </a:prstGeom>
                  <a:solidFill>
                    <a:srgbClr val="EFEFEF"/>
                  </a:solidFill>
                  <a:ln w="19050" cap="flat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9" name="Google Shape;309;p22"/>
                  <p:cNvSpPr/>
                  <p:nvPr/>
                </p:nvSpPr>
                <p:spPr>
                  <a:xfrm>
                    <a:off x="2628725" y="4801224"/>
                    <a:ext cx="1122000" cy="583200"/>
                  </a:xfrm>
                  <a:prstGeom prst="rect">
                    <a:avLst/>
                  </a:prstGeom>
                  <a:solidFill>
                    <a:srgbClr val="D9D9D9"/>
                  </a:solidFill>
                  <a:ln w="19050" cap="flat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2200"/>
                  </a:p>
                </p:txBody>
              </p:sp>
            </p:grpSp>
            <p:cxnSp>
              <p:nvCxnSpPr>
                <p:cNvPr id="310" name="Google Shape;310;p22"/>
                <p:cNvCxnSpPr/>
                <p:nvPr/>
              </p:nvCxnSpPr>
              <p:spPr>
                <a:xfrm rot="10800000">
                  <a:off x="2625425" y="3872500"/>
                  <a:ext cx="0" cy="466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1" name="Google Shape;311;p22"/>
                <p:cNvCxnSpPr/>
                <p:nvPr/>
              </p:nvCxnSpPr>
              <p:spPr>
                <a:xfrm rot="10800000">
                  <a:off x="2627600" y="5745175"/>
                  <a:ext cx="0" cy="466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2" name="Google Shape;312;p22"/>
                <p:cNvCxnSpPr/>
                <p:nvPr/>
              </p:nvCxnSpPr>
              <p:spPr>
                <a:xfrm rot="10800000">
                  <a:off x="3749525" y="5745175"/>
                  <a:ext cx="0" cy="466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3" name="Google Shape;313;p22"/>
                <p:cNvCxnSpPr/>
                <p:nvPr/>
              </p:nvCxnSpPr>
              <p:spPr>
                <a:xfrm rot="10800000">
                  <a:off x="3748600" y="3871775"/>
                  <a:ext cx="0" cy="466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314" name="Google Shape;314;p22"/>
              <p:cNvSpPr txBox="1"/>
              <p:nvPr/>
            </p:nvSpPr>
            <p:spPr>
              <a:xfrm>
                <a:off x="5356900" y="4122225"/>
                <a:ext cx="11532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 dirty="0">
                    <a:latin typeface="Consolas"/>
                    <a:ea typeface="Consolas"/>
                    <a:cs typeface="Consolas"/>
                    <a:sym typeface="Consolas"/>
                  </a:rPr>
                  <a:t>Virtual Address (VA)</a:t>
                </a:r>
                <a:endParaRPr sz="1000"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315" name="Google Shape;315;p22"/>
              <p:cNvSpPr txBox="1"/>
              <p:nvPr/>
            </p:nvSpPr>
            <p:spPr>
              <a:xfrm>
                <a:off x="7569875" y="4122225"/>
                <a:ext cx="13428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 dirty="0">
                    <a:latin typeface="Consolas"/>
                    <a:ea typeface="Consolas"/>
                    <a:cs typeface="Consolas"/>
                    <a:sym typeface="Consolas"/>
                  </a:rPr>
                  <a:t>Physical</a:t>
                </a:r>
                <a:endParaRPr sz="1000" dirty="0"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 dirty="0">
                    <a:latin typeface="Consolas"/>
                    <a:ea typeface="Consolas"/>
                    <a:cs typeface="Consolas"/>
                    <a:sym typeface="Consolas"/>
                  </a:rPr>
                  <a:t>Address (PA)</a:t>
                </a:r>
                <a:endParaRPr sz="1000"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316" name="Google Shape;316;p22"/>
              <p:cNvCxnSpPr>
                <a:stCxn id="309" idx="3"/>
              </p:cNvCxnSpPr>
              <p:nvPr/>
            </p:nvCxnSpPr>
            <p:spPr>
              <a:xfrm flipH="1">
                <a:off x="5017125" y="4568624"/>
                <a:ext cx="5026800" cy="1581900"/>
              </a:xfrm>
              <a:prstGeom prst="bentConnector3">
                <a:avLst>
                  <a:gd name="adj1" fmla="val -4737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7" name="Google Shape;317;p22"/>
              <p:cNvCxnSpPr>
                <a:endCxn id="300" idx="4"/>
              </p:cNvCxnSpPr>
              <p:nvPr/>
            </p:nvCxnSpPr>
            <p:spPr>
              <a:xfrm rot="10800000">
                <a:off x="5007098" y="4901626"/>
                <a:ext cx="9300" cy="12546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318" name="Google Shape;318;p22"/>
              <p:cNvSpPr txBox="1"/>
              <p:nvPr/>
            </p:nvSpPr>
            <p:spPr>
              <a:xfrm>
                <a:off x="7089575" y="5849175"/>
                <a:ext cx="13428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latin typeface="Consolas"/>
                    <a:ea typeface="Consolas"/>
                    <a:cs typeface="Consolas"/>
                    <a:sym typeface="Consolas"/>
                  </a:rPr>
                  <a:t>Data word</a:t>
                </a:r>
                <a:endParaRPr sz="10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sp>
          <p:nvSpPr>
            <p:cNvPr id="319" name="Google Shape;319;p22"/>
            <p:cNvSpPr txBox="1"/>
            <p:nvPr/>
          </p:nvSpPr>
          <p:spPr>
            <a:xfrm>
              <a:off x="9220656" y="2822807"/>
              <a:ext cx="14877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solidFill>
                    <a:srgbClr val="999999"/>
                  </a:solidFill>
                  <a:latin typeface="Consolas"/>
                  <a:ea typeface="Consolas"/>
                  <a:cs typeface="Consolas"/>
                  <a:sym typeface="Consolas"/>
                </a:rPr>
                <a:t>Physical Memory</a:t>
              </a:r>
              <a:endParaRPr sz="2000" b="1" dirty="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3"/>
          <p:cNvSpPr txBox="1">
            <a:spLocks noGrp="1"/>
          </p:cNvSpPr>
          <p:nvPr>
            <p:ph type="title"/>
          </p:nvPr>
        </p:nvSpPr>
        <p:spPr>
          <a:xfrm>
            <a:off x="359594" y="374778"/>
            <a:ext cx="11122412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dirty="0"/>
              <a:t>Traducción de direcciones – Dynamic Relocation (base &amp; bounds)</a:t>
            </a:r>
            <a:endParaRPr sz="4000" dirty="0"/>
          </a:p>
        </p:txBody>
      </p:sp>
      <p:grpSp>
        <p:nvGrpSpPr>
          <p:cNvPr id="335" name="Google Shape;335;p23"/>
          <p:cNvGrpSpPr/>
          <p:nvPr/>
        </p:nvGrpSpPr>
        <p:grpSpPr>
          <a:xfrm>
            <a:off x="4119750" y="2100082"/>
            <a:ext cx="7362256" cy="4003568"/>
            <a:chOff x="4318025" y="1831832"/>
            <a:chExt cx="7362256" cy="4003568"/>
          </a:xfrm>
        </p:grpSpPr>
        <p:sp>
          <p:nvSpPr>
            <p:cNvPr id="336" name="Google Shape;336;p23"/>
            <p:cNvSpPr/>
            <p:nvPr/>
          </p:nvSpPr>
          <p:spPr>
            <a:xfrm>
              <a:off x="4318025" y="2383200"/>
              <a:ext cx="4962000" cy="30651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37" name="Google Shape;337;p23"/>
            <p:cNvSpPr txBox="1"/>
            <p:nvPr/>
          </p:nvSpPr>
          <p:spPr>
            <a:xfrm>
              <a:off x="4324806" y="1831832"/>
              <a:ext cx="14877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rgbClr val="999999"/>
                  </a:solidFill>
                  <a:latin typeface="Consolas"/>
                  <a:ea typeface="Consolas"/>
                  <a:cs typeface="Consolas"/>
                  <a:sym typeface="Consolas"/>
                </a:rPr>
                <a:t>CPU Chip</a:t>
              </a:r>
              <a:endParaRPr sz="2000" b="1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38" name="Google Shape;338;p23"/>
            <p:cNvSpPr/>
            <p:nvPr/>
          </p:nvSpPr>
          <p:spPr>
            <a:xfrm>
              <a:off x="4504648" y="3708601"/>
              <a:ext cx="699600" cy="721800"/>
            </a:xfrm>
            <a:prstGeom prst="ellipse">
              <a:avLst/>
            </a:prstGeom>
            <a:solidFill>
              <a:srgbClr val="EA99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>
                  <a:latin typeface="Consolas"/>
                  <a:ea typeface="Consolas"/>
                  <a:cs typeface="Consolas"/>
                  <a:sym typeface="Consolas"/>
                </a:rPr>
                <a:t>CPU</a:t>
              </a:r>
              <a:endParaRPr sz="14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39" name="Google Shape;339;p23"/>
            <p:cNvSpPr/>
            <p:nvPr/>
          </p:nvSpPr>
          <p:spPr>
            <a:xfrm>
              <a:off x="6303425" y="2654100"/>
              <a:ext cx="2720100" cy="2578800"/>
            </a:xfrm>
            <a:prstGeom prst="rect">
              <a:avLst/>
            </a:prstGeom>
            <a:solidFill>
              <a:srgbClr val="B6D7A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40" name="Google Shape;340;p23"/>
            <p:cNvSpPr txBox="1"/>
            <p:nvPr/>
          </p:nvSpPr>
          <p:spPr>
            <a:xfrm>
              <a:off x="7487305" y="2654096"/>
              <a:ext cx="627600" cy="4000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MMU</a:t>
              </a:r>
              <a:endParaRPr sz="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341" name="Google Shape;341;p23"/>
            <p:cNvGrpSpPr/>
            <p:nvPr/>
          </p:nvGrpSpPr>
          <p:grpSpPr>
            <a:xfrm>
              <a:off x="10394675" y="2823350"/>
              <a:ext cx="1125300" cy="2339900"/>
              <a:chOff x="2625425" y="3871775"/>
              <a:chExt cx="1125300" cy="2339900"/>
            </a:xfrm>
          </p:grpSpPr>
          <p:grpSp>
            <p:nvGrpSpPr>
              <p:cNvPr id="342" name="Google Shape;342;p23"/>
              <p:cNvGrpSpPr/>
              <p:nvPr/>
            </p:nvGrpSpPr>
            <p:grpSpPr>
              <a:xfrm>
                <a:off x="2626525" y="4273149"/>
                <a:ext cx="1124200" cy="1619400"/>
                <a:chOff x="2626525" y="4273149"/>
                <a:chExt cx="1124200" cy="1619400"/>
              </a:xfrm>
            </p:grpSpPr>
            <p:sp>
              <p:nvSpPr>
                <p:cNvPr id="343" name="Google Shape;343;p23"/>
                <p:cNvSpPr/>
                <p:nvPr/>
              </p:nvSpPr>
              <p:spPr>
                <a:xfrm>
                  <a:off x="2626525" y="4273149"/>
                  <a:ext cx="1122000" cy="1619400"/>
                </a:xfrm>
                <a:prstGeom prst="rect">
                  <a:avLst/>
                </a:prstGeom>
                <a:solidFill>
                  <a:srgbClr val="EFEFEF"/>
                </a:solidFill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4" name="Google Shape;344;p23"/>
                <p:cNvSpPr/>
                <p:nvPr/>
              </p:nvSpPr>
              <p:spPr>
                <a:xfrm>
                  <a:off x="2628725" y="4801224"/>
                  <a:ext cx="1122000" cy="583200"/>
                </a:xfrm>
                <a:prstGeom prst="rect">
                  <a:avLst/>
                </a:prstGeom>
                <a:solidFill>
                  <a:srgbClr val="D9D9D9"/>
                </a:solidFill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200"/>
                </a:p>
              </p:txBody>
            </p:sp>
          </p:grpSp>
          <p:cxnSp>
            <p:nvCxnSpPr>
              <p:cNvPr id="345" name="Google Shape;345;p23"/>
              <p:cNvCxnSpPr/>
              <p:nvPr/>
            </p:nvCxnSpPr>
            <p:spPr>
              <a:xfrm rot="10800000">
                <a:off x="2625425" y="3872500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6" name="Google Shape;346;p23"/>
              <p:cNvCxnSpPr/>
              <p:nvPr/>
            </p:nvCxnSpPr>
            <p:spPr>
              <a:xfrm rot="10800000">
                <a:off x="2627600" y="5745175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7" name="Google Shape;347;p23"/>
              <p:cNvCxnSpPr/>
              <p:nvPr/>
            </p:nvCxnSpPr>
            <p:spPr>
              <a:xfrm rot="10800000">
                <a:off x="3749525" y="5745175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8" name="Google Shape;348;p23"/>
              <p:cNvCxnSpPr/>
              <p:nvPr/>
            </p:nvCxnSpPr>
            <p:spPr>
              <a:xfrm rot="10800000">
                <a:off x="3748600" y="3871775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349" name="Google Shape;349;p23"/>
            <p:cNvSpPr txBox="1"/>
            <p:nvPr/>
          </p:nvSpPr>
          <p:spPr>
            <a:xfrm>
              <a:off x="5150225" y="3641600"/>
              <a:ext cx="1153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>
                  <a:latin typeface="Consolas"/>
                  <a:ea typeface="Consolas"/>
                  <a:cs typeface="Consolas"/>
                  <a:sym typeface="Consolas"/>
                </a:rPr>
                <a:t>Virtual Address (VA)</a:t>
              </a:r>
              <a:endParaRPr sz="10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50" name="Google Shape;350;p23"/>
            <p:cNvSpPr txBox="1"/>
            <p:nvPr/>
          </p:nvSpPr>
          <p:spPr>
            <a:xfrm>
              <a:off x="9139000" y="3542075"/>
              <a:ext cx="1342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>
                  <a:latin typeface="Consolas"/>
                  <a:ea typeface="Consolas"/>
                  <a:cs typeface="Consolas"/>
                  <a:sym typeface="Consolas"/>
                </a:rPr>
                <a:t>Physical</a:t>
              </a:r>
              <a:endParaRPr sz="10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>
                  <a:latin typeface="Consolas"/>
                  <a:ea typeface="Consolas"/>
                  <a:cs typeface="Consolas"/>
                  <a:sym typeface="Consolas"/>
                </a:rPr>
                <a:t>Address (PA)</a:t>
              </a:r>
              <a:endParaRPr sz="10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51" name="Google Shape;351;p23"/>
            <p:cNvSpPr txBox="1"/>
            <p:nvPr/>
          </p:nvSpPr>
          <p:spPr>
            <a:xfrm>
              <a:off x="7583825" y="5496700"/>
              <a:ext cx="1342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latin typeface="Consolas"/>
                  <a:ea typeface="Consolas"/>
                  <a:cs typeface="Consolas"/>
                  <a:sym typeface="Consolas"/>
                </a:rPr>
                <a:t>Data word</a:t>
              </a:r>
              <a:endParaRPr sz="10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352" name="Google Shape;352;p23"/>
            <p:cNvGrpSpPr/>
            <p:nvPr/>
          </p:nvGrpSpPr>
          <p:grpSpPr>
            <a:xfrm>
              <a:off x="5204248" y="3110700"/>
              <a:ext cx="5193702" cy="2052650"/>
              <a:chOff x="4839273" y="4250500"/>
              <a:chExt cx="5193702" cy="2052650"/>
            </a:xfrm>
          </p:grpSpPr>
          <p:grpSp>
            <p:nvGrpSpPr>
              <p:cNvPr id="353" name="Google Shape;353;p23"/>
              <p:cNvGrpSpPr/>
              <p:nvPr/>
            </p:nvGrpSpPr>
            <p:grpSpPr>
              <a:xfrm>
                <a:off x="4839273" y="4250500"/>
                <a:ext cx="5193702" cy="2052650"/>
                <a:chOff x="4705323" y="4089750"/>
                <a:chExt cx="5193702" cy="2052650"/>
              </a:xfrm>
            </p:grpSpPr>
            <p:sp>
              <p:nvSpPr>
                <p:cNvPr id="354" name="Google Shape;354;p23"/>
                <p:cNvSpPr/>
                <p:nvPr/>
              </p:nvSpPr>
              <p:spPr>
                <a:xfrm>
                  <a:off x="7578075" y="4089750"/>
                  <a:ext cx="819600" cy="3297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>
                      <a:latin typeface="Consolas"/>
                      <a:ea typeface="Consolas"/>
                      <a:cs typeface="Consolas"/>
                      <a:sym typeface="Consolas"/>
                    </a:rPr>
                    <a:t>base</a:t>
                  </a:r>
                  <a:endParaRPr sz="12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355" name="Google Shape;355;p23"/>
                <p:cNvSpPr/>
                <p:nvPr/>
              </p:nvSpPr>
              <p:spPr>
                <a:xfrm>
                  <a:off x="6393600" y="4101500"/>
                  <a:ext cx="819600" cy="3297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 dirty="0">
                      <a:latin typeface="Consolas"/>
                      <a:ea typeface="Consolas"/>
                      <a:cs typeface="Consolas"/>
                      <a:sym typeface="Consolas"/>
                    </a:rPr>
                    <a:t>bounds</a:t>
                  </a:r>
                  <a:endParaRPr sz="1200" b="1" dirty="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356" name="Google Shape;356;p23"/>
                <p:cNvSpPr/>
                <p:nvPr/>
              </p:nvSpPr>
              <p:spPr>
                <a:xfrm>
                  <a:off x="6456900" y="4843400"/>
                  <a:ext cx="699600" cy="390300"/>
                </a:xfrm>
                <a:prstGeom prst="flowChartDecision">
                  <a:avLst/>
                </a:prstGeom>
                <a:solidFill>
                  <a:schemeClr val="lt2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>
                      <a:latin typeface="Consolas"/>
                      <a:ea typeface="Consolas"/>
                      <a:cs typeface="Consolas"/>
                      <a:sym typeface="Consolas"/>
                    </a:rPr>
                    <a:t>&lt;</a:t>
                  </a:r>
                  <a:endParaRPr sz="160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357" name="Google Shape;357;p23"/>
                <p:cNvSpPr/>
                <p:nvPr/>
              </p:nvSpPr>
              <p:spPr>
                <a:xfrm>
                  <a:off x="7787325" y="4821548"/>
                  <a:ext cx="415500" cy="431100"/>
                </a:xfrm>
                <a:prstGeom prst="ellipse">
                  <a:avLst/>
                </a:prstGeom>
                <a:solidFill>
                  <a:schemeClr val="lt2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>
                      <a:latin typeface="Consolas"/>
                      <a:ea typeface="Consolas"/>
                      <a:cs typeface="Consolas"/>
                      <a:sym typeface="Consolas"/>
                    </a:rPr>
                    <a:t>+</a:t>
                  </a:r>
                  <a:endParaRPr sz="1000"/>
                </a:p>
              </p:txBody>
            </p:sp>
            <p:cxnSp>
              <p:nvCxnSpPr>
                <p:cNvPr id="358" name="Google Shape;358;p23"/>
                <p:cNvCxnSpPr>
                  <a:stCxn id="338" idx="6"/>
                  <a:endCxn id="356" idx="1"/>
                </p:cNvCxnSpPr>
                <p:nvPr/>
              </p:nvCxnSpPr>
              <p:spPr>
                <a:xfrm rot="10800000" flipH="1">
                  <a:off x="4705323" y="5038651"/>
                  <a:ext cx="1751700" cy="99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359" name="Google Shape;359;p23"/>
                <p:cNvCxnSpPr>
                  <a:stCxn id="355" idx="2"/>
                  <a:endCxn id="356" idx="0"/>
                </p:cNvCxnSpPr>
                <p:nvPr/>
              </p:nvCxnSpPr>
              <p:spPr>
                <a:xfrm>
                  <a:off x="6803400" y="4431200"/>
                  <a:ext cx="3300" cy="4122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360" name="Google Shape;360;p23"/>
                <p:cNvCxnSpPr>
                  <a:stCxn id="354" idx="2"/>
                  <a:endCxn id="357" idx="0"/>
                </p:cNvCxnSpPr>
                <p:nvPr/>
              </p:nvCxnSpPr>
              <p:spPr>
                <a:xfrm>
                  <a:off x="7987875" y="4419450"/>
                  <a:ext cx="7200" cy="4020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361" name="Google Shape;361;p23"/>
                <p:cNvCxnSpPr>
                  <a:stCxn id="356" idx="3"/>
                  <a:endCxn id="357" idx="2"/>
                </p:cNvCxnSpPr>
                <p:nvPr/>
              </p:nvCxnSpPr>
              <p:spPr>
                <a:xfrm rot="10800000" flipH="1">
                  <a:off x="7156500" y="5037050"/>
                  <a:ext cx="630900" cy="1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362" name="Google Shape;362;p23"/>
                <p:cNvCxnSpPr>
                  <a:stCxn id="356" idx="2"/>
                </p:cNvCxnSpPr>
                <p:nvPr/>
              </p:nvCxnSpPr>
              <p:spPr>
                <a:xfrm flipH="1">
                  <a:off x="6804600" y="5233700"/>
                  <a:ext cx="2100" cy="9087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363" name="Google Shape;363;p23"/>
                <p:cNvCxnSpPr>
                  <a:stCxn id="357" idx="6"/>
                  <a:endCxn id="344" idx="1"/>
                </p:cNvCxnSpPr>
                <p:nvPr/>
              </p:nvCxnSpPr>
              <p:spPr>
                <a:xfrm rot="10800000" flipH="1">
                  <a:off x="8202825" y="5023598"/>
                  <a:ext cx="1696200" cy="135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sp>
            <p:nvSpPr>
              <p:cNvPr id="364" name="Google Shape;364;p23"/>
              <p:cNvSpPr txBox="1"/>
              <p:nvPr/>
            </p:nvSpPr>
            <p:spPr>
              <a:xfrm>
                <a:off x="7274000" y="4860100"/>
                <a:ext cx="5247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>
                    <a:latin typeface="Consolas"/>
                    <a:ea typeface="Consolas"/>
                    <a:cs typeface="Consolas"/>
                    <a:sym typeface="Consolas"/>
                  </a:rPr>
                  <a:t>Yes</a:t>
                </a:r>
                <a:endParaRPr sz="12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365" name="Google Shape;365;p23"/>
              <p:cNvSpPr txBox="1"/>
              <p:nvPr/>
            </p:nvSpPr>
            <p:spPr>
              <a:xfrm>
                <a:off x="6983200" y="5366650"/>
                <a:ext cx="5247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>
                    <a:latin typeface="Consolas"/>
                    <a:ea typeface="Consolas"/>
                    <a:cs typeface="Consolas"/>
                    <a:sym typeface="Consolas"/>
                  </a:rPr>
                  <a:t>No</a:t>
                </a:r>
                <a:endParaRPr sz="12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sp>
          <p:nvSpPr>
            <p:cNvPr id="366" name="Google Shape;366;p23"/>
            <p:cNvSpPr txBox="1"/>
            <p:nvPr/>
          </p:nvSpPr>
          <p:spPr>
            <a:xfrm>
              <a:off x="7253825" y="4662850"/>
              <a:ext cx="1342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Protection </a:t>
              </a:r>
              <a:r>
                <a:rPr lang="es-ES" sz="1200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Fault</a:t>
              </a:r>
              <a:endParaRPr sz="12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367" name="Google Shape;367;p23"/>
            <p:cNvCxnSpPr>
              <a:stCxn id="344" idx="3"/>
            </p:cNvCxnSpPr>
            <p:nvPr/>
          </p:nvCxnSpPr>
          <p:spPr>
            <a:xfrm flipH="1">
              <a:off x="4859675" y="4044399"/>
              <a:ext cx="6660300" cy="1791000"/>
            </a:xfrm>
            <a:prstGeom prst="bentConnector3">
              <a:avLst>
                <a:gd name="adj1" fmla="val -3575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8" name="Google Shape;368;p23"/>
            <p:cNvCxnSpPr>
              <a:endCxn id="338" idx="4"/>
            </p:cNvCxnSpPr>
            <p:nvPr/>
          </p:nvCxnSpPr>
          <p:spPr>
            <a:xfrm rot="10800000">
              <a:off x="4854448" y="4430401"/>
              <a:ext cx="4800" cy="1394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69" name="Google Shape;369;p23"/>
            <p:cNvSpPr txBox="1"/>
            <p:nvPr/>
          </p:nvSpPr>
          <p:spPr>
            <a:xfrm>
              <a:off x="10192581" y="1831832"/>
              <a:ext cx="14877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solidFill>
                    <a:srgbClr val="999999"/>
                  </a:solidFill>
                  <a:latin typeface="Consolas"/>
                  <a:ea typeface="Consolas"/>
                  <a:cs typeface="Consolas"/>
                  <a:sym typeface="Consolas"/>
                </a:rPr>
                <a:t>Physical Memory</a:t>
              </a:r>
              <a:endParaRPr sz="2000" b="1" dirty="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48" name="Google Shape;287;p22">
            <a:extLst>
              <a:ext uri="{FF2B5EF4-FFF2-40B4-BE49-F238E27FC236}">
                <a16:creationId xmlns:a16="http://schemas.microsoft.com/office/drawing/2014/main" id="{15698757-B286-4046-9070-37D4AE0EA31E}"/>
              </a:ext>
            </a:extLst>
          </p:cNvPr>
          <p:cNvGrpSpPr/>
          <p:nvPr/>
        </p:nvGrpSpPr>
        <p:grpSpPr>
          <a:xfrm>
            <a:off x="877418" y="2814910"/>
            <a:ext cx="2340362" cy="2606506"/>
            <a:chOff x="8005450" y="1566825"/>
            <a:chExt cx="3308400" cy="3595180"/>
          </a:xfrm>
        </p:grpSpPr>
        <p:sp>
          <p:nvSpPr>
            <p:cNvPr id="49" name="Google Shape;288;p22">
              <a:extLst>
                <a:ext uri="{FF2B5EF4-FFF2-40B4-BE49-F238E27FC236}">
                  <a16:creationId xmlns:a16="http://schemas.microsoft.com/office/drawing/2014/main" id="{029DF10A-F6FF-4A69-8010-C386A285E493}"/>
                </a:ext>
              </a:extLst>
            </p:cNvPr>
            <p:cNvSpPr/>
            <p:nvPr/>
          </p:nvSpPr>
          <p:spPr>
            <a:xfrm>
              <a:off x="8005450" y="1566825"/>
              <a:ext cx="3308400" cy="359518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50" name="Google Shape;289;p22">
              <a:extLst>
                <a:ext uri="{FF2B5EF4-FFF2-40B4-BE49-F238E27FC236}">
                  <a16:creationId xmlns:a16="http://schemas.microsoft.com/office/drawing/2014/main" id="{E1608BED-4DCB-43D1-9E05-3EB55C425EBC}"/>
                </a:ext>
              </a:extLst>
            </p:cNvPr>
            <p:cNvSpPr txBox="1"/>
            <p:nvPr/>
          </p:nvSpPr>
          <p:spPr>
            <a:xfrm>
              <a:off x="8597250" y="1637048"/>
              <a:ext cx="2103000" cy="67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CPU Chip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51" name="Google Shape;290;p22">
              <a:extLst>
                <a:ext uri="{FF2B5EF4-FFF2-40B4-BE49-F238E27FC236}">
                  <a16:creationId xmlns:a16="http://schemas.microsoft.com/office/drawing/2014/main" id="{BED74A59-5928-4C4F-B448-57759202192D}"/>
                </a:ext>
              </a:extLst>
            </p:cNvPr>
            <p:cNvGrpSpPr/>
            <p:nvPr/>
          </p:nvGrpSpPr>
          <p:grpSpPr>
            <a:xfrm>
              <a:off x="8597250" y="2266040"/>
              <a:ext cx="2103000" cy="2488894"/>
              <a:chOff x="8597250" y="2266040"/>
              <a:chExt cx="2103000" cy="2488894"/>
            </a:xfrm>
          </p:grpSpPr>
          <p:sp>
            <p:nvSpPr>
              <p:cNvPr id="52" name="Google Shape;291;p22">
                <a:extLst>
                  <a:ext uri="{FF2B5EF4-FFF2-40B4-BE49-F238E27FC236}">
                    <a16:creationId xmlns:a16="http://schemas.microsoft.com/office/drawing/2014/main" id="{143A4E3E-C625-4EC2-BA42-C57B063A84AB}"/>
                  </a:ext>
                </a:extLst>
              </p:cNvPr>
              <p:cNvSpPr/>
              <p:nvPr/>
            </p:nvSpPr>
            <p:spPr>
              <a:xfrm>
                <a:off x="9154350" y="2266040"/>
                <a:ext cx="988800" cy="9954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 b="1" dirty="0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sz="1500" b="1"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53" name="Google Shape;292;p22">
                <a:extLst>
                  <a:ext uri="{FF2B5EF4-FFF2-40B4-BE49-F238E27FC236}">
                    <a16:creationId xmlns:a16="http://schemas.microsoft.com/office/drawing/2014/main" id="{1D678234-45E6-4F89-B30E-B8565EAE3B72}"/>
                  </a:ext>
                </a:extLst>
              </p:cNvPr>
              <p:cNvCxnSpPr>
                <a:cxnSpLocks/>
                <a:stCxn id="52" idx="4"/>
                <a:endCxn id="55" idx="0"/>
              </p:cNvCxnSpPr>
              <p:nvPr/>
            </p:nvCxnSpPr>
            <p:spPr>
              <a:xfrm>
                <a:off x="9648750" y="3261440"/>
                <a:ext cx="0" cy="456535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54" name="Google Shape;294;p22">
                <a:extLst>
                  <a:ext uri="{FF2B5EF4-FFF2-40B4-BE49-F238E27FC236}">
                    <a16:creationId xmlns:a16="http://schemas.microsoft.com/office/drawing/2014/main" id="{4C6C5DC7-E6E1-45EB-8CD9-5C3DBAAFF2A0}"/>
                  </a:ext>
                </a:extLst>
              </p:cNvPr>
              <p:cNvGrpSpPr/>
              <p:nvPr/>
            </p:nvGrpSpPr>
            <p:grpSpPr>
              <a:xfrm>
                <a:off x="8597250" y="3717975"/>
                <a:ext cx="2103000" cy="1036959"/>
                <a:chOff x="8597250" y="3717975"/>
                <a:chExt cx="2103000" cy="1036959"/>
              </a:xfrm>
            </p:grpSpPr>
            <p:sp>
              <p:nvSpPr>
                <p:cNvPr id="55" name="Google Shape;293;p22">
                  <a:extLst>
                    <a:ext uri="{FF2B5EF4-FFF2-40B4-BE49-F238E27FC236}">
                      <a16:creationId xmlns:a16="http://schemas.microsoft.com/office/drawing/2014/main" id="{E93E9FB1-FE61-460C-98A2-7135AF80BBF0}"/>
                    </a:ext>
                  </a:extLst>
                </p:cNvPr>
                <p:cNvSpPr/>
                <p:nvPr/>
              </p:nvSpPr>
              <p:spPr>
                <a:xfrm>
                  <a:off x="8597250" y="3717975"/>
                  <a:ext cx="2103000" cy="1036959"/>
                </a:xfrm>
                <a:prstGeom prst="rect">
                  <a:avLst/>
                </a:prstGeom>
                <a:solidFill>
                  <a:srgbClr val="B6D7A8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56" name="Google Shape;295;p22">
                  <a:extLst>
                    <a:ext uri="{FF2B5EF4-FFF2-40B4-BE49-F238E27FC236}">
                      <a16:creationId xmlns:a16="http://schemas.microsoft.com/office/drawing/2014/main" id="{4CD5C529-718A-40DA-8C1A-930E55368901}"/>
                    </a:ext>
                  </a:extLst>
                </p:cNvPr>
                <p:cNvSpPr txBox="1"/>
                <p:nvPr/>
              </p:nvSpPr>
              <p:spPr>
                <a:xfrm>
                  <a:off x="9216099" y="3718049"/>
                  <a:ext cx="887099" cy="5518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4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rPr>
                    <a:t>MMU</a:t>
                  </a:r>
                  <a:endParaRPr sz="6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4"/>
          <p:cNvSpPr txBox="1">
            <a:spLocks noGrp="1"/>
          </p:cNvSpPr>
          <p:nvPr>
            <p:ph type="title"/>
          </p:nvPr>
        </p:nvSpPr>
        <p:spPr>
          <a:xfrm>
            <a:off x="241300" y="365125"/>
            <a:ext cx="111125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Repaso </a:t>
            </a:r>
            <a:r>
              <a:rPr lang="es-ES" sz="4400" dirty="0"/>
              <a:t>Traducción de direcciones – Dynamic Relocation (base &amp; bounds)</a:t>
            </a:r>
            <a:endParaRPr dirty="0"/>
          </a:p>
        </p:txBody>
      </p:sp>
      <p:grpSp>
        <p:nvGrpSpPr>
          <p:cNvPr id="376" name="Google Shape;376;p24"/>
          <p:cNvGrpSpPr/>
          <p:nvPr/>
        </p:nvGrpSpPr>
        <p:grpSpPr>
          <a:xfrm>
            <a:off x="5191979" y="1947215"/>
            <a:ext cx="5468492" cy="2566425"/>
            <a:chOff x="4905735" y="3809425"/>
            <a:chExt cx="5468492" cy="2566425"/>
          </a:xfrm>
        </p:grpSpPr>
        <p:sp>
          <p:nvSpPr>
            <p:cNvPr id="377" name="Google Shape;377;p24"/>
            <p:cNvSpPr txBox="1"/>
            <p:nvPr/>
          </p:nvSpPr>
          <p:spPr>
            <a:xfrm>
              <a:off x="4905735" y="4836550"/>
              <a:ext cx="6699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rgbClr val="FF0000"/>
                  </a:solidFill>
                  <a:highlight>
                    <a:schemeClr val="lt1"/>
                  </a:highlight>
                  <a:latin typeface="Consolas"/>
                  <a:ea typeface="Consolas"/>
                  <a:cs typeface="Consolas"/>
                  <a:sym typeface="Consolas"/>
                </a:rPr>
                <a:t>VA</a:t>
              </a:r>
              <a:endParaRPr sz="2000" b="1">
                <a:solidFill>
                  <a:srgbClr val="FF0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78" name="Google Shape;378;p24"/>
            <p:cNvSpPr/>
            <p:nvPr/>
          </p:nvSpPr>
          <p:spPr>
            <a:xfrm>
              <a:off x="7914675" y="3809425"/>
              <a:ext cx="1460100" cy="3750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base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79" name="Google Shape;379;p24"/>
            <p:cNvSpPr/>
            <p:nvPr/>
          </p:nvSpPr>
          <p:spPr>
            <a:xfrm>
              <a:off x="6068975" y="3809425"/>
              <a:ext cx="1460100" cy="3750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latin typeface="Consolas"/>
                  <a:ea typeface="Consolas"/>
                  <a:cs typeface="Consolas"/>
                  <a:sym typeface="Consolas"/>
                </a:rPr>
                <a:t>bounds</a:t>
              </a:r>
              <a:endParaRPr sz="20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80" name="Google Shape;380;p24"/>
            <p:cNvSpPr/>
            <p:nvPr/>
          </p:nvSpPr>
          <p:spPr>
            <a:xfrm>
              <a:off x="6336900" y="4802600"/>
              <a:ext cx="924225" cy="562575"/>
            </a:xfrm>
            <a:prstGeom prst="flowChartDecision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latin typeface="Consolas"/>
                  <a:ea typeface="Consolas"/>
                  <a:cs typeface="Consolas"/>
                  <a:sym typeface="Consolas"/>
                </a:rPr>
                <a:t>&lt;</a:t>
              </a:r>
              <a:endParaRPr sz="20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81" name="Google Shape;381;p24"/>
            <p:cNvSpPr/>
            <p:nvPr/>
          </p:nvSpPr>
          <p:spPr>
            <a:xfrm>
              <a:off x="8396925" y="4821538"/>
              <a:ext cx="495600" cy="524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latin typeface="Consolas"/>
                  <a:ea typeface="Consolas"/>
                  <a:cs typeface="Consolas"/>
                  <a:sym typeface="Consolas"/>
                </a:rPr>
                <a:t>+</a:t>
              </a:r>
              <a:endParaRPr/>
            </a:p>
          </p:txBody>
        </p:sp>
        <p:cxnSp>
          <p:nvCxnSpPr>
            <p:cNvPr id="382" name="Google Shape;382;p24"/>
            <p:cNvCxnSpPr>
              <a:stCxn id="377" idx="3"/>
              <a:endCxn id="380" idx="1"/>
            </p:cNvCxnSpPr>
            <p:nvPr/>
          </p:nvCxnSpPr>
          <p:spPr>
            <a:xfrm>
              <a:off x="5575635" y="5082850"/>
              <a:ext cx="761400" cy="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83" name="Google Shape;383;p24"/>
            <p:cNvCxnSpPr>
              <a:stCxn id="379" idx="2"/>
              <a:endCxn id="380" idx="0"/>
            </p:cNvCxnSpPr>
            <p:nvPr/>
          </p:nvCxnSpPr>
          <p:spPr>
            <a:xfrm>
              <a:off x="6799025" y="4184425"/>
              <a:ext cx="0" cy="618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84" name="Google Shape;384;p24"/>
            <p:cNvCxnSpPr>
              <a:stCxn id="378" idx="2"/>
              <a:endCxn id="381" idx="0"/>
            </p:cNvCxnSpPr>
            <p:nvPr/>
          </p:nvCxnSpPr>
          <p:spPr>
            <a:xfrm>
              <a:off x="8644725" y="4184425"/>
              <a:ext cx="0" cy="637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85" name="Google Shape;385;p24"/>
            <p:cNvCxnSpPr>
              <a:stCxn id="380" idx="3"/>
              <a:endCxn id="381" idx="2"/>
            </p:cNvCxnSpPr>
            <p:nvPr/>
          </p:nvCxnSpPr>
          <p:spPr>
            <a:xfrm>
              <a:off x="7261125" y="5083888"/>
              <a:ext cx="113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86" name="Google Shape;386;p24"/>
            <p:cNvCxnSpPr/>
            <p:nvPr/>
          </p:nvCxnSpPr>
          <p:spPr>
            <a:xfrm>
              <a:off x="6799025" y="5365163"/>
              <a:ext cx="2400" cy="908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87" name="Google Shape;387;p24"/>
            <p:cNvSpPr txBox="1"/>
            <p:nvPr/>
          </p:nvSpPr>
          <p:spPr>
            <a:xfrm>
              <a:off x="6652638" y="5268025"/>
              <a:ext cx="727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chemeClr val="dk1"/>
                  </a:solidFill>
                  <a:highlight>
                    <a:schemeClr val="lt1"/>
                  </a:highlight>
                  <a:latin typeface="Consolas"/>
                  <a:ea typeface="Consolas"/>
                  <a:cs typeface="Consolas"/>
                  <a:sym typeface="Consolas"/>
                </a:rPr>
                <a:t>No</a:t>
              </a:r>
              <a:endParaRPr sz="200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88" name="Google Shape;388;p24"/>
            <p:cNvSpPr txBox="1"/>
            <p:nvPr/>
          </p:nvSpPr>
          <p:spPr>
            <a:xfrm>
              <a:off x="7165313" y="4667500"/>
              <a:ext cx="727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chemeClr val="dk1"/>
                  </a:solidFill>
                  <a:highlight>
                    <a:schemeClr val="lt1"/>
                  </a:highlight>
                  <a:latin typeface="Consolas"/>
                  <a:ea typeface="Consolas"/>
                  <a:cs typeface="Consolas"/>
                  <a:sym typeface="Consolas"/>
                </a:rPr>
                <a:t>Yes</a:t>
              </a:r>
              <a:endParaRPr sz="200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389" name="Google Shape;389;p24"/>
            <p:cNvCxnSpPr/>
            <p:nvPr/>
          </p:nvCxnSpPr>
          <p:spPr>
            <a:xfrm rot="10800000" flipH="1">
              <a:off x="8892525" y="5080888"/>
              <a:ext cx="720300" cy="3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90" name="Google Shape;390;p24"/>
            <p:cNvSpPr txBox="1"/>
            <p:nvPr/>
          </p:nvSpPr>
          <p:spPr>
            <a:xfrm>
              <a:off x="9612827" y="4836100"/>
              <a:ext cx="761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rgbClr val="0B6937"/>
                  </a:solidFill>
                  <a:highlight>
                    <a:schemeClr val="lt1"/>
                  </a:highlight>
                  <a:latin typeface="Consolas"/>
                  <a:ea typeface="Consolas"/>
                  <a:cs typeface="Consolas"/>
                  <a:sym typeface="Consolas"/>
                </a:rPr>
                <a:t>PA</a:t>
              </a:r>
              <a:endParaRPr sz="2000" b="1">
                <a:solidFill>
                  <a:srgbClr val="0B6937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91" name="Google Shape;391;p24"/>
            <p:cNvSpPr txBox="1"/>
            <p:nvPr/>
          </p:nvSpPr>
          <p:spPr>
            <a:xfrm>
              <a:off x="6799025" y="5944750"/>
              <a:ext cx="2013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rgbClr val="FF0000"/>
                  </a:solidFill>
                  <a:highlight>
                    <a:schemeClr val="lt1"/>
                  </a:highlight>
                  <a:latin typeface="Consolas"/>
                  <a:ea typeface="Consolas"/>
                  <a:cs typeface="Consolas"/>
                  <a:sym typeface="Consolas"/>
                </a:rPr>
                <a:t>Protection </a:t>
              </a:r>
              <a:r>
                <a:rPr lang="es-ES" sz="1600" b="1" dirty="0" err="1">
                  <a:solidFill>
                    <a:srgbClr val="FF0000"/>
                  </a:solidFill>
                  <a:highlight>
                    <a:schemeClr val="lt1"/>
                  </a:highlight>
                  <a:latin typeface="Consolas"/>
                  <a:ea typeface="Consolas"/>
                  <a:cs typeface="Consolas"/>
                  <a:sym typeface="Consolas"/>
                </a:rPr>
                <a:t>fault</a:t>
              </a:r>
              <a:endParaRPr sz="1600" b="1" dirty="0">
                <a:solidFill>
                  <a:srgbClr val="FF0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92" name="Google Shape;392;p24"/>
          <p:cNvGrpSpPr/>
          <p:nvPr/>
        </p:nvGrpSpPr>
        <p:grpSpPr>
          <a:xfrm>
            <a:off x="6766469" y="5852975"/>
            <a:ext cx="3132600" cy="637200"/>
            <a:chOff x="6652650" y="1665575"/>
            <a:chExt cx="3132600" cy="637200"/>
          </a:xfrm>
        </p:grpSpPr>
        <p:sp>
          <p:nvSpPr>
            <p:cNvPr id="393" name="Google Shape;393;p24"/>
            <p:cNvSpPr/>
            <p:nvPr/>
          </p:nvSpPr>
          <p:spPr>
            <a:xfrm>
              <a:off x="6652650" y="1665575"/>
              <a:ext cx="3132600" cy="6372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4"/>
            <p:cNvSpPr txBox="1"/>
            <p:nvPr/>
          </p:nvSpPr>
          <p:spPr>
            <a:xfrm>
              <a:off x="6935575" y="1707125"/>
              <a:ext cx="26856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 dirty="0">
                  <a:latin typeface="Consolas"/>
                  <a:ea typeface="Consolas"/>
                  <a:cs typeface="Consolas"/>
                  <a:sym typeface="Consolas"/>
                </a:rPr>
                <a:t>PA = VA + base</a:t>
              </a:r>
              <a:endParaRPr sz="2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95" name="Google Shape;395;p24"/>
          <p:cNvGrpSpPr/>
          <p:nvPr/>
        </p:nvGrpSpPr>
        <p:grpSpPr>
          <a:xfrm>
            <a:off x="6766469" y="4907438"/>
            <a:ext cx="3132600" cy="637200"/>
            <a:chOff x="6652650" y="2614950"/>
            <a:chExt cx="3132600" cy="637200"/>
          </a:xfrm>
        </p:grpSpPr>
        <p:sp>
          <p:nvSpPr>
            <p:cNvPr id="396" name="Google Shape;396;p24"/>
            <p:cNvSpPr/>
            <p:nvPr/>
          </p:nvSpPr>
          <p:spPr>
            <a:xfrm>
              <a:off x="6652650" y="2614950"/>
              <a:ext cx="3132600" cy="6372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4"/>
            <p:cNvSpPr txBox="1"/>
            <p:nvPr/>
          </p:nvSpPr>
          <p:spPr>
            <a:xfrm>
              <a:off x="6712050" y="2663775"/>
              <a:ext cx="3013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 dirty="0">
                  <a:latin typeface="Consolas"/>
                  <a:ea typeface="Consolas"/>
                  <a:cs typeface="Consolas"/>
                  <a:sym typeface="Consolas"/>
                </a:rPr>
                <a:t>0 &lt;= VA &lt; bounds</a:t>
              </a:r>
              <a:endParaRPr sz="2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98" name="Google Shape;398;p24"/>
          <p:cNvGrpSpPr/>
          <p:nvPr/>
        </p:nvGrpSpPr>
        <p:grpSpPr>
          <a:xfrm>
            <a:off x="1602686" y="2280232"/>
            <a:ext cx="2340362" cy="3023498"/>
            <a:chOff x="8005450" y="1566825"/>
            <a:chExt cx="3308400" cy="4491900"/>
          </a:xfrm>
        </p:grpSpPr>
        <p:sp>
          <p:nvSpPr>
            <p:cNvPr id="399" name="Google Shape;399;p24"/>
            <p:cNvSpPr/>
            <p:nvPr/>
          </p:nvSpPr>
          <p:spPr>
            <a:xfrm>
              <a:off x="8005450" y="1566825"/>
              <a:ext cx="3308400" cy="44919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00" name="Google Shape;400;p24"/>
            <p:cNvSpPr txBox="1"/>
            <p:nvPr/>
          </p:nvSpPr>
          <p:spPr>
            <a:xfrm>
              <a:off x="8597250" y="1637048"/>
              <a:ext cx="2103000" cy="73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latin typeface="Consolas"/>
                  <a:ea typeface="Consolas"/>
                  <a:cs typeface="Consolas"/>
                  <a:sym typeface="Consolas"/>
                </a:rPr>
                <a:t>Chip CPU</a:t>
              </a:r>
              <a:endParaRPr sz="20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401" name="Google Shape;401;p24"/>
            <p:cNvGrpSpPr/>
            <p:nvPr/>
          </p:nvGrpSpPr>
          <p:grpSpPr>
            <a:xfrm>
              <a:off x="8483375" y="2492456"/>
              <a:ext cx="2216875" cy="3163135"/>
              <a:chOff x="8483375" y="2492456"/>
              <a:chExt cx="2216875" cy="3163135"/>
            </a:xfrm>
          </p:grpSpPr>
          <p:sp>
            <p:nvSpPr>
              <p:cNvPr id="402" name="Google Shape;402;p24"/>
              <p:cNvSpPr/>
              <p:nvPr/>
            </p:nvSpPr>
            <p:spPr>
              <a:xfrm>
                <a:off x="9154351" y="2492456"/>
                <a:ext cx="988800" cy="9954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 b="1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sz="14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403" name="Google Shape;403;p24"/>
              <p:cNvCxnSpPr>
                <a:stCxn id="402" idx="4"/>
                <a:endCxn id="404" idx="0"/>
              </p:cNvCxnSpPr>
              <p:nvPr/>
            </p:nvCxnSpPr>
            <p:spPr>
              <a:xfrm>
                <a:off x="9648750" y="3487857"/>
                <a:ext cx="0" cy="456599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405" name="Google Shape;405;p24"/>
              <p:cNvGrpSpPr/>
              <p:nvPr/>
            </p:nvGrpSpPr>
            <p:grpSpPr>
              <a:xfrm>
                <a:off x="8483375" y="3944391"/>
                <a:ext cx="2216875" cy="1711200"/>
                <a:chOff x="8483375" y="3944391"/>
                <a:chExt cx="2216875" cy="1711200"/>
              </a:xfrm>
            </p:grpSpPr>
            <p:grpSp>
              <p:nvGrpSpPr>
                <p:cNvPr id="406" name="Google Shape;406;p24"/>
                <p:cNvGrpSpPr/>
                <p:nvPr/>
              </p:nvGrpSpPr>
              <p:grpSpPr>
                <a:xfrm>
                  <a:off x="8597250" y="3944391"/>
                  <a:ext cx="2103000" cy="1711200"/>
                  <a:chOff x="8597250" y="3944391"/>
                  <a:chExt cx="2103000" cy="1711200"/>
                </a:xfrm>
              </p:grpSpPr>
              <p:sp>
                <p:nvSpPr>
                  <p:cNvPr id="404" name="Google Shape;404;p24"/>
                  <p:cNvSpPr/>
                  <p:nvPr/>
                </p:nvSpPr>
                <p:spPr>
                  <a:xfrm>
                    <a:off x="8597250" y="3944391"/>
                    <a:ext cx="2103000" cy="1711200"/>
                  </a:xfrm>
                  <a:prstGeom prst="rect">
                    <a:avLst/>
                  </a:prstGeom>
                  <a:solidFill>
                    <a:srgbClr val="B6D7A8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b="1"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sp>
                <p:nvSpPr>
                  <p:cNvPr id="407" name="Google Shape;407;p24"/>
                  <p:cNvSpPr txBox="1"/>
                  <p:nvPr/>
                </p:nvSpPr>
                <p:spPr>
                  <a:xfrm>
                    <a:off x="9216099" y="3944462"/>
                    <a:ext cx="887099" cy="59438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4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MMU</a:t>
                    </a:r>
                    <a:endParaRPr sz="6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  <p:grpSp>
              <p:nvGrpSpPr>
                <p:cNvPr id="408" name="Google Shape;408;p24"/>
                <p:cNvGrpSpPr/>
                <p:nvPr/>
              </p:nvGrpSpPr>
              <p:grpSpPr>
                <a:xfrm>
                  <a:off x="8638450" y="4491965"/>
                  <a:ext cx="1901250" cy="548700"/>
                  <a:chOff x="8638450" y="4491965"/>
                  <a:chExt cx="1901250" cy="548700"/>
                </a:xfrm>
              </p:grpSpPr>
              <p:sp>
                <p:nvSpPr>
                  <p:cNvPr id="409" name="Google Shape;409;p24"/>
                  <p:cNvSpPr/>
                  <p:nvPr/>
                </p:nvSpPr>
                <p:spPr>
                  <a:xfrm>
                    <a:off x="9550900" y="4570717"/>
                    <a:ext cx="988800" cy="308100"/>
                  </a:xfrm>
                  <a:prstGeom prst="rect">
                    <a:avLst/>
                  </a:prstGeom>
                  <a:solidFill>
                    <a:schemeClr val="lt2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0" name="Google Shape;410;p24"/>
                  <p:cNvSpPr txBox="1"/>
                  <p:nvPr/>
                </p:nvSpPr>
                <p:spPr>
                  <a:xfrm>
                    <a:off x="8638450" y="4491965"/>
                    <a:ext cx="887099" cy="54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base</a:t>
                    </a:r>
                    <a:endParaRPr sz="6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  <p:grpSp>
              <p:nvGrpSpPr>
                <p:cNvPr id="411" name="Google Shape;411;p24"/>
                <p:cNvGrpSpPr/>
                <p:nvPr/>
              </p:nvGrpSpPr>
              <p:grpSpPr>
                <a:xfrm>
                  <a:off x="8483375" y="5008578"/>
                  <a:ext cx="2056325" cy="548700"/>
                  <a:chOff x="8483375" y="5008578"/>
                  <a:chExt cx="2056325" cy="548700"/>
                </a:xfrm>
              </p:grpSpPr>
              <p:sp>
                <p:nvSpPr>
                  <p:cNvPr id="412" name="Google Shape;412;p24"/>
                  <p:cNvSpPr/>
                  <p:nvPr/>
                </p:nvSpPr>
                <p:spPr>
                  <a:xfrm>
                    <a:off x="9550900" y="5084766"/>
                    <a:ext cx="988800" cy="308100"/>
                  </a:xfrm>
                  <a:prstGeom prst="rect">
                    <a:avLst/>
                  </a:prstGeom>
                  <a:solidFill>
                    <a:schemeClr val="lt2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3" name="Google Shape;413;p24"/>
                  <p:cNvSpPr txBox="1"/>
                  <p:nvPr/>
                </p:nvSpPr>
                <p:spPr>
                  <a:xfrm>
                    <a:off x="8483375" y="5008578"/>
                    <a:ext cx="1092900" cy="54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bounds</a:t>
                    </a:r>
                    <a:endParaRPr sz="6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</p:grpSp>
        </p:grpSp>
      </p:grpSp>
      <p:sp>
        <p:nvSpPr>
          <p:cNvPr id="44" name="Elipse 43">
            <a:extLst>
              <a:ext uri="{FF2B5EF4-FFF2-40B4-BE49-F238E27FC236}">
                <a16:creationId xmlns:a16="http://schemas.microsoft.com/office/drawing/2014/main" id="{CA4B1C15-8D5E-4044-90A6-3D3F74FD95AB}"/>
              </a:ext>
            </a:extLst>
          </p:cNvPr>
          <p:cNvSpPr/>
          <p:nvPr/>
        </p:nvSpPr>
        <p:spPr>
          <a:xfrm>
            <a:off x="5800525" y="5000918"/>
            <a:ext cx="484738" cy="4616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/>
              <a:t>1</a:t>
            </a:r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id="{07F2CA96-2033-4F68-B0B8-F0A2C680D810}"/>
              </a:ext>
            </a:extLst>
          </p:cNvPr>
          <p:cNvSpPr/>
          <p:nvPr/>
        </p:nvSpPr>
        <p:spPr>
          <a:xfrm>
            <a:off x="5800525" y="5973480"/>
            <a:ext cx="484738" cy="4616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/>
              <a:t>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5"/>
          <p:cNvSpPr txBox="1">
            <a:spLocks noGrp="1"/>
          </p:cNvSpPr>
          <p:nvPr>
            <p:ph type="title"/>
          </p:nvPr>
        </p:nvSpPr>
        <p:spPr>
          <a:xfrm>
            <a:off x="339213" y="218502"/>
            <a:ext cx="11033612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Repaso </a:t>
            </a:r>
            <a:r>
              <a:rPr lang="es-ES" sz="4400" dirty="0"/>
              <a:t>Traducción de direcciones – Dynamic Relocation (base &amp; bounds)</a:t>
            </a:r>
            <a:endParaRPr dirty="0"/>
          </a:p>
        </p:txBody>
      </p:sp>
      <p:graphicFrame>
        <p:nvGraphicFramePr>
          <p:cNvPr id="420" name="Google Shape;420;p25"/>
          <p:cNvGraphicFramePr/>
          <p:nvPr/>
        </p:nvGraphicFramePr>
        <p:xfrm>
          <a:off x="916650" y="3594163"/>
          <a:ext cx="3544900" cy="2834525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172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Virtual Address (VA)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Physical Address (PA)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16KB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 KB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17KB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3300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19684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4400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Dirección fuera de rango</a:t>
                      </a:r>
                      <a:endParaRPr sz="16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21" name="Google Shape;421;p25"/>
          <p:cNvSpPr txBox="1"/>
          <p:nvPr/>
        </p:nvSpPr>
        <p:spPr>
          <a:xfrm>
            <a:off x="831650" y="1526787"/>
            <a:ext cx="32901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accent2"/>
                </a:solidFill>
              </a:rPr>
              <a:t>Ejemplo traducción</a:t>
            </a:r>
            <a:r>
              <a:rPr lang="es-ES" sz="2200" dirty="0">
                <a:solidFill>
                  <a:schemeClr val="accent2"/>
                </a:solidFill>
              </a:rPr>
              <a:t>:</a:t>
            </a:r>
            <a:endParaRPr sz="2200" dirty="0">
              <a:solidFill>
                <a:schemeClr val="accent2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2000" b="1" dirty="0">
                <a:latin typeface="Consolas"/>
                <a:ea typeface="Consolas"/>
                <a:cs typeface="Consolas"/>
                <a:sym typeface="Consolas"/>
              </a:rPr>
              <a:t>Size(AS) = 4KB</a:t>
            </a:r>
            <a:endParaRPr sz="2000" b="1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Size(PM) = 64KB</a:t>
            </a:r>
            <a:endParaRPr sz="2000" b="1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2000" b="1" dirty="0">
                <a:latin typeface="Consolas"/>
                <a:ea typeface="Consolas"/>
                <a:cs typeface="Consolas"/>
                <a:sym typeface="Consolas"/>
              </a:rPr>
              <a:t>base = 16 K</a:t>
            </a:r>
            <a:endParaRPr sz="2000" b="1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2000" b="1" dirty="0">
                <a:latin typeface="Consolas"/>
                <a:ea typeface="Consolas"/>
                <a:cs typeface="Consolas"/>
                <a:sym typeface="Consolas"/>
              </a:rPr>
              <a:t>bounds = 4K</a:t>
            </a:r>
            <a:endParaRPr sz="20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422" name="Google Shape;422;p25"/>
          <p:cNvGrpSpPr/>
          <p:nvPr/>
        </p:nvGrpSpPr>
        <p:grpSpPr>
          <a:xfrm>
            <a:off x="6550137" y="2655163"/>
            <a:ext cx="936207" cy="2406005"/>
            <a:chOff x="1775100" y="4022850"/>
            <a:chExt cx="1076100" cy="1739700"/>
          </a:xfrm>
        </p:grpSpPr>
        <p:sp>
          <p:nvSpPr>
            <p:cNvPr id="423" name="Google Shape;423;p25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24" name="Google Shape;424;p25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425" name="Google Shape;425;p25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16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426" name="Google Shape;426;p25"/>
              <p:cNvSpPr/>
              <p:nvPr/>
            </p:nvSpPr>
            <p:spPr>
              <a:xfrm>
                <a:off x="7948250" y="3097536"/>
                <a:ext cx="1076100" cy="2844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sz="1600" dirty="0"/>
              </a:p>
            </p:txBody>
          </p:sp>
          <p:sp>
            <p:nvSpPr>
              <p:cNvPr id="427" name="Google Shape;427;p25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sz="1600" dirty="0"/>
              </a:p>
            </p:txBody>
          </p:sp>
          <p:cxnSp>
            <p:nvCxnSpPr>
              <p:cNvPr id="428" name="Google Shape;428;p25"/>
              <p:cNvCxnSpPr>
                <a:stCxn id="426" idx="2"/>
              </p:cNvCxnSpPr>
              <p:nvPr/>
            </p:nvCxnSpPr>
            <p:spPr>
              <a:xfrm>
                <a:off x="8486300" y="3381936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29" name="Google Shape;429;p25"/>
              <p:cNvCxnSpPr>
                <a:stCxn id="427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cxnSp>
        <p:nvCxnSpPr>
          <p:cNvPr id="430" name="Google Shape;430;p25"/>
          <p:cNvCxnSpPr/>
          <p:nvPr/>
        </p:nvCxnSpPr>
        <p:spPr>
          <a:xfrm rot="10800000" flipH="1">
            <a:off x="7502725" y="2620975"/>
            <a:ext cx="1911300" cy="342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31" name="Google Shape;431;p25"/>
          <p:cNvCxnSpPr/>
          <p:nvPr/>
        </p:nvCxnSpPr>
        <p:spPr>
          <a:xfrm rot="10800000" flipH="1">
            <a:off x="7545625" y="5040875"/>
            <a:ext cx="1839600" cy="3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32" name="Google Shape;432;p25"/>
          <p:cNvSpPr/>
          <p:nvPr/>
        </p:nvSpPr>
        <p:spPr>
          <a:xfrm>
            <a:off x="9438675" y="1464475"/>
            <a:ext cx="933000" cy="4446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3" name="Google Shape;433;p25"/>
          <p:cNvCxnSpPr/>
          <p:nvPr/>
        </p:nvCxnSpPr>
        <p:spPr>
          <a:xfrm>
            <a:off x="6185538" y="2655175"/>
            <a:ext cx="341700" cy="0"/>
          </a:xfrm>
          <a:prstGeom prst="straightConnector1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4" name="Google Shape;434;p25"/>
          <p:cNvCxnSpPr/>
          <p:nvPr/>
        </p:nvCxnSpPr>
        <p:spPr>
          <a:xfrm>
            <a:off x="6185550" y="3045375"/>
            <a:ext cx="3417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5" name="Google Shape;435;p25"/>
          <p:cNvCxnSpPr/>
          <p:nvPr/>
        </p:nvCxnSpPr>
        <p:spPr>
          <a:xfrm>
            <a:off x="6185550" y="4386500"/>
            <a:ext cx="341700" cy="0"/>
          </a:xfrm>
          <a:prstGeom prst="straightConnector1">
            <a:avLst/>
          </a:prstGeom>
          <a:noFill/>
          <a:ln w="9525" cap="flat" cmpd="sng">
            <a:solidFill>
              <a:srgbClr val="88888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6" name="Google Shape;436;p25"/>
          <p:cNvCxnSpPr/>
          <p:nvPr/>
        </p:nvCxnSpPr>
        <p:spPr>
          <a:xfrm>
            <a:off x="6061050" y="5478425"/>
            <a:ext cx="3417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7" name="Google Shape;437;p25"/>
          <p:cNvCxnSpPr/>
          <p:nvPr/>
        </p:nvCxnSpPr>
        <p:spPr>
          <a:xfrm>
            <a:off x="9068325" y="3004525"/>
            <a:ext cx="3417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8" name="Google Shape;438;p25"/>
          <p:cNvCxnSpPr/>
          <p:nvPr/>
        </p:nvCxnSpPr>
        <p:spPr>
          <a:xfrm>
            <a:off x="9004575" y="4386500"/>
            <a:ext cx="341700" cy="0"/>
          </a:xfrm>
          <a:prstGeom prst="straightConnector1">
            <a:avLst/>
          </a:prstGeom>
          <a:noFill/>
          <a:ln w="9525" cap="flat" cmpd="sng">
            <a:solidFill>
              <a:srgbClr val="888888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9" name="Google Shape;439;p25"/>
          <p:cNvSpPr txBox="1"/>
          <p:nvPr/>
        </p:nvSpPr>
        <p:spPr>
          <a:xfrm>
            <a:off x="5783575" y="2485825"/>
            <a:ext cx="466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0 KB</a:t>
            </a:r>
            <a:endParaRPr sz="1000" b="1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440" name="Google Shape;440;p25"/>
          <p:cNvGrpSpPr/>
          <p:nvPr/>
        </p:nvGrpSpPr>
        <p:grpSpPr>
          <a:xfrm>
            <a:off x="9437074" y="2613363"/>
            <a:ext cx="938870" cy="2406005"/>
            <a:chOff x="1772040" y="4022850"/>
            <a:chExt cx="1079160" cy="1739700"/>
          </a:xfrm>
        </p:grpSpPr>
        <p:sp>
          <p:nvSpPr>
            <p:cNvPr id="441" name="Google Shape;441;p25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2" name="Google Shape;442;p25"/>
            <p:cNvGrpSpPr/>
            <p:nvPr/>
          </p:nvGrpSpPr>
          <p:grpSpPr>
            <a:xfrm>
              <a:off x="1772040" y="4022850"/>
              <a:ext cx="1079160" cy="1739675"/>
              <a:chOff x="7945190" y="2813125"/>
              <a:chExt cx="1079160" cy="1739675"/>
            </a:xfrm>
          </p:grpSpPr>
          <p:sp>
            <p:nvSpPr>
              <p:cNvPr id="443" name="Google Shape;443;p25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16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444" name="Google Shape;444;p25"/>
              <p:cNvSpPr/>
              <p:nvPr/>
            </p:nvSpPr>
            <p:spPr>
              <a:xfrm>
                <a:off x="7945190" y="3097536"/>
                <a:ext cx="1076100" cy="2844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sz="1600" dirty="0"/>
              </a:p>
            </p:txBody>
          </p:sp>
          <p:sp>
            <p:nvSpPr>
              <p:cNvPr id="445" name="Google Shape;445;p25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sz="1600" dirty="0"/>
              </a:p>
            </p:txBody>
          </p:sp>
          <p:cxnSp>
            <p:nvCxnSpPr>
              <p:cNvPr id="446" name="Google Shape;446;p25"/>
              <p:cNvCxnSpPr>
                <a:stCxn id="444" idx="2"/>
              </p:cNvCxnSpPr>
              <p:nvPr/>
            </p:nvCxnSpPr>
            <p:spPr>
              <a:xfrm>
                <a:off x="8483240" y="3381936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47" name="Google Shape;447;p25"/>
              <p:cNvCxnSpPr>
                <a:stCxn id="445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sp>
        <p:nvSpPr>
          <p:cNvPr id="448" name="Google Shape;448;p25"/>
          <p:cNvSpPr txBox="1"/>
          <p:nvPr/>
        </p:nvSpPr>
        <p:spPr>
          <a:xfrm>
            <a:off x="8476500" y="2444025"/>
            <a:ext cx="563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16 KB</a:t>
            </a:r>
            <a:endParaRPr sz="1000" b="1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9" name="Google Shape;449;p25"/>
          <p:cNvSpPr txBox="1"/>
          <p:nvPr/>
        </p:nvSpPr>
        <p:spPr>
          <a:xfrm>
            <a:off x="5783575" y="2884000"/>
            <a:ext cx="466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1 KB</a:t>
            </a:r>
            <a:endParaRPr sz="1000" b="1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0" name="Google Shape;450;p25"/>
          <p:cNvSpPr txBox="1"/>
          <p:nvPr/>
        </p:nvSpPr>
        <p:spPr>
          <a:xfrm>
            <a:off x="8505225" y="2835175"/>
            <a:ext cx="563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17 KB</a:t>
            </a:r>
            <a:endParaRPr sz="1000" b="1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1" name="Google Shape;451;p25"/>
          <p:cNvSpPr txBox="1"/>
          <p:nvPr/>
        </p:nvSpPr>
        <p:spPr>
          <a:xfrm>
            <a:off x="5723700" y="4217138"/>
            <a:ext cx="466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>
                <a:solidFill>
                  <a:srgbClr val="888888"/>
                </a:solidFill>
                <a:latin typeface="Consolas"/>
                <a:ea typeface="Consolas"/>
                <a:cs typeface="Consolas"/>
                <a:sym typeface="Consolas"/>
              </a:rPr>
              <a:t>3300</a:t>
            </a:r>
            <a:endParaRPr sz="1000" b="1">
              <a:solidFill>
                <a:srgbClr val="888888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2" name="Google Shape;452;p25"/>
          <p:cNvSpPr txBox="1"/>
          <p:nvPr/>
        </p:nvSpPr>
        <p:spPr>
          <a:xfrm>
            <a:off x="8428350" y="4217150"/>
            <a:ext cx="563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>
                <a:solidFill>
                  <a:srgbClr val="888888"/>
                </a:solidFill>
                <a:latin typeface="Consolas"/>
                <a:ea typeface="Consolas"/>
                <a:cs typeface="Consolas"/>
                <a:sym typeface="Consolas"/>
              </a:rPr>
              <a:t>19684</a:t>
            </a:r>
            <a:endParaRPr sz="1000" b="1">
              <a:solidFill>
                <a:srgbClr val="888888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3" name="Google Shape;453;p25"/>
          <p:cNvSpPr txBox="1"/>
          <p:nvPr/>
        </p:nvSpPr>
        <p:spPr>
          <a:xfrm>
            <a:off x="5594250" y="5309075"/>
            <a:ext cx="466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4400</a:t>
            </a:r>
            <a:endParaRPr sz="10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54" name="Google Shape;454;p25"/>
          <p:cNvCxnSpPr/>
          <p:nvPr/>
        </p:nvCxnSpPr>
        <p:spPr>
          <a:xfrm>
            <a:off x="6185550" y="5061175"/>
            <a:ext cx="341700" cy="0"/>
          </a:xfrm>
          <a:prstGeom prst="straightConnector1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55" name="Google Shape;455;p25"/>
          <p:cNvSpPr/>
          <p:nvPr/>
        </p:nvSpPr>
        <p:spPr>
          <a:xfrm>
            <a:off x="5575325" y="4967425"/>
            <a:ext cx="539700" cy="187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latin typeface="Consolas"/>
                <a:ea typeface="Consolas"/>
                <a:cs typeface="Consolas"/>
                <a:sym typeface="Consolas"/>
              </a:rPr>
              <a:t>4 KB</a:t>
            </a:r>
            <a:endParaRPr sz="12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6" name="Google Shape;456;p25"/>
          <p:cNvSpPr/>
          <p:nvPr/>
        </p:nvSpPr>
        <p:spPr>
          <a:xfrm>
            <a:off x="5504825" y="4754050"/>
            <a:ext cx="703200" cy="187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latin typeface="Consolas"/>
                <a:ea typeface="Consolas"/>
                <a:cs typeface="Consolas"/>
                <a:sym typeface="Consolas"/>
              </a:rPr>
              <a:t>bounds</a:t>
            </a:r>
            <a:endParaRPr sz="12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7" name="Google Shape;457;p25"/>
          <p:cNvSpPr/>
          <p:nvPr/>
        </p:nvSpPr>
        <p:spPr>
          <a:xfrm>
            <a:off x="10773325" y="4917675"/>
            <a:ext cx="661200" cy="187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latin typeface="Consolas"/>
                <a:ea typeface="Consolas"/>
                <a:cs typeface="Consolas"/>
                <a:sym typeface="Consolas"/>
              </a:rPr>
              <a:t>20 KB</a:t>
            </a:r>
            <a:endParaRPr sz="12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8" name="Google Shape;458;p25"/>
          <p:cNvSpPr/>
          <p:nvPr/>
        </p:nvSpPr>
        <p:spPr>
          <a:xfrm>
            <a:off x="10815500" y="2519625"/>
            <a:ext cx="661200" cy="187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latin typeface="Consolas"/>
                <a:ea typeface="Consolas"/>
                <a:cs typeface="Consolas"/>
                <a:sym typeface="Consolas"/>
              </a:rPr>
              <a:t>16 KB</a:t>
            </a:r>
            <a:endParaRPr sz="12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9" name="Google Shape;459;p25"/>
          <p:cNvSpPr/>
          <p:nvPr/>
        </p:nvSpPr>
        <p:spPr>
          <a:xfrm>
            <a:off x="10794500" y="2298325"/>
            <a:ext cx="703200" cy="187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latin typeface="Consolas"/>
                <a:ea typeface="Consolas"/>
                <a:cs typeface="Consolas"/>
                <a:sym typeface="Consolas"/>
              </a:rPr>
              <a:t>base</a:t>
            </a:r>
            <a:endParaRPr sz="12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0" name="Google Shape;460;p25"/>
          <p:cNvSpPr/>
          <p:nvPr/>
        </p:nvSpPr>
        <p:spPr>
          <a:xfrm>
            <a:off x="10604000" y="4687625"/>
            <a:ext cx="1339500" cy="187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latin typeface="Consolas"/>
                <a:ea typeface="Consolas"/>
                <a:cs typeface="Consolas"/>
                <a:sym typeface="Consolas"/>
              </a:rPr>
              <a:t>base + bounds</a:t>
            </a:r>
            <a:endParaRPr sz="12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61" name="Google Shape;461;p25"/>
          <p:cNvCxnSpPr/>
          <p:nvPr/>
        </p:nvCxnSpPr>
        <p:spPr>
          <a:xfrm>
            <a:off x="10422738" y="2613375"/>
            <a:ext cx="341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462" name="Google Shape;462;p25"/>
          <p:cNvCxnSpPr/>
          <p:nvPr/>
        </p:nvCxnSpPr>
        <p:spPr>
          <a:xfrm>
            <a:off x="10401638" y="5011425"/>
            <a:ext cx="341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pic>
        <p:nvPicPr>
          <p:cNvPr id="463" name="Google Shape;46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6500" y="5306900"/>
            <a:ext cx="364950" cy="343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4" name="Google Shape;464;p25"/>
          <p:cNvCxnSpPr/>
          <p:nvPr/>
        </p:nvCxnSpPr>
        <p:spPr>
          <a:xfrm>
            <a:off x="9068813" y="2613375"/>
            <a:ext cx="341700" cy="0"/>
          </a:xfrm>
          <a:prstGeom prst="straightConnector1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Fragmentación interna</a:t>
            </a:r>
            <a:endParaRPr dirty="0"/>
          </a:p>
        </p:txBody>
      </p:sp>
      <p:grpSp>
        <p:nvGrpSpPr>
          <p:cNvPr id="471" name="Google Shape;471;p26"/>
          <p:cNvGrpSpPr/>
          <p:nvPr/>
        </p:nvGrpSpPr>
        <p:grpSpPr>
          <a:xfrm>
            <a:off x="2454425" y="2590225"/>
            <a:ext cx="1483878" cy="1910850"/>
            <a:chOff x="3795725" y="2805225"/>
            <a:chExt cx="1483878" cy="1910850"/>
          </a:xfrm>
        </p:grpSpPr>
        <p:sp>
          <p:nvSpPr>
            <p:cNvPr id="472" name="Google Shape;472;p26"/>
            <p:cNvSpPr/>
            <p:nvPr/>
          </p:nvSpPr>
          <p:spPr>
            <a:xfrm>
              <a:off x="3795725" y="2805225"/>
              <a:ext cx="1483800" cy="1910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3" name="Google Shape;473;p26"/>
            <p:cNvGrpSpPr/>
            <p:nvPr/>
          </p:nvGrpSpPr>
          <p:grpSpPr>
            <a:xfrm>
              <a:off x="3795769" y="2805390"/>
              <a:ext cx="1483834" cy="1910685"/>
              <a:chOff x="7948250" y="2813125"/>
              <a:chExt cx="1076100" cy="1739675"/>
            </a:xfrm>
          </p:grpSpPr>
          <p:sp>
            <p:nvSpPr>
              <p:cNvPr id="474" name="Google Shape;474;p26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16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475" name="Google Shape;475;p26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urier New"/>
                    <a:ea typeface="Courier New"/>
                    <a:cs typeface="Courier New"/>
                    <a:sym typeface="Courier New"/>
                  </a:rPr>
                  <a:t>Data</a:t>
                </a:r>
                <a:endParaRPr sz="2200"/>
              </a:p>
            </p:txBody>
          </p:sp>
          <p:sp>
            <p:nvSpPr>
              <p:cNvPr id="476" name="Google Shape;476;p26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sz="2200" dirty="0"/>
              </a:p>
            </p:txBody>
          </p:sp>
          <p:sp>
            <p:nvSpPr>
              <p:cNvPr id="477" name="Google Shape;477;p26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sz="2200" dirty="0"/>
              </a:p>
            </p:txBody>
          </p:sp>
          <p:cxnSp>
            <p:nvCxnSpPr>
              <p:cNvPr id="478" name="Google Shape;478;p26"/>
              <p:cNvCxnSpPr>
                <a:stCxn id="476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79" name="Google Shape;479;p26"/>
              <p:cNvCxnSpPr>
                <a:stCxn id="477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cxnSp>
        <p:nvCxnSpPr>
          <p:cNvPr id="480" name="Google Shape;480;p26"/>
          <p:cNvCxnSpPr/>
          <p:nvPr/>
        </p:nvCxnSpPr>
        <p:spPr>
          <a:xfrm rot="10800000" flipH="1">
            <a:off x="3961625" y="4517525"/>
            <a:ext cx="2950800" cy="117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81" name="Google Shape;481;p26"/>
          <p:cNvSpPr/>
          <p:nvPr/>
        </p:nvSpPr>
        <p:spPr>
          <a:xfrm>
            <a:off x="8545278" y="3577450"/>
            <a:ext cx="80700" cy="637200"/>
          </a:xfrm>
          <a:prstGeom prst="rightBrace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82" name="Google Shape;482;p26"/>
          <p:cNvCxnSpPr/>
          <p:nvPr/>
        </p:nvCxnSpPr>
        <p:spPr>
          <a:xfrm>
            <a:off x="3973275" y="2569800"/>
            <a:ext cx="2950800" cy="351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83" name="Google Shape;483;p26"/>
          <p:cNvSpPr txBox="1"/>
          <p:nvPr/>
        </p:nvSpPr>
        <p:spPr>
          <a:xfrm>
            <a:off x="8709788" y="3557488"/>
            <a:ext cx="18309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Fragmentación interna</a:t>
            </a:r>
            <a:endParaRPr sz="10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484" name="Google Shape;484;p26"/>
          <p:cNvGrpSpPr/>
          <p:nvPr/>
        </p:nvGrpSpPr>
        <p:grpSpPr>
          <a:xfrm>
            <a:off x="6977575" y="1973500"/>
            <a:ext cx="1483878" cy="3144300"/>
            <a:chOff x="6441100" y="2038100"/>
            <a:chExt cx="1483878" cy="3144300"/>
          </a:xfrm>
        </p:grpSpPr>
        <p:sp>
          <p:nvSpPr>
            <p:cNvPr id="485" name="Google Shape;485;p26"/>
            <p:cNvSpPr/>
            <p:nvPr/>
          </p:nvSpPr>
          <p:spPr>
            <a:xfrm>
              <a:off x="6441100" y="2038100"/>
              <a:ext cx="1483800" cy="31443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86" name="Google Shape;486;p26"/>
            <p:cNvGrpSpPr/>
            <p:nvPr/>
          </p:nvGrpSpPr>
          <p:grpSpPr>
            <a:xfrm>
              <a:off x="6441144" y="2674915"/>
              <a:ext cx="1483834" cy="1910685"/>
              <a:chOff x="7948250" y="2813125"/>
              <a:chExt cx="1076100" cy="1739675"/>
            </a:xfrm>
          </p:grpSpPr>
          <p:sp>
            <p:nvSpPr>
              <p:cNvPr id="487" name="Google Shape;487;p26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16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488" name="Google Shape;488;p26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urier New"/>
                    <a:ea typeface="Courier New"/>
                    <a:cs typeface="Courier New"/>
                    <a:sym typeface="Courier New"/>
                  </a:rPr>
                  <a:t>Data</a:t>
                </a:r>
                <a:endParaRPr sz="2200"/>
              </a:p>
            </p:txBody>
          </p:sp>
          <p:sp>
            <p:nvSpPr>
              <p:cNvPr id="489" name="Google Shape;489;p26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sz="2200" dirty="0"/>
              </a:p>
            </p:txBody>
          </p:sp>
          <p:sp>
            <p:nvSpPr>
              <p:cNvPr id="490" name="Google Shape;490;p26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sz="2200" dirty="0"/>
              </a:p>
            </p:txBody>
          </p:sp>
          <p:cxnSp>
            <p:nvCxnSpPr>
              <p:cNvPr id="491" name="Google Shape;491;p26"/>
              <p:cNvCxnSpPr>
                <a:stCxn id="489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92" name="Google Shape;492;p26"/>
              <p:cNvCxnSpPr>
                <a:stCxn id="490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493" name="Google Shape;493;p26"/>
          <p:cNvGrpSpPr/>
          <p:nvPr/>
        </p:nvGrpSpPr>
        <p:grpSpPr>
          <a:xfrm>
            <a:off x="4402218" y="3127150"/>
            <a:ext cx="2152983" cy="837000"/>
            <a:chOff x="4409643" y="3951525"/>
            <a:chExt cx="2152983" cy="837000"/>
          </a:xfrm>
        </p:grpSpPr>
        <p:grpSp>
          <p:nvGrpSpPr>
            <p:cNvPr id="494" name="Google Shape;494;p26"/>
            <p:cNvGrpSpPr/>
            <p:nvPr/>
          </p:nvGrpSpPr>
          <p:grpSpPr>
            <a:xfrm>
              <a:off x="4480388" y="3951525"/>
              <a:ext cx="2082238" cy="837000"/>
              <a:chOff x="4290563" y="3904875"/>
              <a:chExt cx="2082238" cy="837000"/>
            </a:xfrm>
          </p:grpSpPr>
          <p:sp>
            <p:nvSpPr>
              <p:cNvPr id="495" name="Google Shape;495;p26"/>
              <p:cNvSpPr/>
              <p:nvPr/>
            </p:nvSpPr>
            <p:spPr>
              <a:xfrm>
                <a:off x="4883000" y="3904875"/>
                <a:ext cx="806400" cy="8370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500" b="1">
                    <a:latin typeface="Consolas"/>
                    <a:ea typeface="Consolas"/>
                    <a:cs typeface="Consolas"/>
                    <a:sym typeface="Consolas"/>
                  </a:rPr>
                  <a:t>AT</a:t>
                </a:r>
                <a:endParaRPr sz="25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496" name="Google Shape;496;p26"/>
              <p:cNvCxnSpPr/>
              <p:nvPr/>
            </p:nvCxnSpPr>
            <p:spPr>
              <a:xfrm rot="10800000" flipH="1">
                <a:off x="4290563" y="4323325"/>
                <a:ext cx="592200" cy="7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97" name="Google Shape;497;p26"/>
              <p:cNvCxnSpPr/>
              <p:nvPr/>
            </p:nvCxnSpPr>
            <p:spPr>
              <a:xfrm>
                <a:off x="5689400" y="4323375"/>
                <a:ext cx="683400" cy="16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498" name="Google Shape;498;p26"/>
            <p:cNvSpPr txBox="1"/>
            <p:nvPr/>
          </p:nvSpPr>
          <p:spPr>
            <a:xfrm>
              <a:off x="4409643" y="3995628"/>
              <a:ext cx="592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VA</a:t>
              </a:r>
              <a:endParaRPr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499" name="Google Shape;499;p26"/>
            <p:cNvSpPr txBox="1"/>
            <p:nvPr/>
          </p:nvSpPr>
          <p:spPr>
            <a:xfrm>
              <a:off x="5817960" y="4024775"/>
              <a:ext cx="6288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PA</a:t>
              </a:r>
              <a:endParaRPr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7"/>
          <p:cNvSpPr txBox="1">
            <a:spLocks noGrp="1"/>
          </p:cNvSpPr>
          <p:nvPr>
            <p:ph type="title"/>
          </p:nvPr>
        </p:nvSpPr>
        <p:spPr>
          <a:xfrm>
            <a:off x="838200" y="233550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Traducción de direcciones - Segmentation</a:t>
            </a:r>
            <a:endParaRPr dirty="0"/>
          </a:p>
        </p:txBody>
      </p:sp>
      <p:grpSp>
        <p:nvGrpSpPr>
          <p:cNvPr id="506" name="Google Shape;506;p27"/>
          <p:cNvGrpSpPr/>
          <p:nvPr/>
        </p:nvGrpSpPr>
        <p:grpSpPr>
          <a:xfrm>
            <a:off x="1041791" y="2411220"/>
            <a:ext cx="2340362" cy="3256628"/>
            <a:chOff x="8005450" y="1566825"/>
            <a:chExt cx="3308400" cy="4491900"/>
          </a:xfrm>
        </p:grpSpPr>
        <p:sp>
          <p:nvSpPr>
            <p:cNvPr id="507" name="Google Shape;507;p27"/>
            <p:cNvSpPr/>
            <p:nvPr/>
          </p:nvSpPr>
          <p:spPr>
            <a:xfrm>
              <a:off x="8005450" y="1566825"/>
              <a:ext cx="3308400" cy="44919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508" name="Google Shape;508;p27"/>
            <p:cNvSpPr txBox="1"/>
            <p:nvPr/>
          </p:nvSpPr>
          <p:spPr>
            <a:xfrm>
              <a:off x="8597250" y="1637048"/>
              <a:ext cx="2103000" cy="67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CPU Chip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509" name="Google Shape;509;p27"/>
            <p:cNvGrpSpPr/>
            <p:nvPr/>
          </p:nvGrpSpPr>
          <p:grpSpPr>
            <a:xfrm>
              <a:off x="8597250" y="2266040"/>
              <a:ext cx="2103000" cy="3163135"/>
              <a:chOff x="8597250" y="2266040"/>
              <a:chExt cx="2103000" cy="3163135"/>
            </a:xfrm>
          </p:grpSpPr>
          <p:sp>
            <p:nvSpPr>
              <p:cNvPr id="510" name="Google Shape;510;p27"/>
              <p:cNvSpPr/>
              <p:nvPr/>
            </p:nvSpPr>
            <p:spPr>
              <a:xfrm>
                <a:off x="9154350" y="2266040"/>
                <a:ext cx="988800" cy="9954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 b="1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sz="14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511" name="Google Shape;511;p27"/>
              <p:cNvCxnSpPr>
                <a:stCxn id="510" idx="4"/>
                <a:endCxn id="512" idx="0"/>
              </p:cNvCxnSpPr>
              <p:nvPr/>
            </p:nvCxnSpPr>
            <p:spPr>
              <a:xfrm>
                <a:off x="9648750" y="3261440"/>
                <a:ext cx="0" cy="45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513" name="Google Shape;513;p27"/>
              <p:cNvGrpSpPr/>
              <p:nvPr/>
            </p:nvGrpSpPr>
            <p:grpSpPr>
              <a:xfrm>
                <a:off x="8597250" y="3717975"/>
                <a:ext cx="2103000" cy="1711200"/>
                <a:chOff x="8597250" y="3717975"/>
                <a:chExt cx="2103000" cy="1711200"/>
              </a:xfrm>
            </p:grpSpPr>
            <p:sp>
              <p:nvSpPr>
                <p:cNvPr id="512" name="Google Shape;512;p27"/>
                <p:cNvSpPr/>
                <p:nvPr/>
              </p:nvSpPr>
              <p:spPr>
                <a:xfrm>
                  <a:off x="8597250" y="3717975"/>
                  <a:ext cx="2103000" cy="1711200"/>
                </a:xfrm>
                <a:prstGeom prst="rect">
                  <a:avLst/>
                </a:prstGeom>
                <a:solidFill>
                  <a:srgbClr val="B6D7A8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514" name="Google Shape;514;p27"/>
                <p:cNvSpPr txBox="1"/>
                <p:nvPr/>
              </p:nvSpPr>
              <p:spPr>
                <a:xfrm>
                  <a:off x="9216099" y="3718049"/>
                  <a:ext cx="887099" cy="5518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4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rPr>
                    <a:t>MMU</a:t>
                  </a:r>
                  <a:endParaRPr sz="6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</p:grpSp>
      </p:grpSp>
      <p:sp>
        <p:nvSpPr>
          <p:cNvPr id="515" name="Google Shape;515;p27"/>
          <p:cNvSpPr/>
          <p:nvPr/>
        </p:nvSpPr>
        <p:spPr>
          <a:xfrm>
            <a:off x="3944800" y="2629888"/>
            <a:ext cx="4962000" cy="2892600"/>
          </a:xfrm>
          <a:prstGeom prst="rect">
            <a:avLst/>
          </a:prstGeom>
          <a:solidFill>
            <a:srgbClr val="FFE5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16" name="Google Shape;516;p27"/>
          <p:cNvSpPr txBox="1"/>
          <p:nvPr/>
        </p:nvSpPr>
        <p:spPr>
          <a:xfrm>
            <a:off x="3951581" y="2078519"/>
            <a:ext cx="1487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CPU Chip</a:t>
            </a:r>
            <a:endParaRPr sz="2000" b="1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7" name="Google Shape;517;p27"/>
          <p:cNvSpPr/>
          <p:nvPr/>
        </p:nvSpPr>
        <p:spPr>
          <a:xfrm>
            <a:off x="4131423" y="3824526"/>
            <a:ext cx="699600" cy="721800"/>
          </a:xfrm>
          <a:prstGeom prst="ellipse">
            <a:avLst/>
          </a:prstGeom>
          <a:solidFill>
            <a:srgbClr val="EA99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>
                <a:latin typeface="Consolas"/>
                <a:ea typeface="Consolas"/>
                <a:cs typeface="Consolas"/>
                <a:sym typeface="Consolas"/>
              </a:rPr>
              <a:t>CPU</a:t>
            </a:r>
            <a:endParaRPr sz="14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8" name="Google Shape;518;p27"/>
          <p:cNvSpPr/>
          <p:nvPr/>
        </p:nvSpPr>
        <p:spPr>
          <a:xfrm>
            <a:off x="5930200" y="3070038"/>
            <a:ext cx="2720100" cy="22308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9" name="Google Shape;519;p27"/>
          <p:cNvSpPr txBox="1"/>
          <p:nvPr/>
        </p:nvSpPr>
        <p:spPr>
          <a:xfrm>
            <a:off x="6976455" y="3070033"/>
            <a:ext cx="6276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MMU</a:t>
            </a:r>
            <a:endParaRPr sz="6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0" name="Google Shape;520;p27"/>
          <p:cNvSpPr txBox="1"/>
          <p:nvPr/>
        </p:nvSpPr>
        <p:spPr>
          <a:xfrm>
            <a:off x="4804025" y="3662663"/>
            <a:ext cx="1153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Virtual Address (VA)</a:t>
            </a:r>
            <a:endParaRPr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1" name="Google Shape;521;p27"/>
          <p:cNvSpPr txBox="1"/>
          <p:nvPr/>
        </p:nvSpPr>
        <p:spPr>
          <a:xfrm>
            <a:off x="8759500" y="3751288"/>
            <a:ext cx="1342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Physical</a:t>
            </a:r>
            <a:endParaRPr sz="1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Address (PA)</a:t>
            </a:r>
            <a:endParaRPr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2" name="Google Shape;522;p27"/>
          <p:cNvSpPr txBox="1"/>
          <p:nvPr/>
        </p:nvSpPr>
        <p:spPr>
          <a:xfrm>
            <a:off x="7270125" y="5661863"/>
            <a:ext cx="1342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latin typeface="Consolas"/>
                <a:ea typeface="Consolas"/>
                <a:cs typeface="Consolas"/>
                <a:sym typeface="Consolas"/>
              </a:rPr>
              <a:t>Data word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23" name="Google Shape;523;p27"/>
          <p:cNvCxnSpPr>
            <a:stCxn id="517" idx="6"/>
            <a:endCxn id="518" idx="1"/>
          </p:cNvCxnSpPr>
          <p:nvPr/>
        </p:nvCxnSpPr>
        <p:spPr>
          <a:xfrm>
            <a:off x="4831023" y="4185426"/>
            <a:ext cx="1099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4" name="Google Shape;524;p27"/>
          <p:cNvCxnSpPr>
            <a:stCxn id="518" idx="3"/>
            <a:endCxn id="525" idx="1"/>
          </p:cNvCxnSpPr>
          <p:nvPr/>
        </p:nvCxnSpPr>
        <p:spPr>
          <a:xfrm>
            <a:off x="8650300" y="4185438"/>
            <a:ext cx="1374600" cy="6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6" name="Google Shape;526;p27"/>
          <p:cNvCxnSpPr>
            <a:endCxn id="517" idx="4"/>
          </p:cNvCxnSpPr>
          <p:nvPr/>
        </p:nvCxnSpPr>
        <p:spPr>
          <a:xfrm rot="10800000">
            <a:off x="4481223" y="4546326"/>
            <a:ext cx="5400" cy="1442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7" name="Google Shape;527;p27"/>
          <p:cNvSpPr txBox="1"/>
          <p:nvPr/>
        </p:nvSpPr>
        <p:spPr>
          <a:xfrm>
            <a:off x="9819356" y="2078519"/>
            <a:ext cx="14877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Physical Memory</a:t>
            </a:r>
            <a:endParaRPr sz="2000" b="1" dirty="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528" name="Google Shape;528;p27"/>
          <p:cNvGrpSpPr/>
          <p:nvPr/>
        </p:nvGrpSpPr>
        <p:grpSpPr>
          <a:xfrm>
            <a:off x="10022550" y="2970513"/>
            <a:ext cx="1124200" cy="2339900"/>
            <a:chOff x="2626525" y="3871775"/>
            <a:chExt cx="1124200" cy="2339900"/>
          </a:xfrm>
        </p:grpSpPr>
        <p:grpSp>
          <p:nvGrpSpPr>
            <p:cNvPr id="529" name="Google Shape;529;p27"/>
            <p:cNvGrpSpPr/>
            <p:nvPr/>
          </p:nvGrpSpPr>
          <p:grpSpPr>
            <a:xfrm>
              <a:off x="2626525" y="4273149"/>
              <a:ext cx="1124200" cy="1619400"/>
              <a:chOff x="2626525" y="4273149"/>
              <a:chExt cx="1124200" cy="1619400"/>
            </a:xfrm>
          </p:grpSpPr>
          <p:sp>
            <p:nvSpPr>
              <p:cNvPr id="530" name="Google Shape;530;p27"/>
              <p:cNvSpPr/>
              <p:nvPr/>
            </p:nvSpPr>
            <p:spPr>
              <a:xfrm>
                <a:off x="2626525" y="4273149"/>
                <a:ext cx="1122000" cy="16194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27"/>
              <p:cNvSpPr/>
              <p:nvPr/>
            </p:nvSpPr>
            <p:spPr>
              <a:xfrm>
                <a:off x="2628725" y="4801224"/>
                <a:ext cx="1122000" cy="583200"/>
              </a:xfrm>
              <a:prstGeom prst="rect">
                <a:avLst/>
              </a:prstGeom>
              <a:solidFill>
                <a:srgbClr val="D9D9D9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200"/>
              </a:p>
            </p:txBody>
          </p:sp>
        </p:grpSp>
        <p:cxnSp>
          <p:nvCxnSpPr>
            <p:cNvPr id="531" name="Google Shape;531;p27"/>
            <p:cNvCxnSpPr/>
            <p:nvPr/>
          </p:nvCxnSpPr>
          <p:spPr>
            <a:xfrm rot="10800000">
              <a:off x="2640173" y="3872500"/>
              <a:ext cx="0" cy="466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2" name="Google Shape;532;p27"/>
            <p:cNvCxnSpPr/>
            <p:nvPr/>
          </p:nvCxnSpPr>
          <p:spPr>
            <a:xfrm rot="10800000">
              <a:off x="2627600" y="5745175"/>
              <a:ext cx="0" cy="466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3" name="Google Shape;533;p27"/>
            <p:cNvCxnSpPr/>
            <p:nvPr/>
          </p:nvCxnSpPr>
          <p:spPr>
            <a:xfrm rot="10800000">
              <a:off x="3749525" y="5745175"/>
              <a:ext cx="0" cy="466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4" name="Google Shape;534;p27"/>
            <p:cNvCxnSpPr/>
            <p:nvPr/>
          </p:nvCxnSpPr>
          <p:spPr>
            <a:xfrm rot="10800000">
              <a:off x="3748600" y="3871775"/>
              <a:ext cx="0" cy="466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aphicFrame>
        <p:nvGraphicFramePr>
          <p:cNvPr id="535" name="Google Shape;535;p27"/>
          <p:cNvGraphicFramePr/>
          <p:nvPr>
            <p:extLst>
              <p:ext uri="{D42A27DB-BD31-4B8C-83A1-F6EECF244321}">
                <p14:modId xmlns:p14="http://schemas.microsoft.com/office/powerpoint/2010/main" val="4173391107"/>
              </p:ext>
            </p:extLst>
          </p:nvPr>
        </p:nvGraphicFramePr>
        <p:xfrm>
          <a:off x="6109638" y="3465273"/>
          <a:ext cx="2340350" cy="173724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9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1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023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2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2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 </a:t>
                      </a:r>
                      <a:endParaRPr sz="12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80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code(00)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80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heap(01)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80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stack(11)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536" name="Google Shape;536;p27"/>
          <p:cNvCxnSpPr>
            <a:stCxn id="525" idx="3"/>
          </p:cNvCxnSpPr>
          <p:nvPr/>
        </p:nvCxnSpPr>
        <p:spPr>
          <a:xfrm flipH="1">
            <a:off x="4498150" y="4191562"/>
            <a:ext cx="6648600" cy="1809000"/>
          </a:xfrm>
          <a:prstGeom prst="bentConnector3">
            <a:avLst>
              <a:gd name="adj1" fmla="val -3582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28"/>
          <p:cNvSpPr txBox="1">
            <a:spLocks noGrp="1"/>
          </p:cNvSpPr>
          <p:nvPr>
            <p:ph type="title"/>
          </p:nvPr>
        </p:nvSpPr>
        <p:spPr>
          <a:xfrm>
            <a:off x="838200" y="159549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Traducción de direcciones - Segmentation</a:t>
            </a:r>
            <a:endParaRPr dirty="0"/>
          </a:p>
        </p:txBody>
      </p:sp>
      <p:grpSp>
        <p:nvGrpSpPr>
          <p:cNvPr id="542" name="Google Shape;542;p28"/>
          <p:cNvGrpSpPr/>
          <p:nvPr/>
        </p:nvGrpSpPr>
        <p:grpSpPr>
          <a:xfrm>
            <a:off x="992500" y="1689250"/>
            <a:ext cx="3545700" cy="4111200"/>
            <a:chOff x="602600" y="2377375"/>
            <a:chExt cx="3545700" cy="4111200"/>
          </a:xfrm>
        </p:grpSpPr>
        <p:sp>
          <p:nvSpPr>
            <p:cNvPr id="543" name="Google Shape;543;p28"/>
            <p:cNvSpPr/>
            <p:nvPr/>
          </p:nvSpPr>
          <p:spPr>
            <a:xfrm>
              <a:off x="602600" y="2377375"/>
              <a:ext cx="3545700" cy="41112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544" name="Google Shape;544;p28"/>
            <p:cNvSpPr txBox="1"/>
            <p:nvPr/>
          </p:nvSpPr>
          <p:spPr>
            <a:xfrm>
              <a:off x="1578256" y="2377382"/>
              <a:ext cx="14877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CPU chip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45" name="Google Shape;545;p28"/>
            <p:cNvSpPr/>
            <p:nvPr/>
          </p:nvSpPr>
          <p:spPr>
            <a:xfrm>
              <a:off x="2020511" y="2800814"/>
              <a:ext cx="699600" cy="721800"/>
            </a:xfrm>
            <a:prstGeom prst="ellipse">
              <a:avLst/>
            </a:prstGeom>
            <a:solidFill>
              <a:srgbClr val="EA99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>
                  <a:latin typeface="Consolas"/>
                  <a:ea typeface="Consolas"/>
                  <a:cs typeface="Consolas"/>
                  <a:sym typeface="Consolas"/>
                </a:rPr>
                <a:t>CPU</a:t>
              </a:r>
              <a:endParaRPr sz="14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546" name="Google Shape;546;p28"/>
            <p:cNvCxnSpPr>
              <a:cxnSpLocks/>
              <a:stCxn id="545" idx="4"/>
              <a:endCxn id="547" idx="0"/>
            </p:cNvCxnSpPr>
            <p:nvPr/>
          </p:nvCxnSpPr>
          <p:spPr>
            <a:xfrm flipH="1">
              <a:off x="2370258" y="3522614"/>
              <a:ext cx="53" cy="355896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548" name="Google Shape;548;p28"/>
            <p:cNvGrpSpPr/>
            <p:nvPr/>
          </p:nvGrpSpPr>
          <p:grpSpPr>
            <a:xfrm>
              <a:off x="910042" y="3878510"/>
              <a:ext cx="2920431" cy="2369756"/>
              <a:chOff x="8597231" y="3717969"/>
              <a:chExt cx="4880400" cy="1775630"/>
            </a:xfrm>
          </p:grpSpPr>
          <p:sp>
            <p:nvSpPr>
              <p:cNvPr id="547" name="Google Shape;547;p28"/>
              <p:cNvSpPr/>
              <p:nvPr/>
            </p:nvSpPr>
            <p:spPr>
              <a:xfrm>
                <a:off x="8597231" y="3717969"/>
                <a:ext cx="4880400" cy="177563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549" name="Google Shape;549;p28"/>
              <p:cNvSpPr txBox="1"/>
              <p:nvPr/>
            </p:nvSpPr>
            <p:spPr>
              <a:xfrm>
                <a:off x="10593879" y="3736871"/>
                <a:ext cx="887101" cy="2997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MMU</a:t>
                </a:r>
                <a:endParaRPr sz="6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</p:grpSp>
      <p:graphicFrame>
        <p:nvGraphicFramePr>
          <p:cNvPr id="550" name="Google Shape;550;p28"/>
          <p:cNvGraphicFramePr/>
          <p:nvPr>
            <p:extLst>
              <p:ext uri="{D42A27DB-BD31-4B8C-83A1-F6EECF244321}">
                <p14:modId xmlns:p14="http://schemas.microsoft.com/office/powerpoint/2010/main" val="3012682902"/>
              </p:ext>
            </p:extLst>
          </p:nvPr>
        </p:nvGraphicFramePr>
        <p:xfrm>
          <a:off x="1595163" y="3642388"/>
          <a:ext cx="2340350" cy="173724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9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1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711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2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2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 </a:t>
                      </a:r>
                      <a:endParaRPr sz="12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90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code(00)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90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heap(01)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90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stack(11)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52" name="Google Shape;552;p28"/>
          <p:cNvGraphicFramePr/>
          <p:nvPr>
            <p:extLst>
              <p:ext uri="{D42A27DB-BD31-4B8C-83A1-F6EECF244321}">
                <p14:modId xmlns:p14="http://schemas.microsoft.com/office/powerpoint/2010/main" val="2241734165"/>
              </p:ext>
            </p:extLst>
          </p:nvPr>
        </p:nvGraphicFramePr>
        <p:xfrm>
          <a:off x="5489550" y="3820600"/>
          <a:ext cx="6051841" cy="201156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12387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6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95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 </a:t>
                      </a:r>
                      <a:endParaRPr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Grows Positive?</a:t>
                      </a:r>
                      <a:endParaRPr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Protection</a:t>
                      </a:r>
                      <a:endParaRPr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code(00)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Read-Execute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heap(01)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Read-Write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stack(11)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Read-Write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53" name="Google Shape;553;p28"/>
          <p:cNvGraphicFramePr/>
          <p:nvPr/>
        </p:nvGraphicFramePr>
        <p:xfrm>
          <a:off x="5546275" y="1907550"/>
          <a:ext cx="6032950" cy="83817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43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n-1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n-2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54" name="Google Shape;554;p28"/>
          <p:cNvSpPr txBox="1"/>
          <p:nvPr/>
        </p:nvSpPr>
        <p:spPr>
          <a:xfrm>
            <a:off x="4976550" y="2303950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/>
          </a:p>
        </p:txBody>
      </p:sp>
      <p:sp>
        <p:nvSpPr>
          <p:cNvPr id="555" name="Google Shape;555;p28"/>
          <p:cNvSpPr/>
          <p:nvPr/>
        </p:nvSpPr>
        <p:spPr>
          <a:xfrm rot="5400000">
            <a:off x="8881800" y="372550"/>
            <a:ext cx="281100" cy="51903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28"/>
          <p:cNvSpPr txBox="1"/>
          <p:nvPr/>
        </p:nvSpPr>
        <p:spPr>
          <a:xfrm>
            <a:off x="8348700" y="3093025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 sz="1800"/>
          </a:p>
        </p:txBody>
      </p:sp>
      <p:sp>
        <p:nvSpPr>
          <p:cNvPr id="557" name="Google Shape;557;p28"/>
          <p:cNvSpPr/>
          <p:nvPr/>
        </p:nvSpPr>
        <p:spPr>
          <a:xfrm rot="5400000">
            <a:off x="5832675" y="2540650"/>
            <a:ext cx="281100" cy="8541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28"/>
          <p:cNvSpPr txBox="1"/>
          <p:nvPr/>
        </p:nvSpPr>
        <p:spPr>
          <a:xfrm>
            <a:off x="5294625" y="3093025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segment</a:t>
            </a:r>
            <a:endParaRPr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29"/>
          <p:cNvSpPr txBox="1">
            <a:spLocks noGrp="1"/>
          </p:cNvSpPr>
          <p:nvPr>
            <p:ph type="title"/>
          </p:nvPr>
        </p:nvSpPr>
        <p:spPr>
          <a:xfrm>
            <a:off x="469491" y="279334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Traducción de direcciones - Segmentation</a:t>
            </a:r>
            <a:endParaRPr dirty="0"/>
          </a:p>
        </p:txBody>
      </p:sp>
      <p:graphicFrame>
        <p:nvGraphicFramePr>
          <p:cNvPr id="565" name="Google Shape;565;p29"/>
          <p:cNvGraphicFramePr/>
          <p:nvPr>
            <p:extLst>
              <p:ext uri="{D42A27DB-BD31-4B8C-83A1-F6EECF244321}">
                <p14:modId xmlns:p14="http://schemas.microsoft.com/office/powerpoint/2010/main" val="3353558934"/>
              </p:ext>
            </p:extLst>
          </p:nvPr>
        </p:nvGraphicFramePr>
        <p:xfrm>
          <a:off x="960050" y="4863847"/>
          <a:ext cx="10271900" cy="173724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1421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9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8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offset</a:t>
                      </a:r>
                      <a:endParaRPr sz="18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Physical Address</a:t>
                      </a:r>
                      <a:endParaRPr sz="18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offset = VA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 = offset + base[code]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offset = VA – VA[heap]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 = offset + base[heap]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Offset[stack] = offset – offset[</a:t>
                      </a:r>
                      <a:r>
                        <a:rPr lang="es-ES" sz="16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max</a:t>
                      </a: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 = offset + base[stack]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Google Shape;515;p27">
            <a:extLst>
              <a:ext uri="{FF2B5EF4-FFF2-40B4-BE49-F238E27FC236}">
                <a16:creationId xmlns:a16="http://schemas.microsoft.com/office/drawing/2014/main" id="{093613CA-9F88-4997-B4B9-D3A5168D5F8E}"/>
              </a:ext>
            </a:extLst>
          </p:cNvPr>
          <p:cNvSpPr/>
          <p:nvPr/>
        </p:nvSpPr>
        <p:spPr>
          <a:xfrm>
            <a:off x="3403411" y="1523999"/>
            <a:ext cx="4962000" cy="2706797"/>
          </a:xfrm>
          <a:prstGeom prst="rect">
            <a:avLst/>
          </a:prstGeom>
          <a:solidFill>
            <a:srgbClr val="FFE5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" name="Google Shape;517;p27">
            <a:extLst>
              <a:ext uri="{FF2B5EF4-FFF2-40B4-BE49-F238E27FC236}">
                <a16:creationId xmlns:a16="http://schemas.microsoft.com/office/drawing/2014/main" id="{382D29CC-78E2-43EF-8265-585E2D1F7615}"/>
              </a:ext>
            </a:extLst>
          </p:cNvPr>
          <p:cNvSpPr/>
          <p:nvPr/>
        </p:nvSpPr>
        <p:spPr>
          <a:xfrm>
            <a:off x="3590034" y="2532835"/>
            <a:ext cx="699600" cy="721800"/>
          </a:xfrm>
          <a:prstGeom prst="ellipse">
            <a:avLst/>
          </a:prstGeom>
          <a:solidFill>
            <a:srgbClr val="EA9999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>
                <a:latin typeface="Consolas"/>
                <a:ea typeface="Consolas"/>
                <a:cs typeface="Consolas"/>
                <a:sym typeface="Consolas"/>
              </a:rPr>
              <a:t>CPU</a:t>
            </a:r>
            <a:endParaRPr sz="14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518;p27">
            <a:extLst>
              <a:ext uri="{FF2B5EF4-FFF2-40B4-BE49-F238E27FC236}">
                <a16:creationId xmlns:a16="http://schemas.microsoft.com/office/drawing/2014/main" id="{36DCCA10-E700-427B-A739-761A0FF67E04}"/>
              </a:ext>
            </a:extLst>
          </p:cNvPr>
          <p:cNvSpPr/>
          <p:nvPr/>
        </p:nvSpPr>
        <p:spPr>
          <a:xfrm>
            <a:off x="5388811" y="1778347"/>
            <a:ext cx="2720100" cy="2230800"/>
          </a:xfrm>
          <a:prstGeom prst="rect">
            <a:avLst/>
          </a:prstGeom>
          <a:solidFill>
            <a:srgbClr val="B6D7A8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" name="Google Shape;519;p27">
            <a:extLst>
              <a:ext uri="{FF2B5EF4-FFF2-40B4-BE49-F238E27FC236}">
                <a16:creationId xmlns:a16="http://schemas.microsoft.com/office/drawing/2014/main" id="{D8806B4C-497F-4960-941B-B047ED80D6E2}"/>
              </a:ext>
            </a:extLst>
          </p:cNvPr>
          <p:cNvSpPr txBox="1"/>
          <p:nvPr/>
        </p:nvSpPr>
        <p:spPr>
          <a:xfrm>
            <a:off x="6435066" y="1778342"/>
            <a:ext cx="6276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MMU</a:t>
            </a:r>
            <a:endParaRPr sz="6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" name="Google Shape;520;p27">
            <a:extLst>
              <a:ext uri="{FF2B5EF4-FFF2-40B4-BE49-F238E27FC236}">
                <a16:creationId xmlns:a16="http://schemas.microsoft.com/office/drawing/2014/main" id="{6B09B6E4-3B03-4742-92CB-B57DA7AFA9F1}"/>
              </a:ext>
            </a:extLst>
          </p:cNvPr>
          <p:cNvSpPr txBox="1"/>
          <p:nvPr/>
        </p:nvSpPr>
        <p:spPr>
          <a:xfrm>
            <a:off x="4262636" y="2370972"/>
            <a:ext cx="1153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Virtual Address (VA)</a:t>
            </a:r>
            <a:endParaRPr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" name="Google Shape;521;p27">
            <a:extLst>
              <a:ext uri="{FF2B5EF4-FFF2-40B4-BE49-F238E27FC236}">
                <a16:creationId xmlns:a16="http://schemas.microsoft.com/office/drawing/2014/main" id="{85F3323B-A480-4429-86A3-46039C151CC5}"/>
              </a:ext>
            </a:extLst>
          </p:cNvPr>
          <p:cNvSpPr txBox="1"/>
          <p:nvPr/>
        </p:nvSpPr>
        <p:spPr>
          <a:xfrm>
            <a:off x="8218111" y="2459597"/>
            <a:ext cx="1342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Physical</a:t>
            </a:r>
            <a:endParaRPr sz="1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Address (PA)</a:t>
            </a:r>
            <a:endParaRPr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6" name="Google Shape;523;p27">
            <a:extLst>
              <a:ext uri="{FF2B5EF4-FFF2-40B4-BE49-F238E27FC236}">
                <a16:creationId xmlns:a16="http://schemas.microsoft.com/office/drawing/2014/main" id="{EAA25D1A-A616-4645-871D-66FF7B5B7B22}"/>
              </a:ext>
            </a:extLst>
          </p:cNvPr>
          <p:cNvCxnSpPr>
            <a:stCxn id="10" idx="6"/>
            <a:endCxn id="11" idx="1"/>
          </p:cNvCxnSpPr>
          <p:nvPr/>
        </p:nvCxnSpPr>
        <p:spPr>
          <a:xfrm>
            <a:off x="4289634" y="2893735"/>
            <a:ext cx="1099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" name="Google Shape;524;p27">
            <a:extLst>
              <a:ext uri="{FF2B5EF4-FFF2-40B4-BE49-F238E27FC236}">
                <a16:creationId xmlns:a16="http://schemas.microsoft.com/office/drawing/2014/main" id="{7E4539EE-3967-4ECC-A1AB-7810E04BB1DF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8108911" y="2893747"/>
            <a:ext cx="1374600" cy="6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28" name="Google Shape;535;p27">
            <a:extLst>
              <a:ext uri="{FF2B5EF4-FFF2-40B4-BE49-F238E27FC236}">
                <a16:creationId xmlns:a16="http://schemas.microsoft.com/office/drawing/2014/main" id="{89A7AC9A-0394-40A0-88A1-71F61B6FA5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1137754"/>
              </p:ext>
            </p:extLst>
          </p:nvPr>
        </p:nvGraphicFramePr>
        <p:xfrm>
          <a:off x="5568249" y="2173582"/>
          <a:ext cx="2340350" cy="173724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9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1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023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2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2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 </a:t>
                      </a:r>
                      <a:endParaRPr sz="12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80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code(00)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80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heap(01)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80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stack(11)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0" name="Google Shape;553;p28">
            <a:extLst>
              <a:ext uri="{FF2B5EF4-FFF2-40B4-BE49-F238E27FC236}">
                <a16:creationId xmlns:a16="http://schemas.microsoft.com/office/drawing/2014/main" id="{77915176-A35F-4E8C-90CF-FF290761ED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2532071"/>
              </p:ext>
            </p:extLst>
          </p:nvPr>
        </p:nvGraphicFramePr>
        <p:xfrm>
          <a:off x="1945661" y="4410176"/>
          <a:ext cx="2915500" cy="27429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0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dirty="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dirty="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1" name="Google Shape;553;p28">
            <a:extLst>
              <a:ext uri="{FF2B5EF4-FFF2-40B4-BE49-F238E27FC236}">
                <a16:creationId xmlns:a16="http://schemas.microsoft.com/office/drawing/2014/main" id="{C823018E-2E20-44A7-8CCD-56D80C7F8C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8218233"/>
              </p:ext>
            </p:extLst>
          </p:nvPr>
        </p:nvGraphicFramePr>
        <p:xfrm>
          <a:off x="8617932" y="4379927"/>
          <a:ext cx="3332000" cy="27429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0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3177720380"/>
                    </a:ext>
                  </a:extLst>
                </a:gridCol>
                <a:gridCol w="208250">
                  <a:extLst>
                    <a:ext uri="{9D8B030D-6E8A-4147-A177-3AD203B41FA5}">
                      <a16:colId xmlns:a16="http://schemas.microsoft.com/office/drawing/2014/main" val="17662743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dirty="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dirty="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dirty="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dirty="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dirty="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dirty="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6DDE5F6E-DC57-4915-BEB0-E8A73CE66AC6}"/>
              </a:ext>
            </a:extLst>
          </p:cNvPr>
          <p:cNvSpPr txBox="1"/>
          <p:nvPr/>
        </p:nvSpPr>
        <p:spPr>
          <a:xfrm>
            <a:off x="1473200" y="4410176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>
                <a:latin typeface="Consolas" panose="020B0609020204030204" pitchFamily="49" charset="0"/>
              </a:rPr>
              <a:t>VA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0984B75-8673-4028-AA97-5855F4A4AD68}"/>
              </a:ext>
            </a:extLst>
          </p:cNvPr>
          <p:cNvSpPr txBox="1"/>
          <p:nvPr/>
        </p:nvSpPr>
        <p:spPr>
          <a:xfrm>
            <a:off x="8149572" y="4357169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>
                <a:latin typeface="Consolas" panose="020B0609020204030204" pitchFamily="49" charset="0"/>
              </a:rPr>
              <a:t>PA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0"/>
          <p:cNvSpPr txBox="1">
            <a:spLocks noGrp="1"/>
          </p:cNvSpPr>
          <p:nvPr>
            <p:ph type="title"/>
          </p:nvPr>
        </p:nvSpPr>
        <p:spPr>
          <a:xfrm>
            <a:off x="448769" y="224996"/>
            <a:ext cx="10515600" cy="7328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Traducción de direcciones - Segmentation</a:t>
            </a:r>
            <a:endParaRPr dirty="0"/>
          </a:p>
        </p:txBody>
      </p:sp>
      <p:graphicFrame>
        <p:nvGraphicFramePr>
          <p:cNvPr id="573" name="Google Shape;573;p30"/>
          <p:cNvGraphicFramePr/>
          <p:nvPr>
            <p:extLst>
              <p:ext uri="{D42A27DB-BD31-4B8C-83A1-F6EECF244321}">
                <p14:modId xmlns:p14="http://schemas.microsoft.com/office/powerpoint/2010/main" val="3967287276"/>
              </p:ext>
            </p:extLst>
          </p:nvPr>
        </p:nvGraphicFramePr>
        <p:xfrm>
          <a:off x="846875" y="4215500"/>
          <a:ext cx="3831049" cy="219441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97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6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40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4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Virtual Address (VA)</a:t>
                      </a:r>
                      <a:endParaRPr sz="14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Physical Address (PA)</a:t>
                      </a:r>
                      <a:endParaRPr sz="14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32868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4200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34920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4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7K</a:t>
                      </a:r>
                      <a:endParaRPr sz="14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4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15K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27K</a:t>
                      </a:r>
                      <a:endParaRPr sz="1400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74" name="Google Shape;574;p30"/>
          <p:cNvSpPr txBox="1"/>
          <p:nvPr/>
        </p:nvSpPr>
        <p:spPr>
          <a:xfrm>
            <a:off x="567313" y="936073"/>
            <a:ext cx="32901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accent2"/>
                </a:solidFill>
              </a:rPr>
              <a:t>Datos - Ejemplo</a:t>
            </a:r>
            <a:r>
              <a:rPr lang="es-ES" sz="2200" dirty="0">
                <a:solidFill>
                  <a:schemeClr val="accent2"/>
                </a:solidFill>
              </a:rPr>
              <a:t>:</a:t>
            </a:r>
            <a:endParaRPr sz="2200" dirty="0">
              <a:solidFill>
                <a:schemeClr val="accent2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2000" b="1" dirty="0">
                <a:latin typeface="Consolas"/>
                <a:ea typeface="Consolas"/>
                <a:cs typeface="Consolas"/>
                <a:sym typeface="Consolas"/>
              </a:rPr>
              <a:t>Size(AS) = 16KB</a:t>
            </a:r>
            <a:endParaRPr sz="2000" b="1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Size(PM) = 64KB</a:t>
            </a:r>
            <a:endParaRPr sz="20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575" name="Google Shape;575;p30"/>
          <p:cNvGraphicFramePr/>
          <p:nvPr>
            <p:extLst>
              <p:ext uri="{D42A27DB-BD31-4B8C-83A1-F6EECF244321}">
                <p14:modId xmlns:p14="http://schemas.microsoft.com/office/powerpoint/2010/main" val="2369201442"/>
              </p:ext>
            </p:extLst>
          </p:nvPr>
        </p:nvGraphicFramePr>
        <p:xfrm>
          <a:off x="819425" y="2234450"/>
          <a:ext cx="3957430" cy="198105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1175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8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7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711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bits</a:t>
                      </a:r>
                      <a:endParaRPr sz="14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4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4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</a:t>
                      </a:r>
                      <a:endParaRPr sz="14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11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32K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11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34K</a:t>
                      </a:r>
                      <a:endParaRPr sz="1400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400">
                        <a:solidFill>
                          <a:srgbClr val="0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11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28K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11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6" name="Grupo 5">
            <a:extLst>
              <a:ext uri="{FF2B5EF4-FFF2-40B4-BE49-F238E27FC236}">
                <a16:creationId xmlns:a16="http://schemas.microsoft.com/office/drawing/2014/main" id="{B67EB73F-D604-48ED-9253-5FC6190E8D08}"/>
              </a:ext>
            </a:extLst>
          </p:cNvPr>
          <p:cNvGrpSpPr/>
          <p:nvPr/>
        </p:nvGrpSpPr>
        <p:grpSpPr>
          <a:xfrm>
            <a:off x="5020769" y="1049386"/>
            <a:ext cx="4667981" cy="4565600"/>
            <a:chOff x="5020769" y="1049386"/>
            <a:chExt cx="4667981" cy="4565600"/>
          </a:xfrm>
        </p:grpSpPr>
        <p:grpSp>
          <p:nvGrpSpPr>
            <p:cNvPr id="578" name="Google Shape;578;p30"/>
            <p:cNvGrpSpPr/>
            <p:nvPr/>
          </p:nvGrpSpPr>
          <p:grpSpPr>
            <a:xfrm>
              <a:off x="5896050" y="2316338"/>
              <a:ext cx="936219" cy="2406005"/>
              <a:chOff x="1775087" y="4022850"/>
              <a:chExt cx="1076113" cy="1739700"/>
            </a:xfrm>
          </p:grpSpPr>
          <p:sp>
            <p:nvSpPr>
              <p:cNvPr id="579" name="Google Shape;579;p30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80" name="Google Shape;580;p30"/>
              <p:cNvGrpSpPr/>
              <p:nvPr/>
            </p:nvGrpSpPr>
            <p:grpSpPr>
              <a:xfrm>
                <a:off x="1775087" y="4022857"/>
                <a:ext cx="1076100" cy="1739575"/>
                <a:chOff x="7948237" y="2813132"/>
                <a:chExt cx="1076100" cy="1739575"/>
              </a:xfrm>
            </p:grpSpPr>
            <p:sp>
              <p:nvSpPr>
                <p:cNvPr id="581" name="Google Shape;581;p30"/>
                <p:cNvSpPr/>
                <p:nvPr/>
              </p:nvSpPr>
              <p:spPr>
                <a:xfrm>
                  <a:off x="7948237" y="2813132"/>
                  <a:ext cx="1076100" cy="227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1600" b="1" dirty="0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582" name="Google Shape;582;p30"/>
                <p:cNvSpPr/>
                <p:nvPr/>
              </p:nvSpPr>
              <p:spPr>
                <a:xfrm>
                  <a:off x="7948237" y="3285512"/>
                  <a:ext cx="1076100" cy="206700"/>
                </a:xfrm>
                <a:prstGeom prst="rect">
                  <a:avLst/>
                </a:prstGeom>
                <a:solidFill>
                  <a:srgbClr val="FFF2CC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 sz="1600" dirty="0"/>
                </a:p>
              </p:txBody>
            </p:sp>
            <p:sp>
              <p:nvSpPr>
                <p:cNvPr id="583" name="Google Shape;583;p30"/>
                <p:cNvSpPr/>
                <p:nvPr/>
              </p:nvSpPr>
              <p:spPr>
                <a:xfrm>
                  <a:off x="7948237" y="4291406"/>
                  <a:ext cx="1076100" cy="2613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sz="1600" dirty="0"/>
                </a:p>
              </p:txBody>
            </p:sp>
            <p:cxnSp>
              <p:nvCxnSpPr>
                <p:cNvPr id="584" name="Google Shape;584;p30"/>
                <p:cNvCxnSpPr>
                  <a:stCxn id="582" idx="2"/>
                </p:cNvCxnSpPr>
                <p:nvPr/>
              </p:nvCxnSpPr>
              <p:spPr>
                <a:xfrm>
                  <a:off x="8486287" y="3492212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585" name="Google Shape;585;p30"/>
                <p:cNvCxnSpPr/>
                <p:nvPr/>
              </p:nvCxnSpPr>
              <p:spPr>
                <a:xfrm rot="10800000" flipH="1">
                  <a:off x="8487507" y="4056551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  <p:cxnSp>
          <p:nvCxnSpPr>
            <p:cNvPr id="586" name="Google Shape;586;p30"/>
            <p:cNvCxnSpPr/>
            <p:nvPr/>
          </p:nvCxnSpPr>
          <p:spPr>
            <a:xfrm rot="10800000" flipH="1">
              <a:off x="6838600" y="2669923"/>
              <a:ext cx="1886100" cy="16686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587" name="Google Shape;587;p30"/>
            <p:cNvCxnSpPr/>
            <p:nvPr/>
          </p:nvCxnSpPr>
          <p:spPr>
            <a:xfrm rot="10800000" flipH="1">
              <a:off x="6829075" y="3028823"/>
              <a:ext cx="1905000" cy="16764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588" name="Google Shape;588;p30"/>
            <p:cNvSpPr/>
            <p:nvPr/>
          </p:nvSpPr>
          <p:spPr>
            <a:xfrm>
              <a:off x="8749350" y="1108748"/>
              <a:ext cx="933000" cy="4446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89" name="Google Shape;589;p30"/>
            <p:cNvCxnSpPr/>
            <p:nvPr/>
          </p:nvCxnSpPr>
          <p:spPr>
            <a:xfrm>
              <a:off x="5541175" y="2418925"/>
              <a:ext cx="341700" cy="0"/>
            </a:xfrm>
            <a:prstGeom prst="straightConnector1">
              <a:avLst/>
            </a:prstGeom>
            <a:noFill/>
            <a:ln w="9525" cap="flat" cmpd="sng">
              <a:solidFill>
                <a:srgbClr val="0B6937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90" name="Google Shape;590;p30"/>
            <p:cNvCxnSpPr/>
            <p:nvPr/>
          </p:nvCxnSpPr>
          <p:spPr>
            <a:xfrm>
              <a:off x="5541175" y="3056600"/>
              <a:ext cx="341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91" name="Google Shape;591;p30"/>
            <p:cNvCxnSpPr/>
            <p:nvPr/>
          </p:nvCxnSpPr>
          <p:spPr>
            <a:xfrm>
              <a:off x="5541175" y="3489425"/>
              <a:ext cx="341700" cy="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92" name="Google Shape;592;p30"/>
            <p:cNvCxnSpPr/>
            <p:nvPr/>
          </p:nvCxnSpPr>
          <p:spPr>
            <a:xfrm>
              <a:off x="5541175" y="4527200"/>
              <a:ext cx="341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pic>
          <p:nvPicPr>
            <p:cNvPr id="593" name="Google Shape;593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020769" y="3353688"/>
              <a:ext cx="288806" cy="271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30"/>
            <p:cNvSpPr/>
            <p:nvPr/>
          </p:nvSpPr>
          <p:spPr>
            <a:xfrm>
              <a:off x="5604625" y="2566825"/>
              <a:ext cx="341700" cy="12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latin typeface="Consolas"/>
                  <a:ea typeface="Consolas"/>
                  <a:cs typeface="Consolas"/>
                  <a:sym typeface="Consolas"/>
                </a:rPr>
                <a:t>2K</a:t>
              </a:r>
              <a:endParaRPr sz="10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95" name="Google Shape;595;p30"/>
            <p:cNvSpPr/>
            <p:nvPr/>
          </p:nvSpPr>
          <p:spPr>
            <a:xfrm>
              <a:off x="5604625" y="2902350"/>
              <a:ext cx="341700" cy="12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latin typeface="Consolas"/>
                  <a:ea typeface="Consolas"/>
                  <a:cs typeface="Consolas"/>
                  <a:sym typeface="Consolas"/>
                </a:rPr>
                <a:t>4K</a:t>
              </a:r>
              <a:endParaRPr sz="10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96" name="Google Shape;596;p30"/>
            <p:cNvSpPr/>
            <p:nvPr/>
          </p:nvSpPr>
          <p:spPr>
            <a:xfrm>
              <a:off x="5604625" y="3191225"/>
              <a:ext cx="341700" cy="12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latin typeface="Consolas"/>
                  <a:ea typeface="Consolas"/>
                  <a:cs typeface="Consolas"/>
                  <a:sym typeface="Consolas"/>
                </a:rPr>
                <a:t>6K</a:t>
              </a:r>
              <a:endParaRPr sz="10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97" name="Google Shape;597;p30"/>
            <p:cNvSpPr/>
            <p:nvPr/>
          </p:nvSpPr>
          <p:spPr>
            <a:xfrm>
              <a:off x="5604625" y="2247075"/>
              <a:ext cx="341700" cy="12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latin typeface="Consolas"/>
                  <a:ea typeface="Consolas"/>
                  <a:cs typeface="Consolas"/>
                  <a:sym typeface="Consolas"/>
                </a:rPr>
                <a:t>0K</a:t>
              </a:r>
              <a:endParaRPr sz="10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98" name="Google Shape;598;p30"/>
            <p:cNvSpPr/>
            <p:nvPr/>
          </p:nvSpPr>
          <p:spPr>
            <a:xfrm>
              <a:off x="5501550" y="4300375"/>
              <a:ext cx="444600" cy="12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latin typeface="Consolas"/>
                  <a:ea typeface="Consolas"/>
                  <a:cs typeface="Consolas"/>
                  <a:sym typeface="Consolas"/>
                </a:rPr>
                <a:t>14K</a:t>
              </a:r>
              <a:endParaRPr sz="10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99" name="Google Shape;599;p30"/>
            <p:cNvSpPr/>
            <p:nvPr/>
          </p:nvSpPr>
          <p:spPr>
            <a:xfrm>
              <a:off x="5501550" y="4651813"/>
              <a:ext cx="444600" cy="12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latin typeface="Consolas"/>
                  <a:ea typeface="Consolas"/>
                  <a:cs typeface="Consolas"/>
                  <a:sym typeface="Consolas"/>
                </a:rPr>
                <a:t>16K</a:t>
              </a:r>
              <a:endParaRPr sz="10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00" name="Google Shape;600;p30"/>
            <p:cNvSpPr/>
            <p:nvPr/>
          </p:nvSpPr>
          <p:spPr>
            <a:xfrm>
              <a:off x="8336075" y="4088423"/>
              <a:ext cx="466800" cy="12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latin typeface="Consolas"/>
                  <a:ea typeface="Consolas"/>
                  <a:cs typeface="Consolas"/>
                  <a:sym typeface="Consolas"/>
                </a:rPr>
                <a:t>36K</a:t>
              </a:r>
              <a:endParaRPr sz="10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01" name="Google Shape;601;p30"/>
            <p:cNvSpPr/>
            <p:nvPr/>
          </p:nvSpPr>
          <p:spPr>
            <a:xfrm>
              <a:off x="8379650" y="2590448"/>
              <a:ext cx="409200" cy="12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latin typeface="Consolas"/>
                  <a:ea typeface="Consolas"/>
                  <a:cs typeface="Consolas"/>
                  <a:sym typeface="Consolas"/>
                </a:rPr>
                <a:t>26K</a:t>
              </a:r>
              <a:endParaRPr sz="10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602" name="Google Shape;602;p30"/>
            <p:cNvGrpSpPr/>
            <p:nvPr/>
          </p:nvGrpSpPr>
          <p:grpSpPr>
            <a:xfrm>
              <a:off x="8752500" y="3876097"/>
              <a:ext cx="936207" cy="647244"/>
              <a:chOff x="7948237" y="3285512"/>
              <a:chExt cx="1076100" cy="468000"/>
            </a:xfrm>
          </p:grpSpPr>
          <p:sp>
            <p:nvSpPr>
              <p:cNvPr id="603" name="Google Shape;603;p30"/>
              <p:cNvSpPr/>
              <p:nvPr/>
            </p:nvSpPr>
            <p:spPr>
              <a:xfrm>
                <a:off x="7948237" y="3285512"/>
                <a:ext cx="1076100" cy="206700"/>
              </a:xfrm>
              <a:prstGeom prst="rect">
                <a:avLst/>
              </a:prstGeom>
              <a:solidFill>
                <a:srgbClr val="FFF2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sz="1600" dirty="0"/>
              </a:p>
            </p:txBody>
          </p:sp>
          <p:cxnSp>
            <p:nvCxnSpPr>
              <p:cNvPr id="604" name="Google Shape;604;p30"/>
              <p:cNvCxnSpPr>
                <a:stCxn id="603" idx="2"/>
              </p:cNvCxnSpPr>
              <p:nvPr/>
            </p:nvCxnSpPr>
            <p:spPr>
              <a:xfrm>
                <a:off x="8486287" y="3492212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605" name="Google Shape;605;p30"/>
            <p:cNvSpPr/>
            <p:nvPr/>
          </p:nvSpPr>
          <p:spPr>
            <a:xfrm>
              <a:off x="8750425" y="2666149"/>
              <a:ext cx="936300" cy="3615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latin typeface="Courier New"/>
                  <a:ea typeface="Courier New"/>
                  <a:cs typeface="Courier New"/>
                  <a:sym typeface="Courier New"/>
                </a:rPr>
                <a:t>stack</a:t>
              </a:r>
              <a:endParaRPr sz="1600" dirty="0"/>
            </a:p>
          </p:txBody>
        </p:sp>
        <p:cxnSp>
          <p:nvCxnSpPr>
            <p:cNvPr id="606" name="Google Shape;606;p30"/>
            <p:cNvCxnSpPr/>
            <p:nvPr/>
          </p:nvCxnSpPr>
          <p:spPr>
            <a:xfrm rot="10800000" flipH="1">
              <a:off x="9218790" y="2335619"/>
              <a:ext cx="3600" cy="3219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07" name="Google Shape;607;p30"/>
            <p:cNvSpPr/>
            <p:nvPr/>
          </p:nvSpPr>
          <p:spPr>
            <a:xfrm>
              <a:off x="8322050" y="2946973"/>
              <a:ext cx="466800" cy="12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latin typeface="Consolas"/>
                  <a:ea typeface="Consolas"/>
                  <a:cs typeface="Consolas"/>
                  <a:sym typeface="Consolas"/>
                </a:rPr>
                <a:t>28K</a:t>
              </a:r>
              <a:endParaRPr sz="10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08" name="Google Shape;608;p30"/>
            <p:cNvSpPr/>
            <p:nvPr/>
          </p:nvSpPr>
          <p:spPr>
            <a:xfrm>
              <a:off x="8350375" y="3821386"/>
              <a:ext cx="439200" cy="12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latin typeface="Consolas"/>
                  <a:ea typeface="Consolas"/>
                  <a:cs typeface="Consolas"/>
                  <a:sym typeface="Consolas"/>
                </a:rPr>
                <a:t>34K</a:t>
              </a:r>
              <a:endParaRPr sz="10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09" name="Google Shape;609;p30"/>
            <p:cNvSpPr/>
            <p:nvPr/>
          </p:nvSpPr>
          <p:spPr>
            <a:xfrm>
              <a:off x="8364650" y="3554348"/>
              <a:ext cx="439200" cy="12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latin typeface="Consolas"/>
                  <a:ea typeface="Consolas"/>
                  <a:cs typeface="Consolas"/>
                  <a:sym typeface="Consolas"/>
                </a:rPr>
                <a:t>32K</a:t>
              </a:r>
              <a:endParaRPr sz="10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10" name="Google Shape;610;p30"/>
            <p:cNvSpPr/>
            <p:nvPr/>
          </p:nvSpPr>
          <p:spPr>
            <a:xfrm>
              <a:off x="5195425" y="2354875"/>
              <a:ext cx="409200" cy="12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100</a:t>
              </a:r>
              <a:endParaRPr sz="100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11" name="Google Shape;611;p30"/>
            <p:cNvSpPr/>
            <p:nvPr/>
          </p:nvSpPr>
          <p:spPr>
            <a:xfrm>
              <a:off x="5108725" y="2992550"/>
              <a:ext cx="495900" cy="12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4200</a:t>
              </a:r>
              <a:endParaRPr sz="10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12" name="Google Shape;612;p30"/>
            <p:cNvSpPr/>
            <p:nvPr/>
          </p:nvSpPr>
          <p:spPr>
            <a:xfrm>
              <a:off x="5195425" y="3425375"/>
              <a:ext cx="383100" cy="12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7K</a:t>
              </a:r>
              <a:endParaRPr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13" name="Google Shape;613;p30"/>
            <p:cNvSpPr/>
            <p:nvPr/>
          </p:nvSpPr>
          <p:spPr>
            <a:xfrm>
              <a:off x="5146975" y="4463150"/>
              <a:ext cx="444600" cy="12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15K</a:t>
              </a:r>
              <a:endParaRPr sz="10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614" name="Google Shape;614;p30"/>
            <p:cNvCxnSpPr/>
            <p:nvPr/>
          </p:nvCxnSpPr>
          <p:spPr>
            <a:xfrm>
              <a:off x="8400225" y="3703998"/>
              <a:ext cx="341700" cy="0"/>
            </a:xfrm>
            <a:prstGeom prst="straightConnector1">
              <a:avLst/>
            </a:prstGeom>
            <a:noFill/>
            <a:ln w="9525" cap="flat" cmpd="sng">
              <a:solidFill>
                <a:srgbClr val="0B6937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15" name="Google Shape;615;p30"/>
            <p:cNvSpPr/>
            <p:nvPr/>
          </p:nvSpPr>
          <p:spPr>
            <a:xfrm>
              <a:off x="8036700" y="3639948"/>
              <a:ext cx="409200" cy="12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100</a:t>
              </a:r>
              <a:endParaRPr sz="100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16" name="Google Shape;616;p30"/>
            <p:cNvSpPr/>
            <p:nvPr/>
          </p:nvSpPr>
          <p:spPr>
            <a:xfrm>
              <a:off x="8341125" y="5486886"/>
              <a:ext cx="444600" cy="12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latin typeface="Consolas"/>
                  <a:ea typeface="Consolas"/>
                  <a:cs typeface="Consolas"/>
                  <a:sym typeface="Consolas"/>
                </a:rPr>
                <a:t>64K</a:t>
              </a:r>
              <a:endParaRPr sz="10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17" name="Google Shape;617;p30"/>
            <p:cNvSpPr/>
            <p:nvPr/>
          </p:nvSpPr>
          <p:spPr>
            <a:xfrm>
              <a:off x="8341125" y="1049386"/>
              <a:ext cx="444600" cy="12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latin typeface="Consolas"/>
                  <a:ea typeface="Consolas"/>
                  <a:cs typeface="Consolas"/>
                  <a:sym typeface="Consolas"/>
                </a:rPr>
                <a:t>0K</a:t>
              </a:r>
              <a:endParaRPr sz="10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18" name="Google Shape;618;p30"/>
            <p:cNvSpPr/>
            <p:nvPr/>
          </p:nvSpPr>
          <p:spPr>
            <a:xfrm>
              <a:off x="8752450" y="3610323"/>
              <a:ext cx="936300" cy="2715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latin typeface="Courier New"/>
                  <a:ea typeface="Courier New"/>
                  <a:cs typeface="Courier New"/>
                  <a:sym typeface="Courier New"/>
                </a:rPr>
                <a:t>Code</a:t>
              </a:r>
              <a:endParaRPr sz="1600" b="1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619" name="Google Shape;619;p30"/>
            <p:cNvCxnSpPr/>
            <p:nvPr/>
          </p:nvCxnSpPr>
          <p:spPr>
            <a:xfrm>
              <a:off x="8402700" y="3979698"/>
              <a:ext cx="341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20" name="Google Shape;620;p30"/>
            <p:cNvSpPr/>
            <p:nvPr/>
          </p:nvSpPr>
          <p:spPr>
            <a:xfrm>
              <a:off x="7882800" y="3915648"/>
              <a:ext cx="563100" cy="12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34920</a:t>
              </a:r>
              <a:endParaRPr sz="10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621" name="Google Shape;621;p30"/>
            <p:cNvCxnSpPr/>
            <p:nvPr/>
          </p:nvCxnSpPr>
          <p:spPr>
            <a:xfrm>
              <a:off x="8398625" y="2846886"/>
              <a:ext cx="341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22" name="Google Shape;622;p30"/>
            <p:cNvSpPr/>
            <p:nvPr/>
          </p:nvSpPr>
          <p:spPr>
            <a:xfrm>
              <a:off x="8019000" y="2782836"/>
              <a:ext cx="444600" cy="12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27K</a:t>
              </a:r>
              <a:endParaRPr sz="10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623" name="Google Shape;623;p30"/>
            <p:cNvCxnSpPr/>
            <p:nvPr/>
          </p:nvCxnSpPr>
          <p:spPr>
            <a:xfrm>
              <a:off x="6829075" y="2295398"/>
              <a:ext cx="1905000" cy="13146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24" name="Google Shape;624;p30"/>
            <p:cNvCxnSpPr/>
            <p:nvPr/>
          </p:nvCxnSpPr>
          <p:spPr>
            <a:xfrm>
              <a:off x="6829075" y="2600198"/>
              <a:ext cx="1905000" cy="1285800"/>
            </a:xfrm>
            <a:prstGeom prst="straightConnector1">
              <a:avLst/>
            </a:prstGeom>
            <a:noFill/>
            <a:ln w="9525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25" name="Google Shape;625;p30"/>
            <p:cNvCxnSpPr/>
            <p:nvPr/>
          </p:nvCxnSpPr>
          <p:spPr>
            <a:xfrm>
              <a:off x="6829075" y="2947873"/>
              <a:ext cx="1905000" cy="9381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626" name="Google Shape;626;p30"/>
            <p:cNvCxnSpPr/>
            <p:nvPr/>
          </p:nvCxnSpPr>
          <p:spPr>
            <a:xfrm>
              <a:off x="6829075" y="3233623"/>
              <a:ext cx="1905000" cy="9336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D1A9277D-590A-4CB8-B741-360E4CF6E77B}"/>
              </a:ext>
            </a:extLst>
          </p:cNvPr>
          <p:cNvGrpSpPr/>
          <p:nvPr/>
        </p:nvGrpSpPr>
        <p:grpSpPr>
          <a:xfrm>
            <a:off x="4712060" y="5741698"/>
            <a:ext cx="3324640" cy="307777"/>
            <a:chOff x="4712060" y="5741698"/>
            <a:chExt cx="3324640" cy="307777"/>
          </a:xfrm>
        </p:grpSpPr>
        <p:graphicFrame>
          <p:nvGraphicFramePr>
            <p:cNvPr id="60" name="Google Shape;553;p28">
              <a:extLst>
                <a:ext uri="{FF2B5EF4-FFF2-40B4-BE49-F238E27FC236}">
                  <a16:creationId xmlns:a16="http://schemas.microsoft.com/office/drawing/2014/main" id="{6F5575DA-763D-423F-93FB-6AB711B5A65E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224781070"/>
                </p:ext>
              </p:extLst>
            </p:nvPr>
          </p:nvGraphicFramePr>
          <p:xfrm>
            <a:off x="5121200" y="5763655"/>
            <a:ext cx="2915500" cy="274290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2082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20007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20008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20009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20010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20011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20012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20013"/>
                      </a:ext>
                    </a:extLst>
                  </a:gridCol>
                </a:tblGrid>
                <a:tr h="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 dirty="0"/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 dirty="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 dirty="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</a:tbl>
            </a:graphicData>
          </a:graphic>
        </p:graphicFrame>
        <p:sp>
          <p:nvSpPr>
            <p:cNvPr id="61" name="CuadroTexto 60">
              <a:extLst>
                <a:ext uri="{FF2B5EF4-FFF2-40B4-BE49-F238E27FC236}">
                  <a16:creationId xmlns:a16="http://schemas.microsoft.com/office/drawing/2014/main" id="{019DF5BF-020B-413F-BC8C-7E859CA26507}"/>
                </a:ext>
              </a:extLst>
            </p:cNvPr>
            <p:cNvSpPr txBox="1"/>
            <p:nvPr/>
          </p:nvSpPr>
          <p:spPr>
            <a:xfrm>
              <a:off x="4712060" y="5741698"/>
              <a:ext cx="3834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CO" sz="1400" b="1" dirty="0">
                  <a:latin typeface="Consolas" panose="020B0609020204030204" pitchFamily="49" charset="0"/>
                </a:rPr>
                <a:t>VA</a:t>
              </a:r>
            </a:p>
          </p:txBody>
        </p: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DFE855D0-70F8-4855-AB29-F4B8420FC791}"/>
              </a:ext>
            </a:extLst>
          </p:cNvPr>
          <p:cNvGrpSpPr/>
          <p:nvPr/>
        </p:nvGrpSpPr>
        <p:grpSpPr>
          <a:xfrm>
            <a:off x="8322050" y="5740506"/>
            <a:ext cx="3759300" cy="307777"/>
            <a:chOff x="8322050" y="5740506"/>
            <a:chExt cx="3759300" cy="307777"/>
          </a:xfrm>
        </p:grpSpPr>
        <p:graphicFrame>
          <p:nvGraphicFramePr>
            <p:cNvPr id="62" name="Google Shape;553;p28">
              <a:extLst>
                <a:ext uri="{FF2B5EF4-FFF2-40B4-BE49-F238E27FC236}">
                  <a16:creationId xmlns:a16="http://schemas.microsoft.com/office/drawing/2014/main" id="{D8DEF3D2-001E-4971-937D-E2785ED82647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710950424"/>
                </p:ext>
              </p:extLst>
            </p:nvPr>
          </p:nvGraphicFramePr>
          <p:xfrm>
            <a:off x="8749350" y="5757250"/>
            <a:ext cx="3332000" cy="274290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2082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20007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20008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20009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20010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20011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20012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20013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3177720380"/>
                      </a:ext>
                    </a:extLst>
                  </a:gridCol>
                  <a:gridCol w="208250">
                    <a:extLst>
                      <a:ext uri="{9D8B030D-6E8A-4147-A177-3AD203B41FA5}">
                        <a16:colId xmlns:a16="http://schemas.microsoft.com/office/drawing/2014/main" val="1766274309"/>
                      </a:ext>
                    </a:extLst>
                  </a:gridCol>
                </a:tblGrid>
                <a:tr h="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 dirty="0"/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 dirty="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 dirty="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 dirty="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 dirty="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 dirty="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600" dirty="0"/>
                      </a:p>
                    </a:txBody>
                    <a:tcPr marL="91425" marR="91425" marT="91425" marB="91425">
                      <a:lnL w="1905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</a:tbl>
            </a:graphicData>
          </a:graphic>
        </p:graphicFrame>
        <p:sp>
          <p:nvSpPr>
            <p:cNvPr id="63" name="CuadroTexto 62">
              <a:extLst>
                <a:ext uri="{FF2B5EF4-FFF2-40B4-BE49-F238E27FC236}">
                  <a16:creationId xmlns:a16="http://schemas.microsoft.com/office/drawing/2014/main" id="{1C4E2B81-117F-4281-A5BA-C7B32A9A3B7B}"/>
                </a:ext>
              </a:extLst>
            </p:cNvPr>
            <p:cNvSpPr txBox="1"/>
            <p:nvPr/>
          </p:nvSpPr>
          <p:spPr>
            <a:xfrm>
              <a:off x="8322050" y="5740506"/>
              <a:ext cx="3834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s-CO" sz="1400" b="1" dirty="0">
                  <a:latin typeface="Consolas" panose="020B0609020204030204" pitchFamily="49" charset="0"/>
                </a:rPr>
                <a:t>PA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31"/>
          <p:cNvSpPr txBox="1">
            <a:spLocks noGrp="1"/>
          </p:cNvSpPr>
          <p:nvPr>
            <p:ph type="title"/>
          </p:nvPr>
        </p:nvSpPr>
        <p:spPr>
          <a:xfrm>
            <a:off x="393700" y="466500"/>
            <a:ext cx="10515600" cy="108267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Fragmentación externa</a:t>
            </a:r>
            <a:endParaRPr dirty="0"/>
          </a:p>
        </p:txBody>
      </p:sp>
      <p:pic>
        <p:nvPicPr>
          <p:cNvPr id="633" name="Google Shape;63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6875" y="1549175"/>
            <a:ext cx="2382462" cy="476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4" name="Google Shape;63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2700" y="1549175"/>
            <a:ext cx="2394871" cy="4764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5" name="Google Shape;635;p31"/>
          <p:cNvGrpSpPr/>
          <p:nvPr/>
        </p:nvGrpSpPr>
        <p:grpSpPr>
          <a:xfrm>
            <a:off x="5038650" y="3458725"/>
            <a:ext cx="1983277" cy="615600"/>
            <a:chOff x="7605285" y="2960475"/>
            <a:chExt cx="1243200" cy="615600"/>
          </a:xfrm>
        </p:grpSpPr>
        <p:sp>
          <p:nvSpPr>
            <p:cNvPr id="636" name="Google Shape;636;p31"/>
            <p:cNvSpPr/>
            <p:nvPr/>
          </p:nvSpPr>
          <p:spPr>
            <a:xfrm>
              <a:off x="7605285" y="2960475"/>
              <a:ext cx="1243200" cy="6156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EA999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1"/>
            <p:cNvSpPr txBox="1"/>
            <p:nvPr/>
          </p:nvSpPr>
          <p:spPr>
            <a:xfrm>
              <a:off x="7642314" y="3036675"/>
              <a:ext cx="10962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700" b="1">
                  <a:solidFill>
                    <a:schemeClr val="lt1"/>
                  </a:solidFill>
                  <a:latin typeface="Consolas"/>
                  <a:ea typeface="Consolas"/>
                  <a:cs typeface="Consolas"/>
                  <a:sym typeface="Consolas"/>
                </a:rPr>
                <a:t>Compactación</a:t>
              </a:r>
              <a:endParaRPr sz="1700" b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638" name="Google Shape;638;p31"/>
          <p:cNvSpPr/>
          <p:nvPr/>
        </p:nvSpPr>
        <p:spPr>
          <a:xfrm>
            <a:off x="5138050" y="4243475"/>
            <a:ext cx="1784484" cy="1271268"/>
          </a:xfrm>
          <a:prstGeom prst="irregularSeal1">
            <a:avLst/>
          </a:prstGeom>
          <a:solidFill>
            <a:srgbClr val="FFFF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Solución costosa</a:t>
            </a:r>
            <a:endParaRPr sz="12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  <a:cs typeface="Segoe UI" panose="020B0502040204020203" pitchFamily="34" charset="0"/>
              </a:rPr>
              <a:t>Contextualización</a:t>
            </a:r>
            <a:endParaRPr dirty="0"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654" name="Google Shape;654;p33"/>
          <p:cNvSpPr txBox="1"/>
          <p:nvPr/>
        </p:nvSpPr>
        <p:spPr>
          <a:xfrm>
            <a:off x="916650" y="1418600"/>
            <a:ext cx="10547400" cy="178507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ea typeface="Roboto"/>
                <a:cs typeface="Roboto"/>
                <a:sym typeface="Roboto"/>
              </a:rPr>
              <a:t>¿Cómo virtualizar la memoria con páginas?</a:t>
            </a:r>
            <a:endParaRPr sz="2400" b="1" dirty="0">
              <a:solidFill>
                <a:schemeClr val="accent1"/>
              </a:solidFill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s-ES" sz="2000" dirty="0">
                <a:ea typeface="Roboto"/>
                <a:cs typeface="Roboto"/>
                <a:sym typeface="Roboto"/>
              </a:rPr>
              <a:t>¿Cómo virtualizar la memoria con páginas para evitar los problemas de la segmentación?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s-ES" sz="2000" dirty="0">
                <a:ea typeface="Roboto"/>
                <a:cs typeface="Roboto"/>
                <a:sym typeface="Roboto"/>
              </a:rPr>
              <a:t>¿Cuáles son las técnicas básicas?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s-ES" sz="2000" dirty="0">
                <a:ea typeface="Roboto"/>
                <a:cs typeface="Roboto"/>
                <a:sym typeface="Roboto"/>
              </a:rPr>
              <a:t>¿Cómo hacer que estas técnicas trabajen correctamente para alcanzar un mínimo </a:t>
            </a:r>
            <a:r>
              <a:rPr lang="es-ES" sz="2000" dirty="0" err="1">
                <a:ea typeface="Roboto"/>
                <a:cs typeface="Roboto"/>
                <a:sym typeface="Roboto"/>
              </a:rPr>
              <a:t>overhead</a:t>
            </a:r>
            <a:r>
              <a:rPr lang="es-ES" sz="2000" dirty="0">
                <a:ea typeface="Roboto"/>
                <a:cs typeface="Roboto"/>
                <a:sym typeface="Roboto"/>
              </a:rPr>
              <a:t> (espacio y tiempo)?</a:t>
            </a:r>
            <a:endParaRPr sz="2000" dirty="0"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Contextualización</a:t>
            </a:r>
            <a:endParaRPr dirty="0">
              <a:latin typeface="+mj-lt"/>
            </a:endParaRPr>
          </a:p>
        </p:txBody>
      </p:sp>
      <p:sp>
        <p:nvSpPr>
          <p:cNvPr id="660" name="Google Shape;660;p34"/>
          <p:cNvSpPr txBox="1">
            <a:spLocks noGrp="1"/>
          </p:cNvSpPr>
          <p:nvPr>
            <p:ph type="body" idx="1"/>
          </p:nvPr>
        </p:nvSpPr>
        <p:spPr>
          <a:xfrm>
            <a:off x="371000" y="926290"/>
            <a:ext cx="11528850" cy="1874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</a:rPr>
              <a:t>Preliminares</a:t>
            </a: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En la segmentación la forma en cómo se divide la memoria maneja una granularidad grano grueso (pocas divisiones, continuas, tamaño variable).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El objetivo al usar paginación es hacer más fina la división (grano fino) de la memoria (mayor cantidad de divisiones, tamaño fijo).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  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661" name="Google Shape;661;p34"/>
          <p:cNvGrpSpPr/>
          <p:nvPr/>
        </p:nvGrpSpPr>
        <p:grpSpPr>
          <a:xfrm>
            <a:off x="1825458" y="3498610"/>
            <a:ext cx="936207" cy="2605723"/>
            <a:chOff x="1775100" y="4022850"/>
            <a:chExt cx="1076100" cy="1739700"/>
          </a:xfrm>
        </p:grpSpPr>
        <p:sp>
          <p:nvSpPr>
            <p:cNvPr id="662" name="Google Shape;662;p34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63" name="Google Shape;663;p34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664" name="Google Shape;664;p34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nsolas"/>
                    <a:ea typeface="Consolas"/>
                    <a:cs typeface="Consolas"/>
                    <a:sym typeface="Consolas"/>
                  </a:rPr>
                  <a:t>code</a:t>
                </a:r>
                <a:endParaRPr sz="1600" b="1"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665" name="Google Shape;665;p34"/>
              <p:cNvSpPr/>
              <p:nvPr/>
            </p:nvSpPr>
            <p:spPr>
              <a:xfrm>
                <a:off x="7948250" y="3097536"/>
                <a:ext cx="1076100" cy="284400"/>
              </a:xfrm>
              <a:prstGeom prst="rect">
                <a:avLst/>
              </a:prstGeom>
              <a:solidFill>
                <a:srgbClr val="FFF2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nsolas"/>
                    <a:ea typeface="Consolas"/>
                    <a:cs typeface="Consolas"/>
                    <a:sym typeface="Consolas"/>
                  </a:rPr>
                  <a:t>heap</a:t>
                </a:r>
                <a:endParaRPr sz="1600"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666" name="Google Shape;666;p34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nsolas"/>
                    <a:ea typeface="Consolas"/>
                    <a:cs typeface="Consolas"/>
                    <a:sym typeface="Consolas"/>
                  </a:rPr>
                  <a:t>stack</a:t>
                </a:r>
                <a:endParaRPr sz="1600"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667" name="Google Shape;667;p34"/>
              <p:cNvCxnSpPr>
                <a:stCxn id="665" idx="2"/>
              </p:cNvCxnSpPr>
              <p:nvPr/>
            </p:nvCxnSpPr>
            <p:spPr>
              <a:xfrm>
                <a:off x="8486300" y="3381936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668" name="Google Shape;668;p34"/>
              <p:cNvCxnSpPr>
                <a:stCxn id="666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aphicFrame>
        <p:nvGraphicFramePr>
          <p:cNvPr id="669" name="Google Shape;669;p34"/>
          <p:cNvGraphicFramePr/>
          <p:nvPr/>
        </p:nvGraphicFramePr>
        <p:xfrm>
          <a:off x="5050525" y="3498550"/>
          <a:ext cx="936200" cy="260580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93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670" name="Google Shape;670;p34"/>
          <p:cNvGraphicFramePr/>
          <p:nvPr/>
        </p:nvGraphicFramePr>
        <p:xfrm>
          <a:off x="8603775" y="3358038"/>
          <a:ext cx="936200" cy="304010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93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671" name="Google Shape;671;p34"/>
          <p:cNvGrpSpPr/>
          <p:nvPr/>
        </p:nvGrpSpPr>
        <p:grpSpPr>
          <a:xfrm>
            <a:off x="5109425" y="3580963"/>
            <a:ext cx="793200" cy="2450775"/>
            <a:chOff x="5437288" y="3526188"/>
            <a:chExt cx="793200" cy="2450775"/>
          </a:xfrm>
        </p:grpSpPr>
        <p:cxnSp>
          <p:nvCxnSpPr>
            <p:cNvPr id="672" name="Google Shape;672;p34"/>
            <p:cNvCxnSpPr/>
            <p:nvPr/>
          </p:nvCxnSpPr>
          <p:spPr>
            <a:xfrm>
              <a:off x="5848974" y="4334225"/>
              <a:ext cx="6000" cy="3915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73" name="Google Shape;673;p34"/>
            <p:cNvCxnSpPr/>
            <p:nvPr/>
          </p:nvCxnSpPr>
          <p:spPr>
            <a:xfrm rot="10800000" flipH="1">
              <a:off x="5850174" y="5277246"/>
              <a:ext cx="3600" cy="3486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74" name="Google Shape;674;p34"/>
            <p:cNvSpPr/>
            <p:nvPr/>
          </p:nvSpPr>
          <p:spPr>
            <a:xfrm>
              <a:off x="5507263" y="3526188"/>
              <a:ext cx="689400" cy="2565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latin typeface="Consolas"/>
                  <a:ea typeface="Consolas"/>
                  <a:cs typeface="Consolas"/>
                  <a:sym typeface="Consolas"/>
                </a:rPr>
                <a:t>code</a:t>
              </a:r>
              <a:endParaRPr sz="16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75" name="Google Shape;675;p34"/>
            <p:cNvSpPr/>
            <p:nvPr/>
          </p:nvSpPr>
          <p:spPr>
            <a:xfrm>
              <a:off x="5496388" y="3958513"/>
              <a:ext cx="689400" cy="256500"/>
            </a:xfrm>
            <a:prstGeom prst="rect">
              <a:avLst/>
            </a:pr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latin typeface="Consolas"/>
                  <a:ea typeface="Consolas"/>
                  <a:cs typeface="Consolas"/>
                  <a:sym typeface="Consolas"/>
                </a:rPr>
                <a:t>heap</a:t>
              </a:r>
              <a:endParaRPr sz="16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76" name="Google Shape;676;p34"/>
            <p:cNvSpPr/>
            <p:nvPr/>
          </p:nvSpPr>
          <p:spPr>
            <a:xfrm>
              <a:off x="5437288" y="5720463"/>
              <a:ext cx="793200" cy="256500"/>
            </a:xfrm>
            <a:prstGeom prst="rect">
              <a:avLst/>
            </a:prstGeom>
            <a:solidFill>
              <a:srgbClr val="C9DA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latin typeface="Consolas"/>
                  <a:ea typeface="Consolas"/>
                  <a:cs typeface="Consolas"/>
                  <a:sym typeface="Consolas"/>
                </a:rPr>
                <a:t>stack</a:t>
              </a:r>
              <a:endParaRPr sz="16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677" name="Google Shape;677;p34"/>
          <p:cNvGrpSpPr/>
          <p:nvPr/>
        </p:nvGrpSpPr>
        <p:grpSpPr>
          <a:xfrm>
            <a:off x="8686000" y="3660896"/>
            <a:ext cx="793200" cy="2260142"/>
            <a:chOff x="8802650" y="3800958"/>
            <a:chExt cx="793200" cy="2260142"/>
          </a:xfrm>
        </p:grpSpPr>
        <p:cxnSp>
          <p:nvCxnSpPr>
            <p:cNvPr id="678" name="Google Shape;678;p34"/>
            <p:cNvCxnSpPr/>
            <p:nvPr/>
          </p:nvCxnSpPr>
          <p:spPr>
            <a:xfrm rot="10800000" flipH="1">
              <a:off x="9220649" y="3800958"/>
              <a:ext cx="3600" cy="3486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79" name="Google Shape;679;p34"/>
            <p:cNvCxnSpPr/>
            <p:nvPr/>
          </p:nvCxnSpPr>
          <p:spPr>
            <a:xfrm>
              <a:off x="9219449" y="5669600"/>
              <a:ext cx="6000" cy="3915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80" name="Google Shape;680;p34"/>
            <p:cNvSpPr/>
            <p:nvPr/>
          </p:nvSpPr>
          <p:spPr>
            <a:xfrm>
              <a:off x="8837625" y="4673200"/>
              <a:ext cx="689400" cy="2565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latin typeface="Consolas"/>
                  <a:ea typeface="Consolas"/>
                  <a:cs typeface="Consolas"/>
                  <a:sym typeface="Consolas"/>
                </a:rPr>
                <a:t>code</a:t>
              </a:r>
              <a:endParaRPr sz="16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81" name="Google Shape;681;p34"/>
            <p:cNvSpPr/>
            <p:nvPr/>
          </p:nvSpPr>
          <p:spPr>
            <a:xfrm>
              <a:off x="8861750" y="5315475"/>
              <a:ext cx="689400" cy="256500"/>
            </a:xfrm>
            <a:prstGeom prst="rect">
              <a:avLst/>
            </a:pr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latin typeface="Consolas"/>
                  <a:ea typeface="Consolas"/>
                  <a:cs typeface="Consolas"/>
                  <a:sym typeface="Consolas"/>
                </a:rPr>
                <a:t>heap</a:t>
              </a:r>
              <a:endParaRPr sz="16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82" name="Google Shape;682;p34"/>
            <p:cNvSpPr/>
            <p:nvPr/>
          </p:nvSpPr>
          <p:spPr>
            <a:xfrm>
              <a:off x="8802650" y="4231575"/>
              <a:ext cx="793200" cy="256500"/>
            </a:xfrm>
            <a:prstGeom prst="rect">
              <a:avLst/>
            </a:prstGeom>
            <a:solidFill>
              <a:srgbClr val="C9DA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latin typeface="Consolas"/>
                  <a:ea typeface="Consolas"/>
                  <a:cs typeface="Consolas"/>
                  <a:sym typeface="Consolas"/>
                </a:rPr>
                <a:t>stack</a:t>
              </a:r>
              <a:endParaRPr sz="16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pic>
        <p:nvPicPr>
          <p:cNvPr id="683" name="Google Shape;68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3550" y="3498577"/>
            <a:ext cx="473625" cy="62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4" name="Google Shape;684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0860" y="3534000"/>
            <a:ext cx="426125" cy="552025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34"/>
          <p:cNvSpPr/>
          <p:nvPr/>
        </p:nvSpPr>
        <p:spPr>
          <a:xfrm>
            <a:off x="1131450" y="3101550"/>
            <a:ext cx="17223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nsolas"/>
                <a:ea typeface="Consolas"/>
                <a:cs typeface="Consolas"/>
                <a:sym typeface="Consolas"/>
              </a:rPr>
              <a:t>Segmentación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6" name="Google Shape;686;p34"/>
          <p:cNvSpPr/>
          <p:nvPr/>
        </p:nvSpPr>
        <p:spPr>
          <a:xfrm>
            <a:off x="4304650" y="3101550"/>
            <a:ext cx="17223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nsolas"/>
                <a:ea typeface="Consolas"/>
                <a:cs typeface="Consolas"/>
                <a:sym typeface="Consolas"/>
              </a:rPr>
              <a:t>Paginación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87" name="Google Shape;687;p34"/>
          <p:cNvCxnSpPr/>
          <p:nvPr/>
        </p:nvCxnSpPr>
        <p:spPr>
          <a:xfrm>
            <a:off x="5991025" y="3934400"/>
            <a:ext cx="2612700" cy="933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688" name="Google Shape;688;p34"/>
          <p:cNvCxnSpPr/>
          <p:nvPr/>
        </p:nvCxnSpPr>
        <p:spPr>
          <a:xfrm>
            <a:off x="5991025" y="3502875"/>
            <a:ext cx="2612700" cy="944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689" name="Google Shape;689;p34"/>
          <p:cNvGrpSpPr/>
          <p:nvPr/>
        </p:nvGrpSpPr>
        <p:grpSpPr>
          <a:xfrm>
            <a:off x="6467234" y="5963850"/>
            <a:ext cx="1870353" cy="673175"/>
            <a:chOff x="4675784" y="4115325"/>
            <a:chExt cx="1870353" cy="673175"/>
          </a:xfrm>
        </p:grpSpPr>
        <p:grpSp>
          <p:nvGrpSpPr>
            <p:cNvPr id="690" name="Google Shape;690;p34"/>
            <p:cNvGrpSpPr/>
            <p:nvPr/>
          </p:nvGrpSpPr>
          <p:grpSpPr>
            <a:xfrm>
              <a:off x="4703213" y="4236500"/>
              <a:ext cx="1842925" cy="552000"/>
              <a:chOff x="4513388" y="4189850"/>
              <a:chExt cx="1842925" cy="552000"/>
            </a:xfrm>
          </p:grpSpPr>
          <p:sp>
            <p:nvSpPr>
              <p:cNvPr id="691" name="Google Shape;691;p34"/>
              <p:cNvSpPr/>
              <p:nvPr/>
            </p:nvSpPr>
            <p:spPr>
              <a:xfrm>
                <a:off x="5097213" y="4189850"/>
                <a:ext cx="592200" cy="5520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200" b="1">
                    <a:latin typeface="Consolas"/>
                    <a:ea typeface="Consolas"/>
                    <a:cs typeface="Consolas"/>
                    <a:sym typeface="Consolas"/>
                  </a:rPr>
                  <a:t>AT</a:t>
                </a:r>
                <a:endParaRPr sz="22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692" name="Google Shape;692;p34"/>
              <p:cNvCxnSpPr/>
              <p:nvPr/>
            </p:nvCxnSpPr>
            <p:spPr>
              <a:xfrm rot="10800000" flipH="1">
                <a:off x="4513388" y="4461900"/>
                <a:ext cx="583800" cy="3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693" name="Google Shape;693;p34"/>
              <p:cNvCxnSpPr>
                <a:stCxn id="691" idx="3"/>
              </p:cNvCxnSpPr>
              <p:nvPr/>
            </p:nvCxnSpPr>
            <p:spPr>
              <a:xfrm rot="10800000" flipH="1">
                <a:off x="5689413" y="4465250"/>
                <a:ext cx="666900" cy="6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694" name="Google Shape;694;p34"/>
            <p:cNvSpPr txBox="1"/>
            <p:nvPr/>
          </p:nvSpPr>
          <p:spPr>
            <a:xfrm>
              <a:off x="4675784" y="4115325"/>
              <a:ext cx="592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VA</a:t>
              </a:r>
              <a:endParaRPr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95" name="Google Shape;695;p34"/>
            <p:cNvSpPr txBox="1"/>
            <p:nvPr/>
          </p:nvSpPr>
          <p:spPr>
            <a:xfrm>
              <a:off x="5841660" y="4115325"/>
              <a:ext cx="6288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PA</a:t>
              </a:r>
              <a:endParaRPr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cxnSp>
        <p:nvCxnSpPr>
          <p:cNvPr id="696" name="Google Shape;696;p34"/>
          <p:cNvCxnSpPr/>
          <p:nvPr/>
        </p:nvCxnSpPr>
        <p:spPr>
          <a:xfrm>
            <a:off x="5991025" y="3934400"/>
            <a:ext cx="2612700" cy="11664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697" name="Google Shape;697;p34"/>
          <p:cNvCxnSpPr/>
          <p:nvPr/>
        </p:nvCxnSpPr>
        <p:spPr>
          <a:xfrm>
            <a:off x="6014350" y="4377600"/>
            <a:ext cx="2589300" cy="11430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698" name="Google Shape;698;p34"/>
          <p:cNvCxnSpPr/>
          <p:nvPr/>
        </p:nvCxnSpPr>
        <p:spPr>
          <a:xfrm rot="10800000" flipH="1">
            <a:off x="6014350" y="4015900"/>
            <a:ext cx="2589300" cy="166800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699" name="Google Shape;699;p34"/>
          <p:cNvCxnSpPr/>
          <p:nvPr/>
        </p:nvCxnSpPr>
        <p:spPr>
          <a:xfrm rot="10800000" flipH="1">
            <a:off x="5991025" y="4470850"/>
            <a:ext cx="2554200" cy="164460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00" name="Google Shape;700;p34"/>
          <p:cNvSpPr/>
          <p:nvPr/>
        </p:nvSpPr>
        <p:spPr>
          <a:xfrm>
            <a:off x="1768925" y="6244875"/>
            <a:ext cx="9927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Antes</a:t>
            </a:r>
            <a:endParaRPr sz="18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1" name="Google Shape;701;p34"/>
          <p:cNvSpPr/>
          <p:nvPr/>
        </p:nvSpPr>
        <p:spPr>
          <a:xfrm>
            <a:off x="4901825" y="6244850"/>
            <a:ext cx="1233600" cy="2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Después</a:t>
            </a:r>
            <a:endParaRPr sz="1800" b="1">
              <a:solidFill>
                <a:srgbClr val="70AD4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02" name="Google Shape;702;p34"/>
          <p:cNvCxnSpPr>
            <a:cxnSpLocks/>
          </p:cNvCxnSpPr>
          <p:nvPr/>
        </p:nvCxnSpPr>
        <p:spPr>
          <a:xfrm flipV="1">
            <a:off x="3076575" y="4878089"/>
            <a:ext cx="1567347" cy="8236"/>
          </a:xfrm>
          <a:prstGeom prst="straightConnector1">
            <a:avLst/>
          </a:prstGeom>
          <a:noFill/>
          <a:ln w="57150" cap="flat" cmpd="sng">
            <a:solidFill>
              <a:srgbClr val="70AD47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Paginación</a:t>
            </a:r>
            <a:endParaRPr dirty="0">
              <a:latin typeface="+mj-lt"/>
            </a:endParaRPr>
          </a:p>
        </p:txBody>
      </p:sp>
      <p:sp>
        <p:nvSpPr>
          <p:cNvPr id="714" name="Google Shape;714;p36"/>
          <p:cNvSpPr txBox="1">
            <a:spLocks noGrp="1"/>
          </p:cNvSpPr>
          <p:nvPr>
            <p:ph type="body" idx="1"/>
          </p:nvPr>
        </p:nvSpPr>
        <p:spPr>
          <a:xfrm>
            <a:off x="916650" y="823950"/>
            <a:ext cx="10691150" cy="186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</a:rPr>
              <a:t>Aspectos claves</a:t>
            </a:r>
            <a:endParaRPr sz="2400" dirty="0">
              <a:solidFill>
                <a:schemeClr val="accent1"/>
              </a:solidFill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Dividir el espacio de direcciones (</a:t>
            </a:r>
            <a:r>
              <a:rPr lang="es-ES" sz="2000" b="1" dirty="0">
                <a:latin typeface="+mn-lt"/>
              </a:rPr>
              <a:t>address space</a:t>
            </a:r>
            <a:r>
              <a:rPr lang="es-ES" sz="2000" dirty="0">
                <a:latin typeface="+mn-lt"/>
              </a:rPr>
              <a:t>) en unidades de tamaño fijo conocidas como </a:t>
            </a:r>
            <a:r>
              <a:rPr lang="es-ES" sz="2000" b="1" dirty="0">
                <a:solidFill>
                  <a:schemeClr val="accent2"/>
                </a:solidFill>
                <a:latin typeface="+mn-lt"/>
              </a:rPr>
              <a:t>páginas</a:t>
            </a:r>
            <a:r>
              <a:rPr lang="es-ES" sz="2000" dirty="0">
                <a:latin typeface="+mn-lt"/>
              </a:rPr>
              <a:t>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Cada página es independientemente mapeada en memoria física.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Elimina la necesidad de que los segmentos del espacio de direcciones sea continuo.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715" name="Google Shape;715;p36"/>
          <p:cNvGraphicFramePr/>
          <p:nvPr/>
        </p:nvGraphicFramePr>
        <p:xfrm>
          <a:off x="5050525" y="3498550"/>
          <a:ext cx="936200" cy="260580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93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pSp>
        <p:nvGrpSpPr>
          <p:cNvPr id="716" name="Google Shape;716;p36"/>
          <p:cNvGrpSpPr/>
          <p:nvPr/>
        </p:nvGrpSpPr>
        <p:grpSpPr>
          <a:xfrm>
            <a:off x="5109425" y="3580963"/>
            <a:ext cx="793200" cy="2450775"/>
            <a:chOff x="5437288" y="3526188"/>
            <a:chExt cx="793200" cy="2450775"/>
          </a:xfrm>
        </p:grpSpPr>
        <p:cxnSp>
          <p:nvCxnSpPr>
            <p:cNvPr id="717" name="Google Shape;717;p36"/>
            <p:cNvCxnSpPr/>
            <p:nvPr/>
          </p:nvCxnSpPr>
          <p:spPr>
            <a:xfrm>
              <a:off x="5848974" y="4334225"/>
              <a:ext cx="6000" cy="3915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18" name="Google Shape;718;p36"/>
            <p:cNvCxnSpPr/>
            <p:nvPr/>
          </p:nvCxnSpPr>
          <p:spPr>
            <a:xfrm rot="10800000" flipH="1">
              <a:off x="5850174" y="5277246"/>
              <a:ext cx="3600" cy="3486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19" name="Google Shape;719;p36"/>
            <p:cNvSpPr/>
            <p:nvPr/>
          </p:nvSpPr>
          <p:spPr>
            <a:xfrm>
              <a:off x="5507263" y="3526188"/>
              <a:ext cx="689400" cy="2565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latin typeface="Consolas"/>
                  <a:ea typeface="Consolas"/>
                  <a:cs typeface="Consolas"/>
                  <a:sym typeface="Consolas"/>
                </a:rPr>
                <a:t>code</a:t>
              </a:r>
              <a:endParaRPr sz="16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20" name="Google Shape;720;p36"/>
            <p:cNvSpPr/>
            <p:nvPr/>
          </p:nvSpPr>
          <p:spPr>
            <a:xfrm>
              <a:off x="5496388" y="3958513"/>
              <a:ext cx="689400" cy="256500"/>
            </a:xfrm>
            <a:prstGeom prst="rect">
              <a:avLst/>
            </a:pr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latin typeface="Consolas"/>
                  <a:ea typeface="Consolas"/>
                  <a:cs typeface="Consolas"/>
                  <a:sym typeface="Consolas"/>
                </a:rPr>
                <a:t>heap</a:t>
              </a:r>
              <a:endParaRPr sz="16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21" name="Google Shape;721;p36"/>
            <p:cNvSpPr/>
            <p:nvPr/>
          </p:nvSpPr>
          <p:spPr>
            <a:xfrm>
              <a:off x="5437288" y="5720463"/>
              <a:ext cx="793200" cy="256500"/>
            </a:xfrm>
            <a:prstGeom prst="rect">
              <a:avLst/>
            </a:prstGeom>
            <a:solidFill>
              <a:srgbClr val="C9DA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latin typeface="Consolas"/>
                  <a:ea typeface="Consolas"/>
                  <a:cs typeface="Consolas"/>
                  <a:sym typeface="Consolas"/>
                </a:rPr>
                <a:t>stack</a:t>
              </a:r>
              <a:endParaRPr sz="16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722" name="Google Shape;722;p36"/>
          <p:cNvGraphicFramePr/>
          <p:nvPr/>
        </p:nvGraphicFramePr>
        <p:xfrm>
          <a:off x="8008950" y="3064238"/>
          <a:ext cx="936200" cy="304010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93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7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723" name="Google Shape;723;p36"/>
          <p:cNvGrpSpPr/>
          <p:nvPr/>
        </p:nvGrpSpPr>
        <p:grpSpPr>
          <a:xfrm>
            <a:off x="8091175" y="3367096"/>
            <a:ext cx="793200" cy="2260142"/>
            <a:chOff x="8802650" y="3800958"/>
            <a:chExt cx="793200" cy="2260142"/>
          </a:xfrm>
        </p:grpSpPr>
        <p:cxnSp>
          <p:nvCxnSpPr>
            <p:cNvPr id="724" name="Google Shape;724;p36"/>
            <p:cNvCxnSpPr/>
            <p:nvPr/>
          </p:nvCxnSpPr>
          <p:spPr>
            <a:xfrm rot="10800000" flipH="1">
              <a:off x="9220649" y="3800958"/>
              <a:ext cx="3600" cy="3486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25" name="Google Shape;725;p36"/>
            <p:cNvCxnSpPr/>
            <p:nvPr/>
          </p:nvCxnSpPr>
          <p:spPr>
            <a:xfrm>
              <a:off x="9219449" y="5669600"/>
              <a:ext cx="6000" cy="3915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26" name="Google Shape;726;p36"/>
            <p:cNvSpPr/>
            <p:nvPr/>
          </p:nvSpPr>
          <p:spPr>
            <a:xfrm>
              <a:off x="8837625" y="4673200"/>
              <a:ext cx="689400" cy="2565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latin typeface="Consolas"/>
                  <a:ea typeface="Consolas"/>
                  <a:cs typeface="Consolas"/>
                  <a:sym typeface="Consolas"/>
                </a:rPr>
                <a:t>code</a:t>
              </a:r>
              <a:endParaRPr sz="16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27" name="Google Shape;727;p36"/>
            <p:cNvSpPr/>
            <p:nvPr/>
          </p:nvSpPr>
          <p:spPr>
            <a:xfrm>
              <a:off x="8861750" y="5315475"/>
              <a:ext cx="689400" cy="256500"/>
            </a:xfrm>
            <a:prstGeom prst="rect">
              <a:avLst/>
            </a:pr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latin typeface="Consolas"/>
                  <a:ea typeface="Consolas"/>
                  <a:cs typeface="Consolas"/>
                  <a:sym typeface="Consolas"/>
                </a:rPr>
                <a:t>heap</a:t>
              </a:r>
              <a:endParaRPr sz="16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28" name="Google Shape;728;p36"/>
            <p:cNvSpPr/>
            <p:nvPr/>
          </p:nvSpPr>
          <p:spPr>
            <a:xfrm>
              <a:off x="8802650" y="4231575"/>
              <a:ext cx="793200" cy="256500"/>
            </a:xfrm>
            <a:prstGeom prst="rect">
              <a:avLst/>
            </a:prstGeom>
            <a:solidFill>
              <a:srgbClr val="C9DA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latin typeface="Consolas"/>
                  <a:ea typeface="Consolas"/>
                  <a:cs typeface="Consolas"/>
                  <a:sym typeface="Consolas"/>
                </a:rPr>
                <a:t>stack</a:t>
              </a:r>
              <a:endParaRPr sz="16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cxnSp>
        <p:nvCxnSpPr>
          <p:cNvPr id="729" name="Google Shape;729;p36"/>
          <p:cNvCxnSpPr/>
          <p:nvPr/>
        </p:nvCxnSpPr>
        <p:spPr>
          <a:xfrm>
            <a:off x="5991025" y="3607825"/>
            <a:ext cx="1994400" cy="641400"/>
          </a:xfrm>
          <a:prstGeom prst="bentConnector3">
            <a:avLst>
              <a:gd name="adj1" fmla="val 80702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0" name="Google Shape;730;p36"/>
          <p:cNvCxnSpPr/>
          <p:nvPr/>
        </p:nvCxnSpPr>
        <p:spPr>
          <a:xfrm>
            <a:off x="5979375" y="3794450"/>
            <a:ext cx="1994400" cy="676500"/>
          </a:xfrm>
          <a:prstGeom prst="bentConnector3">
            <a:avLst>
              <a:gd name="adj1" fmla="val 74855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1" name="Google Shape;731;p36"/>
          <p:cNvCxnSpPr/>
          <p:nvPr/>
        </p:nvCxnSpPr>
        <p:spPr>
          <a:xfrm>
            <a:off x="6014350" y="4027725"/>
            <a:ext cx="1971000" cy="874800"/>
          </a:xfrm>
          <a:prstGeom prst="bentConnector3">
            <a:avLst>
              <a:gd name="adj1" fmla="val 5740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2" name="Google Shape;732;p36"/>
          <p:cNvCxnSpPr/>
          <p:nvPr/>
        </p:nvCxnSpPr>
        <p:spPr>
          <a:xfrm>
            <a:off x="5978700" y="4260825"/>
            <a:ext cx="2018400" cy="8631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3" name="Google Shape;733;p36"/>
          <p:cNvCxnSpPr/>
          <p:nvPr/>
        </p:nvCxnSpPr>
        <p:spPr>
          <a:xfrm rot="10800000" flipH="1">
            <a:off x="6014350" y="3841225"/>
            <a:ext cx="2006100" cy="1959300"/>
          </a:xfrm>
          <a:prstGeom prst="bentConnector3">
            <a:avLst>
              <a:gd name="adj1" fmla="val 61046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4" name="Google Shape;734;p36"/>
          <p:cNvCxnSpPr/>
          <p:nvPr/>
        </p:nvCxnSpPr>
        <p:spPr>
          <a:xfrm rot="10800000" flipH="1">
            <a:off x="6014350" y="4050950"/>
            <a:ext cx="1982700" cy="1936200"/>
          </a:xfrm>
          <a:prstGeom prst="bentConnector3">
            <a:avLst>
              <a:gd name="adj1" fmla="val 69414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24FE2A77-4907-4B11-BBD4-868F65F040A4}"/>
              </a:ext>
            </a:extLst>
          </p:cNvPr>
          <p:cNvSpPr/>
          <p:nvPr/>
        </p:nvSpPr>
        <p:spPr>
          <a:xfrm>
            <a:off x="4991724" y="4979588"/>
            <a:ext cx="1053476" cy="290912"/>
          </a:xfrm>
          <a:prstGeom prst="roundRect">
            <a:avLst/>
          </a:prstGeom>
          <a:noFill/>
          <a:ln w="1905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8735A904-615A-4313-AC8E-776969726CEF}"/>
              </a:ext>
            </a:extLst>
          </p:cNvPr>
          <p:cNvCxnSpPr>
            <a:stCxn id="2" idx="1"/>
          </p:cNvCxnSpPr>
          <p:nvPr/>
        </p:nvCxnSpPr>
        <p:spPr>
          <a:xfrm flipH="1">
            <a:off x="4470400" y="5125044"/>
            <a:ext cx="521324" cy="306444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5C3097EA-ED11-4FF9-8981-3F0CFED2E607}"/>
              </a:ext>
            </a:extLst>
          </p:cNvPr>
          <p:cNvSpPr txBox="1"/>
          <p:nvPr/>
        </p:nvSpPr>
        <p:spPr>
          <a:xfrm>
            <a:off x="3604391" y="5332021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 dirty="0">
                <a:solidFill>
                  <a:srgbClr val="00B050"/>
                </a:solidFill>
                <a:latin typeface="Consolas" panose="020B0609020204030204" pitchFamily="49" charset="0"/>
              </a:rPr>
              <a:t>pagina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3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Paginación</a:t>
            </a:r>
            <a:endParaRPr dirty="0">
              <a:latin typeface="+mj-lt"/>
            </a:endParaRPr>
          </a:p>
        </p:txBody>
      </p:sp>
      <p:sp>
        <p:nvSpPr>
          <p:cNvPr id="740" name="Google Shape;740;p37"/>
          <p:cNvSpPr txBox="1">
            <a:spLocks noGrp="1"/>
          </p:cNvSpPr>
          <p:nvPr>
            <p:ph type="body" idx="1"/>
          </p:nvPr>
        </p:nvSpPr>
        <p:spPr>
          <a:xfrm>
            <a:off x="587546" y="1103638"/>
            <a:ext cx="11016907" cy="11131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</a:rPr>
              <a:t>Page (Página)</a:t>
            </a:r>
            <a:endParaRPr sz="2400" dirty="0">
              <a:solidFill>
                <a:schemeClr val="accent1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000" b="1" dirty="0">
                <a:latin typeface="+mn-lt"/>
              </a:rPr>
              <a:t>Una pagina (page) </a:t>
            </a:r>
            <a:r>
              <a:rPr lang="es-ES" sz="2000" dirty="0">
                <a:latin typeface="+mn-lt"/>
              </a:rPr>
              <a:t>es un bloque de memoria virtual (Address Space) de tamaño fijo.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741" name="Google Shape;741;p37"/>
          <p:cNvGraphicFramePr/>
          <p:nvPr>
            <p:extLst>
              <p:ext uri="{D42A27DB-BD31-4B8C-83A1-F6EECF244321}">
                <p14:modId xmlns:p14="http://schemas.microsoft.com/office/powerpoint/2010/main" val="1462746765"/>
              </p:ext>
            </p:extLst>
          </p:nvPr>
        </p:nvGraphicFramePr>
        <p:xfrm>
          <a:off x="6762725" y="3030575"/>
          <a:ext cx="2437600" cy="3570225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43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02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2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0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2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0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42" name="Google Shape;742;p37"/>
          <p:cNvSpPr/>
          <p:nvPr/>
        </p:nvSpPr>
        <p:spPr>
          <a:xfrm>
            <a:off x="5536150" y="3164650"/>
            <a:ext cx="11196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Page 0</a:t>
            </a:r>
            <a:endParaRPr sz="18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3" name="Google Shape;743;p37"/>
          <p:cNvSpPr/>
          <p:nvPr/>
        </p:nvSpPr>
        <p:spPr>
          <a:xfrm>
            <a:off x="5536150" y="3841900"/>
            <a:ext cx="11196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Page 1</a:t>
            </a:r>
            <a:endParaRPr sz="18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4" name="Google Shape;744;p37"/>
          <p:cNvSpPr/>
          <p:nvPr/>
        </p:nvSpPr>
        <p:spPr>
          <a:xfrm>
            <a:off x="5326150" y="5309450"/>
            <a:ext cx="13296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Page M-2</a:t>
            </a:r>
            <a:endParaRPr sz="18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5" name="Google Shape;745;p37"/>
          <p:cNvSpPr/>
          <p:nvPr/>
        </p:nvSpPr>
        <p:spPr>
          <a:xfrm>
            <a:off x="5326150" y="6033350"/>
            <a:ext cx="13296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Page M-1</a:t>
            </a:r>
            <a:endParaRPr sz="18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6" name="Google Shape;746;p37"/>
          <p:cNvSpPr/>
          <p:nvPr/>
        </p:nvSpPr>
        <p:spPr>
          <a:xfrm>
            <a:off x="5326150" y="4617388"/>
            <a:ext cx="13296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8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7" name="Google Shape;747;p37"/>
          <p:cNvSpPr/>
          <p:nvPr/>
        </p:nvSpPr>
        <p:spPr>
          <a:xfrm>
            <a:off x="9450450" y="3164650"/>
            <a:ext cx="11196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Page</a:t>
            </a:r>
            <a:endParaRPr sz="1800" b="1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8" name="Google Shape;748;p37"/>
          <p:cNvSpPr/>
          <p:nvPr/>
        </p:nvSpPr>
        <p:spPr>
          <a:xfrm>
            <a:off x="9310638" y="3014350"/>
            <a:ext cx="139800" cy="697200"/>
          </a:xfrm>
          <a:prstGeom prst="rightBrace">
            <a:avLst>
              <a:gd name="adj1" fmla="val 83441"/>
              <a:gd name="adj2" fmla="val 5000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37"/>
          <p:cNvSpPr/>
          <p:nvPr/>
        </p:nvSpPr>
        <p:spPr>
          <a:xfrm>
            <a:off x="6850225" y="2512275"/>
            <a:ext cx="22626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latin typeface="Consolas"/>
                <a:ea typeface="Consolas"/>
                <a:cs typeface="Consolas"/>
                <a:sym typeface="Consolas"/>
              </a:rPr>
              <a:t>Address Space</a:t>
            </a:r>
            <a:endParaRPr sz="20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0" name="Google Shape;750;p37"/>
          <p:cNvSpPr/>
          <p:nvPr/>
        </p:nvSpPr>
        <p:spPr>
          <a:xfrm>
            <a:off x="1396225" y="4374600"/>
            <a:ext cx="3323400" cy="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latin typeface="Consolas"/>
                <a:ea typeface="Consolas"/>
                <a:cs typeface="Consolas"/>
                <a:sym typeface="Consolas"/>
              </a:rPr>
              <a:t>Número de páginas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: M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Paginación</a:t>
            </a:r>
            <a:endParaRPr dirty="0">
              <a:latin typeface="+mj-lt"/>
            </a:endParaRPr>
          </a:p>
        </p:txBody>
      </p:sp>
      <p:sp>
        <p:nvSpPr>
          <p:cNvPr id="756" name="Google Shape;756;p38"/>
          <p:cNvSpPr txBox="1">
            <a:spLocks noGrp="1"/>
          </p:cNvSpPr>
          <p:nvPr>
            <p:ph type="body" idx="1"/>
          </p:nvPr>
        </p:nvSpPr>
        <p:spPr>
          <a:xfrm>
            <a:off x="315582" y="1038856"/>
            <a:ext cx="11321707" cy="127684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</a:rPr>
              <a:t>Page Frame (Marco)</a:t>
            </a:r>
            <a:endParaRPr sz="2400" dirty="0">
              <a:solidFill>
                <a:schemeClr val="accent1"/>
              </a:solidFill>
              <a:latin typeface="+mn-lt"/>
            </a:endParaRPr>
          </a:p>
          <a:p>
            <a:pPr marL="419100">
              <a:lnSpc>
                <a:spcPct val="100000"/>
              </a:lnSpc>
              <a:spcBef>
                <a:spcPts val="480"/>
              </a:spcBef>
              <a:buSzPts val="2400"/>
            </a:pPr>
            <a:r>
              <a:rPr lang="es-ES" sz="2000" b="1" dirty="0">
                <a:latin typeface="+mn-lt"/>
              </a:rPr>
              <a:t>Una marco (frame) </a:t>
            </a:r>
            <a:r>
              <a:rPr lang="es-ES" sz="2000" dirty="0">
                <a:latin typeface="+mn-lt"/>
              </a:rPr>
              <a:t>es un bloque de memoria física de tamaño fijo el cual se encuentra asociado a una página (page) de la memoria virtual. 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graphicFrame>
        <p:nvGraphicFramePr>
          <p:cNvPr id="757" name="Google Shape;757;p38"/>
          <p:cNvGraphicFramePr/>
          <p:nvPr>
            <p:extLst>
              <p:ext uri="{D42A27DB-BD31-4B8C-83A1-F6EECF244321}">
                <p14:modId xmlns:p14="http://schemas.microsoft.com/office/powerpoint/2010/main" val="3939137170"/>
              </p:ext>
            </p:extLst>
          </p:nvPr>
        </p:nvGraphicFramePr>
        <p:xfrm>
          <a:off x="6762725" y="3030575"/>
          <a:ext cx="2437600" cy="3570225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43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02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2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0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2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0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58" name="Google Shape;758;p38"/>
          <p:cNvSpPr/>
          <p:nvPr/>
        </p:nvSpPr>
        <p:spPr>
          <a:xfrm>
            <a:off x="5536150" y="3164650"/>
            <a:ext cx="11196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Frame 0</a:t>
            </a:r>
            <a:endParaRPr sz="18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9" name="Google Shape;759;p38"/>
          <p:cNvSpPr/>
          <p:nvPr/>
        </p:nvSpPr>
        <p:spPr>
          <a:xfrm>
            <a:off x="5536150" y="3841900"/>
            <a:ext cx="11196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Frame 1</a:t>
            </a:r>
            <a:endParaRPr sz="18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0" name="Google Shape;760;p38"/>
          <p:cNvSpPr/>
          <p:nvPr/>
        </p:nvSpPr>
        <p:spPr>
          <a:xfrm>
            <a:off x="5326150" y="5309450"/>
            <a:ext cx="13296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Frame N-2</a:t>
            </a:r>
            <a:endParaRPr sz="18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1" name="Google Shape;761;p38"/>
          <p:cNvSpPr/>
          <p:nvPr/>
        </p:nvSpPr>
        <p:spPr>
          <a:xfrm>
            <a:off x="5326150" y="6033350"/>
            <a:ext cx="13296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Frame N-1</a:t>
            </a:r>
            <a:endParaRPr sz="18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2" name="Google Shape;762;p38"/>
          <p:cNvSpPr/>
          <p:nvPr/>
        </p:nvSpPr>
        <p:spPr>
          <a:xfrm>
            <a:off x="5326150" y="4617388"/>
            <a:ext cx="13296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8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3" name="Google Shape;763;p38"/>
          <p:cNvSpPr/>
          <p:nvPr/>
        </p:nvSpPr>
        <p:spPr>
          <a:xfrm>
            <a:off x="9450450" y="3164650"/>
            <a:ext cx="11196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Frame</a:t>
            </a:r>
            <a:endParaRPr sz="1800" b="1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4" name="Google Shape;764;p38"/>
          <p:cNvSpPr/>
          <p:nvPr/>
        </p:nvSpPr>
        <p:spPr>
          <a:xfrm>
            <a:off x="9310638" y="3014350"/>
            <a:ext cx="139800" cy="697200"/>
          </a:xfrm>
          <a:prstGeom prst="rightBrace">
            <a:avLst>
              <a:gd name="adj1" fmla="val 83441"/>
              <a:gd name="adj2" fmla="val 5000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5" name="Google Shape;765;p38"/>
          <p:cNvSpPr/>
          <p:nvPr/>
        </p:nvSpPr>
        <p:spPr>
          <a:xfrm>
            <a:off x="6762725" y="2512275"/>
            <a:ext cx="24375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latin typeface="Consolas"/>
                <a:ea typeface="Consolas"/>
                <a:cs typeface="Consolas"/>
                <a:sym typeface="Consolas"/>
              </a:rPr>
              <a:t>Physical Memory</a:t>
            </a:r>
            <a:endParaRPr sz="20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6" name="Google Shape;766;p38"/>
          <p:cNvSpPr/>
          <p:nvPr/>
        </p:nvSpPr>
        <p:spPr>
          <a:xfrm>
            <a:off x="1396250" y="4238500"/>
            <a:ext cx="3323400" cy="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latin typeface="Consolas"/>
                <a:ea typeface="Consolas"/>
                <a:cs typeface="Consolas"/>
                <a:sym typeface="Consolas"/>
              </a:rPr>
              <a:t>Número de frames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: N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39"/>
          <p:cNvSpPr txBox="1">
            <a:spLocks noGrp="1"/>
          </p:cNvSpPr>
          <p:nvPr>
            <p:ph type="title"/>
          </p:nvPr>
        </p:nvSpPr>
        <p:spPr>
          <a:xfrm>
            <a:off x="449943" y="96038"/>
            <a:ext cx="877070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Paginación</a:t>
            </a:r>
            <a:endParaRPr dirty="0">
              <a:latin typeface="+mj-lt"/>
            </a:endParaRPr>
          </a:p>
        </p:txBody>
      </p:sp>
      <p:sp>
        <p:nvSpPr>
          <p:cNvPr id="772" name="Google Shape;772;p39"/>
          <p:cNvSpPr txBox="1">
            <a:spLocks noGrp="1"/>
          </p:cNvSpPr>
          <p:nvPr>
            <p:ph type="body" idx="1"/>
          </p:nvPr>
        </p:nvSpPr>
        <p:spPr>
          <a:xfrm>
            <a:off x="449943" y="771147"/>
            <a:ext cx="11567886" cy="1367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Page Tables</a:t>
            </a:r>
            <a:endParaRPr sz="2800" dirty="0">
              <a:solidFill>
                <a:schemeClr val="accent1"/>
              </a:solidFill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Permite la traducción de direcciones virtuales (</a:t>
            </a:r>
            <a:r>
              <a:rPr lang="es-ES" sz="2000" b="1" dirty="0">
                <a:latin typeface="+mn-lt"/>
              </a:rPr>
              <a:t>VA</a:t>
            </a:r>
            <a:r>
              <a:rPr lang="es-ES" sz="2000" dirty="0">
                <a:latin typeface="+mn-lt"/>
              </a:rPr>
              <a:t>) a direcciones físicas (</a:t>
            </a:r>
            <a:r>
              <a:rPr lang="es-ES" sz="2000" b="1" dirty="0">
                <a:latin typeface="+mn-lt"/>
              </a:rPr>
              <a:t>PA</a:t>
            </a:r>
            <a:r>
              <a:rPr lang="es-ES" sz="2000" dirty="0">
                <a:latin typeface="+mn-lt"/>
              </a:rPr>
              <a:t>) mapeando páginas (</a:t>
            </a:r>
            <a:r>
              <a:rPr lang="es-ES" sz="2000" b="1" dirty="0">
                <a:latin typeface="+mn-lt"/>
              </a:rPr>
              <a:t>pages</a:t>
            </a:r>
            <a:r>
              <a:rPr lang="es-ES" sz="2000" dirty="0">
                <a:latin typeface="+mn-lt"/>
              </a:rPr>
              <a:t>) en memoria virtual a marcos (</a:t>
            </a:r>
            <a:r>
              <a:rPr lang="es-ES" sz="2000" b="1" dirty="0">
                <a:latin typeface="+mn-lt"/>
              </a:rPr>
              <a:t>frames</a:t>
            </a:r>
            <a:r>
              <a:rPr lang="es-ES" sz="2000" dirty="0">
                <a:latin typeface="+mn-lt"/>
              </a:rPr>
              <a:t>) en memoria física.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773" name="Google Shape;773;p39"/>
          <p:cNvGraphicFramePr/>
          <p:nvPr/>
        </p:nvGraphicFramePr>
        <p:xfrm>
          <a:off x="9545275" y="2871475"/>
          <a:ext cx="1735500" cy="3413545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173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70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3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Operating System</a:t>
                      </a:r>
                      <a:endParaRPr sz="13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3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5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3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3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3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PF[j]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74" name="Google Shape;774;p39"/>
          <p:cNvSpPr/>
          <p:nvPr/>
        </p:nvSpPr>
        <p:spPr>
          <a:xfrm>
            <a:off x="9699025" y="2247113"/>
            <a:ext cx="14280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latin typeface="Consolas"/>
                <a:ea typeface="Consolas"/>
                <a:cs typeface="Consolas"/>
                <a:sym typeface="Consolas"/>
              </a:rPr>
              <a:t>Physical Memory</a:t>
            </a:r>
            <a:endParaRPr sz="20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775" name="Google Shape;775;p39"/>
          <p:cNvGraphicFramePr/>
          <p:nvPr/>
        </p:nvGraphicFramePr>
        <p:xfrm>
          <a:off x="1583175" y="2935850"/>
          <a:ext cx="1735500" cy="228585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173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4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VP[i]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76" name="Google Shape;776;p39"/>
          <p:cNvSpPr/>
          <p:nvPr/>
        </p:nvSpPr>
        <p:spPr>
          <a:xfrm>
            <a:off x="5128850" y="2338271"/>
            <a:ext cx="2261400" cy="6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nsolas"/>
                <a:ea typeface="Consolas"/>
                <a:cs typeface="Consolas"/>
                <a:sym typeface="Consolas"/>
              </a:rPr>
              <a:t>Page Table (PT)</a:t>
            </a:r>
            <a:endParaRPr sz="2000" b="1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777" name="Google Shape;777;p39"/>
          <p:cNvGrpSpPr/>
          <p:nvPr/>
        </p:nvGrpSpPr>
        <p:grpSpPr>
          <a:xfrm>
            <a:off x="4708042" y="3048011"/>
            <a:ext cx="3056106" cy="2659131"/>
            <a:chOff x="8597218" y="3717980"/>
            <a:chExt cx="4880400" cy="2036400"/>
          </a:xfrm>
        </p:grpSpPr>
        <p:sp>
          <p:nvSpPr>
            <p:cNvPr id="778" name="Google Shape;778;p39"/>
            <p:cNvSpPr/>
            <p:nvPr/>
          </p:nvSpPr>
          <p:spPr>
            <a:xfrm>
              <a:off x="8597218" y="3717980"/>
              <a:ext cx="4880400" cy="20364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79" name="Google Shape;779;p39"/>
            <p:cNvSpPr txBox="1"/>
            <p:nvPr/>
          </p:nvSpPr>
          <p:spPr>
            <a:xfrm>
              <a:off x="10593875" y="3778912"/>
              <a:ext cx="887100" cy="4242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AT</a:t>
              </a:r>
              <a:endParaRPr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780" name="Google Shape;780;p39"/>
          <p:cNvSpPr txBox="1"/>
          <p:nvPr/>
        </p:nvSpPr>
        <p:spPr>
          <a:xfrm>
            <a:off x="3541325" y="3977961"/>
            <a:ext cx="555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600" b="1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1" name="Google Shape;781;p39"/>
          <p:cNvSpPr txBox="1"/>
          <p:nvPr/>
        </p:nvSpPr>
        <p:spPr>
          <a:xfrm>
            <a:off x="8118227" y="4287837"/>
            <a:ext cx="555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PA</a:t>
            </a:r>
            <a:endParaRPr sz="1600" b="1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782" name="Google Shape;782;p39"/>
          <p:cNvGraphicFramePr/>
          <p:nvPr/>
        </p:nvGraphicFramePr>
        <p:xfrm>
          <a:off x="5175788" y="3699307"/>
          <a:ext cx="2167525" cy="170680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106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frame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VP[i]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PF[j]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83" name="Google Shape;783;p39"/>
          <p:cNvSpPr/>
          <p:nvPr/>
        </p:nvSpPr>
        <p:spPr>
          <a:xfrm>
            <a:off x="916650" y="4135425"/>
            <a:ext cx="6681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latin typeface="Consolas"/>
                <a:ea typeface="Consolas"/>
                <a:cs typeface="Consolas"/>
                <a:sym typeface="Consolas"/>
              </a:rPr>
              <a:t>VPN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4" name="Google Shape;784;p39"/>
          <p:cNvSpPr/>
          <p:nvPr/>
        </p:nvSpPr>
        <p:spPr>
          <a:xfrm>
            <a:off x="11280775" y="4371200"/>
            <a:ext cx="6021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latin typeface="Consolas"/>
                <a:ea typeface="Consolas"/>
                <a:cs typeface="Consolas"/>
                <a:sym typeface="Consolas"/>
              </a:rPr>
              <a:t>PFN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85" name="Google Shape;785;p39"/>
          <p:cNvCxnSpPr/>
          <p:nvPr/>
        </p:nvCxnSpPr>
        <p:spPr>
          <a:xfrm>
            <a:off x="7180675" y="4774175"/>
            <a:ext cx="2857500" cy="12012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86" name="Google Shape;786;p39"/>
          <p:cNvCxnSpPr/>
          <p:nvPr/>
        </p:nvCxnSpPr>
        <p:spPr>
          <a:xfrm>
            <a:off x="2818625" y="4435925"/>
            <a:ext cx="2507700" cy="3267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87" name="Google Shape;787;p39"/>
          <p:cNvSpPr/>
          <p:nvPr/>
        </p:nvSpPr>
        <p:spPr>
          <a:xfrm>
            <a:off x="911225" y="5719550"/>
            <a:ext cx="3185400" cy="10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s-ES" sz="1400" b="1" dirty="0">
                <a:latin typeface="Consolas"/>
                <a:ea typeface="Consolas"/>
                <a:cs typeface="Consolas"/>
                <a:sym typeface="Consolas"/>
              </a:rPr>
              <a:t>VPN</a:t>
            </a: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: Virtual page number.</a:t>
            </a:r>
            <a:endParaRPr sz="14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4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PFN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Page Frame number.</a:t>
            </a:r>
            <a:endParaRPr sz="14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8" name="Google Shape;788;p39"/>
          <p:cNvSpPr/>
          <p:nvPr/>
        </p:nvSpPr>
        <p:spPr>
          <a:xfrm>
            <a:off x="1620825" y="2311025"/>
            <a:ext cx="16602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latin typeface="Consolas"/>
                <a:ea typeface="Consolas"/>
                <a:cs typeface="Consolas"/>
                <a:sym typeface="Consolas"/>
              </a:rPr>
              <a:t>Address Space</a:t>
            </a:r>
            <a:endParaRPr sz="2000" b="1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40"/>
          <p:cNvSpPr txBox="1">
            <a:spLocks noGrp="1"/>
          </p:cNvSpPr>
          <p:nvPr>
            <p:ph type="title"/>
          </p:nvPr>
        </p:nvSpPr>
        <p:spPr>
          <a:xfrm>
            <a:off x="348343" y="95800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Paginación</a:t>
            </a:r>
            <a:endParaRPr dirty="0">
              <a:latin typeface="+mj-lt"/>
            </a:endParaRPr>
          </a:p>
        </p:txBody>
      </p:sp>
      <p:sp>
        <p:nvSpPr>
          <p:cNvPr id="794" name="Google Shape;794;p40"/>
          <p:cNvSpPr txBox="1">
            <a:spLocks noGrp="1"/>
          </p:cNvSpPr>
          <p:nvPr>
            <p:ph type="body" idx="1"/>
          </p:nvPr>
        </p:nvSpPr>
        <p:spPr>
          <a:xfrm>
            <a:off x="348343" y="797765"/>
            <a:ext cx="11263086" cy="124349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</a:rPr>
              <a:t>Ejemplo (Muy ideal)</a:t>
            </a:r>
            <a:endParaRPr sz="2400" dirty="0">
              <a:solidFill>
                <a:schemeClr val="accent1"/>
              </a:solidFill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Memoria física de 128 bytes con frames (marcos de página) de 16 bytes.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Espacio de direcciones (Address Space) de 64 bytes con páginas de 16 bytes.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</p:txBody>
      </p:sp>
      <p:pic>
        <p:nvPicPr>
          <p:cNvPr id="795" name="Google Shape;79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0025" y="3037225"/>
            <a:ext cx="4815925" cy="225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35950" y="2115963"/>
            <a:ext cx="5785000" cy="4559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40"/>
          <p:cNvSpPr txBox="1">
            <a:spLocks noGrp="1"/>
          </p:cNvSpPr>
          <p:nvPr>
            <p:ph type="title"/>
          </p:nvPr>
        </p:nvSpPr>
        <p:spPr>
          <a:xfrm>
            <a:off x="348343" y="95800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Paginación</a:t>
            </a:r>
            <a:endParaRPr dirty="0">
              <a:latin typeface="+mj-lt"/>
            </a:endParaRPr>
          </a:p>
        </p:txBody>
      </p:sp>
      <p:sp>
        <p:nvSpPr>
          <p:cNvPr id="794" name="Google Shape;794;p40"/>
          <p:cNvSpPr txBox="1">
            <a:spLocks noGrp="1"/>
          </p:cNvSpPr>
          <p:nvPr>
            <p:ph type="body" idx="1"/>
          </p:nvPr>
        </p:nvSpPr>
        <p:spPr>
          <a:xfrm>
            <a:off x="348343" y="797765"/>
            <a:ext cx="11495314" cy="201800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MX" sz="2400" b="1" dirty="0">
                <a:solidFill>
                  <a:schemeClr val="accent1"/>
                </a:solidFill>
                <a:latin typeface="+mn-lt"/>
              </a:rPr>
              <a:t>Preguntas</a:t>
            </a:r>
            <a:endParaRPr sz="2400" dirty="0">
              <a:solidFill>
                <a:schemeClr val="accent1"/>
              </a:solidFill>
              <a:latin typeface="+mn-lt"/>
            </a:endParaRPr>
          </a:p>
          <a:p>
            <a:pPr marL="1016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None/>
            </a:pPr>
            <a:r>
              <a:rPr lang="es-ES" sz="2000" dirty="0">
                <a:latin typeface="+mn-lt"/>
              </a:rPr>
              <a:t>Teniendo en cuenta la información del ejemplo anterior responda:</a:t>
            </a: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MX" sz="2000" dirty="0">
                <a:latin typeface="+mn-lt"/>
              </a:rPr>
              <a:t>¿Cuál es el número de frames en que se divide la memoria física?</a:t>
            </a: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MX" sz="2000" dirty="0">
                <a:latin typeface="+mn-lt"/>
              </a:rPr>
              <a:t>¿Cuál es el número de páginas (pages) en que se divide la memoria virtual?</a:t>
            </a: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MX" sz="2000" dirty="0">
                <a:latin typeface="+mn-lt"/>
              </a:rPr>
              <a:t>Teniendo en cuenta los diagramas asociados a la memoria virtual y física. ¿Cómo es la tabla de pagina?</a:t>
            </a: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8C844B1-F034-412F-BE25-C7EEF0F6D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8144" y="4042230"/>
            <a:ext cx="2165505" cy="160564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A95C2AB-F824-4955-AD1E-38726736EA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9490" y="2925814"/>
            <a:ext cx="2582183" cy="3836386"/>
          </a:xfrm>
          <a:prstGeom prst="rect">
            <a:avLst/>
          </a:prstGeom>
        </p:spPr>
      </p:pic>
      <p:graphicFrame>
        <p:nvGraphicFramePr>
          <p:cNvPr id="6" name="Tabla 6">
            <a:extLst>
              <a:ext uri="{FF2B5EF4-FFF2-40B4-BE49-F238E27FC236}">
                <a16:creationId xmlns:a16="http://schemas.microsoft.com/office/drawing/2014/main" id="{C0F150D1-99AB-4A17-A4D9-C3AC97048A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893491"/>
              </p:ext>
            </p:extLst>
          </p:nvPr>
        </p:nvGraphicFramePr>
        <p:xfrm>
          <a:off x="5252511" y="4102327"/>
          <a:ext cx="493486" cy="1483360"/>
        </p:xfrm>
        <a:graphic>
          <a:graphicData uri="http://schemas.openxmlformats.org/drawingml/2006/table">
            <a:tbl>
              <a:tblPr firstRow="1" bandRow="1">
                <a:tableStyleId>{03666690-7EF2-4E8B-8E0B-2A96984E9CDD}</a:tableStyleId>
              </a:tblPr>
              <a:tblGrid>
                <a:gridCol w="493486">
                  <a:extLst>
                    <a:ext uri="{9D8B030D-6E8A-4147-A177-3AD203B41FA5}">
                      <a16:colId xmlns:a16="http://schemas.microsoft.com/office/drawing/2014/main" val="1419582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53324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28098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5783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5044589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D412FDD9-E7B3-431D-978F-F0AB9FA1A93D}"/>
              </a:ext>
            </a:extLst>
          </p:cNvPr>
          <p:cNvSpPr txBox="1"/>
          <p:nvPr/>
        </p:nvSpPr>
        <p:spPr>
          <a:xfrm>
            <a:off x="4638866" y="3693250"/>
            <a:ext cx="5212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600" b="1" dirty="0">
                <a:latin typeface="Consolas" panose="020B0609020204030204" pitchFamily="49" charset="0"/>
              </a:rPr>
              <a:t>VPN</a:t>
            </a:r>
            <a:endParaRPr lang="es-CO" b="1" dirty="0">
              <a:latin typeface="Consolas" panose="020B0609020204030204" pitchFamily="49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C9FB5B7-B017-4343-82B8-155C2FF3CBBB}"/>
              </a:ext>
            </a:extLst>
          </p:cNvPr>
          <p:cNvSpPr txBox="1"/>
          <p:nvPr/>
        </p:nvSpPr>
        <p:spPr>
          <a:xfrm>
            <a:off x="5874248" y="3715020"/>
            <a:ext cx="5212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600" b="1" dirty="0">
                <a:latin typeface="Consolas" panose="020B0609020204030204" pitchFamily="49" charset="0"/>
              </a:rPr>
              <a:t>PFN</a:t>
            </a:r>
            <a:endParaRPr lang="es-CO" b="1" dirty="0">
              <a:latin typeface="Consolas" panose="020B0609020204030204" pitchFamily="49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4D4EB00-0669-415A-8584-EF39BCCF6647}"/>
              </a:ext>
            </a:extLst>
          </p:cNvPr>
          <p:cNvSpPr txBox="1"/>
          <p:nvPr/>
        </p:nvSpPr>
        <p:spPr>
          <a:xfrm>
            <a:off x="4716527" y="5721681"/>
            <a:ext cx="14189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b="1" dirty="0">
                <a:latin typeface="Consolas" panose="020B0609020204030204" pitchFamily="49" charset="0"/>
              </a:rPr>
              <a:t>PFN=AT[VPN]</a:t>
            </a:r>
            <a:endParaRPr lang="es-CO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71593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40"/>
          <p:cNvSpPr txBox="1">
            <a:spLocks noGrp="1"/>
          </p:cNvSpPr>
          <p:nvPr>
            <p:ph type="title"/>
          </p:nvPr>
        </p:nvSpPr>
        <p:spPr>
          <a:xfrm>
            <a:off x="348343" y="95800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Paginación</a:t>
            </a:r>
            <a:endParaRPr dirty="0">
              <a:latin typeface="+mj-lt"/>
            </a:endParaRPr>
          </a:p>
        </p:txBody>
      </p:sp>
      <p:sp>
        <p:nvSpPr>
          <p:cNvPr id="794" name="Google Shape;794;p40"/>
          <p:cNvSpPr txBox="1">
            <a:spLocks noGrp="1"/>
          </p:cNvSpPr>
          <p:nvPr>
            <p:ph type="body" idx="1"/>
          </p:nvPr>
        </p:nvSpPr>
        <p:spPr>
          <a:xfrm>
            <a:off x="348343" y="797764"/>
            <a:ext cx="4341644" cy="462964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MX" sz="2400" b="1" dirty="0">
                <a:solidFill>
                  <a:schemeClr val="accent1"/>
                </a:solidFill>
                <a:latin typeface="+mn-lt"/>
              </a:rPr>
              <a:t>Preguntas</a:t>
            </a:r>
            <a:endParaRPr sz="2400" dirty="0">
              <a:solidFill>
                <a:schemeClr val="accent1"/>
              </a:solidFill>
              <a:latin typeface="+mn-lt"/>
            </a:endParaRPr>
          </a:p>
          <a:p>
            <a:pPr marL="1016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None/>
            </a:pPr>
            <a:r>
              <a:rPr lang="es-ES" sz="2000" dirty="0">
                <a:latin typeface="+mn-lt"/>
              </a:rPr>
              <a:t>Teniendo en cuenta la información del ejemplo anterior:</a:t>
            </a:r>
          </a:p>
          <a:p>
            <a:pPr marL="387350" indent="-285750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n-US" sz="1800" b="1" dirty="0">
                <a:latin typeface="Consolas"/>
                <a:ea typeface="Consolas"/>
                <a:cs typeface="Consolas"/>
                <a:sym typeface="Consolas"/>
              </a:rPr>
              <a:t>size(PM) = 128 B</a:t>
            </a:r>
          </a:p>
          <a:p>
            <a:pPr marL="387350" indent="-285750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n-US" sz="1800" b="1" dirty="0">
                <a:latin typeface="Consolas"/>
                <a:ea typeface="Consolas"/>
                <a:cs typeface="Consolas"/>
                <a:sym typeface="Consolas"/>
              </a:rPr>
              <a:t>size(frame) = 16 B</a:t>
            </a:r>
          </a:p>
          <a:p>
            <a:pPr marL="387350" indent="-285750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n-US" sz="1800" b="1" dirty="0">
                <a:latin typeface="Consolas"/>
                <a:ea typeface="Consolas"/>
                <a:cs typeface="Consolas"/>
                <a:sym typeface="Consolas"/>
              </a:rPr>
              <a:t>size(AS) = 64 B</a:t>
            </a:r>
          </a:p>
          <a:p>
            <a:pPr marL="387350" indent="-285750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n-US" sz="1800" b="1" dirty="0">
                <a:latin typeface="Consolas"/>
                <a:ea typeface="Consolas"/>
                <a:cs typeface="Consolas"/>
                <a:sym typeface="Consolas"/>
              </a:rPr>
              <a:t>size(page) = 16 B</a:t>
            </a:r>
          </a:p>
          <a:p>
            <a:pPr indent="-355600">
              <a:lnSpc>
                <a:spcPct val="100000"/>
              </a:lnSpc>
              <a:spcBef>
                <a:spcPts val="0"/>
              </a:spcBef>
              <a:buSzPts val="2000"/>
              <a:buFont typeface="Consolas"/>
              <a:buChar char="○"/>
            </a:pPr>
            <a:endParaRPr lang="en-US" sz="1800" b="1" dirty="0">
              <a:latin typeface="Consolas"/>
              <a:ea typeface="Consolas"/>
              <a:cs typeface="Consolas"/>
              <a:sym typeface="Consolas"/>
            </a:endParaRPr>
          </a:p>
          <a:p>
            <a:pPr marL="1016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None/>
            </a:pPr>
            <a:r>
              <a:rPr lang="es-ES" sz="2000" b="1" dirty="0">
                <a:latin typeface="+mn-lt"/>
              </a:rPr>
              <a:t>Se pide</a:t>
            </a:r>
            <a:r>
              <a:rPr lang="es-ES" sz="2000" dirty="0">
                <a:latin typeface="+mn-lt"/>
              </a:rPr>
              <a:t>:</a:t>
            </a: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n-US" sz="1800" b="1" dirty="0" err="1">
                <a:latin typeface="Consolas"/>
                <a:ea typeface="Consolas"/>
                <a:cs typeface="Consolas"/>
                <a:sym typeface="Consolas"/>
              </a:rPr>
              <a:t>num_frames</a:t>
            </a:r>
            <a:r>
              <a:rPr lang="en-US" sz="1800" b="1" dirty="0">
                <a:latin typeface="Consolas"/>
                <a:ea typeface="Consolas"/>
                <a:cs typeface="Consolas"/>
                <a:sym typeface="Consolas"/>
              </a:rPr>
              <a:t> = ?</a:t>
            </a: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n-US" sz="1800" b="1" dirty="0" err="1">
                <a:latin typeface="Consolas"/>
                <a:ea typeface="Consolas"/>
                <a:cs typeface="Consolas"/>
                <a:sym typeface="Consolas"/>
              </a:rPr>
              <a:t>num_pages</a:t>
            </a:r>
            <a:r>
              <a:rPr lang="en-US" sz="1800" b="1" dirty="0">
                <a:latin typeface="Consolas"/>
                <a:ea typeface="Consolas"/>
                <a:cs typeface="Consolas"/>
                <a:sym typeface="Consolas"/>
              </a:rPr>
              <a:t> = ?</a:t>
            </a: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n-US" sz="1800" b="1" dirty="0">
                <a:latin typeface="Consolas"/>
                <a:ea typeface="Consolas"/>
                <a:cs typeface="Consolas"/>
                <a:sym typeface="Consolas"/>
              </a:rPr>
              <a:t>PT[] = ?</a:t>
            </a:r>
            <a:endParaRPr lang="es-MX" sz="1800" b="1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8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49935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41"/>
          <p:cNvSpPr txBox="1">
            <a:spLocks noGrp="1"/>
          </p:cNvSpPr>
          <p:nvPr>
            <p:ph type="title"/>
          </p:nvPr>
        </p:nvSpPr>
        <p:spPr>
          <a:xfrm>
            <a:off x="297517" y="82415"/>
            <a:ext cx="86110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Paginación</a:t>
            </a:r>
            <a:endParaRPr dirty="0">
              <a:latin typeface="+mj-lt"/>
            </a:endParaRPr>
          </a:p>
        </p:txBody>
      </p:sp>
      <p:sp>
        <p:nvSpPr>
          <p:cNvPr id="802" name="Google Shape;802;p41"/>
          <p:cNvSpPr txBox="1">
            <a:spLocks noGrp="1"/>
          </p:cNvSpPr>
          <p:nvPr>
            <p:ph type="body" idx="1"/>
          </p:nvPr>
        </p:nvSpPr>
        <p:spPr>
          <a:xfrm>
            <a:off x="297517" y="981451"/>
            <a:ext cx="6457475" cy="187923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</a:rPr>
              <a:t>Preguntas</a:t>
            </a:r>
            <a:endParaRPr sz="2800" dirty="0">
              <a:solidFill>
                <a:schemeClr val="accent1"/>
              </a:solidFill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¿Cuál es el número de frames en que se divide la memoria física?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○"/>
            </a:pPr>
            <a:r>
              <a:rPr lang="es-ES" sz="1800" b="1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size(PM) = 128 B</a:t>
            </a:r>
            <a:endParaRPr sz="1800" b="1" dirty="0"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○"/>
            </a:pPr>
            <a:r>
              <a:rPr lang="es-ES" sz="1800" b="1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size(frame) = 16 B</a:t>
            </a:r>
            <a:endParaRPr sz="1800" b="1" dirty="0"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804" name="Google Shape;804;p41"/>
          <p:cNvSpPr/>
          <p:nvPr/>
        </p:nvSpPr>
        <p:spPr>
          <a:xfrm>
            <a:off x="1394869" y="3188513"/>
            <a:ext cx="4414500" cy="1580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num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_frames = size(PM)/size(frame)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num_frames = 128 Bytes/16 Bytes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num_frames = 8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05" name="Google Shape;805;p41"/>
          <p:cNvSpPr/>
          <p:nvPr/>
        </p:nvSpPr>
        <p:spPr>
          <a:xfrm>
            <a:off x="976438" y="4866723"/>
            <a:ext cx="5335800" cy="55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ea typeface="Roboto"/>
                <a:cs typeface="Roboto"/>
                <a:sym typeface="Roboto"/>
              </a:rPr>
              <a:t>Solución</a:t>
            </a:r>
            <a:r>
              <a:rPr lang="es-ES" sz="2000" dirty="0">
                <a:ea typeface="Roboto"/>
                <a:cs typeface="Roboto"/>
                <a:sym typeface="Roboto"/>
              </a:rPr>
              <a:t>: 8 frames de 16 Bytes cada uno.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4A473E29-FD0D-4BA7-AAC1-5E1E3A529DCE}"/>
              </a:ext>
            </a:extLst>
          </p:cNvPr>
          <p:cNvGrpSpPr/>
          <p:nvPr/>
        </p:nvGrpSpPr>
        <p:grpSpPr>
          <a:xfrm>
            <a:off x="6407474" y="1011977"/>
            <a:ext cx="4808088" cy="5043800"/>
            <a:chOff x="6407474" y="1011977"/>
            <a:chExt cx="4808088" cy="5043800"/>
          </a:xfrm>
        </p:grpSpPr>
        <p:graphicFrame>
          <p:nvGraphicFramePr>
            <p:cNvPr id="803" name="Google Shape;803;p41"/>
            <p:cNvGraphicFramePr/>
            <p:nvPr>
              <p:extLst>
                <p:ext uri="{D42A27DB-BD31-4B8C-83A1-F6EECF244321}">
                  <p14:modId xmlns:p14="http://schemas.microsoft.com/office/powerpoint/2010/main" val="286807993"/>
                </p:ext>
              </p:extLst>
            </p:nvPr>
          </p:nvGraphicFramePr>
          <p:xfrm>
            <a:off x="7814361" y="1451515"/>
            <a:ext cx="2437600" cy="4372200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24376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5306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Operating system</a:t>
                        </a: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5306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7"/>
                    </a:ext>
                  </a:extLst>
                </a:tr>
              </a:tbl>
            </a:graphicData>
          </a:graphic>
        </p:graphicFrame>
        <p:grpSp>
          <p:nvGrpSpPr>
            <p:cNvPr id="806" name="Google Shape;806;p41"/>
            <p:cNvGrpSpPr/>
            <p:nvPr/>
          </p:nvGrpSpPr>
          <p:grpSpPr>
            <a:xfrm>
              <a:off x="10251949" y="1503640"/>
              <a:ext cx="963613" cy="4267938"/>
              <a:chOff x="6755513" y="2261913"/>
              <a:chExt cx="963613" cy="4267938"/>
            </a:xfrm>
          </p:grpSpPr>
          <p:sp>
            <p:nvSpPr>
              <p:cNvPr id="807" name="Google Shape;807;p41"/>
              <p:cNvSpPr txBox="1"/>
              <p:nvPr/>
            </p:nvSpPr>
            <p:spPr>
              <a:xfrm>
                <a:off x="6755525" y="2261913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F[0]</a:t>
                </a:r>
                <a:endParaRPr/>
              </a:p>
            </p:txBody>
          </p:sp>
          <p:sp>
            <p:nvSpPr>
              <p:cNvPr id="808" name="Google Shape;808;p41"/>
              <p:cNvSpPr txBox="1"/>
              <p:nvPr/>
            </p:nvSpPr>
            <p:spPr>
              <a:xfrm>
                <a:off x="6755525" y="282420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F[1]</a:t>
                </a:r>
                <a:endParaRPr/>
              </a:p>
            </p:txBody>
          </p:sp>
          <p:sp>
            <p:nvSpPr>
              <p:cNvPr id="809" name="Google Shape;809;p41"/>
              <p:cNvSpPr txBox="1"/>
              <p:nvPr/>
            </p:nvSpPr>
            <p:spPr>
              <a:xfrm>
                <a:off x="6755525" y="3350063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F[2]</a:t>
                </a:r>
                <a:endParaRPr/>
              </a:p>
            </p:txBody>
          </p:sp>
          <p:sp>
            <p:nvSpPr>
              <p:cNvPr id="810" name="Google Shape;810;p41"/>
              <p:cNvSpPr txBox="1"/>
              <p:nvPr/>
            </p:nvSpPr>
            <p:spPr>
              <a:xfrm>
                <a:off x="6755513" y="387595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F[3]</a:t>
                </a:r>
                <a:endParaRPr/>
              </a:p>
            </p:txBody>
          </p:sp>
          <p:sp>
            <p:nvSpPr>
              <p:cNvPr id="811" name="Google Shape;811;p41"/>
              <p:cNvSpPr txBox="1"/>
              <p:nvPr/>
            </p:nvSpPr>
            <p:spPr>
              <a:xfrm>
                <a:off x="6755513" y="4401838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F[4]</a:t>
                </a:r>
                <a:endParaRPr/>
              </a:p>
            </p:txBody>
          </p:sp>
          <p:sp>
            <p:nvSpPr>
              <p:cNvPr id="812" name="Google Shape;812;p41"/>
              <p:cNvSpPr txBox="1"/>
              <p:nvPr/>
            </p:nvSpPr>
            <p:spPr>
              <a:xfrm>
                <a:off x="6755513" y="4963488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F[5]</a:t>
                </a:r>
                <a:endParaRPr/>
              </a:p>
            </p:txBody>
          </p:sp>
          <p:sp>
            <p:nvSpPr>
              <p:cNvPr id="813" name="Google Shape;813;p41"/>
              <p:cNvSpPr txBox="1"/>
              <p:nvPr/>
            </p:nvSpPr>
            <p:spPr>
              <a:xfrm>
                <a:off x="6755525" y="5525138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F[6]</a:t>
                </a:r>
                <a:endParaRPr/>
              </a:p>
            </p:txBody>
          </p:sp>
          <p:sp>
            <p:nvSpPr>
              <p:cNvPr id="814" name="Google Shape;814;p41"/>
              <p:cNvSpPr txBox="1"/>
              <p:nvPr/>
            </p:nvSpPr>
            <p:spPr>
              <a:xfrm>
                <a:off x="6755525" y="609875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F[7]</a:t>
                </a:r>
                <a:endParaRPr/>
              </a:p>
            </p:txBody>
          </p:sp>
        </p:grpSp>
        <p:sp>
          <p:nvSpPr>
            <p:cNvPr id="815" name="Google Shape;815;p41"/>
            <p:cNvSpPr txBox="1"/>
            <p:nvPr/>
          </p:nvSpPr>
          <p:spPr>
            <a:xfrm>
              <a:off x="7814411" y="1011977"/>
              <a:ext cx="2437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Physical Address</a:t>
              </a:r>
              <a:endParaRPr b="1" dirty="0"/>
            </a:p>
          </p:txBody>
        </p:sp>
        <p:grpSp>
          <p:nvGrpSpPr>
            <p:cNvPr id="816" name="Google Shape;816;p41"/>
            <p:cNvGrpSpPr/>
            <p:nvPr/>
          </p:nvGrpSpPr>
          <p:grpSpPr>
            <a:xfrm>
              <a:off x="6980061" y="1179127"/>
              <a:ext cx="834300" cy="4876650"/>
              <a:chOff x="6884825" y="1886475"/>
              <a:chExt cx="834300" cy="4876650"/>
            </a:xfrm>
          </p:grpSpPr>
          <p:sp>
            <p:nvSpPr>
              <p:cNvPr id="817" name="Google Shape;817;p41"/>
              <p:cNvSpPr txBox="1"/>
              <p:nvPr/>
            </p:nvSpPr>
            <p:spPr>
              <a:xfrm>
                <a:off x="6884825" y="188647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</a:t>
                </a:r>
                <a:endParaRPr/>
              </a:p>
            </p:txBody>
          </p:sp>
          <p:sp>
            <p:nvSpPr>
              <p:cNvPr id="818" name="Google Shape;818;p41"/>
              <p:cNvSpPr txBox="1"/>
              <p:nvPr/>
            </p:nvSpPr>
            <p:spPr>
              <a:xfrm>
                <a:off x="6884825" y="2458750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16</a:t>
                </a:r>
                <a:endParaRPr/>
              </a:p>
            </p:txBody>
          </p:sp>
          <p:sp>
            <p:nvSpPr>
              <p:cNvPr id="819" name="Google Shape;819;p41"/>
              <p:cNvSpPr txBox="1"/>
              <p:nvPr/>
            </p:nvSpPr>
            <p:spPr>
              <a:xfrm>
                <a:off x="6884825" y="2972700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32</a:t>
                </a:r>
                <a:endParaRPr/>
              </a:p>
            </p:txBody>
          </p:sp>
          <p:sp>
            <p:nvSpPr>
              <p:cNvPr id="820" name="Google Shape;820;p41"/>
              <p:cNvSpPr txBox="1"/>
              <p:nvPr/>
            </p:nvSpPr>
            <p:spPr>
              <a:xfrm>
                <a:off x="6884825" y="35333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48</a:t>
                </a:r>
                <a:endParaRPr/>
              </a:p>
            </p:txBody>
          </p:sp>
          <p:sp>
            <p:nvSpPr>
              <p:cNvPr id="821" name="Google Shape;821;p41"/>
              <p:cNvSpPr txBox="1"/>
              <p:nvPr/>
            </p:nvSpPr>
            <p:spPr>
              <a:xfrm>
                <a:off x="6884825" y="40589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64</a:t>
                </a:r>
                <a:endParaRPr/>
              </a:p>
            </p:txBody>
          </p:sp>
          <p:sp>
            <p:nvSpPr>
              <p:cNvPr id="822" name="Google Shape;822;p41"/>
              <p:cNvSpPr txBox="1"/>
              <p:nvPr/>
            </p:nvSpPr>
            <p:spPr>
              <a:xfrm>
                <a:off x="6884825" y="45845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80</a:t>
                </a:r>
                <a:endParaRPr/>
              </a:p>
            </p:txBody>
          </p:sp>
          <p:sp>
            <p:nvSpPr>
              <p:cNvPr id="823" name="Google Shape;823;p41"/>
              <p:cNvSpPr txBox="1"/>
              <p:nvPr/>
            </p:nvSpPr>
            <p:spPr>
              <a:xfrm>
                <a:off x="6884825" y="518017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96</a:t>
                </a:r>
                <a:endParaRPr/>
              </a:p>
            </p:txBody>
          </p:sp>
          <p:sp>
            <p:nvSpPr>
              <p:cNvPr id="824" name="Google Shape;824;p41"/>
              <p:cNvSpPr txBox="1"/>
              <p:nvPr/>
            </p:nvSpPr>
            <p:spPr>
              <a:xfrm>
                <a:off x="6884825" y="57758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112</a:t>
                </a:r>
                <a:endParaRPr/>
              </a:p>
            </p:txBody>
          </p:sp>
          <p:sp>
            <p:nvSpPr>
              <p:cNvPr id="825" name="Google Shape;825;p41"/>
              <p:cNvSpPr txBox="1"/>
              <p:nvPr/>
            </p:nvSpPr>
            <p:spPr>
              <a:xfrm>
                <a:off x="6884825" y="63014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128</a:t>
                </a:r>
                <a:endParaRPr/>
              </a:p>
            </p:txBody>
          </p:sp>
        </p:grpSp>
        <p:grpSp>
          <p:nvGrpSpPr>
            <p:cNvPr id="826" name="Google Shape;826;p41"/>
            <p:cNvGrpSpPr/>
            <p:nvPr/>
          </p:nvGrpSpPr>
          <p:grpSpPr>
            <a:xfrm>
              <a:off x="6407474" y="3064602"/>
              <a:ext cx="956750" cy="531900"/>
              <a:chOff x="6468825" y="3673050"/>
              <a:chExt cx="956750" cy="531900"/>
            </a:xfrm>
          </p:grpSpPr>
          <p:sp>
            <p:nvSpPr>
              <p:cNvPr id="827" name="Google Shape;827;p41"/>
              <p:cNvSpPr/>
              <p:nvPr/>
            </p:nvSpPr>
            <p:spPr>
              <a:xfrm>
                <a:off x="7250675" y="3673050"/>
                <a:ext cx="174900" cy="531900"/>
              </a:xfrm>
              <a:prstGeom prst="leftBrace">
                <a:avLst>
                  <a:gd name="adj1" fmla="val 50000"/>
                  <a:gd name="adj2" fmla="val 54312"/>
                </a:avLst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41"/>
              <p:cNvSpPr txBox="1"/>
              <p:nvPr/>
            </p:nvSpPr>
            <p:spPr>
              <a:xfrm>
                <a:off x="6468825" y="3708138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16</a:t>
                </a:r>
                <a:endParaRPr>
                  <a:solidFill>
                    <a:schemeClr val="accent2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42"/>
          <p:cNvSpPr txBox="1">
            <a:spLocks noGrp="1"/>
          </p:cNvSpPr>
          <p:nvPr>
            <p:ph type="title"/>
          </p:nvPr>
        </p:nvSpPr>
        <p:spPr>
          <a:xfrm>
            <a:off x="348343" y="96038"/>
            <a:ext cx="887230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+mj-lt"/>
              </a:rPr>
              <a:t>Paginación</a:t>
            </a:r>
            <a:endParaRPr>
              <a:latin typeface="+mj-lt"/>
            </a:endParaRPr>
          </a:p>
        </p:txBody>
      </p:sp>
      <p:sp>
        <p:nvSpPr>
          <p:cNvPr id="834" name="Google Shape;834;p42"/>
          <p:cNvSpPr txBox="1">
            <a:spLocks noGrp="1"/>
          </p:cNvSpPr>
          <p:nvPr>
            <p:ph type="body" idx="1"/>
          </p:nvPr>
        </p:nvSpPr>
        <p:spPr>
          <a:xfrm>
            <a:off x="348343" y="991185"/>
            <a:ext cx="6902333" cy="191150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</a:rPr>
              <a:t>Preguntas</a:t>
            </a:r>
            <a:endParaRPr sz="2400" dirty="0">
              <a:solidFill>
                <a:schemeClr val="accent1"/>
              </a:solidFill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¿Cuál es el número de páginas (pages) en que se divide la memoria virtual?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○"/>
            </a:pPr>
            <a:r>
              <a:rPr lang="es-ES" sz="1800" b="1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size(AS) = 64 B</a:t>
            </a:r>
            <a:endParaRPr sz="1800" b="1" dirty="0"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○"/>
            </a:pPr>
            <a:r>
              <a:rPr lang="es-ES" sz="1800" b="1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size(page) = 16 B</a:t>
            </a:r>
            <a:endParaRPr sz="1800" b="1" dirty="0"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836" name="Google Shape;836;p42"/>
          <p:cNvSpPr/>
          <p:nvPr/>
        </p:nvSpPr>
        <p:spPr>
          <a:xfrm>
            <a:off x="1285626" y="3083750"/>
            <a:ext cx="4414500" cy="16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 err="1">
                <a:latin typeface="Consolas"/>
                <a:ea typeface="Consolas"/>
                <a:cs typeface="Consolas"/>
                <a:sym typeface="Consolas"/>
              </a:rPr>
              <a:t>num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_pages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size(AS)/size(page)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num_</a:t>
            </a:r>
            <a:r>
              <a:rPr lang="es-ES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pages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64 Bytes/16 Bytes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num_</a:t>
            </a:r>
            <a:r>
              <a:rPr lang="es-ES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pages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4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37" name="Google Shape;837;p42"/>
          <p:cNvSpPr/>
          <p:nvPr/>
        </p:nvSpPr>
        <p:spPr>
          <a:xfrm>
            <a:off x="931699" y="4797967"/>
            <a:ext cx="5335800" cy="6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ea typeface="Roboto"/>
                <a:cs typeface="Roboto"/>
                <a:sym typeface="Roboto"/>
              </a:rPr>
              <a:t>Solución</a:t>
            </a:r>
            <a:r>
              <a:rPr lang="es-ES" sz="2000" dirty="0">
                <a:ea typeface="Roboto"/>
                <a:cs typeface="Roboto"/>
                <a:sym typeface="Roboto"/>
              </a:rPr>
              <a:t>: 4 páginas de 16 Bytes cada una.</a:t>
            </a:r>
            <a:r>
              <a:rPr lang="es-ES" sz="16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 </a:t>
            </a:r>
            <a:endParaRPr sz="1600" b="1" dirty="0">
              <a:ea typeface="Consolas"/>
              <a:cs typeface="Consolas"/>
              <a:sym typeface="Consolas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0C84A4EB-3A6E-4039-9361-A02BF835DB87}"/>
              </a:ext>
            </a:extLst>
          </p:cNvPr>
          <p:cNvGrpSpPr/>
          <p:nvPr/>
        </p:nvGrpSpPr>
        <p:grpSpPr>
          <a:xfrm>
            <a:off x="6468826" y="2686012"/>
            <a:ext cx="4791475" cy="2873025"/>
            <a:chOff x="6468825" y="2675600"/>
            <a:chExt cx="4791475" cy="2873025"/>
          </a:xfrm>
        </p:grpSpPr>
        <p:graphicFrame>
          <p:nvGraphicFramePr>
            <p:cNvPr id="835" name="Google Shape;835;p42"/>
            <p:cNvGraphicFramePr/>
            <p:nvPr>
              <p:extLst>
                <p:ext uri="{D42A27DB-BD31-4B8C-83A1-F6EECF244321}">
                  <p14:modId xmlns:p14="http://schemas.microsoft.com/office/powerpoint/2010/main" val="3928343751"/>
                </p:ext>
              </p:extLst>
            </p:nvPr>
          </p:nvGraphicFramePr>
          <p:xfrm>
            <a:off x="7859100" y="3141325"/>
            <a:ext cx="2437600" cy="2169300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24376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5317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5317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5529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5529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</a:tbl>
            </a:graphicData>
          </a:graphic>
        </p:graphicFrame>
        <p:grpSp>
          <p:nvGrpSpPr>
            <p:cNvPr id="838" name="Google Shape;838;p42"/>
            <p:cNvGrpSpPr/>
            <p:nvPr/>
          </p:nvGrpSpPr>
          <p:grpSpPr>
            <a:xfrm>
              <a:off x="10296700" y="3189763"/>
              <a:ext cx="963600" cy="2072413"/>
              <a:chOff x="6895500" y="3168388"/>
              <a:chExt cx="963600" cy="2072413"/>
            </a:xfrm>
          </p:grpSpPr>
          <p:sp>
            <p:nvSpPr>
              <p:cNvPr id="839" name="Google Shape;839;p42"/>
              <p:cNvSpPr txBox="1"/>
              <p:nvPr/>
            </p:nvSpPr>
            <p:spPr>
              <a:xfrm>
                <a:off x="6895500" y="3168388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P[0]</a:t>
                </a:r>
                <a:endParaRPr/>
              </a:p>
            </p:txBody>
          </p:sp>
          <p:sp>
            <p:nvSpPr>
              <p:cNvPr id="840" name="Google Shape;840;p42"/>
              <p:cNvSpPr txBox="1"/>
              <p:nvPr/>
            </p:nvSpPr>
            <p:spPr>
              <a:xfrm>
                <a:off x="6895500" y="371550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P[1]</a:t>
                </a:r>
                <a:endParaRPr/>
              </a:p>
            </p:txBody>
          </p:sp>
          <p:sp>
            <p:nvSpPr>
              <p:cNvPr id="841" name="Google Shape;841;p42"/>
              <p:cNvSpPr txBox="1"/>
              <p:nvPr/>
            </p:nvSpPr>
            <p:spPr>
              <a:xfrm>
                <a:off x="6895500" y="426260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P[2]</a:t>
                </a:r>
                <a:endParaRPr/>
              </a:p>
            </p:txBody>
          </p:sp>
          <p:sp>
            <p:nvSpPr>
              <p:cNvPr id="842" name="Google Shape;842;p42"/>
              <p:cNvSpPr txBox="1"/>
              <p:nvPr/>
            </p:nvSpPr>
            <p:spPr>
              <a:xfrm>
                <a:off x="6895500" y="480970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P[3]</a:t>
                </a:r>
                <a:endParaRPr/>
              </a:p>
            </p:txBody>
          </p:sp>
        </p:grpSp>
        <p:sp>
          <p:nvSpPr>
            <p:cNvPr id="843" name="Google Shape;843;p42"/>
            <p:cNvSpPr txBox="1"/>
            <p:nvPr/>
          </p:nvSpPr>
          <p:spPr>
            <a:xfrm>
              <a:off x="7859150" y="2675600"/>
              <a:ext cx="2437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Address Space</a:t>
              </a:r>
              <a:endParaRPr b="1" dirty="0"/>
            </a:p>
          </p:txBody>
        </p:sp>
        <p:grpSp>
          <p:nvGrpSpPr>
            <p:cNvPr id="844" name="Google Shape;844;p42"/>
            <p:cNvGrpSpPr/>
            <p:nvPr/>
          </p:nvGrpSpPr>
          <p:grpSpPr>
            <a:xfrm>
              <a:off x="7024800" y="2923550"/>
              <a:ext cx="834300" cy="2625075"/>
              <a:chOff x="7024800" y="2923550"/>
              <a:chExt cx="834300" cy="2625075"/>
            </a:xfrm>
          </p:grpSpPr>
          <p:sp>
            <p:nvSpPr>
              <p:cNvPr id="845" name="Google Shape;845;p42"/>
              <p:cNvSpPr txBox="1"/>
              <p:nvPr/>
            </p:nvSpPr>
            <p:spPr>
              <a:xfrm>
                <a:off x="7024800" y="50869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64</a:t>
                </a:r>
                <a:endParaRPr/>
              </a:p>
            </p:txBody>
          </p:sp>
          <p:sp>
            <p:nvSpPr>
              <p:cNvPr id="846" name="Google Shape;846;p42"/>
              <p:cNvSpPr txBox="1"/>
              <p:nvPr/>
            </p:nvSpPr>
            <p:spPr>
              <a:xfrm>
                <a:off x="7024800" y="2923550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</a:t>
                </a:r>
                <a:endParaRPr/>
              </a:p>
            </p:txBody>
          </p:sp>
          <p:sp>
            <p:nvSpPr>
              <p:cNvPr id="847" name="Google Shape;847;p42"/>
              <p:cNvSpPr txBox="1"/>
              <p:nvPr/>
            </p:nvSpPr>
            <p:spPr>
              <a:xfrm>
                <a:off x="7024800" y="3427338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16</a:t>
                </a:r>
                <a:endParaRPr/>
              </a:p>
            </p:txBody>
          </p:sp>
          <p:sp>
            <p:nvSpPr>
              <p:cNvPr id="848" name="Google Shape;848;p42"/>
              <p:cNvSpPr txBox="1"/>
              <p:nvPr/>
            </p:nvSpPr>
            <p:spPr>
              <a:xfrm>
                <a:off x="7024800" y="39606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32</a:t>
                </a:r>
                <a:endParaRPr/>
              </a:p>
            </p:txBody>
          </p:sp>
          <p:sp>
            <p:nvSpPr>
              <p:cNvPr id="849" name="Google Shape;849;p42"/>
              <p:cNvSpPr txBox="1"/>
              <p:nvPr/>
            </p:nvSpPr>
            <p:spPr>
              <a:xfrm>
                <a:off x="7024800" y="452377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48</a:t>
                </a:r>
                <a:endParaRPr/>
              </a:p>
            </p:txBody>
          </p:sp>
        </p:grpSp>
        <p:grpSp>
          <p:nvGrpSpPr>
            <p:cNvPr id="850" name="Google Shape;850;p42"/>
            <p:cNvGrpSpPr/>
            <p:nvPr/>
          </p:nvGrpSpPr>
          <p:grpSpPr>
            <a:xfrm>
              <a:off x="6468825" y="3673050"/>
              <a:ext cx="956750" cy="531900"/>
              <a:chOff x="6468825" y="3673050"/>
              <a:chExt cx="956750" cy="531900"/>
            </a:xfrm>
          </p:grpSpPr>
          <p:sp>
            <p:nvSpPr>
              <p:cNvPr id="851" name="Google Shape;851;p42"/>
              <p:cNvSpPr/>
              <p:nvPr/>
            </p:nvSpPr>
            <p:spPr>
              <a:xfrm>
                <a:off x="7250675" y="3673050"/>
                <a:ext cx="174900" cy="531900"/>
              </a:xfrm>
              <a:prstGeom prst="leftBrace">
                <a:avLst>
                  <a:gd name="adj1" fmla="val 50000"/>
                  <a:gd name="adj2" fmla="val 54312"/>
                </a:avLst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852;p42"/>
              <p:cNvSpPr txBox="1"/>
              <p:nvPr/>
            </p:nvSpPr>
            <p:spPr>
              <a:xfrm>
                <a:off x="6468825" y="3708138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16</a:t>
                </a:r>
                <a:endParaRPr>
                  <a:solidFill>
                    <a:schemeClr val="accent2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43"/>
          <p:cNvSpPr txBox="1">
            <a:spLocks noGrp="1"/>
          </p:cNvSpPr>
          <p:nvPr>
            <p:ph type="title"/>
          </p:nvPr>
        </p:nvSpPr>
        <p:spPr>
          <a:xfrm>
            <a:off x="427329" y="129939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Paginación</a:t>
            </a:r>
            <a:endParaRPr dirty="0">
              <a:latin typeface="+mj-lt"/>
            </a:endParaRPr>
          </a:p>
        </p:txBody>
      </p:sp>
      <p:sp>
        <p:nvSpPr>
          <p:cNvPr id="858" name="Google Shape;858;p43"/>
          <p:cNvSpPr txBox="1">
            <a:spLocks noGrp="1"/>
          </p:cNvSpPr>
          <p:nvPr>
            <p:ph type="body" idx="1"/>
          </p:nvPr>
        </p:nvSpPr>
        <p:spPr>
          <a:xfrm>
            <a:off x="449943" y="978651"/>
            <a:ext cx="11513444" cy="1281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Preguntas</a:t>
            </a:r>
            <a:endParaRPr sz="2800" dirty="0">
              <a:solidFill>
                <a:schemeClr val="accent1"/>
              </a:solidFill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Teniendo que cuenta los esquemas asociados a las memorias física y virtual, ¿Como sería la </a:t>
            </a:r>
            <a:r>
              <a:rPr lang="es-ES" sz="2000" b="1" dirty="0">
                <a:latin typeface="+mn-lt"/>
              </a:rPr>
              <a:t>tabla de página </a:t>
            </a:r>
            <a:r>
              <a:rPr lang="es-ES" sz="2000" dirty="0">
                <a:latin typeface="+mn-lt"/>
              </a:rPr>
              <a:t>asociada?</a:t>
            </a: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859" name="Google Shape;859;p43"/>
          <p:cNvGraphicFramePr/>
          <p:nvPr/>
        </p:nvGraphicFramePr>
        <p:xfrm>
          <a:off x="1891900" y="3108963"/>
          <a:ext cx="2227675" cy="179820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22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9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860" name="Google Shape;860;p43"/>
          <p:cNvGrpSpPr/>
          <p:nvPr/>
        </p:nvGrpSpPr>
        <p:grpSpPr>
          <a:xfrm>
            <a:off x="1033275" y="3056413"/>
            <a:ext cx="963600" cy="1710763"/>
            <a:chOff x="6895500" y="3168388"/>
            <a:chExt cx="963600" cy="1710763"/>
          </a:xfrm>
        </p:grpSpPr>
        <p:sp>
          <p:nvSpPr>
            <p:cNvPr id="861" name="Google Shape;861;p43"/>
            <p:cNvSpPr txBox="1"/>
            <p:nvPr/>
          </p:nvSpPr>
          <p:spPr>
            <a:xfrm>
              <a:off x="6895500" y="3168388"/>
              <a:ext cx="963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P[0]</a:t>
              </a:r>
              <a:endParaRPr/>
            </a:p>
          </p:txBody>
        </p:sp>
        <p:sp>
          <p:nvSpPr>
            <p:cNvPr id="862" name="Google Shape;862;p43"/>
            <p:cNvSpPr txBox="1"/>
            <p:nvPr/>
          </p:nvSpPr>
          <p:spPr>
            <a:xfrm>
              <a:off x="6895500" y="3599500"/>
              <a:ext cx="963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P[1]</a:t>
              </a:r>
              <a:endParaRPr/>
            </a:p>
          </p:txBody>
        </p:sp>
        <p:sp>
          <p:nvSpPr>
            <p:cNvPr id="863" name="Google Shape;863;p43"/>
            <p:cNvSpPr txBox="1"/>
            <p:nvPr/>
          </p:nvSpPr>
          <p:spPr>
            <a:xfrm>
              <a:off x="6895500" y="4032225"/>
              <a:ext cx="963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P[2]</a:t>
              </a:r>
              <a:endParaRPr/>
            </a:p>
          </p:txBody>
        </p:sp>
        <p:sp>
          <p:nvSpPr>
            <p:cNvPr id="864" name="Google Shape;864;p43"/>
            <p:cNvSpPr txBox="1"/>
            <p:nvPr/>
          </p:nvSpPr>
          <p:spPr>
            <a:xfrm>
              <a:off x="6895500" y="4448050"/>
              <a:ext cx="963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P[3]</a:t>
              </a:r>
              <a:endParaRPr/>
            </a:p>
          </p:txBody>
        </p:sp>
      </p:grpSp>
      <p:sp>
        <p:nvSpPr>
          <p:cNvPr id="865" name="Google Shape;865;p43"/>
          <p:cNvSpPr txBox="1"/>
          <p:nvPr/>
        </p:nvSpPr>
        <p:spPr>
          <a:xfrm>
            <a:off x="1996925" y="2627975"/>
            <a:ext cx="2074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Address Space</a:t>
            </a:r>
            <a:endParaRPr b="1" dirty="0"/>
          </a:p>
        </p:txBody>
      </p:sp>
      <p:graphicFrame>
        <p:nvGraphicFramePr>
          <p:cNvPr id="866" name="Google Shape;866;p43"/>
          <p:cNvGraphicFramePr/>
          <p:nvPr/>
        </p:nvGraphicFramePr>
        <p:xfrm>
          <a:off x="9114225" y="2825625"/>
          <a:ext cx="2227675" cy="347224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22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7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Operating system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P[3]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P[0]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P[2]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P[1]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867" name="Google Shape;867;p43"/>
          <p:cNvGrpSpPr/>
          <p:nvPr/>
        </p:nvGrpSpPr>
        <p:grpSpPr>
          <a:xfrm>
            <a:off x="8255625" y="2832400"/>
            <a:ext cx="998575" cy="3451513"/>
            <a:chOff x="6720550" y="2261913"/>
            <a:chExt cx="998575" cy="3451513"/>
          </a:xfrm>
        </p:grpSpPr>
        <p:sp>
          <p:nvSpPr>
            <p:cNvPr id="868" name="Google Shape;868;p43"/>
            <p:cNvSpPr txBox="1"/>
            <p:nvPr/>
          </p:nvSpPr>
          <p:spPr>
            <a:xfrm>
              <a:off x="6755525" y="2261913"/>
              <a:ext cx="963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F[0]</a:t>
              </a:r>
              <a:endParaRPr/>
            </a:p>
          </p:txBody>
        </p:sp>
        <p:sp>
          <p:nvSpPr>
            <p:cNvPr id="869" name="Google Shape;869;p43"/>
            <p:cNvSpPr txBox="1"/>
            <p:nvPr/>
          </p:nvSpPr>
          <p:spPr>
            <a:xfrm>
              <a:off x="6755525" y="2689800"/>
              <a:ext cx="963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F[1]</a:t>
              </a:r>
              <a:endParaRPr/>
            </a:p>
          </p:txBody>
        </p:sp>
        <p:sp>
          <p:nvSpPr>
            <p:cNvPr id="870" name="Google Shape;870;p43"/>
            <p:cNvSpPr txBox="1"/>
            <p:nvPr/>
          </p:nvSpPr>
          <p:spPr>
            <a:xfrm>
              <a:off x="6755525" y="3141838"/>
              <a:ext cx="963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F[2]</a:t>
              </a:r>
              <a:endParaRPr/>
            </a:p>
          </p:txBody>
        </p:sp>
        <p:sp>
          <p:nvSpPr>
            <p:cNvPr id="871" name="Google Shape;871;p43"/>
            <p:cNvSpPr txBox="1"/>
            <p:nvPr/>
          </p:nvSpPr>
          <p:spPr>
            <a:xfrm>
              <a:off x="6732188" y="3566950"/>
              <a:ext cx="963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F[3]</a:t>
              </a:r>
              <a:endParaRPr/>
            </a:p>
          </p:txBody>
        </p:sp>
        <p:sp>
          <p:nvSpPr>
            <p:cNvPr id="872" name="Google Shape;872;p43"/>
            <p:cNvSpPr txBox="1"/>
            <p:nvPr/>
          </p:nvSpPr>
          <p:spPr>
            <a:xfrm>
              <a:off x="6732200" y="3974963"/>
              <a:ext cx="963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F[4]</a:t>
              </a:r>
              <a:endParaRPr/>
            </a:p>
          </p:txBody>
        </p:sp>
        <p:sp>
          <p:nvSpPr>
            <p:cNvPr id="873" name="Google Shape;873;p43"/>
            <p:cNvSpPr txBox="1"/>
            <p:nvPr/>
          </p:nvSpPr>
          <p:spPr>
            <a:xfrm>
              <a:off x="6732188" y="4403663"/>
              <a:ext cx="963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F[5]</a:t>
              </a:r>
              <a:endParaRPr/>
            </a:p>
          </p:txBody>
        </p:sp>
        <p:sp>
          <p:nvSpPr>
            <p:cNvPr id="874" name="Google Shape;874;p43"/>
            <p:cNvSpPr txBox="1"/>
            <p:nvPr/>
          </p:nvSpPr>
          <p:spPr>
            <a:xfrm>
              <a:off x="6755525" y="4837013"/>
              <a:ext cx="963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F[6]</a:t>
              </a:r>
              <a:endParaRPr/>
            </a:p>
          </p:txBody>
        </p:sp>
        <p:sp>
          <p:nvSpPr>
            <p:cNvPr id="875" name="Google Shape;875;p43"/>
            <p:cNvSpPr txBox="1"/>
            <p:nvPr/>
          </p:nvSpPr>
          <p:spPr>
            <a:xfrm>
              <a:off x="6720550" y="5282325"/>
              <a:ext cx="963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F[7]</a:t>
              </a:r>
              <a:endParaRPr/>
            </a:p>
          </p:txBody>
        </p:sp>
      </p:grpSp>
      <p:sp>
        <p:nvSpPr>
          <p:cNvPr id="876" name="Google Shape;876;p43"/>
          <p:cNvSpPr txBox="1"/>
          <p:nvPr/>
        </p:nvSpPr>
        <p:spPr>
          <a:xfrm>
            <a:off x="9009300" y="2406363"/>
            <a:ext cx="2437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Physical Address</a:t>
            </a:r>
            <a:endParaRPr b="1" dirty="0"/>
          </a:p>
        </p:txBody>
      </p:sp>
      <p:sp>
        <p:nvSpPr>
          <p:cNvPr id="877" name="Google Shape;877;p43"/>
          <p:cNvSpPr/>
          <p:nvPr/>
        </p:nvSpPr>
        <p:spPr>
          <a:xfrm>
            <a:off x="5245488" y="2950750"/>
            <a:ext cx="2261400" cy="6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nsolas"/>
                <a:ea typeface="Consolas"/>
                <a:cs typeface="Consolas"/>
                <a:sym typeface="Consolas"/>
              </a:rPr>
              <a:t>Page Table (PT)</a:t>
            </a:r>
            <a:endParaRPr sz="2000" b="1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878" name="Google Shape;878;p43"/>
          <p:cNvGraphicFramePr/>
          <p:nvPr/>
        </p:nvGraphicFramePr>
        <p:xfrm>
          <a:off x="5292425" y="3708357"/>
          <a:ext cx="2167525" cy="213350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106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frame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879" name="Google Shape;879;p43"/>
          <p:cNvCxnSpPr/>
          <p:nvPr/>
        </p:nvCxnSpPr>
        <p:spPr>
          <a:xfrm>
            <a:off x="3914975" y="3327925"/>
            <a:ext cx="1609500" cy="10146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80" name="Google Shape;880;p43"/>
          <p:cNvCxnSpPr/>
          <p:nvPr/>
        </p:nvCxnSpPr>
        <p:spPr>
          <a:xfrm>
            <a:off x="7110700" y="4354275"/>
            <a:ext cx="1294500" cy="6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81" name="Google Shape;881;p43"/>
          <p:cNvCxnSpPr/>
          <p:nvPr/>
        </p:nvCxnSpPr>
        <p:spPr>
          <a:xfrm>
            <a:off x="3973275" y="3771125"/>
            <a:ext cx="1574700" cy="1026300"/>
          </a:xfrm>
          <a:prstGeom prst="bentConnector3">
            <a:avLst>
              <a:gd name="adj1" fmla="val 41478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82" name="Google Shape;882;p43"/>
          <p:cNvCxnSpPr/>
          <p:nvPr/>
        </p:nvCxnSpPr>
        <p:spPr>
          <a:xfrm>
            <a:off x="7110700" y="4797500"/>
            <a:ext cx="1376400" cy="12831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83" name="Google Shape;883;p43"/>
          <p:cNvCxnSpPr/>
          <p:nvPr/>
        </p:nvCxnSpPr>
        <p:spPr>
          <a:xfrm>
            <a:off x="3973275" y="4191000"/>
            <a:ext cx="1574700" cy="1038000"/>
          </a:xfrm>
          <a:prstGeom prst="bentConnector3">
            <a:avLst>
              <a:gd name="adj1" fmla="val 32590"/>
            </a:avLst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84" name="Google Shape;884;p43"/>
          <p:cNvCxnSpPr/>
          <p:nvPr/>
        </p:nvCxnSpPr>
        <p:spPr>
          <a:xfrm>
            <a:off x="7087375" y="5194050"/>
            <a:ext cx="1342500" cy="9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85" name="Google Shape;885;p43"/>
          <p:cNvCxnSpPr/>
          <p:nvPr/>
        </p:nvCxnSpPr>
        <p:spPr>
          <a:xfrm>
            <a:off x="3932375" y="4611375"/>
            <a:ext cx="1615500" cy="1037400"/>
          </a:xfrm>
          <a:prstGeom prst="bentConnector3">
            <a:avLst>
              <a:gd name="adj1" fmla="val 25634"/>
            </a:avLst>
          </a:prstGeom>
          <a:noFill/>
          <a:ln w="28575" cap="flat" cmpd="sng">
            <a:solidFill>
              <a:srgbClr val="701E5C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86" name="Google Shape;886;p43"/>
          <p:cNvCxnSpPr/>
          <p:nvPr/>
        </p:nvCxnSpPr>
        <p:spPr>
          <a:xfrm rot="-5400000">
            <a:off x="6959100" y="4319225"/>
            <a:ext cx="1726200" cy="979800"/>
          </a:xfrm>
          <a:prstGeom prst="bentConnector3">
            <a:avLst>
              <a:gd name="adj1" fmla="val 99997"/>
            </a:avLst>
          </a:prstGeom>
          <a:noFill/>
          <a:ln w="28575" cap="flat" cmpd="sng">
            <a:solidFill>
              <a:srgbClr val="701E5C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45"/>
          <p:cNvSpPr txBox="1">
            <a:spLocks noGrp="1"/>
          </p:cNvSpPr>
          <p:nvPr>
            <p:ph type="title"/>
          </p:nvPr>
        </p:nvSpPr>
        <p:spPr>
          <a:xfrm>
            <a:off x="446415" y="78581"/>
            <a:ext cx="1127535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Traducción de direcciones – Direcciones Virtuales</a:t>
            </a:r>
            <a:endParaRPr sz="3200" b="1" dirty="0">
              <a:solidFill>
                <a:srgbClr val="701E5C"/>
              </a:solidFill>
              <a:latin typeface="+mj-lt"/>
              <a:ea typeface="Roboto Slab"/>
              <a:cs typeface="Roboto Slab"/>
              <a:sym typeface="Roboto Slab"/>
            </a:endParaRPr>
          </a:p>
        </p:txBody>
      </p:sp>
      <p:sp>
        <p:nvSpPr>
          <p:cNvPr id="898" name="Google Shape;898;p45"/>
          <p:cNvSpPr txBox="1">
            <a:spLocks noGrp="1"/>
          </p:cNvSpPr>
          <p:nvPr>
            <p:ph type="body" idx="1"/>
          </p:nvPr>
        </p:nvSpPr>
        <p:spPr>
          <a:xfrm>
            <a:off x="394038" y="913675"/>
            <a:ext cx="11174412" cy="157026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>
              <a:latin typeface="+mn-lt"/>
            </a:endParaRPr>
          </a:p>
        </p:txBody>
      </p:sp>
      <p:sp>
        <p:nvSpPr>
          <p:cNvPr id="899" name="Google Shape;899;p45"/>
          <p:cNvSpPr txBox="1">
            <a:spLocks noGrp="1"/>
          </p:cNvSpPr>
          <p:nvPr>
            <p:ph type="body" idx="4294967295"/>
          </p:nvPr>
        </p:nvSpPr>
        <p:spPr>
          <a:xfrm>
            <a:off x="394038" y="879801"/>
            <a:ext cx="11174412" cy="16137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</a:rPr>
              <a:t>Direcciones virtuales</a:t>
            </a:r>
            <a:endParaRPr sz="2400" dirty="0"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/>
              <a:t>Una dirección virtual está compuesta por dos partes:</a:t>
            </a:r>
            <a:endParaRPr sz="2000" dirty="0"/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000" b="1" dirty="0">
                <a:solidFill>
                  <a:schemeClr val="accent2"/>
                </a:solidFill>
              </a:rPr>
              <a:t>VPN (Virtual Page number)</a:t>
            </a:r>
            <a:r>
              <a:rPr lang="es-ES" sz="2000" dirty="0">
                <a:solidFill>
                  <a:schemeClr val="accent2"/>
                </a:solidFill>
              </a:rPr>
              <a:t>:</a:t>
            </a:r>
            <a:r>
              <a:rPr lang="es-ES" sz="2000" dirty="0"/>
              <a:t> Índice asociado a una página en particular.</a:t>
            </a:r>
            <a:endParaRPr sz="2000" dirty="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000" b="1" dirty="0">
                <a:solidFill>
                  <a:schemeClr val="accent2"/>
                </a:solidFill>
              </a:rPr>
              <a:t>Offset</a:t>
            </a:r>
            <a:r>
              <a:rPr lang="es-ES" sz="2000" dirty="0">
                <a:solidFill>
                  <a:schemeClr val="accent2"/>
                </a:solidFill>
              </a:rPr>
              <a:t>: </a:t>
            </a:r>
            <a:r>
              <a:rPr lang="es-ES" sz="2000" dirty="0"/>
              <a:t>Desplazamiento dentro de la página seleccionada.</a:t>
            </a: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b="1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graphicFrame>
        <p:nvGraphicFramePr>
          <p:cNvPr id="900" name="Google Shape;900;p45"/>
          <p:cNvGraphicFramePr/>
          <p:nvPr>
            <p:extLst>
              <p:ext uri="{D42A27DB-BD31-4B8C-83A1-F6EECF244321}">
                <p14:modId xmlns:p14="http://schemas.microsoft.com/office/powerpoint/2010/main" val="3938962942"/>
              </p:ext>
            </p:extLst>
          </p:nvPr>
        </p:nvGraphicFramePr>
        <p:xfrm>
          <a:off x="2797225" y="3098225"/>
          <a:ext cx="2437600" cy="3544025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43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97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5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5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01" name="Google Shape;901;p45"/>
          <p:cNvSpPr/>
          <p:nvPr/>
        </p:nvSpPr>
        <p:spPr>
          <a:xfrm>
            <a:off x="1567300" y="3245300"/>
            <a:ext cx="11196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P[0]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2" name="Google Shape;902;p45"/>
          <p:cNvSpPr/>
          <p:nvPr/>
        </p:nvSpPr>
        <p:spPr>
          <a:xfrm>
            <a:off x="1567300" y="3886413"/>
            <a:ext cx="11196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P[1]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3" name="Google Shape;903;p45"/>
          <p:cNvSpPr/>
          <p:nvPr/>
        </p:nvSpPr>
        <p:spPr>
          <a:xfrm>
            <a:off x="1360650" y="5390438"/>
            <a:ext cx="13296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P[M-2]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4" name="Google Shape;904;p45"/>
          <p:cNvSpPr/>
          <p:nvPr/>
        </p:nvSpPr>
        <p:spPr>
          <a:xfrm>
            <a:off x="1360650" y="6078625"/>
            <a:ext cx="13296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P[M-1]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5" name="Google Shape;905;p45"/>
          <p:cNvSpPr/>
          <p:nvPr/>
        </p:nvSpPr>
        <p:spPr>
          <a:xfrm>
            <a:off x="1375945" y="4523338"/>
            <a:ext cx="13296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P[VPN]</a:t>
            </a:r>
            <a:endParaRPr sz="1800" dirty="0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6" name="Google Shape;906;p45"/>
          <p:cNvSpPr/>
          <p:nvPr/>
        </p:nvSpPr>
        <p:spPr>
          <a:xfrm>
            <a:off x="2884725" y="2664900"/>
            <a:ext cx="22626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latin typeface="Consolas"/>
                <a:ea typeface="Consolas"/>
                <a:cs typeface="Consolas"/>
                <a:sym typeface="Consolas"/>
              </a:rPr>
              <a:t>Address Space</a:t>
            </a:r>
            <a:endParaRPr sz="20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7" name="Google Shape;907;p45"/>
          <p:cNvSpPr/>
          <p:nvPr/>
        </p:nvSpPr>
        <p:spPr>
          <a:xfrm>
            <a:off x="2782761" y="4964750"/>
            <a:ext cx="2437500" cy="1749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8" name="Google Shape;908;p45"/>
          <p:cNvCxnSpPr/>
          <p:nvPr/>
        </p:nvCxnSpPr>
        <p:spPr>
          <a:xfrm>
            <a:off x="3180175" y="4494250"/>
            <a:ext cx="0" cy="4548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909" name="Google Shape;909;p45"/>
          <p:cNvSpPr/>
          <p:nvPr/>
        </p:nvSpPr>
        <p:spPr>
          <a:xfrm>
            <a:off x="3281250" y="4523338"/>
            <a:ext cx="13296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 sz="18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910" name="Google Shape;910;p45"/>
          <p:cNvGraphicFramePr/>
          <p:nvPr/>
        </p:nvGraphicFramePr>
        <p:xfrm>
          <a:off x="6325400" y="3886413"/>
          <a:ext cx="4144350" cy="48765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669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4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20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offset</a:t>
                      </a:r>
                      <a:endParaRPr sz="20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11" name="Google Shape;911;p45"/>
          <p:cNvSpPr/>
          <p:nvPr/>
        </p:nvSpPr>
        <p:spPr>
          <a:xfrm>
            <a:off x="10524050" y="3931950"/>
            <a:ext cx="6414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2200" b="1" dirty="0">
              <a:solidFill>
                <a:schemeClr val="accen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12" name="Google Shape;912;p45"/>
          <p:cNvCxnSpPr/>
          <p:nvPr/>
        </p:nvCxnSpPr>
        <p:spPr>
          <a:xfrm rot="10800000" flipH="1">
            <a:off x="5267900" y="3911075"/>
            <a:ext cx="1003200" cy="10497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913" name="Google Shape;913;p45"/>
          <p:cNvCxnSpPr/>
          <p:nvPr/>
        </p:nvCxnSpPr>
        <p:spPr>
          <a:xfrm rot="10800000" flipH="1">
            <a:off x="5279575" y="4389325"/>
            <a:ext cx="968100" cy="7464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Google Shape;911;p45">
            <a:extLst>
              <a:ext uri="{FF2B5EF4-FFF2-40B4-BE49-F238E27FC236}">
                <a16:creationId xmlns:a16="http://schemas.microsoft.com/office/drawing/2014/main" id="{3E5B7079-74DE-404F-8126-BF82A14A9891}"/>
              </a:ext>
            </a:extLst>
          </p:cNvPr>
          <p:cNvSpPr/>
          <p:nvPr/>
        </p:nvSpPr>
        <p:spPr>
          <a:xfrm>
            <a:off x="1706650" y="4849808"/>
            <a:ext cx="6414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2200" b="1" dirty="0">
              <a:solidFill>
                <a:schemeClr val="accen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1349A39B-F700-4B4F-A7E6-06A05CA6B6F6}"/>
              </a:ext>
            </a:extLst>
          </p:cNvPr>
          <p:cNvCxnSpPr>
            <a:cxnSpLocks/>
          </p:cNvCxnSpPr>
          <p:nvPr/>
        </p:nvCxnSpPr>
        <p:spPr>
          <a:xfrm flipV="1">
            <a:off x="2285050" y="5046345"/>
            <a:ext cx="438274" cy="17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46"/>
          <p:cNvSpPr txBox="1">
            <a:spLocks noGrp="1"/>
          </p:cNvSpPr>
          <p:nvPr>
            <p:ph type="title"/>
          </p:nvPr>
        </p:nvSpPr>
        <p:spPr>
          <a:xfrm>
            <a:off x="377371" y="96038"/>
            <a:ext cx="11293789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Traducción de direcciones – Direcciones Virtuales</a:t>
            </a:r>
            <a:endParaRPr dirty="0">
              <a:latin typeface="+mj-lt"/>
            </a:endParaRPr>
          </a:p>
        </p:txBody>
      </p:sp>
      <p:sp>
        <p:nvSpPr>
          <p:cNvPr id="919" name="Google Shape;919;p46"/>
          <p:cNvSpPr txBox="1">
            <a:spLocks noGrp="1"/>
          </p:cNvSpPr>
          <p:nvPr>
            <p:ph type="body" idx="1"/>
          </p:nvPr>
        </p:nvSpPr>
        <p:spPr>
          <a:xfrm>
            <a:off x="377372" y="875360"/>
            <a:ext cx="5761116" cy="176623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70AD47"/>
                </a:solidFill>
                <a:latin typeface="+mn-lt"/>
              </a:rPr>
              <a:t>Ejemplo - Enunciado del ejemplo original</a:t>
            </a:r>
            <a:endParaRPr sz="2400" dirty="0">
              <a:solidFill>
                <a:srgbClr val="70AD47"/>
              </a:solidFill>
              <a:latin typeface="+mn-lt"/>
            </a:endParaRPr>
          </a:p>
          <a:p>
            <a:pPr marL="457200" lvl="0" indent="-3556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Memoria física de 128 bytes con frames (marcos de página) de 16 bytes.</a:t>
            </a:r>
            <a:endParaRPr sz="2000" dirty="0">
              <a:latin typeface="+mn-lt"/>
            </a:endParaRPr>
          </a:p>
          <a:p>
            <a:pPr marL="45720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Espacio de direcciones (Address Space) de 64 bytes con páginas de 16 bytes.</a:t>
            </a:r>
            <a:endParaRPr sz="2000" dirty="0">
              <a:latin typeface="+mn-lt"/>
            </a:endParaRPr>
          </a:p>
          <a:p>
            <a:pPr marL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936" name="Google Shape;936;p46"/>
          <p:cNvSpPr/>
          <p:nvPr/>
        </p:nvSpPr>
        <p:spPr>
          <a:xfrm>
            <a:off x="6371826" y="1317681"/>
            <a:ext cx="4446743" cy="2019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/>
              <a:t>Datos</a:t>
            </a:r>
            <a:r>
              <a:rPr lang="es-ES" sz="1800" dirty="0"/>
              <a:t>:</a:t>
            </a:r>
            <a:endParaRPr sz="18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size(PM) = 128 B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size(frame) = 16 B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size(AS) = 64 B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size(page) = 16 B</a:t>
            </a:r>
          </a:p>
          <a:p>
            <a:pPr marL="457200" indent="-330200"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num_pages = 4</a:t>
            </a:r>
          </a:p>
          <a:p>
            <a:pPr marL="457200" indent="-330200"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num_frames = 8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endParaRPr sz="16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37" name="Google Shape;937;p46"/>
          <p:cNvSpPr/>
          <p:nvPr/>
        </p:nvSpPr>
        <p:spPr>
          <a:xfrm>
            <a:off x="6371826" y="3609509"/>
            <a:ext cx="5299334" cy="2673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Preguntas</a:t>
            </a:r>
            <a:r>
              <a:rPr lang="es-ES" sz="1800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1800" dirty="0">
                <a:ea typeface="Roboto"/>
                <a:cs typeface="Roboto"/>
                <a:sym typeface="Roboto"/>
              </a:rPr>
              <a:t> </a:t>
            </a:r>
            <a:endParaRPr sz="18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s-ES" sz="1800" dirty="0">
                <a:ea typeface="Roboto"/>
                <a:cs typeface="Roboto"/>
                <a:sym typeface="Roboto"/>
              </a:rPr>
              <a:t>¿Cuántos bits se necesitan para direccionar la memoria virtual?</a:t>
            </a:r>
            <a:endParaRPr sz="18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s-ES" sz="1800" dirty="0">
                <a:ea typeface="Roboto"/>
                <a:cs typeface="Roboto"/>
                <a:sym typeface="Roboto"/>
              </a:rPr>
              <a:t>¿Cuántos bits se necesitan para referirse a cada página?</a:t>
            </a:r>
            <a:endParaRPr sz="18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s-ES" sz="1800" dirty="0">
                <a:ea typeface="Roboto"/>
                <a:cs typeface="Roboto"/>
                <a:sym typeface="Roboto"/>
              </a:rPr>
              <a:t>¿Cuántos bits se necesitan para acceder a cada las direcciones de cada página?</a:t>
            </a:r>
            <a:endParaRPr sz="18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s-ES" sz="1800" dirty="0">
                <a:ea typeface="Roboto"/>
                <a:cs typeface="Roboto"/>
                <a:sym typeface="Roboto"/>
              </a:rPr>
              <a:t>¿Cuál es el VPN y el offset de la dirección virtual 21 </a:t>
            </a:r>
            <a:r>
              <a:rPr lang="es-ES" sz="18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en el AS de 64 B</a:t>
            </a:r>
            <a:r>
              <a:rPr lang="es-ES" sz="1800" dirty="0">
                <a:ea typeface="Roboto"/>
                <a:cs typeface="Roboto"/>
                <a:sym typeface="Roboto"/>
              </a:rPr>
              <a:t>?</a:t>
            </a:r>
            <a:endParaRPr sz="1800" dirty="0">
              <a:ea typeface="Roboto"/>
              <a:cs typeface="Roboto"/>
              <a:sym typeface="Roboto"/>
            </a:endParaRP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3EEF0EBD-0404-4CEF-AFFA-281177B8F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177" y="3819578"/>
            <a:ext cx="2165505" cy="1605643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E18838BE-0265-4575-82C9-CD16EF37DE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7993" y="2794547"/>
            <a:ext cx="2582183" cy="383638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46"/>
          <p:cNvSpPr txBox="1">
            <a:spLocks noGrp="1"/>
          </p:cNvSpPr>
          <p:nvPr>
            <p:ph type="title"/>
          </p:nvPr>
        </p:nvSpPr>
        <p:spPr>
          <a:xfrm>
            <a:off x="377371" y="96038"/>
            <a:ext cx="11306629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Traducción de direcciones – Direcciones Virtuales</a:t>
            </a:r>
            <a:endParaRPr dirty="0">
              <a:latin typeface="+mj-lt"/>
            </a:endParaRPr>
          </a:p>
        </p:txBody>
      </p:sp>
      <p:sp>
        <p:nvSpPr>
          <p:cNvPr id="919" name="Google Shape;919;p46"/>
          <p:cNvSpPr txBox="1">
            <a:spLocks noGrp="1"/>
          </p:cNvSpPr>
          <p:nvPr>
            <p:ph type="body" idx="1"/>
          </p:nvPr>
        </p:nvSpPr>
        <p:spPr>
          <a:xfrm>
            <a:off x="508000" y="833325"/>
            <a:ext cx="11060450" cy="5684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70AD47"/>
                </a:solidFill>
                <a:latin typeface="+mn-lt"/>
              </a:rPr>
              <a:t>Ejemplo - Enunciado del ejemplo original</a:t>
            </a: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937" name="Google Shape;937;p46"/>
          <p:cNvSpPr/>
          <p:nvPr/>
        </p:nvSpPr>
        <p:spPr>
          <a:xfrm>
            <a:off x="634475" y="3297664"/>
            <a:ext cx="3574668" cy="3106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Preguntas</a:t>
            </a:r>
            <a:r>
              <a:rPr lang="es-ES" sz="1800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1800" dirty="0">
                <a:ea typeface="Roboto"/>
                <a:cs typeface="Roboto"/>
                <a:sym typeface="Roboto"/>
              </a:rPr>
              <a:t> </a:t>
            </a:r>
            <a:endParaRPr sz="18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s-ES" sz="1800" dirty="0">
                <a:ea typeface="Roboto"/>
                <a:cs typeface="Roboto"/>
                <a:sym typeface="Roboto"/>
              </a:rPr>
              <a:t>¿Cuántos bits se necesitan para direccionar la memoria virtual?</a:t>
            </a:r>
            <a:endParaRPr sz="18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s-ES" sz="1800" dirty="0">
                <a:ea typeface="Roboto"/>
                <a:cs typeface="Roboto"/>
                <a:sym typeface="Roboto"/>
              </a:rPr>
              <a:t>¿Cuántos bits se necesitan para referirse a cada página?</a:t>
            </a:r>
            <a:endParaRPr sz="18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s-ES" sz="1800" dirty="0">
                <a:ea typeface="Roboto"/>
                <a:cs typeface="Roboto"/>
                <a:sym typeface="Roboto"/>
              </a:rPr>
              <a:t>¿Cuántos bits se necesitan para acceder a cada las direcciones de cada página?</a:t>
            </a:r>
            <a:endParaRPr sz="18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s-ES" sz="1800" dirty="0">
                <a:ea typeface="Roboto"/>
                <a:cs typeface="Roboto"/>
                <a:sym typeface="Roboto"/>
              </a:rPr>
              <a:t>¿Cuál es el VPN y el offset de la dirección virtual 21 </a:t>
            </a:r>
            <a:r>
              <a:rPr lang="es-ES" sz="18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en el AS de 64 B</a:t>
            </a:r>
            <a:r>
              <a:rPr lang="es-ES" sz="1800" dirty="0">
                <a:ea typeface="Roboto"/>
                <a:cs typeface="Roboto"/>
                <a:sym typeface="Roboto"/>
              </a:rPr>
              <a:t>?</a:t>
            </a:r>
            <a:endParaRPr sz="1800" dirty="0">
              <a:ea typeface="Roboto"/>
              <a:cs typeface="Roboto"/>
              <a:sym typeface="Roboto"/>
            </a:endParaRPr>
          </a:p>
        </p:txBody>
      </p:sp>
      <p:sp>
        <p:nvSpPr>
          <p:cNvPr id="23" name="Google Shape;936;p46">
            <a:extLst>
              <a:ext uri="{FF2B5EF4-FFF2-40B4-BE49-F238E27FC236}">
                <a16:creationId xmlns:a16="http://schemas.microsoft.com/office/drawing/2014/main" id="{4AF27BD6-755A-4D07-BA65-50FDE433B765}"/>
              </a:ext>
            </a:extLst>
          </p:cNvPr>
          <p:cNvSpPr/>
          <p:nvPr/>
        </p:nvSpPr>
        <p:spPr>
          <a:xfrm>
            <a:off x="634475" y="1409315"/>
            <a:ext cx="4446743" cy="2019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/>
              <a:t>Datos</a:t>
            </a:r>
            <a:r>
              <a:rPr lang="es-ES" sz="1800" dirty="0"/>
              <a:t>:</a:t>
            </a:r>
            <a:endParaRPr sz="18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size(PM) = 128 B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size(frame) = 16 B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size(AS) = 64 B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size(page) = 16 B</a:t>
            </a:r>
          </a:p>
          <a:p>
            <a:pPr marL="457200" indent="-330200"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pages = 4</a:t>
            </a:r>
          </a:p>
          <a:p>
            <a:pPr marL="457200" indent="-330200"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frames = 8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endParaRPr sz="1600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8769969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47"/>
          <p:cNvSpPr txBox="1">
            <a:spLocks noGrp="1"/>
          </p:cNvSpPr>
          <p:nvPr>
            <p:ph type="title"/>
          </p:nvPr>
        </p:nvSpPr>
        <p:spPr>
          <a:xfrm>
            <a:off x="457500" y="109729"/>
            <a:ext cx="11342614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Traducción de direcciones – Direcciones Virtuales</a:t>
            </a:r>
            <a:endParaRPr dirty="0">
              <a:latin typeface="+mj-lt"/>
            </a:endParaRPr>
          </a:p>
        </p:txBody>
      </p:sp>
      <p:sp>
        <p:nvSpPr>
          <p:cNvPr id="943" name="Google Shape;943;p47"/>
          <p:cNvSpPr txBox="1">
            <a:spLocks noGrp="1"/>
          </p:cNvSpPr>
          <p:nvPr>
            <p:ph type="body" idx="1"/>
          </p:nvPr>
        </p:nvSpPr>
        <p:spPr>
          <a:xfrm>
            <a:off x="537600" y="902419"/>
            <a:ext cx="10651800" cy="4891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70AD47"/>
                </a:solidFill>
                <a:latin typeface="+mn-lt"/>
              </a:rPr>
              <a:t>Ejemplo - Enunciado del ejemplo original – Pregunta 1</a:t>
            </a:r>
            <a:endParaRPr sz="2000" dirty="0">
              <a:solidFill>
                <a:srgbClr val="70AD47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</p:txBody>
      </p:sp>
      <p:sp>
        <p:nvSpPr>
          <p:cNvPr id="960" name="Google Shape;960;p47"/>
          <p:cNvSpPr/>
          <p:nvPr/>
        </p:nvSpPr>
        <p:spPr>
          <a:xfrm>
            <a:off x="6096000" y="1533978"/>
            <a:ext cx="5366296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/>
              <a:t>Datos</a:t>
            </a:r>
            <a:r>
              <a:rPr lang="es-ES" sz="1800" dirty="0"/>
              <a:t>:</a:t>
            </a:r>
            <a:endParaRPr sz="18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size(AS) = 64 B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size(page) = 16 B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Número de páginas = 4 (Obtenido previamente)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61" name="Google Shape;961;p47"/>
          <p:cNvSpPr/>
          <p:nvPr/>
        </p:nvSpPr>
        <p:spPr>
          <a:xfrm>
            <a:off x="6061200" y="2871940"/>
            <a:ext cx="5598300" cy="15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FF0000"/>
                </a:solidFill>
              </a:rPr>
              <a:t>Pregunta</a:t>
            </a:r>
            <a:r>
              <a:rPr lang="es-ES" sz="1800" dirty="0">
                <a:solidFill>
                  <a:srgbClr val="FF0000"/>
                </a:solidFill>
              </a:rPr>
              <a:t>:</a:t>
            </a:r>
            <a:r>
              <a:rPr lang="es-ES" sz="1800" dirty="0"/>
              <a:t> </a:t>
            </a:r>
            <a:endParaRPr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s-ES" sz="1800" dirty="0">
                <a:solidFill>
                  <a:schemeClr val="dk1"/>
                </a:solidFill>
              </a:rPr>
              <a:t>¿Cuántos bits se necesitan para direccionar la memoria virtual?</a:t>
            </a:r>
            <a:endParaRPr sz="1800" dirty="0">
              <a:solidFill>
                <a:schemeClr val="dk1"/>
              </a:solidFill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size(AS) = 64 B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 = ?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62" name="Google Shape;962;p47"/>
          <p:cNvSpPr txBox="1"/>
          <p:nvPr/>
        </p:nvSpPr>
        <p:spPr>
          <a:xfrm>
            <a:off x="7360350" y="4429705"/>
            <a:ext cx="30000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2^n = size(AS)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2^n = 64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2^n = 2^6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 = log2(2^6)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n = 6</a:t>
            </a:r>
            <a:endParaRPr sz="1600" dirty="0">
              <a:solidFill>
                <a:srgbClr val="FF0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50829875-6D7A-4AF0-A7DB-981060E2ED16}"/>
              </a:ext>
            </a:extLst>
          </p:cNvPr>
          <p:cNvGrpSpPr/>
          <p:nvPr/>
        </p:nvGrpSpPr>
        <p:grpSpPr>
          <a:xfrm>
            <a:off x="729704" y="2274230"/>
            <a:ext cx="4791475" cy="3518292"/>
            <a:chOff x="729704" y="2274230"/>
            <a:chExt cx="4791475" cy="3518292"/>
          </a:xfrm>
        </p:grpSpPr>
        <p:graphicFrame>
          <p:nvGraphicFramePr>
            <p:cNvPr id="944" name="Google Shape;944;p47"/>
            <p:cNvGraphicFramePr/>
            <p:nvPr>
              <p:extLst>
                <p:ext uri="{D42A27DB-BD31-4B8C-83A1-F6EECF244321}">
                  <p14:modId xmlns:p14="http://schemas.microsoft.com/office/powerpoint/2010/main" val="3454670703"/>
                </p:ext>
              </p:extLst>
            </p:nvPr>
          </p:nvGraphicFramePr>
          <p:xfrm>
            <a:off x="2119979" y="2739955"/>
            <a:ext cx="2437600" cy="2169300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24376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5317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5317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5529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5529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</a:tbl>
            </a:graphicData>
          </a:graphic>
        </p:graphicFrame>
        <p:grpSp>
          <p:nvGrpSpPr>
            <p:cNvPr id="945" name="Google Shape;945;p47"/>
            <p:cNvGrpSpPr/>
            <p:nvPr/>
          </p:nvGrpSpPr>
          <p:grpSpPr>
            <a:xfrm>
              <a:off x="4557579" y="2788393"/>
              <a:ext cx="963600" cy="2072413"/>
              <a:chOff x="6895500" y="3168388"/>
              <a:chExt cx="963600" cy="2072413"/>
            </a:xfrm>
          </p:grpSpPr>
          <p:sp>
            <p:nvSpPr>
              <p:cNvPr id="946" name="Google Shape;946;p47"/>
              <p:cNvSpPr txBox="1"/>
              <p:nvPr/>
            </p:nvSpPr>
            <p:spPr>
              <a:xfrm>
                <a:off x="6895500" y="3168388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P[0]</a:t>
                </a:r>
                <a:endParaRPr/>
              </a:p>
            </p:txBody>
          </p:sp>
          <p:sp>
            <p:nvSpPr>
              <p:cNvPr id="947" name="Google Shape;947;p47"/>
              <p:cNvSpPr txBox="1"/>
              <p:nvPr/>
            </p:nvSpPr>
            <p:spPr>
              <a:xfrm>
                <a:off x="6895500" y="371550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P[1]</a:t>
                </a:r>
                <a:endParaRPr/>
              </a:p>
            </p:txBody>
          </p:sp>
          <p:sp>
            <p:nvSpPr>
              <p:cNvPr id="948" name="Google Shape;948;p47"/>
              <p:cNvSpPr txBox="1"/>
              <p:nvPr/>
            </p:nvSpPr>
            <p:spPr>
              <a:xfrm>
                <a:off x="6895500" y="426260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P[2]</a:t>
                </a:r>
                <a:endParaRPr/>
              </a:p>
            </p:txBody>
          </p:sp>
          <p:sp>
            <p:nvSpPr>
              <p:cNvPr id="949" name="Google Shape;949;p47"/>
              <p:cNvSpPr txBox="1"/>
              <p:nvPr/>
            </p:nvSpPr>
            <p:spPr>
              <a:xfrm>
                <a:off x="6895500" y="480970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P[3]</a:t>
                </a:r>
                <a:endParaRPr/>
              </a:p>
            </p:txBody>
          </p:sp>
        </p:grpSp>
        <p:sp>
          <p:nvSpPr>
            <p:cNvPr id="950" name="Google Shape;950;p47"/>
            <p:cNvSpPr txBox="1"/>
            <p:nvPr/>
          </p:nvSpPr>
          <p:spPr>
            <a:xfrm>
              <a:off x="2120029" y="2274230"/>
              <a:ext cx="2437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Address Space</a:t>
              </a:r>
              <a:endParaRPr b="1" dirty="0"/>
            </a:p>
          </p:txBody>
        </p:sp>
        <p:grpSp>
          <p:nvGrpSpPr>
            <p:cNvPr id="951" name="Google Shape;951;p47"/>
            <p:cNvGrpSpPr/>
            <p:nvPr/>
          </p:nvGrpSpPr>
          <p:grpSpPr>
            <a:xfrm>
              <a:off x="1285679" y="2522180"/>
              <a:ext cx="834300" cy="2625075"/>
              <a:chOff x="7024800" y="2923550"/>
              <a:chExt cx="834300" cy="2625075"/>
            </a:xfrm>
          </p:grpSpPr>
          <p:sp>
            <p:nvSpPr>
              <p:cNvPr id="952" name="Google Shape;952;p47"/>
              <p:cNvSpPr txBox="1"/>
              <p:nvPr/>
            </p:nvSpPr>
            <p:spPr>
              <a:xfrm>
                <a:off x="7024800" y="50869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64</a:t>
                </a:r>
                <a:endParaRPr/>
              </a:p>
            </p:txBody>
          </p:sp>
          <p:sp>
            <p:nvSpPr>
              <p:cNvPr id="953" name="Google Shape;953;p47"/>
              <p:cNvSpPr txBox="1"/>
              <p:nvPr/>
            </p:nvSpPr>
            <p:spPr>
              <a:xfrm>
                <a:off x="7024800" y="2923550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</a:t>
                </a:r>
                <a:endParaRPr/>
              </a:p>
            </p:txBody>
          </p:sp>
          <p:sp>
            <p:nvSpPr>
              <p:cNvPr id="954" name="Google Shape;954;p47"/>
              <p:cNvSpPr txBox="1"/>
              <p:nvPr/>
            </p:nvSpPr>
            <p:spPr>
              <a:xfrm>
                <a:off x="7024800" y="3427338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16</a:t>
                </a:r>
                <a:endParaRPr/>
              </a:p>
            </p:txBody>
          </p:sp>
          <p:sp>
            <p:nvSpPr>
              <p:cNvPr id="955" name="Google Shape;955;p47"/>
              <p:cNvSpPr txBox="1"/>
              <p:nvPr/>
            </p:nvSpPr>
            <p:spPr>
              <a:xfrm>
                <a:off x="7024800" y="39606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32</a:t>
                </a:r>
                <a:endParaRPr/>
              </a:p>
            </p:txBody>
          </p:sp>
          <p:sp>
            <p:nvSpPr>
              <p:cNvPr id="956" name="Google Shape;956;p47"/>
              <p:cNvSpPr txBox="1"/>
              <p:nvPr/>
            </p:nvSpPr>
            <p:spPr>
              <a:xfrm>
                <a:off x="7024800" y="452377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48</a:t>
                </a:r>
                <a:endParaRPr/>
              </a:p>
            </p:txBody>
          </p:sp>
        </p:grpSp>
        <p:grpSp>
          <p:nvGrpSpPr>
            <p:cNvPr id="957" name="Google Shape;957;p47"/>
            <p:cNvGrpSpPr/>
            <p:nvPr/>
          </p:nvGrpSpPr>
          <p:grpSpPr>
            <a:xfrm>
              <a:off x="729704" y="3271680"/>
              <a:ext cx="956750" cy="531900"/>
              <a:chOff x="6468825" y="3673050"/>
              <a:chExt cx="956750" cy="531900"/>
            </a:xfrm>
          </p:grpSpPr>
          <p:sp>
            <p:nvSpPr>
              <p:cNvPr id="958" name="Google Shape;958;p47"/>
              <p:cNvSpPr/>
              <p:nvPr/>
            </p:nvSpPr>
            <p:spPr>
              <a:xfrm>
                <a:off x="7250675" y="3673050"/>
                <a:ext cx="174900" cy="531900"/>
              </a:xfrm>
              <a:prstGeom prst="leftBrace">
                <a:avLst>
                  <a:gd name="adj1" fmla="val 50000"/>
                  <a:gd name="adj2" fmla="val 54312"/>
                </a:avLst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47"/>
              <p:cNvSpPr txBox="1"/>
              <p:nvPr/>
            </p:nvSpPr>
            <p:spPr>
              <a:xfrm>
                <a:off x="6468825" y="3708138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16</a:t>
                </a:r>
                <a:endParaRPr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963" name="Google Shape;963;p47"/>
            <p:cNvSpPr txBox="1"/>
            <p:nvPr/>
          </p:nvSpPr>
          <p:spPr>
            <a:xfrm>
              <a:off x="2259979" y="5299922"/>
              <a:ext cx="2157600" cy="492600"/>
            </a:xfrm>
            <a:prstGeom prst="rect">
              <a:avLst/>
            </a:prstGeom>
            <a:solidFill>
              <a:srgbClr val="FCE5CD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 = log2(size)</a:t>
              </a:r>
              <a:endParaRPr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48"/>
          <p:cNvSpPr txBox="1">
            <a:spLocks noGrp="1"/>
          </p:cNvSpPr>
          <p:nvPr>
            <p:ph type="title"/>
          </p:nvPr>
        </p:nvSpPr>
        <p:spPr>
          <a:xfrm>
            <a:off x="234479" y="96038"/>
            <a:ext cx="11723042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Traducción de direcciones – Direcciones Virtuales</a:t>
            </a:r>
            <a:endParaRPr dirty="0">
              <a:latin typeface="+mj-lt"/>
            </a:endParaRPr>
          </a:p>
        </p:txBody>
      </p:sp>
      <p:sp>
        <p:nvSpPr>
          <p:cNvPr id="969" name="Google Shape;969;p48"/>
          <p:cNvSpPr txBox="1">
            <a:spLocks noGrp="1"/>
          </p:cNvSpPr>
          <p:nvPr>
            <p:ph type="body" idx="1"/>
          </p:nvPr>
        </p:nvSpPr>
        <p:spPr>
          <a:xfrm>
            <a:off x="234479" y="921050"/>
            <a:ext cx="10651800" cy="67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70AD47"/>
                </a:solidFill>
                <a:latin typeface="+mn-lt"/>
              </a:rPr>
              <a:t>Ejemplo - Enunciado del ejemplo original – Pregunta 2</a:t>
            </a:r>
            <a:endParaRPr sz="2000" dirty="0">
              <a:solidFill>
                <a:srgbClr val="70AD47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</p:txBody>
      </p:sp>
      <p:sp>
        <p:nvSpPr>
          <p:cNvPr id="986" name="Google Shape;986;p48"/>
          <p:cNvSpPr/>
          <p:nvPr/>
        </p:nvSpPr>
        <p:spPr>
          <a:xfrm>
            <a:off x="5863500" y="1685588"/>
            <a:ext cx="5598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latin typeface="Roboto"/>
                <a:ea typeface="Roboto"/>
                <a:cs typeface="Roboto"/>
                <a:sym typeface="Roboto"/>
              </a:rPr>
              <a:t>Datos</a:t>
            </a:r>
            <a:r>
              <a:rPr lang="es-ES" sz="1800" dirty="0">
                <a:latin typeface="Roboto"/>
                <a:ea typeface="Roboto"/>
                <a:cs typeface="Roboto"/>
                <a:sym typeface="Roboto"/>
              </a:rPr>
              <a:t>:</a:t>
            </a:r>
            <a:endParaRPr sz="1800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size(AS) = 64 B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size(page) = 16 B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Número de páginas = 4 (Obtenido previamente)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7" name="Google Shape;987;p48"/>
          <p:cNvSpPr/>
          <p:nvPr/>
        </p:nvSpPr>
        <p:spPr>
          <a:xfrm>
            <a:off x="5863500" y="3101925"/>
            <a:ext cx="5796000" cy="16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Solución pregunta 2</a:t>
            </a:r>
            <a:r>
              <a:rPr lang="es-ES" sz="1800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1800" dirty="0">
                <a:ea typeface="Roboto"/>
                <a:cs typeface="Roboto"/>
                <a:sym typeface="Roboto"/>
              </a:rPr>
              <a:t> </a:t>
            </a:r>
            <a:endParaRPr sz="18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 startAt="2"/>
            </a:pPr>
            <a:r>
              <a:rPr lang="es-ES" sz="1800" dirty="0">
                <a:solidFill>
                  <a:schemeClr val="dk1"/>
                </a:solidFill>
              </a:rPr>
              <a:t>¿Cuántos bits se necesitan para referirse a cada página?</a:t>
            </a:r>
            <a:endParaRPr sz="1800" dirty="0">
              <a:solidFill>
                <a:schemeClr val="dk1"/>
              </a:solidFill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num_pages = 4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n(VPN) = ?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8" name="Google Shape;988;p48"/>
          <p:cNvSpPr txBox="1"/>
          <p:nvPr/>
        </p:nvSpPr>
        <p:spPr>
          <a:xfrm>
            <a:off x="7477782" y="4871025"/>
            <a:ext cx="30000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2^</a:t>
            </a:r>
            <a:r>
              <a:rPr lang="es-ES" sz="16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n(VPN)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num_pages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2^</a:t>
            </a:r>
            <a:r>
              <a:rPr lang="es-ES" sz="16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n(VPN)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4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2^</a:t>
            </a:r>
            <a:r>
              <a:rPr lang="es-ES" sz="16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n(VPN)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2^2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n(VPN) = 2</a:t>
            </a:r>
            <a:endParaRPr sz="1600" b="1" dirty="0">
              <a:solidFill>
                <a:srgbClr val="FF0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B3EC2F99-DFA1-4512-AF12-EF38638B1050}"/>
              </a:ext>
            </a:extLst>
          </p:cNvPr>
          <p:cNvGrpSpPr/>
          <p:nvPr/>
        </p:nvGrpSpPr>
        <p:grpSpPr>
          <a:xfrm>
            <a:off x="394136" y="2130550"/>
            <a:ext cx="4791475" cy="3571625"/>
            <a:chOff x="350593" y="1878625"/>
            <a:chExt cx="4791475" cy="3571625"/>
          </a:xfrm>
        </p:grpSpPr>
        <p:graphicFrame>
          <p:nvGraphicFramePr>
            <p:cNvPr id="970" name="Google Shape;970;p48"/>
            <p:cNvGraphicFramePr/>
            <p:nvPr>
              <p:extLst>
                <p:ext uri="{D42A27DB-BD31-4B8C-83A1-F6EECF244321}">
                  <p14:modId xmlns:p14="http://schemas.microsoft.com/office/powerpoint/2010/main" val="3622898645"/>
                </p:ext>
              </p:extLst>
            </p:nvPr>
          </p:nvGraphicFramePr>
          <p:xfrm>
            <a:off x="1740868" y="2344350"/>
            <a:ext cx="2437600" cy="2198621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24376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5317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5317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5529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582246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dirty="0"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</a:tbl>
            </a:graphicData>
          </a:graphic>
        </p:graphicFrame>
        <p:grpSp>
          <p:nvGrpSpPr>
            <p:cNvPr id="971" name="Google Shape;971;p48"/>
            <p:cNvGrpSpPr/>
            <p:nvPr/>
          </p:nvGrpSpPr>
          <p:grpSpPr>
            <a:xfrm>
              <a:off x="4178468" y="2392788"/>
              <a:ext cx="963600" cy="2072413"/>
              <a:chOff x="6895500" y="3168388"/>
              <a:chExt cx="963600" cy="2072413"/>
            </a:xfrm>
          </p:grpSpPr>
          <p:sp>
            <p:nvSpPr>
              <p:cNvPr id="972" name="Google Shape;972;p48"/>
              <p:cNvSpPr txBox="1"/>
              <p:nvPr/>
            </p:nvSpPr>
            <p:spPr>
              <a:xfrm>
                <a:off x="6895500" y="3168388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P[0]</a:t>
                </a:r>
                <a:endParaRPr/>
              </a:p>
            </p:txBody>
          </p:sp>
          <p:sp>
            <p:nvSpPr>
              <p:cNvPr id="973" name="Google Shape;973;p48"/>
              <p:cNvSpPr txBox="1"/>
              <p:nvPr/>
            </p:nvSpPr>
            <p:spPr>
              <a:xfrm>
                <a:off x="6895500" y="371550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P[1]</a:t>
                </a:r>
                <a:endParaRPr/>
              </a:p>
            </p:txBody>
          </p:sp>
          <p:sp>
            <p:nvSpPr>
              <p:cNvPr id="974" name="Google Shape;974;p48"/>
              <p:cNvSpPr txBox="1"/>
              <p:nvPr/>
            </p:nvSpPr>
            <p:spPr>
              <a:xfrm>
                <a:off x="6895500" y="426260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P[2]</a:t>
                </a:r>
                <a:endParaRPr/>
              </a:p>
            </p:txBody>
          </p:sp>
          <p:sp>
            <p:nvSpPr>
              <p:cNvPr id="975" name="Google Shape;975;p48"/>
              <p:cNvSpPr txBox="1"/>
              <p:nvPr/>
            </p:nvSpPr>
            <p:spPr>
              <a:xfrm>
                <a:off x="6895500" y="480970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P[3]</a:t>
                </a:r>
                <a:endParaRPr/>
              </a:p>
            </p:txBody>
          </p:sp>
        </p:grpSp>
        <p:sp>
          <p:nvSpPr>
            <p:cNvPr id="976" name="Google Shape;976;p48"/>
            <p:cNvSpPr txBox="1"/>
            <p:nvPr/>
          </p:nvSpPr>
          <p:spPr>
            <a:xfrm>
              <a:off x="1740918" y="1878625"/>
              <a:ext cx="2437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Address Space</a:t>
              </a:r>
              <a:endParaRPr b="1" dirty="0"/>
            </a:p>
          </p:txBody>
        </p:sp>
        <p:grpSp>
          <p:nvGrpSpPr>
            <p:cNvPr id="977" name="Google Shape;977;p48"/>
            <p:cNvGrpSpPr/>
            <p:nvPr/>
          </p:nvGrpSpPr>
          <p:grpSpPr>
            <a:xfrm>
              <a:off x="906568" y="2126575"/>
              <a:ext cx="834300" cy="2625075"/>
              <a:chOff x="7024800" y="2923550"/>
              <a:chExt cx="834300" cy="2625075"/>
            </a:xfrm>
          </p:grpSpPr>
          <p:sp>
            <p:nvSpPr>
              <p:cNvPr id="978" name="Google Shape;978;p48"/>
              <p:cNvSpPr txBox="1"/>
              <p:nvPr/>
            </p:nvSpPr>
            <p:spPr>
              <a:xfrm>
                <a:off x="7024800" y="50869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64</a:t>
                </a:r>
                <a:endParaRPr/>
              </a:p>
            </p:txBody>
          </p:sp>
          <p:sp>
            <p:nvSpPr>
              <p:cNvPr id="979" name="Google Shape;979;p48"/>
              <p:cNvSpPr txBox="1"/>
              <p:nvPr/>
            </p:nvSpPr>
            <p:spPr>
              <a:xfrm>
                <a:off x="7024800" y="2923550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</a:t>
                </a:r>
                <a:endParaRPr/>
              </a:p>
            </p:txBody>
          </p:sp>
          <p:sp>
            <p:nvSpPr>
              <p:cNvPr id="980" name="Google Shape;980;p48"/>
              <p:cNvSpPr txBox="1"/>
              <p:nvPr/>
            </p:nvSpPr>
            <p:spPr>
              <a:xfrm>
                <a:off x="7024800" y="3427338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16</a:t>
                </a:r>
                <a:endParaRPr/>
              </a:p>
            </p:txBody>
          </p:sp>
          <p:sp>
            <p:nvSpPr>
              <p:cNvPr id="981" name="Google Shape;981;p48"/>
              <p:cNvSpPr txBox="1"/>
              <p:nvPr/>
            </p:nvSpPr>
            <p:spPr>
              <a:xfrm>
                <a:off x="7024800" y="39606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32</a:t>
                </a:r>
                <a:endParaRPr/>
              </a:p>
            </p:txBody>
          </p:sp>
          <p:sp>
            <p:nvSpPr>
              <p:cNvPr id="982" name="Google Shape;982;p48"/>
              <p:cNvSpPr txBox="1"/>
              <p:nvPr/>
            </p:nvSpPr>
            <p:spPr>
              <a:xfrm>
                <a:off x="7024800" y="452377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48</a:t>
                </a:r>
                <a:endParaRPr/>
              </a:p>
            </p:txBody>
          </p:sp>
        </p:grpSp>
        <p:grpSp>
          <p:nvGrpSpPr>
            <p:cNvPr id="983" name="Google Shape;983;p48"/>
            <p:cNvGrpSpPr/>
            <p:nvPr/>
          </p:nvGrpSpPr>
          <p:grpSpPr>
            <a:xfrm>
              <a:off x="350593" y="2876075"/>
              <a:ext cx="956750" cy="531900"/>
              <a:chOff x="6468825" y="3673050"/>
              <a:chExt cx="956750" cy="531900"/>
            </a:xfrm>
          </p:grpSpPr>
          <p:sp>
            <p:nvSpPr>
              <p:cNvPr id="984" name="Google Shape;984;p48"/>
              <p:cNvSpPr/>
              <p:nvPr/>
            </p:nvSpPr>
            <p:spPr>
              <a:xfrm>
                <a:off x="7250675" y="3673050"/>
                <a:ext cx="174900" cy="531900"/>
              </a:xfrm>
              <a:prstGeom prst="leftBrace">
                <a:avLst>
                  <a:gd name="adj1" fmla="val 50000"/>
                  <a:gd name="adj2" fmla="val 54312"/>
                </a:avLst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48"/>
              <p:cNvSpPr txBox="1"/>
              <p:nvPr/>
            </p:nvSpPr>
            <p:spPr>
              <a:xfrm>
                <a:off x="6468825" y="3708138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16</a:t>
                </a:r>
                <a:endParaRPr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989" name="Google Shape;989;p48"/>
            <p:cNvSpPr txBox="1"/>
            <p:nvPr/>
          </p:nvSpPr>
          <p:spPr>
            <a:xfrm>
              <a:off x="1740843" y="4957650"/>
              <a:ext cx="2437500" cy="492600"/>
            </a:xfrm>
            <a:prstGeom prst="rect">
              <a:avLst/>
            </a:prstGeom>
            <a:solidFill>
              <a:srgbClr val="FCE5CD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 = log2(size)</a:t>
              </a:r>
              <a:endParaRPr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49"/>
          <p:cNvSpPr txBox="1">
            <a:spLocks noGrp="1"/>
          </p:cNvSpPr>
          <p:nvPr>
            <p:ph type="title"/>
          </p:nvPr>
        </p:nvSpPr>
        <p:spPr>
          <a:xfrm>
            <a:off x="435429" y="96038"/>
            <a:ext cx="11282321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Traducción de direcciones – Direcciones Virtuales</a:t>
            </a:r>
            <a:endParaRPr dirty="0">
              <a:latin typeface="+mj-lt"/>
            </a:endParaRPr>
          </a:p>
        </p:txBody>
      </p:sp>
      <p:sp>
        <p:nvSpPr>
          <p:cNvPr id="995" name="Google Shape;995;p49"/>
          <p:cNvSpPr txBox="1">
            <a:spLocks noGrp="1"/>
          </p:cNvSpPr>
          <p:nvPr>
            <p:ph type="body" idx="1"/>
          </p:nvPr>
        </p:nvSpPr>
        <p:spPr>
          <a:xfrm>
            <a:off x="474250" y="901344"/>
            <a:ext cx="10987879" cy="67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rgbClr val="70AD47"/>
                </a:solidFill>
                <a:latin typeface="+mn-lt"/>
              </a:rPr>
              <a:t>Ejemplo - Enunciado del ejemplo original</a:t>
            </a:r>
            <a:endParaRPr sz="2400" dirty="0">
              <a:solidFill>
                <a:srgbClr val="70AD47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012" name="Google Shape;1012;p49"/>
          <p:cNvSpPr/>
          <p:nvPr/>
        </p:nvSpPr>
        <p:spPr>
          <a:xfrm>
            <a:off x="5863500" y="1508325"/>
            <a:ext cx="5598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latin typeface="Roboto"/>
                <a:ea typeface="Roboto"/>
                <a:cs typeface="Roboto"/>
                <a:sym typeface="Roboto"/>
              </a:rPr>
              <a:t>Datos</a:t>
            </a:r>
            <a:r>
              <a:rPr lang="es-ES" sz="1800" dirty="0">
                <a:latin typeface="Roboto"/>
                <a:ea typeface="Roboto"/>
                <a:cs typeface="Roboto"/>
                <a:sym typeface="Roboto"/>
              </a:rPr>
              <a:t>:</a:t>
            </a:r>
            <a:endParaRPr sz="1800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size(AS) = 64 B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size(page) = 16 B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Número de páginas = 4 (Obtenido previamente)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13" name="Google Shape;1013;p49"/>
          <p:cNvSpPr/>
          <p:nvPr/>
        </p:nvSpPr>
        <p:spPr>
          <a:xfrm>
            <a:off x="5863500" y="2828178"/>
            <a:ext cx="5796000" cy="15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Solución pregunta 3</a:t>
            </a:r>
            <a:r>
              <a:rPr lang="es-ES" sz="1800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1800" dirty="0">
                <a:ea typeface="Roboto"/>
                <a:cs typeface="Roboto"/>
                <a:sym typeface="Roboto"/>
              </a:rPr>
              <a:t> </a:t>
            </a:r>
            <a:endParaRPr sz="18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 startAt="3"/>
            </a:pPr>
            <a:r>
              <a:rPr lang="es-ES" sz="1800" dirty="0">
                <a:solidFill>
                  <a:schemeClr val="dk1"/>
                </a:solidFill>
              </a:rPr>
              <a:t>¿Cuántos bits se necesitan para acceder a cada las direcciones de cada página?</a:t>
            </a:r>
            <a:endParaRPr sz="1800" dirty="0">
              <a:solidFill>
                <a:schemeClr val="dk1"/>
              </a:solidFill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size(page) = 16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n(offset) = ?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14" name="Google Shape;1014;p49"/>
          <p:cNvSpPr txBox="1"/>
          <p:nvPr/>
        </p:nvSpPr>
        <p:spPr>
          <a:xfrm>
            <a:off x="7162650" y="4599675"/>
            <a:ext cx="30000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2^</a:t>
            </a:r>
            <a:r>
              <a:rPr lang="es-ES" sz="16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n(offset)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size(page)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2^</a:t>
            </a:r>
            <a:r>
              <a:rPr lang="es-ES" sz="16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n(offset)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16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2^</a:t>
            </a:r>
            <a:r>
              <a:rPr lang="es-ES" sz="16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n(offset)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2^4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n(offset) = 4</a:t>
            </a:r>
            <a:endParaRPr sz="1600" b="1" dirty="0">
              <a:solidFill>
                <a:srgbClr val="FF0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4B4F8E2A-6138-4227-921A-756378D98179}"/>
              </a:ext>
            </a:extLst>
          </p:cNvPr>
          <p:cNvGrpSpPr/>
          <p:nvPr/>
        </p:nvGrpSpPr>
        <p:grpSpPr>
          <a:xfrm>
            <a:off x="237876" y="2047886"/>
            <a:ext cx="4791475" cy="3571625"/>
            <a:chOff x="916650" y="1859200"/>
            <a:chExt cx="4791475" cy="3571625"/>
          </a:xfrm>
        </p:grpSpPr>
        <p:graphicFrame>
          <p:nvGraphicFramePr>
            <p:cNvPr id="996" name="Google Shape;996;p49"/>
            <p:cNvGraphicFramePr/>
            <p:nvPr>
              <p:extLst>
                <p:ext uri="{D42A27DB-BD31-4B8C-83A1-F6EECF244321}">
                  <p14:modId xmlns:p14="http://schemas.microsoft.com/office/powerpoint/2010/main" val="3826108861"/>
                </p:ext>
              </p:extLst>
            </p:nvPr>
          </p:nvGraphicFramePr>
          <p:xfrm>
            <a:off x="2306925" y="2324925"/>
            <a:ext cx="2437600" cy="2169300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24376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5317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600" dirty="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5317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5529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5529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dirty="0"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</a:tbl>
            </a:graphicData>
          </a:graphic>
        </p:graphicFrame>
        <p:grpSp>
          <p:nvGrpSpPr>
            <p:cNvPr id="997" name="Google Shape;997;p49"/>
            <p:cNvGrpSpPr/>
            <p:nvPr/>
          </p:nvGrpSpPr>
          <p:grpSpPr>
            <a:xfrm>
              <a:off x="4744525" y="2373363"/>
              <a:ext cx="963600" cy="2072413"/>
              <a:chOff x="6895500" y="3168388"/>
              <a:chExt cx="963600" cy="2072413"/>
            </a:xfrm>
          </p:grpSpPr>
          <p:sp>
            <p:nvSpPr>
              <p:cNvPr id="998" name="Google Shape;998;p49"/>
              <p:cNvSpPr txBox="1"/>
              <p:nvPr/>
            </p:nvSpPr>
            <p:spPr>
              <a:xfrm>
                <a:off x="6895500" y="3168388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P[0]</a:t>
                </a:r>
                <a:endParaRPr/>
              </a:p>
            </p:txBody>
          </p:sp>
          <p:sp>
            <p:nvSpPr>
              <p:cNvPr id="999" name="Google Shape;999;p49"/>
              <p:cNvSpPr txBox="1"/>
              <p:nvPr/>
            </p:nvSpPr>
            <p:spPr>
              <a:xfrm>
                <a:off x="6895500" y="371550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P[1]</a:t>
                </a:r>
                <a:endParaRPr/>
              </a:p>
            </p:txBody>
          </p:sp>
          <p:sp>
            <p:nvSpPr>
              <p:cNvPr id="1000" name="Google Shape;1000;p49"/>
              <p:cNvSpPr txBox="1"/>
              <p:nvPr/>
            </p:nvSpPr>
            <p:spPr>
              <a:xfrm>
                <a:off x="6895500" y="426260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P[2]</a:t>
                </a:r>
                <a:endParaRPr/>
              </a:p>
            </p:txBody>
          </p:sp>
          <p:sp>
            <p:nvSpPr>
              <p:cNvPr id="1001" name="Google Shape;1001;p49"/>
              <p:cNvSpPr txBox="1"/>
              <p:nvPr/>
            </p:nvSpPr>
            <p:spPr>
              <a:xfrm>
                <a:off x="6895500" y="480970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P[3]</a:t>
                </a:r>
                <a:endParaRPr/>
              </a:p>
            </p:txBody>
          </p:sp>
        </p:grpSp>
        <p:sp>
          <p:nvSpPr>
            <p:cNvPr id="1002" name="Google Shape;1002;p49"/>
            <p:cNvSpPr txBox="1"/>
            <p:nvPr/>
          </p:nvSpPr>
          <p:spPr>
            <a:xfrm>
              <a:off x="2306975" y="1859200"/>
              <a:ext cx="2437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Address Space</a:t>
              </a:r>
              <a:endParaRPr b="1" dirty="0"/>
            </a:p>
          </p:txBody>
        </p:sp>
        <p:grpSp>
          <p:nvGrpSpPr>
            <p:cNvPr id="1003" name="Google Shape;1003;p49"/>
            <p:cNvGrpSpPr/>
            <p:nvPr/>
          </p:nvGrpSpPr>
          <p:grpSpPr>
            <a:xfrm>
              <a:off x="1472625" y="2107150"/>
              <a:ext cx="834300" cy="2625075"/>
              <a:chOff x="7024800" y="2923550"/>
              <a:chExt cx="834300" cy="2625075"/>
            </a:xfrm>
          </p:grpSpPr>
          <p:sp>
            <p:nvSpPr>
              <p:cNvPr id="1004" name="Google Shape;1004;p49"/>
              <p:cNvSpPr txBox="1"/>
              <p:nvPr/>
            </p:nvSpPr>
            <p:spPr>
              <a:xfrm>
                <a:off x="7024800" y="50869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64</a:t>
                </a:r>
                <a:endParaRPr/>
              </a:p>
            </p:txBody>
          </p:sp>
          <p:sp>
            <p:nvSpPr>
              <p:cNvPr id="1005" name="Google Shape;1005;p49"/>
              <p:cNvSpPr txBox="1"/>
              <p:nvPr/>
            </p:nvSpPr>
            <p:spPr>
              <a:xfrm>
                <a:off x="7024800" y="2923550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</a:t>
                </a:r>
                <a:endParaRPr/>
              </a:p>
            </p:txBody>
          </p:sp>
          <p:sp>
            <p:nvSpPr>
              <p:cNvPr id="1006" name="Google Shape;1006;p49"/>
              <p:cNvSpPr txBox="1"/>
              <p:nvPr/>
            </p:nvSpPr>
            <p:spPr>
              <a:xfrm>
                <a:off x="7024800" y="3427338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16</a:t>
                </a:r>
                <a:endParaRPr/>
              </a:p>
            </p:txBody>
          </p:sp>
          <p:sp>
            <p:nvSpPr>
              <p:cNvPr id="1007" name="Google Shape;1007;p49"/>
              <p:cNvSpPr txBox="1"/>
              <p:nvPr/>
            </p:nvSpPr>
            <p:spPr>
              <a:xfrm>
                <a:off x="7024800" y="39606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32</a:t>
                </a:r>
                <a:endParaRPr/>
              </a:p>
            </p:txBody>
          </p:sp>
          <p:sp>
            <p:nvSpPr>
              <p:cNvPr id="1008" name="Google Shape;1008;p49"/>
              <p:cNvSpPr txBox="1"/>
              <p:nvPr/>
            </p:nvSpPr>
            <p:spPr>
              <a:xfrm>
                <a:off x="7024800" y="452377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48</a:t>
                </a:r>
                <a:endParaRPr/>
              </a:p>
            </p:txBody>
          </p:sp>
        </p:grpSp>
        <p:grpSp>
          <p:nvGrpSpPr>
            <p:cNvPr id="1009" name="Google Shape;1009;p49"/>
            <p:cNvGrpSpPr/>
            <p:nvPr/>
          </p:nvGrpSpPr>
          <p:grpSpPr>
            <a:xfrm>
              <a:off x="916650" y="2856650"/>
              <a:ext cx="956750" cy="531900"/>
              <a:chOff x="6468825" y="3673050"/>
              <a:chExt cx="956750" cy="531900"/>
            </a:xfrm>
          </p:grpSpPr>
          <p:sp>
            <p:nvSpPr>
              <p:cNvPr id="1010" name="Google Shape;1010;p49"/>
              <p:cNvSpPr/>
              <p:nvPr/>
            </p:nvSpPr>
            <p:spPr>
              <a:xfrm>
                <a:off x="7250675" y="3673050"/>
                <a:ext cx="174900" cy="531900"/>
              </a:xfrm>
              <a:prstGeom prst="leftBrace">
                <a:avLst>
                  <a:gd name="adj1" fmla="val 50000"/>
                  <a:gd name="adj2" fmla="val 54312"/>
                </a:avLst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49"/>
              <p:cNvSpPr txBox="1"/>
              <p:nvPr/>
            </p:nvSpPr>
            <p:spPr>
              <a:xfrm>
                <a:off x="6468825" y="3708138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16</a:t>
                </a:r>
                <a:endParaRPr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1015" name="Google Shape;1015;p49"/>
            <p:cNvSpPr txBox="1"/>
            <p:nvPr/>
          </p:nvSpPr>
          <p:spPr>
            <a:xfrm>
              <a:off x="2306900" y="4938225"/>
              <a:ext cx="2437500" cy="492600"/>
            </a:xfrm>
            <a:prstGeom prst="rect">
              <a:avLst/>
            </a:prstGeom>
            <a:solidFill>
              <a:srgbClr val="FCE5CD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 = log2(size)</a:t>
              </a:r>
              <a:endParaRPr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50"/>
          <p:cNvSpPr txBox="1">
            <a:spLocks noGrp="1"/>
          </p:cNvSpPr>
          <p:nvPr>
            <p:ph type="title"/>
          </p:nvPr>
        </p:nvSpPr>
        <p:spPr>
          <a:xfrm>
            <a:off x="623550" y="96038"/>
            <a:ext cx="1119225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Traducción de direcciones – Direcciones Virtuales</a:t>
            </a:r>
            <a:endParaRPr dirty="0">
              <a:latin typeface="+mj-lt"/>
            </a:endParaRPr>
          </a:p>
        </p:txBody>
      </p:sp>
      <p:sp>
        <p:nvSpPr>
          <p:cNvPr id="1021" name="Google Shape;1021;p50"/>
          <p:cNvSpPr txBox="1">
            <a:spLocks noGrp="1"/>
          </p:cNvSpPr>
          <p:nvPr>
            <p:ph type="body" idx="1"/>
          </p:nvPr>
        </p:nvSpPr>
        <p:spPr>
          <a:xfrm>
            <a:off x="623550" y="833325"/>
            <a:ext cx="10944900" cy="67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6"/>
                </a:solidFill>
                <a:latin typeface="+mn-lt"/>
              </a:rPr>
              <a:t>Ejemplo - Enunciado del ejemplo original – Resumen de lo que llevamos</a:t>
            </a:r>
            <a:endParaRPr sz="2400" dirty="0">
              <a:solidFill>
                <a:schemeClr val="accent6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038" name="Google Shape;1038;p50"/>
          <p:cNvSpPr/>
          <p:nvPr/>
        </p:nvSpPr>
        <p:spPr>
          <a:xfrm>
            <a:off x="594600" y="1555810"/>
            <a:ext cx="3561025" cy="12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Resumen de los resultados</a:t>
            </a:r>
            <a:r>
              <a:rPr lang="es-ES" sz="1800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1800" dirty="0">
                <a:ea typeface="Roboto"/>
                <a:cs typeface="Roboto"/>
                <a:sym typeface="Roboto"/>
              </a:rPr>
              <a:t> </a:t>
            </a:r>
            <a:endParaRPr sz="1800" dirty="0">
              <a:ea typeface="Roboto"/>
              <a:cs typeface="Roboto"/>
              <a:sym typeface="Robo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rabicPeriod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n(VA) = 6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rabicPeriod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n(VPN) = 2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rabicPeriod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n(offset) = 4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175A317D-E83C-4E2D-A62A-B917FE23C137}"/>
              </a:ext>
            </a:extLst>
          </p:cNvPr>
          <p:cNvGrpSpPr/>
          <p:nvPr/>
        </p:nvGrpSpPr>
        <p:grpSpPr>
          <a:xfrm>
            <a:off x="376200" y="2821846"/>
            <a:ext cx="4347425" cy="3537000"/>
            <a:chOff x="376200" y="2821846"/>
            <a:chExt cx="4347425" cy="3537000"/>
          </a:xfrm>
        </p:grpSpPr>
        <p:graphicFrame>
          <p:nvGraphicFramePr>
            <p:cNvPr id="1022" name="Google Shape;1022;p50"/>
            <p:cNvGraphicFramePr/>
            <p:nvPr>
              <p:extLst>
                <p:ext uri="{D42A27DB-BD31-4B8C-83A1-F6EECF244321}">
                  <p14:modId xmlns:p14="http://schemas.microsoft.com/office/powerpoint/2010/main" val="784707581"/>
                </p:ext>
              </p:extLst>
            </p:nvPr>
          </p:nvGraphicFramePr>
          <p:xfrm>
            <a:off x="1322425" y="3252946"/>
            <a:ext cx="2437600" cy="2169300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24376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5317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5317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5529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5529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</a:tbl>
            </a:graphicData>
          </a:graphic>
        </p:graphicFrame>
        <p:grpSp>
          <p:nvGrpSpPr>
            <p:cNvPr id="1023" name="Google Shape;1023;p50"/>
            <p:cNvGrpSpPr/>
            <p:nvPr/>
          </p:nvGrpSpPr>
          <p:grpSpPr>
            <a:xfrm>
              <a:off x="3760025" y="3301384"/>
              <a:ext cx="963600" cy="2072413"/>
              <a:chOff x="6895500" y="3168388"/>
              <a:chExt cx="963600" cy="2072413"/>
            </a:xfrm>
          </p:grpSpPr>
          <p:sp>
            <p:nvSpPr>
              <p:cNvPr id="1024" name="Google Shape;1024;p50"/>
              <p:cNvSpPr txBox="1"/>
              <p:nvPr/>
            </p:nvSpPr>
            <p:spPr>
              <a:xfrm>
                <a:off x="6895500" y="3168388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P[0]</a:t>
                </a:r>
                <a:endParaRPr/>
              </a:p>
            </p:txBody>
          </p:sp>
          <p:sp>
            <p:nvSpPr>
              <p:cNvPr id="1025" name="Google Shape;1025;p50"/>
              <p:cNvSpPr txBox="1"/>
              <p:nvPr/>
            </p:nvSpPr>
            <p:spPr>
              <a:xfrm>
                <a:off x="6895500" y="371550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P[1]</a:t>
                </a:r>
                <a:endParaRPr/>
              </a:p>
            </p:txBody>
          </p:sp>
          <p:sp>
            <p:nvSpPr>
              <p:cNvPr id="1026" name="Google Shape;1026;p50"/>
              <p:cNvSpPr txBox="1"/>
              <p:nvPr/>
            </p:nvSpPr>
            <p:spPr>
              <a:xfrm>
                <a:off x="6895500" y="426260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P[2]</a:t>
                </a:r>
                <a:endParaRPr/>
              </a:p>
            </p:txBody>
          </p:sp>
          <p:sp>
            <p:nvSpPr>
              <p:cNvPr id="1027" name="Google Shape;1027;p50"/>
              <p:cNvSpPr txBox="1"/>
              <p:nvPr/>
            </p:nvSpPr>
            <p:spPr>
              <a:xfrm>
                <a:off x="6895500" y="480970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P[3]</a:t>
                </a:r>
                <a:endParaRPr/>
              </a:p>
            </p:txBody>
          </p:sp>
        </p:grpSp>
        <p:sp>
          <p:nvSpPr>
            <p:cNvPr id="1028" name="Google Shape;1028;p50"/>
            <p:cNvSpPr txBox="1"/>
            <p:nvPr/>
          </p:nvSpPr>
          <p:spPr>
            <a:xfrm>
              <a:off x="1322475" y="2821846"/>
              <a:ext cx="2437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Address Space</a:t>
              </a:r>
              <a:endParaRPr b="1" dirty="0"/>
            </a:p>
          </p:txBody>
        </p:sp>
        <p:grpSp>
          <p:nvGrpSpPr>
            <p:cNvPr id="1029" name="Google Shape;1029;p50"/>
            <p:cNvGrpSpPr/>
            <p:nvPr/>
          </p:nvGrpSpPr>
          <p:grpSpPr>
            <a:xfrm>
              <a:off x="488125" y="3035171"/>
              <a:ext cx="834300" cy="2625075"/>
              <a:chOff x="7024800" y="2923550"/>
              <a:chExt cx="834300" cy="2625075"/>
            </a:xfrm>
          </p:grpSpPr>
          <p:sp>
            <p:nvSpPr>
              <p:cNvPr id="1030" name="Google Shape;1030;p50"/>
              <p:cNvSpPr txBox="1"/>
              <p:nvPr/>
            </p:nvSpPr>
            <p:spPr>
              <a:xfrm>
                <a:off x="7024800" y="50869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64</a:t>
                </a:r>
                <a:endParaRPr/>
              </a:p>
            </p:txBody>
          </p:sp>
          <p:sp>
            <p:nvSpPr>
              <p:cNvPr id="1031" name="Google Shape;1031;p50"/>
              <p:cNvSpPr txBox="1"/>
              <p:nvPr/>
            </p:nvSpPr>
            <p:spPr>
              <a:xfrm>
                <a:off x="7024800" y="2923550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</a:t>
                </a:r>
                <a:endParaRPr/>
              </a:p>
            </p:txBody>
          </p:sp>
          <p:sp>
            <p:nvSpPr>
              <p:cNvPr id="1032" name="Google Shape;1032;p50"/>
              <p:cNvSpPr txBox="1"/>
              <p:nvPr/>
            </p:nvSpPr>
            <p:spPr>
              <a:xfrm>
                <a:off x="7024800" y="3427338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16</a:t>
                </a:r>
                <a:endParaRPr/>
              </a:p>
            </p:txBody>
          </p:sp>
          <p:sp>
            <p:nvSpPr>
              <p:cNvPr id="1033" name="Google Shape;1033;p50"/>
              <p:cNvSpPr txBox="1"/>
              <p:nvPr/>
            </p:nvSpPr>
            <p:spPr>
              <a:xfrm>
                <a:off x="7024800" y="39606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32</a:t>
                </a:r>
                <a:endParaRPr/>
              </a:p>
            </p:txBody>
          </p:sp>
          <p:sp>
            <p:nvSpPr>
              <p:cNvPr id="1034" name="Google Shape;1034;p50"/>
              <p:cNvSpPr txBox="1"/>
              <p:nvPr/>
            </p:nvSpPr>
            <p:spPr>
              <a:xfrm>
                <a:off x="7024800" y="452377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48</a:t>
                </a:r>
                <a:endParaRPr/>
              </a:p>
            </p:txBody>
          </p:sp>
        </p:grpSp>
        <p:grpSp>
          <p:nvGrpSpPr>
            <p:cNvPr id="1035" name="Google Shape;1035;p50"/>
            <p:cNvGrpSpPr/>
            <p:nvPr/>
          </p:nvGrpSpPr>
          <p:grpSpPr>
            <a:xfrm>
              <a:off x="376200" y="3784671"/>
              <a:ext cx="559350" cy="531900"/>
              <a:chOff x="6866225" y="3673050"/>
              <a:chExt cx="559350" cy="531900"/>
            </a:xfrm>
          </p:grpSpPr>
          <p:sp>
            <p:nvSpPr>
              <p:cNvPr id="1036" name="Google Shape;1036;p50"/>
              <p:cNvSpPr/>
              <p:nvPr/>
            </p:nvSpPr>
            <p:spPr>
              <a:xfrm>
                <a:off x="7250675" y="3673050"/>
                <a:ext cx="174900" cy="531900"/>
              </a:xfrm>
              <a:prstGeom prst="leftBrace">
                <a:avLst>
                  <a:gd name="adj1" fmla="val 50000"/>
                  <a:gd name="adj2" fmla="val 54312"/>
                </a:avLst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50"/>
              <p:cNvSpPr txBox="1"/>
              <p:nvPr/>
            </p:nvSpPr>
            <p:spPr>
              <a:xfrm>
                <a:off x="6866225" y="3708150"/>
                <a:ext cx="4368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16</a:t>
                </a:r>
                <a:endParaRPr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1039" name="Google Shape;1039;p50"/>
            <p:cNvSpPr txBox="1"/>
            <p:nvPr/>
          </p:nvSpPr>
          <p:spPr>
            <a:xfrm>
              <a:off x="1322400" y="5866246"/>
              <a:ext cx="2437500" cy="492600"/>
            </a:xfrm>
            <a:prstGeom prst="rect">
              <a:avLst/>
            </a:prstGeom>
            <a:solidFill>
              <a:srgbClr val="FCE5CD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 = log2(size)</a:t>
              </a:r>
              <a:endParaRPr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1040" name="Google Shape;1040;p50"/>
          <p:cNvGraphicFramePr/>
          <p:nvPr>
            <p:extLst>
              <p:ext uri="{D42A27DB-BD31-4B8C-83A1-F6EECF244321}">
                <p14:modId xmlns:p14="http://schemas.microsoft.com/office/powerpoint/2010/main" val="3882390985"/>
              </p:ext>
            </p:extLst>
          </p:nvPr>
        </p:nvGraphicFramePr>
        <p:xfrm>
          <a:off x="7289163" y="3995503"/>
          <a:ext cx="2937450" cy="79400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48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6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Va5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Va4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Va3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Va2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Va1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Va0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1" name="Google Shape;1041;p50"/>
          <p:cNvSpPr txBox="1"/>
          <p:nvPr/>
        </p:nvSpPr>
        <p:spPr>
          <a:xfrm>
            <a:off x="6726196" y="4316571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 dirty="0"/>
          </a:p>
        </p:txBody>
      </p:sp>
      <p:sp>
        <p:nvSpPr>
          <p:cNvPr id="1042" name="Google Shape;1042;p50"/>
          <p:cNvSpPr/>
          <p:nvPr/>
        </p:nvSpPr>
        <p:spPr>
          <a:xfrm rot="5400000">
            <a:off x="9107530" y="3981546"/>
            <a:ext cx="281100" cy="19500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3" name="Google Shape;1043;p50"/>
          <p:cNvSpPr txBox="1"/>
          <p:nvPr/>
        </p:nvSpPr>
        <p:spPr>
          <a:xfrm>
            <a:off x="8630475" y="5097096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 sz="1800"/>
          </a:p>
        </p:txBody>
      </p:sp>
      <p:sp>
        <p:nvSpPr>
          <p:cNvPr id="1044" name="Google Shape;1044;p50"/>
          <p:cNvSpPr/>
          <p:nvPr/>
        </p:nvSpPr>
        <p:spPr>
          <a:xfrm rot="5400000">
            <a:off x="7638280" y="4471746"/>
            <a:ext cx="281100" cy="9696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5" name="Google Shape;1045;p50"/>
          <p:cNvSpPr txBox="1"/>
          <p:nvPr/>
        </p:nvSpPr>
        <p:spPr>
          <a:xfrm>
            <a:off x="7161225" y="5080296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endParaRPr sz="1800"/>
          </a:p>
        </p:txBody>
      </p:sp>
      <p:sp>
        <p:nvSpPr>
          <p:cNvPr id="1046" name="Google Shape;1046;p50"/>
          <p:cNvSpPr txBox="1"/>
          <p:nvPr/>
        </p:nvSpPr>
        <p:spPr>
          <a:xfrm>
            <a:off x="5148300" y="3258121"/>
            <a:ext cx="66675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Conclusión</a:t>
            </a:r>
            <a:r>
              <a:rPr lang="es-ES" sz="1800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: </a:t>
            </a:r>
            <a:r>
              <a:rPr lang="es-ES" sz="18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Teniendo en cuenta los resultados anteriormente obtenidos, la dirección virtual tendrá la siguiente forma:</a:t>
            </a:r>
            <a:endParaRPr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aphicFrame>
        <p:nvGraphicFramePr>
          <p:cNvPr id="1047" name="Google Shape;1047;p50"/>
          <p:cNvGraphicFramePr/>
          <p:nvPr>
            <p:extLst>
              <p:ext uri="{D42A27DB-BD31-4B8C-83A1-F6EECF244321}">
                <p14:modId xmlns:p14="http://schemas.microsoft.com/office/powerpoint/2010/main" val="1668939223"/>
              </p:ext>
            </p:extLst>
          </p:nvPr>
        </p:nvGraphicFramePr>
        <p:xfrm>
          <a:off x="5072550" y="1940563"/>
          <a:ext cx="6495900" cy="85338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114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0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5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25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Page size</a:t>
                      </a:r>
                      <a:endParaRPr sz="1600" b="1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Virt Addr. bits (VA)</a:t>
                      </a:r>
                      <a:endParaRPr sz="1600" b="1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High bits (VPN)</a:t>
                      </a:r>
                      <a:endParaRPr sz="1600" b="1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Low bits (offset)</a:t>
                      </a:r>
                      <a:endParaRPr sz="1600" b="1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+mn-lt"/>
                        </a:rPr>
                        <a:t>16 bytes</a:t>
                      </a:r>
                      <a:endParaRPr sz="1600" dirty="0">
                        <a:latin typeface="+mn-l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+mn-lt"/>
                        </a:rPr>
                        <a:t>6</a:t>
                      </a:r>
                      <a:endParaRPr sz="1600">
                        <a:latin typeface="+mn-l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+mn-lt"/>
                        </a:rPr>
                        <a:t>2</a:t>
                      </a:r>
                      <a:endParaRPr sz="1600">
                        <a:latin typeface="+mn-l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+mn-lt"/>
                        </a:rPr>
                        <a:t>4</a:t>
                      </a:r>
                      <a:endParaRPr sz="1600" dirty="0">
                        <a:latin typeface="+mn-l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51"/>
          <p:cNvSpPr txBox="1">
            <a:spLocks noGrp="1"/>
          </p:cNvSpPr>
          <p:nvPr>
            <p:ph type="title"/>
          </p:nvPr>
        </p:nvSpPr>
        <p:spPr>
          <a:xfrm>
            <a:off x="520194" y="142284"/>
            <a:ext cx="11130207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Traducción de direcciones – Direcciones Virtuales</a:t>
            </a:r>
            <a:endParaRPr dirty="0">
              <a:latin typeface="+mj-lt"/>
            </a:endParaRPr>
          </a:p>
        </p:txBody>
      </p:sp>
      <p:sp>
        <p:nvSpPr>
          <p:cNvPr id="1053" name="Google Shape;1053;p51"/>
          <p:cNvSpPr txBox="1">
            <a:spLocks noGrp="1"/>
          </p:cNvSpPr>
          <p:nvPr>
            <p:ph type="body" idx="1"/>
          </p:nvPr>
        </p:nvSpPr>
        <p:spPr>
          <a:xfrm>
            <a:off x="321081" y="961101"/>
            <a:ext cx="11263650" cy="67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rgbClr val="70AD47"/>
                </a:solidFill>
                <a:latin typeface="+mn-lt"/>
              </a:rPr>
              <a:t>Ejemplo - Enunciado del ejemplo original – Pregunta 4</a:t>
            </a:r>
            <a:endParaRPr sz="2400" dirty="0">
              <a:solidFill>
                <a:srgbClr val="70AD47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054" name="Google Shape;1054;p51"/>
          <p:cNvSpPr/>
          <p:nvPr/>
        </p:nvSpPr>
        <p:spPr>
          <a:xfrm>
            <a:off x="634238" y="1709569"/>
            <a:ext cx="5796000" cy="1719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Solución pregunta 4</a:t>
            </a:r>
            <a:r>
              <a:rPr lang="es-ES" sz="1800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1800" dirty="0">
                <a:ea typeface="Roboto"/>
                <a:cs typeface="Roboto"/>
                <a:sym typeface="Roboto"/>
              </a:rPr>
              <a:t> </a:t>
            </a:r>
            <a:endParaRPr sz="18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 startAt="4"/>
            </a:pPr>
            <a:r>
              <a:rPr lang="es-ES" sz="18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¿Cuál es el VPN y el offset de la dirección virtual 21 en el AS de 64 B?</a:t>
            </a:r>
            <a:endParaRPr sz="1800" dirty="0">
              <a:solidFill>
                <a:schemeClr val="dk1"/>
              </a:solidFill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 = 21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VPN = ?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offset = ?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55" name="Google Shape;1055;p51"/>
          <p:cNvSpPr txBox="1"/>
          <p:nvPr/>
        </p:nvSpPr>
        <p:spPr>
          <a:xfrm>
            <a:off x="634238" y="3678529"/>
            <a:ext cx="79725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 = 21 = 10101 = </a:t>
            </a:r>
            <a:r>
              <a:rPr lang="es-ES" sz="16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10101 = [</a:t>
            </a:r>
            <a:r>
              <a:rPr lang="es-ES" sz="1600" dirty="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es-ES"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0101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[</a:t>
            </a:r>
            <a:r>
              <a:rPr lang="es-ES" sz="1600" dirty="0" err="1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es-ES" sz="1600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VPN = 01 = 1</a:t>
            </a:r>
            <a:endParaRPr sz="1600" dirty="0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Offset = 0101 = 5</a:t>
            </a:r>
            <a:endParaRPr sz="16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056" name="Google Shape;1056;p51"/>
          <p:cNvGraphicFramePr/>
          <p:nvPr>
            <p:extLst>
              <p:ext uri="{D42A27DB-BD31-4B8C-83A1-F6EECF244321}">
                <p14:modId xmlns:p14="http://schemas.microsoft.com/office/powerpoint/2010/main" val="2119101408"/>
              </p:ext>
            </p:extLst>
          </p:nvPr>
        </p:nvGraphicFramePr>
        <p:xfrm>
          <a:off x="8502138" y="1683063"/>
          <a:ext cx="2937450" cy="79400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48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6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Va5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Va4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Va3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Va2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Va1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Va0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57" name="Google Shape;1057;p51"/>
          <p:cNvSpPr txBox="1"/>
          <p:nvPr/>
        </p:nvSpPr>
        <p:spPr>
          <a:xfrm>
            <a:off x="7932413" y="1975688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/>
          </a:p>
        </p:txBody>
      </p:sp>
      <p:sp>
        <p:nvSpPr>
          <p:cNvPr id="1058" name="Google Shape;1058;p51"/>
          <p:cNvSpPr/>
          <p:nvPr/>
        </p:nvSpPr>
        <p:spPr>
          <a:xfrm rot="5400000">
            <a:off x="10315638" y="1681129"/>
            <a:ext cx="281100" cy="19500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9" name="Google Shape;1059;p51"/>
          <p:cNvSpPr txBox="1"/>
          <p:nvPr/>
        </p:nvSpPr>
        <p:spPr>
          <a:xfrm>
            <a:off x="9777588" y="2800854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 sz="1800"/>
          </a:p>
        </p:txBody>
      </p:sp>
      <p:sp>
        <p:nvSpPr>
          <p:cNvPr id="1060" name="Google Shape;1060;p51"/>
          <p:cNvSpPr/>
          <p:nvPr/>
        </p:nvSpPr>
        <p:spPr>
          <a:xfrm rot="5400000">
            <a:off x="8846388" y="2171329"/>
            <a:ext cx="281100" cy="9696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1" name="Google Shape;1061;p51"/>
          <p:cNvSpPr txBox="1"/>
          <p:nvPr/>
        </p:nvSpPr>
        <p:spPr>
          <a:xfrm>
            <a:off x="8308338" y="2784054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endParaRPr sz="1800"/>
          </a:p>
        </p:txBody>
      </p:sp>
      <p:graphicFrame>
        <p:nvGraphicFramePr>
          <p:cNvPr id="1062" name="Google Shape;1062;p51"/>
          <p:cNvGraphicFramePr/>
          <p:nvPr/>
        </p:nvGraphicFramePr>
        <p:xfrm>
          <a:off x="6988200" y="4797963"/>
          <a:ext cx="2937450" cy="79400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48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9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6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63" name="Google Shape;1063;p51"/>
          <p:cNvSpPr txBox="1"/>
          <p:nvPr/>
        </p:nvSpPr>
        <p:spPr>
          <a:xfrm>
            <a:off x="2559450" y="5133225"/>
            <a:ext cx="4284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 = 21 = 0x15 = </a:t>
            </a:r>
            <a:r>
              <a:rPr lang="es-ES" sz="2200" b="1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r>
              <a:rPr lang="es-ES" sz="22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0101</a:t>
            </a:r>
            <a:endParaRPr sz="1800" b="1">
              <a:solidFill>
                <a:srgbClr val="FF0000"/>
              </a:solidFill>
            </a:endParaRPr>
          </a:p>
        </p:txBody>
      </p:sp>
      <p:sp>
        <p:nvSpPr>
          <p:cNvPr id="1064" name="Google Shape;1064;p51"/>
          <p:cNvSpPr/>
          <p:nvPr/>
        </p:nvSpPr>
        <p:spPr>
          <a:xfrm rot="5400000">
            <a:off x="8801700" y="4839571"/>
            <a:ext cx="281100" cy="19500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5" name="Google Shape;1065;p51"/>
          <p:cNvSpPr txBox="1"/>
          <p:nvPr/>
        </p:nvSpPr>
        <p:spPr>
          <a:xfrm>
            <a:off x="8263650" y="5959296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 sz="1800"/>
          </a:p>
        </p:txBody>
      </p:sp>
      <p:sp>
        <p:nvSpPr>
          <p:cNvPr id="1066" name="Google Shape;1066;p51"/>
          <p:cNvSpPr/>
          <p:nvPr/>
        </p:nvSpPr>
        <p:spPr>
          <a:xfrm rot="5400000">
            <a:off x="7332450" y="5329771"/>
            <a:ext cx="281100" cy="9696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7" name="Google Shape;1067;p51"/>
          <p:cNvSpPr txBox="1"/>
          <p:nvPr/>
        </p:nvSpPr>
        <p:spPr>
          <a:xfrm>
            <a:off x="6794400" y="5942496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endParaRPr sz="18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52"/>
          <p:cNvSpPr txBox="1">
            <a:spLocks noGrp="1"/>
          </p:cNvSpPr>
          <p:nvPr>
            <p:ph type="title"/>
          </p:nvPr>
        </p:nvSpPr>
        <p:spPr>
          <a:xfrm>
            <a:off x="611500" y="96038"/>
            <a:ext cx="113175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Traducción de direcciones – Direcciones Virtuales</a:t>
            </a:r>
            <a:endParaRPr dirty="0">
              <a:latin typeface="+mj-lt"/>
            </a:endParaRPr>
          </a:p>
        </p:txBody>
      </p:sp>
      <p:sp>
        <p:nvSpPr>
          <p:cNvPr id="1073" name="Google Shape;1073;p52"/>
          <p:cNvSpPr txBox="1">
            <a:spLocks noGrp="1"/>
          </p:cNvSpPr>
          <p:nvPr>
            <p:ph type="body" idx="1"/>
          </p:nvPr>
        </p:nvSpPr>
        <p:spPr>
          <a:xfrm>
            <a:off x="541850" y="906726"/>
            <a:ext cx="10651800" cy="67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6"/>
                </a:solidFill>
                <a:latin typeface="+mn-lt"/>
              </a:rPr>
              <a:t>Ejemplo - Enunciado del ejemplo original – Pregunta 4</a:t>
            </a:r>
            <a:endParaRPr sz="2400" dirty="0">
              <a:solidFill>
                <a:schemeClr val="accent6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1074" name="Google Shape;1074;p52"/>
          <p:cNvSpPr/>
          <p:nvPr/>
        </p:nvSpPr>
        <p:spPr>
          <a:xfrm>
            <a:off x="611500" y="1593732"/>
            <a:ext cx="4695600" cy="18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Solución pregunta 4</a:t>
            </a:r>
            <a:r>
              <a:rPr lang="es-ES" sz="1800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1800" dirty="0">
                <a:ea typeface="Roboto"/>
                <a:cs typeface="Roboto"/>
                <a:sym typeface="Roboto"/>
              </a:rPr>
              <a:t> </a:t>
            </a:r>
            <a:endParaRPr sz="18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 startAt="4"/>
            </a:pPr>
            <a:r>
              <a:rPr lang="es-ES" sz="18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¿Cuál es el VPN y el offset de la dirección virtual 21 en el AS de 64 B?</a:t>
            </a:r>
            <a:endParaRPr sz="1800" dirty="0">
              <a:solidFill>
                <a:schemeClr val="dk1"/>
              </a:solidFill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 = 21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VPN = ?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offset = ?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ABA6416C-A8DC-4018-97B9-0988D477B230}"/>
              </a:ext>
            </a:extLst>
          </p:cNvPr>
          <p:cNvGrpSpPr/>
          <p:nvPr/>
        </p:nvGrpSpPr>
        <p:grpSpPr>
          <a:xfrm>
            <a:off x="1254213" y="3701700"/>
            <a:ext cx="3733200" cy="2266288"/>
            <a:chOff x="1318922" y="3597762"/>
            <a:chExt cx="3733200" cy="2266288"/>
          </a:xfrm>
        </p:grpSpPr>
        <p:graphicFrame>
          <p:nvGraphicFramePr>
            <p:cNvPr id="1075" name="Google Shape;1075;p52"/>
            <p:cNvGraphicFramePr/>
            <p:nvPr>
              <p:extLst>
                <p:ext uri="{D42A27DB-BD31-4B8C-83A1-F6EECF244321}">
                  <p14:modId xmlns:p14="http://schemas.microsoft.com/office/powerpoint/2010/main" val="524385833"/>
                </p:ext>
              </p:extLst>
            </p:nvPr>
          </p:nvGraphicFramePr>
          <p:xfrm>
            <a:off x="1716797" y="4197475"/>
            <a:ext cx="2937450" cy="794000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48957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4895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489575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489575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489575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489575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</a:tblGrid>
                <a:tr h="32065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5</a:t>
                        </a:r>
                        <a:endParaRPr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b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4</a:t>
                        </a:r>
                        <a:endParaRPr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b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3</a:t>
                        </a:r>
                        <a:endParaRPr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b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2</a:t>
                        </a:r>
                        <a:endParaRPr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b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1</a:t>
                        </a:r>
                        <a:endParaRPr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b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0</a:t>
                        </a:r>
                        <a:endParaRPr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b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45875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0</a:t>
                        </a: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1</a:t>
                        </a: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0</a:t>
                        </a: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1</a:t>
                        </a: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0</a:t>
                        </a: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1</a:t>
                        </a: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</a:tbl>
            </a:graphicData>
          </a:graphic>
        </p:graphicFrame>
        <p:sp>
          <p:nvSpPr>
            <p:cNvPr id="1076" name="Google Shape;1076;p52"/>
            <p:cNvSpPr txBox="1"/>
            <p:nvPr/>
          </p:nvSpPr>
          <p:spPr>
            <a:xfrm>
              <a:off x="1318922" y="3597762"/>
              <a:ext cx="37332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VA = 21 = 0x15 = </a:t>
              </a:r>
              <a:r>
                <a:rPr lang="es-ES" sz="2200" b="1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01</a:t>
              </a:r>
              <a:r>
                <a:rPr lang="es-ES" sz="2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0101</a:t>
              </a:r>
              <a:endParaRPr sz="1800" b="1">
                <a:solidFill>
                  <a:srgbClr val="FF0000"/>
                </a:solidFill>
              </a:endParaRPr>
            </a:p>
          </p:txBody>
        </p:sp>
        <p:sp>
          <p:nvSpPr>
            <p:cNvPr id="1077" name="Google Shape;1077;p52"/>
            <p:cNvSpPr/>
            <p:nvPr/>
          </p:nvSpPr>
          <p:spPr>
            <a:xfrm rot="5400000">
              <a:off x="3530297" y="4282625"/>
              <a:ext cx="281100" cy="1950000"/>
            </a:xfrm>
            <a:prstGeom prst="rightBrace">
              <a:avLst>
                <a:gd name="adj1" fmla="val 50000"/>
                <a:gd name="adj2" fmla="val 49405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52"/>
            <p:cNvSpPr txBox="1"/>
            <p:nvPr/>
          </p:nvSpPr>
          <p:spPr>
            <a:xfrm>
              <a:off x="2992247" y="5402350"/>
              <a:ext cx="1357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offset</a:t>
              </a:r>
              <a:endParaRPr sz="1800"/>
            </a:p>
          </p:txBody>
        </p:sp>
        <p:sp>
          <p:nvSpPr>
            <p:cNvPr id="1079" name="Google Shape;1079;p52"/>
            <p:cNvSpPr/>
            <p:nvPr/>
          </p:nvSpPr>
          <p:spPr>
            <a:xfrm rot="5400000">
              <a:off x="2061047" y="4772825"/>
              <a:ext cx="281100" cy="969600"/>
            </a:xfrm>
            <a:prstGeom prst="rightBrace">
              <a:avLst>
                <a:gd name="adj1" fmla="val 50000"/>
                <a:gd name="adj2" fmla="val 49405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52"/>
            <p:cNvSpPr txBox="1"/>
            <p:nvPr/>
          </p:nvSpPr>
          <p:spPr>
            <a:xfrm>
              <a:off x="1522997" y="5385550"/>
              <a:ext cx="1357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VPN</a:t>
              </a:r>
              <a:endParaRPr sz="1800"/>
            </a:p>
          </p:txBody>
        </p:sp>
      </p:grpSp>
      <p:graphicFrame>
        <p:nvGraphicFramePr>
          <p:cNvPr id="1081" name="Google Shape;1081;p52"/>
          <p:cNvGraphicFramePr/>
          <p:nvPr/>
        </p:nvGraphicFramePr>
        <p:xfrm>
          <a:off x="8680425" y="2094600"/>
          <a:ext cx="2437600" cy="399845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43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80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0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9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9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82" name="Google Shape;1082;p52"/>
          <p:cNvSpPr txBox="1"/>
          <p:nvPr/>
        </p:nvSpPr>
        <p:spPr>
          <a:xfrm>
            <a:off x="8680425" y="2094588"/>
            <a:ext cx="963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VP0</a:t>
            </a:r>
            <a:endParaRPr/>
          </a:p>
        </p:txBody>
      </p:sp>
      <p:sp>
        <p:nvSpPr>
          <p:cNvPr id="1083" name="Google Shape;1083;p52"/>
          <p:cNvSpPr txBox="1"/>
          <p:nvPr/>
        </p:nvSpPr>
        <p:spPr>
          <a:xfrm>
            <a:off x="8680425" y="3082188"/>
            <a:ext cx="963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VP1</a:t>
            </a:r>
            <a:endParaRPr/>
          </a:p>
        </p:txBody>
      </p:sp>
      <p:sp>
        <p:nvSpPr>
          <p:cNvPr id="1084" name="Google Shape;1084;p52"/>
          <p:cNvSpPr txBox="1"/>
          <p:nvPr/>
        </p:nvSpPr>
        <p:spPr>
          <a:xfrm>
            <a:off x="8680425" y="4054750"/>
            <a:ext cx="963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VP2</a:t>
            </a:r>
            <a:endParaRPr/>
          </a:p>
        </p:txBody>
      </p:sp>
      <p:sp>
        <p:nvSpPr>
          <p:cNvPr id="1085" name="Google Shape;1085;p52"/>
          <p:cNvSpPr txBox="1"/>
          <p:nvPr/>
        </p:nvSpPr>
        <p:spPr>
          <a:xfrm>
            <a:off x="8680425" y="5070450"/>
            <a:ext cx="963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VP3</a:t>
            </a:r>
            <a:endParaRPr/>
          </a:p>
        </p:txBody>
      </p:sp>
      <p:sp>
        <p:nvSpPr>
          <p:cNvPr id="1086" name="Google Shape;1086;p52"/>
          <p:cNvSpPr txBox="1"/>
          <p:nvPr/>
        </p:nvSpPr>
        <p:spPr>
          <a:xfrm>
            <a:off x="8680475" y="1663500"/>
            <a:ext cx="2437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Address Space</a:t>
            </a:r>
            <a:endParaRPr b="1" dirty="0"/>
          </a:p>
        </p:txBody>
      </p:sp>
      <p:sp>
        <p:nvSpPr>
          <p:cNvPr id="1087" name="Google Shape;1087;p52"/>
          <p:cNvSpPr txBox="1"/>
          <p:nvPr/>
        </p:nvSpPr>
        <p:spPr>
          <a:xfrm>
            <a:off x="11568450" y="5840325"/>
            <a:ext cx="468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64</a:t>
            </a:r>
            <a:endParaRPr sz="1200"/>
          </a:p>
        </p:txBody>
      </p:sp>
      <p:sp>
        <p:nvSpPr>
          <p:cNvPr id="1088" name="Google Shape;1088;p52"/>
          <p:cNvSpPr txBox="1"/>
          <p:nvPr/>
        </p:nvSpPr>
        <p:spPr>
          <a:xfrm>
            <a:off x="11106375" y="2035050"/>
            <a:ext cx="360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800">
              <a:solidFill>
                <a:schemeClr val="accent2"/>
              </a:solidFill>
            </a:endParaRPr>
          </a:p>
        </p:txBody>
      </p:sp>
      <p:sp>
        <p:nvSpPr>
          <p:cNvPr id="1089" name="Google Shape;1089;p52"/>
          <p:cNvSpPr txBox="1"/>
          <p:nvPr/>
        </p:nvSpPr>
        <p:spPr>
          <a:xfrm>
            <a:off x="11068400" y="3014263"/>
            <a:ext cx="83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16</a:t>
            </a:r>
            <a:endParaRPr sz="1200">
              <a:solidFill>
                <a:schemeClr val="accent2"/>
              </a:solidFill>
            </a:endParaRPr>
          </a:p>
        </p:txBody>
      </p:sp>
      <p:sp>
        <p:nvSpPr>
          <p:cNvPr id="1090" name="Google Shape;1090;p52"/>
          <p:cNvSpPr txBox="1"/>
          <p:nvPr/>
        </p:nvSpPr>
        <p:spPr>
          <a:xfrm>
            <a:off x="11083025" y="3962913"/>
            <a:ext cx="83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32</a:t>
            </a:r>
            <a:endParaRPr sz="800">
              <a:solidFill>
                <a:schemeClr val="accent2"/>
              </a:solidFill>
            </a:endParaRPr>
          </a:p>
        </p:txBody>
      </p:sp>
      <p:sp>
        <p:nvSpPr>
          <p:cNvPr id="1091" name="Google Shape;1091;p52"/>
          <p:cNvSpPr txBox="1"/>
          <p:nvPr/>
        </p:nvSpPr>
        <p:spPr>
          <a:xfrm>
            <a:off x="11094700" y="4981288"/>
            <a:ext cx="83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48</a:t>
            </a:r>
            <a:endParaRPr sz="800">
              <a:solidFill>
                <a:schemeClr val="accent2"/>
              </a:solidFill>
            </a:endParaRPr>
          </a:p>
        </p:txBody>
      </p:sp>
      <p:sp>
        <p:nvSpPr>
          <p:cNvPr id="1092" name="Google Shape;1092;p52"/>
          <p:cNvSpPr txBox="1"/>
          <p:nvPr/>
        </p:nvSpPr>
        <p:spPr>
          <a:xfrm>
            <a:off x="8841514" y="6167246"/>
            <a:ext cx="2184938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Notación</a:t>
            </a:r>
            <a:r>
              <a:rPr lang="es-ES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: P[i] = VPi</a:t>
            </a:r>
            <a:endParaRPr sz="1200">
              <a:solidFill>
                <a:srgbClr val="FF0000"/>
              </a:solidFill>
            </a:endParaRPr>
          </a:p>
        </p:txBody>
      </p:sp>
      <p:cxnSp>
        <p:nvCxnSpPr>
          <p:cNvPr id="1093" name="Google Shape;1093;p52"/>
          <p:cNvCxnSpPr/>
          <p:nvPr/>
        </p:nvCxnSpPr>
        <p:spPr>
          <a:xfrm>
            <a:off x="6807450" y="2103300"/>
            <a:ext cx="1807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094" name="Google Shape;1094;p52"/>
          <p:cNvCxnSpPr/>
          <p:nvPr/>
        </p:nvCxnSpPr>
        <p:spPr>
          <a:xfrm>
            <a:off x="6807450" y="3082200"/>
            <a:ext cx="1807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095" name="Google Shape;1095;p52"/>
          <p:cNvCxnSpPr/>
          <p:nvPr/>
        </p:nvCxnSpPr>
        <p:spPr>
          <a:xfrm>
            <a:off x="6807450" y="4054750"/>
            <a:ext cx="1807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096" name="Google Shape;1096;p52"/>
          <p:cNvCxnSpPr/>
          <p:nvPr/>
        </p:nvCxnSpPr>
        <p:spPr>
          <a:xfrm>
            <a:off x="6808225" y="5081900"/>
            <a:ext cx="1807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097" name="Google Shape;1097;p52"/>
          <p:cNvCxnSpPr/>
          <p:nvPr/>
        </p:nvCxnSpPr>
        <p:spPr>
          <a:xfrm>
            <a:off x="6784900" y="6092100"/>
            <a:ext cx="1807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98" name="Google Shape;1098;p52"/>
          <p:cNvSpPr txBox="1"/>
          <p:nvPr/>
        </p:nvSpPr>
        <p:spPr>
          <a:xfrm>
            <a:off x="7553675" y="2047638"/>
            <a:ext cx="1126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u="sng" dirty="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00</a:t>
            </a:r>
            <a:r>
              <a:rPr lang="es-ES" sz="12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0000</a:t>
            </a:r>
            <a:endParaRPr sz="400" dirty="0"/>
          </a:p>
        </p:txBody>
      </p:sp>
      <p:sp>
        <p:nvSpPr>
          <p:cNvPr id="1099" name="Google Shape;1099;p52"/>
          <p:cNvSpPr txBox="1"/>
          <p:nvPr/>
        </p:nvSpPr>
        <p:spPr>
          <a:xfrm>
            <a:off x="7542775" y="2783213"/>
            <a:ext cx="1126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u="sng" dirty="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00</a:t>
            </a:r>
            <a:r>
              <a:rPr lang="es-ES" sz="12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1111</a:t>
            </a:r>
            <a:endParaRPr sz="400" dirty="0"/>
          </a:p>
        </p:txBody>
      </p:sp>
      <p:sp>
        <p:nvSpPr>
          <p:cNvPr id="1100" name="Google Shape;1100;p52"/>
          <p:cNvSpPr txBox="1"/>
          <p:nvPr/>
        </p:nvSpPr>
        <p:spPr>
          <a:xfrm>
            <a:off x="7542800" y="3004538"/>
            <a:ext cx="1126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u="sng" dirty="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r>
              <a:rPr lang="es-ES" sz="12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0000</a:t>
            </a:r>
            <a:endParaRPr sz="400" dirty="0"/>
          </a:p>
        </p:txBody>
      </p:sp>
      <p:sp>
        <p:nvSpPr>
          <p:cNvPr id="1101" name="Google Shape;1101;p52"/>
          <p:cNvSpPr txBox="1"/>
          <p:nvPr/>
        </p:nvSpPr>
        <p:spPr>
          <a:xfrm>
            <a:off x="7566900" y="3717038"/>
            <a:ext cx="1126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u="sng" dirty="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r>
              <a:rPr lang="es-ES" sz="12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1111</a:t>
            </a:r>
            <a:endParaRPr sz="400" dirty="0"/>
          </a:p>
        </p:txBody>
      </p:sp>
      <p:sp>
        <p:nvSpPr>
          <p:cNvPr id="1102" name="Google Shape;1102;p52"/>
          <p:cNvSpPr txBox="1"/>
          <p:nvPr/>
        </p:nvSpPr>
        <p:spPr>
          <a:xfrm>
            <a:off x="7543575" y="4008363"/>
            <a:ext cx="1126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u="sng" dirty="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s-ES" sz="12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0000</a:t>
            </a:r>
            <a:endParaRPr sz="400" dirty="0"/>
          </a:p>
        </p:txBody>
      </p:sp>
      <p:sp>
        <p:nvSpPr>
          <p:cNvPr id="1103" name="Google Shape;1103;p52"/>
          <p:cNvSpPr txBox="1"/>
          <p:nvPr/>
        </p:nvSpPr>
        <p:spPr>
          <a:xfrm>
            <a:off x="7566900" y="4767863"/>
            <a:ext cx="1126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s-ES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1111</a:t>
            </a:r>
            <a:endParaRPr sz="400"/>
          </a:p>
        </p:txBody>
      </p:sp>
      <p:sp>
        <p:nvSpPr>
          <p:cNvPr id="1104" name="Google Shape;1104;p52"/>
          <p:cNvSpPr txBox="1"/>
          <p:nvPr/>
        </p:nvSpPr>
        <p:spPr>
          <a:xfrm>
            <a:off x="7556000" y="5023838"/>
            <a:ext cx="1126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u="sng" dirty="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  <a:r>
              <a:rPr lang="es-ES" sz="12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0000</a:t>
            </a:r>
            <a:endParaRPr sz="400" dirty="0"/>
          </a:p>
        </p:txBody>
      </p:sp>
      <p:sp>
        <p:nvSpPr>
          <p:cNvPr id="1105" name="Google Shape;1105;p52"/>
          <p:cNvSpPr txBox="1"/>
          <p:nvPr/>
        </p:nvSpPr>
        <p:spPr>
          <a:xfrm>
            <a:off x="7579350" y="5783338"/>
            <a:ext cx="1126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u="sng" dirty="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  <a:r>
              <a:rPr lang="es-ES" sz="12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1111</a:t>
            </a:r>
            <a:endParaRPr sz="400" dirty="0"/>
          </a:p>
        </p:txBody>
      </p:sp>
      <p:sp>
        <p:nvSpPr>
          <p:cNvPr id="1106" name="Google Shape;1106;p52"/>
          <p:cNvSpPr txBox="1"/>
          <p:nvPr/>
        </p:nvSpPr>
        <p:spPr>
          <a:xfrm>
            <a:off x="7832750" y="3506450"/>
            <a:ext cx="83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u="sng" dirty="0">
                <a:solidFill>
                  <a:schemeClr val="accent6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01</a:t>
            </a:r>
            <a:r>
              <a:rPr lang="es-ES" sz="1200" dirty="0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0101</a:t>
            </a:r>
            <a:endParaRPr sz="4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107" name="Google Shape;1107;p52"/>
          <p:cNvSpPr txBox="1"/>
          <p:nvPr/>
        </p:nvSpPr>
        <p:spPr>
          <a:xfrm>
            <a:off x="8000425" y="2369275"/>
            <a:ext cx="61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400"/>
          </a:p>
        </p:txBody>
      </p:sp>
      <p:sp>
        <p:nvSpPr>
          <p:cNvPr id="1108" name="Google Shape;1108;p52"/>
          <p:cNvSpPr txBox="1"/>
          <p:nvPr/>
        </p:nvSpPr>
        <p:spPr>
          <a:xfrm>
            <a:off x="8000425" y="4370450"/>
            <a:ext cx="61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400"/>
          </a:p>
        </p:txBody>
      </p:sp>
      <p:sp>
        <p:nvSpPr>
          <p:cNvPr id="1109" name="Google Shape;1109;p52"/>
          <p:cNvSpPr txBox="1"/>
          <p:nvPr/>
        </p:nvSpPr>
        <p:spPr>
          <a:xfrm>
            <a:off x="8000425" y="5402350"/>
            <a:ext cx="61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400"/>
          </a:p>
        </p:txBody>
      </p:sp>
      <p:sp>
        <p:nvSpPr>
          <p:cNvPr id="1110" name="Google Shape;1110;p52"/>
          <p:cNvSpPr txBox="1"/>
          <p:nvPr/>
        </p:nvSpPr>
        <p:spPr>
          <a:xfrm>
            <a:off x="6808225" y="3506463"/>
            <a:ext cx="83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VA = 21</a:t>
            </a:r>
            <a:endParaRPr sz="400">
              <a:solidFill>
                <a:schemeClr val="accent5"/>
              </a:solidFill>
            </a:endParaRPr>
          </a:p>
        </p:txBody>
      </p:sp>
      <p:cxnSp>
        <p:nvCxnSpPr>
          <p:cNvPr id="1111" name="Google Shape;1111;p52"/>
          <p:cNvCxnSpPr/>
          <p:nvPr/>
        </p:nvCxnSpPr>
        <p:spPr>
          <a:xfrm>
            <a:off x="7693850" y="3690363"/>
            <a:ext cx="255600" cy="150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12" name="Google Shape;1112;p52"/>
          <p:cNvSpPr/>
          <p:nvPr/>
        </p:nvSpPr>
        <p:spPr>
          <a:xfrm>
            <a:off x="8680475" y="3600675"/>
            <a:ext cx="2437500" cy="1749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13" name="Google Shape;1113;p52"/>
          <p:cNvCxnSpPr/>
          <p:nvPr/>
        </p:nvCxnSpPr>
        <p:spPr>
          <a:xfrm>
            <a:off x="9434600" y="3111975"/>
            <a:ext cx="0" cy="45480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114" name="Google Shape;1114;p52"/>
          <p:cNvSpPr/>
          <p:nvPr/>
        </p:nvSpPr>
        <p:spPr>
          <a:xfrm>
            <a:off x="9500700" y="3141063"/>
            <a:ext cx="13296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offset = 5</a:t>
            </a:r>
            <a:endParaRPr sz="160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15" name="Google Shape;1115;p52"/>
          <p:cNvSpPr txBox="1"/>
          <p:nvPr/>
        </p:nvSpPr>
        <p:spPr>
          <a:xfrm>
            <a:off x="11077125" y="3457700"/>
            <a:ext cx="583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accent5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21</a:t>
            </a:r>
            <a:endParaRPr sz="800">
              <a:solidFill>
                <a:schemeClr val="accent5"/>
              </a:solidFill>
              <a:highlight>
                <a:srgbClr val="FFFF00"/>
              </a:highlight>
            </a:endParaRPr>
          </a:p>
        </p:txBody>
      </p:sp>
      <p:cxnSp>
        <p:nvCxnSpPr>
          <p:cNvPr id="1116" name="Google Shape;1116;p52"/>
          <p:cNvCxnSpPr/>
          <p:nvPr/>
        </p:nvCxnSpPr>
        <p:spPr>
          <a:xfrm>
            <a:off x="11169525" y="3071325"/>
            <a:ext cx="583800" cy="11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117" name="Google Shape;1117;p52"/>
          <p:cNvCxnSpPr/>
          <p:nvPr/>
        </p:nvCxnSpPr>
        <p:spPr>
          <a:xfrm>
            <a:off x="11193650" y="4040150"/>
            <a:ext cx="583800" cy="11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118" name="Google Shape;1118;p52"/>
          <p:cNvCxnSpPr/>
          <p:nvPr/>
        </p:nvCxnSpPr>
        <p:spPr>
          <a:xfrm>
            <a:off x="11182775" y="5078975"/>
            <a:ext cx="583800" cy="11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119" name="Google Shape;1119;p52"/>
          <p:cNvCxnSpPr/>
          <p:nvPr/>
        </p:nvCxnSpPr>
        <p:spPr>
          <a:xfrm rot="10800000" flipH="1">
            <a:off x="11160225" y="6080400"/>
            <a:ext cx="417600" cy="2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120" name="Google Shape;1120;p52"/>
          <p:cNvCxnSpPr/>
          <p:nvPr/>
        </p:nvCxnSpPr>
        <p:spPr>
          <a:xfrm rot="10800000" flipH="1">
            <a:off x="11181975" y="2091475"/>
            <a:ext cx="360900" cy="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21" name="Google Shape;1121;p52"/>
          <p:cNvSpPr txBox="1"/>
          <p:nvPr/>
        </p:nvSpPr>
        <p:spPr>
          <a:xfrm>
            <a:off x="11611100" y="1863875"/>
            <a:ext cx="25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200"/>
          </a:p>
        </p:txBody>
      </p:sp>
      <p:sp>
        <p:nvSpPr>
          <p:cNvPr id="1122" name="Google Shape;1122;p52"/>
          <p:cNvSpPr txBox="1"/>
          <p:nvPr/>
        </p:nvSpPr>
        <p:spPr>
          <a:xfrm>
            <a:off x="11083025" y="5797013"/>
            <a:ext cx="83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701E5C"/>
                </a:solidFill>
                <a:latin typeface="Consolas"/>
                <a:ea typeface="Consolas"/>
                <a:cs typeface="Consolas"/>
                <a:sym typeface="Consolas"/>
              </a:rPr>
              <a:t>63</a:t>
            </a:r>
            <a:endParaRPr sz="800">
              <a:solidFill>
                <a:srgbClr val="701E5C"/>
              </a:solidFill>
            </a:endParaRPr>
          </a:p>
        </p:txBody>
      </p:sp>
      <p:sp>
        <p:nvSpPr>
          <p:cNvPr id="1123" name="Google Shape;1123;p52"/>
          <p:cNvSpPr txBox="1"/>
          <p:nvPr/>
        </p:nvSpPr>
        <p:spPr>
          <a:xfrm>
            <a:off x="11122875" y="4798125"/>
            <a:ext cx="77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701E5C"/>
                </a:solidFill>
                <a:latin typeface="Consolas"/>
                <a:ea typeface="Consolas"/>
                <a:cs typeface="Consolas"/>
                <a:sym typeface="Consolas"/>
              </a:rPr>
              <a:t>47</a:t>
            </a:r>
            <a:endParaRPr sz="800">
              <a:solidFill>
                <a:srgbClr val="701E5C"/>
              </a:solidFill>
            </a:endParaRPr>
          </a:p>
        </p:txBody>
      </p:sp>
      <p:sp>
        <p:nvSpPr>
          <p:cNvPr id="1124" name="Google Shape;1124;p52"/>
          <p:cNvSpPr txBox="1"/>
          <p:nvPr/>
        </p:nvSpPr>
        <p:spPr>
          <a:xfrm>
            <a:off x="11089875" y="3755925"/>
            <a:ext cx="77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701E5C"/>
                </a:solidFill>
                <a:latin typeface="Consolas"/>
                <a:ea typeface="Consolas"/>
                <a:cs typeface="Consolas"/>
                <a:sym typeface="Consolas"/>
              </a:rPr>
              <a:t>31</a:t>
            </a:r>
            <a:endParaRPr sz="800">
              <a:solidFill>
                <a:srgbClr val="701E5C"/>
              </a:solidFill>
            </a:endParaRPr>
          </a:p>
        </p:txBody>
      </p:sp>
      <p:sp>
        <p:nvSpPr>
          <p:cNvPr id="1125" name="Google Shape;1125;p52"/>
          <p:cNvSpPr txBox="1"/>
          <p:nvPr/>
        </p:nvSpPr>
        <p:spPr>
          <a:xfrm>
            <a:off x="11082200" y="2763850"/>
            <a:ext cx="77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701E5C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r>
            <a:endParaRPr sz="800">
              <a:solidFill>
                <a:srgbClr val="701E5C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53"/>
          <p:cNvSpPr txBox="1">
            <a:spLocks noGrp="1"/>
          </p:cNvSpPr>
          <p:nvPr>
            <p:ph type="title"/>
          </p:nvPr>
        </p:nvSpPr>
        <p:spPr>
          <a:xfrm>
            <a:off x="293099" y="96038"/>
            <a:ext cx="11463471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Traducción de direcciones – Direcciones físicas</a:t>
            </a:r>
            <a:endParaRPr sz="3200" b="1" dirty="0">
              <a:solidFill>
                <a:srgbClr val="701E5C"/>
              </a:solidFill>
              <a:latin typeface="+mj-lt"/>
              <a:sym typeface="Roboto Slab"/>
            </a:endParaRPr>
          </a:p>
        </p:txBody>
      </p:sp>
      <p:sp>
        <p:nvSpPr>
          <p:cNvPr id="1131" name="Google Shape;1131;p53"/>
          <p:cNvSpPr txBox="1">
            <a:spLocks noGrp="1"/>
          </p:cNvSpPr>
          <p:nvPr>
            <p:ph type="body" idx="1"/>
          </p:nvPr>
        </p:nvSpPr>
        <p:spPr>
          <a:xfrm>
            <a:off x="916650" y="913675"/>
            <a:ext cx="10651800" cy="2087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32" name="Google Shape;1132;p53"/>
          <p:cNvSpPr txBox="1">
            <a:spLocks noGrp="1"/>
          </p:cNvSpPr>
          <p:nvPr>
            <p:ph type="body" idx="4294967295"/>
          </p:nvPr>
        </p:nvSpPr>
        <p:spPr>
          <a:xfrm>
            <a:off x="435429" y="774700"/>
            <a:ext cx="11756571" cy="15986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</a:rPr>
              <a:t>Direcciones físicas</a:t>
            </a:r>
            <a:endParaRPr sz="2400" dirty="0"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/>
              <a:t>Una dirección física está compuesta por dos partes:</a:t>
            </a:r>
            <a:endParaRPr sz="2000" dirty="0"/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000" b="1" dirty="0">
                <a:solidFill>
                  <a:schemeClr val="accent2"/>
                </a:solidFill>
              </a:rPr>
              <a:t>PFN (Page Frame number)</a:t>
            </a:r>
            <a:r>
              <a:rPr lang="es-ES" sz="2000" dirty="0">
                <a:solidFill>
                  <a:schemeClr val="accent2"/>
                </a:solidFill>
              </a:rPr>
              <a:t>:</a:t>
            </a:r>
            <a:r>
              <a:rPr lang="es-ES" sz="2000" dirty="0"/>
              <a:t> Frame dentro del que se encuentra la dirección física.</a:t>
            </a:r>
            <a:endParaRPr sz="2000" dirty="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000" b="1" dirty="0">
                <a:solidFill>
                  <a:schemeClr val="accent2"/>
                </a:solidFill>
              </a:rPr>
              <a:t>Offset</a:t>
            </a:r>
            <a:r>
              <a:rPr lang="es-ES" sz="2000" dirty="0">
                <a:solidFill>
                  <a:schemeClr val="accent2"/>
                </a:solidFill>
              </a:rPr>
              <a:t>: </a:t>
            </a:r>
            <a:r>
              <a:rPr lang="es-ES" sz="2000" dirty="0"/>
              <a:t>Desplazamiento dentro del frame seleccionado.</a:t>
            </a: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b="1" dirty="0"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graphicFrame>
        <p:nvGraphicFramePr>
          <p:cNvPr id="1133" name="Google Shape;1133;p53"/>
          <p:cNvGraphicFramePr/>
          <p:nvPr>
            <p:extLst>
              <p:ext uri="{D42A27DB-BD31-4B8C-83A1-F6EECF244321}">
                <p14:modId xmlns:p14="http://schemas.microsoft.com/office/powerpoint/2010/main" val="1106434268"/>
              </p:ext>
            </p:extLst>
          </p:nvPr>
        </p:nvGraphicFramePr>
        <p:xfrm>
          <a:off x="2797225" y="3098225"/>
          <a:ext cx="2437600" cy="3544025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43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97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Operating System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5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5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34" name="Google Shape;1134;p53"/>
          <p:cNvSpPr/>
          <p:nvPr/>
        </p:nvSpPr>
        <p:spPr>
          <a:xfrm>
            <a:off x="1567300" y="3245300"/>
            <a:ext cx="11196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F[0]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35" name="Google Shape;1135;p53"/>
          <p:cNvSpPr/>
          <p:nvPr/>
        </p:nvSpPr>
        <p:spPr>
          <a:xfrm>
            <a:off x="1567300" y="3886413"/>
            <a:ext cx="11196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F[1]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36" name="Google Shape;1136;p53"/>
          <p:cNvSpPr/>
          <p:nvPr/>
        </p:nvSpPr>
        <p:spPr>
          <a:xfrm>
            <a:off x="1360650" y="5390438"/>
            <a:ext cx="13296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F[N-2]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37" name="Google Shape;1137;p53"/>
          <p:cNvSpPr/>
          <p:nvPr/>
        </p:nvSpPr>
        <p:spPr>
          <a:xfrm>
            <a:off x="1360650" y="6078625"/>
            <a:ext cx="13296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F[N-1]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38" name="Google Shape;1138;p53"/>
          <p:cNvSpPr/>
          <p:nvPr/>
        </p:nvSpPr>
        <p:spPr>
          <a:xfrm>
            <a:off x="1360650" y="4473637"/>
            <a:ext cx="13296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F[PFN]</a:t>
            </a:r>
            <a:endParaRPr sz="1800" dirty="0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39" name="Google Shape;1139;p53"/>
          <p:cNvSpPr/>
          <p:nvPr/>
        </p:nvSpPr>
        <p:spPr>
          <a:xfrm>
            <a:off x="2797275" y="2664900"/>
            <a:ext cx="24375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latin typeface="Consolas"/>
                <a:ea typeface="Consolas"/>
                <a:cs typeface="Consolas"/>
                <a:sym typeface="Consolas"/>
              </a:rPr>
              <a:t>Physical Memory</a:t>
            </a:r>
            <a:endParaRPr sz="20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40" name="Google Shape;1140;p53"/>
          <p:cNvSpPr/>
          <p:nvPr/>
        </p:nvSpPr>
        <p:spPr>
          <a:xfrm>
            <a:off x="2782761" y="4964750"/>
            <a:ext cx="2437500" cy="1749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41" name="Google Shape;1141;p53"/>
          <p:cNvCxnSpPr/>
          <p:nvPr/>
        </p:nvCxnSpPr>
        <p:spPr>
          <a:xfrm>
            <a:off x="3180175" y="4494250"/>
            <a:ext cx="0" cy="4548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142" name="Google Shape;1142;p53"/>
          <p:cNvSpPr/>
          <p:nvPr/>
        </p:nvSpPr>
        <p:spPr>
          <a:xfrm>
            <a:off x="3281250" y="4523338"/>
            <a:ext cx="13296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 sz="18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143" name="Google Shape;1143;p53"/>
          <p:cNvGraphicFramePr/>
          <p:nvPr/>
        </p:nvGraphicFramePr>
        <p:xfrm>
          <a:off x="6325400" y="3886413"/>
          <a:ext cx="4144350" cy="48765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669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4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2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offset</a:t>
                      </a:r>
                      <a:endParaRPr sz="20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44" name="Google Shape;1144;p53"/>
          <p:cNvSpPr/>
          <p:nvPr/>
        </p:nvSpPr>
        <p:spPr>
          <a:xfrm>
            <a:off x="10524050" y="3931950"/>
            <a:ext cx="6414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PA</a:t>
            </a:r>
            <a:endParaRPr sz="2200" b="1" dirty="0">
              <a:solidFill>
                <a:schemeClr val="accen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45" name="Google Shape;1145;p53"/>
          <p:cNvCxnSpPr/>
          <p:nvPr/>
        </p:nvCxnSpPr>
        <p:spPr>
          <a:xfrm rot="10800000" flipH="1">
            <a:off x="5267900" y="3911075"/>
            <a:ext cx="1003200" cy="10497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146" name="Google Shape;1146;p53"/>
          <p:cNvCxnSpPr/>
          <p:nvPr/>
        </p:nvCxnSpPr>
        <p:spPr>
          <a:xfrm rot="10800000" flipH="1">
            <a:off x="5279575" y="4389325"/>
            <a:ext cx="968100" cy="74640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Google Shape;911;p45">
            <a:extLst>
              <a:ext uri="{FF2B5EF4-FFF2-40B4-BE49-F238E27FC236}">
                <a16:creationId xmlns:a16="http://schemas.microsoft.com/office/drawing/2014/main" id="{5C1C49FF-4E4B-4A0F-898F-9403971A51ED}"/>
              </a:ext>
            </a:extLst>
          </p:cNvPr>
          <p:cNvSpPr/>
          <p:nvPr/>
        </p:nvSpPr>
        <p:spPr>
          <a:xfrm>
            <a:off x="1706650" y="4849808"/>
            <a:ext cx="6414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PA</a:t>
            </a:r>
            <a:endParaRPr sz="2200" b="1" dirty="0">
              <a:solidFill>
                <a:schemeClr val="accen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290F3AC9-F156-420E-BAF7-8442C67A19A5}"/>
              </a:ext>
            </a:extLst>
          </p:cNvPr>
          <p:cNvCxnSpPr>
            <a:cxnSpLocks/>
          </p:cNvCxnSpPr>
          <p:nvPr/>
        </p:nvCxnSpPr>
        <p:spPr>
          <a:xfrm flipV="1">
            <a:off x="2285050" y="5046345"/>
            <a:ext cx="438274" cy="17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5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1076735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Traducción de direcciones – Direcciones físicas</a:t>
            </a:r>
            <a:endParaRPr dirty="0">
              <a:latin typeface="+mj-lt"/>
            </a:endParaRPr>
          </a:p>
        </p:txBody>
      </p:sp>
      <p:sp>
        <p:nvSpPr>
          <p:cNvPr id="1153" name="Google Shape;1153;p54"/>
          <p:cNvSpPr/>
          <p:nvPr/>
        </p:nvSpPr>
        <p:spPr>
          <a:xfrm>
            <a:off x="6535534" y="3031998"/>
            <a:ext cx="5370231" cy="24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Preguntas</a:t>
            </a:r>
            <a:r>
              <a:rPr lang="es-ES" sz="1800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1800" dirty="0">
                <a:ea typeface="Roboto"/>
                <a:cs typeface="Roboto"/>
                <a:sym typeface="Roboto"/>
              </a:rPr>
              <a:t> </a:t>
            </a:r>
            <a:endParaRPr sz="18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s-ES" sz="1800" dirty="0">
                <a:ea typeface="Roboto"/>
                <a:cs typeface="Roboto"/>
                <a:sym typeface="Roboto"/>
              </a:rPr>
              <a:t>¿Cuántos bits se necesitan para direccionar la memoria física?</a:t>
            </a:r>
            <a:endParaRPr sz="18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s-ES" sz="1800" dirty="0">
                <a:ea typeface="Roboto"/>
                <a:cs typeface="Roboto"/>
                <a:sym typeface="Roboto"/>
              </a:rPr>
              <a:t>¿Cuántos bits se necesitan para hacer referencia a los frames?</a:t>
            </a:r>
            <a:endParaRPr sz="18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s-ES" sz="1800" dirty="0">
                <a:ea typeface="Roboto"/>
                <a:cs typeface="Roboto"/>
                <a:sym typeface="Roboto"/>
              </a:rPr>
              <a:t>¿Cuántos bits se necesitan para el offset?</a:t>
            </a:r>
            <a:endParaRPr sz="18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s-ES" sz="1800" dirty="0">
                <a:ea typeface="Roboto"/>
                <a:cs typeface="Roboto"/>
                <a:sym typeface="Roboto"/>
              </a:rPr>
              <a:t>¿Cómo es el formato de la dirección para este ejemplo?</a:t>
            </a:r>
            <a:endParaRPr sz="1800" dirty="0">
              <a:ea typeface="Roboto"/>
              <a:cs typeface="Roboto"/>
              <a:sym typeface="Roboto"/>
            </a:endParaRPr>
          </a:p>
        </p:txBody>
      </p:sp>
      <p:sp>
        <p:nvSpPr>
          <p:cNvPr id="32" name="Google Shape;919;p46">
            <a:extLst>
              <a:ext uri="{FF2B5EF4-FFF2-40B4-BE49-F238E27FC236}">
                <a16:creationId xmlns:a16="http://schemas.microsoft.com/office/drawing/2014/main" id="{67E02100-0D0E-4546-8882-8CC536BFE3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7372" y="875360"/>
            <a:ext cx="5761116" cy="176623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70AD47"/>
                </a:solidFill>
                <a:latin typeface="+mn-lt"/>
              </a:rPr>
              <a:t>Ejemplo - Enunciado del ejemplo original</a:t>
            </a:r>
            <a:endParaRPr sz="2400" dirty="0">
              <a:solidFill>
                <a:srgbClr val="70AD47"/>
              </a:solidFill>
              <a:latin typeface="+mn-lt"/>
            </a:endParaRPr>
          </a:p>
          <a:p>
            <a:pPr marL="457200" lvl="0" indent="-3556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Memoria física de 128 bytes con frames (marcos de página) de 16 bytes.</a:t>
            </a:r>
            <a:endParaRPr sz="2000" dirty="0">
              <a:latin typeface="+mn-lt"/>
            </a:endParaRPr>
          </a:p>
          <a:p>
            <a:pPr marL="45720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Espacio de direcciones (Address Space) de 64 bytes con páginas de 16 bytes.</a:t>
            </a:r>
            <a:endParaRPr sz="2000" dirty="0">
              <a:latin typeface="+mn-lt"/>
            </a:endParaRPr>
          </a:p>
          <a:p>
            <a:pPr marL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33" name="Google Shape;936;p46">
            <a:extLst>
              <a:ext uri="{FF2B5EF4-FFF2-40B4-BE49-F238E27FC236}">
                <a16:creationId xmlns:a16="http://schemas.microsoft.com/office/drawing/2014/main" id="{CF05FC47-739D-4002-A06D-BB009389F5F0}"/>
              </a:ext>
            </a:extLst>
          </p:cNvPr>
          <p:cNvSpPr/>
          <p:nvPr/>
        </p:nvSpPr>
        <p:spPr>
          <a:xfrm>
            <a:off x="6371826" y="880658"/>
            <a:ext cx="4446743" cy="2019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/>
              <a:t>Datos</a:t>
            </a:r>
            <a:r>
              <a:rPr lang="es-ES" sz="1800" dirty="0"/>
              <a:t>:</a:t>
            </a:r>
            <a:endParaRPr sz="18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size(PM) = 128 B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size(frame) = 16 B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size(AS) = 64 B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size(page) = 16 B</a:t>
            </a:r>
          </a:p>
          <a:p>
            <a:pPr marL="457200" indent="-330200"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num_pages = 4</a:t>
            </a:r>
          </a:p>
          <a:p>
            <a:pPr marL="457200" indent="-330200"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num_frames = 8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endParaRPr sz="1600" dirty="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BE218A81-D8FA-484E-B151-305992277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807" y="3819577"/>
            <a:ext cx="2165505" cy="1605643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1B0443BD-F4C0-4CFC-9F01-184F2B9CF4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7992" y="2704206"/>
            <a:ext cx="2582183" cy="383638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5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10897978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Traducción de direcciones – Direcciones físicas</a:t>
            </a:r>
            <a:endParaRPr dirty="0">
              <a:latin typeface="+mj-lt"/>
            </a:endParaRPr>
          </a:p>
        </p:txBody>
      </p:sp>
      <p:sp>
        <p:nvSpPr>
          <p:cNvPr id="1153" name="Google Shape;1153;p54"/>
          <p:cNvSpPr/>
          <p:nvPr/>
        </p:nvSpPr>
        <p:spPr>
          <a:xfrm>
            <a:off x="377372" y="3418114"/>
            <a:ext cx="3439884" cy="3218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Preguntas</a:t>
            </a:r>
            <a:r>
              <a:rPr lang="es-ES" sz="1800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1800" dirty="0">
                <a:ea typeface="Roboto"/>
                <a:cs typeface="Roboto"/>
                <a:sym typeface="Roboto"/>
              </a:rPr>
              <a:t> </a:t>
            </a:r>
            <a:endParaRPr sz="1800" dirty="0">
              <a:ea typeface="Roboto"/>
              <a:cs typeface="Roboto"/>
              <a:sym typeface="Roboto"/>
            </a:endParaRPr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s-ES" sz="1800" dirty="0">
                <a:ea typeface="Roboto"/>
                <a:cs typeface="Roboto"/>
                <a:sym typeface="Roboto"/>
              </a:rPr>
              <a:t>¿Cuántos bits se necesitan para direccionar la memoria física?</a:t>
            </a:r>
            <a:endParaRPr sz="1800" dirty="0">
              <a:ea typeface="Roboto"/>
              <a:cs typeface="Roboto"/>
              <a:sym typeface="Roboto"/>
            </a:endParaRPr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s-ES" sz="1800" dirty="0">
                <a:ea typeface="Roboto"/>
                <a:cs typeface="Roboto"/>
                <a:sym typeface="Roboto"/>
              </a:rPr>
              <a:t>¿Cuántos bits se necesitan para hacer referencia a los frames?</a:t>
            </a:r>
            <a:endParaRPr sz="1800" dirty="0">
              <a:ea typeface="Roboto"/>
              <a:cs typeface="Roboto"/>
              <a:sym typeface="Roboto"/>
            </a:endParaRPr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s-ES" sz="1800" dirty="0">
                <a:ea typeface="Roboto"/>
                <a:cs typeface="Roboto"/>
                <a:sym typeface="Roboto"/>
              </a:rPr>
              <a:t>¿Cuántos bits se necesitan para el offset?</a:t>
            </a:r>
            <a:endParaRPr sz="1800" dirty="0">
              <a:ea typeface="Roboto"/>
              <a:cs typeface="Roboto"/>
              <a:sym typeface="Roboto"/>
            </a:endParaRPr>
          </a:p>
          <a:p>
            <a: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s-ES" sz="1800" dirty="0">
                <a:ea typeface="Roboto"/>
                <a:cs typeface="Roboto"/>
                <a:sym typeface="Roboto"/>
              </a:rPr>
              <a:t>¿Cómo es el formato de la dirección para este ejemplo?</a:t>
            </a:r>
            <a:endParaRPr sz="1800" dirty="0">
              <a:ea typeface="Roboto"/>
              <a:cs typeface="Roboto"/>
              <a:sym typeface="Roboto"/>
            </a:endParaRPr>
          </a:p>
        </p:txBody>
      </p:sp>
      <p:sp>
        <p:nvSpPr>
          <p:cNvPr id="32" name="Google Shape;919;p46">
            <a:extLst>
              <a:ext uri="{FF2B5EF4-FFF2-40B4-BE49-F238E27FC236}">
                <a16:creationId xmlns:a16="http://schemas.microsoft.com/office/drawing/2014/main" id="{67E02100-0D0E-4546-8882-8CC536BFE3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77372" y="875361"/>
            <a:ext cx="5761116" cy="44544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70AD47"/>
                </a:solidFill>
                <a:latin typeface="+mn-lt"/>
              </a:rPr>
              <a:t>Ejemplo - Enunciado del ejemplo original</a:t>
            </a:r>
            <a:endParaRPr sz="2400" dirty="0"/>
          </a:p>
          <a:p>
            <a:pPr marL="45720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33" name="Google Shape;936;p46">
            <a:extLst>
              <a:ext uri="{FF2B5EF4-FFF2-40B4-BE49-F238E27FC236}">
                <a16:creationId xmlns:a16="http://schemas.microsoft.com/office/drawing/2014/main" id="{CF05FC47-739D-4002-A06D-BB009389F5F0}"/>
              </a:ext>
            </a:extLst>
          </p:cNvPr>
          <p:cNvSpPr/>
          <p:nvPr/>
        </p:nvSpPr>
        <p:spPr>
          <a:xfrm>
            <a:off x="377372" y="1409315"/>
            <a:ext cx="4446743" cy="2019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/>
              <a:t>Datos</a:t>
            </a:r>
            <a:r>
              <a:rPr lang="es-ES" sz="1800" dirty="0"/>
              <a:t>:</a:t>
            </a:r>
            <a:endParaRPr sz="18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size(PM) = 128 B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n-US" sz="1600" dirty="0">
                <a:latin typeface="Consolas"/>
                <a:ea typeface="Consolas"/>
                <a:cs typeface="Consolas"/>
                <a:sym typeface="Consolas"/>
              </a:rPr>
              <a:t>size(frame) = 16 B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size(AS) = 64 B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size(page) = 16 B</a:t>
            </a:r>
          </a:p>
          <a:p>
            <a:pPr marL="457200" indent="-330200"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num_pages = 4</a:t>
            </a:r>
          </a:p>
          <a:p>
            <a:pPr marL="457200" indent="-330200">
              <a:buSzPts val="1600"/>
              <a:buFont typeface="Consolas"/>
              <a:buChar char="●"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num_frames = 8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endParaRPr sz="1600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6401908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55"/>
          <p:cNvSpPr txBox="1">
            <a:spLocks noGrp="1"/>
          </p:cNvSpPr>
          <p:nvPr>
            <p:ph type="title"/>
          </p:nvPr>
        </p:nvSpPr>
        <p:spPr>
          <a:xfrm>
            <a:off x="623550" y="94069"/>
            <a:ext cx="1074285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Traducción de direcciones – Direcciones físicas </a:t>
            </a:r>
            <a:endParaRPr dirty="0">
              <a:latin typeface="+mj-lt"/>
            </a:endParaRPr>
          </a:p>
        </p:txBody>
      </p:sp>
      <p:sp>
        <p:nvSpPr>
          <p:cNvPr id="1184" name="Google Shape;1184;p55"/>
          <p:cNvSpPr txBox="1">
            <a:spLocks noGrp="1"/>
          </p:cNvSpPr>
          <p:nvPr>
            <p:ph type="body" idx="1"/>
          </p:nvPr>
        </p:nvSpPr>
        <p:spPr>
          <a:xfrm>
            <a:off x="916650" y="833325"/>
            <a:ext cx="10651800" cy="65772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6"/>
                </a:solidFill>
                <a:latin typeface="+mn-lt"/>
              </a:rPr>
              <a:t>Ejemplo - Enunciado del ejemplo original – Pregunta 1</a:t>
            </a:r>
            <a:endParaRPr sz="2000" dirty="0">
              <a:solidFill>
                <a:schemeClr val="accent6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</p:txBody>
      </p:sp>
      <p:sp>
        <p:nvSpPr>
          <p:cNvPr id="1185" name="Google Shape;1185;p55"/>
          <p:cNvSpPr/>
          <p:nvPr/>
        </p:nvSpPr>
        <p:spPr>
          <a:xfrm>
            <a:off x="5630811" y="1551740"/>
            <a:ext cx="5598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/>
              <a:t>Datos</a:t>
            </a:r>
            <a:r>
              <a:rPr lang="es-ES" sz="1800" dirty="0"/>
              <a:t>:</a:t>
            </a:r>
            <a:endParaRPr sz="18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size(PM) = 128 B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size(page) = 16 B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Número de frames = 8 (Obtenido previamente)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86" name="Google Shape;1186;p55"/>
          <p:cNvSpPr/>
          <p:nvPr/>
        </p:nvSpPr>
        <p:spPr>
          <a:xfrm>
            <a:off x="5772450" y="2956430"/>
            <a:ext cx="5796000" cy="15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FF0000"/>
                </a:solidFill>
              </a:rPr>
              <a:t>Pregunta</a:t>
            </a:r>
            <a:r>
              <a:rPr lang="es-ES" sz="1800" dirty="0">
                <a:solidFill>
                  <a:srgbClr val="FF0000"/>
                </a:solidFill>
              </a:rPr>
              <a:t>:</a:t>
            </a:r>
            <a:r>
              <a:rPr lang="es-ES" sz="1800" dirty="0"/>
              <a:t> </a:t>
            </a:r>
            <a:endParaRPr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lang="es-ES" sz="18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¿Cuántos bits se necesitan para direccionar la memoria física?</a:t>
            </a:r>
            <a:endParaRPr sz="1800" dirty="0">
              <a:solidFill>
                <a:schemeClr val="dk1"/>
              </a:solidFill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size(PM) = 128 B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 = ?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87" name="Google Shape;1187;p55"/>
          <p:cNvSpPr txBox="1"/>
          <p:nvPr/>
        </p:nvSpPr>
        <p:spPr>
          <a:xfrm>
            <a:off x="7322345" y="4627601"/>
            <a:ext cx="30000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2^n = size(PM)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2^n = 128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2^n = 2^7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 = log2(2^7)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n = 7</a:t>
            </a:r>
            <a:endParaRPr sz="1600" dirty="0">
              <a:solidFill>
                <a:srgbClr val="FF0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14E52B57-355D-49CB-9383-D7CE86590636}"/>
              </a:ext>
            </a:extLst>
          </p:cNvPr>
          <p:cNvGrpSpPr/>
          <p:nvPr/>
        </p:nvGrpSpPr>
        <p:grpSpPr>
          <a:xfrm>
            <a:off x="532500" y="1521240"/>
            <a:ext cx="4808088" cy="5043800"/>
            <a:chOff x="916638" y="1508325"/>
            <a:chExt cx="4808088" cy="5043800"/>
          </a:xfrm>
        </p:grpSpPr>
        <p:graphicFrame>
          <p:nvGraphicFramePr>
            <p:cNvPr id="1188" name="Google Shape;1188;p55"/>
            <p:cNvGraphicFramePr/>
            <p:nvPr>
              <p:extLst>
                <p:ext uri="{D42A27DB-BD31-4B8C-83A1-F6EECF244321}">
                  <p14:modId xmlns:p14="http://schemas.microsoft.com/office/powerpoint/2010/main" val="2832526689"/>
                </p:ext>
              </p:extLst>
            </p:nvPr>
          </p:nvGraphicFramePr>
          <p:xfrm>
            <a:off x="2323525" y="1947863"/>
            <a:ext cx="2437600" cy="4372200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24376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5306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Operating system</a:t>
                        </a: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5306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7"/>
                    </a:ext>
                  </a:extLst>
                </a:tr>
              </a:tbl>
            </a:graphicData>
          </a:graphic>
        </p:graphicFrame>
        <p:grpSp>
          <p:nvGrpSpPr>
            <p:cNvPr id="1189" name="Google Shape;1189;p55"/>
            <p:cNvGrpSpPr/>
            <p:nvPr/>
          </p:nvGrpSpPr>
          <p:grpSpPr>
            <a:xfrm>
              <a:off x="4761113" y="1999988"/>
              <a:ext cx="963613" cy="4267938"/>
              <a:chOff x="6755513" y="2261913"/>
              <a:chExt cx="963613" cy="4267938"/>
            </a:xfrm>
          </p:grpSpPr>
          <p:sp>
            <p:nvSpPr>
              <p:cNvPr id="1190" name="Google Shape;1190;p55"/>
              <p:cNvSpPr txBox="1"/>
              <p:nvPr/>
            </p:nvSpPr>
            <p:spPr>
              <a:xfrm>
                <a:off x="6755525" y="2261913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F[0]</a:t>
                </a:r>
                <a:endParaRPr/>
              </a:p>
            </p:txBody>
          </p:sp>
          <p:sp>
            <p:nvSpPr>
              <p:cNvPr id="1191" name="Google Shape;1191;p55"/>
              <p:cNvSpPr txBox="1"/>
              <p:nvPr/>
            </p:nvSpPr>
            <p:spPr>
              <a:xfrm>
                <a:off x="6755525" y="282420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F[1]</a:t>
                </a:r>
                <a:endParaRPr/>
              </a:p>
            </p:txBody>
          </p:sp>
          <p:sp>
            <p:nvSpPr>
              <p:cNvPr id="1192" name="Google Shape;1192;p55"/>
              <p:cNvSpPr txBox="1"/>
              <p:nvPr/>
            </p:nvSpPr>
            <p:spPr>
              <a:xfrm>
                <a:off x="6755525" y="3350063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F[2]</a:t>
                </a:r>
                <a:endParaRPr/>
              </a:p>
            </p:txBody>
          </p:sp>
          <p:sp>
            <p:nvSpPr>
              <p:cNvPr id="1193" name="Google Shape;1193;p55"/>
              <p:cNvSpPr txBox="1"/>
              <p:nvPr/>
            </p:nvSpPr>
            <p:spPr>
              <a:xfrm>
                <a:off x="6755513" y="387595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F[3]</a:t>
                </a:r>
                <a:endParaRPr/>
              </a:p>
            </p:txBody>
          </p:sp>
          <p:sp>
            <p:nvSpPr>
              <p:cNvPr id="1194" name="Google Shape;1194;p55"/>
              <p:cNvSpPr txBox="1"/>
              <p:nvPr/>
            </p:nvSpPr>
            <p:spPr>
              <a:xfrm>
                <a:off x="6755513" y="4401838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F[4]</a:t>
                </a:r>
                <a:endParaRPr/>
              </a:p>
            </p:txBody>
          </p:sp>
          <p:sp>
            <p:nvSpPr>
              <p:cNvPr id="1195" name="Google Shape;1195;p55"/>
              <p:cNvSpPr txBox="1"/>
              <p:nvPr/>
            </p:nvSpPr>
            <p:spPr>
              <a:xfrm>
                <a:off x="6755513" y="4963488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F[5]</a:t>
                </a:r>
                <a:endParaRPr/>
              </a:p>
            </p:txBody>
          </p:sp>
          <p:sp>
            <p:nvSpPr>
              <p:cNvPr id="1196" name="Google Shape;1196;p55"/>
              <p:cNvSpPr txBox="1"/>
              <p:nvPr/>
            </p:nvSpPr>
            <p:spPr>
              <a:xfrm>
                <a:off x="6755525" y="5525138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F[6]</a:t>
                </a:r>
                <a:endParaRPr/>
              </a:p>
            </p:txBody>
          </p:sp>
          <p:sp>
            <p:nvSpPr>
              <p:cNvPr id="1197" name="Google Shape;1197;p55"/>
              <p:cNvSpPr txBox="1"/>
              <p:nvPr/>
            </p:nvSpPr>
            <p:spPr>
              <a:xfrm>
                <a:off x="6755525" y="609875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F[7]</a:t>
                </a:r>
                <a:endParaRPr/>
              </a:p>
            </p:txBody>
          </p:sp>
        </p:grpSp>
        <p:sp>
          <p:nvSpPr>
            <p:cNvPr id="1198" name="Google Shape;1198;p55"/>
            <p:cNvSpPr txBox="1"/>
            <p:nvPr/>
          </p:nvSpPr>
          <p:spPr>
            <a:xfrm>
              <a:off x="2323575" y="1508325"/>
              <a:ext cx="2437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Physical Address</a:t>
              </a:r>
              <a:endParaRPr b="1" dirty="0"/>
            </a:p>
          </p:txBody>
        </p:sp>
        <p:grpSp>
          <p:nvGrpSpPr>
            <p:cNvPr id="1199" name="Google Shape;1199;p55"/>
            <p:cNvGrpSpPr/>
            <p:nvPr/>
          </p:nvGrpSpPr>
          <p:grpSpPr>
            <a:xfrm>
              <a:off x="1489225" y="1675475"/>
              <a:ext cx="834300" cy="4876650"/>
              <a:chOff x="6884825" y="1886475"/>
              <a:chExt cx="834300" cy="4876650"/>
            </a:xfrm>
          </p:grpSpPr>
          <p:sp>
            <p:nvSpPr>
              <p:cNvPr id="1200" name="Google Shape;1200;p55"/>
              <p:cNvSpPr txBox="1"/>
              <p:nvPr/>
            </p:nvSpPr>
            <p:spPr>
              <a:xfrm>
                <a:off x="6884825" y="188647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</a:t>
                </a:r>
                <a:endParaRPr/>
              </a:p>
            </p:txBody>
          </p:sp>
          <p:sp>
            <p:nvSpPr>
              <p:cNvPr id="1201" name="Google Shape;1201;p55"/>
              <p:cNvSpPr txBox="1"/>
              <p:nvPr/>
            </p:nvSpPr>
            <p:spPr>
              <a:xfrm>
                <a:off x="6884825" y="2458750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16</a:t>
                </a:r>
                <a:endParaRPr/>
              </a:p>
            </p:txBody>
          </p:sp>
          <p:sp>
            <p:nvSpPr>
              <p:cNvPr id="1202" name="Google Shape;1202;p55"/>
              <p:cNvSpPr txBox="1"/>
              <p:nvPr/>
            </p:nvSpPr>
            <p:spPr>
              <a:xfrm>
                <a:off x="6884825" y="2972700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32</a:t>
                </a:r>
                <a:endParaRPr/>
              </a:p>
            </p:txBody>
          </p:sp>
          <p:sp>
            <p:nvSpPr>
              <p:cNvPr id="1203" name="Google Shape;1203;p55"/>
              <p:cNvSpPr txBox="1"/>
              <p:nvPr/>
            </p:nvSpPr>
            <p:spPr>
              <a:xfrm>
                <a:off x="6884825" y="35333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48</a:t>
                </a:r>
                <a:endParaRPr/>
              </a:p>
            </p:txBody>
          </p:sp>
          <p:sp>
            <p:nvSpPr>
              <p:cNvPr id="1204" name="Google Shape;1204;p55"/>
              <p:cNvSpPr txBox="1"/>
              <p:nvPr/>
            </p:nvSpPr>
            <p:spPr>
              <a:xfrm>
                <a:off x="6884825" y="40589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64</a:t>
                </a:r>
                <a:endParaRPr/>
              </a:p>
            </p:txBody>
          </p:sp>
          <p:sp>
            <p:nvSpPr>
              <p:cNvPr id="1205" name="Google Shape;1205;p55"/>
              <p:cNvSpPr txBox="1"/>
              <p:nvPr/>
            </p:nvSpPr>
            <p:spPr>
              <a:xfrm>
                <a:off x="6884825" y="45845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80</a:t>
                </a:r>
                <a:endParaRPr/>
              </a:p>
            </p:txBody>
          </p:sp>
          <p:sp>
            <p:nvSpPr>
              <p:cNvPr id="1206" name="Google Shape;1206;p55"/>
              <p:cNvSpPr txBox="1"/>
              <p:nvPr/>
            </p:nvSpPr>
            <p:spPr>
              <a:xfrm>
                <a:off x="6884825" y="518017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96</a:t>
                </a:r>
                <a:endParaRPr/>
              </a:p>
            </p:txBody>
          </p:sp>
          <p:sp>
            <p:nvSpPr>
              <p:cNvPr id="1207" name="Google Shape;1207;p55"/>
              <p:cNvSpPr txBox="1"/>
              <p:nvPr/>
            </p:nvSpPr>
            <p:spPr>
              <a:xfrm>
                <a:off x="6884825" y="57758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112</a:t>
                </a:r>
                <a:endParaRPr/>
              </a:p>
            </p:txBody>
          </p:sp>
          <p:sp>
            <p:nvSpPr>
              <p:cNvPr id="1208" name="Google Shape;1208;p55"/>
              <p:cNvSpPr txBox="1"/>
              <p:nvPr/>
            </p:nvSpPr>
            <p:spPr>
              <a:xfrm>
                <a:off x="6884825" y="63014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128</a:t>
                </a:r>
                <a:endParaRPr/>
              </a:p>
            </p:txBody>
          </p:sp>
        </p:grpSp>
        <p:grpSp>
          <p:nvGrpSpPr>
            <p:cNvPr id="1209" name="Google Shape;1209;p55"/>
            <p:cNvGrpSpPr/>
            <p:nvPr/>
          </p:nvGrpSpPr>
          <p:grpSpPr>
            <a:xfrm>
              <a:off x="916638" y="3560950"/>
              <a:ext cx="956750" cy="531900"/>
              <a:chOff x="6468825" y="3673050"/>
              <a:chExt cx="956750" cy="531900"/>
            </a:xfrm>
          </p:grpSpPr>
          <p:sp>
            <p:nvSpPr>
              <p:cNvPr id="1210" name="Google Shape;1210;p55"/>
              <p:cNvSpPr/>
              <p:nvPr/>
            </p:nvSpPr>
            <p:spPr>
              <a:xfrm>
                <a:off x="7250675" y="3673050"/>
                <a:ext cx="174900" cy="531900"/>
              </a:xfrm>
              <a:prstGeom prst="leftBrace">
                <a:avLst>
                  <a:gd name="adj1" fmla="val 50000"/>
                  <a:gd name="adj2" fmla="val 54312"/>
                </a:avLst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55"/>
              <p:cNvSpPr txBox="1"/>
              <p:nvPr/>
            </p:nvSpPr>
            <p:spPr>
              <a:xfrm>
                <a:off x="6468825" y="3708138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16</a:t>
                </a:r>
                <a:endParaRPr>
                  <a:solidFill>
                    <a:schemeClr val="accent2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56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106518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Traducción de direcciones – Direcciones físicas</a:t>
            </a:r>
            <a:endParaRPr dirty="0">
              <a:latin typeface="+mj-lt"/>
            </a:endParaRPr>
          </a:p>
        </p:txBody>
      </p:sp>
      <p:sp>
        <p:nvSpPr>
          <p:cNvPr id="1217" name="Google Shape;1217;p56"/>
          <p:cNvSpPr txBox="1">
            <a:spLocks noGrp="1"/>
          </p:cNvSpPr>
          <p:nvPr>
            <p:ph type="body" idx="1"/>
          </p:nvPr>
        </p:nvSpPr>
        <p:spPr>
          <a:xfrm>
            <a:off x="916650" y="833325"/>
            <a:ext cx="10651800" cy="67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70AD47"/>
                </a:solidFill>
                <a:latin typeface="+mn-lt"/>
              </a:rPr>
              <a:t>Ejemplo - Enunciado del ejemplo original – Pregunta 2</a:t>
            </a:r>
            <a:endParaRPr sz="2400" dirty="0">
              <a:solidFill>
                <a:srgbClr val="70AD47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1218" name="Google Shape;1218;p56"/>
          <p:cNvSpPr/>
          <p:nvPr/>
        </p:nvSpPr>
        <p:spPr>
          <a:xfrm>
            <a:off x="5399724" y="1676400"/>
            <a:ext cx="6014651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/>
              <a:t>Datos</a:t>
            </a:r>
            <a:r>
              <a:rPr lang="es-ES" sz="1800" dirty="0"/>
              <a:t>:</a:t>
            </a:r>
            <a:endParaRPr sz="18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size(PM) = 128 B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size(page) = 16 B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Número de frames = 8 (Obtenido previamente)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19" name="Google Shape;1219;p56"/>
          <p:cNvSpPr/>
          <p:nvPr/>
        </p:nvSpPr>
        <p:spPr>
          <a:xfrm>
            <a:off x="5399724" y="2921963"/>
            <a:ext cx="6259776" cy="17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FF0000"/>
                </a:solidFill>
              </a:rPr>
              <a:t>Pregunta</a:t>
            </a:r>
            <a:r>
              <a:rPr lang="es-ES" sz="1800" dirty="0">
                <a:solidFill>
                  <a:srgbClr val="FF0000"/>
                </a:solidFill>
              </a:rPr>
              <a:t>:</a:t>
            </a:r>
            <a:r>
              <a:rPr lang="es-ES" sz="1800" dirty="0"/>
              <a:t> </a:t>
            </a:r>
            <a:endParaRPr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 startAt="2"/>
            </a:pPr>
            <a:r>
              <a:rPr lang="es-ES" sz="18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¿Cuántos bits se necesitan para hacer referencia a los frames?</a:t>
            </a:r>
            <a:endParaRPr sz="18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num_frames = 8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n(PFN) = ?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0678B2BF-FA3A-436F-A81F-24AFDF6DE045}"/>
              </a:ext>
            </a:extLst>
          </p:cNvPr>
          <p:cNvGrpSpPr/>
          <p:nvPr/>
        </p:nvGrpSpPr>
        <p:grpSpPr>
          <a:xfrm>
            <a:off x="532500" y="1508325"/>
            <a:ext cx="4808088" cy="5043800"/>
            <a:chOff x="916638" y="1508325"/>
            <a:chExt cx="4808088" cy="5043800"/>
          </a:xfrm>
        </p:grpSpPr>
        <p:graphicFrame>
          <p:nvGraphicFramePr>
            <p:cNvPr id="1220" name="Google Shape;1220;p56"/>
            <p:cNvGraphicFramePr/>
            <p:nvPr>
              <p:extLst>
                <p:ext uri="{D42A27DB-BD31-4B8C-83A1-F6EECF244321}">
                  <p14:modId xmlns:p14="http://schemas.microsoft.com/office/powerpoint/2010/main" val="4223855153"/>
                </p:ext>
              </p:extLst>
            </p:nvPr>
          </p:nvGraphicFramePr>
          <p:xfrm>
            <a:off x="2323525" y="1947863"/>
            <a:ext cx="2437600" cy="4372200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24376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5306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Operating system</a:t>
                        </a: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5306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7"/>
                    </a:ext>
                  </a:extLst>
                </a:tr>
              </a:tbl>
            </a:graphicData>
          </a:graphic>
        </p:graphicFrame>
        <p:grpSp>
          <p:nvGrpSpPr>
            <p:cNvPr id="1221" name="Google Shape;1221;p56"/>
            <p:cNvGrpSpPr/>
            <p:nvPr/>
          </p:nvGrpSpPr>
          <p:grpSpPr>
            <a:xfrm>
              <a:off x="4761113" y="1999988"/>
              <a:ext cx="963613" cy="4267938"/>
              <a:chOff x="6755513" y="2261913"/>
              <a:chExt cx="963613" cy="4267938"/>
            </a:xfrm>
          </p:grpSpPr>
          <p:sp>
            <p:nvSpPr>
              <p:cNvPr id="1222" name="Google Shape;1222;p56"/>
              <p:cNvSpPr txBox="1"/>
              <p:nvPr/>
            </p:nvSpPr>
            <p:spPr>
              <a:xfrm>
                <a:off x="6755525" y="2261913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F[0]</a:t>
                </a:r>
                <a:endParaRPr/>
              </a:p>
            </p:txBody>
          </p:sp>
          <p:sp>
            <p:nvSpPr>
              <p:cNvPr id="1223" name="Google Shape;1223;p56"/>
              <p:cNvSpPr txBox="1"/>
              <p:nvPr/>
            </p:nvSpPr>
            <p:spPr>
              <a:xfrm>
                <a:off x="6755525" y="282420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F[1]</a:t>
                </a:r>
                <a:endParaRPr/>
              </a:p>
            </p:txBody>
          </p:sp>
          <p:sp>
            <p:nvSpPr>
              <p:cNvPr id="1224" name="Google Shape;1224;p56"/>
              <p:cNvSpPr txBox="1"/>
              <p:nvPr/>
            </p:nvSpPr>
            <p:spPr>
              <a:xfrm>
                <a:off x="6755525" y="3350063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F[2]</a:t>
                </a:r>
                <a:endParaRPr/>
              </a:p>
            </p:txBody>
          </p:sp>
          <p:sp>
            <p:nvSpPr>
              <p:cNvPr id="1225" name="Google Shape;1225;p56"/>
              <p:cNvSpPr txBox="1"/>
              <p:nvPr/>
            </p:nvSpPr>
            <p:spPr>
              <a:xfrm>
                <a:off x="6755513" y="387595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F[3]</a:t>
                </a:r>
                <a:endParaRPr/>
              </a:p>
            </p:txBody>
          </p:sp>
          <p:sp>
            <p:nvSpPr>
              <p:cNvPr id="1226" name="Google Shape;1226;p56"/>
              <p:cNvSpPr txBox="1"/>
              <p:nvPr/>
            </p:nvSpPr>
            <p:spPr>
              <a:xfrm>
                <a:off x="6755513" y="4401838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F[4]</a:t>
                </a:r>
                <a:endParaRPr/>
              </a:p>
            </p:txBody>
          </p:sp>
          <p:sp>
            <p:nvSpPr>
              <p:cNvPr id="1227" name="Google Shape;1227;p56"/>
              <p:cNvSpPr txBox="1"/>
              <p:nvPr/>
            </p:nvSpPr>
            <p:spPr>
              <a:xfrm>
                <a:off x="6755513" y="4963488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F[5]</a:t>
                </a:r>
                <a:endParaRPr/>
              </a:p>
            </p:txBody>
          </p:sp>
          <p:sp>
            <p:nvSpPr>
              <p:cNvPr id="1228" name="Google Shape;1228;p56"/>
              <p:cNvSpPr txBox="1"/>
              <p:nvPr/>
            </p:nvSpPr>
            <p:spPr>
              <a:xfrm>
                <a:off x="6755525" y="5525138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F[6]</a:t>
                </a:r>
                <a:endParaRPr/>
              </a:p>
            </p:txBody>
          </p:sp>
          <p:sp>
            <p:nvSpPr>
              <p:cNvPr id="1229" name="Google Shape;1229;p56"/>
              <p:cNvSpPr txBox="1"/>
              <p:nvPr/>
            </p:nvSpPr>
            <p:spPr>
              <a:xfrm>
                <a:off x="6755525" y="609875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F[7]</a:t>
                </a:r>
                <a:endParaRPr/>
              </a:p>
            </p:txBody>
          </p:sp>
        </p:grpSp>
        <p:sp>
          <p:nvSpPr>
            <p:cNvPr id="1230" name="Google Shape;1230;p56"/>
            <p:cNvSpPr txBox="1"/>
            <p:nvPr/>
          </p:nvSpPr>
          <p:spPr>
            <a:xfrm>
              <a:off x="2323575" y="1508325"/>
              <a:ext cx="2437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Physical Address</a:t>
              </a:r>
              <a:endParaRPr b="1" dirty="0"/>
            </a:p>
          </p:txBody>
        </p:sp>
        <p:grpSp>
          <p:nvGrpSpPr>
            <p:cNvPr id="1231" name="Google Shape;1231;p56"/>
            <p:cNvGrpSpPr/>
            <p:nvPr/>
          </p:nvGrpSpPr>
          <p:grpSpPr>
            <a:xfrm>
              <a:off x="1489225" y="1675475"/>
              <a:ext cx="834300" cy="4876650"/>
              <a:chOff x="6884825" y="1886475"/>
              <a:chExt cx="834300" cy="4876650"/>
            </a:xfrm>
          </p:grpSpPr>
          <p:sp>
            <p:nvSpPr>
              <p:cNvPr id="1232" name="Google Shape;1232;p56"/>
              <p:cNvSpPr txBox="1"/>
              <p:nvPr/>
            </p:nvSpPr>
            <p:spPr>
              <a:xfrm>
                <a:off x="6884825" y="188647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</a:t>
                </a:r>
                <a:endParaRPr/>
              </a:p>
            </p:txBody>
          </p:sp>
          <p:sp>
            <p:nvSpPr>
              <p:cNvPr id="1233" name="Google Shape;1233;p56"/>
              <p:cNvSpPr txBox="1"/>
              <p:nvPr/>
            </p:nvSpPr>
            <p:spPr>
              <a:xfrm>
                <a:off x="6884825" y="2458750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16</a:t>
                </a:r>
                <a:endParaRPr/>
              </a:p>
            </p:txBody>
          </p:sp>
          <p:sp>
            <p:nvSpPr>
              <p:cNvPr id="1234" name="Google Shape;1234;p56"/>
              <p:cNvSpPr txBox="1"/>
              <p:nvPr/>
            </p:nvSpPr>
            <p:spPr>
              <a:xfrm>
                <a:off x="6884825" y="2972700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32</a:t>
                </a:r>
                <a:endParaRPr/>
              </a:p>
            </p:txBody>
          </p:sp>
          <p:sp>
            <p:nvSpPr>
              <p:cNvPr id="1235" name="Google Shape;1235;p56"/>
              <p:cNvSpPr txBox="1"/>
              <p:nvPr/>
            </p:nvSpPr>
            <p:spPr>
              <a:xfrm>
                <a:off x="6884825" y="35333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48</a:t>
                </a:r>
                <a:endParaRPr/>
              </a:p>
            </p:txBody>
          </p:sp>
          <p:sp>
            <p:nvSpPr>
              <p:cNvPr id="1236" name="Google Shape;1236;p56"/>
              <p:cNvSpPr txBox="1"/>
              <p:nvPr/>
            </p:nvSpPr>
            <p:spPr>
              <a:xfrm>
                <a:off x="6884825" y="40589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64</a:t>
                </a:r>
                <a:endParaRPr/>
              </a:p>
            </p:txBody>
          </p:sp>
          <p:sp>
            <p:nvSpPr>
              <p:cNvPr id="1237" name="Google Shape;1237;p56"/>
              <p:cNvSpPr txBox="1"/>
              <p:nvPr/>
            </p:nvSpPr>
            <p:spPr>
              <a:xfrm>
                <a:off x="6884825" y="45845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80</a:t>
                </a:r>
                <a:endParaRPr/>
              </a:p>
            </p:txBody>
          </p:sp>
          <p:sp>
            <p:nvSpPr>
              <p:cNvPr id="1238" name="Google Shape;1238;p56"/>
              <p:cNvSpPr txBox="1"/>
              <p:nvPr/>
            </p:nvSpPr>
            <p:spPr>
              <a:xfrm>
                <a:off x="6884825" y="518017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96</a:t>
                </a:r>
                <a:endParaRPr/>
              </a:p>
            </p:txBody>
          </p:sp>
          <p:sp>
            <p:nvSpPr>
              <p:cNvPr id="1239" name="Google Shape;1239;p56"/>
              <p:cNvSpPr txBox="1"/>
              <p:nvPr/>
            </p:nvSpPr>
            <p:spPr>
              <a:xfrm>
                <a:off x="6884825" y="57758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112</a:t>
                </a:r>
                <a:endParaRPr/>
              </a:p>
            </p:txBody>
          </p:sp>
          <p:sp>
            <p:nvSpPr>
              <p:cNvPr id="1240" name="Google Shape;1240;p56"/>
              <p:cNvSpPr txBox="1"/>
              <p:nvPr/>
            </p:nvSpPr>
            <p:spPr>
              <a:xfrm>
                <a:off x="6884825" y="63014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128</a:t>
                </a:r>
                <a:endParaRPr/>
              </a:p>
            </p:txBody>
          </p:sp>
        </p:grpSp>
        <p:grpSp>
          <p:nvGrpSpPr>
            <p:cNvPr id="1241" name="Google Shape;1241;p56"/>
            <p:cNvGrpSpPr/>
            <p:nvPr/>
          </p:nvGrpSpPr>
          <p:grpSpPr>
            <a:xfrm>
              <a:off x="916638" y="3560950"/>
              <a:ext cx="956750" cy="531900"/>
              <a:chOff x="6468825" y="3673050"/>
              <a:chExt cx="956750" cy="531900"/>
            </a:xfrm>
          </p:grpSpPr>
          <p:sp>
            <p:nvSpPr>
              <p:cNvPr id="1242" name="Google Shape;1242;p56"/>
              <p:cNvSpPr/>
              <p:nvPr/>
            </p:nvSpPr>
            <p:spPr>
              <a:xfrm>
                <a:off x="7250675" y="3673050"/>
                <a:ext cx="174900" cy="531900"/>
              </a:xfrm>
              <a:prstGeom prst="leftBrace">
                <a:avLst>
                  <a:gd name="adj1" fmla="val 50000"/>
                  <a:gd name="adj2" fmla="val 54312"/>
                </a:avLst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56"/>
              <p:cNvSpPr txBox="1"/>
              <p:nvPr/>
            </p:nvSpPr>
            <p:spPr>
              <a:xfrm>
                <a:off x="6468825" y="3708138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16</a:t>
                </a:r>
                <a:endParaRPr>
                  <a:solidFill>
                    <a:schemeClr val="accent2"/>
                  </a:solidFill>
                </a:endParaRPr>
              </a:p>
            </p:txBody>
          </p:sp>
        </p:grpSp>
      </p:grpSp>
      <p:sp>
        <p:nvSpPr>
          <p:cNvPr id="1244" name="Google Shape;1244;p56"/>
          <p:cNvSpPr txBox="1"/>
          <p:nvPr/>
        </p:nvSpPr>
        <p:spPr>
          <a:xfrm>
            <a:off x="7029612" y="4625975"/>
            <a:ext cx="30000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2^</a:t>
            </a:r>
            <a:r>
              <a:rPr lang="es-ES" sz="16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n(PFN)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num_frames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2^</a:t>
            </a:r>
            <a:r>
              <a:rPr lang="es-ES" sz="16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n(PFN)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8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2^</a:t>
            </a:r>
            <a:r>
              <a:rPr lang="es-ES" sz="16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n(PFN)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2^3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n(PFN) = 3</a:t>
            </a:r>
            <a:endParaRPr sz="1600" b="1" dirty="0">
              <a:solidFill>
                <a:srgbClr val="FF0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57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10883464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Traducción de direcciones – Direcciones físicas</a:t>
            </a:r>
            <a:endParaRPr dirty="0">
              <a:latin typeface="+mj-lt"/>
            </a:endParaRPr>
          </a:p>
        </p:txBody>
      </p:sp>
      <p:sp>
        <p:nvSpPr>
          <p:cNvPr id="1250" name="Google Shape;1250;p57"/>
          <p:cNvSpPr txBox="1">
            <a:spLocks noGrp="1"/>
          </p:cNvSpPr>
          <p:nvPr>
            <p:ph type="body" idx="1"/>
          </p:nvPr>
        </p:nvSpPr>
        <p:spPr>
          <a:xfrm>
            <a:off x="916650" y="833325"/>
            <a:ext cx="10651800" cy="67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70AD47"/>
                </a:solidFill>
                <a:latin typeface="+mn-lt"/>
              </a:rPr>
              <a:t>Ejemplo - Enunciado del ejemplo original – Pregunta 3</a:t>
            </a:r>
            <a:endParaRPr sz="2400" dirty="0">
              <a:solidFill>
                <a:srgbClr val="70AD47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251" name="Google Shape;1251;p57"/>
          <p:cNvSpPr/>
          <p:nvPr/>
        </p:nvSpPr>
        <p:spPr>
          <a:xfrm>
            <a:off x="5581824" y="1676400"/>
            <a:ext cx="5832551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/>
              <a:t>Datos</a:t>
            </a:r>
            <a:r>
              <a:rPr lang="es-ES" sz="1800" dirty="0"/>
              <a:t>:</a:t>
            </a:r>
            <a:endParaRPr sz="1800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size(PM) = 128 B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size(page) = 16 B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Número de frames = 8 (Obtenido previamente)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2" name="Google Shape;1252;p57"/>
          <p:cNvSpPr/>
          <p:nvPr/>
        </p:nvSpPr>
        <p:spPr>
          <a:xfrm>
            <a:off x="5581824" y="3041175"/>
            <a:ext cx="6077676" cy="15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FF0000"/>
                </a:solidFill>
              </a:rPr>
              <a:t>Pregunta</a:t>
            </a:r>
            <a:r>
              <a:rPr lang="es-ES" sz="1800" dirty="0">
                <a:solidFill>
                  <a:srgbClr val="FF0000"/>
                </a:solidFill>
              </a:rPr>
              <a:t>:</a:t>
            </a:r>
            <a:r>
              <a:rPr lang="es-ES" sz="1800" dirty="0"/>
              <a:t> </a:t>
            </a:r>
            <a:endParaRPr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 startAt="3"/>
            </a:pPr>
            <a:r>
              <a:rPr lang="es-ES" sz="18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¿Cuántos bits se necesitan para el offset?</a:t>
            </a:r>
            <a:endParaRPr sz="18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 = 7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n(PFN) = 3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n(offset) = ?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E226310C-4F00-4F4B-99F2-CD1EE1A7992B}"/>
              </a:ext>
            </a:extLst>
          </p:cNvPr>
          <p:cNvGrpSpPr/>
          <p:nvPr/>
        </p:nvGrpSpPr>
        <p:grpSpPr>
          <a:xfrm>
            <a:off x="623550" y="1508325"/>
            <a:ext cx="4808088" cy="5043800"/>
            <a:chOff x="916638" y="1508325"/>
            <a:chExt cx="4808088" cy="5043800"/>
          </a:xfrm>
        </p:grpSpPr>
        <p:graphicFrame>
          <p:nvGraphicFramePr>
            <p:cNvPr id="1253" name="Google Shape;1253;p57"/>
            <p:cNvGraphicFramePr/>
            <p:nvPr>
              <p:extLst>
                <p:ext uri="{D42A27DB-BD31-4B8C-83A1-F6EECF244321}">
                  <p14:modId xmlns:p14="http://schemas.microsoft.com/office/powerpoint/2010/main" val="107145574"/>
                </p:ext>
              </p:extLst>
            </p:nvPr>
          </p:nvGraphicFramePr>
          <p:xfrm>
            <a:off x="2323525" y="1947863"/>
            <a:ext cx="2437600" cy="4372200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24376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5306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Operating system</a:t>
                        </a: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5306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7"/>
                    </a:ext>
                  </a:extLst>
                </a:tr>
              </a:tbl>
            </a:graphicData>
          </a:graphic>
        </p:graphicFrame>
        <p:grpSp>
          <p:nvGrpSpPr>
            <p:cNvPr id="1254" name="Google Shape;1254;p57"/>
            <p:cNvGrpSpPr/>
            <p:nvPr/>
          </p:nvGrpSpPr>
          <p:grpSpPr>
            <a:xfrm>
              <a:off x="4761113" y="1999988"/>
              <a:ext cx="963613" cy="4267938"/>
              <a:chOff x="6755513" y="2261913"/>
              <a:chExt cx="963613" cy="4267938"/>
            </a:xfrm>
          </p:grpSpPr>
          <p:sp>
            <p:nvSpPr>
              <p:cNvPr id="1255" name="Google Shape;1255;p57"/>
              <p:cNvSpPr txBox="1"/>
              <p:nvPr/>
            </p:nvSpPr>
            <p:spPr>
              <a:xfrm>
                <a:off x="6755525" y="2261913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F[0]</a:t>
                </a:r>
                <a:endParaRPr/>
              </a:p>
            </p:txBody>
          </p:sp>
          <p:sp>
            <p:nvSpPr>
              <p:cNvPr id="1256" name="Google Shape;1256;p57"/>
              <p:cNvSpPr txBox="1"/>
              <p:nvPr/>
            </p:nvSpPr>
            <p:spPr>
              <a:xfrm>
                <a:off x="6755525" y="282420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F[1]</a:t>
                </a:r>
                <a:endParaRPr/>
              </a:p>
            </p:txBody>
          </p:sp>
          <p:sp>
            <p:nvSpPr>
              <p:cNvPr id="1257" name="Google Shape;1257;p57"/>
              <p:cNvSpPr txBox="1"/>
              <p:nvPr/>
            </p:nvSpPr>
            <p:spPr>
              <a:xfrm>
                <a:off x="6755525" y="3350063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F[2]</a:t>
                </a:r>
                <a:endParaRPr/>
              </a:p>
            </p:txBody>
          </p:sp>
          <p:sp>
            <p:nvSpPr>
              <p:cNvPr id="1258" name="Google Shape;1258;p57"/>
              <p:cNvSpPr txBox="1"/>
              <p:nvPr/>
            </p:nvSpPr>
            <p:spPr>
              <a:xfrm>
                <a:off x="6755513" y="387595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F[3]</a:t>
                </a:r>
                <a:endParaRPr/>
              </a:p>
            </p:txBody>
          </p:sp>
          <p:sp>
            <p:nvSpPr>
              <p:cNvPr id="1259" name="Google Shape;1259;p57"/>
              <p:cNvSpPr txBox="1"/>
              <p:nvPr/>
            </p:nvSpPr>
            <p:spPr>
              <a:xfrm>
                <a:off x="6755513" y="4401838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F[4]</a:t>
                </a:r>
                <a:endParaRPr/>
              </a:p>
            </p:txBody>
          </p:sp>
          <p:sp>
            <p:nvSpPr>
              <p:cNvPr id="1260" name="Google Shape;1260;p57"/>
              <p:cNvSpPr txBox="1"/>
              <p:nvPr/>
            </p:nvSpPr>
            <p:spPr>
              <a:xfrm>
                <a:off x="6755513" y="4963488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F[5]</a:t>
                </a:r>
                <a:endParaRPr/>
              </a:p>
            </p:txBody>
          </p:sp>
          <p:sp>
            <p:nvSpPr>
              <p:cNvPr id="1261" name="Google Shape;1261;p57"/>
              <p:cNvSpPr txBox="1"/>
              <p:nvPr/>
            </p:nvSpPr>
            <p:spPr>
              <a:xfrm>
                <a:off x="6755525" y="5525138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F[6]</a:t>
                </a:r>
                <a:endParaRPr/>
              </a:p>
            </p:txBody>
          </p:sp>
          <p:sp>
            <p:nvSpPr>
              <p:cNvPr id="1262" name="Google Shape;1262;p57"/>
              <p:cNvSpPr txBox="1"/>
              <p:nvPr/>
            </p:nvSpPr>
            <p:spPr>
              <a:xfrm>
                <a:off x="6755525" y="609875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F[7]</a:t>
                </a:r>
                <a:endParaRPr/>
              </a:p>
            </p:txBody>
          </p:sp>
        </p:grpSp>
        <p:sp>
          <p:nvSpPr>
            <p:cNvPr id="1263" name="Google Shape;1263;p57"/>
            <p:cNvSpPr txBox="1"/>
            <p:nvPr/>
          </p:nvSpPr>
          <p:spPr>
            <a:xfrm>
              <a:off x="2323575" y="1508325"/>
              <a:ext cx="2437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Physical Address</a:t>
              </a:r>
              <a:endParaRPr b="1" dirty="0"/>
            </a:p>
          </p:txBody>
        </p:sp>
        <p:grpSp>
          <p:nvGrpSpPr>
            <p:cNvPr id="1264" name="Google Shape;1264;p57"/>
            <p:cNvGrpSpPr/>
            <p:nvPr/>
          </p:nvGrpSpPr>
          <p:grpSpPr>
            <a:xfrm>
              <a:off x="1489225" y="1675475"/>
              <a:ext cx="834300" cy="4876650"/>
              <a:chOff x="6884825" y="1886475"/>
              <a:chExt cx="834300" cy="4876650"/>
            </a:xfrm>
          </p:grpSpPr>
          <p:sp>
            <p:nvSpPr>
              <p:cNvPr id="1265" name="Google Shape;1265;p57"/>
              <p:cNvSpPr txBox="1"/>
              <p:nvPr/>
            </p:nvSpPr>
            <p:spPr>
              <a:xfrm>
                <a:off x="6884825" y="188647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</a:t>
                </a:r>
                <a:endParaRPr/>
              </a:p>
            </p:txBody>
          </p:sp>
          <p:sp>
            <p:nvSpPr>
              <p:cNvPr id="1266" name="Google Shape;1266;p57"/>
              <p:cNvSpPr txBox="1"/>
              <p:nvPr/>
            </p:nvSpPr>
            <p:spPr>
              <a:xfrm>
                <a:off x="6884825" y="2458750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16</a:t>
                </a:r>
                <a:endParaRPr/>
              </a:p>
            </p:txBody>
          </p:sp>
          <p:sp>
            <p:nvSpPr>
              <p:cNvPr id="1267" name="Google Shape;1267;p57"/>
              <p:cNvSpPr txBox="1"/>
              <p:nvPr/>
            </p:nvSpPr>
            <p:spPr>
              <a:xfrm>
                <a:off x="6884825" y="2972700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32</a:t>
                </a:r>
                <a:endParaRPr/>
              </a:p>
            </p:txBody>
          </p:sp>
          <p:sp>
            <p:nvSpPr>
              <p:cNvPr id="1268" name="Google Shape;1268;p57"/>
              <p:cNvSpPr txBox="1"/>
              <p:nvPr/>
            </p:nvSpPr>
            <p:spPr>
              <a:xfrm>
                <a:off x="6884825" y="35333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48</a:t>
                </a:r>
                <a:endParaRPr/>
              </a:p>
            </p:txBody>
          </p:sp>
          <p:sp>
            <p:nvSpPr>
              <p:cNvPr id="1269" name="Google Shape;1269;p57"/>
              <p:cNvSpPr txBox="1"/>
              <p:nvPr/>
            </p:nvSpPr>
            <p:spPr>
              <a:xfrm>
                <a:off x="6884825" y="40589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64</a:t>
                </a:r>
                <a:endParaRPr/>
              </a:p>
            </p:txBody>
          </p:sp>
          <p:sp>
            <p:nvSpPr>
              <p:cNvPr id="1270" name="Google Shape;1270;p57"/>
              <p:cNvSpPr txBox="1"/>
              <p:nvPr/>
            </p:nvSpPr>
            <p:spPr>
              <a:xfrm>
                <a:off x="6884825" y="45845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80</a:t>
                </a:r>
                <a:endParaRPr/>
              </a:p>
            </p:txBody>
          </p:sp>
          <p:sp>
            <p:nvSpPr>
              <p:cNvPr id="1271" name="Google Shape;1271;p57"/>
              <p:cNvSpPr txBox="1"/>
              <p:nvPr/>
            </p:nvSpPr>
            <p:spPr>
              <a:xfrm>
                <a:off x="6884825" y="518017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96</a:t>
                </a:r>
                <a:endParaRPr/>
              </a:p>
            </p:txBody>
          </p:sp>
          <p:sp>
            <p:nvSpPr>
              <p:cNvPr id="1272" name="Google Shape;1272;p57"/>
              <p:cNvSpPr txBox="1"/>
              <p:nvPr/>
            </p:nvSpPr>
            <p:spPr>
              <a:xfrm>
                <a:off x="6884825" y="57758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112</a:t>
                </a:r>
                <a:endParaRPr/>
              </a:p>
            </p:txBody>
          </p:sp>
          <p:sp>
            <p:nvSpPr>
              <p:cNvPr id="1273" name="Google Shape;1273;p57"/>
              <p:cNvSpPr txBox="1"/>
              <p:nvPr/>
            </p:nvSpPr>
            <p:spPr>
              <a:xfrm>
                <a:off x="6884825" y="63014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128</a:t>
                </a:r>
                <a:endParaRPr/>
              </a:p>
            </p:txBody>
          </p:sp>
        </p:grpSp>
        <p:grpSp>
          <p:nvGrpSpPr>
            <p:cNvPr id="1274" name="Google Shape;1274;p57"/>
            <p:cNvGrpSpPr/>
            <p:nvPr/>
          </p:nvGrpSpPr>
          <p:grpSpPr>
            <a:xfrm>
              <a:off x="916638" y="3560950"/>
              <a:ext cx="956750" cy="531900"/>
              <a:chOff x="6468825" y="3673050"/>
              <a:chExt cx="956750" cy="531900"/>
            </a:xfrm>
          </p:grpSpPr>
          <p:sp>
            <p:nvSpPr>
              <p:cNvPr id="1275" name="Google Shape;1275;p57"/>
              <p:cNvSpPr/>
              <p:nvPr/>
            </p:nvSpPr>
            <p:spPr>
              <a:xfrm>
                <a:off x="7250675" y="3673050"/>
                <a:ext cx="174900" cy="531900"/>
              </a:xfrm>
              <a:prstGeom prst="leftBrace">
                <a:avLst>
                  <a:gd name="adj1" fmla="val 50000"/>
                  <a:gd name="adj2" fmla="val 54312"/>
                </a:avLst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57"/>
              <p:cNvSpPr txBox="1"/>
              <p:nvPr/>
            </p:nvSpPr>
            <p:spPr>
              <a:xfrm>
                <a:off x="6468825" y="3708138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16</a:t>
                </a:r>
                <a:endParaRPr>
                  <a:solidFill>
                    <a:schemeClr val="accent2"/>
                  </a:solidFill>
                </a:endParaRPr>
              </a:p>
            </p:txBody>
          </p:sp>
        </p:grpSp>
      </p:grpSp>
      <p:sp>
        <p:nvSpPr>
          <p:cNvPr id="1277" name="Google Shape;1277;p57"/>
          <p:cNvSpPr txBox="1"/>
          <p:nvPr/>
        </p:nvSpPr>
        <p:spPr>
          <a:xfrm>
            <a:off x="6905625" y="4755750"/>
            <a:ext cx="30000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 = n(PFN) + </a:t>
            </a:r>
            <a:r>
              <a:rPr lang="es-ES" sz="16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n(offset)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n(offset)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n - n(PFN)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n(offset)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7 - 3 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n(offset) = 4</a:t>
            </a:r>
            <a:endParaRPr sz="1600" b="1" dirty="0">
              <a:solidFill>
                <a:srgbClr val="FF0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58"/>
          <p:cNvSpPr txBox="1">
            <a:spLocks noGrp="1"/>
          </p:cNvSpPr>
          <p:nvPr>
            <p:ph type="title"/>
          </p:nvPr>
        </p:nvSpPr>
        <p:spPr>
          <a:xfrm>
            <a:off x="916649" y="96038"/>
            <a:ext cx="10975925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Traducción de direcciones – Direcciones físicas</a:t>
            </a:r>
            <a:endParaRPr dirty="0">
              <a:latin typeface="+mj-lt"/>
            </a:endParaRPr>
          </a:p>
        </p:txBody>
      </p:sp>
      <p:sp>
        <p:nvSpPr>
          <p:cNvPr id="1283" name="Google Shape;1283;p58"/>
          <p:cNvSpPr txBox="1">
            <a:spLocks noGrp="1"/>
          </p:cNvSpPr>
          <p:nvPr>
            <p:ph type="body" idx="1"/>
          </p:nvPr>
        </p:nvSpPr>
        <p:spPr>
          <a:xfrm>
            <a:off x="592525" y="833325"/>
            <a:ext cx="10975925" cy="67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70AD47"/>
                </a:solidFill>
                <a:latin typeface="+mn-lt"/>
              </a:rPr>
              <a:t>Ejemplo - Enunciado del ejemplo original – </a:t>
            </a:r>
            <a:r>
              <a:rPr lang="es-MX" sz="2400" b="1" dirty="0">
                <a:solidFill>
                  <a:srgbClr val="70AD47"/>
                </a:solidFill>
                <a:latin typeface="+mn-lt"/>
              </a:rPr>
              <a:t>Pregunta 4</a:t>
            </a:r>
            <a:endParaRPr sz="2400" dirty="0">
              <a:solidFill>
                <a:srgbClr val="70AD47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284" name="Google Shape;1284;p58"/>
          <p:cNvSpPr/>
          <p:nvPr/>
        </p:nvSpPr>
        <p:spPr>
          <a:xfrm>
            <a:off x="5310875" y="1480400"/>
            <a:ext cx="3268200" cy="11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Resumen de los resultados</a:t>
            </a:r>
            <a:r>
              <a:rPr lang="es-ES" sz="1800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1800" dirty="0">
                <a:ea typeface="Roboto"/>
                <a:cs typeface="Roboto"/>
                <a:sym typeface="Roboto"/>
              </a:rPr>
              <a:t> </a:t>
            </a:r>
            <a:endParaRPr sz="1800" dirty="0">
              <a:ea typeface="Roboto"/>
              <a:cs typeface="Roboto"/>
              <a:sym typeface="Robo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rabicPeriod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n(PA) = 7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rabicPeriod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n(PFN) = 3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AutoNum type="arabicPeriod"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n(offset) = 4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285" name="Google Shape;1285;p58"/>
          <p:cNvGraphicFramePr/>
          <p:nvPr>
            <p:extLst>
              <p:ext uri="{D42A27DB-BD31-4B8C-83A1-F6EECF244321}">
                <p14:modId xmlns:p14="http://schemas.microsoft.com/office/powerpoint/2010/main" val="4088270495"/>
              </p:ext>
            </p:extLst>
          </p:nvPr>
        </p:nvGraphicFramePr>
        <p:xfrm>
          <a:off x="7017605" y="4960788"/>
          <a:ext cx="3596250" cy="823725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51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3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3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3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3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86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Pa6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Pa5</a:t>
                      </a:r>
                      <a:endParaRPr sz="14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Pa4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Pa3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Pa2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Pa1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Pa0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86" name="Google Shape;1286;p58"/>
          <p:cNvSpPr txBox="1"/>
          <p:nvPr/>
        </p:nvSpPr>
        <p:spPr>
          <a:xfrm>
            <a:off x="6301980" y="5296038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</a:t>
            </a:r>
            <a:endParaRPr sz="1800" b="1"/>
          </a:p>
        </p:txBody>
      </p:sp>
      <p:sp>
        <p:nvSpPr>
          <p:cNvPr id="1287" name="Google Shape;1287;p58"/>
          <p:cNvSpPr/>
          <p:nvPr/>
        </p:nvSpPr>
        <p:spPr>
          <a:xfrm rot="5400000">
            <a:off x="9459092" y="5015038"/>
            <a:ext cx="281100" cy="20118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8" name="Google Shape;1288;p58"/>
          <p:cNvSpPr txBox="1"/>
          <p:nvPr/>
        </p:nvSpPr>
        <p:spPr>
          <a:xfrm>
            <a:off x="8951930" y="6165663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 sz="1800"/>
          </a:p>
        </p:txBody>
      </p:sp>
      <p:sp>
        <p:nvSpPr>
          <p:cNvPr id="1289" name="Google Shape;1289;p58"/>
          <p:cNvSpPr/>
          <p:nvPr/>
        </p:nvSpPr>
        <p:spPr>
          <a:xfrm rot="5400000">
            <a:off x="7647724" y="5250388"/>
            <a:ext cx="281100" cy="15411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0" name="Google Shape;1290;p58"/>
          <p:cNvSpPr txBox="1"/>
          <p:nvPr/>
        </p:nvSpPr>
        <p:spPr>
          <a:xfrm>
            <a:off x="7109655" y="6165663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PFN</a:t>
            </a:r>
            <a:endParaRPr sz="1800"/>
          </a:p>
        </p:txBody>
      </p:sp>
      <p:sp>
        <p:nvSpPr>
          <p:cNvPr id="1291" name="Google Shape;1291;p58"/>
          <p:cNvSpPr txBox="1"/>
          <p:nvPr/>
        </p:nvSpPr>
        <p:spPr>
          <a:xfrm>
            <a:off x="5225074" y="4183301"/>
            <a:ext cx="6667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Conclusión</a:t>
            </a:r>
            <a:r>
              <a:rPr lang="es-ES" sz="1800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: </a:t>
            </a:r>
            <a:r>
              <a:rPr lang="es-ES" sz="18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Teniendo en cuenta los resultados anteriormente obtenidos, la dirección virtual tendrá la siguiente forma:</a:t>
            </a:r>
            <a:endParaRPr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aphicFrame>
        <p:nvGraphicFramePr>
          <p:cNvPr id="1292" name="Google Shape;1292;p58"/>
          <p:cNvGraphicFramePr/>
          <p:nvPr>
            <p:extLst>
              <p:ext uri="{D42A27DB-BD31-4B8C-83A1-F6EECF244321}">
                <p14:modId xmlns:p14="http://schemas.microsoft.com/office/powerpoint/2010/main" val="1490978219"/>
              </p:ext>
            </p:extLst>
          </p:nvPr>
        </p:nvGraphicFramePr>
        <p:xfrm>
          <a:off x="5310875" y="2945994"/>
          <a:ext cx="6677926" cy="85338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11778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6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86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5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2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Page size</a:t>
                      </a:r>
                      <a:endParaRPr sz="1600" b="1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Phys Addr. bits (PA)</a:t>
                      </a:r>
                      <a:endParaRPr sz="1600" b="1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High bits (PFN)</a:t>
                      </a:r>
                      <a:endParaRPr sz="1600" b="1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Low bits (offset)</a:t>
                      </a:r>
                      <a:endParaRPr sz="1600" b="1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+mn-lt"/>
                        </a:rPr>
                        <a:t>16 bytes</a:t>
                      </a:r>
                      <a:endParaRPr sz="1600">
                        <a:latin typeface="+mn-l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+mn-lt"/>
                        </a:rPr>
                        <a:t>7</a:t>
                      </a:r>
                      <a:endParaRPr sz="1600" dirty="0">
                        <a:latin typeface="+mn-l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+mn-lt"/>
                        </a:rPr>
                        <a:t>3</a:t>
                      </a:r>
                      <a:endParaRPr sz="1600">
                        <a:latin typeface="+mn-l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+mn-lt"/>
                        </a:rPr>
                        <a:t>4</a:t>
                      </a:r>
                      <a:endParaRPr sz="1600" dirty="0">
                        <a:latin typeface="+mn-l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F694FABB-D61B-4171-A62F-6FF5ECE1EFDC}"/>
              </a:ext>
            </a:extLst>
          </p:cNvPr>
          <p:cNvGrpSpPr/>
          <p:nvPr/>
        </p:nvGrpSpPr>
        <p:grpSpPr>
          <a:xfrm>
            <a:off x="310407" y="1508325"/>
            <a:ext cx="4808088" cy="5043800"/>
            <a:chOff x="368463" y="1508325"/>
            <a:chExt cx="4808088" cy="5043800"/>
          </a:xfrm>
        </p:grpSpPr>
        <p:graphicFrame>
          <p:nvGraphicFramePr>
            <p:cNvPr id="1293" name="Google Shape;1293;p58"/>
            <p:cNvGraphicFramePr/>
            <p:nvPr>
              <p:extLst>
                <p:ext uri="{D42A27DB-BD31-4B8C-83A1-F6EECF244321}">
                  <p14:modId xmlns:p14="http://schemas.microsoft.com/office/powerpoint/2010/main" val="2539547302"/>
                </p:ext>
              </p:extLst>
            </p:nvPr>
          </p:nvGraphicFramePr>
          <p:xfrm>
            <a:off x="1775350" y="1947863"/>
            <a:ext cx="2437600" cy="4372200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24376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5306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Operating system</a:t>
                        </a: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5306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  <a:tr h="55182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7"/>
                    </a:ext>
                  </a:extLst>
                </a:tr>
              </a:tbl>
            </a:graphicData>
          </a:graphic>
        </p:graphicFrame>
        <p:grpSp>
          <p:nvGrpSpPr>
            <p:cNvPr id="1294" name="Google Shape;1294;p58"/>
            <p:cNvGrpSpPr/>
            <p:nvPr/>
          </p:nvGrpSpPr>
          <p:grpSpPr>
            <a:xfrm>
              <a:off x="4212938" y="1999988"/>
              <a:ext cx="963613" cy="4267938"/>
              <a:chOff x="6755513" y="2261913"/>
              <a:chExt cx="963613" cy="4267938"/>
            </a:xfrm>
          </p:grpSpPr>
          <p:sp>
            <p:nvSpPr>
              <p:cNvPr id="1295" name="Google Shape;1295;p58"/>
              <p:cNvSpPr txBox="1"/>
              <p:nvPr/>
            </p:nvSpPr>
            <p:spPr>
              <a:xfrm>
                <a:off x="6755525" y="2261913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F[0]</a:t>
                </a:r>
                <a:endParaRPr/>
              </a:p>
            </p:txBody>
          </p:sp>
          <p:sp>
            <p:nvSpPr>
              <p:cNvPr id="1296" name="Google Shape;1296;p58"/>
              <p:cNvSpPr txBox="1"/>
              <p:nvPr/>
            </p:nvSpPr>
            <p:spPr>
              <a:xfrm>
                <a:off x="6755525" y="282420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F[1]</a:t>
                </a:r>
                <a:endParaRPr/>
              </a:p>
            </p:txBody>
          </p:sp>
          <p:sp>
            <p:nvSpPr>
              <p:cNvPr id="1297" name="Google Shape;1297;p58"/>
              <p:cNvSpPr txBox="1"/>
              <p:nvPr/>
            </p:nvSpPr>
            <p:spPr>
              <a:xfrm>
                <a:off x="6755525" y="3350063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F[2]</a:t>
                </a:r>
                <a:endParaRPr/>
              </a:p>
            </p:txBody>
          </p:sp>
          <p:sp>
            <p:nvSpPr>
              <p:cNvPr id="1298" name="Google Shape;1298;p58"/>
              <p:cNvSpPr txBox="1"/>
              <p:nvPr/>
            </p:nvSpPr>
            <p:spPr>
              <a:xfrm>
                <a:off x="6755513" y="387595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F[3]</a:t>
                </a:r>
                <a:endParaRPr/>
              </a:p>
            </p:txBody>
          </p:sp>
          <p:sp>
            <p:nvSpPr>
              <p:cNvPr id="1299" name="Google Shape;1299;p58"/>
              <p:cNvSpPr txBox="1"/>
              <p:nvPr/>
            </p:nvSpPr>
            <p:spPr>
              <a:xfrm>
                <a:off x="6755513" y="4401838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F[4]</a:t>
                </a:r>
                <a:endParaRPr/>
              </a:p>
            </p:txBody>
          </p:sp>
          <p:sp>
            <p:nvSpPr>
              <p:cNvPr id="1300" name="Google Shape;1300;p58"/>
              <p:cNvSpPr txBox="1"/>
              <p:nvPr/>
            </p:nvSpPr>
            <p:spPr>
              <a:xfrm>
                <a:off x="6755513" y="4963488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F[5]</a:t>
                </a:r>
                <a:endParaRPr/>
              </a:p>
            </p:txBody>
          </p:sp>
          <p:sp>
            <p:nvSpPr>
              <p:cNvPr id="1301" name="Google Shape;1301;p58"/>
              <p:cNvSpPr txBox="1"/>
              <p:nvPr/>
            </p:nvSpPr>
            <p:spPr>
              <a:xfrm>
                <a:off x="6755525" y="5525138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F[6]</a:t>
                </a:r>
                <a:endParaRPr/>
              </a:p>
            </p:txBody>
          </p:sp>
          <p:sp>
            <p:nvSpPr>
              <p:cNvPr id="1302" name="Google Shape;1302;p58"/>
              <p:cNvSpPr txBox="1"/>
              <p:nvPr/>
            </p:nvSpPr>
            <p:spPr>
              <a:xfrm>
                <a:off x="6755525" y="6098750"/>
                <a:ext cx="9636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F[7]</a:t>
                </a:r>
                <a:endParaRPr/>
              </a:p>
            </p:txBody>
          </p:sp>
        </p:grpSp>
        <p:sp>
          <p:nvSpPr>
            <p:cNvPr id="1303" name="Google Shape;1303;p58"/>
            <p:cNvSpPr txBox="1"/>
            <p:nvPr/>
          </p:nvSpPr>
          <p:spPr>
            <a:xfrm>
              <a:off x="1775400" y="1508325"/>
              <a:ext cx="2437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Physical Address</a:t>
              </a:r>
              <a:endParaRPr b="1" dirty="0"/>
            </a:p>
          </p:txBody>
        </p:sp>
        <p:grpSp>
          <p:nvGrpSpPr>
            <p:cNvPr id="1304" name="Google Shape;1304;p58"/>
            <p:cNvGrpSpPr/>
            <p:nvPr/>
          </p:nvGrpSpPr>
          <p:grpSpPr>
            <a:xfrm>
              <a:off x="941050" y="1675475"/>
              <a:ext cx="834300" cy="4876650"/>
              <a:chOff x="6884825" y="1886475"/>
              <a:chExt cx="834300" cy="4876650"/>
            </a:xfrm>
          </p:grpSpPr>
          <p:sp>
            <p:nvSpPr>
              <p:cNvPr id="1305" name="Google Shape;1305;p58"/>
              <p:cNvSpPr txBox="1"/>
              <p:nvPr/>
            </p:nvSpPr>
            <p:spPr>
              <a:xfrm>
                <a:off x="6884825" y="188647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</a:t>
                </a:r>
                <a:endParaRPr/>
              </a:p>
            </p:txBody>
          </p:sp>
          <p:sp>
            <p:nvSpPr>
              <p:cNvPr id="1306" name="Google Shape;1306;p58"/>
              <p:cNvSpPr txBox="1"/>
              <p:nvPr/>
            </p:nvSpPr>
            <p:spPr>
              <a:xfrm>
                <a:off x="6884825" y="2458750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16</a:t>
                </a:r>
                <a:endParaRPr/>
              </a:p>
            </p:txBody>
          </p:sp>
          <p:sp>
            <p:nvSpPr>
              <p:cNvPr id="1307" name="Google Shape;1307;p58"/>
              <p:cNvSpPr txBox="1"/>
              <p:nvPr/>
            </p:nvSpPr>
            <p:spPr>
              <a:xfrm>
                <a:off x="6884825" y="2972700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32</a:t>
                </a:r>
                <a:endParaRPr/>
              </a:p>
            </p:txBody>
          </p:sp>
          <p:sp>
            <p:nvSpPr>
              <p:cNvPr id="1308" name="Google Shape;1308;p58"/>
              <p:cNvSpPr txBox="1"/>
              <p:nvPr/>
            </p:nvSpPr>
            <p:spPr>
              <a:xfrm>
                <a:off x="6884825" y="35333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48</a:t>
                </a:r>
                <a:endParaRPr/>
              </a:p>
            </p:txBody>
          </p:sp>
          <p:sp>
            <p:nvSpPr>
              <p:cNvPr id="1309" name="Google Shape;1309;p58"/>
              <p:cNvSpPr txBox="1"/>
              <p:nvPr/>
            </p:nvSpPr>
            <p:spPr>
              <a:xfrm>
                <a:off x="6884825" y="40589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64</a:t>
                </a:r>
                <a:endParaRPr/>
              </a:p>
            </p:txBody>
          </p:sp>
          <p:sp>
            <p:nvSpPr>
              <p:cNvPr id="1310" name="Google Shape;1310;p58"/>
              <p:cNvSpPr txBox="1"/>
              <p:nvPr/>
            </p:nvSpPr>
            <p:spPr>
              <a:xfrm>
                <a:off x="6884825" y="45845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80</a:t>
                </a:r>
                <a:endParaRPr/>
              </a:p>
            </p:txBody>
          </p:sp>
          <p:sp>
            <p:nvSpPr>
              <p:cNvPr id="1311" name="Google Shape;1311;p58"/>
              <p:cNvSpPr txBox="1"/>
              <p:nvPr/>
            </p:nvSpPr>
            <p:spPr>
              <a:xfrm>
                <a:off x="6884825" y="518017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96</a:t>
                </a:r>
                <a:endParaRPr/>
              </a:p>
            </p:txBody>
          </p:sp>
          <p:sp>
            <p:nvSpPr>
              <p:cNvPr id="1312" name="Google Shape;1312;p58"/>
              <p:cNvSpPr txBox="1"/>
              <p:nvPr/>
            </p:nvSpPr>
            <p:spPr>
              <a:xfrm>
                <a:off x="6884825" y="57758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112</a:t>
                </a:r>
                <a:endParaRPr/>
              </a:p>
            </p:txBody>
          </p:sp>
          <p:sp>
            <p:nvSpPr>
              <p:cNvPr id="1313" name="Google Shape;1313;p58"/>
              <p:cNvSpPr txBox="1"/>
              <p:nvPr/>
            </p:nvSpPr>
            <p:spPr>
              <a:xfrm>
                <a:off x="6884825" y="6301425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128</a:t>
                </a:r>
                <a:endParaRPr/>
              </a:p>
            </p:txBody>
          </p:sp>
        </p:grpSp>
        <p:grpSp>
          <p:nvGrpSpPr>
            <p:cNvPr id="1314" name="Google Shape;1314;p58"/>
            <p:cNvGrpSpPr/>
            <p:nvPr/>
          </p:nvGrpSpPr>
          <p:grpSpPr>
            <a:xfrm>
              <a:off x="368463" y="3560950"/>
              <a:ext cx="956750" cy="531900"/>
              <a:chOff x="6468825" y="3673050"/>
              <a:chExt cx="956750" cy="531900"/>
            </a:xfrm>
          </p:grpSpPr>
          <p:sp>
            <p:nvSpPr>
              <p:cNvPr id="1315" name="Google Shape;1315;p58"/>
              <p:cNvSpPr/>
              <p:nvPr/>
            </p:nvSpPr>
            <p:spPr>
              <a:xfrm>
                <a:off x="7250675" y="3673050"/>
                <a:ext cx="174900" cy="531900"/>
              </a:xfrm>
              <a:prstGeom prst="leftBrace">
                <a:avLst>
                  <a:gd name="adj1" fmla="val 50000"/>
                  <a:gd name="adj2" fmla="val 54312"/>
                </a:avLst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58"/>
              <p:cNvSpPr txBox="1"/>
              <p:nvPr/>
            </p:nvSpPr>
            <p:spPr>
              <a:xfrm>
                <a:off x="6468825" y="3708138"/>
                <a:ext cx="8343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16</a:t>
                </a:r>
                <a:endParaRPr>
                  <a:solidFill>
                    <a:schemeClr val="accent2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p59"/>
          <p:cNvSpPr txBox="1">
            <a:spLocks noGrp="1"/>
          </p:cNvSpPr>
          <p:nvPr>
            <p:ph type="title"/>
          </p:nvPr>
        </p:nvSpPr>
        <p:spPr>
          <a:xfrm>
            <a:off x="916649" y="96038"/>
            <a:ext cx="10901975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Traducción de direcciones – Tabla de pagina </a:t>
            </a:r>
            <a:endParaRPr sz="3200" b="1" dirty="0">
              <a:solidFill>
                <a:srgbClr val="701E5C"/>
              </a:solidFill>
              <a:latin typeface="+mj-lt"/>
              <a:ea typeface="Roboto Slab"/>
              <a:cs typeface="Roboto Slab"/>
              <a:sym typeface="Roboto Slab"/>
            </a:endParaRPr>
          </a:p>
        </p:txBody>
      </p:sp>
      <p:sp>
        <p:nvSpPr>
          <p:cNvPr id="1322" name="Google Shape;1322;p59"/>
          <p:cNvSpPr txBox="1">
            <a:spLocks noGrp="1"/>
          </p:cNvSpPr>
          <p:nvPr>
            <p:ph type="body" idx="1"/>
          </p:nvPr>
        </p:nvSpPr>
        <p:spPr>
          <a:xfrm>
            <a:off x="828103" y="861975"/>
            <a:ext cx="9883439" cy="1049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</a:rPr>
              <a:t>Tabla de página (Page Table)</a:t>
            </a:r>
            <a:endParaRPr sz="2400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</a:rPr>
              <a:t>Array que traduce direcciones virtuales a físicas.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b="1" dirty="0">
              <a:latin typeface="+mn-lt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1323" name="Google Shape;1323;p59"/>
          <p:cNvGraphicFramePr/>
          <p:nvPr>
            <p:extLst>
              <p:ext uri="{D42A27DB-BD31-4B8C-83A1-F6EECF244321}">
                <p14:modId xmlns:p14="http://schemas.microsoft.com/office/powerpoint/2010/main" val="3576977932"/>
              </p:ext>
            </p:extLst>
          </p:nvPr>
        </p:nvGraphicFramePr>
        <p:xfrm>
          <a:off x="7520293" y="5097088"/>
          <a:ext cx="3778900" cy="48765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67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4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2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offset</a:t>
                      </a:r>
                      <a:endParaRPr sz="2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24" name="Google Shape;1324;p59"/>
          <p:cNvSpPr/>
          <p:nvPr/>
        </p:nvSpPr>
        <p:spPr>
          <a:xfrm>
            <a:off x="11325618" y="5142613"/>
            <a:ext cx="6414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PA</a:t>
            </a:r>
            <a:endParaRPr sz="2200" b="1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325" name="Google Shape;1325;p59"/>
          <p:cNvGraphicFramePr/>
          <p:nvPr>
            <p:extLst>
              <p:ext uri="{D42A27DB-BD31-4B8C-83A1-F6EECF244321}">
                <p14:modId xmlns:p14="http://schemas.microsoft.com/office/powerpoint/2010/main" val="4189353523"/>
              </p:ext>
            </p:extLst>
          </p:nvPr>
        </p:nvGraphicFramePr>
        <p:xfrm>
          <a:off x="5781037" y="2540157"/>
          <a:ext cx="1272675" cy="146292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63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2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</a:t>
                      </a:r>
                      <a:endParaRPr sz="12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frame</a:t>
                      </a:r>
                      <a:endParaRPr sz="12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VPi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PFi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26" name="Google Shape;1326;p59"/>
          <p:cNvGraphicFramePr/>
          <p:nvPr>
            <p:extLst>
              <p:ext uri="{D42A27DB-BD31-4B8C-83A1-F6EECF244321}">
                <p14:modId xmlns:p14="http://schemas.microsoft.com/office/powerpoint/2010/main" val="3364532231"/>
              </p:ext>
            </p:extLst>
          </p:nvPr>
        </p:nvGraphicFramePr>
        <p:xfrm>
          <a:off x="8194818" y="2963488"/>
          <a:ext cx="3104375" cy="48765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199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4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2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offset</a:t>
                      </a:r>
                      <a:endParaRPr sz="2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27" name="Google Shape;1327;p59"/>
          <p:cNvSpPr/>
          <p:nvPr/>
        </p:nvSpPr>
        <p:spPr>
          <a:xfrm>
            <a:off x="8206493" y="3987326"/>
            <a:ext cx="1999800" cy="573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nsolas"/>
                <a:ea typeface="Consolas"/>
                <a:cs typeface="Consolas"/>
                <a:sym typeface="Consolas"/>
              </a:rPr>
              <a:t>Page Table</a:t>
            </a:r>
            <a:endParaRPr sz="2000" b="1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328" name="Google Shape;1328;p59"/>
          <p:cNvCxnSpPr>
            <a:endCxn id="1327" idx="0"/>
          </p:cNvCxnSpPr>
          <p:nvPr/>
        </p:nvCxnSpPr>
        <p:spPr>
          <a:xfrm flipH="1">
            <a:off x="9206393" y="3453926"/>
            <a:ext cx="4200" cy="533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29" name="Google Shape;1329;p59"/>
          <p:cNvCxnSpPr/>
          <p:nvPr/>
        </p:nvCxnSpPr>
        <p:spPr>
          <a:xfrm flipH="1">
            <a:off x="9204293" y="4560926"/>
            <a:ext cx="4200" cy="533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30" name="Google Shape;1330;p59"/>
          <p:cNvCxnSpPr/>
          <p:nvPr/>
        </p:nvCxnSpPr>
        <p:spPr>
          <a:xfrm>
            <a:off x="10796868" y="3453926"/>
            <a:ext cx="0" cy="1656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31" name="Google Shape;1331;p59"/>
          <p:cNvSpPr/>
          <p:nvPr/>
        </p:nvSpPr>
        <p:spPr>
          <a:xfrm>
            <a:off x="11325618" y="3009013"/>
            <a:ext cx="6414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2200" b="1" dirty="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332" name="Google Shape;1332;p59"/>
          <p:cNvGraphicFramePr/>
          <p:nvPr>
            <p:extLst>
              <p:ext uri="{D42A27DB-BD31-4B8C-83A1-F6EECF244321}">
                <p14:modId xmlns:p14="http://schemas.microsoft.com/office/powerpoint/2010/main" val="59277824"/>
              </p:ext>
            </p:extLst>
          </p:nvPr>
        </p:nvGraphicFramePr>
        <p:xfrm>
          <a:off x="1969787" y="2447738"/>
          <a:ext cx="2437600" cy="362688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43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3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33" name="Google Shape;1333;p59"/>
          <p:cNvSpPr txBox="1"/>
          <p:nvPr/>
        </p:nvSpPr>
        <p:spPr>
          <a:xfrm>
            <a:off x="2005037" y="1911675"/>
            <a:ext cx="2437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Page Table (PT)</a:t>
            </a:r>
            <a:endParaRPr b="1"/>
          </a:p>
        </p:txBody>
      </p:sp>
      <p:sp>
        <p:nvSpPr>
          <p:cNvPr id="1334" name="Google Shape;1334;p59"/>
          <p:cNvSpPr txBox="1"/>
          <p:nvPr/>
        </p:nvSpPr>
        <p:spPr>
          <a:xfrm>
            <a:off x="2867887" y="5647900"/>
            <a:ext cx="641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PFN</a:t>
            </a:r>
            <a:endParaRPr sz="1200" b="1">
              <a:solidFill>
                <a:schemeClr val="accent5"/>
              </a:solidFill>
            </a:endParaRPr>
          </a:p>
        </p:txBody>
      </p:sp>
      <p:sp>
        <p:nvSpPr>
          <p:cNvPr id="1335" name="Google Shape;1335;p59"/>
          <p:cNvSpPr txBox="1"/>
          <p:nvPr/>
        </p:nvSpPr>
        <p:spPr>
          <a:xfrm>
            <a:off x="756162" y="5560436"/>
            <a:ext cx="11615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endParaRPr sz="14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(index)</a:t>
            </a:r>
            <a:endParaRPr sz="14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6" name="Google Shape;1336;p59"/>
          <p:cNvSpPr txBox="1"/>
          <p:nvPr/>
        </p:nvSpPr>
        <p:spPr>
          <a:xfrm>
            <a:off x="1224137" y="4197429"/>
            <a:ext cx="64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PTE</a:t>
            </a:r>
            <a:endParaRPr sz="1600" b="1" dirty="0">
              <a:solidFill>
                <a:srgbClr val="70AD47"/>
              </a:solidFill>
            </a:endParaRPr>
          </a:p>
        </p:txBody>
      </p:sp>
      <p:sp>
        <p:nvSpPr>
          <p:cNvPr id="1337" name="Google Shape;1337;p59"/>
          <p:cNvSpPr/>
          <p:nvPr/>
        </p:nvSpPr>
        <p:spPr>
          <a:xfrm>
            <a:off x="1904252" y="4169336"/>
            <a:ext cx="2575560" cy="609600"/>
          </a:xfrm>
          <a:prstGeom prst="roundRect">
            <a:avLst>
              <a:gd name="adj" fmla="val 13481"/>
            </a:avLst>
          </a:prstGeom>
          <a:noFill/>
          <a:ln w="28575" cap="flat" cmpd="sng">
            <a:solidFill>
              <a:srgbClr val="70AD47"/>
            </a:solidFill>
            <a:prstDash val="sys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8" name="Google Shape;1338;p59"/>
          <p:cNvSpPr txBox="1"/>
          <p:nvPr/>
        </p:nvSpPr>
        <p:spPr>
          <a:xfrm>
            <a:off x="4605299" y="4255682"/>
            <a:ext cx="2437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PTE </a:t>
            </a: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ES" sz="1600" b="1" dirty="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PT[</a:t>
            </a:r>
            <a:r>
              <a:rPr lang="es-ES" sz="16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es-ES" sz="1600" b="1" dirty="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s-ES" sz="1600" b="1" dirty="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PFN</a:t>
            </a:r>
            <a:endParaRPr b="1" dirty="0">
              <a:solidFill>
                <a:schemeClr val="accent5"/>
              </a:solidFill>
            </a:endParaRPr>
          </a:p>
        </p:txBody>
      </p:sp>
      <p:sp>
        <p:nvSpPr>
          <p:cNvPr id="1339" name="Google Shape;1339;p59"/>
          <p:cNvSpPr/>
          <p:nvPr/>
        </p:nvSpPr>
        <p:spPr>
          <a:xfrm>
            <a:off x="5712162" y="3229163"/>
            <a:ext cx="1422900" cy="431100"/>
          </a:xfrm>
          <a:prstGeom prst="roundRect">
            <a:avLst>
              <a:gd name="adj" fmla="val 27086"/>
            </a:avLst>
          </a:prstGeom>
          <a:noFill/>
          <a:ln w="28575" cap="flat" cmpd="sng">
            <a:solidFill>
              <a:srgbClr val="70AD47"/>
            </a:solidFill>
            <a:prstDash val="sys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40" name="Google Shape;1340;p59"/>
          <p:cNvCxnSpPr>
            <a:cxnSpLocks/>
          </p:cNvCxnSpPr>
          <p:nvPr/>
        </p:nvCxnSpPr>
        <p:spPr>
          <a:xfrm flipH="1" flipV="1">
            <a:off x="7394500" y="3125832"/>
            <a:ext cx="767226" cy="114997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41" name="Google Shape;1341;p59"/>
          <p:cNvCxnSpPr>
            <a:cxnSpLocks/>
            <a:stCxn id="1339" idx="1"/>
            <a:endCxn id="1337" idx="3"/>
          </p:cNvCxnSpPr>
          <p:nvPr/>
        </p:nvCxnSpPr>
        <p:spPr>
          <a:xfrm flipH="1">
            <a:off x="4479812" y="3444713"/>
            <a:ext cx="1232350" cy="1029423"/>
          </a:xfrm>
          <a:prstGeom prst="straightConnector1">
            <a:avLst/>
          </a:prstGeom>
          <a:noFill/>
          <a:ln w="28575" cap="flat" cmpd="sng">
            <a:solidFill>
              <a:srgbClr val="92D05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42" name="Google Shape;1342;p59"/>
          <p:cNvSpPr txBox="1"/>
          <p:nvPr/>
        </p:nvSpPr>
        <p:spPr>
          <a:xfrm>
            <a:off x="5281812" y="2132600"/>
            <a:ext cx="2437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Page Table (PT)</a:t>
            </a:r>
            <a:endParaRPr b="1"/>
          </a:p>
        </p:txBody>
      </p:sp>
      <p:sp>
        <p:nvSpPr>
          <p:cNvPr id="1343" name="Google Shape;1343;p59"/>
          <p:cNvSpPr txBox="1"/>
          <p:nvPr/>
        </p:nvSpPr>
        <p:spPr>
          <a:xfrm>
            <a:off x="785950" y="6285417"/>
            <a:ext cx="84903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PTE (Page Table </a:t>
            </a:r>
            <a:r>
              <a:rPr lang="es-ES" b="1" dirty="0" err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Entry</a:t>
            </a:r>
            <a:r>
              <a:rPr lang="es-ES" b="1" dirty="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s-ES" dirty="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Hay una por cada página en el AS.</a:t>
            </a:r>
            <a:r>
              <a:rPr lang="es-ES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 dirty="0">
              <a:solidFill>
                <a:schemeClr val="dk1"/>
              </a:solidFill>
            </a:endParaRPr>
          </a:p>
        </p:txBody>
      </p:sp>
      <p:sp>
        <p:nvSpPr>
          <p:cNvPr id="32" name="Google Shape;1339;p59">
            <a:extLst>
              <a:ext uri="{FF2B5EF4-FFF2-40B4-BE49-F238E27FC236}">
                <a16:creationId xmlns:a16="http://schemas.microsoft.com/office/drawing/2014/main" id="{AAA4EBC5-047D-4CF8-8463-DD256CEB115D}"/>
              </a:ext>
            </a:extLst>
          </p:cNvPr>
          <p:cNvSpPr/>
          <p:nvPr/>
        </p:nvSpPr>
        <p:spPr>
          <a:xfrm>
            <a:off x="5562280" y="2147475"/>
            <a:ext cx="1802464" cy="1955687"/>
          </a:xfrm>
          <a:prstGeom prst="roundRect">
            <a:avLst>
              <a:gd name="adj" fmla="val 6793"/>
            </a:avLst>
          </a:prstGeom>
          <a:noFill/>
          <a:ln w="28575" cap="flat" cmpd="sng">
            <a:solidFill>
              <a:schemeClr val="accent2"/>
            </a:solidFill>
            <a:prstDash val="sys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1339;p59">
            <a:extLst>
              <a:ext uri="{FF2B5EF4-FFF2-40B4-BE49-F238E27FC236}">
                <a16:creationId xmlns:a16="http://schemas.microsoft.com/office/drawing/2014/main" id="{94173E1A-593A-4C7A-86E4-055125827499}"/>
              </a:ext>
            </a:extLst>
          </p:cNvPr>
          <p:cNvSpPr/>
          <p:nvPr/>
        </p:nvSpPr>
        <p:spPr>
          <a:xfrm>
            <a:off x="885713" y="1911675"/>
            <a:ext cx="3733800" cy="4276960"/>
          </a:xfrm>
          <a:prstGeom prst="roundRect">
            <a:avLst>
              <a:gd name="adj" fmla="val 2066"/>
            </a:avLst>
          </a:prstGeom>
          <a:noFill/>
          <a:ln w="28575" cap="flat" cmpd="sng">
            <a:solidFill>
              <a:schemeClr val="accent2"/>
            </a:solidFill>
            <a:prstDash val="sys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p60"/>
          <p:cNvSpPr txBox="1">
            <a:spLocks noGrp="1"/>
          </p:cNvSpPr>
          <p:nvPr>
            <p:ph type="title"/>
          </p:nvPr>
        </p:nvSpPr>
        <p:spPr>
          <a:xfrm>
            <a:off x="429150" y="102319"/>
            <a:ext cx="1079765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Traducción de direcciones – Tabla de pagina </a:t>
            </a:r>
            <a:endParaRPr dirty="0">
              <a:latin typeface="+mj-lt"/>
            </a:endParaRPr>
          </a:p>
        </p:txBody>
      </p:sp>
      <p:sp>
        <p:nvSpPr>
          <p:cNvPr id="1349" name="Google Shape;1349;p60"/>
          <p:cNvSpPr txBox="1">
            <a:spLocks noGrp="1"/>
          </p:cNvSpPr>
          <p:nvPr>
            <p:ph type="body" idx="1"/>
          </p:nvPr>
        </p:nvSpPr>
        <p:spPr>
          <a:xfrm>
            <a:off x="429150" y="891625"/>
            <a:ext cx="11046000" cy="1269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70AD47"/>
                </a:solidFill>
                <a:latin typeface="+mn-lt"/>
              </a:rPr>
              <a:t>Ejemplo - Enunciado del ejemplo original</a:t>
            </a:r>
            <a:endParaRPr sz="2400" dirty="0">
              <a:solidFill>
                <a:srgbClr val="70AD47"/>
              </a:solidFill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Memoria física de 128 bytes con frames (marcos de página) de 16 bytes.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</a:rPr>
              <a:t>Espacio de direcciones (Address Space) de 64 bytes con páginas de 16 bytes.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pic>
        <p:nvPicPr>
          <p:cNvPr id="1350" name="Google Shape;1350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6225" y="3571413"/>
            <a:ext cx="4815925" cy="225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1" name="Google Shape;1351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6000" y="2161525"/>
            <a:ext cx="5785000" cy="4559151"/>
          </a:xfrm>
          <a:prstGeom prst="rect">
            <a:avLst/>
          </a:prstGeom>
          <a:noFill/>
          <a:ln>
            <a:noFill/>
          </a:ln>
        </p:spPr>
      </p:pic>
      <p:sp>
        <p:nvSpPr>
          <p:cNvPr id="1352" name="Google Shape;1352;p60"/>
          <p:cNvSpPr/>
          <p:nvPr/>
        </p:nvSpPr>
        <p:spPr>
          <a:xfrm>
            <a:off x="640232" y="2161525"/>
            <a:ext cx="4617600" cy="13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Preguntas</a:t>
            </a:r>
            <a:r>
              <a:rPr lang="es-ES" sz="1800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1800" dirty="0">
                <a:ea typeface="Roboto"/>
                <a:cs typeface="Roboto"/>
                <a:sym typeface="Roboto"/>
              </a:rPr>
              <a:t> </a:t>
            </a:r>
            <a:endParaRPr sz="18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s-ES" sz="1800" dirty="0">
                <a:ea typeface="Roboto"/>
                <a:cs typeface="Roboto"/>
                <a:sym typeface="Roboto"/>
              </a:rPr>
              <a:t>¿Bosqueje la tabla de página?</a:t>
            </a:r>
            <a:endParaRPr sz="18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s-ES" sz="1800" dirty="0">
                <a:ea typeface="Roboto"/>
                <a:cs typeface="Roboto"/>
                <a:sym typeface="Roboto"/>
              </a:rPr>
              <a:t>¿Cuál es la dirección física asociada a la dirección virtual 21?</a:t>
            </a:r>
            <a:endParaRPr sz="1800" dirty="0"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61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1033555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Traducción de direcciones – Tabla de pagina </a:t>
            </a:r>
            <a:endParaRPr dirty="0">
              <a:latin typeface="+mj-lt"/>
            </a:endParaRPr>
          </a:p>
        </p:txBody>
      </p:sp>
      <p:sp>
        <p:nvSpPr>
          <p:cNvPr id="1358" name="Google Shape;1358;p61"/>
          <p:cNvSpPr txBox="1">
            <a:spLocks noGrp="1"/>
          </p:cNvSpPr>
          <p:nvPr>
            <p:ph type="body" idx="1"/>
          </p:nvPr>
        </p:nvSpPr>
        <p:spPr>
          <a:xfrm>
            <a:off x="823350" y="891625"/>
            <a:ext cx="10651800" cy="5271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70AD47"/>
                </a:solidFill>
                <a:latin typeface="+mn-lt"/>
              </a:rPr>
              <a:t>Ejemplo - Enunciado del ejemplo original</a:t>
            </a:r>
            <a:endParaRPr sz="2400" dirty="0">
              <a:solidFill>
                <a:srgbClr val="70AD47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pic>
        <p:nvPicPr>
          <p:cNvPr id="1359" name="Google Shape;1359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6650" y="2872825"/>
            <a:ext cx="4815925" cy="225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0" name="Google Shape;1360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35550" y="1846613"/>
            <a:ext cx="5785000" cy="4559151"/>
          </a:xfrm>
          <a:prstGeom prst="rect">
            <a:avLst/>
          </a:prstGeom>
          <a:noFill/>
          <a:ln>
            <a:noFill/>
          </a:ln>
        </p:spPr>
      </p:pic>
      <p:sp>
        <p:nvSpPr>
          <p:cNvPr id="1361" name="Google Shape;1361;p61"/>
          <p:cNvSpPr/>
          <p:nvPr/>
        </p:nvSpPr>
        <p:spPr>
          <a:xfrm>
            <a:off x="916650" y="1451494"/>
            <a:ext cx="4617600" cy="783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Preguntas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s-ES" sz="1800" dirty="0">
                <a:ea typeface="Roboto"/>
                <a:cs typeface="Roboto"/>
                <a:sym typeface="Roboto"/>
              </a:rPr>
              <a:t>¿Bosqueje la tabla de página?</a:t>
            </a:r>
            <a:endParaRPr sz="1800" dirty="0"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ea typeface="Roboto"/>
              <a:cs typeface="Roboto"/>
              <a:sym typeface="Roboto"/>
            </a:endParaRPr>
          </a:p>
        </p:txBody>
      </p:sp>
      <p:graphicFrame>
        <p:nvGraphicFramePr>
          <p:cNvPr id="1362" name="Google Shape;1362;p61"/>
          <p:cNvGraphicFramePr/>
          <p:nvPr>
            <p:extLst>
              <p:ext uri="{D42A27DB-BD31-4B8C-83A1-F6EECF244321}">
                <p14:modId xmlns:p14="http://schemas.microsoft.com/office/powerpoint/2010/main" val="3966883886"/>
              </p:ext>
            </p:extLst>
          </p:nvPr>
        </p:nvGraphicFramePr>
        <p:xfrm>
          <a:off x="5722688" y="3161932"/>
          <a:ext cx="1414575" cy="213345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640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4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6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</a:t>
                      </a:r>
                      <a:endParaRPr sz="16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frame</a:t>
                      </a:r>
                      <a:endParaRPr sz="16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63" name="Google Shape;1363;p61"/>
          <p:cNvSpPr txBox="1"/>
          <p:nvPr/>
        </p:nvSpPr>
        <p:spPr>
          <a:xfrm>
            <a:off x="5248600" y="2733871"/>
            <a:ext cx="24375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Page Table (PT)</a:t>
            </a:r>
            <a:endParaRPr sz="1500" b="1"/>
          </a:p>
        </p:txBody>
      </p:sp>
      <p:cxnSp>
        <p:nvCxnSpPr>
          <p:cNvPr id="1364" name="Google Shape;1364;p61"/>
          <p:cNvCxnSpPr/>
          <p:nvPr/>
        </p:nvCxnSpPr>
        <p:spPr>
          <a:xfrm>
            <a:off x="4731400" y="3246300"/>
            <a:ext cx="1166400" cy="5715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65" name="Google Shape;1365;p61"/>
          <p:cNvCxnSpPr/>
          <p:nvPr/>
        </p:nvCxnSpPr>
        <p:spPr>
          <a:xfrm rot="10800000" flipH="1">
            <a:off x="6912550" y="3724500"/>
            <a:ext cx="1819500" cy="1218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66" name="Google Shape;1366;p61"/>
          <p:cNvCxnSpPr/>
          <p:nvPr/>
        </p:nvCxnSpPr>
        <p:spPr>
          <a:xfrm>
            <a:off x="4031725" y="3634350"/>
            <a:ext cx="1854300" cy="626700"/>
          </a:xfrm>
          <a:prstGeom prst="bentConnector3">
            <a:avLst>
              <a:gd name="adj1" fmla="val 54715"/>
            </a:avLst>
          </a:prstGeom>
          <a:noFill/>
          <a:ln w="28575" cap="flat" cmpd="sng">
            <a:solidFill>
              <a:srgbClr val="70AD4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67" name="Google Shape;1367;p61"/>
          <p:cNvCxnSpPr/>
          <p:nvPr/>
        </p:nvCxnSpPr>
        <p:spPr>
          <a:xfrm>
            <a:off x="6900775" y="4237650"/>
            <a:ext cx="1889400" cy="14928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70AD4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68" name="Google Shape;1368;p61"/>
          <p:cNvCxnSpPr/>
          <p:nvPr/>
        </p:nvCxnSpPr>
        <p:spPr>
          <a:xfrm>
            <a:off x="4031600" y="4062700"/>
            <a:ext cx="1866000" cy="5715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69" name="Google Shape;1369;p61"/>
          <p:cNvCxnSpPr/>
          <p:nvPr/>
        </p:nvCxnSpPr>
        <p:spPr>
          <a:xfrm>
            <a:off x="6959100" y="4610875"/>
            <a:ext cx="1819500" cy="174900"/>
          </a:xfrm>
          <a:prstGeom prst="bentConnector3">
            <a:avLst>
              <a:gd name="adj1" fmla="val 6346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70" name="Google Shape;1370;p61"/>
          <p:cNvCxnSpPr/>
          <p:nvPr/>
        </p:nvCxnSpPr>
        <p:spPr>
          <a:xfrm>
            <a:off x="4008475" y="4495025"/>
            <a:ext cx="1877700" cy="535800"/>
          </a:xfrm>
          <a:prstGeom prst="bentConnector3">
            <a:avLst>
              <a:gd name="adj1" fmla="val 38501"/>
            </a:avLst>
          </a:prstGeom>
          <a:noFill/>
          <a:ln w="28575" cap="flat" cmpd="sng">
            <a:solidFill>
              <a:srgbClr val="701E5C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71" name="Google Shape;1371;p61"/>
          <p:cNvCxnSpPr/>
          <p:nvPr/>
        </p:nvCxnSpPr>
        <p:spPr>
          <a:xfrm rot="10800000" flipH="1">
            <a:off x="6924100" y="3281225"/>
            <a:ext cx="1842900" cy="1726200"/>
          </a:xfrm>
          <a:prstGeom prst="bentConnector3">
            <a:avLst>
              <a:gd name="adj1" fmla="val 37973"/>
            </a:avLst>
          </a:prstGeom>
          <a:noFill/>
          <a:ln w="28575" cap="flat" cmpd="sng">
            <a:solidFill>
              <a:srgbClr val="701E5C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62"/>
          <p:cNvSpPr txBox="1">
            <a:spLocks noGrp="1"/>
          </p:cNvSpPr>
          <p:nvPr>
            <p:ph type="title"/>
          </p:nvPr>
        </p:nvSpPr>
        <p:spPr>
          <a:xfrm>
            <a:off x="916649" y="96038"/>
            <a:ext cx="10540875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Traducción de direcciones – Tabla de pagina </a:t>
            </a:r>
            <a:endParaRPr dirty="0">
              <a:latin typeface="+mj-lt"/>
            </a:endParaRPr>
          </a:p>
        </p:txBody>
      </p:sp>
      <p:sp>
        <p:nvSpPr>
          <p:cNvPr id="1377" name="Google Shape;1377;p62"/>
          <p:cNvSpPr txBox="1">
            <a:spLocks noGrp="1"/>
          </p:cNvSpPr>
          <p:nvPr>
            <p:ph type="body" idx="1"/>
          </p:nvPr>
        </p:nvSpPr>
        <p:spPr>
          <a:xfrm>
            <a:off x="805724" y="900668"/>
            <a:ext cx="10651800" cy="5139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70AD47"/>
                </a:solidFill>
                <a:latin typeface="+mn-lt"/>
              </a:rPr>
              <a:t>Ejemplo - Enunciado del ejemplo original</a:t>
            </a:r>
            <a:endParaRPr sz="2400" dirty="0">
              <a:solidFill>
                <a:srgbClr val="70AD47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378" name="Google Shape;1378;p62"/>
          <p:cNvSpPr/>
          <p:nvPr/>
        </p:nvSpPr>
        <p:spPr>
          <a:xfrm>
            <a:off x="916650" y="1393963"/>
            <a:ext cx="6621288" cy="1266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Preguntas</a:t>
            </a:r>
            <a:r>
              <a:rPr lang="es-ES" sz="1800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1800" dirty="0">
                <a:ea typeface="Roboto"/>
                <a:cs typeface="Roboto"/>
                <a:sym typeface="Roboto"/>
              </a:rPr>
              <a:t> </a:t>
            </a:r>
            <a:endParaRPr sz="1800" dirty="0"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 startAt="2"/>
            </a:pPr>
            <a:r>
              <a:rPr lang="es-ES" sz="18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¿Cual es la dirección física asociada a la dirección virtual </a:t>
            </a:r>
            <a:r>
              <a:rPr lang="es-ES" sz="1800" dirty="0">
                <a:solidFill>
                  <a:schemeClr val="dk1"/>
                </a:solidFill>
                <a:latin typeface="Consolas" panose="020B0609020204030204" pitchFamily="49" charset="0"/>
                <a:ea typeface="Roboto"/>
                <a:cs typeface="Roboto"/>
                <a:sym typeface="Roboto"/>
              </a:rPr>
              <a:t>21</a:t>
            </a:r>
            <a:r>
              <a:rPr lang="es-ES" sz="18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?</a:t>
            </a:r>
            <a:endParaRPr sz="18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○"/>
            </a:pPr>
            <a:r>
              <a:rPr lang="es-ES" sz="16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VA = 21 = 0x15 = 010101</a:t>
            </a:r>
            <a:endParaRPr sz="1600" dirty="0">
              <a:solidFill>
                <a:schemeClr val="dk1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○"/>
            </a:pPr>
            <a:r>
              <a:rPr lang="es-ES" sz="16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PA = ?</a:t>
            </a:r>
            <a:endParaRPr sz="1600" dirty="0">
              <a:solidFill>
                <a:schemeClr val="dk1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ea typeface="Roboto"/>
              <a:cs typeface="Roboto"/>
              <a:sym typeface="Roboto"/>
            </a:endParaRPr>
          </a:p>
        </p:txBody>
      </p:sp>
      <p:graphicFrame>
        <p:nvGraphicFramePr>
          <p:cNvPr id="1379" name="Google Shape;1379;p62"/>
          <p:cNvGraphicFramePr/>
          <p:nvPr>
            <p:extLst>
              <p:ext uri="{D42A27DB-BD31-4B8C-83A1-F6EECF244321}">
                <p14:modId xmlns:p14="http://schemas.microsoft.com/office/powerpoint/2010/main" val="2286936592"/>
              </p:ext>
            </p:extLst>
          </p:nvPr>
        </p:nvGraphicFramePr>
        <p:xfrm>
          <a:off x="8214825" y="3340375"/>
          <a:ext cx="1517600" cy="198105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762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page</a:t>
                      </a:r>
                      <a:endParaRPr sz="14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frame</a:t>
                      </a:r>
                      <a:endParaRPr sz="14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4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80" name="Google Shape;1380;p62"/>
          <p:cNvGraphicFramePr/>
          <p:nvPr/>
        </p:nvGraphicFramePr>
        <p:xfrm>
          <a:off x="2200713" y="5608850"/>
          <a:ext cx="3466075" cy="488475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49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8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0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8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81" name="Google Shape;1381;p62"/>
          <p:cNvGraphicFramePr/>
          <p:nvPr/>
        </p:nvGraphicFramePr>
        <p:xfrm>
          <a:off x="2700163" y="3535313"/>
          <a:ext cx="2966700" cy="45875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49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8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82" name="Google Shape;1382;p62"/>
          <p:cNvSpPr txBox="1"/>
          <p:nvPr/>
        </p:nvSpPr>
        <p:spPr>
          <a:xfrm>
            <a:off x="2058888" y="3505425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/>
          </a:p>
        </p:txBody>
      </p:sp>
      <p:sp>
        <p:nvSpPr>
          <p:cNvPr id="1383" name="Google Shape;1383;p62"/>
          <p:cNvSpPr txBox="1"/>
          <p:nvPr/>
        </p:nvSpPr>
        <p:spPr>
          <a:xfrm>
            <a:off x="1593138" y="5591475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</a:t>
            </a:r>
            <a:endParaRPr sz="1800" b="1"/>
          </a:p>
        </p:txBody>
      </p:sp>
      <p:sp>
        <p:nvSpPr>
          <p:cNvPr id="1384" name="Google Shape;1384;p62"/>
          <p:cNvSpPr/>
          <p:nvPr/>
        </p:nvSpPr>
        <p:spPr>
          <a:xfrm>
            <a:off x="2197375" y="4355900"/>
            <a:ext cx="1465200" cy="8508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latin typeface="Consolas"/>
                <a:ea typeface="Consolas"/>
                <a:cs typeface="Consolas"/>
                <a:sym typeface="Consolas"/>
              </a:rPr>
              <a:t>Address Translation</a:t>
            </a:r>
            <a:endParaRPr sz="16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385" name="Google Shape;1385;p62"/>
          <p:cNvCxnSpPr/>
          <p:nvPr/>
        </p:nvCxnSpPr>
        <p:spPr>
          <a:xfrm flipH="1">
            <a:off x="5421750" y="3993700"/>
            <a:ext cx="11400" cy="1603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86" name="Google Shape;1386;p62"/>
          <p:cNvCxnSpPr/>
          <p:nvPr/>
        </p:nvCxnSpPr>
        <p:spPr>
          <a:xfrm flipH="1">
            <a:off x="4946325" y="3993700"/>
            <a:ext cx="11400" cy="1603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87" name="Google Shape;1387;p62"/>
          <p:cNvCxnSpPr/>
          <p:nvPr/>
        </p:nvCxnSpPr>
        <p:spPr>
          <a:xfrm flipH="1">
            <a:off x="4410600" y="3999563"/>
            <a:ext cx="11400" cy="1603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88" name="Google Shape;1388;p62"/>
          <p:cNvCxnSpPr/>
          <p:nvPr/>
        </p:nvCxnSpPr>
        <p:spPr>
          <a:xfrm flipH="1">
            <a:off x="3927350" y="3999563"/>
            <a:ext cx="11400" cy="1603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89" name="Google Shape;1389;p62"/>
          <p:cNvCxnSpPr/>
          <p:nvPr/>
        </p:nvCxnSpPr>
        <p:spPr>
          <a:xfrm>
            <a:off x="3438725" y="4001475"/>
            <a:ext cx="0" cy="344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90" name="Google Shape;1390;p62"/>
          <p:cNvCxnSpPr/>
          <p:nvPr/>
        </p:nvCxnSpPr>
        <p:spPr>
          <a:xfrm>
            <a:off x="2950100" y="4002938"/>
            <a:ext cx="0" cy="344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91" name="Google Shape;1391;p62"/>
          <p:cNvCxnSpPr/>
          <p:nvPr/>
        </p:nvCxnSpPr>
        <p:spPr>
          <a:xfrm flipH="1">
            <a:off x="3426488" y="5217275"/>
            <a:ext cx="1200" cy="38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92" name="Google Shape;1392;p62"/>
          <p:cNvCxnSpPr/>
          <p:nvPr/>
        </p:nvCxnSpPr>
        <p:spPr>
          <a:xfrm flipH="1">
            <a:off x="2949488" y="5217275"/>
            <a:ext cx="1200" cy="38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93" name="Google Shape;1393;p62"/>
          <p:cNvCxnSpPr/>
          <p:nvPr/>
        </p:nvCxnSpPr>
        <p:spPr>
          <a:xfrm flipH="1">
            <a:off x="2472488" y="5206700"/>
            <a:ext cx="1200" cy="38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1394" name="Google Shape;1394;p62"/>
          <p:cNvGraphicFramePr/>
          <p:nvPr/>
        </p:nvGraphicFramePr>
        <p:xfrm>
          <a:off x="8207288" y="5716713"/>
          <a:ext cx="3466075" cy="488475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49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8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0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8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95" name="Google Shape;1395;p62"/>
          <p:cNvGraphicFramePr/>
          <p:nvPr/>
        </p:nvGraphicFramePr>
        <p:xfrm>
          <a:off x="8706738" y="2530663"/>
          <a:ext cx="2966700" cy="45875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49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8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96" name="Google Shape;1396;p62"/>
          <p:cNvSpPr txBox="1"/>
          <p:nvPr/>
        </p:nvSpPr>
        <p:spPr>
          <a:xfrm>
            <a:off x="8050950" y="2466225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/>
          </a:p>
        </p:txBody>
      </p:sp>
      <p:sp>
        <p:nvSpPr>
          <p:cNvPr id="1397" name="Google Shape;1397;p62"/>
          <p:cNvSpPr txBox="1"/>
          <p:nvPr/>
        </p:nvSpPr>
        <p:spPr>
          <a:xfrm>
            <a:off x="7537938" y="5699363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</a:t>
            </a:r>
            <a:endParaRPr sz="1800" b="1"/>
          </a:p>
        </p:txBody>
      </p:sp>
      <p:cxnSp>
        <p:nvCxnSpPr>
          <p:cNvPr id="1398" name="Google Shape;1398;p62"/>
          <p:cNvCxnSpPr/>
          <p:nvPr/>
        </p:nvCxnSpPr>
        <p:spPr>
          <a:xfrm flipH="1">
            <a:off x="10924500" y="2989450"/>
            <a:ext cx="43800" cy="2694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99" name="Google Shape;1399;p62"/>
          <p:cNvCxnSpPr/>
          <p:nvPr/>
        </p:nvCxnSpPr>
        <p:spPr>
          <a:xfrm flipH="1">
            <a:off x="10422950" y="2989450"/>
            <a:ext cx="26100" cy="2682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00" name="Google Shape;1400;p62"/>
          <p:cNvCxnSpPr/>
          <p:nvPr/>
        </p:nvCxnSpPr>
        <p:spPr>
          <a:xfrm flipH="1">
            <a:off x="9956425" y="2989413"/>
            <a:ext cx="8100" cy="2694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01" name="Google Shape;1401;p62"/>
          <p:cNvCxnSpPr/>
          <p:nvPr/>
        </p:nvCxnSpPr>
        <p:spPr>
          <a:xfrm>
            <a:off x="9457675" y="2989450"/>
            <a:ext cx="0" cy="344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02" name="Google Shape;1402;p62"/>
          <p:cNvCxnSpPr/>
          <p:nvPr/>
        </p:nvCxnSpPr>
        <p:spPr>
          <a:xfrm>
            <a:off x="8964050" y="2989438"/>
            <a:ext cx="0" cy="344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03" name="Google Shape;1403;p62"/>
          <p:cNvCxnSpPr/>
          <p:nvPr/>
        </p:nvCxnSpPr>
        <p:spPr>
          <a:xfrm flipH="1">
            <a:off x="9457063" y="5335725"/>
            <a:ext cx="1200" cy="38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04" name="Google Shape;1404;p62"/>
          <p:cNvCxnSpPr/>
          <p:nvPr/>
        </p:nvCxnSpPr>
        <p:spPr>
          <a:xfrm flipH="1">
            <a:off x="8963450" y="5335725"/>
            <a:ext cx="1200" cy="38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05" name="Google Shape;1405;p62"/>
          <p:cNvCxnSpPr/>
          <p:nvPr/>
        </p:nvCxnSpPr>
        <p:spPr>
          <a:xfrm flipH="1">
            <a:off x="8497825" y="5335725"/>
            <a:ext cx="1200" cy="381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06" name="Google Shape;1406;p62"/>
          <p:cNvCxnSpPr/>
          <p:nvPr/>
        </p:nvCxnSpPr>
        <p:spPr>
          <a:xfrm flipH="1">
            <a:off x="11413725" y="3005775"/>
            <a:ext cx="43800" cy="2694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07" name="Google Shape;1407;p62"/>
          <p:cNvSpPr/>
          <p:nvPr/>
        </p:nvSpPr>
        <p:spPr>
          <a:xfrm rot="5400000" flipH="1">
            <a:off x="4552550" y="2419725"/>
            <a:ext cx="241200" cy="1912800"/>
          </a:xfrm>
          <a:prstGeom prst="rightBrace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8" name="Google Shape;1408;p62"/>
          <p:cNvSpPr/>
          <p:nvPr/>
        </p:nvSpPr>
        <p:spPr>
          <a:xfrm rot="5400000">
            <a:off x="4540900" y="5278350"/>
            <a:ext cx="241200" cy="1959300"/>
          </a:xfrm>
          <a:prstGeom prst="rightBrace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9" name="Google Shape;1409;p62"/>
          <p:cNvSpPr/>
          <p:nvPr/>
        </p:nvSpPr>
        <p:spPr>
          <a:xfrm rot="5400000" flipH="1">
            <a:off x="3064450" y="2875850"/>
            <a:ext cx="241200" cy="993300"/>
          </a:xfrm>
          <a:prstGeom prst="rightBrace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0" name="Google Shape;1410;p62"/>
          <p:cNvSpPr/>
          <p:nvPr/>
        </p:nvSpPr>
        <p:spPr>
          <a:xfrm rot="5400000">
            <a:off x="2799200" y="5538575"/>
            <a:ext cx="241200" cy="1462200"/>
          </a:xfrm>
          <a:prstGeom prst="rightBrace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1" name="Google Shape;1411;p62"/>
          <p:cNvSpPr txBox="1"/>
          <p:nvPr/>
        </p:nvSpPr>
        <p:spPr>
          <a:xfrm>
            <a:off x="4137650" y="2920075"/>
            <a:ext cx="1071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/>
          </a:p>
        </p:txBody>
      </p:sp>
      <p:sp>
        <p:nvSpPr>
          <p:cNvPr id="1412" name="Google Shape;1412;p62"/>
          <p:cNvSpPr txBox="1"/>
          <p:nvPr/>
        </p:nvSpPr>
        <p:spPr>
          <a:xfrm>
            <a:off x="4137650" y="6374275"/>
            <a:ext cx="1071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/>
          </a:p>
        </p:txBody>
      </p:sp>
      <p:sp>
        <p:nvSpPr>
          <p:cNvPr id="1413" name="Google Shape;1413;p62"/>
          <p:cNvSpPr txBox="1"/>
          <p:nvPr/>
        </p:nvSpPr>
        <p:spPr>
          <a:xfrm>
            <a:off x="2649550" y="2931300"/>
            <a:ext cx="1071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endParaRPr/>
          </a:p>
        </p:txBody>
      </p:sp>
      <p:sp>
        <p:nvSpPr>
          <p:cNvPr id="1414" name="Google Shape;1414;p62"/>
          <p:cNvSpPr txBox="1"/>
          <p:nvPr/>
        </p:nvSpPr>
        <p:spPr>
          <a:xfrm>
            <a:off x="2384300" y="6374275"/>
            <a:ext cx="1071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PFN</a:t>
            </a:r>
            <a:endParaRPr dirty="0"/>
          </a:p>
        </p:txBody>
      </p:sp>
      <p:sp>
        <p:nvSpPr>
          <p:cNvPr id="1415" name="Google Shape;1415;p62"/>
          <p:cNvSpPr/>
          <p:nvPr/>
        </p:nvSpPr>
        <p:spPr>
          <a:xfrm>
            <a:off x="6389888" y="4355900"/>
            <a:ext cx="804900" cy="458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0AD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6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Traducción de direcciones </a:t>
            </a:r>
            <a:endParaRPr dirty="0">
              <a:latin typeface="+mj-lt"/>
            </a:endParaRPr>
          </a:p>
        </p:txBody>
      </p:sp>
      <p:sp>
        <p:nvSpPr>
          <p:cNvPr id="1421" name="Google Shape;1421;p63"/>
          <p:cNvSpPr txBox="1">
            <a:spLocks noGrp="1"/>
          </p:cNvSpPr>
          <p:nvPr>
            <p:ph type="body" idx="1"/>
          </p:nvPr>
        </p:nvSpPr>
        <p:spPr>
          <a:xfrm>
            <a:off x="770100" y="835550"/>
            <a:ext cx="10651800" cy="53369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70AD47"/>
                </a:solidFill>
                <a:latin typeface="+mn-lt"/>
              </a:rPr>
              <a:t>Ejemplo - Enunciado del ejemplo original</a:t>
            </a:r>
            <a:endParaRPr sz="2400" dirty="0">
              <a:solidFill>
                <a:srgbClr val="70AD47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1422" name="Google Shape;1422;p63"/>
          <p:cNvGraphicFramePr/>
          <p:nvPr/>
        </p:nvGraphicFramePr>
        <p:xfrm>
          <a:off x="2170363" y="2004875"/>
          <a:ext cx="2227675" cy="179820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22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9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423" name="Google Shape;1423;p63"/>
          <p:cNvGrpSpPr/>
          <p:nvPr/>
        </p:nvGrpSpPr>
        <p:grpSpPr>
          <a:xfrm>
            <a:off x="1120229" y="1952338"/>
            <a:ext cx="979788" cy="1655500"/>
            <a:chOff x="6895500" y="3168388"/>
            <a:chExt cx="963600" cy="1655500"/>
          </a:xfrm>
        </p:grpSpPr>
        <p:sp>
          <p:nvSpPr>
            <p:cNvPr id="1424" name="Google Shape;1424;p63"/>
            <p:cNvSpPr txBox="1"/>
            <p:nvPr/>
          </p:nvSpPr>
          <p:spPr>
            <a:xfrm>
              <a:off x="6895500" y="3168388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(00)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1425" name="Google Shape;1425;p63"/>
            <p:cNvSpPr txBox="1"/>
            <p:nvPr/>
          </p:nvSpPr>
          <p:spPr>
            <a:xfrm>
              <a:off x="6895500" y="3599500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1426" name="Google Shape;1426;p63"/>
            <p:cNvSpPr txBox="1"/>
            <p:nvPr/>
          </p:nvSpPr>
          <p:spPr>
            <a:xfrm>
              <a:off x="6895500" y="4032225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1427" name="Google Shape;1427;p63"/>
            <p:cNvSpPr txBox="1"/>
            <p:nvPr/>
          </p:nvSpPr>
          <p:spPr>
            <a:xfrm>
              <a:off x="6895500" y="4454588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(11)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200" b="1">
                <a:solidFill>
                  <a:srgbClr val="FF0000"/>
                </a:solidFill>
              </a:endParaRPr>
            </a:p>
          </p:txBody>
        </p:sp>
      </p:grpSp>
      <p:sp>
        <p:nvSpPr>
          <p:cNvPr id="1428" name="Google Shape;1428;p63"/>
          <p:cNvSpPr txBox="1"/>
          <p:nvPr/>
        </p:nvSpPr>
        <p:spPr>
          <a:xfrm>
            <a:off x="2247100" y="3726263"/>
            <a:ext cx="2074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Address Space</a:t>
            </a:r>
            <a:endParaRPr b="1" dirty="0"/>
          </a:p>
        </p:txBody>
      </p:sp>
      <p:graphicFrame>
        <p:nvGraphicFramePr>
          <p:cNvPr id="1429" name="Google Shape;1429;p63"/>
          <p:cNvGraphicFramePr/>
          <p:nvPr/>
        </p:nvGraphicFramePr>
        <p:xfrm>
          <a:off x="9098838" y="1727363"/>
          <a:ext cx="2227675" cy="347224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22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7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Operating system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VP3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VP2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430" name="Google Shape;1430;p63"/>
          <p:cNvGrpSpPr/>
          <p:nvPr/>
        </p:nvGrpSpPr>
        <p:grpSpPr>
          <a:xfrm>
            <a:off x="8052001" y="1734137"/>
            <a:ext cx="1047237" cy="3389724"/>
            <a:chOff x="6720550" y="2261913"/>
            <a:chExt cx="858672" cy="3389724"/>
          </a:xfrm>
        </p:grpSpPr>
        <p:sp>
          <p:nvSpPr>
            <p:cNvPr id="1431" name="Google Shape;1431;p63"/>
            <p:cNvSpPr txBox="1"/>
            <p:nvPr/>
          </p:nvSpPr>
          <p:spPr>
            <a:xfrm>
              <a:off x="6750622" y="2261913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 (000)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432" name="Google Shape;1432;p63"/>
            <p:cNvSpPr txBox="1"/>
            <p:nvPr/>
          </p:nvSpPr>
          <p:spPr>
            <a:xfrm>
              <a:off x="6750622" y="2689802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(001)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433" name="Google Shape;1433;p63"/>
            <p:cNvSpPr txBox="1"/>
            <p:nvPr/>
          </p:nvSpPr>
          <p:spPr>
            <a:xfrm>
              <a:off x="6750622" y="3141841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434" name="Google Shape;1434;p63"/>
            <p:cNvSpPr txBox="1"/>
            <p:nvPr/>
          </p:nvSpPr>
          <p:spPr>
            <a:xfrm>
              <a:off x="6730556" y="3566955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435" name="Google Shape;1435;p63"/>
            <p:cNvSpPr txBox="1"/>
            <p:nvPr/>
          </p:nvSpPr>
          <p:spPr>
            <a:xfrm>
              <a:off x="6730567" y="3974969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436" name="Google Shape;1436;p63"/>
            <p:cNvSpPr txBox="1"/>
            <p:nvPr/>
          </p:nvSpPr>
          <p:spPr>
            <a:xfrm>
              <a:off x="6730556" y="4403670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200" b="1">
                <a:solidFill>
                  <a:srgbClr val="E46C0A"/>
                </a:solidFill>
              </a:endParaRPr>
            </a:p>
          </p:txBody>
        </p:sp>
        <p:sp>
          <p:nvSpPr>
            <p:cNvPr id="1437" name="Google Shape;1437;p63"/>
            <p:cNvSpPr txBox="1"/>
            <p:nvPr/>
          </p:nvSpPr>
          <p:spPr>
            <a:xfrm>
              <a:off x="6750622" y="4837022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438" name="Google Shape;1438;p63"/>
            <p:cNvSpPr txBox="1"/>
            <p:nvPr/>
          </p:nvSpPr>
          <p:spPr>
            <a:xfrm>
              <a:off x="6720550" y="5282336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 sz="1200" b="1">
                <a:solidFill>
                  <a:schemeClr val="accent2"/>
                </a:solidFill>
              </a:endParaRPr>
            </a:p>
          </p:txBody>
        </p:sp>
      </p:grpSp>
      <p:sp>
        <p:nvSpPr>
          <p:cNvPr id="1439" name="Google Shape;1439;p63"/>
          <p:cNvSpPr txBox="1"/>
          <p:nvPr/>
        </p:nvSpPr>
        <p:spPr>
          <a:xfrm>
            <a:off x="8993925" y="5214475"/>
            <a:ext cx="2437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Physical Address</a:t>
            </a:r>
            <a:endParaRPr b="1" dirty="0"/>
          </a:p>
        </p:txBody>
      </p:sp>
      <p:sp>
        <p:nvSpPr>
          <p:cNvPr id="1440" name="Google Shape;1440;p63"/>
          <p:cNvSpPr/>
          <p:nvPr/>
        </p:nvSpPr>
        <p:spPr>
          <a:xfrm>
            <a:off x="5423588" y="4468963"/>
            <a:ext cx="15513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latin typeface="Consolas"/>
                <a:ea typeface="Consolas"/>
                <a:cs typeface="Consolas"/>
                <a:sym typeface="Consolas"/>
              </a:rPr>
              <a:t>Page Table (PT)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441" name="Google Shape;1441;p63"/>
          <p:cNvGraphicFramePr/>
          <p:nvPr/>
        </p:nvGraphicFramePr>
        <p:xfrm>
          <a:off x="5853588" y="2672870"/>
          <a:ext cx="781900" cy="170680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78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accent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600" b="1">
                        <a:solidFill>
                          <a:schemeClr val="accent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accent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600" b="1">
                        <a:solidFill>
                          <a:schemeClr val="accent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accent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600" b="1">
                        <a:solidFill>
                          <a:schemeClr val="accent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accent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600" b="1">
                        <a:solidFill>
                          <a:schemeClr val="accent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42" name="Google Shape;1442;p63"/>
          <p:cNvSpPr txBox="1"/>
          <p:nvPr/>
        </p:nvSpPr>
        <p:spPr>
          <a:xfrm>
            <a:off x="1610813" y="1510613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443" name="Google Shape;1443;p63"/>
          <p:cNvSpPr txBox="1"/>
          <p:nvPr/>
        </p:nvSpPr>
        <p:spPr>
          <a:xfrm>
            <a:off x="8527713" y="1281400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PFN</a:t>
            </a:r>
            <a:endParaRPr b="1">
              <a:solidFill>
                <a:schemeClr val="accent2"/>
              </a:solidFill>
            </a:endParaRPr>
          </a:p>
        </p:txBody>
      </p:sp>
      <p:grpSp>
        <p:nvGrpSpPr>
          <p:cNvPr id="1444" name="Google Shape;1444;p63"/>
          <p:cNvGrpSpPr/>
          <p:nvPr/>
        </p:nvGrpSpPr>
        <p:grpSpPr>
          <a:xfrm>
            <a:off x="5113838" y="2684038"/>
            <a:ext cx="636313" cy="1684450"/>
            <a:chOff x="5161375" y="3094650"/>
            <a:chExt cx="636313" cy="1684450"/>
          </a:xfrm>
        </p:grpSpPr>
        <p:sp>
          <p:nvSpPr>
            <p:cNvPr id="1445" name="Google Shape;1445;p63"/>
            <p:cNvSpPr txBox="1"/>
            <p:nvPr/>
          </p:nvSpPr>
          <p:spPr>
            <a:xfrm>
              <a:off x="5161375" y="30946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446" name="Google Shape;1446;p63"/>
            <p:cNvSpPr txBox="1"/>
            <p:nvPr/>
          </p:nvSpPr>
          <p:spPr>
            <a:xfrm>
              <a:off x="5161388" y="35213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447" name="Google Shape;1447;p63"/>
            <p:cNvSpPr txBox="1"/>
            <p:nvPr/>
          </p:nvSpPr>
          <p:spPr>
            <a:xfrm>
              <a:off x="5161375" y="39524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448" name="Google Shape;1448;p63"/>
            <p:cNvSpPr txBox="1"/>
            <p:nvPr/>
          </p:nvSpPr>
          <p:spPr>
            <a:xfrm>
              <a:off x="5161375" y="434800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b="1">
                <a:solidFill>
                  <a:srgbClr val="FF0000"/>
                </a:solidFill>
              </a:endParaRPr>
            </a:p>
          </p:txBody>
        </p:sp>
      </p:grpSp>
      <p:sp>
        <p:nvSpPr>
          <p:cNvPr id="1449" name="Google Shape;1449;p63"/>
          <p:cNvSpPr txBox="1"/>
          <p:nvPr/>
        </p:nvSpPr>
        <p:spPr>
          <a:xfrm>
            <a:off x="5281275" y="2231163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450" name="Google Shape;1450;p63"/>
          <p:cNvSpPr txBox="1"/>
          <p:nvPr/>
        </p:nvSpPr>
        <p:spPr>
          <a:xfrm>
            <a:off x="5906875" y="2231150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PFN</a:t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1451" name="Google Shape;1451;p63"/>
          <p:cNvSpPr/>
          <p:nvPr/>
        </p:nvSpPr>
        <p:spPr>
          <a:xfrm>
            <a:off x="2177213" y="2725338"/>
            <a:ext cx="2214000" cy="33000"/>
          </a:xfrm>
          <a:prstGeom prst="rect">
            <a:avLst/>
          </a:prstGeom>
          <a:solidFill>
            <a:srgbClr val="E46C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1452" name="Google Shape;1452;p63"/>
          <p:cNvSpPr/>
          <p:nvPr/>
        </p:nvSpPr>
        <p:spPr>
          <a:xfrm>
            <a:off x="9105688" y="5123863"/>
            <a:ext cx="2214000" cy="33000"/>
          </a:xfrm>
          <a:prstGeom prst="rect">
            <a:avLst/>
          </a:prstGeom>
          <a:solidFill>
            <a:srgbClr val="E46C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1453" name="Google Shape;1453;p63"/>
          <p:cNvSpPr/>
          <p:nvPr/>
        </p:nvSpPr>
        <p:spPr>
          <a:xfrm>
            <a:off x="760563" y="2662263"/>
            <a:ext cx="1260000" cy="1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VA = 21 = [</a:t>
            </a:r>
            <a:r>
              <a:rPr lang="es-ES" sz="80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r>
              <a:rPr lang="es-ES" sz="8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es-ES" sz="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0101</a:t>
            </a:r>
            <a:r>
              <a:rPr lang="es-ES" sz="8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80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454" name="Google Shape;1454;p63"/>
          <p:cNvCxnSpPr/>
          <p:nvPr/>
        </p:nvCxnSpPr>
        <p:spPr>
          <a:xfrm rot="10800000" flipH="1">
            <a:off x="1957663" y="2736113"/>
            <a:ext cx="189000" cy="9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55" name="Google Shape;1455;p63"/>
          <p:cNvSpPr/>
          <p:nvPr/>
        </p:nvSpPr>
        <p:spPr>
          <a:xfrm>
            <a:off x="7470488" y="5078263"/>
            <a:ext cx="1437000" cy="1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PA = 117 = [</a:t>
            </a:r>
            <a:r>
              <a:rPr lang="es-ES" sz="80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111</a:t>
            </a:r>
            <a:r>
              <a:rPr lang="es-ES" sz="8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es-ES" sz="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0101</a:t>
            </a:r>
            <a:r>
              <a:rPr lang="es-ES" sz="8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80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456" name="Google Shape;1456;p63"/>
          <p:cNvCxnSpPr/>
          <p:nvPr/>
        </p:nvCxnSpPr>
        <p:spPr>
          <a:xfrm rot="10800000" flipH="1">
            <a:off x="8844463" y="5152113"/>
            <a:ext cx="189000" cy="9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57" name="Google Shape;1457;p63"/>
          <p:cNvCxnSpPr/>
          <p:nvPr/>
        </p:nvCxnSpPr>
        <p:spPr>
          <a:xfrm>
            <a:off x="4391213" y="2741838"/>
            <a:ext cx="1088700" cy="5940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458" name="Google Shape;1458;p63"/>
          <p:cNvGrpSpPr/>
          <p:nvPr/>
        </p:nvGrpSpPr>
        <p:grpSpPr>
          <a:xfrm>
            <a:off x="6430613" y="3312413"/>
            <a:ext cx="1039875" cy="1827950"/>
            <a:chOff x="6457650" y="3734200"/>
            <a:chExt cx="1039875" cy="1827950"/>
          </a:xfrm>
        </p:grpSpPr>
        <p:cxnSp>
          <p:nvCxnSpPr>
            <p:cNvPr id="1459" name="Google Shape;1459;p63"/>
            <p:cNvCxnSpPr>
              <a:endCxn id="1455" idx="1"/>
            </p:cNvCxnSpPr>
            <p:nvPr/>
          </p:nvCxnSpPr>
          <p:spPr>
            <a:xfrm rot="-5400000" flipH="1">
              <a:off x="6428025" y="4492650"/>
              <a:ext cx="1822200" cy="316800"/>
            </a:xfrm>
            <a:prstGeom prst="bentConnector2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60" name="Google Shape;1460;p63"/>
            <p:cNvCxnSpPr/>
            <p:nvPr/>
          </p:nvCxnSpPr>
          <p:spPr>
            <a:xfrm rot="10800000">
              <a:off x="6457650" y="3734200"/>
              <a:ext cx="7347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aphicFrame>
        <p:nvGraphicFramePr>
          <p:cNvPr id="1461" name="Google Shape;1461;p63"/>
          <p:cNvGraphicFramePr/>
          <p:nvPr/>
        </p:nvGraphicFramePr>
        <p:xfrm>
          <a:off x="1610813" y="5768413"/>
          <a:ext cx="2966700" cy="45875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49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8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62" name="Google Shape;1462;p63"/>
          <p:cNvGraphicFramePr/>
          <p:nvPr/>
        </p:nvGraphicFramePr>
        <p:xfrm>
          <a:off x="8424563" y="5753563"/>
          <a:ext cx="3466075" cy="488475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49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8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0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8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63" name="Google Shape;1463;p63"/>
          <p:cNvSpPr txBox="1"/>
          <p:nvPr/>
        </p:nvSpPr>
        <p:spPr>
          <a:xfrm>
            <a:off x="7911563" y="5736200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</a:t>
            </a:r>
            <a:endParaRPr sz="1800" b="1"/>
          </a:p>
        </p:txBody>
      </p:sp>
      <p:sp>
        <p:nvSpPr>
          <p:cNvPr id="1464" name="Google Shape;1464;p63"/>
          <p:cNvSpPr txBox="1"/>
          <p:nvPr/>
        </p:nvSpPr>
        <p:spPr>
          <a:xfrm>
            <a:off x="1120213" y="5736200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/>
          </a:p>
        </p:txBody>
      </p:sp>
      <p:cxnSp>
        <p:nvCxnSpPr>
          <p:cNvPr id="1465" name="Google Shape;1465;p63"/>
          <p:cNvCxnSpPr/>
          <p:nvPr/>
        </p:nvCxnSpPr>
        <p:spPr>
          <a:xfrm>
            <a:off x="5113838" y="6048100"/>
            <a:ext cx="2157600" cy="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p64"/>
          <p:cNvSpPr txBox="1">
            <a:spLocks noGrp="1"/>
          </p:cNvSpPr>
          <p:nvPr>
            <p:ph type="title"/>
          </p:nvPr>
        </p:nvSpPr>
        <p:spPr>
          <a:xfrm>
            <a:off x="406400" y="96038"/>
            <a:ext cx="109855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Traducción de direcciones – HW de traducción </a:t>
            </a:r>
            <a:endParaRPr sz="3200" b="1" dirty="0">
              <a:solidFill>
                <a:srgbClr val="701E5C"/>
              </a:solidFill>
              <a:latin typeface="+mj-lt"/>
              <a:ea typeface="Roboto Slab"/>
              <a:cs typeface="Roboto Slab"/>
              <a:sym typeface="Roboto Slab"/>
            </a:endParaRPr>
          </a:p>
        </p:txBody>
      </p:sp>
      <p:sp>
        <p:nvSpPr>
          <p:cNvPr id="1471" name="Google Shape;1471;p64"/>
          <p:cNvSpPr txBox="1">
            <a:spLocks noGrp="1"/>
          </p:cNvSpPr>
          <p:nvPr>
            <p:ph type="body" idx="1"/>
          </p:nvPr>
        </p:nvSpPr>
        <p:spPr>
          <a:xfrm>
            <a:off x="556675" y="969815"/>
            <a:ext cx="6742200" cy="615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Hardware para la traducción</a:t>
            </a:r>
            <a:endParaRPr sz="2000" b="1" dirty="0">
              <a:latin typeface="+mn-lt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1782973B-C953-4110-B53C-460472B8C8EC}"/>
              </a:ext>
            </a:extLst>
          </p:cNvPr>
          <p:cNvGrpSpPr/>
          <p:nvPr/>
        </p:nvGrpSpPr>
        <p:grpSpPr>
          <a:xfrm>
            <a:off x="789950" y="1680503"/>
            <a:ext cx="10849750" cy="5009467"/>
            <a:chOff x="1196350" y="1680503"/>
            <a:chExt cx="10849750" cy="5009467"/>
          </a:xfrm>
        </p:grpSpPr>
        <p:graphicFrame>
          <p:nvGraphicFramePr>
            <p:cNvPr id="1472" name="Google Shape;1472;p64"/>
            <p:cNvGraphicFramePr/>
            <p:nvPr>
              <p:extLst>
                <p:ext uri="{D42A27DB-BD31-4B8C-83A1-F6EECF244321}">
                  <p14:modId xmlns:p14="http://schemas.microsoft.com/office/powerpoint/2010/main" val="3713217405"/>
                </p:ext>
              </p:extLst>
            </p:nvPr>
          </p:nvGraphicFramePr>
          <p:xfrm>
            <a:off x="6620013" y="3080925"/>
            <a:ext cx="2518975" cy="426690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1558787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960188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PFN</a:t>
                        </a:r>
                        <a:endParaRPr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C9DAF8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offset</a:t>
                        </a:r>
                        <a:endParaRPr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CE5CD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graphicFrame>
          <p:nvGraphicFramePr>
            <p:cNvPr id="1473" name="Google Shape;1473;p64"/>
            <p:cNvGraphicFramePr/>
            <p:nvPr>
              <p:extLst>
                <p:ext uri="{D42A27DB-BD31-4B8C-83A1-F6EECF244321}">
                  <p14:modId xmlns:p14="http://schemas.microsoft.com/office/powerpoint/2010/main" val="3232957409"/>
                </p:ext>
              </p:extLst>
            </p:nvPr>
          </p:nvGraphicFramePr>
          <p:xfrm>
            <a:off x="2756650" y="3080925"/>
            <a:ext cx="2342250" cy="426690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13454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99680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28195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VPN</a:t>
                        </a:r>
                        <a:endParaRPr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offset</a:t>
                        </a:r>
                        <a:endParaRPr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CE5CD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sp>
          <p:nvSpPr>
            <p:cNvPr id="1474" name="Google Shape;1474;p64"/>
            <p:cNvSpPr/>
            <p:nvPr/>
          </p:nvSpPr>
          <p:spPr>
            <a:xfrm>
              <a:off x="1196350" y="2883030"/>
              <a:ext cx="794100" cy="7920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CPU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475" name="Google Shape;1475;p64"/>
            <p:cNvCxnSpPr>
              <a:stCxn id="1474" idx="3"/>
            </p:cNvCxnSpPr>
            <p:nvPr/>
          </p:nvCxnSpPr>
          <p:spPr>
            <a:xfrm>
              <a:off x="1990450" y="3279030"/>
              <a:ext cx="746400" cy="2100"/>
            </a:xfrm>
            <a:prstGeom prst="straightConnector1">
              <a:avLst/>
            </a:prstGeom>
            <a:noFill/>
            <a:ln w="2857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476" name="Google Shape;1476;p64"/>
            <p:cNvSpPr txBox="1"/>
            <p:nvPr/>
          </p:nvSpPr>
          <p:spPr>
            <a:xfrm>
              <a:off x="3514912" y="5271811"/>
              <a:ext cx="1508600" cy="430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index = </a:t>
              </a:r>
              <a:r>
                <a:rPr lang="es-ES" sz="16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VPN</a:t>
              </a:r>
              <a:endParaRPr sz="1100" b="1" dirty="0">
                <a:solidFill>
                  <a:schemeClr val="accent2"/>
                </a:solidFill>
              </a:endParaRPr>
            </a:p>
          </p:txBody>
        </p:sp>
        <p:sp>
          <p:nvSpPr>
            <p:cNvPr id="1477" name="Google Shape;1477;p64"/>
            <p:cNvSpPr txBox="1"/>
            <p:nvPr/>
          </p:nvSpPr>
          <p:spPr>
            <a:xfrm>
              <a:off x="11089700" y="2942425"/>
              <a:ext cx="956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PFN</a:t>
              </a: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|</a:t>
              </a:r>
              <a:r>
                <a:rPr lang="es-ES" sz="10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00...00</a:t>
              </a:r>
              <a:endParaRPr sz="1000">
                <a:solidFill>
                  <a:srgbClr val="FF0000"/>
                </a:solidFill>
              </a:endParaRPr>
            </a:p>
          </p:txBody>
        </p:sp>
        <p:graphicFrame>
          <p:nvGraphicFramePr>
            <p:cNvPr id="1478" name="Google Shape;1478;p64"/>
            <p:cNvGraphicFramePr/>
            <p:nvPr>
              <p:extLst>
                <p:ext uri="{D42A27DB-BD31-4B8C-83A1-F6EECF244321}">
                  <p14:modId xmlns:p14="http://schemas.microsoft.com/office/powerpoint/2010/main" val="1547649189"/>
                </p:ext>
              </p:extLst>
            </p:nvPr>
          </p:nvGraphicFramePr>
          <p:xfrm>
            <a:off x="5313025" y="3977430"/>
            <a:ext cx="1204300" cy="2712540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38285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82145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336900">
                  <a:tc gridSpan="2"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endParaRPr lang="es-CO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36900">
                  <a:tc gridSpan="2"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endParaRPr lang="es-CO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336900">
                  <a:tc gridSpan="2"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endParaRPr lang="es-CO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3369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 dirty="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V</a:t>
                        </a:r>
                        <a:endParaRPr sz="1600" dirty="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4CC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100"/>
                          <a:buFont typeface="Arial"/>
                          <a:buNone/>
                        </a:pPr>
                        <a:r>
                          <a:rPr lang="es-ES" sz="1600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PFN</a:t>
                        </a:r>
                        <a:endParaRPr sz="1600" dirty="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C9DAF8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336900">
                  <a:tc gridSpan="2"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endParaRPr lang="es-CO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336900">
                  <a:tc gridSpan="2"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dirty="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endParaRPr lang="es-CO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</a:tbl>
            </a:graphicData>
          </a:graphic>
        </p:graphicFrame>
        <p:sp>
          <p:nvSpPr>
            <p:cNvPr id="1479" name="Google Shape;1479;p64"/>
            <p:cNvSpPr/>
            <p:nvPr/>
          </p:nvSpPr>
          <p:spPr>
            <a:xfrm>
              <a:off x="5004413" y="3977425"/>
              <a:ext cx="237738" cy="1375625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80" name="Google Shape;1480;p64"/>
            <p:cNvCxnSpPr>
              <a:cxnSpLocks/>
            </p:cNvCxnSpPr>
            <p:nvPr/>
          </p:nvCxnSpPr>
          <p:spPr>
            <a:xfrm rot="16200000" flipH="1">
              <a:off x="3352938" y="3645037"/>
              <a:ext cx="2109475" cy="1801850"/>
            </a:xfrm>
            <a:prstGeom prst="bentConnector3">
              <a:avLst>
                <a:gd name="adj1" fmla="val 100120"/>
              </a:avLst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81" name="Google Shape;1481;p64"/>
            <p:cNvCxnSpPr>
              <a:cxnSpLocks/>
            </p:cNvCxnSpPr>
            <p:nvPr/>
          </p:nvCxnSpPr>
          <p:spPr>
            <a:xfrm rot="5400000" flipH="1" flipV="1">
              <a:off x="5949569" y="4054669"/>
              <a:ext cx="2109475" cy="982588"/>
            </a:xfrm>
            <a:prstGeom prst="bentConnector3">
              <a:avLst>
                <a:gd name="adj1" fmla="val -120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1482" name="Google Shape;1482;p64"/>
            <p:cNvGrpSpPr/>
            <p:nvPr/>
          </p:nvGrpSpPr>
          <p:grpSpPr>
            <a:xfrm>
              <a:off x="4731562" y="2558150"/>
              <a:ext cx="4023905" cy="536500"/>
              <a:chOff x="4813050" y="1928325"/>
              <a:chExt cx="4746850" cy="536500"/>
            </a:xfrm>
          </p:grpSpPr>
          <p:cxnSp>
            <p:nvCxnSpPr>
              <p:cNvPr id="1483" name="Google Shape;1483;p64"/>
              <p:cNvCxnSpPr/>
              <p:nvPr/>
            </p:nvCxnSpPr>
            <p:spPr>
              <a:xfrm rot="10800000">
                <a:off x="4813050" y="1928425"/>
                <a:ext cx="0" cy="5364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84" name="Google Shape;1484;p64"/>
              <p:cNvCxnSpPr/>
              <p:nvPr/>
            </p:nvCxnSpPr>
            <p:spPr>
              <a:xfrm>
                <a:off x="4824700" y="1928325"/>
                <a:ext cx="4735200" cy="513300"/>
              </a:xfrm>
              <a:prstGeom prst="bentConnector3">
                <a:avLst>
                  <a:gd name="adj1" fmla="val 99703"/>
                </a:avLst>
              </a:pr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graphicFrame>
          <p:nvGraphicFramePr>
            <p:cNvPr id="1485" name="Google Shape;1485;p64"/>
            <p:cNvGraphicFramePr/>
            <p:nvPr>
              <p:extLst>
                <p:ext uri="{D42A27DB-BD31-4B8C-83A1-F6EECF244321}">
                  <p14:modId xmlns:p14="http://schemas.microsoft.com/office/powerpoint/2010/main" val="3163048122"/>
                </p:ext>
              </p:extLst>
            </p:nvPr>
          </p:nvGraphicFramePr>
          <p:xfrm>
            <a:off x="9885388" y="1680503"/>
            <a:ext cx="1204300" cy="4114530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12043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37785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dirty="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PF0</a:t>
                        </a:r>
                        <a:endParaRPr dirty="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7785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100"/>
                          <a:buFont typeface="Arial"/>
                          <a:buNone/>
                        </a:pPr>
                        <a:r>
                          <a:rPr lang="es-ES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PF1</a:t>
                        </a: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37785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100"/>
                          <a:buFont typeface="Arial"/>
                          <a:buNone/>
                        </a:pPr>
                        <a:r>
                          <a:rPr lang="es-ES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...</a:t>
                        </a: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rgbClr val="000000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37785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100"/>
                          <a:buFont typeface="Arial"/>
                          <a:buNone/>
                        </a:pPr>
                        <a:r>
                          <a:rPr lang="es-ES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PFN</a:t>
                        </a: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B6D7A8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37785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...</a:t>
                        </a: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37785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100"/>
                          <a:buFont typeface="Arial"/>
                          <a:buNone/>
                        </a:pP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37785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  <a:tr h="37785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100"/>
                          <a:buFont typeface="Arial"/>
                          <a:buNone/>
                        </a:pP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7"/>
                    </a:ext>
                  </a:extLst>
                </a:tr>
                <a:tr h="37785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100"/>
                          <a:buFont typeface="Arial"/>
                          <a:buNone/>
                        </a:pPr>
                        <a:endParaRPr dirty="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8"/>
                    </a:ext>
                  </a:extLst>
                </a:tr>
              </a:tbl>
            </a:graphicData>
          </a:graphic>
        </p:graphicFrame>
        <p:cxnSp>
          <p:nvCxnSpPr>
            <p:cNvPr id="1486" name="Google Shape;1486;p64"/>
            <p:cNvCxnSpPr/>
            <p:nvPr/>
          </p:nvCxnSpPr>
          <p:spPr>
            <a:xfrm>
              <a:off x="9139000" y="3277980"/>
              <a:ext cx="746400" cy="2100"/>
            </a:xfrm>
            <a:prstGeom prst="straightConnector1">
              <a:avLst/>
            </a:prstGeom>
            <a:noFill/>
            <a:ln w="2857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487" name="Google Shape;1487;p64"/>
            <p:cNvSpPr txBox="1"/>
            <p:nvPr/>
          </p:nvSpPr>
          <p:spPr>
            <a:xfrm>
              <a:off x="11089700" y="3277975"/>
              <a:ext cx="956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PFN</a:t>
              </a:r>
              <a:r>
                <a:rPr lang="es-ES" sz="10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|</a:t>
              </a:r>
              <a:r>
                <a:rPr lang="es-ES" sz="10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11...11</a:t>
              </a:r>
              <a:endParaRPr sz="1000">
                <a:solidFill>
                  <a:srgbClr val="FF0000"/>
                </a:solidFill>
              </a:endParaRPr>
            </a:p>
          </p:txBody>
        </p:sp>
        <p:sp>
          <p:nvSpPr>
            <p:cNvPr id="1488" name="Google Shape;1488;p64"/>
            <p:cNvSpPr txBox="1"/>
            <p:nvPr/>
          </p:nvSpPr>
          <p:spPr>
            <a:xfrm>
              <a:off x="2756650" y="2558150"/>
              <a:ext cx="956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 dirty="0">
                  <a:solidFill>
                    <a:srgbClr val="9E9E9E"/>
                  </a:solidFill>
                  <a:latin typeface="Consolas"/>
                  <a:ea typeface="Consolas"/>
                  <a:cs typeface="Consolas"/>
                  <a:sym typeface="Consolas"/>
                </a:rPr>
                <a:t>Virtual Address</a:t>
              </a:r>
              <a:endParaRPr sz="1200" b="1" dirty="0">
                <a:solidFill>
                  <a:srgbClr val="9E9E9E"/>
                </a:solidFill>
              </a:endParaRPr>
            </a:p>
          </p:txBody>
        </p:sp>
        <p:sp>
          <p:nvSpPr>
            <p:cNvPr id="1489" name="Google Shape;1489;p64"/>
            <p:cNvSpPr txBox="1"/>
            <p:nvPr/>
          </p:nvSpPr>
          <p:spPr>
            <a:xfrm>
              <a:off x="6620025" y="2558150"/>
              <a:ext cx="956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 dirty="0">
                  <a:solidFill>
                    <a:srgbClr val="9E9E9E"/>
                  </a:solidFill>
                  <a:latin typeface="Consolas"/>
                  <a:ea typeface="Consolas"/>
                  <a:cs typeface="Consolas"/>
                  <a:sym typeface="Consolas"/>
                </a:rPr>
                <a:t>Physical Address</a:t>
              </a:r>
              <a:endParaRPr sz="1200" b="1" dirty="0">
                <a:solidFill>
                  <a:srgbClr val="9E9E9E"/>
                </a:solidFill>
              </a:endParaRPr>
            </a:p>
          </p:txBody>
        </p:sp>
        <p:sp>
          <p:nvSpPr>
            <p:cNvPr id="1490" name="Google Shape;1490;p64"/>
            <p:cNvSpPr txBox="1"/>
            <p:nvPr/>
          </p:nvSpPr>
          <p:spPr>
            <a:xfrm>
              <a:off x="2092625" y="2883025"/>
              <a:ext cx="446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VA</a:t>
              </a:r>
              <a:endParaRPr b="1">
                <a:solidFill>
                  <a:schemeClr val="accent5"/>
                </a:solidFill>
              </a:endParaRPr>
            </a:p>
          </p:txBody>
        </p:sp>
        <p:sp>
          <p:nvSpPr>
            <p:cNvPr id="1491" name="Google Shape;1491;p64"/>
            <p:cNvSpPr txBox="1"/>
            <p:nvPr/>
          </p:nvSpPr>
          <p:spPr>
            <a:xfrm>
              <a:off x="9220650" y="2911675"/>
              <a:ext cx="446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PA</a:t>
              </a:r>
              <a:endParaRPr b="1">
                <a:solidFill>
                  <a:schemeClr val="accent5"/>
                </a:solidFill>
              </a:endParaRPr>
            </a:p>
          </p:txBody>
        </p:sp>
        <p:sp>
          <p:nvSpPr>
            <p:cNvPr id="29" name="Google Shape;1476;p64">
              <a:extLst>
                <a:ext uri="{FF2B5EF4-FFF2-40B4-BE49-F238E27FC236}">
                  <a16:creationId xmlns:a16="http://schemas.microsoft.com/office/drawing/2014/main" id="{2F4AEFD8-89B0-4145-AD0D-4F78D512957C}"/>
                </a:ext>
              </a:extLst>
            </p:cNvPr>
            <p:cNvSpPr txBox="1"/>
            <p:nvPr/>
          </p:nvSpPr>
          <p:spPr>
            <a:xfrm>
              <a:off x="6854196" y="3481750"/>
              <a:ext cx="763368" cy="430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chemeClr val="accent1"/>
                  </a:solidFill>
                  <a:latin typeface="Consolas"/>
                  <a:sym typeface="Consolas"/>
                </a:rPr>
                <a:t>PFN</a:t>
              </a:r>
              <a:endParaRPr sz="1100" b="1" dirty="0">
                <a:solidFill>
                  <a:schemeClr val="accent1"/>
                </a:solidFill>
              </a:endParaRP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p6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Traducción de direcciones </a:t>
            </a:r>
            <a:endParaRPr sz="3200" b="1" dirty="0">
              <a:solidFill>
                <a:srgbClr val="701E5C"/>
              </a:solidFill>
              <a:latin typeface="+mj-lt"/>
              <a:ea typeface="Roboto Slab"/>
              <a:cs typeface="Roboto Slab"/>
              <a:sym typeface="Roboto Slab"/>
            </a:endParaRPr>
          </a:p>
        </p:txBody>
      </p:sp>
      <p:sp>
        <p:nvSpPr>
          <p:cNvPr id="1497" name="Google Shape;1497;p65"/>
          <p:cNvSpPr txBox="1">
            <a:spLocks noGrp="1"/>
          </p:cNvSpPr>
          <p:nvPr>
            <p:ph type="body" idx="1"/>
          </p:nvPr>
        </p:nvSpPr>
        <p:spPr>
          <a:xfrm>
            <a:off x="370050" y="1045538"/>
            <a:ext cx="5202600" cy="4406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FF0000"/>
                </a:solidFill>
                <a:latin typeface="+mn-lt"/>
              </a:rPr>
              <a:t>Ejemplo</a:t>
            </a:r>
            <a:endParaRPr sz="2400" b="1" dirty="0">
              <a:solidFill>
                <a:srgbClr val="FF0000"/>
              </a:solidFill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dirty="0">
                <a:latin typeface="+mn-lt"/>
              </a:rPr>
              <a:t>A continuación se muestra una memoria virtual y una física que almacenan datos de 1 byte. Teniendo en cuenta la información anterior y la siguiente figura, completar la siguiente información: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s-ES" sz="2000" dirty="0">
                <a:latin typeface="+mn-lt"/>
              </a:rPr>
              <a:t>Número de páginas: ______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s-ES" sz="2000" dirty="0">
                <a:latin typeface="+mn-lt"/>
              </a:rPr>
              <a:t>Número de frames: ______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s-ES" sz="2000" dirty="0">
                <a:latin typeface="+mn-lt"/>
              </a:rPr>
              <a:t>Tamaño de la página: ______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s-ES" sz="2000" dirty="0">
                <a:latin typeface="+mn-lt"/>
              </a:rPr>
              <a:t>Offset: ______ bits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s-ES" sz="2000" dirty="0">
                <a:latin typeface="+mn-lt"/>
              </a:rPr>
              <a:t>VPN: ______ bits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s-ES" sz="2000" dirty="0">
                <a:latin typeface="+mn-lt"/>
              </a:rPr>
              <a:t>PFN: ______ bits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s-ES" sz="2000" dirty="0">
                <a:latin typeface="+mn-lt"/>
              </a:rPr>
              <a:t>Número total de </a:t>
            </a:r>
            <a:r>
              <a:rPr lang="es-ES" sz="2000" dirty="0" err="1">
                <a:latin typeface="+mn-lt"/>
              </a:rPr>
              <a:t>PTEs</a:t>
            </a:r>
            <a:r>
              <a:rPr lang="es-ES" sz="2000" dirty="0">
                <a:latin typeface="+mn-lt"/>
              </a:rPr>
              <a:t>: ______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pic>
        <p:nvPicPr>
          <p:cNvPr id="1498" name="Google Shape;1498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5400" y="1204875"/>
            <a:ext cx="4325275" cy="539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6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b="0" dirty="0">
                <a:latin typeface="+mn-lt"/>
              </a:rPr>
              <a:t>Traducción de direcciones </a:t>
            </a:r>
            <a:endParaRPr sz="3200" b="0" dirty="0">
              <a:solidFill>
                <a:srgbClr val="701E5C"/>
              </a:solidFill>
              <a:latin typeface="+mn-lt"/>
              <a:sym typeface="Roboto Slab"/>
            </a:endParaRPr>
          </a:p>
        </p:txBody>
      </p:sp>
      <p:sp>
        <p:nvSpPr>
          <p:cNvPr id="1504" name="Google Shape;1504;p66"/>
          <p:cNvSpPr txBox="1">
            <a:spLocks noGrp="1"/>
          </p:cNvSpPr>
          <p:nvPr>
            <p:ph type="body" idx="1"/>
          </p:nvPr>
        </p:nvSpPr>
        <p:spPr>
          <a:xfrm>
            <a:off x="254000" y="775075"/>
            <a:ext cx="6604000" cy="1363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FF0000"/>
                </a:solidFill>
                <a:latin typeface="+mn-lt"/>
              </a:rPr>
              <a:t>Ejemplo</a:t>
            </a:r>
            <a:endParaRPr sz="2400" b="1" dirty="0">
              <a:solidFill>
                <a:srgbClr val="FF0000"/>
              </a:solidFill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AutoNum type="arabicPeriod" startAt="2"/>
            </a:pPr>
            <a:r>
              <a:rPr lang="es-ES" sz="2000" dirty="0">
                <a:latin typeface="+mn-lt"/>
              </a:rPr>
              <a:t>Teniendo en cuenta la tabla de página (page table). Llenar la siguiente tabla: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pic>
        <p:nvPicPr>
          <p:cNvPr id="1505" name="Google Shape;1505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1600" y="880438"/>
            <a:ext cx="4325275" cy="53929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06" name="Google Shape;1506;p66"/>
          <p:cNvGraphicFramePr/>
          <p:nvPr>
            <p:extLst>
              <p:ext uri="{D42A27DB-BD31-4B8C-83A1-F6EECF244321}">
                <p14:modId xmlns:p14="http://schemas.microsoft.com/office/powerpoint/2010/main" val="365099667"/>
              </p:ext>
            </p:extLst>
          </p:nvPr>
        </p:nvGraphicFramePr>
        <p:xfrm>
          <a:off x="2021762" y="1996530"/>
          <a:ext cx="3343025" cy="222486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1501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580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Virtual Address</a:t>
                      </a:r>
                      <a:endParaRPr sz="1400" b="1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Physical Address</a:t>
                      </a:r>
                      <a:endParaRPr sz="1400" b="1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0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0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0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0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30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07" name="Google Shape;1507;p66"/>
          <p:cNvSpPr/>
          <p:nvPr/>
        </p:nvSpPr>
        <p:spPr>
          <a:xfrm>
            <a:off x="1803724" y="4311426"/>
            <a:ext cx="3779100" cy="4083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latin typeface="Consolas"/>
                <a:ea typeface="Consolas"/>
                <a:cs typeface="Consolas"/>
                <a:sym typeface="Consolas"/>
              </a:rPr>
              <a:t>PA = PFN*size(page) + offset</a:t>
            </a:r>
            <a:endParaRPr sz="1800" b="1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6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b="0" dirty="0">
                <a:latin typeface="+mj-lt"/>
              </a:rPr>
              <a:t>Traducción de direcciones </a:t>
            </a:r>
            <a:endParaRPr sz="3200" b="0" dirty="0">
              <a:solidFill>
                <a:srgbClr val="701E5C"/>
              </a:solidFill>
              <a:latin typeface="+mj-lt"/>
              <a:sym typeface="Roboto Slab"/>
            </a:endParaRPr>
          </a:p>
        </p:txBody>
      </p:sp>
      <p:sp>
        <p:nvSpPr>
          <p:cNvPr id="1513" name="Google Shape;1513;p67"/>
          <p:cNvSpPr txBox="1">
            <a:spLocks noGrp="1"/>
          </p:cNvSpPr>
          <p:nvPr>
            <p:ph type="body" idx="1"/>
          </p:nvPr>
        </p:nvSpPr>
        <p:spPr>
          <a:xfrm>
            <a:off x="368300" y="775075"/>
            <a:ext cx="5879350" cy="14855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FF0000"/>
                </a:solidFill>
                <a:latin typeface="+mn-lt"/>
              </a:rPr>
              <a:t>Ejemplo</a:t>
            </a:r>
            <a:endParaRPr sz="2400" b="1" dirty="0">
              <a:solidFill>
                <a:srgbClr val="FF0000"/>
              </a:solidFill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AutoNum type="arabicPeriod" startAt="3"/>
            </a:pPr>
            <a:r>
              <a:rPr lang="es-ES" sz="2000" dirty="0">
                <a:latin typeface="+mn-lt"/>
              </a:rPr>
              <a:t>Suponga que se va a obtener de memoria la letra </a:t>
            </a:r>
            <a:r>
              <a:rPr lang="es-ES" sz="2000" b="1" dirty="0">
                <a:latin typeface="Consolas" panose="020B0609020204030204" pitchFamily="49" charset="0"/>
                <a:ea typeface="Roboto" panose="02000000000000000000" pitchFamily="2" charset="0"/>
              </a:rPr>
              <a:t>h</a:t>
            </a:r>
            <a:r>
              <a:rPr lang="es-ES" sz="2000" dirty="0">
                <a:latin typeface="+mn-lt"/>
              </a:rPr>
              <a:t> a un registro de la CPU (llamado </a:t>
            </a:r>
            <a:r>
              <a:rPr lang="es-ES" sz="2000" b="1" dirty="0">
                <a:latin typeface="Consolas" panose="020B0609020204030204" pitchFamily="49" charset="0"/>
                <a:ea typeface="Roboto" panose="02000000000000000000" pitchFamily="2" charset="0"/>
              </a:rPr>
              <a:t>%eax</a:t>
            </a:r>
            <a:r>
              <a:rPr lang="es-ES" sz="2000" dirty="0">
                <a:latin typeface="+mn-lt"/>
              </a:rPr>
              <a:t>) para lo cual se usa la siguiente instrucción: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pic>
        <p:nvPicPr>
          <p:cNvPr id="1514" name="Google Shape;1514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0075" y="1045538"/>
            <a:ext cx="4325275" cy="539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5" name="Google Shape;1515;p67"/>
          <p:cNvSpPr/>
          <p:nvPr/>
        </p:nvSpPr>
        <p:spPr>
          <a:xfrm>
            <a:off x="2264525" y="2436313"/>
            <a:ext cx="2589300" cy="4083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mov VA, %eax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16" name="Google Shape;1516;p67"/>
          <p:cNvSpPr txBox="1"/>
          <p:nvPr/>
        </p:nvSpPr>
        <p:spPr>
          <a:xfrm>
            <a:off x="844374" y="3020326"/>
            <a:ext cx="5251625" cy="1172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Donde </a:t>
            </a:r>
            <a:r>
              <a:rPr lang="es-ES" sz="2000" b="1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VA</a:t>
            </a: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 es la dirección virtual donde se encuentra </a:t>
            </a:r>
            <a:r>
              <a:rPr lang="es-ES" sz="2000" b="1" dirty="0">
                <a:solidFill>
                  <a:schemeClr val="dk1"/>
                </a:solidFill>
                <a:latin typeface="Consolas" panose="020B0609020204030204" pitchFamily="49" charset="0"/>
                <a:ea typeface="Roboto" panose="02000000000000000000" pitchFamily="2" charset="0"/>
                <a:cs typeface="Roboto"/>
                <a:sym typeface="Roboto"/>
              </a:rPr>
              <a:t>h</a:t>
            </a: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. ¿Cual es el formato correspondiente a </a:t>
            </a:r>
            <a:r>
              <a:rPr lang="es-ES" sz="2000" b="1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VA</a:t>
            </a: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 y </a:t>
            </a:r>
            <a:r>
              <a:rPr lang="es-ES" sz="2000" b="1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PA</a:t>
            </a: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?</a:t>
            </a:r>
            <a:endParaRPr dirty="0">
              <a:ea typeface="Roboto" panose="02000000000000000000" pitchFamily="2" charset="0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p6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Procesos y espacio de direcciones</a:t>
            </a:r>
            <a:endParaRPr dirty="0"/>
          </a:p>
        </p:txBody>
      </p:sp>
      <p:sp>
        <p:nvSpPr>
          <p:cNvPr id="1528" name="Google Shape;1528;p69"/>
          <p:cNvSpPr txBox="1">
            <a:spLocks noGrp="1"/>
          </p:cNvSpPr>
          <p:nvPr>
            <p:ph idx="1"/>
          </p:nvPr>
        </p:nvSpPr>
        <p:spPr>
          <a:xfrm>
            <a:off x="342900" y="1285975"/>
            <a:ext cx="11734800" cy="1794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5"/>
                </a:solidFill>
              </a:rPr>
              <a:t>¿Que pasa cuando se ejecutan varios procesos?</a:t>
            </a:r>
            <a:endParaRPr sz="2400" dirty="0">
              <a:solidFill>
                <a:schemeClr val="accent5"/>
              </a:solidFill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Se crea una tabla de página separada para cada proceso.</a:t>
            </a:r>
            <a:endParaRPr sz="2000" dirty="0"/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s-ES" sz="2000" dirty="0"/>
              <a:t>No hay manera de acceder a la memoria física de otro proceso.</a:t>
            </a:r>
            <a:endParaRPr sz="2000" dirty="0"/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s-ES" sz="2000" dirty="0"/>
              <a:t>En un context switch, el registro del MMU es apuntado a la dirección base de la tabla de página del proceso que se encuentra en ejecución.</a:t>
            </a: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2" name="Google Shape;216;p20">
            <a:extLst>
              <a:ext uri="{FF2B5EF4-FFF2-40B4-BE49-F238E27FC236}">
                <a16:creationId xmlns:a16="http://schemas.microsoft.com/office/drawing/2014/main" id="{F74B7528-2685-4B90-BACD-1033DF57295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7332" y="5096761"/>
            <a:ext cx="1163500" cy="11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217;p20">
            <a:extLst>
              <a:ext uri="{FF2B5EF4-FFF2-40B4-BE49-F238E27FC236}">
                <a16:creationId xmlns:a16="http://schemas.microsoft.com/office/drawing/2014/main" id="{B515847D-8136-4ADA-BE8A-EA4BD8B538F8}"/>
              </a:ext>
            </a:extLst>
          </p:cNvPr>
          <p:cNvSpPr/>
          <p:nvPr/>
        </p:nvSpPr>
        <p:spPr>
          <a:xfrm>
            <a:off x="1011588" y="3429000"/>
            <a:ext cx="519325" cy="52213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P1</a:t>
            </a:r>
            <a:endParaRPr sz="1200" dirty="0"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pic>
        <p:nvPicPr>
          <p:cNvPr id="35" name="Google Shape;219;p20">
            <a:extLst>
              <a:ext uri="{FF2B5EF4-FFF2-40B4-BE49-F238E27FC236}">
                <a16:creationId xmlns:a16="http://schemas.microsoft.com/office/drawing/2014/main" id="{3EB1B3B6-CEBF-4715-A8EA-5158BEF0563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1588" y="3976998"/>
            <a:ext cx="506625" cy="51947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220;p20">
            <a:extLst>
              <a:ext uri="{FF2B5EF4-FFF2-40B4-BE49-F238E27FC236}">
                <a16:creationId xmlns:a16="http://schemas.microsoft.com/office/drawing/2014/main" id="{EF0910E0-8970-422D-A152-3EEAED0DBCAD}"/>
              </a:ext>
            </a:extLst>
          </p:cNvPr>
          <p:cNvSpPr/>
          <p:nvPr/>
        </p:nvSpPr>
        <p:spPr>
          <a:xfrm>
            <a:off x="845112" y="4520948"/>
            <a:ext cx="884862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>
                <a:solidFill>
                  <a:srgbClr val="00B050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AS(P1)</a:t>
            </a:r>
            <a:endParaRPr sz="1400" b="1" dirty="0">
              <a:solidFill>
                <a:srgbClr val="00B050"/>
              </a:solidFill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39" name="Google Shape;225;p20">
            <a:extLst>
              <a:ext uri="{FF2B5EF4-FFF2-40B4-BE49-F238E27FC236}">
                <a16:creationId xmlns:a16="http://schemas.microsoft.com/office/drawing/2014/main" id="{E395F462-2655-4274-BDF2-01145F24861C}"/>
              </a:ext>
            </a:extLst>
          </p:cNvPr>
          <p:cNvCxnSpPr>
            <a:cxnSpLocks/>
          </p:cNvCxnSpPr>
          <p:nvPr/>
        </p:nvCxnSpPr>
        <p:spPr>
          <a:xfrm>
            <a:off x="838200" y="5022986"/>
            <a:ext cx="4543570" cy="9712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0" name="Google Shape;226;p20">
            <a:extLst>
              <a:ext uri="{FF2B5EF4-FFF2-40B4-BE49-F238E27FC236}">
                <a16:creationId xmlns:a16="http://schemas.microsoft.com/office/drawing/2014/main" id="{9DDFB086-14A2-4946-8670-FBACAE171B57}"/>
              </a:ext>
            </a:extLst>
          </p:cNvPr>
          <p:cNvSpPr txBox="1"/>
          <p:nvPr/>
        </p:nvSpPr>
        <p:spPr>
          <a:xfrm>
            <a:off x="3842170" y="4272999"/>
            <a:ext cx="1539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70AD47"/>
                </a:solidFill>
                <a:latin typeface="Courier New"/>
                <a:ea typeface="Courier New"/>
                <a:cs typeface="Courier New"/>
                <a:sym typeface="Courier New"/>
              </a:rPr>
              <a:t>Memoria Virtual</a:t>
            </a:r>
            <a:endParaRPr sz="1600" b="1" dirty="0">
              <a:solidFill>
                <a:srgbClr val="70AD4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" name="Google Shape;227;p20">
            <a:extLst>
              <a:ext uri="{FF2B5EF4-FFF2-40B4-BE49-F238E27FC236}">
                <a16:creationId xmlns:a16="http://schemas.microsoft.com/office/drawing/2014/main" id="{BB361E98-B5FE-479C-8E89-B17B58F9F2D4}"/>
              </a:ext>
            </a:extLst>
          </p:cNvPr>
          <p:cNvSpPr txBox="1"/>
          <p:nvPr/>
        </p:nvSpPr>
        <p:spPr>
          <a:xfrm>
            <a:off x="3842170" y="5105585"/>
            <a:ext cx="1539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24292E"/>
                </a:solidFill>
                <a:latin typeface="Courier New"/>
                <a:ea typeface="Courier New"/>
                <a:cs typeface="Courier New"/>
                <a:sym typeface="Courier New"/>
              </a:rPr>
              <a:t>Memoria Física</a:t>
            </a:r>
            <a:endParaRPr sz="1600" b="1" dirty="0">
              <a:solidFill>
                <a:srgbClr val="24292E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" name="Google Shape;217;p20">
            <a:extLst>
              <a:ext uri="{FF2B5EF4-FFF2-40B4-BE49-F238E27FC236}">
                <a16:creationId xmlns:a16="http://schemas.microsoft.com/office/drawing/2014/main" id="{647AC6B5-C713-4166-9688-69580BDBD3B3}"/>
              </a:ext>
            </a:extLst>
          </p:cNvPr>
          <p:cNvSpPr/>
          <p:nvPr/>
        </p:nvSpPr>
        <p:spPr>
          <a:xfrm>
            <a:off x="2070101" y="3429000"/>
            <a:ext cx="519325" cy="522136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P2</a:t>
            </a:r>
            <a:endParaRPr sz="1200" dirty="0"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sp>
        <p:nvSpPr>
          <p:cNvPr id="44" name="Google Shape;217;p20">
            <a:extLst>
              <a:ext uri="{FF2B5EF4-FFF2-40B4-BE49-F238E27FC236}">
                <a16:creationId xmlns:a16="http://schemas.microsoft.com/office/drawing/2014/main" id="{54C302D6-EBCC-438C-BD4B-B3B1BF677872}"/>
              </a:ext>
            </a:extLst>
          </p:cNvPr>
          <p:cNvSpPr/>
          <p:nvPr/>
        </p:nvSpPr>
        <p:spPr>
          <a:xfrm>
            <a:off x="3119099" y="3429000"/>
            <a:ext cx="519325" cy="52213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P3</a:t>
            </a:r>
            <a:endParaRPr sz="1200" dirty="0"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pic>
        <p:nvPicPr>
          <p:cNvPr id="45" name="Google Shape;219;p20">
            <a:extLst>
              <a:ext uri="{FF2B5EF4-FFF2-40B4-BE49-F238E27FC236}">
                <a16:creationId xmlns:a16="http://schemas.microsoft.com/office/drawing/2014/main" id="{C8F2ECE2-1803-4F5B-8492-AD04DDF25F3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2801" y="4003899"/>
            <a:ext cx="506625" cy="51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219;p20">
            <a:extLst>
              <a:ext uri="{FF2B5EF4-FFF2-40B4-BE49-F238E27FC236}">
                <a16:creationId xmlns:a16="http://schemas.microsoft.com/office/drawing/2014/main" id="{7CA07354-D032-484A-983C-B62134CECAB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9099" y="4020211"/>
            <a:ext cx="506625" cy="51947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220;p20">
            <a:extLst>
              <a:ext uri="{FF2B5EF4-FFF2-40B4-BE49-F238E27FC236}">
                <a16:creationId xmlns:a16="http://schemas.microsoft.com/office/drawing/2014/main" id="{4CDA265D-1ECD-4F39-9AF0-EFE1C380A4B5}"/>
              </a:ext>
            </a:extLst>
          </p:cNvPr>
          <p:cNvSpPr/>
          <p:nvPr/>
        </p:nvSpPr>
        <p:spPr>
          <a:xfrm>
            <a:off x="1887332" y="4513223"/>
            <a:ext cx="884862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>
                <a:solidFill>
                  <a:schemeClr val="accent5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AS(P2)</a:t>
            </a:r>
            <a:endParaRPr sz="1400" b="1" dirty="0">
              <a:solidFill>
                <a:schemeClr val="accent5"/>
              </a:solidFill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sp>
        <p:nvSpPr>
          <p:cNvPr id="48" name="Google Shape;220;p20">
            <a:extLst>
              <a:ext uri="{FF2B5EF4-FFF2-40B4-BE49-F238E27FC236}">
                <a16:creationId xmlns:a16="http://schemas.microsoft.com/office/drawing/2014/main" id="{A470C756-ACFE-424E-BAC5-FC140C42B522}"/>
              </a:ext>
            </a:extLst>
          </p:cNvPr>
          <p:cNvSpPr/>
          <p:nvPr/>
        </p:nvSpPr>
        <p:spPr>
          <a:xfrm>
            <a:off x="2957308" y="4504011"/>
            <a:ext cx="884862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>
                <a:solidFill>
                  <a:srgbClr val="C00000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AS(P3)</a:t>
            </a:r>
            <a:endParaRPr sz="1400" b="1" dirty="0">
              <a:solidFill>
                <a:srgbClr val="C00000"/>
              </a:solidFill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85160226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p6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Procesos y espacio de direcciones</a:t>
            </a:r>
            <a:endParaRPr/>
          </a:p>
        </p:txBody>
      </p:sp>
      <p:sp>
        <p:nvSpPr>
          <p:cNvPr id="1528" name="Google Shape;1528;p69"/>
          <p:cNvSpPr txBox="1">
            <a:spLocks noGrp="1"/>
          </p:cNvSpPr>
          <p:nvPr>
            <p:ph idx="1"/>
          </p:nvPr>
        </p:nvSpPr>
        <p:spPr>
          <a:xfrm>
            <a:off x="371525" y="1464950"/>
            <a:ext cx="11164800" cy="59504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5"/>
                </a:solidFill>
              </a:rPr>
              <a:t>¿Que pasa cuando se ejecutan varios procesos?</a:t>
            </a: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graphicFrame>
        <p:nvGraphicFramePr>
          <p:cNvPr id="1529" name="Google Shape;1529;p69"/>
          <p:cNvGraphicFramePr/>
          <p:nvPr/>
        </p:nvGraphicFramePr>
        <p:xfrm>
          <a:off x="3609375" y="2632025"/>
          <a:ext cx="2067700" cy="45717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516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6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6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30" name="Google Shape;1530;p69"/>
          <p:cNvGraphicFramePr/>
          <p:nvPr/>
        </p:nvGraphicFramePr>
        <p:xfrm>
          <a:off x="4643225" y="3998200"/>
          <a:ext cx="6203100" cy="79242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516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6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6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6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6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6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69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69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69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169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69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531" name="Google Shape;1531;p69"/>
          <p:cNvGraphicFramePr/>
          <p:nvPr/>
        </p:nvGraphicFramePr>
        <p:xfrm>
          <a:off x="6787150" y="2632025"/>
          <a:ext cx="2067700" cy="45717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516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6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6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32" name="Google Shape;1532;p69"/>
          <p:cNvGraphicFramePr/>
          <p:nvPr/>
        </p:nvGraphicFramePr>
        <p:xfrm>
          <a:off x="9812475" y="2632025"/>
          <a:ext cx="2067700" cy="45717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516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6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6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533" name="Google Shape;1533;p69"/>
          <p:cNvCxnSpPr>
            <a:cxnSpLocks/>
          </p:cNvCxnSpPr>
          <p:nvPr/>
        </p:nvCxnSpPr>
        <p:spPr>
          <a:xfrm>
            <a:off x="3886200" y="3086100"/>
            <a:ext cx="1554750" cy="906650"/>
          </a:xfrm>
          <a:prstGeom prst="straightConnector1">
            <a:avLst/>
          </a:prstGeom>
          <a:noFill/>
          <a:ln w="28575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34" name="Google Shape;1534;p69"/>
          <p:cNvCxnSpPr>
            <a:cxnSpLocks/>
          </p:cNvCxnSpPr>
          <p:nvPr/>
        </p:nvCxnSpPr>
        <p:spPr>
          <a:xfrm>
            <a:off x="4434840" y="3078480"/>
            <a:ext cx="2043885" cy="937370"/>
          </a:xfrm>
          <a:prstGeom prst="straightConnector1">
            <a:avLst/>
          </a:prstGeom>
          <a:noFill/>
          <a:ln w="28575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35" name="Google Shape;1535;p69"/>
          <p:cNvCxnSpPr>
            <a:cxnSpLocks/>
          </p:cNvCxnSpPr>
          <p:nvPr/>
        </p:nvCxnSpPr>
        <p:spPr>
          <a:xfrm>
            <a:off x="4975860" y="3086100"/>
            <a:ext cx="3563320" cy="900005"/>
          </a:xfrm>
          <a:prstGeom prst="straightConnector1">
            <a:avLst/>
          </a:prstGeom>
          <a:noFill/>
          <a:ln w="28575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36" name="Google Shape;1536;p69"/>
          <p:cNvCxnSpPr>
            <a:cxnSpLocks/>
          </p:cNvCxnSpPr>
          <p:nvPr/>
        </p:nvCxnSpPr>
        <p:spPr>
          <a:xfrm>
            <a:off x="5494020" y="3086100"/>
            <a:ext cx="4588630" cy="906650"/>
          </a:xfrm>
          <a:prstGeom prst="straightConnector1">
            <a:avLst/>
          </a:prstGeom>
          <a:noFill/>
          <a:ln w="28575" cap="flat" cmpd="sng">
            <a:solidFill>
              <a:srgbClr val="0B693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37" name="Google Shape;1537;p69"/>
          <p:cNvCxnSpPr>
            <a:cxnSpLocks/>
          </p:cNvCxnSpPr>
          <p:nvPr/>
        </p:nvCxnSpPr>
        <p:spPr>
          <a:xfrm flipH="1">
            <a:off x="4904350" y="3073400"/>
            <a:ext cx="2156850" cy="9193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38" name="Google Shape;1538;p69"/>
          <p:cNvCxnSpPr>
            <a:cxnSpLocks/>
          </p:cNvCxnSpPr>
          <p:nvPr/>
        </p:nvCxnSpPr>
        <p:spPr>
          <a:xfrm flipH="1">
            <a:off x="5953926" y="3073400"/>
            <a:ext cx="1615274" cy="907625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39" name="Google Shape;1539;p69"/>
          <p:cNvCxnSpPr>
            <a:cxnSpLocks/>
          </p:cNvCxnSpPr>
          <p:nvPr/>
        </p:nvCxnSpPr>
        <p:spPr>
          <a:xfrm flipH="1">
            <a:off x="7027000" y="3075063"/>
            <a:ext cx="1039312" cy="917662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40" name="Google Shape;1540;p69"/>
          <p:cNvCxnSpPr>
            <a:cxnSpLocks/>
          </p:cNvCxnSpPr>
          <p:nvPr/>
        </p:nvCxnSpPr>
        <p:spPr>
          <a:xfrm flipH="1">
            <a:off x="8018300" y="3111500"/>
            <a:ext cx="566900" cy="88125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41" name="Google Shape;1541;p69"/>
          <p:cNvCxnSpPr>
            <a:cxnSpLocks/>
          </p:cNvCxnSpPr>
          <p:nvPr/>
        </p:nvCxnSpPr>
        <p:spPr>
          <a:xfrm flipH="1">
            <a:off x="7451375" y="3073400"/>
            <a:ext cx="2594325" cy="907625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42" name="Google Shape;1542;p69"/>
          <p:cNvCxnSpPr>
            <a:cxnSpLocks/>
          </p:cNvCxnSpPr>
          <p:nvPr/>
        </p:nvCxnSpPr>
        <p:spPr>
          <a:xfrm flipH="1">
            <a:off x="9034300" y="3098800"/>
            <a:ext cx="1532100" cy="889845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43" name="Google Shape;1543;p69"/>
          <p:cNvCxnSpPr>
            <a:cxnSpLocks/>
          </p:cNvCxnSpPr>
          <p:nvPr/>
        </p:nvCxnSpPr>
        <p:spPr>
          <a:xfrm flipH="1">
            <a:off x="9557850" y="3073400"/>
            <a:ext cx="1554650" cy="91935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44" name="Google Shape;1544;p69"/>
          <p:cNvCxnSpPr>
            <a:cxnSpLocks/>
          </p:cNvCxnSpPr>
          <p:nvPr/>
        </p:nvCxnSpPr>
        <p:spPr>
          <a:xfrm flipH="1">
            <a:off x="10619125" y="3111500"/>
            <a:ext cx="1001375" cy="881250"/>
          </a:xfrm>
          <a:prstGeom prst="straightConnector1">
            <a:avLst/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45" name="Google Shape;1545;p69"/>
          <p:cNvSpPr/>
          <p:nvPr/>
        </p:nvSpPr>
        <p:spPr>
          <a:xfrm>
            <a:off x="3136700" y="2585163"/>
            <a:ext cx="454800" cy="4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latin typeface="Consolas"/>
                <a:ea typeface="Consolas"/>
                <a:cs typeface="Consolas"/>
                <a:sym typeface="Consolas"/>
              </a:rPr>
              <a:t>P1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46" name="Google Shape;1546;p69"/>
          <p:cNvSpPr/>
          <p:nvPr/>
        </p:nvSpPr>
        <p:spPr>
          <a:xfrm>
            <a:off x="6346188" y="2585163"/>
            <a:ext cx="454800" cy="4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latin typeface="Consolas"/>
                <a:ea typeface="Consolas"/>
                <a:cs typeface="Consolas"/>
                <a:sym typeface="Consolas"/>
              </a:rPr>
              <a:t>P2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47" name="Google Shape;1547;p69"/>
          <p:cNvSpPr/>
          <p:nvPr/>
        </p:nvSpPr>
        <p:spPr>
          <a:xfrm>
            <a:off x="9353750" y="2585163"/>
            <a:ext cx="454800" cy="4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latin typeface="Consolas"/>
                <a:ea typeface="Consolas"/>
                <a:cs typeface="Consolas"/>
                <a:sym typeface="Consolas"/>
              </a:rPr>
              <a:t>P3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548" name="Google Shape;1548;p69"/>
          <p:cNvGraphicFramePr/>
          <p:nvPr>
            <p:extLst>
              <p:ext uri="{D42A27DB-BD31-4B8C-83A1-F6EECF244321}">
                <p14:modId xmlns:p14="http://schemas.microsoft.com/office/powerpoint/2010/main" val="1989929242"/>
              </p:ext>
            </p:extLst>
          </p:nvPr>
        </p:nvGraphicFramePr>
        <p:xfrm>
          <a:off x="5886438" y="5093852"/>
          <a:ext cx="779350" cy="158484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38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94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rgbClr val="00B05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 dirty="0">
                        <a:solidFill>
                          <a:srgbClr val="00B05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4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rgbClr val="00B05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 dirty="0">
                        <a:solidFill>
                          <a:srgbClr val="00B05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4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rgbClr val="00B05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400" dirty="0">
                        <a:solidFill>
                          <a:srgbClr val="00B05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4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rgbClr val="00B05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400" dirty="0">
                        <a:solidFill>
                          <a:srgbClr val="00B05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49" name="Google Shape;1549;p69"/>
          <p:cNvGraphicFramePr/>
          <p:nvPr>
            <p:extLst>
              <p:ext uri="{D42A27DB-BD31-4B8C-83A1-F6EECF244321}">
                <p14:modId xmlns:p14="http://schemas.microsoft.com/office/powerpoint/2010/main" val="3604046602"/>
              </p:ext>
            </p:extLst>
          </p:nvPr>
        </p:nvGraphicFramePr>
        <p:xfrm>
          <a:off x="7462225" y="5096890"/>
          <a:ext cx="779350" cy="158484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38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chemeClr val="bg1">
                            <a:lumMod val="50000"/>
                          </a:schemeClr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 dirty="0">
                        <a:solidFill>
                          <a:schemeClr val="accen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chemeClr val="bg1">
                            <a:lumMod val="50000"/>
                          </a:schemeClr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400" dirty="0">
                        <a:solidFill>
                          <a:schemeClr val="accen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>
                        <a:solidFill>
                          <a:schemeClr val="bg1">
                            <a:lumMod val="50000"/>
                          </a:schemeClr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400" dirty="0">
                        <a:solidFill>
                          <a:schemeClr val="accen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400" dirty="0">
                        <a:solidFill>
                          <a:schemeClr val="accen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50" name="Google Shape;1550;p69"/>
          <p:cNvGraphicFramePr/>
          <p:nvPr>
            <p:extLst>
              <p:ext uri="{D42A27DB-BD31-4B8C-83A1-F6EECF244321}">
                <p14:modId xmlns:p14="http://schemas.microsoft.com/office/powerpoint/2010/main" val="3380303696"/>
              </p:ext>
            </p:extLst>
          </p:nvPr>
        </p:nvGraphicFramePr>
        <p:xfrm>
          <a:off x="8878625" y="5096890"/>
          <a:ext cx="779350" cy="158484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38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rgbClr val="C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400" dirty="0">
                        <a:solidFill>
                          <a:srgbClr val="C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rgbClr val="C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1400" dirty="0">
                        <a:solidFill>
                          <a:srgbClr val="C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rgbClr val="C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1400" dirty="0">
                        <a:solidFill>
                          <a:srgbClr val="C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rgbClr val="C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400" dirty="0">
                        <a:solidFill>
                          <a:srgbClr val="C0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51" name="Google Shape;1551;p69"/>
          <p:cNvSpPr/>
          <p:nvPr/>
        </p:nvSpPr>
        <p:spPr>
          <a:xfrm>
            <a:off x="5575075" y="5641313"/>
            <a:ext cx="454800" cy="4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P1</a:t>
            </a:r>
            <a:endParaRPr sz="1800" b="1" dirty="0">
              <a:solidFill>
                <a:srgbClr val="00B05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52" name="Google Shape;1552;p69"/>
          <p:cNvSpPr/>
          <p:nvPr/>
        </p:nvSpPr>
        <p:spPr>
          <a:xfrm>
            <a:off x="7073350" y="5641313"/>
            <a:ext cx="454800" cy="4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P2</a:t>
            </a:r>
            <a:endParaRPr sz="1800" b="1" dirty="0">
              <a:solidFill>
                <a:schemeClr val="accen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53" name="Google Shape;1553;p69"/>
          <p:cNvSpPr/>
          <p:nvPr/>
        </p:nvSpPr>
        <p:spPr>
          <a:xfrm>
            <a:off x="8525375" y="5651126"/>
            <a:ext cx="454800" cy="4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P3</a:t>
            </a:r>
            <a:endParaRPr sz="1800" b="1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54" name="Google Shape;1554;p69"/>
          <p:cNvSpPr/>
          <p:nvPr/>
        </p:nvSpPr>
        <p:spPr>
          <a:xfrm>
            <a:off x="854394" y="2580963"/>
            <a:ext cx="2169300" cy="4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Virt. Memory</a:t>
            </a:r>
            <a:endParaRPr sz="16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55" name="Google Shape;1555;p69"/>
          <p:cNvSpPr/>
          <p:nvPr/>
        </p:nvSpPr>
        <p:spPr>
          <a:xfrm>
            <a:off x="886338" y="3904720"/>
            <a:ext cx="2169300" cy="4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Phys. Memory</a:t>
            </a:r>
            <a:endParaRPr sz="1600" b="1" dirty="0">
              <a:solidFill>
                <a:srgbClr val="1155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56" name="Google Shape;1556;p69"/>
          <p:cNvSpPr/>
          <p:nvPr/>
        </p:nvSpPr>
        <p:spPr>
          <a:xfrm>
            <a:off x="829563" y="5594643"/>
            <a:ext cx="2169300" cy="4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Page Tables</a:t>
            </a:r>
            <a:endParaRPr sz="1600" b="1" dirty="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p7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Procesos y espacio de direcciones</a:t>
            </a:r>
            <a:endParaRPr dirty="0"/>
          </a:p>
        </p:txBody>
      </p:sp>
      <p:sp>
        <p:nvSpPr>
          <p:cNvPr id="1562" name="Google Shape;1562;p70"/>
          <p:cNvSpPr txBox="1">
            <a:spLocks noGrp="1"/>
          </p:cNvSpPr>
          <p:nvPr>
            <p:ph idx="1"/>
          </p:nvPr>
        </p:nvSpPr>
        <p:spPr>
          <a:xfrm>
            <a:off x="500200" y="1401500"/>
            <a:ext cx="11006000" cy="455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5"/>
                </a:solidFill>
              </a:rPr>
              <a:t>¿Que tan grandes pueden ser las páginas?</a:t>
            </a:r>
            <a:endParaRPr sz="2400" dirty="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/>
              <a:t>Las tablas de página </a:t>
            </a:r>
            <a:r>
              <a:rPr lang="es-ES" sz="2000" b="1" dirty="0">
                <a:solidFill>
                  <a:srgbClr val="FF0000"/>
                </a:solidFill>
              </a:rPr>
              <a:t>pueden ser muy grandes</a:t>
            </a:r>
            <a:r>
              <a:rPr lang="es-ES" sz="2000" dirty="0"/>
              <a:t>. El siguiente ejemplo muestra esto</a:t>
            </a: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b="1"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2"/>
                </a:solidFill>
              </a:rPr>
              <a:t>Ejemplo</a:t>
            </a:r>
            <a:r>
              <a:rPr lang="es-ES" sz="2400" dirty="0">
                <a:solidFill>
                  <a:schemeClr val="accent2"/>
                </a:solidFill>
              </a:rPr>
              <a:t>: </a:t>
            </a:r>
            <a:endParaRPr sz="2400"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/>
              <a:t>Suponga que se tiene una memoria virtual (Address Space) con las siguientes características:</a:t>
            </a:r>
            <a:endParaRPr sz="2000" dirty="0"/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000" dirty="0"/>
              <a:t>32 bits de direcciones.</a:t>
            </a:r>
            <a:endParaRPr sz="2000" dirty="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000" dirty="0"/>
              <a:t>Páginas de 4KB</a:t>
            </a:r>
            <a:endParaRPr sz="2000" dirty="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000" dirty="0"/>
              <a:t>Asuma que cada PTE tiene un tamaño de 4B</a:t>
            </a: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/>
              <a:t>Responda las siguientes preguntas:</a:t>
            </a:r>
            <a:endParaRPr sz="2000" dirty="0"/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AutoNum type="arabicPeriod"/>
            </a:pPr>
            <a:r>
              <a:rPr lang="es-ES" sz="2000" dirty="0"/>
              <a:t>¿Cual es el formato de las VA en este caso?</a:t>
            </a:r>
            <a:endParaRPr sz="2000" dirty="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s-ES" sz="2000" dirty="0"/>
              <a:t>¿Cual es el tamaño de la tabla de página (PT)?</a:t>
            </a: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p7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Procesos y espacio de direcciones</a:t>
            </a:r>
            <a:endParaRPr dirty="0"/>
          </a:p>
        </p:txBody>
      </p:sp>
      <p:sp>
        <p:nvSpPr>
          <p:cNvPr id="1562" name="Google Shape;1562;p70"/>
          <p:cNvSpPr txBox="1">
            <a:spLocks noGrp="1"/>
          </p:cNvSpPr>
          <p:nvPr>
            <p:ph idx="1"/>
          </p:nvPr>
        </p:nvSpPr>
        <p:spPr>
          <a:xfrm>
            <a:off x="347800" y="1388800"/>
            <a:ext cx="3284400" cy="496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accent2"/>
                </a:solidFill>
              </a:rPr>
              <a:t>Ejemplo</a:t>
            </a:r>
            <a:r>
              <a:rPr lang="es-ES" sz="2000" dirty="0">
                <a:solidFill>
                  <a:schemeClr val="accent2"/>
                </a:solidFill>
              </a:rPr>
              <a:t>: </a:t>
            </a:r>
            <a:endParaRPr sz="2000"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800" dirty="0"/>
              <a:t>Suponga que se tiene una memoria virtual (Address Space) con las siguientes características:</a:t>
            </a:r>
            <a:endParaRPr sz="1800" dirty="0"/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1800" dirty="0"/>
              <a:t>32 bits de direcciones.</a:t>
            </a:r>
            <a:endParaRPr sz="1800" dirty="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1800" dirty="0"/>
              <a:t>Páginas de 4KB</a:t>
            </a:r>
            <a:endParaRPr sz="1800" dirty="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1800" dirty="0"/>
              <a:t>Asuma que cada PTE tiene un tamaño de 4B</a:t>
            </a:r>
            <a:endParaRPr sz="18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800" dirty="0"/>
              <a:t>Responda las siguientes preguntas:</a:t>
            </a:r>
            <a:endParaRPr sz="1800" dirty="0"/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AutoNum type="arabicPeriod"/>
            </a:pPr>
            <a:r>
              <a:rPr lang="es-ES" sz="1800" dirty="0"/>
              <a:t>¿Cual es el formato de las VA en este caso?</a:t>
            </a:r>
            <a:endParaRPr sz="1800" dirty="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s-ES" sz="1800" dirty="0"/>
              <a:t>¿Cual es el tamaño de la tabla de página (PT)?</a:t>
            </a:r>
            <a:endParaRPr sz="18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933766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p7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Procesos y espacio de direcciones</a:t>
            </a:r>
            <a:endParaRPr/>
          </a:p>
        </p:txBody>
      </p:sp>
      <p:sp>
        <p:nvSpPr>
          <p:cNvPr id="1568" name="Google Shape;1568;p71"/>
          <p:cNvSpPr txBox="1">
            <a:spLocks noGrp="1"/>
          </p:cNvSpPr>
          <p:nvPr>
            <p:ph idx="1"/>
          </p:nvPr>
        </p:nvSpPr>
        <p:spPr>
          <a:xfrm>
            <a:off x="844950" y="1619919"/>
            <a:ext cx="3480300" cy="245678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2"/>
                </a:solidFill>
              </a:rPr>
              <a:t>Solución punto 1</a:t>
            </a:r>
            <a:r>
              <a:rPr lang="es-ES" sz="2400" dirty="0">
                <a:solidFill>
                  <a:schemeClr val="accent2"/>
                </a:solidFill>
              </a:rPr>
              <a:t>: </a:t>
            </a:r>
            <a:endParaRPr sz="2400"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 dirty="0"/>
              <a:t>Datos</a:t>
            </a:r>
            <a:r>
              <a:rPr lang="es-ES" sz="2000" dirty="0"/>
              <a:t>: </a:t>
            </a:r>
            <a:endParaRPr sz="2000" dirty="0"/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n(VA) = 32.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size(page) = 4KB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size(PTE) = 4B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n(offset) = ?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n(VPN) = ?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569" name="Google Shape;1569;p71"/>
          <p:cNvGraphicFramePr/>
          <p:nvPr>
            <p:extLst>
              <p:ext uri="{D42A27DB-BD31-4B8C-83A1-F6EECF244321}">
                <p14:modId xmlns:p14="http://schemas.microsoft.com/office/powerpoint/2010/main" val="2253194461"/>
              </p:ext>
            </p:extLst>
          </p:nvPr>
        </p:nvGraphicFramePr>
        <p:xfrm>
          <a:off x="1125250" y="4219875"/>
          <a:ext cx="2919700" cy="48765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172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2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offset</a:t>
                      </a:r>
                      <a:endParaRPr sz="20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70" name="Google Shape;1570;p71"/>
          <p:cNvSpPr txBox="1"/>
          <p:nvPr/>
        </p:nvSpPr>
        <p:spPr>
          <a:xfrm>
            <a:off x="5687263" y="1600945"/>
            <a:ext cx="6174300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Consolas"/>
                <a:ea typeface="Consolas"/>
                <a:cs typeface="Consolas"/>
                <a:sym typeface="Consolas"/>
              </a:rPr>
              <a:t>2^n(offset) = 4K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Consolas"/>
                <a:ea typeface="Consolas"/>
                <a:cs typeface="Consolas"/>
                <a:sym typeface="Consolas"/>
              </a:rPr>
              <a:t>2^n(offset) = 4*2^10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2^n(offset) = (2^2)*(2^10)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2^n(offset) = 2^12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n(offset) = 12</a:t>
            </a:r>
            <a:endParaRPr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n(VPN) + n(offset) = n(VA)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n(VPN) = n(VA) - n(offset)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n(VPN) = 32 - 12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n(VPN) = 20</a:t>
            </a:r>
            <a:endParaRPr b="1" dirty="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571" name="Google Shape;1571;p71"/>
          <p:cNvGraphicFramePr/>
          <p:nvPr/>
        </p:nvGraphicFramePr>
        <p:xfrm>
          <a:off x="5687263" y="4600050"/>
          <a:ext cx="6174300" cy="821095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51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4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4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4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4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45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45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145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45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63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29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72" name="Google Shape;1572;p71"/>
          <p:cNvSpPr txBox="1"/>
          <p:nvPr/>
        </p:nvSpPr>
        <p:spPr>
          <a:xfrm>
            <a:off x="5039938" y="4927325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/>
          </a:p>
        </p:txBody>
      </p:sp>
      <p:sp>
        <p:nvSpPr>
          <p:cNvPr id="1573" name="Google Shape;1573;p71"/>
          <p:cNvSpPr/>
          <p:nvPr/>
        </p:nvSpPr>
        <p:spPr>
          <a:xfrm rot="5400000">
            <a:off x="10693976" y="4572425"/>
            <a:ext cx="281100" cy="20541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4" name="Google Shape;1574;p71"/>
          <p:cNvSpPr txBox="1"/>
          <p:nvPr/>
        </p:nvSpPr>
        <p:spPr>
          <a:xfrm>
            <a:off x="10155925" y="5731625"/>
            <a:ext cx="1655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offset (12)</a:t>
            </a:r>
            <a:endParaRPr sz="1800" b="1"/>
          </a:p>
        </p:txBody>
      </p:sp>
      <p:sp>
        <p:nvSpPr>
          <p:cNvPr id="1575" name="Google Shape;1575;p71"/>
          <p:cNvSpPr/>
          <p:nvPr/>
        </p:nvSpPr>
        <p:spPr>
          <a:xfrm rot="5400000">
            <a:off x="7587776" y="3550025"/>
            <a:ext cx="281100" cy="4082100"/>
          </a:xfrm>
          <a:prstGeom prst="rightBrace">
            <a:avLst>
              <a:gd name="adj1" fmla="val 50000"/>
              <a:gd name="adj2" fmla="val 49143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6" name="Google Shape;1576;p71"/>
          <p:cNvSpPr txBox="1"/>
          <p:nvPr/>
        </p:nvSpPr>
        <p:spPr>
          <a:xfrm>
            <a:off x="7049713" y="5731625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VPN (20)</a:t>
            </a:r>
            <a:endParaRPr sz="1800" b="1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Google Shape;1581;p7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Procesos y espacio de direcciones</a:t>
            </a:r>
            <a:endParaRPr/>
          </a:p>
        </p:txBody>
      </p:sp>
      <p:sp>
        <p:nvSpPr>
          <p:cNvPr id="1582" name="Google Shape;1582;p72"/>
          <p:cNvSpPr txBox="1">
            <a:spLocks noGrp="1"/>
          </p:cNvSpPr>
          <p:nvPr>
            <p:ph idx="1"/>
          </p:nvPr>
        </p:nvSpPr>
        <p:spPr>
          <a:xfrm>
            <a:off x="838200" y="1378555"/>
            <a:ext cx="3480300" cy="254640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2"/>
                </a:solidFill>
              </a:rPr>
              <a:t>Solución punto 1</a:t>
            </a:r>
            <a:r>
              <a:rPr lang="es-ES" sz="2400" dirty="0">
                <a:solidFill>
                  <a:schemeClr val="accent2"/>
                </a:solidFill>
              </a:rPr>
              <a:t>: </a:t>
            </a:r>
            <a:endParaRPr sz="2400"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 dirty="0"/>
              <a:t>Datos</a:t>
            </a:r>
            <a:r>
              <a:rPr lang="es-ES" sz="2000" dirty="0"/>
              <a:t>: </a:t>
            </a:r>
            <a:endParaRPr sz="2000" dirty="0"/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n(VA) = 32.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size(page) = 4KB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size(PTE) = 4B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n(offset) = ?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n(VPN) = ?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583" name="Google Shape;1583;p72"/>
          <p:cNvGraphicFramePr/>
          <p:nvPr>
            <p:extLst>
              <p:ext uri="{D42A27DB-BD31-4B8C-83A1-F6EECF244321}">
                <p14:modId xmlns:p14="http://schemas.microsoft.com/office/powerpoint/2010/main" val="3627590638"/>
              </p:ext>
            </p:extLst>
          </p:nvPr>
        </p:nvGraphicFramePr>
        <p:xfrm>
          <a:off x="5465237" y="4507437"/>
          <a:ext cx="6174300" cy="821095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51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4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4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45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45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45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45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145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45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63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29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84" name="Google Shape;1584;p72"/>
          <p:cNvSpPr txBox="1"/>
          <p:nvPr/>
        </p:nvSpPr>
        <p:spPr>
          <a:xfrm>
            <a:off x="4817912" y="4834712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/>
          </a:p>
        </p:txBody>
      </p:sp>
      <p:sp>
        <p:nvSpPr>
          <p:cNvPr id="1585" name="Google Shape;1585;p72"/>
          <p:cNvSpPr/>
          <p:nvPr/>
        </p:nvSpPr>
        <p:spPr>
          <a:xfrm rot="5400000">
            <a:off x="10471950" y="4479812"/>
            <a:ext cx="281100" cy="20541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6" name="Google Shape;1586;p72"/>
          <p:cNvSpPr txBox="1"/>
          <p:nvPr/>
        </p:nvSpPr>
        <p:spPr>
          <a:xfrm>
            <a:off x="9933899" y="5639012"/>
            <a:ext cx="1655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offset (12)</a:t>
            </a:r>
            <a:endParaRPr sz="1800" b="1"/>
          </a:p>
        </p:txBody>
      </p:sp>
      <p:sp>
        <p:nvSpPr>
          <p:cNvPr id="1587" name="Google Shape;1587;p72"/>
          <p:cNvSpPr/>
          <p:nvPr/>
        </p:nvSpPr>
        <p:spPr>
          <a:xfrm rot="5400000">
            <a:off x="7365750" y="3457412"/>
            <a:ext cx="281100" cy="4082100"/>
          </a:xfrm>
          <a:prstGeom prst="rightBrace">
            <a:avLst>
              <a:gd name="adj1" fmla="val 50000"/>
              <a:gd name="adj2" fmla="val 49143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8" name="Google Shape;1588;p72"/>
          <p:cNvSpPr txBox="1"/>
          <p:nvPr/>
        </p:nvSpPr>
        <p:spPr>
          <a:xfrm>
            <a:off x="6827687" y="5639012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VPN (20)</a:t>
            </a:r>
            <a:endParaRPr sz="1800" b="1"/>
          </a:p>
        </p:txBody>
      </p:sp>
      <p:sp>
        <p:nvSpPr>
          <p:cNvPr id="1589" name="Google Shape;1589;p72"/>
          <p:cNvSpPr txBox="1"/>
          <p:nvPr/>
        </p:nvSpPr>
        <p:spPr>
          <a:xfrm>
            <a:off x="5175737" y="1412262"/>
            <a:ext cx="6463800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size(AS) = 2^n(VA)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size(AS) = 2^32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size(AS) = (2^2)(2^30)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size(AS) = 4G</a:t>
            </a:r>
            <a:endParaRPr b="1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Consolas"/>
                <a:ea typeface="Consolas"/>
                <a:cs typeface="Consolas"/>
                <a:sym typeface="Consolas"/>
              </a:rPr>
              <a:t>num_pages = </a:t>
            </a: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size(AS)</a:t>
            </a:r>
            <a:r>
              <a:rPr lang="es-ES" dirty="0">
                <a:latin typeface="Consolas"/>
                <a:ea typeface="Consolas"/>
                <a:cs typeface="Consolas"/>
                <a:sym typeface="Consolas"/>
              </a:rPr>
              <a:t>/size(page)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num_pages = 4G/4K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num_pages = 2^30/2^10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num_pages = 2^20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num_pages = 1M</a:t>
            </a:r>
            <a:endParaRPr b="1" dirty="0">
              <a:solidFill>
                <a:schemeClr val="accen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p73"/>
          <p:cNvSpPr txBox="1">
            <a:spLocks noGrp="1"/>
          </p:cNvSpPr>
          <p:nvPr>
            <p:ph type="title"/>
          </p:nvPr>
        </p:nvSpPr>
        <p:spPr>
          <a:xfrm>
            <a:off x="596900" y="365125"/>
            <a:ext cx="107569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Procesos y espacio de direcciones</a:t>
            </a:r>
            <a:endParaRPr dirty="0"/>
          </a:p>
        </p:txBody>
      </p:sp>
      <p:sp>
        <p:nvSpPr>
          <p:cNvPr id="1595" name="Google Shape;1595;p73"/>
          <p:cNvSpPr txBox="1">
            <a:spLocks noGrp="1"/>
          </p:cNvSpPr>
          <p:nvPr>
            <p:ph idx="1"/>
          </p:nvPr>
        </p:nvSpPr>
        <p:spPr>
          <a:xfrm>
            <a:off x="637325" y="1318432"/>
            <a:ext cx="2792100" cy="57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2"/>
                </a:solidFill>
              </a:rPr>
              <a:t>Solución punto 1</a:t>
            </a:r>
            <a:r>
              <a:rPr lang="es-ES" sz="2400" dirty="0">
                <a:solidFill>
                  <a:schemeClr val="accent2"/>
                </a:solidFill>
              </a:rPr>
              <a:t>: </a:t>
            </a:r>
            <a:endParaRPr sz="2400"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596" name="Google Shape;1596;p73"/>
          <p:cNvGraphicFramePr/>
          <p:nvPr>
            <p:extLst>
              <p:ext uri="{D42A27DB-BD31-4B8C-83A1-F6EECF244321}">
                <p14:modId xmlns:p14="http://schemas.microsoft.com/office/powerpoint/2010/main" val="3840220780"/>
              </p:ext>
            </p:extLst>
          </p:nvPr>
        </p:nvGraphicFramePr>
        <p:xfrm>
          <a:off x="6964213" y="3806775"/>
          <a:ext cx="4757700" cy="821095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39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6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6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6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96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96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964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964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964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63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29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97" name="Google Shape;1597;p73"/>
          <p:cNvSpPr txBox="1"/>
          <p:nvPr/>
        </p:nvSpPr>
        <p:spPr>
          <a:xfrm>
            <a:off x="3865778" y="1555125"/>
            <a:ext cx="2347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Address Space</a:t>
            </a:r>
            <a:endParaRPr sz="1800" b="1" dirty="0"/>
          </a:p>
        </p:txBody>
      </p:sp>
      <p:sp>
        <p:nvSpPr>
          <p:cNvPr id="1598" name="Google Shape;1598;p73"/>
          <p:cNvSpPr/>
          <p:nvPr/>
        </p:nvSpPr>
        <p:spPr>
          <a:xfrm rot="5400000">
            <a:off x="10804700" y="4043100"/>
            <a:ext cx="281100" cy="15729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9" name="Google Shape;1599;p73"/>
          <p:cNvSpPr txBox="1"/>
          <p:nvPr/>
        </p:nvSpPr>
        <p:spPr>
          <a:xfrm>
            <a:off x="10117700" y="4979275"/>
            <a:ext cx="1655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 sz="1800" b="1"/>
          </a:p>
        </p:txBody>
      </p:sp>
      <p:sp>
        <p:nvSpPr>
          <p:cNvPr id="1600" name="Google Shape;1600;p73"/>
          <p:cNvSpPr/>
          <p:nvPr/>
        </p:nvSpPr>
        <p:spPr>
          <a:xfrm rot="5400000">
            <a:off x="8414025" y="3245625"/>
            <a:ext cx="281100" cy="3162900"/>
          </a:xfrm>
          <a:prstGeom prst="rightBrace">
            <a:avLst>
              <a:gd name="adj1" fmla="val 50000"/>
              <a:gd name="adj2" fmla="val 49143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1" name="Google Shape;1601;p73"/>
          <p:cNvSpPr txBox="1"/>
          <p:nvPr/>
        </p:nvSpPr>
        <p:spPr>
          <a:xfrm>
            <a:off x="7875963" y="4979275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endParaRPr sz="1800" b="1"/>
          </a:p>
        </p:txBody>
      </p:sp>
      <p:graphicFrame>
        <p:nvGraphicFramePr>
          <p:cNvPr id="1602" name="Google Shape;1602;p73"/>
          <p:cNvGraphicFramePr/>
          <p:nvPr/>
        </p:nvGraphicFramePr>
        <p:xfrm>
          <a:off x="3865763" y="2171675"/>
          <a:ext cx="2377350" cy="3731875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37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46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375">
                <a:tc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63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 = 2^20 - 1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03" name="Google Shape;1603;p73"/>
          <p:cNvSpPr txBox="1"/>
          <p:nvPr/>
        </p:nvSpPr>
        <p:spPr>
          <a:xfrm>
            <a:off x="6557813" y="2320325"/>
            <a:ext cx="2106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size(page) = 4K</a:t>
            </a:r>
            <a:endParaRPr b="1" dirty="0">
              <a:solidFill>
                <a:schemeClr val="accent2"/>
              </a:solidFill>
            </a:endParaRPr>
          </a:p>
        </p:txBody>
      </p:sp>
      <p:sp>
        <p:nvSpPr>
          <p:cNvPr id="1604" name="Google Shape;1604;p73"/>
          <p:cNvSpPr/>
          <p:nvPr/>
        </p:nvSpPr>
        <p:spPr>
          <a:xfrm>
            <a:off x="6309163" y="2184275"/>
            <a:ext cx="174900" cy="7338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5" name="Google Shape;1605;p73"/>
          <p:cNvSpPr/>
          <p:nvPr/>
        </p:nvSpPr>
        <p:spPr>
          <a:xfrm>
            <a:off x="2619513" y="2171613"/>
            <a:ext cx="227400" cy="3732000"/>
          </a:xfrm>
          <a:prstGeom prst="lef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6" name="Google Shape;1606;p73"/>
          <p:cNvSpPr txBox="1"/>
          <p:nvPr/>
        </p:nvSpPr>
        <p:spPr>
          <a:xfrm>
            <a:off x="754226" y="3806775"/>
            <a:ext cx="1935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size(AS) = 4G</a:t>
            </a:r>
            <a:endParaRPr b="1" dirty="0">
              <a:solidFill>
                <a:schemeClr val="accent5"/>
              </a:solidFill>
            </a:endParaRPr>
          </a:p>
        </p:txBody>
      </p:sp>
      <p:sp>
        <p:nvSpPr>
          <p:cNvPr id="1607" name="Google Shape;1607;p73"/>
          <p:cNvSpPr txBox="1"/>
          <p:nvPr/>
        </p:nvSpPr>
        <p:spPr>
          <a:xfrm>
            <a:off x="3270275" y="2091575"/>
            <a:ext cx="5955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0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0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0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08" name="Google Shape;1608;p73"/>
          <p:cNvSpPr txBox="1"/>
          <p:nvPr/>
        </p:nvSpPr>
        <p:spPr>
          <a:xfrm>
            <a:off x="2873188" y="5321125"/>
            <a:ext cx="9663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0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2^20 - 2</a:t>
            </a:r>
            <a:endParaRPr sz="10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2^20 - 1</a:t>
            </a:r>
            <a:endParaRPr sz="5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p7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Procesos y espacio de direcciones</a:t>
            </a:r>
            <a:endParaRPr dirty="0"/>
          </a:p>
        </p:txBody>
      </p:sp>
      <p:sp>
        <p:nvSpPr>
          <p:cNvPr id="1614" name="Google Shape;1614;p74"/>
          <p:cNvSpPr txBox="1">
            <a:spLocks noGrp="1"/>
          </p:cNvSpPr>
          <p:nvPr>
            <p:ph idx="1"/>
          </p:nvPr>
        </p:nvSpPr>
        <p:spPr>
          <a:xfrm>
            <a:off x="838200" y="1375141"/>
            <a:ext cx="3480300" cy="192933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2"/>
                </a:solidFill>
              </a:rPr>
              <a:t>Solución punto 2</a:t>
            </a:r>
            <a:r>
              <a:rPr lang="es-ES" sz="2400" dirty="0">
                <a:solidFill>
                  <a:schemeClr val="accent2"/>
                </a:solidFill>
              </a:rPr>
              <a:t>: </a:t>
            </a:r>
            <a:endParaRPr sz="2400"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 dirty="0"/>
              <a:t>Datos</a:t>
            </a:r>
            <a:r>
              <a:rPr lang="es-ES" sz="2000" dirty="0"/>
              <a:t>: </a:t>
            </a:r>
            <a:endParaRPr sz="2000" dirty="0"/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num_pages = 1M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size(PTE) = 4B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onsolas"/>
              <a:buChar char="●"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size(PT) = ?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15" name="Google Shape;1615;p74"/>
          <p:cNvSpPr txBox="1"/>
          <p:nvPr/>
        </p:nvSpPr>
        <p:spPr>
          <a:xfrm>
            <a:off x="772151" y="3343375"/>
            <a:ext cx="4561200" cy="249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size(PT) = size(PTE)*</a:t>
            </a:r>
            <a:r>
              <a:rPr lang="es-ES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num_pages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Consolas"/>
                <a:ea typeface="Consolas"/>
                <a:cs typeface="Consolas"/>
                <a:sym typeface="Consolas"/>
              </a:rPr>
              <a:t>size(PT) = 4*1M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size(PT) = 4M</a:t>
            </a:r>
            <a:endParaRPr b="1" dirty="0">
              <a:solidFill>
                <a:srgbClr val="70AD4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rgbClr val="70AD4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rgbClr val="70AD4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Conclusión</a:t>
            </a: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: </a:t>
            </a:r>
            <a:endParaRPr sz="2000" dirty="0">
              <a:solidFill>
                <a:schemeClr val="dk1"/>
              </a:solidFill>
              <a:ea typeface="Roboto" panose="02000000000000000000" pitchFamily="2" charset="0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El tamaño de una tabla de página para un proceso es de </a:t>
            </a:r>
            <a:r>
              <a:rPr lang="es-ES" sz="2000" b="1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4MB</a:t>
            </a: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 en este ejemplo. </a:t>
            </a:r>
            <a:endParaRPr sz="2000" dirty="0">
              <a:solidFill>
                <a:schemeClr val="dk1"/>
              </a:solidFill>
              <a:ea typeface="Roboto" panose="02000000000000000000" pitchFamily="2" charset="0"/>
              <a:cs typeface="Roboto"/>
              <a:sym typeface="Roboto"/>
            </a:endParaRPr>
          </a:p>
        </p:txBody>
      </p:sp>
      <p:graphicFrame>
        <p:nvGraphicFramePr>
          <p:cNvPr id="1616" name="Google Shape;1616;p74"/>
          <p:cNvGraphicFramePr/>
          <p:nvPr/>
        </p:nvGraphicFramePr>
        <p:xfrm>
          <a:off x="7148188" y="2483985"/>
          <a:ext cx="3480300" cy="292596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97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0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2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2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65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2^20 - 1</a:t>
                      </a:r>
                      <a:endParaRPr sz="12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17" name="Google Shape;1617;p74"/>
          <p:cNvSpPr/>
          <p:nvPr/>
        </p:nvSpPr>
        <p:spPr>
          <a:xfrm rot="-5400000">
            <a:off x="9269650" y="994475"/>
            <a:ext cx="198300" cy="24819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8" name="Google Shape;1618;p74"/>
          <p:cNvSpPr/>
          <p:nvPr/>
        </p:nvSpPr>
        <p:spPr>
          <a:xfrm>
            <a:off x="8521700" y="1806710"/>
            <a:ext cx="1872600" cy="293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size(PTE) = 4B</a:t>
            </a:r>
            <a:endParaRPr sz="1600" b="1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19" name="Google Shape;1619;p74"/>
          <p:cNvSpPr/>
          <p:nvPr/>
        </p:nvSpPr>
        <p:spPr>
          <a:xfrm>
            <a:off x="7485925" y="5732475"/>
            <a:ext cx="55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endParaRPr sz="16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20" name="Google Shape;1620;p74"/>
          <p:cNvSpPr/>
          <p:nvPr/>
        </p:nvSpPr>
        <p:spPr>
          <a:xfrm>
            <a:off x="9089800" y="5732475"/>
            <a:ext cx="55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PFN</a:t>
            </a:r>
            <a:endParaRPr sz="1600" b="1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621" name="Google Shape;1621;p74"/>
          <p:cNvCxnSpPr>
            <a:stCxn id="1619" idx="0"/>
          </p:cNvCxnSpPr>
          <p:nvPr/>
        </p:nvCxnSpPr>
        <p:spPr>
          <a:xfrm rot="10800000">
            <a:off x="7763725" y="5501175"/>
            <a:ext cx="1200" cy="2313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22" name="Google Shape;1622;p74"/>
          <p:cNvCxnSpPr/>
          <p:nvPr/>
        </p:nvCxnSpPr>
        <p:spPr>
          <a:xfrm rot="10800000">
            <a:off x="9368200" y="5479288"/>
            <a:ext cx="1200" cy="23130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23" name="Google Shape;1623;p74"/>
          <p:cNvSpPr/>
          <p:nvPr/>
        </p:nvSpPr>
        <p:spPr>
          <a:xfrm>
            <a:off x="10772975" y="3016475"/>
            <a:ext cx="7416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PTE</a:t>
            </a:r>
            <a:endParaRPr sz="1800" b="1">
              <a:solidFill>
                <a:srgbClr val="70AD4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24" name="Google Shape;1624;p74"/>
          <p:cNvSpPr/>
          <p:nvPr/>
        </p:nvSpPr>
        <p:spPr>
          <a:xfrm>
            <a:off x="8225800" y="6154675"/>
            <a:ext cx="2286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PAGE TABLE (PT)</a:t>
            </a:r>
            <a:endParaRPr sz="20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25" name="Google Shape;1625;p74"/>
          <p:cNvSpPr/>
          <p:nvPr/>
        </p:nvSpPr>
        <p:spPr>
          <a:xfrm rot="10800000">
            <a:off x="7148200" y="2498563"/>
            <a:ext cx="198300" cy="28968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6" name="Google Shape;1626;p74"/>
          <p:cNvSpPr/>
          <p:nvPr/>
        </p:nvSpPr>
        <p:spPr>
          <a:xfrm>
            <a:off x="5333351" y="3802974"/>
            <a:ext cx="1789087" cy="29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num_pages = 1M</a:t>
            </a:r>
            <a:endParaRPr sz="1600" b="1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p7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Procesos y espacio de direcciones</a:t>
            </a:r>
            <a:endParaRPr dirty="0"/>
          </a:p>
        </p:txBody>
      </p:sp>
      <p:sp>
        <p:nvSpPr>
          <p:cNvPr id="1632" name="Google Shape;1632;p75"/>
          <p:cNvSpPr txBox="1">
            <a:spLocks noGrp="1"/>
          </p:cNvSpPr>
          <p:nvPr>
            <p:ph idx="1"/>
          </p:nvPr>
        </p:nvSpPr>
        <p:spPr>
          <a:xfrm>
            <a:off x="449400" y="1439600"/>
            <a:ext cx="10455000" cy="4351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5"/>
                </a:solidFill>
              </a:rPr>
              <a:t>¿Que tan grandes pueden ser las páginas?</a:t>
            </a:r>
            <a:endParaRPr sz="2400" dirty="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/>
              <a:t>Si por cada proceso, se tiene un tabla de página de 4MB ¿Cual es el gasto de memoria de N = 100 procesos? </a:t>
            </a: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N*size(PT) = 100*4M = 400M  </a:t>
            </a:r>
            <a:r>
              <a:rPr lang="es-ES" sz="20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(Demasiado)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accent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 dirty="0"/>
              <a:t>Conclusión</a:t>
            </a:r>
            <a:r>
              <a:rPr lang="es-ES" sz="2000" dirty="0"/>
              <a:t>: </a:t>
            </a:r>
            <a:endParaRPr sz="2000" dirty="0"/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000" dirty="0"/>
              <a:t>Hay un enorme gasto de memoria.</a:t>
            </a: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p7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Procesos y espacio de direcciones</a:t>
            </a:r>
            <a:endParaRPr dirty="0"/>
          </a:p>
        </p:txBody>
      </p:sp>
      <p:sp>
        <p:nvSpPr>
          <p:cNvPr id="1638" name="Google Shape;1638;p76"/>
          <p:cNvSpPr txBox="1">
            <a:spLocks noGrp="1"/>
          </p:cNvSpPr>
          <p:nvPr>
            <p:ph idx="1"/>
          </p:nvPr>
        </p:nvSpPr>
        <p:spPr>
          <a:xfrm>
            <a:off x="220800" y="1297237"/>
            <a:ext cx="10455000" cy="9955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5"/>
                </a:solidFill>
              </a:rPr>
              <a:t>¿Donde se guardan las tablas de página?</a:t>
            </a:r>
            <a:endParaRPr sz="2400" dirty="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/>
              <a:t>Las tablas de página son estructuras que se almacenan en memoria física en el </a:t>
            </a:r>
            <a:r>
              <a:rPr lang="es-ES" sz="2000" b="1" dirty="0"/>
              <a:t>espacio </a:t>
            </a:r>
            <a:r>
              <a:rPr lang="es-ES" sz="2000" b="1" dirty="0" err="1"/>
              <a:t>kernel</a:t>
            </a:r>
            <a:r>
              <a:rPr lang="es-ES" sz="2000" dirty="0"/>
              <a:t>.</a:t>
            </a: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pic>
        <p:nvPicPr>
          <p:cNvPr id="1639" name="Google Shape;1639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841" y="3557757"/>
            <a:ext cx="4815925" cy="2250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0E31823D-A9E9-4456-9079-919D991CEABB}"/>
              </a:ext>
            </a:extLst>
          </p:cNvPr>
          <p:cNvGrpSpPr/>
          <p:nvPr/>
        </p:nvGrpSpPr>
        <p:grpSpPr>
          <a:xfrm>
            <a:off x="4830700" y="2428001"/>
            <a:ext cx="6967600" cy="4277600"/>
            <a:chOff x="4640200" y="2555001"/>
            <a:chExt cx="6967600" cy="4277600"/>
          </a:xfrm>
        </p:grpSpPr>
        <p:pic>
          <p:nvPicPr>
            <p:cNvPr id="1640" name="Google Shape;1640;p7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640200" y="2580850"/>
              <a:ext cx="5017178" cy="42517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1" name="Google Shape;1641;p76"/>
            <p:cNvSpPr/>
            <p:nvPr/>
          </p:nvSpPr>
          <p:spPr>
            <a:xfrm>
              <a:off x="9573350" y="3697170"/>
              <a:ext cx="2034450" cy="47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latin typeface="Consolas"/>
                  <a:ea typeface="Consolas"/>
                  <a:cs typeface="Consolas"/>
                  <a:sym typeface="Consolas"/>
                </a:rPr>
                <a:t>Page Table (PT)</a:t>
              </a:r>
              <a:endParaRPr sz="16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aphicFrame>
          <p:nvGraphicFramePr>
            <p:cNvPr id="1642" name="Google Shape;1642;p76"/>
            <p:cNvGraphicFramePr/>
            <p:nvPr>
              <p:extLst>
                <p:ext uri="{D42A27DB-BD31-4B8C-83A1-F6EECF244321}">
                  <p14:modId xmlns:p14="http://schemas.microsoft.com/office/powerpoint/2010/main" val="393899171"/>
                </p:ext>
              </p:extLst>
            </p:nvPr>
          </p:nvGraphicFramePr>
          <p:xfrm>
            <a:off x="10460449" y="4183533"/>
            <a:ext cx="481989" cy="1706800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481989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4267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 b="1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3</a:t>
                        </a:r>
                        <a:endParaRPr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6D9EEB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4267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 b="1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7</a:t>
                        </a:r>
                        <a:endParaRPr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6D9EEB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4267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 b="1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5</a:t>
                        </a:r>
                        <a:endParaRPr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6D9EEB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4267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 b="1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2</a:t>
                        </a:r>
                        <a:endParaRPr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6D9EEB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</a:tbl>
            </a:graphicData>
          </a:graphic>
        </p:graphicFrame>
        <p:grpSp>
          <p:nvGrpSpPr>
            <p:cNvPr id="1643" name="Google Shape;1643;p76"/>
            <p:cNvGrpSpPr/>
            <p:nvPr/>
          </p:nvGrpSpPr>
          <p:grpSpPr>
            <a:xfrm>
              <a:off x="9657378" y="4167570"/>
              <a:ext cx="636313" cy="1684450"/>
              <a:chOff x="5161375" y="3094650"/>
              <a:chExt cx="636313" cy="1684450"/>
            </a:xfrm>
          </p:grpSpPr>
          <p:sp>
            <p:nvSpPr>
              <p:cNvPr id="1644" name="Google Shape;1644;p76"/>
              <p:cNvSpPr txBox="1"/>
              <p:nvPr/>
            </p:nvSpPr>
            <p:spPr>
              <a:xfrm>
                <a:off x="5161375" y="3094650"/>
                <a:ext cx="6363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</a:t>
                </a:r>
                <a:endParaRPr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645" name="Google Shape;1645;p76"/>
              <p:cNvSpPr txBox="1"/>
              <p:nvPr/>
            </p:nvSpPr>
            <p:spPr>
              <a:xfrm>
                <a:off x="5161388" y="3521350"/>
                <a:ext cx="6363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solidFill>
                      <a:srgbClr val="FF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</a:t>
                </a:r>
                <a:endParaRPr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646" name="Google Shape;1646;p76"/>
              <p:cNvSpPr txBox="1"/>
              <p:nvPr/>
            </p:nvSpPr>
            <p:spPr>
              <a:xfrm>
                <a:off x="5161375" y="3952450"/>
                <a:ext cx="6363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2</a:t>
                </a:r>
                <a:endParaRPr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1647" name="Google Shape;1647;p76"/>
              <p:cNvSpPr txBox="1"/>
              <p:nvPr/>
            </p:nvSpPr>
            <p:spPr>
              <a:xfrm>
                <a:off x="5161375" y="4348000"/>
                <a:ext cx="6363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3</a:t>
                </a:r>
                <a:endParaRPr b="1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1648" name="Google Shape;1648;p76"/>
            <p:cNvSpPr txBox="1"/>
            <p:nvPr/>
          </p:nvSpPr>
          <p:spPr>
            <a:xfrm>
              <a:off x="9778845" y="5859022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VPN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649" name="Google Shape;1649;p76"/>
            <p:cNvSpPr txBox="1"/>
            <p:nvPr/>
          </p:nvSpPr>
          <p:spPr>
            <a:xfrm>
              <a:off x="10357650" y="5872552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PFN</a:t>
              </a:r>
              <a:endParaRPr b="1">
                <a:solidFill>
                  <a:schemeClr val="accent2"/>
                </a:solidFill>
              </a:endParaRPr>
            </a:p>
          </p:txBody>
        </p:sp>
        <p:grpSp>
          <p:nvGrpSpPr>
            <p:cNvPr id="1650" name="Google Shape;1650;p76"/>
            <p:cNvGrpSpPr/>
            <p:nvPr/>
          </p:nvGrpSpPr>
          <p:grpSpPr>
            <a:xfrm>
              <a:off x="5895538" y="2555001"/>
              <a:ext cx="4641075" cy="1164512"/>
              <a:chOff x="5886013" y="2275613"/>
              <a:chExt cx="4641075" cy="1164512"/>
            </a:xfrm>
          </p:grpSpPr>
          <p:cxnSp>
            <p:nvCxnSpPr>
              <p:cNvPr id="1651" name="Google Shape;1651;p76"/>
              <p:cNvCxnSpPr>
                <a:cxnSpLocks/>
              </p:cNvCxnSpPr>
              <p:nvPr/>
            </p:nvCxnSpPr>
            <p:spPr>
              <a:xfrm>
                <a:off x="5886013" y="2275613"/>
                <a:ext cx="4641075" cy="1164512"/>
              </a:xfrm>
              <a:prstGeom prst="bentConnector2">
                <a:avLst/>
              </a:pr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652" name="Google Shape;1652;p76"/>
              <p:cNvCxnSpPr>
                <a:cxnSpLocks/>
              </p:cNvCxnSpPr>
              <p:nvPr/>
            </p:nvCxnSpPr>
            <p:spPr>
              <a:xfrm>
                <a:off x="5895538" y="2286726"/>
                <a:ext cx="437" cy="22947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Google Shape;1666;p78"/>
          <p:cNvSpPr txBox="1">
            <a:spLocks noGrp="1"/>
          </p:cNvSpPr>
          <p:nvPr>
            <p:ph type="title"/>
          </p:nvPr>
        </p:nvSpPr>
        <p:spPr>
          <a:xfrm>
            <a:off x="419100" y="96038"/>
            <a:ext cx="88015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latin typeface="+mj-lt"/>
              </a:rPr>
              <a:t>Estructura de una tabla de página</a:t>
            </a:r>
            <a:endParaRPr b="0" dirty="0">
              <a:latin typeface="+mj-lt"/>
            </a:endParaRPr>
          </a:p>
        </p:txBody>
      </p:sp>
      <p:sp>
        <p:nvSpPr>
          <p:cNvPr id="1667" name="Google Shape;1667;p78"/>
          <p:cNvSpPr txBox="1">
            <a:spLocks noGrp="1"/>
          </p:cNvSpPr>
          <p:nvPr>
            <p:ph type="body" idx="1"/>
          </p:nvPr>
        </p:nvSpPr>
        <p:spPr>
          <a:xfrm>
            <a:off x="228600" y="835600"/>
            <a:ext cx="11780550" cy="94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  <a:ea typeface="Roboto" panose="02000000000000000000" pitchFamily="2" charset="0"/>
              </a:rPr>
              <a:t>Tabla de página (PT)</a:t>
            </a:r>
            <a:endParaRPr sz="2400" b="1" dirty="0">
              <a:solidFill>
                <a:schemeClr val="accent1"/>
              </a:solidFill>
              <a:latin typeface="+mn-lt"/>
              <a:ea typeface="Roboto" panose="02000000000000000000" pitchFamily="2" charset="0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000" b="1" dirty="0">
                <a:solidFill>
                  <a:schemeClr val="accent2"/>
                </a:solidFill>
                <a:latin typeface="+mn-lt"/>
                <a:ea typeface="Roboto" panose="02000000000000000000" pitchFamily="2" charset="0"/>
              </a:rPr>
              <a:t>Estructura de datos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 usada para mapear direcciones virtuales a direcciones físicas. </a:t>
            </a:r>
            <a:endParaRPr sz="2000" b="1" dirty="0">
              <a:solidFill>
                <a:srgbClr val="FF0000"/>
              </a:solidFill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  <a:ea typeface="Roboto" panose="02000000000000000000" pitchFamily="2" charset="0"/>
            </a:endParaRPr>
          </a:p>
        </p:txBody>
      </p:sp>
      <p:sp>
        <p:nvSpPr>
          <p:cNvPr id="1668" name="Google Shape;1668;p78"/>
          <p:cNvSpPr/>
          <p:nvPr/>
        </p:nvSpPr>
        <p:spPr>
          <a:xfrm>
            <a:off x="1203000" y="3464199"/>
            <a:ext cx="21132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latin typeface="Consolas"/>
                <a:ea typeface="Consolas"/>
                <a:cs typeface="Consolas"/>
                <a:sym typeface="Consolas"/>
              </a:rPr>
              <a:t>Page Table (PT)</a:t>
            </a:r>
            <a:endParaRPr sz="1800" b="1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669" name="Google Shape;1669;p78"/>
          <p:cNvGraphicFramePr/>
          <p:nvPr>
            <p:extLst>
              <p:ext uri="{D42A27DB-BD31-4B8C-83A1-F6EECF244321}">
                <p14:modId xmlns:p14="http://schemas.microsoft.com/office/powerpoint/2010/main" val="578093011"/>
              </p:ext>
            </p:extLst>
          </p:nvPr>
        </p:nvGraphicFramePr>
        <p:xfrm>
          <a:off x="1202988" y="3975681"/>
          <a:ext cx="2022075" cy="219444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022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bits + PFN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66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70" name="Google Shape;1670;p78"/>
          <p:cNvSpPr txBox="1"/>
          <p:nvPr/>
        </p:nvSpPr>
        <p:spPr>
          <a:xfrm>
            <a:off x="455725" y="4370124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671" name="Google Shape;1671;p78"/>
          <p:cNvSpPr txBox="1"/>
          <p:nvPr/>
        </p:nvSpPr>
        <p:spPr>
          <a:xfrm>
            <a:off x="3957974" y="4371886"/>
            <a:ext cx="2994369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PTE = </a:t>
            </a: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PT[</a:t>
            </a:r>
            <a:r>
              <a:rPr lang="es-ES" sz="16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]=[</a:t>
            </a:r>
            <a:r>
              <a:rPr lang="es-ES" sz="1600" b="1" dirty="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bits</a:t>
            </a: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|PFN]</a:t>
            </a:r>
            <a:endParaRPr sz="1600" b="1" dirty="0">
              <a:solidFill>
                <a:schemeClr val="dk1"/>
              </a:solidFill>
            </a:endParaRPr>
          </a:p>
        </p:txBody>
      </p:sp>
      <p:cxnSp>
        <p:nvCxnSpPr>
          <p:cNvPr id="1672" name="Google Shape;1672;p78"/>
          <p:cNvCxnSpPr/>
          <p:nvPr/>
        </p:nvCxnSpPr>
        <p:spPr>
          <a:xfrm>
            <a:off x="3241575" y="4600986"/>
            <a:ext cx="699900" cy="0"/>
          </a:xfrm>
          <a:prstGeom prst="straightConnector1">
            <a:avLst/>
          </a:prstGeom>
          <a:noFill/>
          <a:ln w="28575" cap="flat" cmpd="sng">
            <a:solidFill>
              <a:srgbClr val="70AD47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673" name="Google Shape;1673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4822" y="2164469"/>
            <a:ext cx="5017178" cy="4251751"/>
          </a:xfrm>
          <a:prstGeom prst="rect">
            <a:avLst/>
          </a:prstGeom>
          <a:noFill/>
          <a:ln>
            <a:noFill/>
          </a:ln>
        </p:spPr>
      </p:pic>
      <p:sp>
        <p:nvSpPr>
          <p:cNvPr id="1674" name="Google Shape;1674;p78"/>
          <p:cNvSpPr txBox="1"/>
          <p:nvPr/>
        </p:nvSpPr>
        <p:spPr>
          <a:xfrm>
            <a:off x="182850" y="1741291"/>
            <a:ext cx="5564400" cy="1479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000" b="1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Forma más simple</a:t>
            </a: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: </a:t>
            </a:r>
            <a:endParaRPr sz="2000" dirty="0">
              <a:solidFill>
                <a:schemeClr val="dk1"/>
              </a:solidFill>
              <a:ea typeface="Roboto" panose="02000000000000000000" pitchFamily="2" charset="0"/>
              <a:cs typeface="Roboto"/>
              <a:sym typeface="Roboto"/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○"/>
            </a:pP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Tabla de página lineal (Un arreglo).</a:t>
            </a:r>
            <a:endParaRPr sz="2000" dirty="0">
              <a:solidFill>
                <a:schemeClr val="dk1"/>
              </a:solidFill>
              <a:ea typeface="Roboto" panose="02000000000000000000" pitchFamily="2" charset="0"/>
              <a:cs typeface="Roboto"/>
              <a:sym typeface="Roboto"/>
            </a:endParaRPr>
          </a:p>
          <a:p>
            <a:pPr marL="914400" lvl="1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○"/>
            </a:pP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El SO indexa el arreglo con el valor del </a:t>
            </a:r>
            <a:r>
              <a:rPr lang="es-ES" sz="2000" b="1" dirty="0">
                <a:solidFill>
                  <a:srgbClr val="FF0000"/>
                </a:solidFill>
                <a:ea typeface="Roboto" panose="02000000000000000000" pitchFamily="2" charset="0"/>
                <a:cs typeface="Roboto"/>
                <a:sym typeface="Roboto"/>
              </a:rPr>
              <a:t>VPN</a:t>
            </a: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 para obtener la </a:t>
            </a:r>
            <a:r>
              <a:rPr lang="es-ES" sz="2000" b="1" dirty="0">
                <a:solidFill>
                  <a:srgbClr val="70AD47"/>
                </a:solidFill>
                <a:ea typeface="Roboto" panose="02000000000000000000" pitchFamily="2" charset="0"/>
                <a:cs typeface="Roboto"/>
                <a:sym typeface="Roboto"/>
              </a:rPr>
              <a:t>PTE</a:t>
            </a: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.</a:t>
            </a:r>
            <a:endParaRPr sz="2000" dirty="0">
              <a:solidFill>
                <a:schemeClr val="dk1"/>
              </a:solidFill>
              <a:ea typeface="Roboto" panose="02000000000000000000" pitchFamily="2" charset="0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p7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latin typeface="+mj-lt"/>
              </a:rPr>
              <a:t>Estructura de una tabla de página</a:t>
            </a:r>
            <a:endParaRPr b="0" dirty="0">
              <a:latin typeface="+mj-lt"/>
            </a:endParaRPr>
          </a:p>
        </p:txBody>
      </p:sp>
      <p:sp>
        <p:nvSpPr>
          <p:cNvPr id="1680" name="Google Shape;1680;p79"/>
          <p:cNvSpPr txBox="1">
            <a:spLocks noGrp="1"/>
          </p:cNvSpPr>
          <p:nvPr>
            <p:ph type="body" idx="1"/>
          </p:nvPr>
        </p:nvSpPr>
        <p:spPr>
          <a:xfrm>
            <a:off x="636150" y="1095457"/>
            <a:ext cx="10919700" cy="676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  <a:ea typeface="Roboto" panose="02000000000000000000" pitchFamily="2" charset="0"/>
              </a:rPr>
              <a:t>Estructura de una PTE (Page Table </a:t>
            </a:r>
            <a:r>
              <a:rPr lang="es-ES" sz="2800" b="1" dirty="0" err="1">
                <a:solidFill>
                  <a:schemeClr val="accent1"/>
                </a:solidFill>
                <a:latin typeface="+mn-lt"/>
                <a:ea typeface="Roboto" panose="02000000000000000000" pitchFamily="2" charset="0"/>
              </a:rPr>
              <a:t>Entry</a:t>
            </a:r>
            <a:r>
              <a:rPr lang="es-ES" sz="2800" b="1" dirty="0">
                <a:solidFill>
                  <a:schemeClr val="accent1"/>
                </a:solidFill>
                <a:latin typeface="+mn-lt"/>
                <a:ea typeface="Roboto" panose="02000000000000000000" pitchFamily="2" charset="0"/>
              </a:rPr>
              <a:t>)</a:t>
            </a:r>
            <a:endParaRPr sz="2800" b="1" dirty="0">
              <a:solidFill>
                <a:schemeClr val="accent1"/>
              </a:solidFill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solidFill>
                <a:srgbClr val="FF0000"/>
              </a:solidFill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  <a:ea typeface="Roboto" panose="02000000000000000000" pitchFamily="2" charset="0"/>
            </a:endParaRPr>
          </a:p>
        </p:txBody>
      </p:sp>
      <p:graphicFrame>
        <p:nvGraphicFramePr>
          <p:cNvPr id="1681" name="Google Shape;1681;p79"/>
          <p:cNvGraphicFramePr/>
          <p:nvPr/>
        </p:nvGraphicFramePr>
        <p:xfrm>
          <a:off x="5538175" y="3377475"/>
          <a:ext cx="6298175" cy="48765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97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9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bits</a:t>
                      </a:r>
                      <a:endParaRPr sz="2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2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82" name="Google Shape;1682;p79"/>
          <p:cNvSpPr/>
          <p:nvPr/>
        </p:nvSpPr>
        <p:spPr>
          <a:xfrm>
            <a:off x="1898263" y="2328675"/>
            <a:ext cx="2113200" cy="6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nsolas"/>
                <a:ea typeface="Consolas"/>
                <a:cs typeface="Consolas"/>
                <a:sym typeface="Consolas"/>
              </a:rPr>
              <a:t>Page Table (PT)</a:t>
            </a:r>
            <a:endParaRPr sz="2000" b="1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683" name="Google Shape;1683;p79"/>
          <p:cNvGraphicFramePr/>
          <p:nvPr/>
        </p:nvGraphicFramePr>
        <p:xfrm>
          <a:off x="1943813" y="3011295"/>
          <a:ext cx="2022075" cy="219444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022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66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84" name="Google Shape;1684;p79"/>
          <p:cNvSpPr txBox="1"/>
          <p:nvPr/>
        </p:nvSpPr>
        <p:spPr>
          <a:xfrm>
            <a:off x="1196550" y="3405738"/>
            <a:ext cx="636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endParaRPr sz="1800" b="1">
              <a:solidFill>
                <a:srgbClr val="FF0000"/>
              </a:solidFill>
            </a:endParaRPr>
          </a:p>
        </p:txBody>
      </p:sp>
      <p:sp>
        <p:nvSpPr>
          <p:cNvPr id="1685" name="Google Shape;1685;p79"/>
          <p:cNvSpPr txBox="1"/>
          <p:nvPr/>
        </p:nvSpPr>
        <p:spPr>
          <a:xfrm>
            <a:off x="4698800" y="3407500"/>
            <a:ext cx="636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PTE </a:t>
            </a:r>
            <a:endParaRPr sz="2000" b="1">
              <a:solidFill>
                <a:schemeClr val="dk1"/>
              </a:solidFill>
            </a:endParaRPr>
          </a:p>
        </p:txBody>
      </p:sp>
      <p:cxnSp>
        <p:nvCxnSpPr>
          <p:cNvPr id="1686" name="Google Shape;1686;p79"/>
          <p:cNvCxnSpPr/>
          <p:nvPr/>
        </p:nvCxnSpPr>
        <p:spPr>
          <a:xfrm>
            <a:off x="3982400" y="3636600"/>
            <a:ext cx="699900" cy="0"/>
          </a:xfrm>
          <a:prstGeom prst="straightConnector1">
            <a:avLst/>
          </a:prstGeom>
          <a:noFill/>
          <a:ln w="28575" cap="flat" cmpd="sng">
            <a:solidFill>
              <a:srgbClr val="70AD47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87" name="Google Shape;1687;p79"/>
          <p:cNvSpPr/>
          <p:nvPr/>
        </p:nvSpPr>
        <p:spPr>
          <a:xfrm rot="5400000">
            <a:off x="6890225" y="2610925"/>
            <a:ext cx="291600" cy="29952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688" name="Google Shape;1688;p79"/>
          <p:cNvGraphicFramePr/>
          <p:nvPr>
            <p:extLst>
              <p:ext uri="{D42A27DB-BD31-4B8C-83A1-F6EECF244321}">
                <p14:modId xmlns:p14="http://schemas.microsoft.com/office/powerpoint/2010/main" val="2881886791"/>
              </p:ext>
            </p:extLst>
          </p:nvPr>
        </p:nvGraphicFramePr>
        <p:xfrm>
          <a:off x="5538175" y="4433575"/>
          <a:ext cx="6299175" cy="48765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4308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8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8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854">
                  <a:extLst>
                    <a:ext uri="{9D8B030D-6E8A-4147-A177-3AD203B41FA5}">
                      <a16:colId xmlns:a16="http://schemas.microsoft.com/office/drawing/2014/main" val="4050674795"/>
                    </a:ext>
                  </a:extLst>
                </a:gridCol>
                <a:gridCol w="12482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275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9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20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</a:t>
                      </a:r>
                      <a:endParaRPr sz="20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endParaRPr sz="20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2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sz="20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20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20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Google Shape;1693;p80"/>
          <p:cNvSpPr txBox="1">
            <a:spLocks noGrp="1"/>
          </p:cNvSpPr>
          <p:nvPr>
            <p:ph type="title"/>
          </p:nvPr>
        </p:nvSpPr>
        <p:spPr>
          <a:xfrm>
            <a:off x="290286" y="96038"/>
            <a:ext cx="1139371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latin typeface="+mj-lt"/>
              </a:rPr>
              <a:t>Estructura de una tabla de página</a:t>
            </a:r>
            <a:endParaRPr b="0" dirty="0">
              <a:latin typeface="+mj-lt"/>
            </a:endParaRPr>
          </a:p>
        </p:txBody>
      </p:sp>
      <p:sp>
        <p:nvSpPr>
          <p:cNvPr id="1694" name="Google Shape;1694;p80"/>
          <p:cNvSpPr txBox="1">
            <a:spLocks noGrp="1"/>
          </p:cNvSpPr>
          <p:nvPr>
            <p:ph type="body" idx="1"/>
          </p:nvPr>
        </p:nvSpPr>
        <p:spPr>
          <a:xfrm>
            <a:off x="508000" y="955300"/>
            <a:ext cx="11058050" cy="5335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  <a:ea typeface="Roboto" panose="02000000000000000000" pitchFamily="2" charset="0"/>
              </a:rPr>
              <a:t>Estructura de una PTE (Page Table </a:t>
            </a:r>
            <a:r>
              <a:rPr lang="es-ES" sz="2400" b="1" dirty="0" err="1">
                <a:solidFill>
                  <a:schemeClr val="accent1"/>
                </a:solidFill>
                <a:latin typeface="+mn-lt"/>
                <a:ea typeface="Roboto" panose="02000000000000000000" pitchFamily="2" charset="0"/>
              </a:rPr>
              <a:t>Entry</a:t>
            </a:r>
            <a:r>
              <a:rPr lang="es-ES" sz="2400" b="1" dirty="0">
                <a:solidFill>
                  <a:schemeClr val="accent1"/>
                </a:solidFill>
                <a:latin typeface="+mn-lt"/>
                <a:ea typeface="Roboto" panose="02000000000000000000" pitchFamily="2" charset="0"/>
              </a:rPr>
              <a:t>)</a:t>
            </a:r>
            <a:endParaRPr sz="2400" b="1" dirty="0">
              <a:solidFill>
                <a:schemeClr val="accent1"/>
              </a:solidFill>
              <a:latin typeface="+mn-lt"/>
              <a:ea typeface="Roboto" panose="02000000000000000000" pitchFamily="2" charset="0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000" b="1" dirty="0">
                <a:solidFill>
                  <a:schemeClr val="accent2"/>
                </a:solidFill>
                <a:latin typeface="+mn-lt"/>
                <a:ea typeface="Roboto" panose="02000000000000000000" pitchFamily="2" charset="0"/>
              </a:rPr>
              <a:t>Bit de validez (V)</a:t>
            </a:r>
            <a:r>
              <a:rPr lang="es-ES" sz="2000" dirty="0">
                <a:solidFill>
                  <a:schemeClr val="accent2"/>
                </a:solidFill>
                <a:latin typeface="+mn-lt"/>
                <a:ea typeface="Roboto" panose="02000000000000000000" pitchFamily="2" charset="0"/>
              </a:rPr>
              <a:t>: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 Indica si la traducción es válida.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000" b="1" dirty="0">
                <a:solidFill>
                  <a:schemeClr val="accent2"/>
                </a:solidFill>
                <a:latin typeface="+mn-lt"/>
                <a:ea typeface="Roboto" panose="02000000000000000000" pitchFamily="2" charset="0"/>
              </a:rPr>
              <a:t>Bits de protección (Prot)</a:t>
            </a:r>
            <a:r>
              <a:rPr lang="es-ES" sz="2000" dirty="0">
                <a:solidFill>
                  <a:schemeClr val="accent2"/>
                </a:solidFill>
                <a:latin typeface="+mn-lt"/>
                <a:ea typeface="Roboto" panose="02000000000000000000" pitchFamily="2" charset="0"/>
              </a:rPr>
              <a:t>: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 read - write - </a:t>
            </a:r>
            <a:r>
              <a:rPr lang="es-ES" sz="2000" dirty="0" err="1">
                <a:latin typeface="+mn-lt"/>
                <a:ea typeface="Roboto" panose="02000000000000000000" pitchFamily="2" charset="0"/>
              </a:rPr>
              <a:t>execute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.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000" b="1" dirty="0">
                <a:solidFill>
                  <a:schemeClr val="accent2"/>
                </a:solidFill>
                <a:latin typeface="+mn-lt"/>
                <a:ea typeface="Roboto" panose="02000000000000000000" pitchFamily="2" charset="0"/>
              </a:rPr>
              <a:t>Bit de presencia (P)</a:t>
            </a:r>
            <a:r>
              <a:rPr lang="es-ES" sz="2000" dirty="0">
                <a:solidFill>
                  <a:schemeClr val="accent2"/>
                </a:solidFill>
                <a:latin typeface="+mn-lt"/>
                <a:ea typeface="Roboto" panose="02000000000000000000" pitchFamily="2" charset="0"/>
              </a:rPr>
              <a:t>: 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Indica si la página está en la </a:t>
            </a:r>
            <a:r>
              <a:rPr lang="es-ES" sz="2000" dirty="0" err="1">
                <a:latin typeface="+mn-lt"/>
                <a:ea typeface="Roboto" panose="02000000000000000000" pitchFamily="2" charset="0"/>
              </a:rPr>
              <a:t>mem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. física.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000" b="1" dirty="0">
                <a:solidFill>
                  <a:schemeClr val="accent2"/>
                </a:solidFill>
                <a:latin typeface="+mn-lt"/>
                <a:ea typeface="Roboto" panose="02000000000000000000" pitchFamily="2" charset="0"/>
              </a:rPr>
              <a:t>Bit sucio (M)</a:t>
            </a:r>
            <a:r>
              <a:rPr lang="es-ES" sz="2000" dirty="0">
                <a:solidFill>
                  <a:schemeClr val="accent2"/>
                </a:solidFill>
                <a:latin typeface="+mn-lt"/>
                <a:ea typeface="Roboto" panose="02000000000000000000" pitchFamily="2" charset="0"/>
              </a:rPr>
              <a:t>: 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Indica si la página ha sido modificada.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000" b="1" dirty="0">
                <a:solidFill>
                  <a:schemeClr val="accent2"/>
                </a:solidFill>
                <a:latin typeface="+mn-lt"/>
                <a:ea typeface="Roboto" panose="02000000000000000000" pitchFamily="2" charset="0"/>
              </a:rPr>
              <a:t>Bit de referencia (R)</a:t>
            </a:r>
            <a:r>
              <a:rPr lang="es-ES" sz="2000" dirty="0">
                <a:solidFill>
                  <a:schemeClr val="accent2"/>
                </a:solidFill>
                <a:latin typeface="+mn-lt"/>
                <a:ea typeface="Roboto" panose="02000000000000000000" pitchFamily="2" charset="0"/>
              </a:rPr>
              <a:t>: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 Indica si la página ha sido accedida.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 dirty="0">
                <a:latin typeface="+mn-lt"/>
                <a:ea typeface="Roboto" panose="02000000000000000000" pitchFamily="2" charset="0"/>
              </a:rPr>
              <a:t>Para comprender mejor cada uno de los </a:t>
            </a:r>
            <a:r>
              <a:rPr lang="es-ES" sz="2000" b="1" dirty="0">
                <a:latin typeface="+mn-lt"/>
                <a:ea typeface="Roboto" panose="02000000000000000000" pitchFamily="2" charset="0"/>
              </a:rPr>
              <a:t>bits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 mostrados descritos anteriormente, vamos a analizar el siguiente ejemplo tratando de explicar de manera gradual el rol de cada uno de los </a:t>
            </a:r>
            <a:r>
              <a:rPr lang="es-ES" sz="2000" b="1" dirty="0">
                <a:latin typeface="+mn-lt"/>
                <a:ea typeface="Roboto" panose="02000000000000000000" pitchFamily="2" charset="0"/>
              </a:rPr>
              <a:t>bits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 previamente mencionados.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</p:txBody>
      </p:sp>
      <p:graphicFrame>
        <p:nvGraphicFramePr>
          <p:cNvPr id="1695" name="Google Shape;1695;p80"/>
          <p:cNvGraphicFramePr/>
          <p:nvPr>
            <p:extLst>
              <p:ext uri="{D42A27DB-BD31-4B8C-83A1-F6EECF244321}">
                <p14:modId xmlns:p14="http://schemas.microsoft.com/office/powerpoint/2010/main" val="1289782991"/>
              </p:ext>
            </p:extLst>
          </p:nvPr>
        </p:nvGraphicFramePr>
        <p:xfrm>
          <a:off x="2671329" y="3622900"/>
          <a:ext cx="7081575" cy="48765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07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9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2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</a:t>
                      </a:r>
                      <a:endParaRPr sz="2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endParaRPr sz="20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sz="20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20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2000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p81"/>
          <p:cNvSpPr txBox="1">
            <a:spLocks noGrp="1"/>
          </p:cNvSpPr>
          <p:nvPr>
            <p:ph type="title"/>
          </p:nvPr>
        </p:nvSpPr>
        <p:spPr>
          <a:xfrm>
            <a:off x="348343" y="96038"/>
            <a:ext cx="1047715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latin typeface="+mj-lt"/>
              </a:rPr>
              <a:t>Estructura de una tabla de página</a:t>
            </a:r>
            <a:endParaRPr b="0" dirty="0">
              <a:latin typeface="+mj-lt"/>
            </a:endParaRPr>
          </a:p>
        </p:txBody>
      </p:sp>
      <p:sp>
        <p:nvSpPr>
          <p:cNvPr id="1701" name="Google Shape;1701;p81"/>
          <p:cNvSpPr txBox="1">
            <a:spLocks noGrp="1"/>
          </p:cNvSpPr>
          <p:nvPr>
            <p:ph type="body" idx="1"/>
          </p:nvPr>
        </p:nvSpPr>
        <p:spPr>
          <a:xfrm>
            <a:off x="348343" y="904375"/>
            <a:ext cx="6342557" cy="408853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  <a:ea typeface="Roboto" panose="02000000000000000000" pitchFamily="2" charset="0"/>
              </a:rPr>
              <a:t>Ejemplo </a:t>
            </a:r>
            <a:endParaRPr sz="2400" b="1" dirty="0">
              <a:solidFill>
                <a:schemeClr val="accent1"/>
              </a:solidFill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  <a:ea typeface="Roboto" panose="02000000000000000000" pitchFamily="2" charset="0"/>
              </a:rPr>
              <a:t>Suponga que se tienen los siguientes datos: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  <a:ea typeface="Roboto" panose="02000000000000000000" pitchFamily="2" charset="0"/>
              </a:rPr>
              <a:t>Memoria virtual de 64 bytes dividida en páginas de 16 bytes.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  <a:ea typeface="Roboto" panose="02000000000000000000" pitchFamily="2" charset="0"/>
              </a:rPr>
              <a:t>Memoria física de 128 bytes dividida en frames de 16 bytes.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  <a:ea typeface="Roboto" panose="02000000000000000000" pitchFamily="2" charset="0"/>
              </a:rPr>
              <a:t>Las páginas de la memoria virtual contienen los siguientes segmentos del proceso se muestran en la </a:t>
            </a:r>
            <a:r>
              <a:rPr lang="es-ES" sz="2000" b="1" dirty="0">
                <a:latin typeface="+mn-lt"/>
                <a:ea typeface="Roboto" panose="02000000000000000000" pitchFamily="2" charset="0"/>
              </a:rPr>
              <a:t>tabla 1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.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>
                <a:latin typeface="+mn-lt"/>
                <a:ea typeface="Roboto" panose="02000000000000000000" pitchFamily="2" charset="0"/>
              </a:rPr>
              <a:t>En </a:t>
            </a:r>
            <a:r>
              <a:rPr lang="es-ES" sz="2000" b="1" dirty="0">
                <a:latin typeface="+mn-lt"/>
                <a:ea typeface="Roboto" panose="02000000000000000000" pitchFamily="2" charset="0"/>
              </a:rPr>
              <a:t>la tabla 2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 se muestra la tabla de página donde se especifica el mapeo entre la memoria virtual y la memoria física.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</p:txBody>
      </p:sp>
      <p:graphicFrame>
        <p:nvGraphicFramePr>
          <p:cNvPr id="1702" name="Google Shape;1702;p81"/>
          <p:cNvGraphicFramePr/>
          <p:nvPr>
            <p:extLst>
              <p:ext uri="{D42A27DB-BD31-4B8C-83A1-F6EECF244321}">
                <p14:modId xmlns:p14="http://schemas.microsoft.com/office/powerpoint/2010/main" val="1048606421"/>
              </p:ext>
            </p:extLst>
          </p:nvPr>
        </p:nvGraphicFramePr>
        <p:xfrm>
          <a:off x="7522800" y="1251850"/>
          <a:ext cx="3302700" cy="213350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1651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page</a:t>
                      </a:r>
                      <a:endParaRPr sz="1600" b="1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segment</a:t>
                      </a:r>
                      <a:endParaRPr sz="1600" b="1" dirty="0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VP0</a:t>
                      </a:r>
                      <a:endParaRPr sz="1600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code</a:t>
                      </a:r>
                      <a:endParaRPr sz="1600" dirty="0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VP1</a:t>
                      </a:r>
                      <a:endParaRPr sz="1600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heap</a:t>
                      </a:r>
                      <a:endParaRPr sz="1600" dirty="0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VP2</a:t>
                      </a:r>
                      <a:endParaRPr sz="1600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free</a:t>
                      </a:r>
                      <a:endParaRPr sz="1600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VP3</a:t>
                      </a:r>
                      <a:endParaRPr sz="1600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stack</a:t>
                      </a:r>
                      <a:endParaRPr sz="1600" dirty="0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703" name="Google Shape;1703;p81"/>
          <p:cNvGraphicFramePr/>
          <p:nvPr>
            <p:extLst>
              <p:ext uri="{D42A27DB-BD31-4B8C-83A1-F6EECF244321}">
                <p14:modId xmlns:p14="http://schemas.microsoft.com/office/powerpoint/2010/main" val="3189034961"/>
              </p:ext>
            </p:extLst>
          </p:nvPr>
        </p:nvGraphicFramePr>
        <p:xfrm>
          <a:off x="7570250" y="4005150"/>
          <a:ext cx="3302700" cy="225538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1651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page</a:t>
                      </a:r>
                      <a:endParaRPr sz="1600" b="1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frame</a:t>
                      </a:r>
                      <a:endParaRPr sz="1600" b="1" dirty="0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VP0</a:t>
                      </a:r>
                      <a:endParaRPr sz="1600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 panose="020B0609020204030204" pitchFamily="49" charset="0"/>
                        </a:rPr>
                        <a:t>PFN1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VP1</a:t>
                      </a:r>
                      <a:endParaRPr sz="1600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 panose="020B0609020204030204" pitchFamily="49" charset="0"/>
                        </a:rPr>
                        <a:t>PFN4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VP2</a:t>
                      </a:r>
                      <a:endParaRPr sz="1600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 panose="020B0609020204030204" pitchFamily="49" charset="0"/>
                        </a:rPr>
                        <a:t>No valido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VP3</a:t>
                      </a:r>
                      <a:endParaRPr sz="1600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 panose="020B0609020204030204" pitchFamily="49" charset="0"/>
                        </a:rPr>
                        <a:t>PFN7</a:t>
                      </a:r>
                      <a:endParaRPr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04" name="Google Shape;1704;p81"/>
          <p:cNvSpPr txBox="1"/>
          <p:nvPr/>
        </p:nvSpPr>
        <p:spPr>
          <a:xfrm>
            <a:off x="7916700" y="3368293"/>
            <a:ext cx="2514900" cy="433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Tabla 1</a:t>
            </a:r>
            <a:r>
              <a:rPr lang="es-ES" sz="12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. Memoria virtual</a:t>
            </a:r>
            <a:endParaRPr sz="1200" dirty="0">
              <a:ea typeface="Roboto" panose="02000000000000000000" pitchFamily="2" charset="0"/>
            </a:endParaRPr>
          </a:p>
        </p:txBody>
      </p:sp>
      <p:sp>
        <p:nvSpPr>
          <p:cNvPr id="1705" name="Google Shape;1705;p81"/>
          <p:cNvSpPr txBox="1"/>
          <p:nvPr/>
        </p:nvSpPr>
        <p:spPr>
          <a:xfrm>
            <a:off x="8105150" y="6247254"/>
            <a:ext cx="2373900" cy="433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Tabla 2</a:t>
            </a:r>
            <a:r>
              <a:rPr lang="es-ES" sz="12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. Tabla de página</a:t>
            </a:r>
            <a:endParaRPr sz="1200" dirty="0">
              <a:ea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Google Shape;1710;p82"/>
          <p:cNvSpPr txBox="1">
            <a:spLocks noGrp="1"/>
          </p:cNvSpPr>
          <p:nvPr>
            <p:ph type="title"/>
          </p:nvPr>
        </p:nvSpPr>
        <p:spPr>
          <a:xfrm>
            <a:off x="435429" y="96038"/>
            <a:ext cx="878522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latin typeface="+mj-lt"/>
              </a:rPr>
              <a:t>Traducción de direcciones (II)</a:t>
            </a:r>
            <a:endParaRPr b="0" dirty="0">
              <a:latin typeface="+mj-lt"/>
            </a:endParaRPr>
          </a:p>
        </p:txBody>
      </p:sp>
      <p:sp>
        <p:nvSpPr>
          <p:cNvPr id="1711" name="Google Shape;1711;p82"/>
          <p:cNvSpPr txBox="1">
            <a:spLocks noGrp="1"/>
          </p:cNvSpPr>
          <p:nvPr>
            <p:ph type="body" idx="1"/>
          </p:nvPr>
        </p:nvSpPr>
        <p:spPr>
          <a:xfrm>
            <a:off x="232463" y="976034"/>
            <a:ext cx="11278500" cy="598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dirty="0">
                <a:solidFill>
                  <a:schemeClr val="accent1"/>
                </a:solidFill>
                <a:latin typeface="+mn-lt"/>
                <a:ea typeface="Roboto" panose="02000000000000000000" pitchFamily="2" charset="0"/>
              </a:rPr>
              <a:t>Bosquejo de la memoria virtual, la memoria física y la tabla de página</a:t>
            </a:r>
            <a:endParaRPr sz="2400" dirty="0">
              <a:solidFill>
                <a:schemeClr val="accent1"/>
              </a:solidFill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</p:txBody>
      </p:sp>
      <p:graphicFrame>
        <p:nvGraphicFramePr>
          <p:cNvPr id="1712" name="Google Shape;1712;p82"/>
          <p:cNvGraphicFramePr/>
          <p:nvPr>
            <p:extLst>
              <p:ext uri="{D42A27DB-BD31-4B8C-83A1-F6EECF244321}">
                <p14:modId xmlns:p14="http://schemas.microsoft.com/office/powerpoint/2010/main" val="2838894728"/>
              </p:ext>
            </p:extLst>
          </p:nvPr>
        </p:nvGraphicFramePr>
        <p:xfrm>
          <a:off x="3506238" y="2624513"/>
          <a:ext cx="2227675" cy="179820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22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9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free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13" name="Google Shape;1713;p82"/>
          <p:cNvGrpSpPr/>
          <p:nvPr/>
        </p:nvGrpSpPr>
        <p:grpSpPr>
          <a:xfrm>
            <a:off x="2456104" y="2571976"/>
            <a:ext cx="979788" cy="1655500"/>
            <a:chOff x="6895500" y="3168388"/>
            <a:chExt cx="963600" cy="1655500"/>
          </a:xfrm>
        </p:grpSpPr>
        <p:sp>
          <p:nvSpPr>
            <p:cNvPr id="1714" name="Google Shape;1714;p82"/>
            <p:cNvSpPr txBox="1"/>
            <p:nvPr/>
          </p:nvSpPr>
          <p:spPr>
            <a:xfrm>
              <a:off x="6895500" y="3168388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(00)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1715" name="Google Shape;1715;p82"/>
            <p:cNvSpPr txBox="1"/>
            <p:nvPr/>
          </p:nvSpPr>
          <p:spPr>
            <a:xfrm>
              <a:off x="6895500" y="3599500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1716" name="Google Shape;1716;p82"/>
            <p:cNvSpPr txBox="1"/>
            <p:nvPr/>
          </p:nvSpPr>
          <p:spPr>
            <a:xfrm>
              <a:off x="6895500" y="4032225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1717" name="Google Shape;1717;p82"/>
            <p:cNvSpPr txBox="1"/>
            <p:nvPr/>
          </p:nvSpPr>
          <p:spPr>
            <a:xfrm>
              <a:off x="6895500" y="4454588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(11)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200" b="1">
                <a:solidFill>
                  <a:srgbClr val="FF0000"/>
                </a:solidFill>
              </a:endParaRPr>
            </a:p>
          </p:txBody>
        </p:sp>
      </p:grpSp>
      <p:sp>
        <p:nvSpPr>
          <p:cNvPr id="1718" name="Google Shape;1718;p82"/>
          <p:cNvSpPr txBox="1"/>
          <p:nvPr/>
        </p:nvSpPr>
        <p:spPr>
          <a:xfrm>
            <a:off x="3582976" y="4345876"/>
            <a:ext cx="2074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Address Space</a:t>
            </a:r>
            <a:endParaRPr b="1" dirty="0"/>
          </a:p>
        </p:txBody>
      </p:sp>
      <p:graphicFrame>
        <p:nvGraphicFramePr>
          <p:cNvPr id="1719" name="Google Shape;1719;p82"/>
          <p:cNvGraphicFramePr/>
          <p:nvPr/>
        </p:nvGraphicFramePr>
        <p:xfrm>
          <a:off x="9178375" y="1824738"/>
          <a:ext cx="2227675" cy="347224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22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7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Operating system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720" name="Google Shape;1720;p82"/>
          <p:cNvGrpSpPr/>
          <p:nvPr/>
        </p:nvGrpSpPr>
        <p:grpSpPr>
          <a:xfrm>
            <a:off x="8131539" y="1831512"/>
            <a:ext cx="1047237" cy="3389724"/>
            <a:chOff x="6720550" y="2261913"/>
            <a:chExt cx="858672" cy="3389724"/>
          </a:xfrm>
        </p:grpSpPr>
        <p:sp>
          <p:nvSpPr>
            <p:cNvPr id="1721" name="Google Shape;1721;p82"/>
            <p:cNvSpPr txBox="1"/>
            <p:nvPr/>
          </p:nvSpPr>
          <p:spPr>
            <a:xfrm>
              <a:off x="6750622" y="2261913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 (000)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722" name="Google Shape;1722;p82"/>
            <p:cNvSpPr txBox="1"/>
            <p:nvPr/>
          </p:nvSpPr>
          <p:spPr>
            <a:xfrm>
              <a:off x="6750622" y="2689802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(001)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723" name="Google Shape;1723;p82"/>
            <p:cNvSpPr txBox="1"/>
            <p:nvPr/>
          </p:nvSpPr>
          <p:spPr>
            <a:xfrm>
              <a:off x="6750622" y="3141841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724" name="Google Shape;1724;p82"/>
            <p:cNvSpPr txBox="1"/>
            <p:nvPr/>
          </p:nvSpPr>
          <p:spPr>
            <a:xfrm>
              <a:off x="6730556" y="3566955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725" name="Google Shape;1725;p82"/>
            <p:cNvSpPr txBox="1"/>
            <p:nvPr/>
          </p:nvSpPr>
          <p:spPr>
            <a:xfrm>
              <a:off x="6730567" y="3974969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726" name="Google Shape;1726;p82"/>
            <p:cNvSpPr txBox="1"/>
            <p:nvPr/>
          </p:nvSpPr>
          <p:spPr>
            <a:xfrm>
              <a:off x="6730556" y="4403670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200" b="1">
                <a:solidFill>
                  <a:srgbClr val="E46C0A"/>
                </a:solidFill>
              </a:endParaRPr>
            </a:p>
          </p:txBody>
        </p:sp>
        <p:sp>
          <p:nvSpPr>
            <p:cNvPr id="1727" name="Google Shape;1727;p82"/>
            <p:cNvSpPr txBox="1"/>
            <p:nvPr/>
          </p:nvSpPr>
          <p:spPr>
            <a:xfrm>
              <a:off x="6750622" y="4837022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728" name="Google Shape;1728;p82"/>
            <p:cNvSpPr txBox="1"/>
            <p:nvPr/>
          </p:nvSpPr>
          <p:spPr>
            <a:xfrm>
              <a:off x="6720550" y="5282336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 sz="1200" b="1">
                <a:solidFill>
                  <a:schemeClr val="accent2"/>
                </a:solidFill>
              </a:endParaRPr>
            </a:p>
          </p:txBody>
        </p:sp>
      </p:grpSp>
      <p:sp>
        <p:nvSpPr>
          <p:cNvPr id="1729" name="Google Shape;1729;p82"/>
          <p:cNvSpPr txBox="1"/>
          <p:nvPr/>
        </p:nvSpPr>
        <p:spPr>
          <a:xfrm>
            <a:off x="9073463" y="5311850"/>
            <a:ext cx="2437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Physical Address</a:t>
            </a:r>
            <a:endParaRPr b="1" dirty="0"/>
          </a:p>
        </p:txBody>
      </p:sp>
      <p:sp>
        <p:nvSpPr>
          <p:cNvPr id="1730" name="Google Shape;1730;p82"/>
          <p:cNvSpPr/>
          <p:nvPr/>
        </p:nvSpPr>
        <p:spPr>
          <a:xfrm>
            <a:off x="6419430" y="4508579"/>
            <a:ext cx="15513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latin typeface="Consolas"/>
                <a:ea typeface="Consolas"/>
                <a:cs typeface="Consolas"/>
                <a:sym typeface="Consolas"/>
              </a:rPr>
              <a:t>Page Table (PT)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731" name="Google Shape;1731;p82"/>
          <p:cNvGraphicFramePr/>
          <p:nvPr>
            <p:extLst>
              <p:ext uri="{D42A27DB-BD31-4B8C-83A1-F6EECF244321}">
                <p14:modId xmlns:p14="http://schemas.microsoft.com/office/powerpoint/2010/main" val="3443757345"/>
              </p:ext>
            </p:extLst>
          </p:nvPr>
        </p:nvGraphicFramePr>
        <p:xfrm>
          <a:off x="6849430" y="2712486"/>
          <a:ext cx="781900" cy="170680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78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32" name="Google Shape;1732;p82"/>
          <p:cNvSpPr txBox="1"/>
          <p:nvPr/>
        </p:nvSpPr>
        <p:spPr>
          <a:xfrm>
            <a:off x="2946688" y="2130251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733" name="Google Shape;1733;p82"/>
          <p:cNvSpPr txBox="1"/>
          <p:nvPr/>
        </p:nvSpPr>
        <p:spPr>
          <a:xfrm>
            <a:off x="8607250" y="1378775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PFN</a:t>
            </a:r>
            <a:endParaRPr b="1">
              <a:solidFill>
                <a:schemeClr val="accent2"/>
              </a:solidFill>
            </a:endParaRPr>
          </a:p>
        </p:txBody>
      </p:sp>
      <p:grpSp>
        <p:nvGrpSpPr>
          <p:cNvPr id="1734" name="Google Shape;1734;p82"/>
          <p:cNvGrpSpPr/>
          <p:nvPr/>
        </p:nvGrpSpPr>
        <p:grpSpPr>
          <a:xfrm>
            <a:off x="6109680" y="2723654"/>
            <a:ext cx="636313" cy="1684450"/>
            <a:chOff x="5161375" y="3094650"/>
            <a:chExt cx="636313" cy="1684450"/>
          </a:xfrm>
        </p:grpSpPr>
        <p:sp>
          <p:nvSpPr>
            <p:cNvPr id="1735" name="Google Shape;1735;p82"/>
            <p:cNvSpPr txBox="1"/>
            <p:nvPr/>
          </p:nvSpPr>
          <p:spPr>
            <a:xfrm>
              <a:off x="5161375" y="30946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736" name="Google Shape;1736;p82"/>
            <p:cNvSpPr txBox="1"/>
            <p:nvPr/>
          </p:nvSpPr>
          <p:spPr>
            <a:xfrm>
              <a:off x="5161388" y="35213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737" name="Google Shape;1737;p82"/>
            <p:cNvSpPr txBox="1"/>
            <p:nvPr/>
          </p:nvSpPr>
          <p:spPr>
            <a:xfrm>
              <a:off x="5161375" y="39524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738" name="Google Shape;1738;p82"/>
            <p:cNvSpPr txBox="1"/>
            <p:nvPr/>
          </p:nvSpPr>
          <p:spPr>
            <a:xfrm>
              <a:off x="5161375" y="434800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b="1">
                <a:solidFill>
                  <a:srgbClr val="FF0000"/>
                </a:solidFill>
              </a:endParaRPr>
            </a:p>
          </p:txBody>
        </p:sp>
      </p:grpSp>
      <p:sp>
        <p:nvSpPr>
          <p:cNvPr id="1739" name="Google Shape;1739;p82"/>
          <p:cNvSpPr txBox="1"/>
          <p:nvPr/>
        </p:nvSpPr>
        <p:spPr>
          <a:xfrm>
            <a:off x="6277118" y="2270779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740" name="Google Shape;1740;p82"/>
          <p:cNvSpPr txBox="1"/>
          <p:nvPr/>
        </p:nvSpPr>
        <p:spPr>
          <a:xfrm>
            <a:off x="6902718" y="2270766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PFN</a:t>
            </a:r>
            <a:endParaRPr b="1">
              <a:solidFill>
                <a:schemeClr val="accent2"/>
              </a:solidFill>
            </a:endParaRPr>
          </a:p>
        </p:txBody>
      </p:sp>
      <p:graphicFrame>
        <p:nvGraphicFramePr>
          <p:cNvPr id="1741" name="Google Shape;1741;p82"/>
          <p:cNvGraphicFramePr/>
          <p:nvPr>
            <p:extLst>
              <p:ext uri="{D42A27DB-BD31-4B8C-83A1-F6EECF244321}">
                <p14:modId xmlns:p14="http://schemas.microsoft.com/office/powerpoint/2010/main" val="3645457834"/>
              </p:ext>
            </p:extLst>
          </p:nvPr>
        </p:nvGraphicFramePr>
        <p:xfrm>
          <a:off x="3047652" y="5833575"/>
          <a:ext cx="2966700" cy="45875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49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8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42" name="Google Shape;1742;p82"/>
          <p:cNvGraphicFramePr/>
          <p:nvPr/>
        </p:nvGraphicFramePr>
        <p:xfrm>
          <a:off x="8504100" y="5850938"/>
          <a:ext cx="3466075" cy="488475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49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4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8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0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8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43" name="Google Shape;1743;p82"/>
          <p:cNvSpPr txBox="1"/>
          <p:nvPr/>
        </p:nvSpPr>
        <p:spPr>
          <a:xfrm>
            <a:off x="7991100" y="5833575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</a:t>
            </a:r>
            <a:endParaRPr sz="1800" b="1"/>
          </a:p>
        </p:txBody>
      </p:sp>
      <p:sp>
        <p:nvSpPr>
          <p:cNvPr id="1744" name="Google Shape;1744;p82"/>
          <p:cNvSpPr txBox="1"/>
          <p:nvPr/>
        </p:nvSpPr>
        <p:spPr>
          <a:xfrm>
            <a:off x="2557052" y="5801362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/>
          </a:p>
        </p:txBody>
      </p:sp>
      <p:cxnSp>
        <p:nvCxnSpPr>
          <p:cNvPr id="1745" name="Google Shape;1745;p82"/>
          <p:cNvCxnSpPr>
            <a:cxnSpLocks/>
          </p:cNvCxnSpPr>
          <p:nvPr/>
        </p:nvCxnSpPr>
        <p:spPr>
          <a:xfrm>
            <a:off x="6277118" y="6095163"/>
            <a:ext cx="1651112" cy="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38" name="Google Shape;1702;p81">
            <a:extLst>
              <a:ext uri="{FF2B5EF4-FFF2-40B4-BE49-F238E27FC236}">
                <a16:creationId xmlns:a16="http://schemas.microsoft.com/office/drawing/2014/main" id="{7161CB38-2367-40C1-A9F7-79E0FD595A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8999279"/>
              </p:ext>
            </p:extLst>
          </p:nvPr>
        </p:nvGraphicFramePr>
        <p:xfrm>
          <a:off x="338810" y="1558193"/>
          <a:ext cx="2235789" cy="174483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547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7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0764">
                  <a:extLst>
                    <a:ext uri="{9D8B030D-6E8A-4147-A177-3AD203B41FA5}">
                      <a16:colId xmlns:a16="http://schemas.microsoft.com/office/drawing/2014/main" val="2692282490"/>
                    </a:ext>
                  </a:extLst>
                </a:gridCol>
              </a:tblGrid>
              <a:tr h="23181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 b="1"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page</a:t>
                      </a:r>
                      <a:endParaRPr sz="1050" b="1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 b="1" dirty="0"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segment</a:t>
                      </a:r>
                      <a:endParaRPr sz="1050" b="1" dirty="0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 b="1" dirty="0"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frame</a:t>
                      </a:r>
                      <a:endParaRPr sz="1050" b="1" dirty="0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96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VP0</a:t>
                      </a:r>
                      <a:endParaRPr sz="1050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 dirty="0"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code</a:t>
                      </a:r>
                      <a:endParaRPr sz="1050" dirty="0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latin typeface="Consolas" panose="020B0609020204030204" pitchFamily="49" charset="0"/>
                        </a:rPr>
                        <a:t>PFN1</a:t>
                      </a:r>
                      <a:endParaRPr sz="110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96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5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VP1</a:t>
                      </a:r>
                      <a:endParaRPr sz="1050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 dirty="0"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heap</a:t>
                      </a:r>
                      <a:endParaRPr sz="1050" dirty="0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latin typeface="Consolas" panose="020B0609020204030204" pitchFamily="49" charset="0"/>
                        </a:rPr>
                        <a:t>PFN4</a:t>
                      </a:r>
                      <a:endParaRPr sz="110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96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5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VP2</a:t>
                      </a:r>
                      <a:endParaRPr sz="1050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 dirty="0"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free</a:t>
                      </a:r>
                      <a:endParaRPr sz="1050" dirty="0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latin typeface="Consolas" panose="020B0609020204030204" pitchFamily="49" charset="0"/>
                        </a:rPr>
                        <a:t>No valido</a:t>
                      </a:r>
                      <a:endParaRPr sz="110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96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5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VP3</a:t>
                      </a:r>
                      <a:endParaRPr sz="1050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50" dirty="0"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stack</a:t>
                      </a:r>
                      <a:endParaRPr sz="1050" dirty="0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>
                          <a:latin typeface="Consolas" panose="020B0609020204030204" pitchFamily="49" charset="0"/>
                        </a:rPr>
                        <a:t>PFN7</a:t>
                      </a:r>
                      <a:endParaRPr sz="110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p83"/>
          <p:cNvSpPr txBox="1">
            <a:spLocks noGrp="1"/>
          </p:cNvSpPr>
          <p:nvPr>
            <p:ph type="title"/>
          </p:nvPr>
        </p:nvSpPr>
        <p:spPr>
          <a:xfrm>
            <a:off x="290286" y="96038"/>
            <a:ext cx="893036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latin typeface="+mj-lt"/>
              </a:rPr>
              <a:t>Traducción de direcciones (II)</a:t>
            </a:r>
            <a:endParaRPr b="0" dirty="0">
              <a:latin typeface="+mj-lt"/>
            </a:endParaRPr>
          </a:p>
        </p:txBody>
      </p:sp>
      <p:sp>
        <p:nvSpPr>
          <p:cNvPr id="1751" name="Google Shape;1751;p83"/>
          <p:cNvSpPr txBox="1">
            <a:spLocks noGrp="1"/>
          </p:cNvSpPr>
          <p:nvPr>
            <p:ph type="body" idx="1"/>
          </p:nvPr>
        </p:nvSpPr>
        <p:spPr>
          <a:xfrm>
            <a:off x="290286" y="932925"/>
            <a:ext cx="11754114" cy="92537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  <a:ea typeface="Roboto" panose="02000000000000000000" pitchFamily="2" charset="0"/>
              </a:rPr>
              <a:t>Valid (V)</a:t>
            </a:r>
            <a:endParaRPr sz="2400" dirty="0">
              <a:solidFill>
                <a:schemeClr val="accent1"/>
              </a:solidFill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  <a:ea typeface="Roboto" panose="02000000000000000000" pitchFamily="2" charset="0"/>
              </a:rPr>
              <a:t>Bit que indica si una </a:t>
            </a:r>
            <a:r>
              <a:rPr lang="es-ES" sz="2000" b="1" dirty="0">
                <a:latin typeface="+mn-lt"/>
                <a:ea typeface="Roboto" panose="02000000000000000000" pitchFamily="2" charset="0"/>
              </a:rPr>
              <a:t>PTE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 puede o no ser usada. Se evalúa cada vez que una dirección es usada.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</p:txBody>
      </p:sp>
      <p:graphicFrame>
        <p:nvGraphicFramePr>
          <p:cNvPr id="1752" name="Google Shape;1752;p83"/>
          <p:cNvGraphicFramePr/>
          <p:nvPr>
            <p:extLst>
              <p:ext uri="{D42A27DB-BD31-4B8C-83A1-F6EECF244321}">
                <p14:modId xmlns:p14="http://schemas.microsoft.com/office/powerpoint/2010/main" val="2189762062"/>
              </p:ext>
            </p:extLst>
          </p:nvPr>
        </p:nvGraphicFramePr>
        <p:xfrm>
          <a:off x="1806700" y="3201504"/>
          <a:ext cx="2227675" cy="179820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22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9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free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53" name="Google Shape;1753;p83"/>
          <p:cNvGrpSpPr/>
          <p:nvPr/>
        </p:nvGrpSpPr>
        <p:grpSpPr>
          <a:xfrm>
            <a:off x="756566" y="3148967"/>
            <a:ext cx="979788" cy="1655500"/>
            <a:chOff x="6895500" y="3168388"/>
            <a:chExt cx="963600" cy="1655500"/>
          </a:xfrm>
        </p:grpSpPr>
        <p:sp>
          <p:nvSpPr>
            <p:cNvPr id="1754" name="Google Shape;1754;p83"/>
            <p:cNvSpPr txBox="1"/>
            <p:nvPr/>
          </p:nvSpPr>
          <p:spPr>
            <a:xfrm>
              <a:off x="6895500" y="3168388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(00)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1755" name="Google Shape;1755;p83"/>
            <p:cNvSpPr txBox="1"/>
            <p:nvPr/>
          </p:nvSpPr>
          <p:spPr>
            <a:xfrm>
              <a:off x="6895500" y="3599500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1756" name="Google Shape;1756;p83"/>
            <p:cNvSpPr txBox="1"/>
            <p:nvPr/>
          </p:nvSpPr>
          <p:spPr>
            <a:xfrm>
              <a:off x="6895500" y="4032225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1757" name="Google Shape;1757;p83"/>
            <p:cNvSpPr txBox="1"/>
            <p:nvPr/>
          </p:nvSpPr>
          <p:spPr>
            <a:xfrm>
              <a:off x="6895500" y="4454588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(11)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200" b="1">
                <a:solidFill>
                  <a:srgbClr val="FF0000"/>
                </a:solidFill>
              </a:endParaRPr>
            </a:p>
          </p:txBody>
        </p:sp>
      </p:grpSp>
      <p:sp>
        <p:nvSpPr>
          <p:cNvPr id="1758" name="Google Shape;1758;p83"/>
          <p:cNvSpPr txBox="1"/>
          <p:nvPr/>
        </p:nvSpPr>
        <p:spPr>
          <a:xfrm>
            <a:off x="2144885" y="2478029"/>
            <a:ext cx="1551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Address Space</a:t>
            </a:r>
            <a:endParaRPr b="1" dirty="0"/>
          </a:p>
        </p:txBody>
      </p:sp>
      <p:graphicFrame>
        <p:nvGraphicFramePr>
          <p:cNvPr id="1759" name="Google Shape;1759;p83"/>
          <p:cNvGraphicFramePr/>
          <p:nvPr>
            <p:extLst>
              <p:ext uri="{D42A27DB-BD31-4B8C-83A1-F6EECF244321}">
                <p14:modId xmlns:p14="http://schemas.microsoft.com/office/powerpoint/2010/main" val="2191846321"/>
              </p:ext>
            </p:extLst>
          </p:nvPr>
        </p:nvGraphicFramePr>
        <p:xfrm>
          <a:off x="8735175" y="2923992"/>
          <a:ext cx="2227675" cy="347224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22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7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Operating system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760" name="Google Shape;1760;p83"/>
          <p:cNvGrpSpPr/>
          <p:nvPr/>
        </p:nvGrpSpPr>
        <p:grpSpPr>
          <a:xfrm>
            <a:off x="7688339" y="2930766"/>
            <a:ext cx="1047237" cy="3389724"/>
            <a:chOff x="6720550" y="2261913"/>
            <a:chExt cx="858672" cy="3389724"/>
          </a:xfrm>
        </p:grpSpPr>
        <p:sp>
          <p:nvSpPr>
            <p:cNvPr id="1761" name="Google Shape;1761;p83"/>
            <p:cNvSpPr txBox="1"/>
            <p:nvPr/>
          </p:nvSpPr>
          <p:spPr>
            <a:xfrm>
              <a:off x="6750622" y="2261913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 (000)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762" name="Google Shape;1762;p83"/>
            <p:cNvSpPr txBox="1"/>
            <p:nvPr/>
          </p:nvSpPr>
          <p:spPr>
            <a:xfrm>
              <a:off x="6750622" y="2689802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(001)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763" name="Google Shape;1763;p83"/>
            <p:cNvSpPr txBox="1"/>
            <p:nvPr/>
          </p:nvSpPr>
          <p:spPr>
            <a:xfrm>
              <a:off x="6750622" y="3141841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764" name="Google Shape;1764;p83"/>
            <p:cNvSpPr txBox="1"/>
            <p:nvPr/>
          </p:nvSpPr>
          <p:spPr>
            <a:xfrm>
              <a:off x="6730556" y="3566955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765" name="Google Shape;1765;p83"/>
            <p:cNvSpPr txBox="1"/>
            <p:nvPr/>
          </p:nvSpPr>
          <p:spPr>
            <a:xfrm>
              <a:off x="6730567" y="3974969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766" name="Google Shape;1766;p83"/>
            <p:cNvSpPr txBox="1"/>
            <p:nvPr/>
          </p:nvSpPr>
          <p:spPr>
            <a:xfrm>
              <a:off x="6730556" y="4403670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200" b="1">
                <a:solidFill>
                  <a:srgbClr val="E46C0A"/>
                </a:solidFill>
              </a:endParaRPr>
            </a:p>
          </p:txBody>
        </p:sp>
        <p:sp>
          <p:nvSpPr>
            <p:cNvPr id="1767" name="Google Shape;1767;p83"/>
            <p:cNvSpPr txBox="1"/>
            <p:nvPr/>
          </p:nvSpPr>
          <p:spPr>
            <a:xfrm>
              <a:off x="6750622" y="4837022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768" name="Google Shape;1768;p83"/>
            <p:cNvSpPr txBox="1"/>
            <p:nvPr/>
          </p:nvSpPr>
          <p:spPr>
            <a:xfrm>
              <a:off x="6720550" y="5282336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 sz="1200" b="1">
                <a:solidFill>
                  <a:schemeClr val="accent2"/>
                </a:solidFill>
              </a:endParaRPr>
            </a:p>
          </p:txBody>
        </p:sp>
      </p:grpSp>
      <p:sp>
        <p:nvSpPr>
          <p:cNvPr id="1769" name="Google Shape;1769;p83"/>
          <p:cNvSpPr txBox="1"/>
          <p:nvPr/>
        </p:nvSpPr>
        <p:spPr>
          <a:xfrm>
            <a:off x="9143225" y="2160329"/>
            <a:ext cx="1551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Physical Address</a:t>
            </a:r>
            <a:endParaRPr b="1" dirty="0"/>
          </a:p>
        </p:txBody>
      </p:sp>
      <p:sp>
        <p:nvSpPr>
          <p:cNvPr id="1770" name="Google Shape;1770;p83"/>
          <p:cNvSpPr/>
          <p:nvPr/>
        </p:nvSpPr>
        <p:spPr>
          <a:xfrm>
            <a:off x="5323188" y="5124042"/>
            <a:ext cx="15513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latin typeface="Consolas"/>
                <a:ea typeface="Consolas"/>
                <a:cs typeface="Consolas"/>
                <a:sym typeface="Consolas"/>
              </a:rPr>
              <a:t>Page Table (PT)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771" name="Google Shape;1771;p83"/>
          <p:cNvGraphicFramePr/>
          <p:nvPr>
            <p:extLst>
              <p:ext uri="{D42A27DB-BD31-4B8C-83A1-F6EECF244321}">
                <p14:modId xmlns:p14="http://schemas.microsoft.com/office/powerpoint/2010/main" val="2223747428"/>
              </p:ext>
            </p:extLst>
          </p:nvPr>
        </p:nvGraphicFramePr>
        <p:xfrm>
          <a:off x="5456350" y="2924011"/>
          <a:ext cx="1284975" cy="213350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43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72" name="Google Shape;1772;p83"/>
          <p:cNvSpPr txBox="1"/>
          <p:nvPr/>
        </p:nvSpPr>
        <p:spPr>
          <a:xfrm>
            <a:off x="1247150" y="2707242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773" name="Google Shape;1773;p83"/>
          <p:cNvSpPr txBox="1"/>
          <p:nvPr/>
        </p:nvSpPr>
        <p:spPr>
          <a:xfrm>
            <a:off x="8164050" y="2478029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PFN</a:t>
            </a:r>
            <a:endParaRPr b="1">
              <a:solidFill>
                <a:schemeClr val="accent2"/>
              </a:solidFill>
            </a:endParaRPr>
          </a:p>
        </p:txBody>
      </p:sp>
      <p:grpSp>
        <p:nvGrpSpPr>
          <p:cNvPr id="1774" name="Google Shape;1774;p83"/>
          <p:cNvGrpSpPr/>
          <p:nvPr/>
        </p:nvGrpSpPr>
        <p:grpSpPr>
          <a:xfrm>
            <a:off x="4716600" y="3245817"/>
            <a:ext cx="636313" cy="1684450"/>
            <a:chOff x="5161375" y="3094650"/>
            <a:chExt cx="636313" cy="1684450"/>
          </a:xfrm>
        </p:grpSpPr>
        <p:sp>
          <p:nvSpPr>
            <p:cNvPr id="1775" name="Google Shape;1775;p83"/>
            <p:cNvSpPr txBox="1"/>
            <p:nvPr/>
          </p:nvSpPr>
          <p:spPr>
            <a:xfrm>
              <a:off x="5161375" y="30946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776" name="Google Shape;1776;p83"/>
            <p:cNvSpPr txBox="1"/>
            <p:nvPr/>
          </p:nvSpPr>
          <p:spPr>
            <a:xfrm>
              <a:off x="5161388" y="35213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777" name="Google Shape;1777;p83"/>
            <p:cNvSpPr txBox="1"/>
            <p:nvPr/>
          </p:nvSpPr>
          <p:spPr>
            <a:xfrm>
              <a:off x="5161375" y="39524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778" name="Google Shape;1778;p83"/>
            <p:cNvSpPr txBox="1"/>
            <p:nvPr/>
          </p:nvSpPr>
          <p:spPr>
            <a:xfrm>
              <a:off x="5161375" y="434800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b="1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3" name="Google Shape;1783;p8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Traducción de direcciones (II)</a:t>
            </a:r>
            <a:endParaRPr dirty="0">
              <a:latin typeface="+mj-lt"/>
            </a:endParaRPr>
          </a:p>
        </p:txBody>
      </p:sp>
      <p:sp>
        <p:nvSpPr>
          <p:cNvPr id="1784" name="Google Shape;1784;p84"/>
          <p:cNvSpPr txBox="1">
            <a:spLocks noGrp="1"/>
          </p:cNvSpPr>
          <p:nvPr>
            <p:ph type="body" idx="1"/>
          </p:nvPr>
        </p:nvSpPr>
        <p:spPr>
          <a:xfrm>
            <a:off x="765900" y="932925"/>
            <a:ext cx="11278500" cy="573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  <a:ea typeface="Roboto" panose="02000000000000000000" pitchFamily="2" charset="0"/>
              </a:rPr>
              <a:t>Reference (R)</a:t>
            </a:r>
            <a:endParaRPr sz="2400" dirty="0">
              <a:solidFill>
                <a:schemeClr val="accent1"/>
              </a:solidFill>
              <a:latin typeface="+mn-lt"/>
              <a:ea typeface="Roboto" panose="02000000000000000000" pitchFamily="2" charset="0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000" dirty="0">
                <a:latin typeface="+mn-lt"/>
                <a:ea typeface="Roboto" panose="02000000000000000000" pitchFamily="2" charset="0"/>
              </a:rPr>
              <a:t>Bit que indica si la página ha sido accedida. Es llevado a </a:t>
            </a:r>
            <a:r>
              <a:rPr lang="es-ES" sz="2000" b="1" dirty="0">
                <a:latin typeface="+mn-lt"/>
                <a:ea typeface="Roboto" panose="02000000000000000000" pitchFamily="2" charset="0"/>
              </a:rPr>
              <a:t>1 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(</a:t>
            </a:r>
            <a:r>
              <a:rPr lang="es-ES" sz="2000" b="1" dirty="0" err="1">
                <a:latin typeface="+mn-lt"/>
                <a:ea typeface="Roboto" panose="02000000000000000000" pitchFamily="2" charset="0"/>
              </a:rPr>
              <a:t>operacion</a:t>
            </a:r>
            <a:r>
              <a:rPr lang="es-ES" sz="2000" b="1" dirty="0">
                <a:latin typeface="+mn-lt"/>
                <a:ea typeface="Roboto" panose="02000000000000000000" pitchFamily="2" charset="0"/>
              </a:rPr>
              <a:t> set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) cuando la página ha sido leída o escrita. 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000" dirty="0">
                <a:latin typeface="+mn-lt"/>
                <a:ea typeface="Roboto" panose="02000000000000000000" pitchFamily="2" charset="0"/>
              </a:rPr>
              <a:t>Utilidad: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000" dirty="0">
                <a:latin typeface="+mn-lt"/>
                <a:ea typeface="Roboto" panose="02000000000000000000" pitchFamily="2" charset="0"/>
              </a:rPr>
              <a:t>Permite rastrear el acceso a la página.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000" dirty="0">
                <a:latin typeface="+mn-lt"/>
                <a:ea typeface="Roboto" panose="02000000000000000000" pitchFamily="2" charset="0"/>
              </a:rPr>
              <a:t>Determina la popularidad de la página.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2"/>
                </a:solidFill>
                <a:latin typeface="+mn-lt"/>
                <a:ea typeface="Roboto" panose="02000000000000000000" pitchFamily="2" charset="0"/>
              </a:rPr>
              <a:t>Ejemplo (continuación)</a:t>
            </a:r>
            <a:r>
              <a:rPr lang="es-ES" sz="2400" dirty="0">
                <a:solidFill>
                  <a:schemeClr val="accent2"/>
                </a:solidFill>
                <a:latin typeface="+mn-lt"/>
                <a:ea typeface="Roboto" panose="02000000000000000000" pitchFamily="2" charset="0"/>
              </a:rPr>
              <a:t>:</a:t>
            </a:r>
            <a:endParaRPr sz="2400" dirty="0">
              <a:solidFill>
                <a:schemeClr val="accent2"/>
              </a:solidFill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  <a:ea typeface="Roboto" panose="02000000000000000000" pitchFamily="2" charset="0"/>
              </a:rPr>
              <a:t>Suponga que se ejecuta una instrucción de lectura en la cual se accede a la dirección 60: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 dirty="0">
                <a:latin typeface="Consolas"/>
                <a:ea typeface="Consolas"/>
                <a:cs typeface="Consolas"/>
                <a:sym typeface="Consolas"/>
              </a:rPr>
              <a:t>mov 60, %eax</a:t>
            </a:r>
            <a:endParaRPr sz="2000" b="1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  <a:ea typeface="Roboto" panose="02000000000000000000" pitchFamily="2" charset="0"/>
              </a:rPr>
              <a:t>¿Cual seria el estado del bit </a:t>
            </a:r>
            <a:r>
              <a:rPr lang="es-ES" sz="2000" b="1" dirty="0">
                <a:latin typeface="Consolas" panose="020B0609020204030204" pitchFamily="49" charset="0"/>
                <a:ea typeface="Roboto" panose="02000000000000000000" pitchFamily="2" charset="0"/>
              </a:rPr>
              <a:t>R</a:t>
            </a:r>
            <a:r>
              <a:rPr lang="es-ES" sz="2000" b="1" dirty="0">
                <a:latin typeface="+mn-lt"/>
                <a:ea typeface="Roboto" panose="02000000000000000000" pitchFamily="2" charset="0"/>
              </a:rPr>
              <a:t> 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para cada PTE?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9" name="Google Shape;1789;p85"/>
          <p:cNvSpPr txBox="1">
            <a:spLocks noGrp="1"/>
          </p:cNvSpPr>
          <p:nvPr>
            <p:ph type="title"/>
          </p:nvPr>
        </p:nvSpPr>
        <p:spPr>
          <a:xfrm>
            <a:off x="444017" y="96038"/>
            <a:ext cx="8776633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latin typeface="+mj-lt"/>
              </a:rPr>
              <a:t>Traducción de direcciones (II)</a:t>
            </a:r>
            <a:endParaRPr b="0" dirty="0">
              <a:latin typeface="+mj-lt"/>
            </a:endParaRPr>
          </a:p>
        </p:txBody>
      </p:sp>
      <p:sp>
        <p:nvSpPr>
          <p:cNvPr id="1790" name="Google Shape;1790;p85"/>
          <p:cNvSpPr txBox="1">
            <a:spLocks noGrp="1"/>
          </p:cNvSpPr>
          <p:nvPr>
            <p:ph type="body" idx="1"/>
          </p:nvPr>
        </p:nvSpPr>
        <p:spPr>
          <a:xfrm>
            <a:off x="444017" y="932925"/>
            <a:ext cx="4807586" cy="610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  <a:ea typeface="Roboto" panose="02000000000000000000" pitchFamily="2" charset="0"/>
              </a:rPr>
              <a:t>Reference (R)</a:t>
            </a:r>
            <a:endParaRPr sz="2400" dirty="0">
              <a:solidFill>
                <a:schemeClr val="accent1"/>
              </a:solidFill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graphicFrame>
        <p:nvGraphicFramePr>
          <p:cNvPr id="1791" name="Google Shape;1791;p85"/>
          <p:cNvGraphicFramePr/>
          <p:nvPr/>
        </p:nvGraphicFramePr>
        <p:xfrm>
          <a:off x="2416300" y="2456990"/>
          <a:ext cx="2227675" cy="259345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22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67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free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792" name="Google Shape;1792;p85"/>
          <p:cNvGrpSpPr/>
          <p:nvPr/>
        </p:nvGrpSpPr>
        <p:grpSpPr>
          <a:xfrm>
            <a:off x="1016266" y="2467563"/>
            <a:ext cx="979788" cy="2353950"/>
            <a:chOff x="6895500" y="2388288"/>
            <a:chExt cx="963600" cy="2353950"/>
          </a:xfrm>
        </p:grpSpPr>
        <p:sp>
          <p:nvSpPr>
            <p:cNvPr id="1793" name="Google Shape;1793;p85"/>
            <p:cNvSpPr txBox="1"/>
            <p:nvPr/>
          </p:nvSpPr>
          <p:spPr>
            <a:xfrm>
              <a:off x="6895500" y="2388288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(00)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1794" name="Google Shape;1794;p85"/>
            <p:cNvSpPr txBox="1"/>
            <p:nvPr/>
          </p:nvSpPr>
          <p:spPr>
            <a:xfrm>
              <a:off x="6895500" y="3123300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1795" name="Google Shape;1795;p85"/>
            <p:cNvSpPr txBox="1"/>
            <p:nvPr/>
          </p:nvSpPr>
          <p:spPr>
            <a:xfrm>
              <a:off x="6895500" y="3717325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1796" name="Google Shape;1796;p85"/>
            <p:cNvSpPr txBox="1"/>
            <p:nvPr/>
          </p:nvSpPr>
          <p:spPr>
            <a:xfrm>
              <a:off x="6895500" y="4372938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(11)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200" b="1">
                <a:solidFill>
                  <a:srgbClr val="FF0000"/>
                </a:solidFill>
              </a:endParaRPr>
            </a:p>
          </p:txBody>
        </p:sp>
      </p:grpSp>
      <p:sp>
        <p:nvSpPr>
          <p:cNvPr id="1797" name="Google Shape;1797;p85"/>
          <p:cNvSpPr txBox="1"/>
          <p:nvPr/>
        </p:nvSpPr>
        <p:spPr>
          <a:xfrm>
            <a:off x="2847810" y="1661663"/>
            <a:ext cx="1551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Address Space</a:t>
            </a:r>
            <a:endParaRPr b="1" dirty="0"/>
          </a:p>
        </p:txBody>
      </p:sp>
      <p:graphicFrame>
        <p:nvGraphicFramePr>
          <p:cNvPr id="1798" name="Google Shape;1798;p85"/>
          <p:cNvGraphicFramePr/>
          <p:nvPr/>
        </p:nvGraphicFramePr>
        <p:xfrm>
          <a:off x="9344775" y="1734628"/>
          <a:ext cx="2227675" cy="4852325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22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7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Operating system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799" name="Google Shape;1799;p85"/>
          <p:cNvGrpSpPr/>
          <p:nvPr/>
        </p:nvGrpSpPr>
        <p:grpSpPr>
          <a:xfrm>
            <a:off x="7828751" y="1835512"/>
            <a:ext cx="1047240" cy="4629074"/>
            <a:chOff x="6720550" y="975938"/>
            <a:chExt cx="858675" cy="4629074"/>
          </a:xfrm>
        </p:grpSpPr>
        <p:sp>
          <p:nvSpPr>
            <p:cNvPr id="1800" name="Google Shape;1800;p85"/>
            <p:cNvSpPr txBox="1"/>
            <p:nvPr/>
          </p:nvSpPr>
          <p:spPr>
            <a:xfrm>
              <a:off x="6720551" y="975938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 (000)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801" name="Google Shape;1801;p85"/>
            <p:cNvSpPr txBox="1"/>
            <p:nvPr/>
          </p:nvSpPr>
          <p:spPr>
            <a:xfrm>
              <a:off x="6750622" y="1546802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(001)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802" name="Google Shape;1802;p85"/>
            <p:cNvSpPr txBox="1"/>
            <p:nvPr/>
          </p:nvSpPr>
          <p:spPr>
            <a:xfrm>
              <a:off x="6750622" y="2146591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803" name="Google Shape;1803;p85"/>
            <p:cNvSpPr txBox="1"/>
            <p:nvPr/>
          </p:nvSpPr>
          <p:spPr>
            <a:xfrm>
              <a:off x="6750624" y="2760892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804" name="Google Shape;1804;p85"/>
            <p:cNvSpPr txBox="1"/>
            <p:nvPr/>
          </p:nvSpPr>
          <p:spPr>
            <a:xfrm>
              <a:off x="6750625" y="3414556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805" name="Google Shape;1805;p85"/>
            <p:cNvSpPr txBox="1"/>
            <p:nvPr/>
          </p:nvSpPr>
          <p:spPr>
            <a:xfrm>
              <a:off x="6750624" y="4021608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200" b="1">
                <a:solidFill>
                  <a:srgbClr val="E46C0A"/>
                </a:solidFill>
              </a:endParaRPr>
            </a:p>
          </p:txBody>
        </p:sp>
        <p:sp>
          <p:nvSpPr>
            <p:cNvPr id="1806" name="Google Shape;1806;p85"/>
            <p:cNvSpPr txBox="1"/>
            <p:nvPr/>
          </p:nvSpPr>
          <p:spPr>
            <a:xfrm>
              <a:off x="6750622" y="4628647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807" name="Google Shape;1807;p85"/>
            <p:cNvSpPr txBox="1"/>
            <p:nvPr/>
          </p:nvSpPr>
          <p:spPr>
            <a:xfrm>
              <a:off x="6720550" y="5235711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 sz="1200" b="1">
                <a:solidFill>
                  <a:schemeClr val="accent2"/>
                </a:solidFill>
              </a:endParaRPr>
            </a:p>
          </p:txBody>
        </p:sp>
      </p:grpSp>
      <p:sp>
        <p:nvSpPr>
          <p:cNvPr id="1808" name="Google Shape;1808;p85"/>
          <p:cNvSpPr txBox="1"/>
          <p:nvPr/>
        </p:nvSpPr>
        <p:spPr>
          <a:xfrm>
            <a:off x="9682963" y="899625"/>
            <a:ext cx="1551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Physical Address</a:t>
            </a:r>
            <a:endParaRPr b="1" dirty="0"/>
          </a:p>
        </p:txBody>
      </p:sp>
      <p:sp>
        <p:nvSpPr>
          <p:cNvPr id="1809" name="Google Shape;1809;p85"/>
          <p:cNvSpPr/>
          <p:nvPr/>
        </p:nvSpPr>
        <p:spPr>
          <a:xfrm>
            <a:off x="5932788" y="5314763"/>
            <a:ext cx="15513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latin typeface="Consolas"/>
                <a:ea typeface="Consolas"/>
                <a:cs typeface="Consolas"/>
                <a:sym typeface="Consolas"/>
              </a:rPr>
              <a:t>Page Table (PT)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810" name="Google Shape;1810;p85"/>
          <p:cNvGraphicFramePr/>
          <p:nvPr/>
        </p:nvGraphicFramePr>
        <p:xfrm>
          <a:off x="6065950" y="3114732"/>
          <a:ext cx="1284975" cy="213350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323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8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11" name="Google Shape;1811;p85"/>
          <p:cNvSpPr txBox="1"/>
          <p:nvPr/>
        </p:nvSpPr>
        <p:spPr>
          <a:xfrm>
            <a:off x="1780000" y="1901488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812" name="Google Shape;1812;p85"/>
          <p:cNvSpPr txBox="1"/>
          <p:nvPr/>
        </p:nvSpPr>
        <p:spPr>
          <a:xfrm>
            <a:off x="8584338" y="1224975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PFN</a:t>
            </a:r>
            <a:endParaRPr b="1">
              <a:solidFill>
                <a:schemeClr val="accent2"/>
              </a:solidFill>
            </a:endParaRPr>
          </a:p>
        </p:txBody>
      </p:sp>
      <p:grpSp>
        <p:nvGrpSpPr>
          <p:cNvPr id="1813" name="Google Shape;1813;p85"/>
          <p:cNvGrpSpPr/>
          <p:nvPr/>
        </p:nvGrpSpPr>
        <p:grpSpPr>
          <a:xfrm>
            <a:off x="5326200" y="3436538"/>
            <a:ext cx="636313" cy="1684450"/>
            <a:chOff x="5161375" y="3094650"/>
            <a:chExt cx="636313" cy="1684450"/>
          </a:xfrm>
        </p:grpSpPr>
        <p:sp>
          <p:nvSpPr>
            <p:cNvPr id="1814" name="Google Shape;1814;p85"/>
            <p:cNvSpPr txBox="1"/>
            <p:nvPr/>
          </p:nvSpPr>
          <p:spPr>
            <a:xfrm>
              <a:off x="5161375" y="30946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815" name="Google Shape;1815;p85"/>
            <p:cNvSpPr txBox="1"/>
            <p:nvPr/>
          </p:nvSpPr>
          <p:spPr>
            <a:xfrm>
              <a:off x="5161388" y="35213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816" name="Google Shape;1816;p85"/>
            <p:cNvSpPr txBox="1"/>
            <p:nvPr/>
          </p:nvSpPr>
          <p:spPr>
            <a:xfrm>
              <a:off x="5161375" y="39524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817" name="Google Shape;1817;p85"/>
            <p:cNvSpPr txBox="1"/>
            <p:nvPr/>
          </p:nvSpPr>
          <p:spPr>
            <a:xfrm>
              <a:off x="5161375" y="434800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b="1">
                <a:solidFill>
                  <a:srgbClr val="FF0000"/>
                </a:solidFill>
              </a:endParaRPr>
            </a:p>
          </p:txBody>
        </p:sp>
      </p:grpSp>
      <p:sp>
        <p:nvSpPr>
          <p:cNvPr id="1818" name="Google Shape;1818;p85"/>
          <p:cNvSpPr txBox="1"/>
          <p:nvPr/>
        </p:nvSpPr>
        <p:spPr>
          <a:xfrm>
            <a:off x="2345928" y="2457025"/>
            <a:ext cx="128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rgbClr val="741B47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mov 60, %eax</a:t>
            </a:r>
            <a:endParaRPr sz="1200" b="1" dirty="0">
              <a:solidFill>
                <a:srgbClr val="741B47"/>
              </a:solidFill>
              <a:highlight>
                <a:srgbClr val="FFFF00"/>
              </a:highlight>
            </a:endParaRPr>
          </a:p>
        </p:txBody>
      </p:sp>
      <p:sp>
        <p:nvSpPr>
          <p:cNvPr id="1819" name="Google Shape;1819;p85"/>
          <p:cNvSpPr txBox="1"/>
          <p:nvPr/>
        </p:nvSpPr>
        <p:spPr>
          <a:xfrm>
            <a:off x="2416300" y="4603850"/>
            <a:ext cx="128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rgbClr val="741B47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3000</a:t>
            </a:r>
            <a:endParaRPr sz="1200" b="1">
              <a:solidFill>
                <a:srgbClr val="741B47"/>
              </a:solidFill>
              <a:highlight>
                <a:srgbClr val="FFFF00"/>
              </a:highlight>
            </a:endParaRPr>
          </a:p>
        </p:txBody>
      </p:sp>
      <p:sp>
        <p:nvSpPr>
          <p:cNvPr id="1820" name="Google Shape;1820;p85"/>
          <p:cNvSpPr txBox="1"/>
          <p:nvPr/>
        </p:nvSpPr>
        <p:spPr>
          <a:xfrm>
            <a:off x="1996052" y="4603850"/>
            <a:ext cx="404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60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821" name="Google Shape;1821;p85"/>
          <p:cNvSpPr txBox="1"/>
          <p:nvPr/>
        </p:nvSpPr>
        <p:spPr>
          <a:xfrm>
            <a:off x="1938150" y="2457025"/>
            <a:ext cx="520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PC→</a:t>
            </a:r>
            <a:endParaRPr sz="1200" b="1">
              <a:solidFill>
                <a:srgbClr val="0B6937"/>
              </a:solidFill>
            </a:endParaRPr>
          </a:p>
        </p:txBody>
      </p:sp>
      <p:sp>
        <p:nvSpPr>
          <p:cNvPr id="1822" name="Google Shape;1822;p85"/>
          <p:cNvSpPr txBox="1"/>
          <p:nvPr/>
        </p:nvSpPr>
        <p:spPr>
          <a:xfrm>
            <a:off x="9220653" y="2274275"/>
            <a:ext cx="128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rgbClr val="741B47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mov 60, %eax</a:t>
            </a:r>
            <a:endParaRPr sz="1200" b="1" dirty="0">
              <a:solidFill>
                <a:srgbClr val="741B47"/>
              </a:solidFill>
              <a:highlight>
                <a:srgbClr val="FFFF00"/>
              </a:highlight>
            </a:endParaRPr>
          </a:p>
        </p:txBody>
      </p:sp>
      <p:sp>
        <p:nvSpPr>
          <p:cNvPr id="1823" name="Google Shape;1823;p85"/>
          <p:cNvSpPr txBox="1"/>
          <p:nvPr/>
        </p:nvSpPr>
        <p:spPr>
          <a:xfrm>
            <a:off x="9344775" y="6095275"/>
            <a:ext cx="128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rgbClr val="741B47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3000</a:t>
            </a:r>
            <a:endParaRPr sz="1200" b="1">
              <a:solidFill>
                <a:srgbClr val="741B47"/>
              </a:solidFill>
              <a:highlight>
                <a:srgbClr val="FFFF00"/>
              </a:highlight>
            </a:endParaRPr>
          </a:p>
        </p:txBody>
      </p:sp>
      <p:sp>
        <p:nvSpPr>
          <p:cNvPr id="1824" name="Google Shape;1824;p85"/>
          <p:cNvSpPr txBox="1"/>
          <p:nvPr/>
        </p:nvSpPr>
        <p:spPr>
          <a:xfrm>
            <a:off x="8760200" y="6095275"/>
            <a:ext cx="520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124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p86"/>
          <p:cNvSpPr txBox="1">
            <a:spLocks noGrp="1"/>
          </p:cNvSpPr>
          <p:nvPr>
            <p:ph type="title"/>
          </p:nvPr>
        </p:nvSpPr>
        <p:spPr>
          <a:xfrm>
            <a:off x="420914" y="96038"/>
            <a:ext cx="879973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latin typeface="+mj-lt"/>
              </a:rPr>
              <a:t>Traducción de direcciones (II)</a:t>
            </a:r>
            <a:endParaRPr b="0" dirty="0">
              <a:latin typeface="+mj-lt"/>
            </a:endParaRPr>
          </a:p>
        </p:txBody>
      </p:sp>
      <p:sp>
        <p:nvSpPr>
          <p:cNvPr id="1830" name="Google Shape;1830;p86"/>
          <p:cNvSpPr txBox="1">
            <a:spLocks noGrp="1"/>
          </p:cNvSpPr>
          <p:nvPr>
            <p:ph type="body" idx="1"/>
          </p:nvPr>
        </p:nvSpPr>
        <p:spPr>
          <a:xfrm>
            <a:off x="595086" y="932925"/>
            <a:ext cx="11449314" cy="266661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  <a:ea typeface="Roboto" panose="02000000000000000000" pitchFamily="2" charset="0"/>
              </a:rPr>
              <a:t>Modify (M) ó Dirty (D)</a:t>
            </a:r>
            <a:endParaRPr sz="2400" dirty="0">
              <a:solidFill>
                <a:schemeClr val="accent1"/>
              </a:solidFill>
              <a:latin typeface="+mn-lt"/>
              <a:ea typeface="Roboto" panose="02000000000000000000" pitchFamily="2" charset="0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000" dirty="0">
                <a:latin typeface="+mn-lt"/>
                <a:ea typeface="Roboto" panose="02000000000000000000" pitchFamily="2" charset="0"/>
              </a:rPr>
              <a:t>Indica si la página ha sido modificada, es decir, que sobre esta se ha hecho una escritura (</a:t>
            </a:r>
            <a:r>
              <a:rPr lang="es-ES" sz="2000" b="1" dirty="0">
                <a:latin typeface="+mn-lt"/>
                <a:ea typeface="Roboto" panose="02000000000000000000" pitchFamily="2" charset="0"/>
              </a:rPr>
              <a:t>write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). 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2"/>
                </a:solidFill>
                <a:latin typeface="+mn-lt"/>
                <a:ea typeface="Roboto" panose="02000000000000000000" pitchFamily="2" charset="0"/>
              </a:rPr>
              <a:t>Ejemplo (continuación)</a:t>
            </a:r>
            <a:r>
              <a:rPr lang="es-ES" sz="2400" dirty="0">
                <a:solidFill>
                  <a:schemeClr val="accent2"/>
                </a:solidFill>
                <a:latin typeface="+mn-lt"/>
                <a:ea typeface="Roboto" panose="02000000000000000000" pitchFamily="2" charset="0"/>
              </a:rPr>
              <a:t>:</a:t>
            </a:r>
            <a:endParaRPr sz="2400" dirty="0">
              <a:solidFill>
                <a:schemeClr val="accent2"/>
              </a:solidFill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  <a:ea typeface="Roboto" panose="02000000000000000000" pitchFamily="2" charset="0"/>
              </a:rPr>
              <a:t>Suponga que una variable global es modificada. ¿Como quedaría el </a:t>
            </a:r>
            <a:r>
              <a:rPr lang="es-ES" sz="2000" b="1" dirty="0">
                <a:latin typeface="+mn-lt"/>
                <a:ea typeface="Roboto" panose="02000000000000000000" pitchFamily="2" charset="0"/>
              </a:rPr>
              <a:t>bit </a:t>
            </a:r>
            <a:r>
              <a:rPr lang="es-ES" sz="2000" b="1" dirty="0">
                <a:latin typeface="Consolas" panose="020B0609020204030204" pitchFamily="49" charset="0"/>
                <a:ea typeface="Roboto" panose="02000000000000000000" pitchFamily="2" charset="0"/>
              </a:rPr>
              <a:t>M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 para cada una de las </a:t>
            </a:r>
            <a:r>
              <a:rPr lang="es-ES" sz="2000" b="1" dirty="0" err="1">
                <a:latin typeface="+mn-lt"/>
                <a:ea typeface="Roboto" panose="02000000000000000000" pitchFamily="2" charset="0"/>
              </a:rPr>
              <a:t>PTEs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?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5" name="Google Shape;1835;p87"/>
          <p:cNvSpPr txBox="1">
            <a:spLocks noGrp="1"/>
          </p:cNvSpPr>
          <p:nvPr>
            <p:ph type="title"/>
          </p:nvPr>
        </p:nvSpPr>
        <p:spPr>
          <a:xfrm>
            <a:off x="435429" y="96038"/>
            <a:ext cx="878522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latin typeface="+mn-lt"/>
              </a:rPr>
              <a:t>Traducción de direcciones (II)</a:t>
            </a:r>
            <a:endParaRPr b="0" dirty="0">
              <a:latin typeface="+mn-lt"/>
            </a:endParaRPr>
          </a:p>
        </p:txBody>
      </p:sp>
      <p:sp>
        <p:nvSpPr>
          <p:cNvPr id="1836" name="Google Shape;1836;p87"/>
          <p:cNvSpPr txBox="1">
            <a:spLocks noGrp="1"/>
          </p:cNvSpPr>
          <p:nvPr>
            <p:ph type="body" idx="1"/>
          </p:nvPr>
        </p:nvSpPr>
        <p:spPr>
          <a:xfrm>
            <a:off x="435429" y="932925"/>
            <a:ext cx="7170057" cy="610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1"/>
                </a:solidFill>
                <a:latin typeface="+mn-lt"/>
                <a:ea typeface="Roboto" panose="02000000000000000000" pitchFamily="2" charset="0"/>
              </a:rPr>
              <a:t>Modify (M) ó Dirty (D)</a:t>
            </a:r>
            <a:endParaRPr b="1" dirty="0">
              <a:solidFill>
                <a:schemeClr val="accent1"/>
              </a:solidFill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</p:txBody>
      </p:sp>
      <p:graphicFrame>
        <p:nvGraphicFramePr>
          <p:cNvPr id="1837" name="Google Shape;1837;p87"/>
          <p:cNvGraphicFramePr/>
          <p:nvPr/>
        </p:nvGraphicFramePr>
        <p:xfrm>
          <a:off x="2416300" y="2456990"/>
          <a:ext cx="2227675" cy="259345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22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67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free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838" name="Google Shape;1838;p87"/>
          <p:cNvGrpSpPr/>
          <p:nvPr/>
        </p:nvGrpSpPr>
        <p:grpSpPr>
          <a:xfrm>
            <a:off x="1016266" y="2467563"/>
            <a:ext cx="979788" cy="2353950"/>
            <a:chOff x="6895500" y="2388288"/>
            <a:chExt cx="963600" cy="2353950"/>
          </a:xfrm>
        </p:grpSpPr>
        <p:sp>
          <p:nvSpPr>
            <p:cNvPr id="1839" name="Google Shape;1839;p87"/>
            <p:cNvSpPr txBox="1"/>
            <p:nvPr/>
          </p:nvSpPr>
          <p:spPr>
            <a:xfrm>
              <a:off x="6895500" y="2388288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(00)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1840" name="Google Shape;1840;p87"/>
            <p:cNvSpPr txBox="1"/>
            <p:nvPr/>
          </p:nvSpPr>
          <p:spPr>
            <a:xfrm>
              <a:off x="6895500" y="3123300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1841" name="Google Shape;1841;p87"/>
            <p:cNvSpPr txBox="1"/>
            <p:nvPr/>
          </p:nvSpPr>
          <p:spPr>
            <a:xfrm>
              <a:off x="6895500" y="3717325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1842" name="Google Shape;1842;p87"/>
            <p:cNvSpPr txBox="1"/>
            <p:nvPr/>
          </p:nvSpPr>
          <p:spPr>
            <a:xfrm>
              <a:off x="6895500" y="4372938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(11)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200" b="1">
                <a:solidFill>
                  <a:srgbClr val="FF0000"/>
                </a:solidFill>
              </a:endParaRPr>
            </a:p>
          </p:txBody>
        </p:sp>
      </p:grpSp>
      <p:sp>
        <p:nvSpPr>
          <p:cNvPr id="1843" name="Google Shape;1843;p87"/>
          <p:cNvSpPr txBox="1"/>
          <p:nvPr/>
        </p:nvSpPr>
        <p:spPr>
          <a:xfrm>
            <a:off x="2847810" y="1661663"/>
            <a:ext cx="1551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Address Space</a:t>
            </a:r>
            <a:endParaRPr b="1" dirty="0"/>
          </a:p>
        </p:txBody>
      </p:sp>
      <p:graphicFrame>
        <p:nvGraphicFramePr>
          <p:cNvPr id="1844" name="Google Shape;1844;p87"/>
          <p:cNvGraphicFramePr/>
          <p:nvPr/>
        </p:nvGraphicFramePr>
        <p:xfrm>
          <a:off x="9344775" y="1734628"/>
          <a:ext cx="2227675" cy="4852325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22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7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Operating system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845" name="Google Shape;1845;p87"/>
          <p:cNvGrpSpPr/>
          <p:nvPr/>
        </p:nvGrpSpPr>
        <p:grpSpPr>
          <a:xfrm>
            <a:off x="7828751" y="1835512"/>
            <a:ext cx="1047240" cy="4629074"/>
            <a:chOff x="6720550" y="975938"/>
            <a:chExt cx="858675" cy="4629074"/>
          </a:xfrm>
        </p:grpSpPr>
        <p:sp>
          <p:nvSpPr>
            <p:cNvPr id="1846" name="Google Shape;1846;p87"/>
            <p:cNvSpPr txBox="1"/>
            <p:nvPr/>
          </p:nvSpPr>
          <p:spPr>
            <a:xfrm>
              <a:off x="6720551" y="975938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 (000)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847" name="Google Shape;1847;p87"/>
            <p:cNvSpPr txBox="1"/>
            <p:nvPr/>
          </p:nvSpPr>
          <p:spPr>
            <a:xfrm>
              <a:off x="6750622" y="1546802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(001)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848" name="Google Shape;1848;p87"/>
            <p:cNvSpPr txBox="1"/>
            <p:nvPr/>
          </p:nvSpPr>
          <p:spPr>
            <a:xfrm>
              <a:off x="6750622" y="2146591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849" name="Google Shape;1849;p87"/>
            <p:cNvSpPr txBox="1"/>
            <p:nvPr/>
          </p:nvSpPr>
          <p:spPr>
            <a:xfrm>
              <a:off x="6750624" y="2760892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850" name="Google Shape;1850;p87"/>
            <p:cNvSpPr txBox="1"/>
            <p:nvPr/>
          </p:nvSpPr>
          <p:spPr>
            <a:xfrm>
              <a:off x="6750625" y="3414556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851" name="Google Shape;1851;p87"/>
            <p:cNvSpPr txBox="1"/>
            <p:nvPr/>
          </p:nvSpPr>
          <p:spPr>
            <a:xfrm>
              <a:off x="6750624" y="4021608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200" b="1">
                <a:solidFill>
                  <a:srgbClr val="E46C0A"/>
                </a:solidFill>
              </a:endParaRPr>
            </a:p>
          </p:txBody>
        </p:sp>
        <p:sp>
          <p:nvSpPr>
            <p:cNvPr id="1852" name="Google Shape;1852;p87"/>
            <p:cNvSpPr txBox="1"/>
            <p:nvPr/>
          </p:nvSpPr>
          <p:spPr>
            <a:xfrm>
              <a:off x="6750622" y="4628647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853" name="Google Shape;1853;p87"/>
            <p:cNvSpPr txBox="1"/>
            <p:nvPr/>
          </p:nvSpPr>
          <p:spPr>
            <a:xfrm>
              <a:off x="6720550" y="5235711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 sz="1200" b="1">
                <a:solidFill>
                  <a:schemeClr val="accent2"/>
                </a:solidFill>
              </a:endParaRPr>
            </a:p>
          </p:txBody>
        </p:sp>
      </p:grpSp>
      <p:sp>
        <p:nvSpPr>
          <p:cNvPr id="1854" name="Google Shape;1854;p87"/>
          <p:cNvSpPr txBox="1"/>
          <p:nvPr/>
        </p:nvSpPr>
        <p:spPr>
          <a:xfrm>
            <a:off x="9682963" y="899625"/>
            <a:ext cx="1551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Physical Address</a:t>
            </a:r>
            <a:endParaRPr b="1" dirty="0"/>
          </a:p>
        </p:txBody>
      </p:sp>
      <p:sp>
        <p:nvSpPr>
          <p:cNvPr id="1855" name="Google Shape;1855;p87"/>
          <p:cNvSpPr/>
          <p:nvPr/>
        </p:nvSpPr>
        <p:spPr>
          <a:xfrm>
            <a:off x="5808663" y="5209788"/>
            <a:ext cx="15513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latin typeface="Consolas"/>
                <a:ea typeface="Consolas"/>
                <a:cs typeface="Consolas"/>
                <a:sym typeface="Consolas"/>
              </a:rPr>
              <a:t>Page Table (PT)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856" name="Google Shape;1856;p87"/>
          <p:cNvGraphicFramePr/>
          <p:nvPr/>
        </p:nvGraphicFramePr>
        <p:xfrm>
          <a:off x="5700550" y="2987545"/>
          <a:ext cx="1764150" cy="213345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5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57" name="Google Shape;1857;p87"/>
          <p:cNvSpPr txBox="1"/>
          <p:nvPr/>
        </p:nvSpPr>
        <p:spPr>
          <a:xfrm>
            <a:off x="1780000" y="1901488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858" name="Google Shape;1858;p87"/>
          <p:cNvSpPr txBox="1"/>
          <p:nvPr/>
        </p:nvSpPr>
        <p:spPr>
          <a:xfrm>
            <a:off x="8584338" y="1224975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PFN</a:t>
            </a:r>
            <a:endParaRPr b="1">
              <a:solidFill>
                <a:schemeClr val="accent2"/>
              </a:solidFill>
            </a:endParaRPr>
          </a:p>
        </p:txBody>
      </p:sp>
      <p:grpSp>
        <p:nvGrpSpPr>
          <p:cNvPr id="1859" name="Google Shape;1859;p87"/>
          <p:cNvGrpSpPr/>
          <p:nvPr/>
        </p:nvGrpSpPr>
        <p:grpSpPr>
          <a:xfrm>
            <a:off x="5064225" y="3436538"/>
            <a:ext cx="636313" cy="1684450"/>
            <a:chOff x="5161375" y="3094650"/>
            <a:chExt cx="636313" cy="1684450"/>
          </a:xfrm>
        </p:grpSpPr>
        <p:sp>
          <p:nvSpPr>
            <p:cNvPr id="1860" name="Google Shape;1860;p87"/>
            <p:cNvSpPr txBox="1"/>
            <p:nvPr/>
          </p:nvSpPr>
          <p:spPr>
            <a:xfrm>
              <a:off x="5161375" y="30946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861" name="Google Shape;1861;p87"/>
            <p:cNvSpPr txBox="1"/>
            <p:nvPr/>
          </p:nvSpPr>
          <p:spPr>
            <a:xfrm>
              <a:off x="5161388" y="35213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862" name="Google Shape;1862;p87"/>
            <p:cNvSpPr txBox="1"/>
            <p:nvPr/>
          </p:nvSpPr>
          <p:spPr>
            <a:xfrm>
              <a:off x="5161375" y="39524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863" name="Google Shape;1863;p87"/>
            <p:cNvSpPr txBox="1"/>
            <p:nvPr/>
          </p:nvSpPr>
          <p:spPr>
            <a:xfrm>
              <a:off x="5161375" y="434800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b="1">
                <a:solidFill>
                  <a:srgbClr val="FF0000"/>
                </a:solidFill>
              </a:endParaRPr>
            </a:p>
          </p:txBody>
        </p:sp>
      </p:grpSp>
      <p:sp>
        <p:nvSpPr>
          <p:cNvPr id="1864" name="Google Shape;1864;p87"/>
          <p:cNvSpPr txBox="1"/>
          <p:nvPr/>
        </p:nvSpPr>
        <p:spPr>
          <a:xfrm>
            <a:off x="2345928" y="2457025"/>
            <a:ext cx="128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rgbClr val="741B47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mov 60, %eax</a:t>
            </a:r>
            <a:endParaRPr sz="1200" b="1" dirty="0">
              <a:solidFill>
                <a:srgbClr val="741B47"/>
              </a:solidFill>
              <a:highlight>
                <a:srgbClr val="FFFF00"/>
              </a:highlight>
            </a:endParaRPr>
          </a:p>
        </p:txBody>
      </p:sp>
      <p:sp>
        <p:nvSpPr>
          <p:cNvPr id="1865" name="Google Shape;1865;p87"/>
          <p:cNvSpPr txBox="1"/>
          <p:nvPr/>
        </p:nvSpPr>
        <p:spPr>
          <a:xfrm>
            <a:off x="2416300" y="4603850"/>
            <a:ext cx="128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rgbClr val="741B47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3000</a:t>
            </a:r>
            <a:endParaRPr sz="1200" b="1">
              <a:solidFill>
                <a:srgbClr val="741B47"/>
              </a:solidFill>
              <a:highlight>
                <a:srgbClr val="FFFF00"/>
              </a:highlight>
            </a:endParaRPr>
          </a:p>
        </p:txBody>
      </p:sp>
      <p:sp>
        <p:nvSpPr>
          <p:cNvPr id="1866" name="Google Shape;1866;p87"/>
          <p:cNvSpPr txBox="1"/>
          <p:nvPr/>
        </p:nvSpPr>
        <p:spPr>
          <a:xfrm>
            <a:off x="1996052" y="4603850"/>
            <a:ext cx="404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60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867" name="Google Shape;1867;p87"/>
          <p:cNvSpPr txBox="1"/>
          <p:nvPr/>
        </p:nvSpPr>
        <p:spPr>
          <a:xfrm>
            <a:off x="1938150" y="2457025"/>
            <a:ext cx="520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PC→</a:t>
            </a:r>
            <a:endParaRPr sz="1200" b="1">
              <a:solidFill>
                <a:srgbClr val="0B6937"/>
              </a:solidFill>
            </a:endParaRPr>
          </a:p>
        </p:txBody>
      </p:sp>
      <p:sp>
        <p:nvSpPr>
          <p:cNvPr id="1868" name="Google Shape;1868;p87"/>
          <p:cNvSpPr txBox="1"/>
          <p:nvPr/>
        </p:nvSpPr>
        <p:spPr>
          <a:xfrm>
            <a:off x="9220653" y="2274275"/>
            <a:ext cx="128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rgbClr val="741B47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mov 60, %eax</a:t>
            </a:r>
            <a:endParaRPr sz="1200" b="1" dirty="0">
              <a:solidFill>
                <a:srgbClr val="741B47"/>
              </a:solidFill>
              <a:highlight>
                <a:srgbClr val="FFFF00"/>
              </a:highlight>
            </a:endParaRPr>
          </a:p>
        </p:txBody>
      </p:sp>
      <p:sp>
        <p:nvSpPr>
          <p:cNvPr id="1869" name="Google Shape;1869;p87"/>
          <p:cNvSpPr txBox="1"/>
          <p:nvPr/>
        </p:nvSpPr>
        <p:spPr>
          <a:xfrm>
            <a:off x="9344775" y="6095275"/>
            <a:ext cx="128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rgbClr val="741B47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3000</a:t>
            </a:r>
            <a:endParaRPr sz="1200" b="1">
              <a:solidFill>
                <a:srgbClr val="741B47"/>
              </a:solidFill>
              <a:highlight>
                <a:srgbClr val="FFFF00"/>
              </a:highlight>
            </a:endParaRPr>
          </a:p>
        </p:txBody>
      </p:sp>
      <p:sp>
        <p:nvSpPr>
          <p:cNvPr id="1870" name="Google Shape;1870;p87"/>
          <p:cNvSpPr txBox="1"/>
          <p:nvPr/>
        </p:nvSpPr>
        <p:spPr>
          <a:xfrm>
            <a:off x="8760200" y="6095275"/>
            <a:ext cx="520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124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0A2D787F-F0EA-4DBD-AD2F-E03C39AC8474}"/>
              </a:ext>
            </a:extLst>
          </p:cNvPr>
          <p:cNvSpPr txBox="1"/>
          <p:nvPr/>
        </p:nvSpPr>
        <p:spPr>
          <a:xfrm>
            <a:off x="65160" y="6202965"/>
            <a:ext cx="7461234" cy="52322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s-CO" sz="1400" b="1" dirty="0"/>
              <a:t>Nota</a:t>
            </a:r>
            <a:r>
              <a:rPr lang="es-CO" sz="1400" dirty="0"/>
              <a:t>: En este ejemplo, </a:t>
            </a:r>
            <a:r>
              <a:rPr lang="es-CO" sz="1400" b="1" dirty="0">
                <a:solidFill>
                  <a:schemeClr val="accent2"/>
                </a:solidFill>
                <a:latin typeface="Consolas" panose="020B0609020204030204" pitchFamily="49" charset="0"/>
              </a:rPr>
              <a:t>VPN=0</a:t>
            </a:r>
            <a:r>
              <a:rPr lang="es-CO" sz="1400" dirty="0"/>
              <a:t> agrupa código y variables globales. En un sistema real, las variables globales residen en un segmento de datos separado (</a:t>
            </a:r>
            <a:r>
              <a:rPr lang="es-CO" sz="1400" b="1" dirty="0">
                <a:solidFill>
                  <a:schemeClr val="accent2"/>
                </a:solidFill>
                <a:latin typeface="Consolas" panose="020B0609020204030204" pitchFamily="49" charset="0"/>
              </a:rPr>
              <a:t>R/W</a:t>
            </a:r>
            <a:r>
              <a:rPr lang="es-CO" sz="1400" dirty="0"/>
              <a:t>) y el código tiene permisos </a:t>
            </a:r>
            <a:r>
              <a:rPr lang="es-CO" sz="1400" b="1" dirty="0">
                <a:solidFill>
                  <a:schemeClr val="accent2"/>
                </a:solidFill>
                <a:latin typeface="Consolas" panose="020B0609020204030204" pitchFamily="49" charset="0"/>
              </a:rPr>
              <a:t>R/X</a:t>
            </a:r>
            <a:r>
              <a:rPr lang="es-CO" sz="1400" dirty="0"/>
              <a:t> con </a:t>
            </a:r>
            <a:r>
              <a:rPr lang="es-CO" sz="1400" b="1" dirty="0">
                <a:solidFill>
                  <a:schemeClr val="accent2"/>
                </a:solidFill>
                <a:latin typeface="Consolas" panose="020B0609020204030204" pitchFamily="49" charset="0"/>
              </a:rPr>
              <a:t>M=0</a:t>
            </a:r>
            <a:r>
              <a:rPr lang="es-CO" sz="1400" dirty="0"/>
              <a:t>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p88"/>
          <p:cNvSpPr txBox="1">
            <a:spLocks noGrp="1"/>
          </p:cNvSpPr>
          <p:nvPr>
            <p:ph type="title"/>
          </p:nvPr>
        </p:nvSpPr>
        <p:spPr>
          <a:xfrm>
            <a:off x="348343" y="96038"/>
            <a:ext cx="887230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/>
              <a:t>Traducción de direcciones (II)</a:t>
            </a:r>
            <a:endParaRPr b="0" dirty="0"/>
          </a:p>
        </p:txBody>
      </p:sp>
      <p:sp>
        <p:nvSpPr>
          <p:cNvPr id="1876" name="Google Shape;1876;p88"/>
          <p:cNvSpPr txBox="1">
            <a:spLocks noGrp="1"/>
          </p:cNvSpPr>
          <p:nvPr>
            <p:ph type="body" idx="1"/>
          </p:nvPr>
        </p:nvSpPr>
        <p:spPr>
          <a:xfrm>
            <a:off x="348344" y="932925"/>
            <a:ext cx="11495314" cy="297141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  <a:ea typeface="Roboto" panose="02000000000000000000" pitchFamily="2" charset="0"/>
              </a:rPr>
              <a:t>Protection (Prot)</a:t>
            </a:r>
            <a:endParaRPr sz="2400" dirty="0">
              <a:solidFill>
                <a:schemeClr val="accent1"/>
              </a:solidFill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  <a:ea typeface="Roboto" panose="02000000000000000000" pitchFamily="2" charset="0"/>
              </a:rPr>
              <a:t>Bit que controla cuáles operaciones son permitidas (</a:t>
            </a:r>
            <a:r>
              <a:rPr lang="es-ES" sz="2000" b="1" dirty="0">
                <a:latin typeface="Consolas" panose="020B0609020204030204" pitchFamily="49" charset="0"/>
                <a:ea typeface="Roboto" panose="02000000000000000000" pitchFamily="2" charset="0"/>
              </a:rPr>
              <a:t>R/W/X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, </a:t>
            </a:r>
            <a:r>
              <a:rPr lang="es-ES" sz="2000" b="1" dirty="0">
                <a:latin typeface="Consolas" panose="020B0609020204030204" pitchFamily="49" charset="0"/>
                <a:ea typeface="Roboto" panose="02000000000000000000" pitchFamily="2" charset="0"/>
              </a:rPr>
              <a:t>User/Kernel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, </a:t>
            </a:r>
            <a:r>
              <a:rPr lang="es-ES" sz="2000" b="1" dirty="0">
                <a:latin typeface="Consolas" panose="020B0609020204030204" pitchFamily="49" charset="0"/>
                <a:ea typeface="Roboto" panose="02000000000000000000" pitchFamily="2" charset="0"/>
              </a:rPr>
              <a:t>etc.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)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2"/>
                </a:solidFill>
                <a:latin typeface="+mn-lt"/>
                <a:ea typeface="Roboto" panose="02000000000000000000" pitchFamily="2" charset="0"/>
              </a:rPr>
              <a:t>Ejemplo (continuación)</a:t>
            </a:r>
            <a:r>
              <a:rPr lang="es-ES" sz="2400" dirty="0">
                <a:solidFill>
                  <a:schemeClr val="accent2"/>
                </a:solidFill>
                <a:latin typeface="+mn-lt"/>
                <a:ea typeface="Roboto" panose="02000000000000000000" pitchFamily="2" charset="0"/>
              </a:rPr>
              <a:t>:</a:t>
            </a:r>
            <a:endParaRPr sz="2400" dirty="0">
              <a:solidFill>
                <a:schemeClr val="accent2"/>
              </a:solidFill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  <a:ea typeface="Roboto" panose="02000000000000000000" pitchFamily="2" charset="0"/>
              </a:rPr>
              <a:t>Agregue a cada PTE los bits asociados a la protección, asumiendo por ahora que: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000" b="1" dirty="0">
                <a:latin typeface="Consolas" panose="020B0609020204030204" pitchFamily="49" charset="0"/>
                <a:ea typeface="Roboto" panose="02000000000000000000" pitchFamily="2" charset="0"/>
              </a:rPr>
              <a:t>R/X = 00</a:t>
            </a:r>
            <a:endParaRPr sz="2000" b="1" dirty="0">
              <a:latin typeface="Consolas" panose="020B0609020204030204" pitchFamily="49" charset="0"/>
              <a:ea typeface="Roboto" panose="02000000000000000000" pitchFamily="2" charset="0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000" b="1" dirty="0">
                <a:latin typeface="Consolas" panose="020B0609020204030204" pitchFamily="49" charset="0"/>
                <a:ea typeface="Roboto" panose="02000000000000000000" pitchFamily="2" charset="0"/>
              </a:rPr>
              <a:t>R/W = 01</a:t>
            </a:r>
            <a:endParaRPr sz="2000" b="1" dirty="0">
              <a:latin typeface="Consolas" panose="020B0609020204030204" pitchFamily="49" charset="0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1" name="Google Shape;1881;p89"/>
          <p:cNvSpPr txBox="1">
            <a:spLocks noGrp="1"/>
          </p:cNvSpPr>
          <p:nvPr>
            <p:ph type="title"/>
          </p:nvPr>
        </p:nvSpPr>
        <p:spPr>
          <a:xfrm>
            <a:off x="538066" y="96038"/>
            <a:ext cx="8682584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latin typeface="+mj-lt"/>
              </a:rPr>
              <a:t>Traducción de direcciones (II)</a:t>
            </a:r>
            <a:endParaRPr b="0" dirty="0">
              <a:latin typeface="+mj-lt"/>
            </a:endParaRPr>
          </a:p>
        </p:txBody>
      </p:sp>
      <p:sp>
        <p:nvSpPr>
          <p:cNvPr id="1882" name="Google Shape;1882;p89"/>
          <p:cNvSpPr txBox="1">
            <a:spLocks noGrp="1"/>
          </p:cNvSpPr>
          <p:nvPr>
            <p:ph type="body" idx="1"/>
          </p:nvPr>
        </p:nvSpPr>
        <p:spPr>
          <a:xfrm>
            <a:off x="765900" y="932925"/>
            <a:ext cx="5489757" cy="610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  <a:ea typeface="Roboto" panose="02000000000000000000" pitchFamily="2" charset="0"/>
              </a:rPr>
              <a:t>Protection (Prot)</a:t>
            </a:r>
            <a:endParaRPr sz="2400" b="1" dirty="0">
              <a:solidFill>
                <a:schemeClr val="accent1"/>
              </a:solidFill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graphicFrame>
        <p:nvGraphicFramePr>
          <p:cNvPr id="1883" name="Google Shape;1883;p89"/>
          <p:cNvGraphicFramePr/>
          <p:nvPr/>
        </p:nvGraphicFramePr>
        <p:xfrm>
          <a:off x="1938100" y="2529940"/>
          <a:ext cx="2227675" cy="259345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22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67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free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884" name="Google Shape;1884;p89"/>
          <p:cNvGrpSpPr/>
          <p:nvPr/>
        </p:nvGrpSpPr>
        <p:grpSpPr>
          <a:xfrm>
            <a:off x="538066" y="2540513"/>
            <a:ext cx="979788" cy="2353950"/>
            <a:chOff x="6895500" y="2388288"/>
            <a:chExt cx="963600" cy="2353950"/>
          </a:xfrm>
        </p:grpSpPr>
        <p:sp>
          <p:nvSpPr>
            <p:cNvPr id="1885" name="Google Shape;1885;p89"/>
            <p:cNvSpPr txBox="1"/>
            <p:nvPr/>
          </p:nvSpPr>
          <p:spPr>
            <a:xfrm>
              <a:off x="6895500" y="2388288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(00)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1886" name="Google Shape;1886;p89"/>
            <p:cNvSpPr txBox="1"/>
            <p:nvPr/>
          </p:nvSpPr>
          <p:spPr>
            <a:xfrm>
              <a:off x="6895500" y="3123300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1887" name="Google Shape;1887;p89"/>
            <p:cNvSpPr txBox="1"/>
            <p:nvPr/>
          </p:nvSpPr>
          <p:spPr>
            <a:xfrm>
              <a:off x="6895500" y="3717325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1888" name="Google Shape;1888;p89"/>
            <p:cNvSpPr txBox="1"/>
            <p:nvPr/>
          </p:nvSpPr>
          <p:spPr>
            <a:xfrm>
              <a:off x="6895500" y="4372938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(11)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200" b="1">
                <a:solidFill>
                  <a:srgbClr val="FF0000"/>
                </a:solidFill>
              </a:endParaRPr>
            </a:p>
          </p:txBody>
        </p:sp>
      </p:grpSp>
      <p:sp>
        <p:nvSpPr>
          <p:cNvPr id="1889" name="Google Shape;1889;p89"/>
          <p:cNvSpPr txBox="1"/>
          <p:nvPr/>
        </p:nvSpPr>
        <p:spPr>
          <a:xfrm>
            <a:off x="2369610" y="1734613"/>
            <a:ext cx="1551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Address Space</a:t>
            </a:r>
            <a:endParaRPr b="1" dirty="0"/>
          </a:p>
        </p:txBody>
      </p:sp>
      <p:graphicFrame>
        <p:nvGraphicFramePr>
          <p:cNvPr id="1890" name="Google Shape;1890;p89"/>
          <p:cNvGraphicFramePr/>
          <p:nvPr/>
        </p:nvGraphicFramePr>
        <p:xfrm>
          <a:off x="9344775" y="1734628"/>
          <a:ext cx="2227675" cy="4852325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22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7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Operating system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891" name="Google Shape;1891;p89"/>
          <p:cNvGrpSpPr/>
          <p:nvPr/>
        </p:nvGrpSpPr>
        <p:grpSpPr>
          <a:xfrm>
            <a:off x="7828751" y="1835512"/>
            <a:ext cx="1047240" cy="4629074"/>
            <a:chOff x="6720550" y="975938"/>
            <a:chExt cx="858675" cy="4629074"/>
          </a:xfrm>
        </p:grpSpPr>
        <p:sp>
          <p:nvSpPr>
            <p:cNvPr id="1892" name="Google Shape;1892;p89"/>
            <p:cNvSpPr txBox="1"/>
            <p:nvPr/>
          </p:nvSpPr>
          <p:spPr>
            <a:xfrm>
              <a:off x="6720551" y="975938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 (000)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893" name="Google Shape;1893;p89"/>
            <p:cNvSpPr txBox="1"/>
            <p:nvPr/>
          </p:nvSpPr>
          <p:spPr>
            <a:xfrm>
              <a:off x="6750622" y="1546802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(001)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894" name="Google Shape;1894;p89"/>
            <p:cNvSpPr txBox="1"/>
            <p:nvPr/>
          </p:nvSpPr>
          <p:spPr>
            <a:xfrm>
              <a:off x="6750622" y="2146591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895" name="Google Shape;1895;p89"/>
            <p:cNvSpPr txBox="1"/>
            <p:nvPr/>
          </p:nvSpPr>
          <p:spPr>
            <a:xfrm>
              <a:off x="6750624" y="2760892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896" name="Google Shape;1896;p89"/>
            <p:cNvSpPr txBox="1"/>
            <p:nvPr/>
          </p:nvSpPr>
          <p:spPr>
            <a:xfrm>
              <a:off x="6750625" y="3414556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897" name="Google Shape;1897;p89"/>
            <p:cNvSpPr txBox="1"/>
            <p:nvPr/>
          </p:nvSpPr>
          <p:spPr>
            <a:xfrm>
              <a:off x="6750624" y="4021608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200" b="1">
                <a:solidFill>
                  <a:srgbClr val="E46C0A"/>
                </a:solidFill>
              </a:endParaRPr>
            </a:p>
          </p:txBody>
        </p:sp>
        <p:sp>
          <p:nvSpPr>
            <p:cNvPr id="1898" name="Google Shape;1898;p89"/>
            <p:cNvSpPr txBox="1"/>
            <p:nvPr/>
          </p:nvSpPr>
          <p:spPr>
            <a:xfrm>
              <a:off x="6750622" y="4628647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899" name="Google Shape;1899;p89"/>
            <p:cNvSpPr txBox="1"/>
            <p:nvPr/>
          </p:nvSpPr>
          <p:spPr>
            <a:xfrm>
              <a:off x="6720550" y="5235711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 sz="1200" b="1">
                <a:solidFill>
                  <a:schemeClr val="accent2"/>
                </a:solidFill>
              </a:endParaRPr>
            </a:p>
          </p:txBody>
        </p:sp>
      </p:grpSp>
      <p:sp>
        <p:nvSpPr>
          <p:cNvPr id="1900" name="Google Shape;1900;p89"/>
          <p:cNvSpPr txBox="1"/>
          <p:nvPr/>
        </p:nvSpPr>
        <p:spPr>
          <a:xfrm>
            <a:off x="9682963" y="899625"/>
            <a:ext cx="1551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Physical Address</a:t>
            </a:r>
            <a:endParaRPr b="1" dirty="0"/>
          </a:p>
        </p:txBody>
      </p:sp>
      <p:sp>
        <p:nvSpPr>
          <p:cNvPr id="1901" name="Google Shape;1901;p89"/>
          <p:cNvSpPr/>
          <p:nvPr/>
        </p:nvSpPr>
        <p:spPr>
          <a:xfrm>
            <a:off x="5629500" y="5367588"/>
            <a:ext cx="15513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latin typeface="Consolas"/>
                <a:ea typeface="Consolas"/>
                <a:cs typeface="Consolas"/>
                <a:sym typeface="Consolas"/>
              </a:rPr>
              <a:t>Page Table (PT)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902" name="Google Shape;1902;p89"/>
          <p:cNvGraphicFramePr/>
          <p:nvPr/>
        </p:nvGraphicFramePr>
        <p:xfrm>
          <a:off x="5135525" y="3083307"/>
          <a:ext cx="2427375" cy="213345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</a:t>
                      </a:r>
                      <a:endParaRPr sz="16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03" name="Google Shape;1903;p89"/>
          <p:cNvSpPr txBox="1"/>
          <p:nvPr/>
        </p:nvSpPr>
        <p:spPr>
          <a:xfrm>
            <a:off x="1301800" y="1974438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904" name="Google Shape;1904;p89"/>
          <p:cNvSpPr txBox="1"/>
          <p:nvPr/>
        </p:nvSpPr>
        <p:spPr>
          <a:xfrm>
            <a:off x="8584338" y="1224975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PFN</a:t>
            </a:r>
            <a:endParaRPr b="1">
              <a:solidFill>
                <a:schemeClr val="accent2"/>
              </a:solidFill>
            </a:endParaRPr>
          </a:p>
        </p:txBody>
      </p:sp>
      <p:grpSp>
        <p:nvGrpSpPr>
          <p:cNvPr id="1905" name="Google Shape;1905;p89"/>
          <p:cNvGrpSpPr/>
          <p:nvPr/>
        </p:nvGrpSpPr>
        <p:grpSpPr>
          <a:xfrm>
            <a:off x="4405913" y="3510000"/>
            <a:ext cx="636313" cy="1684450"/>
            <a:chOff x="5161375" y="3094650"/>
            <a:chExt cx="636313" cy="1684450"/>
          </a:xfrm>
        </p:grpSpPr>
        <p:sp>
          <p:nvSpPr>
            <p:cNvPr id="1906" name="Google Shape;1906;p89"/>
            <p:cNvSpPr txBox="1"/>
            <p:nvPr/>
          </p:nvSpPr>
          <p:spPr>
            <a:xfrm>
              <a:off x="5161375" y="30946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907" name="Google Shape;1907;p89"/>
            <p:cNvSpPr txBox="1"/>
            <p:nvPr/>
          </p:nvSpPr>
          <p:spPr>
            <a:xfrm>
              <a:off x="5161388" y="35213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908" name="Google Shape;1908;p89"/>
            <p:cNvSpPr txBox="1"/>
            <p:nvPr/>
          </p:nvSpPr>
          <p:spPr>
            <a:xfrm>
              <a:off x="5161375" y="39524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909" name="Google Shape;1909;p89"/>
            <p:cNvSpPr txBox="1"/>
            <p:nvPr/>
          </p:nvSpPr>
          <p:spPr>
            <a:xfrm>
              <a:off x="5161375" y="434800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b="1">
                <a:solidFill>
                  <a:srgbClr val="FF0000"/>
                </a:solidFill>
              </a:endParaRPr>
            </a:p>
          </p:txBody>
        </p:sp>
      </p:grpSp>
      <p:sp>
        <p:nvSpPr>
          <p:cNvPr id="1910" name="Google Shape;1910;p89"/>
          <p:cNvSpPr txBox="1"/>
          <p:nvPr/>
        </p:nvSpPr>
        <p:spPr>
          <a:xfrm>
            <a:off x="1867728" y="2529975"/>
            <a:ext cx="128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rgbClr val="741B47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mov 60, %eax</a:t>
            </a:r>
            <a:endParaRPr sz="1200" b="1" dirty="0">
              <a:solidFill>
                <a:srgbClr val="741B47"/>
              </a:solidFill>
              <a:highlight>
                <a:srgbClr val="FFFF00"/>
              </a:highlight>
            </a:endParaRPr>
          </a:p>
        </p:txBody>
      </p:sp>
      <p:sp>
        <p:nvSpPr>
          <p:cNvPr id="1911" name="Google Shape;1911;p89"/>
          <p:cNvSpPr txBox="1"/>
          <p:nvPr/>
        </p:nvSpPr>
        <p:spPr>
          <a:xfrm>
            <a:off x="1938100" y="4676800"/>
            <a:ext cx="128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rgbClr val="741B47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3000</a:t>
            </a:r>
            <a:endParaRPr sz="1200" b="1">
              <a:solidFill>
                <a:srgbClr val="741B47"/>
              </a:solidFill>
              <a:highlight>
                <a:srgbClr val="FFFF00"/>
              </a:highlight>
            </a:endParaRPr>
          </a:p>
        </p:txBody>
      </p:sp>
      <p:sp>
        <p:nvSpPr>
          <p:cNvPr id="1912" name="Google Shape;1912;p89"/>
          <p:cNvSpPr txBox="1"/>
          <p:nvPr/>
        </p:nvSpPr>
        <p:spPr>
          <a:xfrm>
            <a:off x="1517852" y="4676800"/>
            <a:ext cx="404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60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913" name="Google Shape;1913;p89"/>
          <p:cNvSpPr txBox="1"/>
          <p:nvPr/>
        </p:nvSpPr>
        <p:spPr>
          <a:xfrm>
            <a:off x="1459950" y="2529975"/>
            <a:ext cx="520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PC→</a:t>
            </a:r>
            <a:endParaRPr sz="1200" b="1">
              <a:solidFill>
                <a:srgbClr val="0B6937"/>
              </a:solidFill>
            </a:endParaRPr>
          </a:p>
        </p:txBody>
      </p:sp>
      <p:sp>
        <p:nvSpPr>
          <p:cNvPr id="1914" name="Google Shape;1914;p89"/>
          <p:cNvSpPr txBox="1"/>
          <p:nvPr/>
        </p:nvSpPr>
        <p:spPr>
          <a:xfrm>
            <a:off x="9220653" y="2274275"/>
            <a:ext cx="128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rgbClr val="741B47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mov 60, %eax</a:t>
            </a:r>
            <a:endParaRPr sz="1200" b="1" dirty="0">
              <a:solidFill>
                <a:srgbClr val="741B47"/>
              </a:solidFill>
              <a:highlight>
                <a:srgbClr val="FFFF00"/>
              </a:highlight>
            </a:endParaRPr>
          </a:p>
        </p:txBody>
      </p:sp>
      <p:sp>
        <p:nvSpPr>
          <p:cNvPr id="1915" name="Google Shape;1915;p89"/>
          <p:cNvSpPr txBox="1"/>
          <p:nvPr/>
        </p:nvSpPr>
        <p:spPr>
          <a:xfrm>
            <a:off x="9344775" y="6095275"/>
            <a:ext cx="128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rgbClr val="741B47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3000</a:t>
            </a:r>
            <a:endParaRPr sz="1200" b="1">
              <a:solidFill>
                <a:srgbClr val="741B47"/>
              </a:solidFill>
              <a:highlight>
                <a:srgbClr val="FFFF00"/>
              </a:highlight>
            </a:endParaRPr>
          </a:p>
        </p:txBody>
      </p:sp>
      <p:sp>
        <p:nvSpPr>
          <p:cNvPr id="1916" name="Google Shape;1916;p89"/>
          <p:cNvSpPr txBox="1"/>
          <p:nvPr/>
        </p:nvSpPr>
        <p:spPr>
          <a:xfrm>
            <a:off x="8760200" y="6095275"/>
            <a:ext cx="520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124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Google Shape;1921;p90"/>
          <p:cNvSpPr txBox="1">
            <a:spLocks noGrp="1"/>
          </p:cNvSpPr>
          <p:nvPr>
            <p:ph type="title"/>
          </p:nvPr>
        </p:nvSpPr>
        <p:spPr>
          <a:xfrm>
            <a:off x="348343" y="96038"/>
            <a:ext cx="887230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latin typeface="+mj-lt"/>
              </a:rPr>
              <a:t>Traducción de direcciones (II)</a:t>
            </a:r>
            <a:endParaRPr b="0" dirty="0">
              <a:latin typeface="+mj-lt"/>
            </a:endParaRPr>
          </a:p>
        </p:txBody>
      </p:sp>
      <p:sp>
        <p:nvSpPr>
          <p:cNvPr id="1922" name="Google Shape;1922;p90"/>
          <p:cNvSpPr txBox="1">
            <a:spLocks noGrp="1"/>
          </p:cNvSpPr>
          <p:nvPr>
            <p:ph type="body" idx="1"/>
          </p:nvPr>
        </p:nvSpPr>
        <p:spPr>
          <a:xfrm>
            <a:off x="348343" y="822494"/>
            <a:ext cx="11640457" cy="94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 err="1">
                <a:solidFill>
                  <a:schemeClr val="accent1"/>
                </a:solidFill>
                <a:latin typeface="+mn-lt"/>
                <a:ea typeface="Roboto" panose="02000000000000000000" pitchFamily="2" charset="0"/>
              </a:rPr>
              <a:t>Present</a:t>
            </a:r>
            <a:r>
              <a:rPr lang="es-ES" sz="2400" b="1" dirty="0">
                <a:solidFill>
                  <a:schemeClr val="accent1"/>
                </a:solidFill>
                <a:latin typeface="+mn-lt"/>
                <a:ea typeface="Roboto" panose="02000000000000000000" pitchFamily="2" charset="0"/>
              </a:rPr>
              <a:t> (P)</a:t>
            </a:r>
            <a:endParaRPr sz="2400" dirty="0">
              <a:solidFill>
                <a:schemeClr val="accent1"/>
              </a:solidFill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  <a:ea typeface="Roboto" panose="02000000000000000000" pitchFamily="2" charset="0"/>
              </a:rPr>
              <a:t>Indica si la página se encuentra en memoria física o en el disco.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</p:txBody>
      </p:sp>
      <p:pic>
        <p:nvPicPr>
          <p:cNvPr id="1923" name="Google Shape;1923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3772" y="1771994"/>
            <a:ext cx="4920343" cy="486059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8DE4F520-9F74-466F-9EEF-9E283F400188}"/>
              </a:ext>
            </a:extLst>
          </p:cNvPr>
          <p:cNvSpPr txBox="1"/>
          <p:nvPr/>
        </p:nvSpPr>
        <p:spPr>
          <a:xfrm>
            <a:off x="127059" y="6023298"/>
            <a:ext cx="4223716" cy="73866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s-CO" sz="1400" b="1" dirty="0"/>
              <a:t>Nota aclaratoria</a:t>
            </a:r>
            <a:r>
              <a:rPr lang="es-CO" sz="1400" dirty="0"/>
              <a:t>: Este diagrama es tomado del libro de Silberschatz que usa </a:t>
            </a:r>
            <a:r>
              <a:rPr lang="es-CO" sz="1400" b="1" dirty="0">
                <a:solidFill>
                  <a:schemeClr val="accent2"/>
                </a:solidFill>
                <a:latin typeface="Consolas" panose="020B0609020204030204" pitchFamily="49" charset="0"/>
              </a:rPr>
              <a:t>v/i</a:t>
            </a:r>
            <a:r>
              <a:rPr lang="es-CO" sz="1400" dirty="0"/>
              <a:t> para </a:t>
            </a:r>
            <a:r>
              <a:rPr lang="es-CO" sz="1400" b="1" dirty="0">
                <a:solidFill>
                  <a:schemeClr val="accent2"/>
                </a:solidFill>
                <a:latin typeface="Consolas" panose="020B0609020204030204" pitchFamily="49" charset="0"/>
              </a:rPr>
              <a:t>valido/invalido</a:t>
            </a:r>
            <a:r>
              <a:rPr lang="es-CO" sz="1400" dirty="0"/>
              <a:t>; en este </a:t>
            </a:r>
            <a:r>
              <a:rPr lang="es-CO" sz="1400" b="1" dirty="0">
                <a:solidFill>
                  <a:schemeClr val="accent2"/>
                </a:solidFill>
                <a:latin typeface="Consolas" panose="020B0609020204030204" pitchFamily="49" charset="0"/>
              </a:rPr>
              <a:t>v</a:t>
            </a:r>
            <a:r>
              <a:rPr lang="es-CO" sz="1400" dirty="0"/>
              <a:t> equivale a </a:t>
            </a:r>
            <a:r>
              <a:rPr lang="es-CO" sz="1400" b="1" dirty="0">
                <a:solidFill>
                  <a:schemeClr val="accent2"/>
                </a:solidFill>
                <a:latin typeface="Consolas" panose="020B0609020204030204" pitchFamily="49" charset="0"/>
              </a:rPr>
              <a:t>V=1</a:t>
            </a:r>
            <a:r>
              <a:rPr lang="es-CO" sz="1400" dirty="0"/>
              <a:t> e </a:t>
            </a:r>
            <a:r>
              <a:rPr lang="es-CO" sz="1400" dirty="0">
                <a:solidFill>
                  <a:schemeClr val="accent2"/>
                </a:solidFill>
                <a:latin typeface="Consolas" panose="020B0609020204030204" pitchFamily="49" charset="0"/>
              </a:rPr>
              <a:t>i</a:t>
            </a:r>
            <a:r>
              <a:rPr lang="es-CO" sz="1400" dirty="0"/>
              <a:t> a </a:t>
            </a:r>
            <a:r>
              <a:rPr lang="es-CO" sz="1400" b="1" dirty="0">
                <a:solidFill>
                  <a:schemeClr val="accent2"/>
                </a:solidFill>
                <a:latin typeface="Consolas" panose="020B0609020204030204" pitchFamily="49" charset="0"/>
              </a:rPr>
              <a:t>V=0</a:t>
            </a:r>
            <a:r>
              <a:rPr lang="es-CO" sz="1400" dirty="0"/>
              <a:t>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8" name="Google Shape;1928;p91"/>
          <p:cNvSpPr txBox="1">
            <a:spLocks noGrp="1"/>
          </p:cNvSpPr>
          <p:nvPr>
            <p:ph type="title"/>
          </p:nvPr>
        </p:nvSpPr>
        <p:spPr>
          <a:xfrm>
            <a:off x="362857" y="96038"/>
            <a:ext cx="8857793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latin typeface="+mj-lt"/>
              </a:rPr>
              <a:t>Estructura de una tabla de página</a:t>
            </a:r>
            <a:endParaRPr b="0" dirty="0">
              <a:latin typeface="+mj-lt"/>
            </a:endParaRPr>
          </a:p>
        </p:txBody>
      </p:sp>
      <p:sp>
        <p:nvSpPr>
          <p:cNvPr id="1929" name="Google Shape;1929;p91"/>
          <p:cNvSpPr txBox="1">
            <a:spLocks noGrp="1"/>
          </p:cNvSpPr>
          <p:nvPr>
            <p:ph type="body" idx="1"/>
          </p:nvPr>
        </p:nvSpPr>
        <p:spPr>
          <a:xfrm>
            <a:off x="493486" y="955300"/>
            <a:ext cx="11072564" cy="502458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  <a:ea typeface="Roboto" panose="02000000000000000000" pitchFamily="2" charset="0"/>
              </a:rPr>
              <a:t>Ejemplo: PTE en x86</a:t>
            </a:r>
            <a:endParaRPr sz="2400" b="1" dirty="0">
              <a:solidFill>
                <a:schemeClr val="accent1"/>
              </a:solidFill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CO" sz="2000" dirty="0">
                <a:latin typeface="+mn-lt"/>
                <a:ea typeface="Roboto" panose="02000000000000000000" pitchFamily="2" charset="0"/>
              </a:rPr>
              <a:t>La estructura presentada corresponde al formato real de una entrada de tabla de páginas (PTE) implementada en arquitecturas x86.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1"/>
              </a:solidFill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1"/>
              </a:solidFill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000" b="1" dirty="0">
                <a:solidFill>
                  <a:schemeClr val="accent2"/>
                </a:solidFill>
                <a:latin typeface="Consolas" panose="020B0609020204030204" pitchFamily="49" charset="0"/>
                <a:ea typeface="Roboto" panose="02000000000000000000" pitchFamily="2" charset="0"/>
              </a:rPr>
              <a:t>P</a:t>
            </a:r>
            <a:r>
              <a:rPr lang="es-ES" sz="2000" dirty="0">
                <a:solidFill>
                  <a:schemeClr val="accent2"/>
                </a:solidFill>
                <a:latin typeface="+mn-lt"/>
                <a:ea typeface="Roboto" panose="02000000000000000000" pitchFamily="2" charset="0"/>
              </a:rPr>
              <a:t>: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 present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000" b="1" dirty="0">
                <a:solidFill>
                  <a:schemeClr val="accent2"/>
                </a:solidFill>
                <a:latin typeface="Consolas" panose="020B0609020204030204" pitchFamily="49" charset="0"/>
                <a:ea typeface="Roboto" panose="02000000000000000000" pitchFamily="2" charset="0"/>
              </a:rPr>
              <a:t>R/W</a:t>
            </a:r>
            <a:r>
              <a:rPr lang="es-ES" sz="2000" dirty="0">
                <a:solidFill>
                  <a:schemeClr val="accent2"/>
                </a:solidFill>
                <a:latin typeface="+mn-lt"/>
                <a:ea typeface="Roboto" panose="02000000000000000000" pitchFamily="2" charset="0"/>
              </a:rPr>
              <a:t>: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 read/write bit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000" b="1" dirty="0">
                <a:solidFill>
                  <a:schemeClr val="accent2"/>
                </a:solidFill>
                <a:latin typeface="Consolas" panose="020B0609020204030204" pitchFamily="49" charset="0"/>
                <a:ea typeface="Roboto" panose="02000000000000000000" pitchFamily="2" charset="0"/>
              </a:rPr>
              <a:t>U/S</a:t>
            </a:r>
            <a:r>
              <a:rPr lang="es-ES" sz="2000" dirty="0">
                <a:solidFill>
                  <a:schemeClr val="accent2"/>
                </a:solidFill>
                <a:latin typeface="+mn-lt"/>
                <a:ea typeface="Roboto" panose="02000000000000000000" pitchFamily="2" charset="0"/>
              </a:rPr>
              <a:t>: 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supervisor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000" b="1" dirty="0">
                <a:solidFill>
                  <a:schemeClr val="accent2"/>
                </a:solidFill>
                <a:latin typeface="Consolas" panose="020B0609020204030204" pitchFamily="49" charset="0"/>
                <a:ea typeface="Roboto" panose="02000000000000000000" pitchFamily="2" charset="0"/>
              </a:rPr>
              <a:t>A</a:t>
            </a:r>
            <a:r>
              <a:rPr lang="es-ES" sz="2000" dirty="0">
                <a:solidFill>
                  <a:schemeClr val="accent2"/>
                </a:solidFill>
                <a:latin typeface="+mn-lt"/>
                <a:ea typeface="Roboto" panose="02000000000000000000" pitchFamily="2" charset="0"/>
              </a:rPr>
              <a:t>: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 accessed bit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000" b="1" dirty="0">
                <a:solidFill>
                  <a:schemeClr val="accent2"/>
                </a:solidFill>
                <a:latin typeface="Consolas" panose="020B0609020204030204" pitchFamily="49" charset="0"/>
                <a:ea typeface="Roboto" panose="02000000000000000000" pitchFamily="2" charset="0"/>
              </a:rPr>
              <a:t>D</a:t>
            </a:r>
            <a:r>
              <a:rPr lang="es-ES" sz="2000" dirty="0">
                <a:solidFill>
                  <a:schemeClr val="accent2"/>
                </a:solidFill>
                <a:latin typeface="+mn-lt"/>
                <a:ea typeface="Roboto" panose="02000000000000000000" pitchFamily="2" charset="0"/>
              </a:rPr>
              <a:t>: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 dirty bit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000" b="1" dirty="0">
                <a:solidFill>
                  <a:schemeClr val="accent2"/>
                </a:solidFill>
                <a:latin typeface="Consolas" panose="020B0609020204030204" pitchFamily="49" charset="0"/>
                <a:ea typeface="Roboto" panose="02000000000000000000" pitchFamily="2" charset="0"/>
              </a:rPr>
              <a:t>PFN</a:t>
            </a:r>
            <a:r>
              <a:rPr lang="es-ES" sz="2000" dirty="0">
                <a:solidFill>
                  <a:schemeClr val="accent2"/>
                </a:solidFill>
                <a:latin typeface="+mn-lt"/>
                <a:ea typeface="Roboto" panose="02000000000000000000" pitchFamily="2" charset="0"/>
              </a:rPr>
              <a:t>: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 the page frame number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pic>
        <p:nvPicPr>
          <p:cNvPr id="1930" name="Google Shape;1930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6918" y="2373484"/>
            <a:ext cx="9085699" cy="18497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CBAE892-9BC8-4D0A-BAC4-05F1CED7DE34}"/>
              </a:ext>
            </a:extLst>
          </p:cNvPr>
          <p:cNvSpPr txBox="1"/>
          <p:nvPr/>
        </p:nvSpPr>
        <p:spPr>
          <a:xfrm>
            <a:off x="5065486" y="4718113"/>
            <a:ext cx="6255657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s-MX" sz="2000" dirty="0"/>
              <a:t>Entender la </a:t>
            </a:r>
            <a:r>
              <a:rPr lang="es-MX" sz="2000" b="1" dirty="0"/>
              <a:t>PTE</a:t>
            </a:r>
            <a:r>
              <a:rPr lang="es-MX" sz="2000" dirty="0"/>
              <a:t> permite implementar gestión de memoria (traducción, permisos, fallos de página) y adaptar el SO a distintas arquitecturas.</a:t>
            </a:r>
            <a:endParaRPr lang="es-CO" sz="20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" name="Google Shape;1935;p92"/>
          <p:cNvSpPr txBox="1">
            <a:spLocks noGrp="1"/>
          </p:cNvSpPr>
          <p:nvPr>
            <p:ph type="title"/>
          </p:nvPr>
        </p:nvSpPr>
        <p:spPr>
          <a:xfrm>
            <a:off x="377371" y="96038"/>
            <a:ext cx="884327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b="0" dirty="0"/>
              <a:t>Estructura de una tabla de página</a:t>
            </a:r>
            <a:endParaRPr sz="4000" b="0" dirty="0"/>
          </a:p>
        </p:txBody>
      </p:sp>
      <p:sp>
        <p:nvSpPr>
          <p:cNvPr id="1936" name="Google Shape;1936;p92"/>
          <p:cNvSpPr txBox="1">
            <a:spLocks noGrp="1"/>
          </p:cNvSpPr>
          <p:nvPr>
            <p:ph type="body" idx="1"/>
          </p:nvPr>
        </p:nvSpPr>
        <p:spPr>
          <a:xfrm>
            <a:off x="434296" y="951357"/>
            <a:ext cx="6509100" cy="1010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  <a:ea typeface="Roboto" panose="02000000000000000000" pitchFamily="2" charset="0"/>
              </a:rPr>
              <a:t>Ejemplo</a:t>
            </a:r>
            <a:endParaRPr sz="2800" b="1" dirty="0">
              <a:solidFill>
                <a:schemeClr val="accent1"/>
              </a:solidFill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  <a:ea typeface="Roboto" panose="02000000000000000000" pitchFamily="2" charset="0"/>
              </a:rPr>
              <a:t>Suponga que se tiene el siguiente esquema: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</p:txBody>
      </p:sp>
      <p:graphicFrame>
        <p:nvGraphicFramePr>
          <p:cNvPr id="1937" name="Google Shape;1937;p92"/>
          <p:cNvGraphicFramePr/>
          <p:nvPr/>
        </p:nvGraphicFramePr>
        <p:xfrm>
          <a:off x="2265238" y="3151465"/>
          <a:ext cx="2227675" cy="259345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22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67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free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938" name="Google Shape;1938;p92"/>
          <p:cNvGrpSpPr/>
          <p:nvPr/>
        </p:nvGrpSpPr>
        <p:grpSpPr>
          <a:xfrm>
            <a:off x="865204" y="3334063"/>
            <a:ext cx="979788" cy="2181925"/>
            <a:chOff x="6895500" y="2560313"/>
            <a:chExt cx="963600" cy="2181925"/>
          </a:xfrm>
        </p:grpSpPr>
        <p:sp>
          <p:nvSpPr>
            <p:cNvPr id="1939" name="Google Shape;1939;p92"/>
            <p:cNvSpPr txBox="1"/>
            <p:nvPr/>
          </p:nvSpPr>
          <p:spPr>
            <a:xfrm>
              <a:off x="6895500" y="2560313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(00)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1940" name="Google Shape;1940;p92"/>
            <p:cNvSpPr txBox="1"/>
            <p:nvPr/>
          </p:nvSpPr>
          <p:spPr>
            <a:xfrm>
              <a:off x="6895500" y="3123300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1941" name="Google Shape;1941;p92"/>
            <p:cNvSpPr txBox="1"/>
            <p:nvPr/>
          </p:nvSpPr>
          <p:spPr>
            <a:xfrm>
              <a:off x="6895500" y="3717325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(10)</a:t>
              </a: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200" b="1">
                <a:solidFill>
                  <a:srgbClr val="FF0000"/>
                </a:solidFill>
              </a:endParaRPr>
            </a:p>
          </p:txBody>
        </p:sp>
        <p:sp>
          <p:nvSpPr>
            <p:cNvPr id="1942" name="Google Shape;1942;p92"/>
            <p:cNvSpPr txBox="1"/>
            <p:nvPr/>
          </p:nvSpPr>
          <p:spPr>
            <a:xfrm>
              <a:off x="6895500" y="4372938"/>
              <a:ext cx="9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(11) </a:t>
              </a:r>
              <a:r>
                <a:rPr lang="es-ES" sz="12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200" b="1">
                <a:solidFill>
                  <a:srgbClr val="FF0000"/>
                </a:solidFill>
              </a:endParaRPr>
            </a:p>
          </p:txBody>
        </p:sp>
      </p:grpSp>
      <p:sp>
        <p:nvSpPr>
          <p:cNvPr id="1943" name="Google Shape;1943;p92"/>
          <p:cNvSpPr txBox="1"/>
          <p:nvPr/>
        </p:nvSpPr>
        <p:spPr>
          <a:xfrm>
            <a:off x="2505180" y="5599875"/>
            <a:ext cx="197179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Address Space</a:t>
            </a:r>
            <a:endParaRPr b="1" dirty="0"/>
          </a:p>
        </p:txBody>
      </p:sp>
      <p:graphicFrame>
        <p:nvGraphicFramePr>
          <p:cNvPr id="1944" name="Google Shape;1944;p92"/>
          <p:cNvGraphicFramePr/>
          <p:nvPr/>
        </p:nvGraphicFramePr>
        <p:xfrm>
          <a:off x="8804563" y="1432815"/>
          <a:ext cx="2227675" cy="4852325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22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7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Operating system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945" name="Google Shape;1945;p92"/>
          <p:cNvGrpSpPr/>
          <p:nvPr/>
        </p:nvGrpSpPr>
        <p:grpSpPr>
          <a:xfrm>
            <a:off x="7288539" y="1656087"/>
            <a:ext cx="1047240" cy="4629074"/>
            <a:chOff x="6720550" y="975938"/>
            <a:chExt cx="858675" cy="4629074"/>
          </a:xfrm>
        </p:grpSpPr>
        <p:sp>
          <p:nvSpPr>
            <p:cNvPr id="1946" name="Google Shape;1946;p92"/>
            <p:cNvSpPr txBox="1"/>
            <p:nvPr/>
          </p:nvSpPr>
          <p:spPr>
            <a:xfrm>
              <a:off x="6720551" y="975938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 (000)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947" name="Google Shape;1947;p92"/>
            <p:cNvSpPr txBox="1"/>
            <p:nvPr/>
          </p:nvSpPr>
          <p:spPr>
            <a:xfrm>
              <a:off x="6750622" y="1546802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(001)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948" name="Google Shape;1948;p92"/>
            <p:cNvSpPr txBox="1"/>
            <p:nvPr/>
          </p:nvSpPr>
          <p:spPr>
            <a:xfrm>
              <a:off x="6750622" y="2146591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949" name="Google Shape;1949;p92"/>
            <p:cNvSpPr txBox="1"/>
            <p:nvPr/>
          </p:nvSpPr>
          <p:spPr>
            <a:xfrm>
              <a:off x="6750624" y="2760892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950" name="Google Shape;1950;p92"/>
            <p:cNvSpPr txBox="1"/>
            <p:nvPr/>
          </p:nvSpPr>
          <p:spPr>
            <a:xfrm>
              <a:off x="6750625" y="3414556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951" name="Google Shape;1951;p92"/>
            <p:cNvSpPr txBox="1"/>
            <p:nvPr/>
          </p:nvSpPr>
          <p:spPr>
            <a:xfrm>
              <a:off x="6750624" y="4021608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200" b="1">
                <a:solidFill>
                  <a:srgbClr val="E46C0A"/>
                </a:solidFill>
              </a:endParaRPr>
            </a:p>
          </p:txBody>
        </p:sp>
        <p:sp>
          <p:nvSpPr>
            <p:cNvPr id="1952" name="Google Shape;1952;p92"/>
            <p:cNvSpPr txBox="1"/>
            <p:nvPr/>
          </p:nvSpPr>
          <p:spPr>
            <a:xfrm>
              <a:off x="6750622" y="4628647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1953" name="Google Shape;1953;p92"/>
            <p:cNvSpPr txBox="1"/>
            <p:nvPr/>
          </p:nvSpPr>
          <p:spPr>
            <a:xfrm>
              <a:off x="6720550" y="5235711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 sz="1200" b="1">
                <a:solidFill>
                  <a:schemeClr val="accent2"/>
                </a:solidFill>
              </a:endParaRPr>
            </a:p>
          </p:txBody>
        </p:sp>
      </p:grpSp>
      <p:sp>
        <p:nvSpPr>
          <p:cNvPr id="1954" name="Google Shape;1954;p92"/>
          <p:cNvSpPr txBox="1"/>
          <p:nvPr/>
        </p:nvSpPr>
        <p:spPr>
          <a:xfrm>
            <a:off x="8750508" y="6216826"/>
            <a:ext cx="2187762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Physical Address</a:t>
            </a:r>
            <a:endParaRPr b="1" dirty="0"/>
          </a:p>
        </p:txBody>
      </p:sp>
      <p:sp>
        <p:nvSpPr>
          <p:cNvPr id="1955" name="Google Shape;1955;p92"/>
          <p:cNvSpPr/>
          <p:nvPr/>
        </p:nvSpPr>
        <p:spPr>
          <a:xfrm>
            <a:off x="5529200" y="5456138"/>
            <a:ext cx="15513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latin typeface="Consolas"/>
                <a:ea typeface="Consolas"/>
                <a:cs typeface="Consolas"/>
                <a:sym typeface="Consolas"/>
              </a:rPr>
              <a:t>Page Table (PT)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956" name="Google Shape;1956;p92"/>
          <p:cNvGraphicFramePr/>
          <p:nvPr/>
        </p:nvGraphicFramePr>
        <p:xfrm>
          <a:off x="5841088" y="3236782"/>
          <a:ext cx="994350" cy="213345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57" name="Google Shape;1957;p92"/>
          <p:cNvSpPr txBox="1"/>
          <p:nvPr/>
        </p:nvSpPr>
        <p:spPr>
          <a:xfrm>
            <a:off x="1419013" y="2805663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958" name="Google Shape;1958;p92"/>
          <p:cNvSpPr txBox="1"/>
          <p:nvPr/>
        </p:nvSpPr>
        <p:spPr>
          <a:xfrm>
            <a:off x="7845850" y="1135263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PFN</a:t>
            </a:r>
            <a:endParaRPr b="1">
              <a:solidFill>
                <a:schemeClr val="accent2"/>
              </a:solidFill>
            </a:endParaRPr>
          </a:p>
        </p:txBody>
      </p:sp>
      <p:grpSp>
        <p:nvGrpSpPr>
          <p:cNvPr id="1959" name="Google Shape;1959;p92"/>
          <p:cNvGrpSpPr/>
          <p:nvPr/>
        </p:nvGrpSpPr>
        <p:grpSpPr>
          <a:xfrm>
            <a:off x="5111475" y="3663475"/>
            <a:ext cx="636313" cy="1684450"/>
            <a:chOff x="5161375" y="3094650"/>
            <a:chExt cx="636313" cy="1684450"/>
          </a:xfrm>
        </p:grpSpPr>
        <p:sp>
          <p:nvSpPr>
            <p:cNvPr id="1960" name="Google Shape;1960;p92"/>
            <p:cNvSpPr txBox="1"/>
            <p:nvPr/>
          </p:nvSpPr>
          <p:spPr>
            <a:xfrm>
              <a:off x="5161375" y="30946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961" name="Google Shape;1961;p92"/>
            <p:cNvSpPr txBox="1"/>
            <p:nvPr/>
          </p:nvSpPr>
          <p:spPr>
            <a:xfrm>
              <a:off x="5161388" y="35213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962" name="Google Shape;1962;p92"/>
            <p:cNvSpPr txBox="1"/>
            <p:nvPr/>
          </p:nvSpPr>
          <p:spPr>
            <a:xfrm>
              <a:off x="5161375" y="39524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963" name="Google Shape;1963;p92"/>
            <p:cNvSpPr txBox="1"/>
            <p:nvPr/>
          </p:nvSpPr>
          <p:spPr>
            <a:xfrm>
              <a:off x="5161375" y="434800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b="1">
                <a:solidFill>
                  <a:srgbClr val="FF0000"/>
                </a:solidFill>
              </a:endParaRPr>
            </a:p>
          </p:txBody>
        </p:sp>
      </p:grpSp>
      <p:sp>
        <p:nvSpPr>
          <p:cNvPr id="1964" name="Google Shape;1964;p92"/>
          <p:cNvSpPr txBox="1"/>
          <p:nvPr/>
        </p:nvSpPr>
        <p:spPr>
          <a:xfrm>
            <a:off x="2265241" y="3151500"/>
            <a:ext cx="128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rgbClr val="741B47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ld 17, R1</a:t>
            </a:r>
            <a:endParaRPr sz="1200" b="1" dirty="0">
              <a:solidFill>
                <a:srgbClr val="741B47"/>
              </a:solidFill>
              <a:highlight>
                <a:srgbClr val="FFFF00"/>
              </a:highlight>
            </a:endParaRPr>
          </a:p>
        </p:txBody>
      </p:sp>
      <p:sp>
        <p:nvSpPr>
          <p:cNvPr id="1965" name="Google Shape;1965;p92"/>
          <p:cNvSpPr txBox="1"/>
          <p:nvPr/>
        </p:nvSpPr>
        <p:spPr>
          <a:xfrm>
            <a:off x="2249693" y="3875400"/>
            <a:ext cx="520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rgbClr val="741B47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3000</a:t>
            </a:r>
            <a:endParaRPr sz="1200" b="1">
              <a:solidFill>
                <a:srgbClr val="741B47"/>
              </a:solidFill>
              <a:highlight>
                <a:srgbClr val="FFFF00"/>
              </a:highlight>
            </a:endParaRPr>
          </a:p>
        </p:txBody>
      </p:sp>
      <p:sp>
        <p:nvSpPr>
          <p:cNvPr id="1966" name="Google Shape;1966;p92"/>
          <p:cNvSpPr txBox="1"/>
          <p:nvPr/>
        </p:nvSpPr>
        <p:spPr>
          <a:xfrm>
            <a:off x="1844990" y="3875400"/>
            <a:ext cx="404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17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967" name="Google Shape;1967;p92"/>
          <p:cNvSpPr txBox="1"/>
          <p:nvPr/>
        </p:nvSpPr>
        <p:spPr>
          <a:xfrm>
            <a:off x="1787088" y="3151500"/>
            <a:ext cx="520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PC→</a:t>
            </a:r>
            <a:endParaRPr sz="1200" b="1">
              <a:solidFill>
                <a:srgbClr val="0B6937"/>
              </a:solidFill>
            </a:endParaRPr>
          </a:p>
        </p:txBody>
      </p:sp>
      <p:sp>
        <p:nvSpPr>
          <p:cNvPr id="1968" name="Google Shape;1968;p92"/>
          <p:cNvSpPr txBox="1"/>
          <p:nvPr/>
        </p:nvSpPr>
        <p:spPr>
          <a:xfrm>
            <a:off x="8804566" y="2030800"/>
            <a:ext cx="128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b="1" dirty="0">
                <a:solidFill>
                  <a:srgbClr val="741B47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ld 17, R1</a:t>
            </a:r>
            <a:endParaRPr sz="1200" b="1" dirty="0">
              <a:solidFill>
                <a:srgbClr val="741B47"/>
              </a:solidFill>
              <a:highlight>
                <a:srgbClr val="FFFF00"/>
              </a:highlight>
            </a:endParaRPr>
          </a:p>
        </p:txBody>
      </p:sp>
      <p:sp>
        <p:nvSpPr>
          <p:cNvPr id="1969" name="Google Shape;1969;p92"/>
          <p:cNvSpPr txBox="1"/>
          <p:nvPr/>
        </p:nvSpPr>
        <p:spPr>
          <a:xfrm>
            <a:off x="8781238" y="3863100"/>
            <a:ext cx="128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solidFill>
                  <a:srgbClr val="741B47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3000</a:t>
            </a:r>
            <a:endParaRPr sz="1200" b="1">
              <a:solidFill>
                <a:srgbClr val="741B47"/>
              </a:solidFill>
              <a:highlight>
                <a:srgbClr val="FFFF00"/>
              </a:highlight>
            </a:endParaRPr>
          </a:p>
        </p:txBody>
      </p:sp>
      <p:sp>
        <p:nvSpPr>
          <p:cNvPr id="1970" name="Google Shape;1970;p92"/>
          <p:cNvSpPr txBox="1"/>
          <p:nvPr/>
        </p:nvSpPr>
        <p:spPr>
          <a:xfrm>
            <a:off x="8219987" y="5915850"/>
            <a:ext cx="520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124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971" name="Google Shape;1971;p92"/>
          <p:cNvSpPr/>
          <p:nvPr/>
        </p:nvSpPr>
        <p:spPr>
          <a:xfrm rot="-5400000">
            <a:off x="3272588" y="1863975"/>
            <a:ext cx="213000" cy="22212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2" name="Google Shape;1972;p92"/>
          <p:cNvSpPr txBox="1"/>
          <p:nvPr/>
        </p:nvSpPr>
        <p:spPr>
          <a:xfrm>
            <a:off x="2740287" y="2427483"/>
            <a:ext cx="1254245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1 byte</a:t>
            </a:r>
            <a:endParaRPr sz="1200" dirty="0">
              <a:solidFill>
                <a:schemeClr val="accent1"/>
              </a:solidFill>
            </a:endParaRPr>
          </a:p>
        </p:txBody>
      </p:sp>
      <p:sp>
        <p:nvSpPr>
          <p:cNvPr id="1973" name="Google Shape;1973;p92"/>
          <p:cNvSpPr/>
          <p:nvPr/>
        </p:nvSpPr>
        <p:spPr>
          <a:xfrm rot="-5400000">
            <a:off x="9801575" y="157825"/>
            <a:ext cx="213000" cy="22212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4" name="Google Shape;1974;p92"/>
          <p:cNvSpPr txBox="1"/>
          <p:nvPr/>
        </p:nvSpPr>
        <p:spPr>
          <a:xfrm>
            <a:off x="9384604" y="720539"/>
            <a:ext cx="1180237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1 byte</a:t>
            </a:r>
            <a:endParaRPr sz="1200">
              <a:solidFill>
                <a:schemeClr val="accent1"/>
              </a:solidFill>
            </a:endParaRPr>
          </a:p>
        </p:txBody>
      </p:sp>
      <p:sp>
        <p:nvSpPr>
          <p:cNvPr id="1975" name="Google Shape;1975;p92"/>
          <p:cNvSpPr txBox="1"/>
          <p:nvPr/>
        </p:nvSpPr>
        <p:spPr>
          <a:xfrm>
            <a:off x="8367815" y="3875400"/>
            <a:ext cx="404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17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0" name="Google Shape;1980;p93"/>
          <p:cNvSpPr txBox="1">
            <a:spLocks noGrp="1"/>
          </p:cNvSpPr>
          <p:nvPr>
            <p:ph type="title"/>
          </p:nvPr>
        </p:nvSpPr>
        <p:spPr>
          <a:xfrm>
            <a:off x="245668" y="116505"/>
            <a:ext cx="1084217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/>
              <a:t>Estructura de una tabla de página</a:t>
            </a:r>
            <a:endParaRPr b="0" dirty="0"/>
          </a:p>
        </p:txBody>
      </p:sp>
      <p:sp>
        <p:nvSpPr>
          <p:cNvPr id="1981" name="Google Shape;1981;p93"/>
          <p:cNvSpPr txBox="1">
            <a:spLocks noGrp="1"/>
          </p:cNvSpPr>
          <p:nvPr>
            <p:ph type="body" idx="1"/>
          </p:nvPr>
        </p:nvSpPr>
        <p:spPr>
          <a:xfrm>
            <a:off x="179606" y="893786"/>
            <a:ext cx="11360438" cy="1031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  <a:ea typeface="Roboto" panose="02000000000000000000" pitchFamily="2" charset="0"/>
              </a:rPr>
              <a:t>Ejemplo</a:t>
            </a:r>
            <a:endParaRPr sz="2400" b="1" dirty="0">
              <a:solidFill>
                <a:schemeClr val="accent1"/>
              </a:solidFill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  <a:ea typeface="Roboto" panose="02000000000000000000" pitchFamily="2" charset="0"/>
              </a:rPr>
              <a:t>Información del esquema: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</p:txBody>
      </p:sp>
      <p:graphicFrame>
        <p:nvGraphicFramePr>
          <p:cNvPr id="1982" name="Google Shape;1982;p93"/>
          <p:cNvGraphicFramePr/>
          <p:nvPr>
            <p:extLst>
              <p:ext uri="{D42A27DB-BD31-4B8C-83A1-F6EECF244321}">
                <p14:modId xmlns:p14="http://schemas.microsoft.com/office/powerpoint/2010/main" val="124181861"/>
              </p:ext>
            </p:extLst>
          </p:nvPr>
        </p:nvGraphicFramePr>
        <p:xfrm>
          <a:off x="2073351" y="1970491"/>
          <a:ext cx="2382700" cy="185913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129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/>
                        <a:t>Memoria Virtual</a:t>
                      </a:r>
                      <a:endParaRPr sz="1400" b="1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size(AS)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64 B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n(VA)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n(VPN)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n(offset)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983" name="Google Shape;1983;p93"/>
          <p:cNvGraphicFramePr/>
          <p:nvPr>
            <p:extLst>
              <p:ext uri="{D42A27DB-BD31-4B8C-83A1-F6EECF244321}">
                <p14:modId xmlns:p14="http://schemas.microsoft.com/office/powerpoint/2010/main" val="2356361777"/>
              </p:ext>
            </p:extLst>
          </p:nvPr>
        </p:nvGraphicFramePr>
        <p:xfrm>
          <a:off x="2058090" y="4559904"/>
          <a:ext cx="2428375" cy="185913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129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4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/>
                        <a:t>Memoria física</a:t>
                      </a:r>
                      <a:endParaRPr sz="1400" b="1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size(PM)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128 B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n(PM)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n(PFN)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n(offset)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" name="Grupo 2">
            <a:extLst>
              <a:ext uri="{FF2B5EF4-FFF2-40B4-BE49-F238E27FC236}">
                <a16:creationId xmlns:a16="http://schemas.microsoft.com/office/drawing/2014/main" id="{C80B222B-F4DE-4981-9D5E-2F1D576646E7}"/>
              </a:ext>
            </a:extLst>
          </p:cNvPr>
          <p:cNvGrpSpPr/>
          <p:nvPr/>
        </p:nvGrpSpPr>
        <p:grpSpPr>
          <a:xfrm>
            <a:off x="5153754" y="2115205"/>
            <a:ext cx="3394925" cy="1680075"/>
            <a:chOff x="5032451" y="2145279"/>
            <a:chExt cx="3394925" cy="1680075"/>
          </a:xfrm>
        </p:grpSpPr>
        <p:graphicFrame>
          <p:nvGraphicFramePr>
            <p:cNvPr id="1984" name="Google Shape;1984;p93"/>
            <p:cNvGraphicFramePr/>
            <p:nvPr>
              <p:extLst>
                <p:ext uri="{D42A27DB-BD31-4B8C-83A1-F6EECF244321}">
                  <p14:modId xmlns:p14="http://schemas.microsoft.com/office/powerpoint/2010/main" val="2259249094"/>
                </p:ext>
              </p:extLst>
            </p:nvPr>
          </p:nvGraphicFramePr>
          <p:xfrm>
            <a:off x="5563726" y="2145279"/>
            <a:ext cx="2863650" cy="818125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47727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4772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477275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477275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477275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477275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</a:tblGrid>
                <a:tr h="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5</a:t>
                        </a:r>
                        <a:endParaRPr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4</a:t>
                        </a:r>
                        <a:endParaRPr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3</a:t>
                        </a:r>
                        <a:endParaRPr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2</a:t>
                        </a:r>
                        <a:endParaRPr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1</a:t>
                        </a:r>
                        <a:endParaRPr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0</a:t>
                        </a:r>
                        <a:endParaRPr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48287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</a:tbl>
            </a:graphicData>
          </a:graphic>
        </p:graphicFrame>
        <p:sp>
          <p:nvSpPr>
            <p:cNvPr id="1987" name="Google Shape;1987;p93"/>
            <p:cNvSpPr txBox="1"/>
            <p:nvPr/>
          </p:nvSpPr>
          <p:spPr>
            <a:xfrm>
              <a:off x="5032451" y="2440191"/>
              <a:ext cx="513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VA</a:t>
              </a:r>
              <a:endParaRPr sz="1800" b="1"/>
            </a:p>
          </p:txBody>
        </p:sp>
        <p:sp>
          <p:nvSpPr>
            <p:cNvPr id="1988" name="Google Shape;1988;p93"/>
            <p:cNvSpPr/>
            <p:nvPr/>
          </p:nvSpPr>
          <p:spPr>
            <a:xfrm rot="5400000">
              <a:off x="7335776" y="2223254"/>
              <a:ext cx="281100" cy="1885500"/>
            </a:xfrm>
            <a:prstGeom prst="rightBrace">
              <a:avLst>
                <a:gd name="adj1" fmla="val 50000"/>
                <a:gd name="adj2" fmla="val 49405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93"/>
            <p:cNvSpPr txBox="1"/>
            <p:nvPr/>
          </p:nvSpPr>
          <p:spPr>
            <a:xfrm>
              <a:off x="6925076" y="3304079"/>
              <a:ext cx="1102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offset</a:t>
              </a:r>
              <a:endParaRPr sz="1800" b="1"/>
            </a:p>
          </p:txBody>
        </p:sp>
        <p:sp>
          <p:nvSpPr>
            <p:cNvPr id="1990" name="Google Shape;1990;p93"/>
            <p:cNvSpPr/>
            <p:nvPr/>
          </p:nvSpPr>
          <p:spPr>
            <a:xfrm rot="5400000">
              <a:off x="5901526" y="2706479"/>
              <a:ext cx="281100" cy="914100"/>
            </a:xfrm>
            <a:prstGeom prst="rightBrace">
              <a:avLst>
                <a:gd name="adj1" fmla="val 50000"/>
                <a:gd name="adj2" fmla="val 49143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93"/>
            <p:cNvSpPr txBox="1"/>
            <p:nvPr/>
          </p:nvSpPr>
          <p:spPr>
            <a:xfrm>
              <a:off x="5585026" y="3363654"/>
              <a:ext cx="914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VPN</a:t>
              </a:r>
              <a:endParaRPr sz="1800" b="1"/>
            </a:p>
          </p:txBody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FE3CDEA8-0F77-47CF-AEF0-6F2E1EC57276}"/>
              </a:ext>
            </a:extLst>
          </p:cNvPr>
          <p:cNvGrpSpPr/>
          <p:nvPr/>
        </p:nvGrpSpPr>
        <p:grpSpPr>
          <a:xfrm>
            <a:off x="5084790" y="4739947"/>
            <a:ext cx="3542825" cy="1679087"/>
            <a:chOff x="4986251" y="4478630"/>
            <a:chExt cx="3542825" cy="1679087"/>
          </a:xfrm>
        </p:grpSpPr>
        <p:graphicFrame>
          <p:nvGraphicFramePr>
            <p:cNvPr id="1985" name="Google Shape;1985;p93"/>
            <p:cNvGraphicFramePr/>
            <p:nvPr>
              <p:extLst>
                <p:ext uri="{D42A27DB-BD31-4B8C-83A1-F6EECF244321}">
                  <p14:modId xmlns:p14="http://schemas.microsoft.com/office/powerpoint/2010/main" val="3984811035"/>
                </p:ext>
              </p:extLst>
            </p:nvPr>
          </p:nvGraphicFramePr>
          <p:xfrm>
            <a:off x="5499251" y="4478630"/>
            <a:ext cx="3029825" cy="883375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43750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43312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409875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45635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433125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429925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429925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</a:tblGrid>
                <a:tr h="40487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6</a:t>
                        </a:r>
                        <a:endParaRPr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5</a:t>
                        </a:r>
                        <a:endParaRPr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4</a:t>
                        </a:r>
                        <a:endParaRPr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3</a:t>
                        </a:r>
                        <a:endParaRPr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2</a:t>
                        </a:r>
                        <a:endParaRPr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1</a:t>
                        </a:r>
                        <a:endParaRPr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0</a:t>
                        </a:r>
                        <a:endParaRPr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4785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100"/>
                          <a:buFont typeface="Arial"/>
                          <a:buNone/>
                        </a:pPr>
                        <a:endParaRPr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</a:tbl>
            </a:graphicData>
          </a:graphic>
        </p:graphicFrame>
        <p:sp>
          <p:nvSpPr>
            <p:cNvPr id="1986" name="Google Shape;1986;p93"/>
            <p:cNvSpPr txBox="1"/>
            <p:nvPr/>
          </p:nvSpPr>
          <p:spPr>
            <a:xfrm>
              <a:off x="4986251" y="4838805"/>
              <a:ext cx="513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PA</a:t>
              </a:r>
              <a:endParaRPr sz="1800" b="1"/>
            </a:p>
          </p:txBody>
        </p:sp>
        <p:sp>
          <p:nvSpPr>
            <p:cNvPr id="1992" name="Google Shape;1992;p93"/>
            <p:cNvSpPr/>
            <p:nvPr/>
          </p:nvSpPr>
          <p:spPr>
            <a:xfrm rot="5400000">
              <a:off x="6003801" y="4940442"/>
              <a:ext cx="281100" cy="1253400"/>
            </a:xfrm>
            <a:prstGeom prst="rightBrace">
              <a:avLst>
                <a:gd name="adj1" fmla="val 50000"/>
                <a:gd name="adj2" fmla="val 49143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93"/>
            <p:cNvSpPr/>
            <p:nvPr/>
          </p:nvSpPr>
          <p:spPr>
            <a:xfrm rot="5400000">
              <a:off x="7525676" y="4708917"/>
              <a:ext cx="281100" cy="1721400"/>
            </a:xfrm>
            <a:prstGeom prst="rightBrace">
              <a:avLst>
                <a:gd name="adj1" fmla="val 50000"/>
                <a:gd name="adj2" fmla="val 49405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93"/>
            <p:cNvSpPr txBox="1"/>
            <p:nvPr/>
          </p:nvSpPr>
          <p:spPr>
            <a:xfrm>
              <a:off x="7127026" y="5696017"/>
              <a:ext cx="1102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offset</a:t>
              </a:r>
              <a:endParaRPr sz="1800" b="1"/>
            </a:p>
          </p:txBody>
        </p:sp>
        <p:sp>
          <p:nvSpPr>
            <p:cNvPr id="1995" name="Google Shape;1995;p93"/>
            <p:cNvSpPr txBox="1"/>
            <p:nvPr/>
          </p:nvSpPr>
          <p:spPr>
            <a:xfrm>
              <a:off x="5687301" y="5696017"/>
              <a:ext cx="914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PFN</a:t>
              </a:r>
              <a:endParaRPr sz="1800" b="1"/>
            </a:p>
          </p:txBody>
        </p:sp>
      </p:grpSp>
      <p:sp>
        <p:nvSpPr>
          <p:cNvPr id="1996" name="Google Shape;1996;p93"/>
          <p:cNvSpPr/>
          <p:nvPr/>
        </p:nvSpPr>
        <p:spPr>
          <a:xfrm>
            <a:off x="9856593" y="5100122"/>
            <a:ext cx="15513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latin typeface="Consolas"/>
                <a:ea typeface="Consolas"/>
                <a:cs typeface="Consolas"/>
                <a:sym typeface="Consolas"/>
              </a:rPr>
              <a:t>Page Table (PT)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997" name="Google Shape;1997;p93"/>
          <p:cNvGraphicFramePr/>
          <p:nvPr>
            <p:extLst>
              <p:ext uri="{D42A27DB-BD31-4B8C-83A1-F6EECF244321}">
                <p14:modId xmlns:p14="http://schemas.microsoft.com/office/powerpoint/2010/main" val="1764598406"/>
              </p:ext>
            </p:extLst>
          </p:nvPr>
        </p:nvGraphicFramePr>
        <p:xfrm>
          <a:off x="10168481" y="2880766"/>
          <a:ext cx="994350" cy="213345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998" name="Google Shape;1998;p93"/>
          <p:cNvGrpSpPr/>
          <p:nvPr/>
        </p:nvGrpSpPr>
        <p:grpSpPr>
          <a:xfrm>
            <a:off x="9438868" y="3307459"/>
            <a:ext cx="636313" cy="1684450"/>
            <a:chOff x="5161375" y="3094650"/>
            <a:chExt cx="636313" cy="1684450"/>
          </a:xfrm>
        </p:grpSpPr>
        <p:sp>
          <p:nvSpPr>
            <p:cNvPr id="1999" name="Google Shape;1999;p93"/>
            <p:cNvSpPr txBox="1"/>
            <p:nvPr/>
          </p:nvSpPr>
          <p:spPr>
            <a:xfrm>
              <a:off x="5161375" y="30946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2000" name="Google Shape;2000;p93"/>
            <p:cNvSpPr txBox="1"/>
            <p:nvPr/>
          </p:nvSpPr>
          <p:spPr>
            <a:xfrm>
              <a:off x="5161388" y="35213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2001" name="Google Shape;2001;p93"/>
            <p:cNvSpPr txBox="1"/>
            <p:nvPr/>
          </p:nvSpPr>
          <p:spPr>
            <a:xfrm>
              <a:off x="5161375" y="39524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2002" name="Google Shape;2002;p93"/>
            <p:cNvSpPr txBox="1"/>
            <p:nvPr/>
          </p:nvSpPr>
          <p:spPr>
            <a:xfrm>
              <a:off x="5161375" y="434800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b="1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" name="Google Shape;2007;p94"/>
          <p:cNvSpPr txBox="1">
            <a:spLocks noGrp="1"/>
          </p:cNvSpPr>
          <p:nvPr>
            <p:ph type="title"/>
          </p:nvPr>
        </p:nvSpPr>
        <p:spPr>
          <a:xfrm>
            <a:off x="449943" y="96038"/>
            <a:ext cx="877070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latin typeface="+mj-lt"/>
              </a:rPr>
              <a:t>Estructura de una tabla de página</a:t>
            </a:r>
            <a:endParaRPr b="0" dirty="0">
              <a:latin typeface="+mj-lt"/>
            </a:endParaRPr>
          </a:p>
        </p:txBody>
      </p:sp>
      <p:sp>
        <p:nvSpPr>
          <p:cNvPr id="2008" name="Google Shape;2008;p94"/>
          <p:cNvSpPr txBox="1">
            <a:spLocks noGrp="1"/>
          </p:cNvSpPr>
          <p:nvPr>
            <p:ph type="body" idx="1"/>
          </p:nvPr>
        </p:nvSpPr>
        <p:spPr>
          <a:xfrm>
            <a:off x="449943" y="1045538"/>
            <a:ext cx="10999578" cy="275720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</a:rPr>
              <a:t>Ejemplo</a:t>
            </a: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</a:rPr>
              <a:t>Suponga que se va a analizar la instrucción </a:t>
            </a:r>
            <a:r>
              <a:rPr lang="es-ES" sz="2000" b="1" dirty="0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ld 17, R1</a:t>
            </a:r>
            <a:r>
              <a:rPr lang="es-ES" sz="2000" dirty="0">
                <a:latin typeface="+mn-lt"/>
              </a:rPr>
              <a:t> y responda las siguientes preguntas:</a:t>
            </a:r>
            <a:endParaRPr sz="20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000" dirty="0">
                <a:latin typeface="+mn-lt"/>
              </a:rPr>
              <a:t>Obtenga los valores de los campos de la dirección virtual.</a:t>
            </a:r>
            <a:endParaRPr sz="20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000" dirty="0">
                <a:latin typeface="+mn-lt"/>
              </a:rPr>
              <a:t>Obtenga los valores de los campos de la dirección física.</a:t>
            </a:r>
            <a:endParaRPr sz="20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000" dirty="0">
                <a:latin typeface="+mn-lt"/>
              </a:rPr>
              <a:t>Teniendo en cuenta la tabla de página mostrada. </a:t>
            </a:r>
            <a:endParaRPr sz="2000" dirty="0">
              <a:latin typeface="+mn-lt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000" dirty="0">
                <a:latin typeface="+mn-lt"/>
              </a:rPr>
              <a:t>¿Cual es el tamaño de una de sus entradas?</a:t>
            </a:r>
            <a:endParaRPr sz="2000" dirty="0">
              <a:latin typeface="+mn-lt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000" dirty="0">
                <a:latin typeface="+mn-lt"/>
              </a:rPr>
              <a:t>¿Cual es el tamaño de la tabla de página entera?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3" name="Google Shape;2013;p95"/>
          <p:cNvSpPr txBox="1">
            <a:spLocks noGrp="1"/>
          </p:cNvSpPr>
          <p:nvPr>
            <p:ph type="title"/>
          </p:nvPr>
        </p:nvSpPr>
        <p:spPr>
          <a:xfrm>
            <a:off x="696686" y="96038"/>
            <a:ext cx="112776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/>
              <a:t>Estructura de una tabla de página</a:t>
            </a:r>
            <a:endParaRPr b="0" dirty="0"/>
          </a:p>
        </p:txBody>
      </p:sp>
      <p:sp>
        <p:nvSpPr>
          <p:cNvPr id="2014" name="Google Shape;2014;p95"/>
          <p:cNvSpPr txBox="1">
            <a:spLocks noGrp="1"/>
          </p:cNvSpPr>
          <p:nvPr>
            <p:ph type="body" idx="1"/>
          </p:nvPr>
        </p:nvSpPr>
        <p:spPr>
          <a:xfrm>
            <a:off x="217714" y="915888"/>
            <a:ext cx="11226386" cy="1262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</a:rPr>
              <a:t>Ejemplo</a:t>
            </a:r>
            <a:endParaRPr sz="2400" b="1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</a:rPr>
              <a:t>Suponga que se va a analizar la instrucción </a:t>
            </a:r>
            <a:r>
              <a:rPr lang="es-ES" sz="2000" b="1" dirty="0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ld 17, R1</a:t>
            </a:r>
            <a:r>
              <a:rPr lang="es-ES" sz="2000" dirty="0">
                <a:latin typeface="+mn-lt"/>
              </a:rPr>
              <a:t> y responda las siguientes preguntas:</a:t>
            </a:r>
            <a:endParaRPr sz="20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000" dirty="0">
                <a:latin typeface="+mn-lt"/>
              </a:rPr>
              <a:t>Obtenga los valores de los campos de la dirección virtual.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2015" name="Google Shape;2015;p95"/>
          <p:cNvSpPr txBox="1"/>
          <p:nvPr/>
        </p:nvSpPr>
        <p:spPr>
          <a:xfrm>
            <a:off x="1537243" y="2343635"/>
            <a:ext cx="78213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 = 17 = 10001 = 0x11 = </a:t>
            </a:r>
            <a:r>
              <a:rPr lang="es-ES" sz="2000" b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s-ES" sz="20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10001 = [</a:t>
            </a:r>
            <a:r>
              <a:rPr lang="es-ES" sz="2000" b="1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r>
              <a:rPr lang="es-ES" sz="20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es-ES" sz="20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0001</a:t>
            </a:r>
            <a:r>
              <a:rPr lang="es-ES" sz="20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20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683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nsolas"/>
              <a:buChar char="●"/>
            </a:pPr>
            <a:r>
              <a:rPr lang="es-E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VPN = 01 = 1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nsolas"/>
              <a:buChar char="●"/>
            </a:pPr>
            <a:r>
              <a:rPr lang="es-E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offset = 0001 = 1   </a:t>
            </a:r>
            <a:r>
              <a:rPr lang="es-ES" sz="20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20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AF0F3C07-EF8F-492F-BADC-8A7229A7EAAE}"/>
              </a:ext>
            </a:extLst>
          </p:cNvPr>
          <p:cNvGrpSpPr/>
          <p:nvPr/>
        </p:nvGrpSpPr>
        <p:grpSpPr>
          <a:xfrm>
            <a:off x="3867807" y="3990831"/>
            <a:ext cx="3394925" cy="1680075"/>
            <a:chOff x="3867807" y="3990831"/>
            <a:chExt cx="3394925" cy="1680075"/>
          </a:xfrm>
        </p:grpSpPr>
        <p:graphicFrame>
          <p:nvGraphicFramePr>
            <p:cNvPr id="2016" name="Google Shape;2016;p95"/>
            <p:cNvGraphicFramePr/>
            <p:nvPr>
              <p:extLst>
                <p:ext uri="{D42A27DB-BD31-4B8C-83A1-F6EECF244321}">
                  <p14:modId xmlns:p14="http://schemas.microsoft.com/office/powerpoint/2010/main" val="4026888705"/>
                </p:ext>
              </p:extLst>
            </p:nvPr>
          </p:nvGraphicFramePr>
          <p:xfrm>
            <a:off x="4399082" y="3990831"/>
            <a:ext cx="2863650" cy="818125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47727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4772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477275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477275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477275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477275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</a:tblGrid>
                <a:tr h="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5</a:t>
                        </a:r>
                        <a:endParaRPr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4</a:t>
                        </a:r>
                        <a:endParaRPr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3</a:t>
                        </a:r>
                        <a:endParaRPr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2</a:t>
                        </a:r>
                        <a:endParaRPr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1</a:t>
                        </a:r>
                        <a:endParaRPr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>
                            <a:solidFill>
                              <a:srgbClr val="FF0000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0</a:t>
                        </a:r>
                        <a:endParaRPr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48287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80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0</a:t>
                        </a:r>
                        <a:endParaRPr sz="18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80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1</a:t>
                        </a:r>
                        <a:endParaRPr sz="18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80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0</a:t>
                        </a:r>
                        <a:endParaRPr sz="18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80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0</a:t>
                        </a:r>
                        <a:endParaRPr sz="18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80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0</a:t>
                        </a:r>
                        <a:endParaRPr sz="18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80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1</a:t>
                        </a:r>
                        <a:endParaRPr sz="18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</a:tbl>
            </a:graphicData>
          </a:graphic>
        </p:graphicFrame>
        <p:sp>
          <p:nvSpPr>
            <p:cNvPr id="2017" name="Google Shape;2017;p95"/>
            <p:cNvSpPr txBox="1"/>
            <p:nvPr/>
          </p:nvSpPr>
          <p:spPr>
            <a:xfrm>
              <a:off x="3867807" y="4285743"/>
              <a:ext cx="513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VA</a:t>
              </a:r>
              <a:endParaRPr sz="1800" b="1"/>
            </a:p>
          </p:txBody>
        </p:sp>
        <p:sp>
          <p:nvSpPr>
            <p:cNvPr id="2018" name="Google Shape;2018;p95"/>
            <p:cNvSpPr/>
            <p:nvPr/>
          </p:nvSpPr>
          <p:spPr>
            <a:xfrm rot="5400000">
              <a:off x="6171132" y="4068806"/>
              <a:ext cx="281100" cy="1885500"/>
            </a:xfrm>
            <a:prstGeom prst="rightBrace">
              <a:avLst>
                <a:gd name="adj1" fmla="val 50000"/>
                <a:gd name="adj2" fmla="val 49405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95"/>
            <p:cNvSpPr txBox="1"/>
            <p:nvPr/>
          </p:nvSpPr>
          <p:spPr>
            <a:xfrm>
              <a:off x="5760432" y="5149631"/>
              <a:ext cx="1102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offset</a:t>
              </a:r>
              <a:endParaRPr sz="1800" b="1"/>
            </a:p>
          </p:txBody>
        </p:sp>
        <p:sp>
          <p:nvSpPr>
            <p:cNvPr id="2020" name="Google Shape;2020;p95"/>
            <p:cNvSpPr/>
            <p:nvPr/>
          </p:nvSpPr>
          <p:spPr>
            <a:xfrm rot="5400000">
              <a:off x="4736882" y="4552031"/>
              <a:ext cx="281100" cy="914100"/>
            </a:xfrm>
            <a:prstGeom prst="rightBrace">
              <a:avLst>
                <a:gd name="adj1" fmla="val 50000"/>
                <a:gd name="adj2" fmla="val 49143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95"/>
            <p:cNvSpPr txBox="1"/>
            <p:nvPr/>
          </p:nvSpPr>
          <p:spPr>
            <a:xfrm>
              <a:off x="4420382" y="5209206"/>
              <a:ext cx="914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VPN</a:t>
              </a:r>
              <a:endParaRPr sz="1800" b="1"/>
            </a:p>
          </p:txBody>
        </p:sp>
      </p:grp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6" name="Google Shape;2026;p9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latin typeface="+mj-lt"/>
              </a:rPr>
              <a:t>Estructura de una tabla de página</a:t>
            </a:r>
            <a:endParaRPr b="0" dirty="0">
              <a:latin typeface="+mj-lt"/>
            </a:endParaRPr>
          </a:p>
        </p:txBody>
      </p:sp>
      <p:sp>
        <p:nvSpPr>
          <p:cNvPr id="2027" name="Google Shape;2027;p96"/>
          <p:cNvSpPr txBox="1">
            <a:spLocks noGrp="1"/>
          </p:cNvSpPr>
          <p:nvPr>
            <p:ph type="body" idx="1"/>
          </p:nvPr>
        </p:nvSpPr>
        <p:spPr>
          <a:xfrm>
            <a:off x="564591" y="1162186"/>
            <a:ext cx="6451772" cy="160167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</a:rPr>
              <a:t>Ejemplo</a:t>
            </a: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</a:rPr>
              <a:t>Suponga que se va a analizar la instrucción </a:t>
            </a:r>
            <a:r>
              <a:rPr lang="es-ES" sz="2000" b="1" dirty="0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ld 17, R1</a:t>
            </a:r>
            <a:r>
              <a:rPr lang="es-ES" sz="2000" dirty="0">
                <a:latin typeface="+mn-lt"/>
              </a:rPr>
              <a:t> y responda las siguientes preguntas:</a:t>
            </a:r>
            <a:endParaRPr sz="20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AutoNum type="arabicPeriod" startAt="2"/>
            </a:pPr>
            <a:r>
              <a:rPr lang="es-ES" sz="2000" dirty="0">
                <a:latin typeface="+mn-lt"/>
              </a:rPr>
              <a:t>Obtenga los valores de los campos de la dirección física.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2028" name="Google Shape;2028;p96"/>
          <p:cNvSpPr txBox="1"/>
          <p:nvPr/>
        </p:nvSpPr>
        <p:spPr>
          <a:xfrm>
            <a:off x="1007813" y="2880505"/>
            <a:ext cx="5501400" cy="3095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Cuando</a:t>
            </a:r>
            <a:r>
              <a:rPr lang="es-ES" sz="2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VA = 17 → VPN = 1</a:t>
            </a:r>
            <a:endParaRPr sz="20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0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PFN = PT[VPN = 1] = 4 = 100 </a:t>
            </a:r>
            <a:endParaRPr sz="20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 = [</a:t>
            </a:r>
            <a:r>
              <a:rPr lang="es-ES" sz="2000" b="1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PFN</a:t>
            </a: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es-ES" sz="20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= [</a:t>
            </a:r>
            <a:r>
              <a:rPr lang="es-ES" sz="2000" b="1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es-ES" sz="20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0001</a:t>
            </a: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20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683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nsolas"/>
              <a:buChar char="●"/>
            </a:pP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PFN = 100 = 4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nsolas"/>
              <a:buChar char="●"/>
            </a:pP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offset = 0001 = 1   </a:t>
            </a: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20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0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 = </a:t>
            </a:r>
            <a:r>
              <a:rPr lang="es-ES" sz="2000" b="1" dirty="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s-ES" sz="20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0001</a:t>
            </a: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65 = 0x41</a:t>
            </a:r>
            <a:endParaRPr sz="20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2029" name="Google Shape;2029;p96"/>
          <p:cNvGraphicFramePr/>
          <p:nvPr/>
        </p:nvGraphicFramePr>
        <p:xfrm>
          <a:off x="8475400" y="1779263"/>
          <a:ext cx="2863650" cy="482875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47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2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30" name="Google Shape;2030;p96"/>
          <p:cNvGraphicFramePr/>
          <p:nvPr/>
        </p:nvGraphicFramePr>
        <p:xfrm>
          <a:off x="8006213" y="2763857"/>
          <a:ext cx="1400650" cy="213450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469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031" name="Google Shape;2031;p96"/>
          <p:cNvGrpSpPr/>
          <p:nvPr/>
        </p:nvGrpSpPr>
        <p:grpSpPr>
          <a:xfrm>
            <a:off x="7225350" y="3190750"/>
            <a:ext cx="636313" cy="1684450"/>
            <a:chOff x="5161375" y="3094650"/>
            <a:chExt cx="636313" cy="1684450"/>
          </a:xfrm>
        </p:grpSpPr>
        <p:sp>
          <p:nvSpPr>
            <p:cNvPr id="2032" name="Google Shape;2032;p96"/>
            <p:cNvSpPr txBox="1"/>
            <p:nvPr/>
          </p:nvSpPr>
          <p:spPr>
            <a:xfrm>
              <a:off x="5161375" y="30946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2033" name="Google Shape;2033;p96"/>
            <p:cNvSpPr txBox="1"/>
            <p:nvPr/>
          </p:nvSpPr>
          <p:spPr>
            <a:xfrm>
              <a:off x="5161388" y="35213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8CC63E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b="1">
                <a:solidFill>
                  <a:srgbClr val="8CC63E"/>
                </a:solidFill>
              </a:endParaRPr>
            </a:p>
          </p:txBody>
        </p:sp>
        <p:sp>
          <p:nvSpPr>
            <p:cNvPr id="2034" name="Google Shape;2034;p96"/>
            <p:cNvSpPr txBox="1"/>
            <p:nvPr/>
          </p:nvSpPr>
          <p:spPr>
            <a:xfrm>
              <a:off x="5161375" y="39524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2035" name="Google Shape;2035;p96"/>
            <p:cNvSpPr txBox="1"/>
            <p:nvPr/>
          </p:nvSpPr>
          <p:spPr>
            <a:xfrm>
              <a:off x="5161375" y="434800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b="1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2036" name="Google Shape;2036;p96"/>
          <p:cNvGraphicFramePr/>
          <p:nvPr/>
        </p:nvGraphicFramePr>
        <p:xfrm>
          <a:off x="7931638" y="5401038"/>
          <a:ext cx="3490500" cy="47850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50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8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5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78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037" name="Google Shape;2037;p96"/>
          <p:cNvCxnSpPr/>
          <p:nvPr/>
        </p:nvCxnSpPr>
        <p:spPr>
          <a:xfrm>
            <a:off x="11134525" y="2278225"/>
            <a:ext cx="0" cy="31257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38" name="Google Shape;2038;p96"/>
          <p:cNvCxnSpPr/>
          <p:nvPr/>
        </p:nvCxnSpPr>
        <p:spPr>
          <a:xfrm>
            <a:off x="10657100" y="2268250"/>
            <a:ext cx="0" cy="31257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39" name="Google Shape;2039;p96"/>
          <p:cNvCxnSpPr/>
          <p:nvPr/>
        </p:nvCxnSpPr>
        <p:spPr>
          <a:xfrm>
            <a:off x="10179675" y="2268250"/>
            <a:ext cx="0" cy="31257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40" name="Google Shape;2040;p96"/>
          <p:cNvCxnSpPr/>
          <p:nvPr/>
        </p:nvCxnSpPr>
        <p:spPr>
          <a:xfrm>
            <a:off x="9702250" y="2268250"/>
            <a:ext cx="0" cy="31257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41" name="Google Shape;2041;p96"/>
          <p:cNvCxnSpPr/>
          <p:nvPr/>
        </p:nvCxnSpPr>
        <p:spPr>
          <a:xfrm>
            <a:off x="9221750" y="2278225"/>
            <a:ext cx="11700" cy="443100"/>
          </a:xfrm>
          <a:prstGeom prst="straightConnector1">
            <a:avLst/>
          </a:prstGeom>
          <a:noFill/>
          <a:ln w="28575" cap="flat" cmpd="sng">
            <a:solidFill>
              <a:srgbClr val="70AD4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42" name="Google Shape;2042;p96"/>
          <p:cNvCxnSpPr/>
          <p:nvPr/>
        </p:nvCxnSpPr>
        <p:spPr>
          <a:xfrm>
            <a:off x="9210050" y="4928150"/>
            <a:ext cx="11700" cy="443100"/>
          </a:xfrm>
          <a:prstGeom prst="straightConnector1">
            <a:avLst/>
          </a:prstGeom>
          <a:noFill/>
          <a:ln w="28575" cap="flat" cmpd="sng">
            <a:solidFill>
              <a:srgbClr val="70AD4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43" name="Google Shape;2043;p96"/>
          <p:cNvCxnSpPr/>
          <p:nvPr/>
        </p:nvCxnSpPr>
        <p:spPr>
          <a:xfrm>
            <a:off x="8700700" y="2291450"/>
            <a:ext cx="11700" cy="443100"/>
          </a:xfrm>
          <a:prstGeom prst="straightConnector1">
            <a:avLst/>
          </a:prstGeom>
          <a:noFill/>
          <a:ln w="28575" cap="flat" cmpd="sng">
            <a:solidFill>
              <a:srgbClr val="70AD4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44" name="Google Shape;2044;p96"/>
          <p:cNvCxnSpPr/>
          <p:nvPr/>
        </p:nvCxnSpPr>
        <p:spPr>
          <a:xfrm>
            <a:off x="8700700" y="4928150"/>
            <a:ext cx="11700" cy="443100"/>
          </a:xfrm>
          <a:prstGeom prst="straightConnector1">
            <a:avLst/>
          </a:prstGeom>
          <a:noFill/>
          <a:ln w="28575" cap="flat" cmpd="sng">
            <a:solidFill>
              <a:srgbClr val="70AD4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45" name="Google Shape;2045;p96"/>
          <p:cNvCxnSpPr/>
          <p:nvPr/>
        </p:nvCxnSpPr>
        <p:spPr>
          <a:xfrm>
            <a:off x="8191350" y="4928150"/>
            <a:ext cx="11700" cy="443100"/>
          </a:xfrm>
          <a:prstGeom prst="straightConnector1">
            <a:avLst/>
          </a:prstGeom>
          <a:noFill/>
          <a:ln w="28575" cap="flat" cmpd="sng">
            <a:solidFill>
              <a:srgbClr val="70AD47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46" name="Google Shape;2046;p96"/>
          <p:cNvSpPr txBox="1"/>
          <p:nvPr/>
        </p:nvSpPr>
        <p:spPr>
          <a:xfrm>
            <a:off x="11422148" y="1738950"/>
            <a:ext cx="636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/>
          </a:p>
        </p:txBody>
      </p:sp>
      <p:sp>
        <p:nvSpPr>
          <p:cNvPr id="2047" name="Google Shape;2047;p96"/>
          <p:cNvSpPr txBox="1"/>
          <p:nvPr/>
        </p:nvSpPr>
        <p:spPr>
          <a:xfrm>
            <a:off x="11422148" y="5378700"/>
            <a:ext cx="636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Google Shape;2052;p97"/>
          <p:cNvSpPr txBox="1">
            <a:spLocks noGrp="1"/>
          </p:cNvSpPr>
          <p:nvPr>
            <p:ph type="title"/>
          </p:nvPr>
        </p:nvSpPr>
        <p:spPr>
          <a:xfrm>
            <a:off x="232229" y="96038"/>
            <a:ext cx="898842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Estructura de una tabla de página</a:t>
            </a:r>
            <a:endParaRPr dirty="0">
              <a:latin typeface="+mj-lt"/>
            </a:endParaRPr>
          </a:p>
        </p:txBody>
      </p:sp>
      <p:sp>
        <p:nvSpPr>
          <p:cNvPr id="2053" name="Google Shape;2053;p97"/>
          <p:cNvSpPr txBox="1">
            <a:spLocks noGrp="1"/>
          </p:cNvSpPr>
          <p:nvPr>
            <p:ph type="body" idx="1"/>
          </p:nvPr>
        </p:nvSpPr>
        <p:spPr>
          <a:xfrm>
            <a:off x="232228" y="1018767"/>
            <a:ext cx="11364685" cy="194572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</a:rPr>
              <a:t>Ejemplo</a:t>
            </a:r>
            <a:endParaRPr sz="2000" b="1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</a:rPr>
              <a:t>Suponga que se va a analizar la instrucción </a:t>
            </a:r>
            <a:r>
              <a:rPr lang="es-ES" sz="2000" b="1" dirty="0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ld 17, R1</a:t>
            </a:r>
            <a:r>
              <a:rPr lang="es-ES" sz="2000" dirty="0">
                <a:latin typeface="+mn-lt"/>
              </a:rPr>
              <a:t> y responda las siguientes preguntas:</a:t>
            </a:r>
            <a:endParaRPr sz="20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AutoNum type="arabicPeriod" startAt="3"/>
            </a:pPr>
            <a:r>
              <a:rPr lang="es-ES" sz="2000" dirty="0">
                <a:latin typeface="+mn-lt"/>
              </a:rPr>
              <a:t>Teniendo en cuenta la tabla de página mostrada. </a:t>
            </a:r>
            <a:endParaRPr sz="2000" dirty="0">
              <a:latin typeface="+mn-lt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000" dirty="0">
                <a:latin typeface="+mn-lt"/>
              </a:rPr>
              <a:t>¿Cual es el tamaño de una de sus entradas?</a:t>
            </a:r>
            <a:endParaRPr sz="2000" dirty="0">
              <a:latin typeface="+mn-lt"/>
            </a:endParaRPr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000" dirty="0">
                <a:latin typeface="+mn-lt"/>
              </a:rPr>
              <a:t>¿Cual es el tamaño de la tabla de página entera?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</p:txBody>
      </p:sp>
      <p:graphicFrame>
        <p:nvGraphicFramePr>
          <p:cNvPr id="2054" name="Google Shape;2054;p97"/>
          <p:cNvGraphicFramePr/>
          <p:nvPr>
            <p:extLst>
              <p:ext uri="{D42A27DB-BD31-4B8C-83A1-F6EECF244321}">
                <p14:modId xmlns:p14="http://schemas.microsoft.com/office/powerpoint/2010/main" val="2454614140"/>
              </p:ext>
            </p:extLst>
          </p:nvPr>
        </p:nvGraphicFramePr>
        <p:xfrm>
          <a:off x="2326213" y="3728350"/>
          <a:ext cx="1400650" cy="213450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469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055" name="Google Shape;2055;p97"/>
          <p:cNvGrpSpPr/>
          <p:nvPr/>
        </p:nvGrpSpPr>
        <p:grpSpPr>
          <a:xfrm>
            <a:off x="1613993" y="4135325"/>
            <a:ext cx="636313" cy="1684450"/>
            <a:chOff x="5161375" y="3094650"/>
            <a:chExt cx="636313" cy="1684450"/>
          </a:xfrm>
        </p:grpSpPr>
        <p:sp>
          <p:nvSpPr>
            <p:cNvPr id="2056" name="Google Shape;2056;p97"/>
            <p:cNvSpPr txBox="1"/>
            <p:nvPr/>
          </p:nvSpPr>
          <p:spPr>
            <a:xfrm>
              <a:off x="5161375" y="30946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2057" name="Google Shape;2057;p97"/>
            <p:cNvSpPr txBox="1"/>
            <p:nvPr/>
          </p:nvSpPr>
          <p:spPr>
            <a:xfrm>
              <a:off x="5161388" y="35213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2058" name="Google Shape;2058;p97"/>
            <p:cNvSpPr txBox="1"/>
            <p:nvPr/>
          </p:nvSpPr>
          <p:spPr>
            <a:xfrm>
              <a:off x="5161375" y="39524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2059" name="Google Shape;2059;p97"/>
            <p:cNvSpPr txBox="1"/>
            <p:nvPr/>
          </p:nvSpPr>
          <p:spPr>
            <a:xfrm>
              <a:off x="5161375" y="434800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b="1">
                <a:solidFill>
                  <a:srgbClr val="FF0000"/>
                </a:solidFill>
              </a:endParaRPr>
            </a:p>
          </p:txBody>
        </p:sp>
      </p:grpSp>
      <p:sp>
        <p:nvSpPr>
          <p:cNvPr id="2060" name="Google Shape;2060;p97"/>
          <p:cNvSpPr/>
          <p:nvPr/>
        </p:nvSpPr>
        <p:spPr>
          <a:xfrm>
            <a:off x="1970988" y="3252712"/>
            <a:ext cx="2111100" cy="3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latin typeface="Consolas"/>
                <a:ea typeface="Consolas"/>
                <a:cs typeface="Consolas"/>
                <a:sym typeface="Consolas"/>
              </a:rPr>
              <a:t>Page Table (PT)</a:t>
            </a:r>
            <a:endParaRPr sz="16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61" name="Google Shape;2061;p97"/>
          <p:cNvSpPr txBox="1"/>
          <p:nvPr/>
        </p:nvSpPr>
        <p:spPr>
          <a:xfrm>
            <a:off x="4750125" y="3178406"/>
            <a:ext cx="5536200" cy="16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size(PTE) = size(bits) + size(PFN) </a:t>
            </a:r>
            <a:endParaRPr sz="20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size(PTE) = size(V) + size(PFN)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size(PTE) = 1 + 3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size(PTE) = 4 bits</a:t>
            </a:r>
            <a:endParaRPr sz="2000" b="1" dirty="0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62" name="Google Shape;2062;p97"/>
          <p:cNvSpPr txBox="1"/>
          <p:nvPr/>
        </p:nvSpPr>
        <p:spPr>
          <a:xfrm>
            <a:off x="4750125" y="5017142"/>
            <a:ext cx="55362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size(PT) = num_pages*size(PTE) </a:t>
            </a:r>
            <a:endParaRPr sz="20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size(PTE) = 4*4 bits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size(PTE) = 16 bits</a:t>
            </a:r>
            <a:endParaRPr sz="2000" b="1" dirty="0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63" name="Google Shape;2063;p97"/>
          <p:cNvSpPr/>
          <p:nvPr/>
        </p:nvSpPr>
        <p:spPr>
          <a:xfrm rot="5400000">
            <a:off x="2886000" y="5374067"/>
            <a:ext cx="281100" cy="14139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4" name="Google Shape;2064;p97"/>
          <p:cNvSpPr txBox="1"/>
          <p:nvPr/>
        </p:nvSpPr>
        <p:spPr>
          <a:xfrm>
            <a:off x="2480550" y="6150642"/>
            <a:ext cx="1092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4 bits</a:t>
            </a:r>
            <a:endParaRPr sz="10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Google Shape;2069;p9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latin typeface="+mj-lt"/>
              </a:rPr>
              <a:t>Estructura de una tabla de página</a:t>
            </a:r>
            <a:endParaRPr b="0" dirty="0">
              <a:latin typeface="+mj-lt"/>
            </a:endParaRPr>
          </a:p>
        </p:txBody>
      </p:sp>
      <p:sp>
        <p:nvSpPr>
          <p:cNvPr id="2070" name="Google Shape;2070;p98"/>
          <p:cNvSpPr txBox="1">
            <a:spLocks noGrp="1"/>
          </p:cNvSpPr>
          <p:nvPr>
            <p:ph type="body" idx="1"/>
          </p:nvPr>
        </p:nvSpPr>
        <p:spPr>
          <a:xfrm>
            <a:off x="449943" y="792025"/>
            <a:ext cx="11652507" cy="22795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  <a:ea typeface="Roboto" panose="02000000000000000000" pitchFamily="2" charset="0"/>
              </a:rPr>
              <a:t>Registro PTBR</a:t>
            </a:r>
            <a:endParaRPr sz="2400" b="1" dirty="0">
              <a:solidFill>
                <a:schemeClr val="accent1"/>
              </a:solidFill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FF0000"/>
                </a:solidFill>
                <a:latin typeface="+mn-lt"/>
                <a:ea typeface="Roboto" panose="02000000000000000000" pitchFamily="2" charset="0"/>
              </a:rPr>
              <a:t>Problema</a:t>
            </a:r>
            <a:r>
              <a:rPr lang="es-ES" sz="2000" dirty="0">
                <a:solidFill>
                  <a:srgbClr val="FF0000"/>
                </a:solidFill>
                <a:latin typeface="+mn-lt"/>
                <a:ea typeface="Roboto" panose="02000000000000000000" pitchFamily="2" charset="0"/>
              </a:rPr>
              <a:t>: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 El hardware debe hacer la traslación pero ¿Dónde está la tabla asociada al proceso?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MX" sz="2000" dirty="0">
                <a:latin typeface="+mn-lt"/>
                <a:ea typeface="Roboto" panose="02000000000000000000" pitchFamily="2" charset="0"/>
              </a:rPr>
              <a:t>Las </a:t>
            </a:r>
            <a:r>
              <a:rPr lang="es-MX" sz="2000" b="1" dirty="0">
                <a:latin typeface="+mn-lt"/>
                <a:ea typeface="Roboto" panose="02000000000000000000" pitchFamily="2" charset="0"/>
              </a:rPr>
              <a:t>tablas de página</a:t>
            </a:r>
            <a:r>
              <a:rPr lang="es-MX" sz="2000" dirty="0">
                <a:latin typeface="+mn-lt"/>
                <a:ea typeface="Roboto" panose="02000000000000000000" pitchFamily="2" charset="0"/>
              </a:rPr>
              <a:t> residen en memoria física y son gestionadas por el kernel</a:t>
            </a: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000" dirty="0">
                <a:latin typeface="+mn-lt"/>
                <a:ea typeface="Roboto" panose="02000000000000000000" pitchFamily="2" charset="0"/>
              </a:rPr>
              <a:t>Para conocer la ubicación de estas se emplea el </a:t>
            </a:r>
            <a:r>
              <a:rPr lang="es-ES" sz="2000" b="1" dirty="0">
                <a:solidFill>
                  <a:schemeClr val="accent2"/>
                </a:solidFill>
                <a:latin typeface="Consolas" panose="020B0609020204030204" pitchFamily="49" charset="0"/>
                <a:ea typeface="Roboto" panose="02000000000000000000" pitchFamily="2" charset="0"/>
              </a:rPr>
              <a:t>PTBR (Page Table Base Register)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.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000" dirty="0">
                <a:latin typeface="+mn-lt"/>
                <a:ea typeface="Roboto" panose="02000000000000000000" pitchFamily="2" charset="0"/>
              </a:rPr>
              <a:t>El registro </a:t>
            </a:r>
            <a:r>
              <a:rPr lang="es-ES" sz="2000" b="1" dirty="0">
                <a:solidFill>
                  <a:schemeClr val="accent2"/>
                </a:solidFill>
                <a:latin typeface="Consolas" panose="020B0609020204030204" pitchFamily="49" charset="0"/>
                <a:ea typeface="Roboto" panose="02000000000000000000" pitchFamily="2" charset="0"/>
              </a:rPr>
              <a:t>PTBR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 mantiene la dirección física de la tabla de página asociada al proceso.</a:t>
            </a: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MX" sz="2000" dirty="0">
                <a:latin typeface="+mn-lt"/>
                <a:ea typeface="Roboto" panose="02000000000000000000" pitchFamily="2" charset="0"/>
              </a:rPr>
              <a:t>La </a:t>
            </a:r>
            <a:r>
              <a:rPr lang="es-MX" sz="2000" b="1" dirty="0">
                <a:latin typeface="+mn-lt"/>
                <a:ea typeface="Roboto" panose="02000000000000000000" pitchFamily="2" charset="0"/>
              </a:rPr>
              <a:t>MMU</a:t>
            </a:r>
            <a:r>
              <a:rPr lang="es-MX" sz="2000" dirty="0">
                <a:latin typeface="+mn-lt"/>
                <a:ea typeface="Roboto" panose="02000000000000000000" pitchFamily="2" charset="0"/>
              </a:rPr>
              <a:t> usa el </a:t>
            </a:r>
            <a:r>
              <a:rPr lang="es-MX" sz="2000" b="1" dirty="0">
                <a:solidFill>
                  <a:schemeClr val="accent2"/>
                </a:solidFill>
                <a:latin typeface="Consolas" panose="020B0609020204030204" pitchFamily="49" charset="0"/>
                <a:ea typeface="Roboto" panose="02000000000000000000" pitchFamily="2" charset="0"/>
              </a:rPr>
              <a:t>PTBR</a:t>
            </a:r>
            <a:r>
              <a:rPr lang="es-MX" sz="2000" dirty="0">
                <a:latin typeface="+mn-lt"/>
                <a:ea typeface="Roboto" panose="02000000000000000000" pitchFamily="2" charset="0"/>
              </a:rPr>
              <a:t> para localizar la tabla de páginas durante la traducción de direcciones.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</p:txBody>
      </p:sp>
      <p:graphicFrame>
        <p:nvGraphicFramePr>
          <p:cNvPr id="2077" name="Google Shape;2077;p98"/>
          <p:cNvGraphicFramePr/>
          <p:nvPr>
            <p:extLst>
              <p:ext uri="{D42A27DB-BD31-4B8C-83A1-F6EECF244321}">
                <p14:modId xmlns:p14="http://schemas.microsoft.com/office/powerpoint/2010/main" val="2335280947"/>
              </p:ext>
            </p:extLst>
          </p:nvPr>
        </p:nvGraphicFramePr>
        <p:xfrm>
          <a:off x="4951972" y="3520702"/>
          <a:ext cx="4299875" cy="2884185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429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89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78" name="Google Shape;2078;p98"/>
          <p:cNvGraphicFramePr/>
          <p:nvPr>
            <p:extLst>
              <p:ext uri="{D42A27DB-BD31-4B8C-83A1-F6EECF244321}">
                <p14:modId xmlns:p14="http://schemas.microsoft.com/office/powerpoint/2010/main" val="2453033204"/>
              </p:ext>
            </p:extLst>
          </p:nvPr>
        </p:nvGraphicFramePr>
        <p:xfrm>
          <a:off x="6147360" y="4236075"/>
          <a:ext cx="1909100" cy="96575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47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2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79" name="Google Shape;2079;p98"/>
          <p:cNvSpPr/>
          <p:nvPr/>
        </p:nvSpPr>
        <p:spPr>
          <a:xfrm>
            <a:off x="6326247" y="3690975"/>
            <a:ext cx="15513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latin typeface="Consolas"/>
                <a:ea typeface="Consolas"/>
                <a:cs typeface="Consolas"/>
                <a:sym typeface="Consolas"/>
              </a:rPr>
              <a:t>Page Table (PT)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7C09638E-A51B-4386-8CF5-4CB8D7DE7F4D}"/>
              </a:ext>
            </a:extLst>
          </p:cNvPr>
          <p:cNvGrpSpPr/>
          <p:nvPr/>
        </p:nvGrpSpPr>
        <p:grpSpPr>
          <a:xfrm>
            <a:off x="9412797" y="3520702"/>
            <a:ext cx="2055275" cy="2825942"/>
            <a:chOff x="9412797" y="3012705"/>
            <a:chExt cx="2055275" cy="2825942"/>
          </a:xfrm>
        </p:grpSpPr>
        <p:graphicFrame>
          <p:nvGraphicFramePr>
            <p:cNvPr id="2071" name="Google Shape;2071;p98"/>
            <p:cNvGraphicFramePr/>
            <p:nvPr>
              <p:extLst>
                <p:ext uri="{D42A27DB-BD31-4B8C-83A1-F6EECF244321}">
                  <p14:modId xmlns:p14="http://schemas.microsoft.com/office/powerpoint/2010/main" val="3985036993"/>
                </p:ext>
              </p:extLst>
            </p:nvPr>
          </p:nvGraphicFramePr>
          <p:xfrm>
            <a:off x="10049110" y="3012705"/>
            <a:ext cx="1400650" cy="2134500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46917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93147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</a:tblGrid>
                <a:tr h="4269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 b="1">
                            <a:solidFill>
                              <a:schemeClr val="lt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V</a:t>
                        </a:r>
                        <a:endParaRPr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dk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 b="1">
                            <a:solidFill>
                              <a:schemeClr val="lt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PFN</a:t>
                        </a:r>
                        <a:endParaRPr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dk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4269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 b="1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1</a:t>
                        </a:r>
                        <a:endParaRPr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D966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 b="1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1</a:t>
                        </a:r>
                        <a:endParaRPr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A4C2F4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4269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 b="1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1</a:t>
                        </a:r>
                        <a:endParaRPr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D966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 b="1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4</a:t>
                        </a:r>
                        <a:endParaRPr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9FC5E8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4269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 b="1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0</a:t>
                        </a:r>
                        <a:endParaRPr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D966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 b="1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-</a:t>
                        </a:r>
                        <a:endParaRPr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A4C2F4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4269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 b="1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1</a:t>
                        </a:r>
                        <a:endParaRPr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D966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600" b="1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7</a:t>
                        </a:r>
                        <a:endParaRPr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A4C2F4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</a:tbl>
            </a:graphicData>
          </a:graphic>
        </p:graphicFrame>
        <p:grpSp>
          <p:nvGrpSpPr>
            <p:cNvPr id="2072" name="Google Shape;2072;p98"/>
            <p:cNvGrpSpPr/>
            <p:nvPr/>
          </p:nvGrpSpPr>
          <p:grpSpPr>
            <a:xfrm>
              <a:off x="9412797" y="3457297"/>
              <a:ext cx="636313" cy="1684450"/>
              <a:chOff x="5161375" y="3094650"/>
              <a:chExt cx="636313" cy="1684450"/>
            </a:xfrm>
          </p:grpSpPr>
          <p:sp>
            <p:nvSpPr>
              <p:cNvPr id="2073" name="Google Shape;2073;p98"/>
              <p:cNvSpPr txBox="1"/>
              <p:nvPr/>
            </p:nvSpPr>
            <p:spPr>
              <a:xfrm>
                <a:off x="5161375" y="3094650"/>
                <a:ext cx="6363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</a:t>
                </a:r>
                <a:endParaRPr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2074" name="Google Shape;2074;p98"/>
              <p:cNvSpPr txBox="1"/>
              <p:nvPr/>
            </p:nvSpPr>
            <p:spPr>
              <a:xfrm>
                <a:off x="5161388" y="3521350"/>
                <a:ext cx="6363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</a:t>
                </a:r>
                <a:endParaRPr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2075" name="Google Shape;2075;p98"/>
              <p:cNvSpPr txBox="1"/>
              <p:nvPr/>
            </p:nvSpPr>
            <p:spPr>
              <a:xfrm>
                <a:off x="5161375" y="3952450"/>
                <a:ext cx="6363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2</a:t>
                </a:r>
                <a:endParaRPr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2076" name="Google Shape;2076;p98"/>
              <p:cNvSpPr txBox="1"/>
              <p:nvPr/>
            </p:nvSpPr>
            <p:spPr>
              <a:xfrm>
                <a:off x="5161375" y="4348000"/>
                <a:ext cx="6363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3</a:t>
                </a:r>
                <a:endParaRPr b="1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2082" name="Google Shape;2082;p98"/>
            <p:cNvSpPr/>
            <p:nvPr/>
          </p:nvSpPr>
          <p:spPr>
            <a:xfrm rot="5400000">
              <a:off x="10620572" y="4630972"/>
              <a:ext cx="281100" cy="1413900"/>
            </a:xfrm>
            <a:prstGeom prst="rightBrace">
              <a:avLst>
                <a:gd name="adj1" fmla="val 50000"/>
                <a:gd name="adj2" fmla="val 49405"/>
              </a:avLst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98"/>
            <p:cNvSpPr txBox="1"/>
            <p:nvPr/>
          </p:nvSpPr>
          <p:spPr>
            <a:xfrm>
              <a:off x="10215122" y="5407547"/>
              <a:ext cx="1092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4 bits</a:t>
              </a:r>
              <a:endParaRPr sz="1000">
                <a:solidFill>
                  <a:schemeClr val="accent2"/>
                </a:solidFill>
              </a:endParaRPr>
            </a:p>
          </p:txBody>
        </p:sp>
      </p:grpSp>
      <p:grpSp>
        <p:nvGrpSpPr>
          <p:cNvPr id="18" name="Google Shape;398;p24">
            <a:extLst>
              <a:ext uri="{FF2B5EF4-FFF2-40B4-BE49-F238E27FC236}">
                <a16:creationId xmlns:a16="http://schemas.microsoft.com/office/drawing/2014/main" id="{80B3DFE0-CFFD-46AE-B67B-A02E43C28888}"/>
              </a:ext>
            </a:extLst>
          </p:cNvPr>
          <p:cNvGrpSpPr/>
          <p:nvPr/>
        </p:nvGrpSpPr>
        <p:grpSpPr>
          <a:xfrm>
            <a:off x="1220643" y="3451045"/>
            <a:ext cx="2340362" cy="3023498"/>
            <a:chOff x="8005450" y="1566825"/>
            <a:chExt cx="3308400" cy="4491900"/>
          </a:xfrm>
        </p:grpSpPr>
        <p:sp>
          <p:nvSpPr>
            <p:cNvPr id="19" name="Google Shape;399;p24">
              <a:extLst>
                <a:ext uri="{FF2B5EF4-FFF2-40B4-BE49-F238E27FC236}">
                  <a16:creationId xmlns:a16="http://schemas.microsoft.com/office/drawing/2014/main" id="{13A5611D-D40A-42FA-B54A-6F5FF2325F31}"/>
                </a:ext>
              </a:extLst>
            </p:cNvPr>
            <p:cNvSpPr/>
            <p:nvPr/>
          </p:nvSpPr>
          <p:spPr>
            <a:xfrm>
              <a:off x="8005450" y="1566825"/>
              <a:ext cx="3308400" cy="44919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0" name="Google Shape;400;p24">
              <a:extLst>
                <a:ext uri="{FF2B5EF4-FFF2-40B4-BE49-F238E27FC236}">
                  <a16:creationId xmlns:a16="http://schemas.microsoft.com/office/drawing/2014/main" id="{07E71189-81BF-4047-ABB1-6D6B9902E11B}"/>
                </a:ext>
              </a:extLst>
            </p:cNvPr>
            <p:cNvSpPr txBox="1"/>
            <p:nvPr/>
          </p:nvSpPr>
          <p:spPr>
            <a:xfrm>
              <a:off x="8597250" y="1637048"/>
              <a:ext cx="2103000" cy="73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latin typeface="Consolas"/>
                  <a:ea typeface="Consolas"/>
                  <a:cs typeface="Consolas"/>
                  <a:sym typeface="Consolas"/>
                </a:rPr>
                <a:t>Chip CPU</a:t>
              </a:r>
              <a:endParaRPr sz="20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21" name="Google Shape;401;p24">
              <a:extLst>
                <a:ext uri="{FF2B5EF4-FFF2-40B4-BE49-F238E27FC236}">
                  <a16:creationId xmlns:a16="http://schemas.microsoft.com/office/drawing/2014/main" id="{B703C9D3-3649-47A2-9536-3F2F7F682536}"/>
                </a:ext>
              </a:extLst>
            </p:cNvPr>
            <p:cNvGrpSpPr/>
            <p:nvPr/>
          </p:nvGrpSpPr>
          <p:grpSpPr>
            <a:xfrm>
              <a:off x="8597250" y="2492456"/>
              <a:ext cx="2103000" cy="3163135"/>
              <a:chOff x="8597250" y="2492456"/>
              <a:chExt cx="2103000" cy="3163135"/>
            </a:xfrm>
          </p:grpSpPr>
          <p:sp>
            <p:nvSpPr>
              <p:cNvPr id="22" name="Google Shape;402;p24">
                <a:extLst>
                  <a:ext uri="{FF2B5EF4-FFF2-40B4-BE49-F238E27FC236}">
                    <a16:creationId xmlns:a16="http://schemas.microsoft.com/office/drawing/2014/main" id="{71A0347D-8C85-4B5C-965B-A870DFCA67E1}"/>
                  </a:ext>
                </a:extLst>
              </p:cNvPr>
              <p:cNvSpPr/>
              <p:nvPr/>
            </p:nvSpPr>
            <p:spPr>
              <a:xfrm>
                <a:off x="9154351" y="2492456"/>
                <a:ext cx="988800" cy="9954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 b="1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sz="14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23" name="Google Shape;403;p24">
                <a:extLst>
                  <a:ext uri="{FF2B5EF4-FFF2-40B4-BE49-F238E27FC236}">
                    <a16:creationId xmlns:a16="http://schemas.microsoft.com/office/drawing/2014/main" id="{26D0D204-5112-4F32-834A-077D2667805A}"/>
                  </a:ext>
                </a:extLst>
              </p:cNvPr>
              <p:cNvCxnSpPr>
                <a:stCxn id="22" idx="4"/>
                <a:endCxn id="32" idx="0"/>
              </p:cNvCxnSpPr>
              <p:nvPr/>
            </p:nvCxnSpPr>
            <p:spPr>
              <a:xfrm>
                <a:off x="9648750" y="3487857"/>
                <a:ext cx="0" cy="456599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24" name="Google Shape;405;p24">
                <a:extLst>
                  <a:ext uri="{FF2B5EF4-FFF2-40B4-BE49-F238E27FC236}">
                    <a16:creationId xmlns:a16="http://schemas.microsoft.com/office/drawing/2014/main" id="{D8E90D25-F0D4-4610-88E7-EE6BFE97DE53}"/>
                  </a:ext>
                </a:extLst>
              </p:cNvPr>
              <p:cNvGrpSpPr/>
              <p:nvPr/>
            </p:nvGrpSpPr>
            <p:grpSpPr>
              <a:xfrm>
                <a:off x="8597250" y="3944391"/>
                <a:ext cx="2103000" cy="1711200"/>
                <a:chOff x="8597250" y="3944391"/>
                <a:chExt cx="2103000" cy="1711200"/>
              </a:xfrm>
            </p:grpSpPr>
            <p:grpSp>
              <p:nvGrpSpPr>
                <p:cNvPr id="25" name="Google Shape;406;p24">
                  <a:extLst>
                    <a:ext uri="{FF2B5EF4-FFF2-40B4-BE49-F238E27FC236}">
                      <a16:creationId xmlns:a16="http://schemas.microsoft.com/office/drawing/2014/main" id="{B6906B11-25B4-497A-BDF8-3F988102112B}"/>
                    </a:ext>
                  </a:extLst>
                </p:cNvPr>
                <p:cNvGrpSpPr/>
                <p:nvPr/>
              </p:nvGrpSpPr>
              <p:grpSpPr>
                <a:xfrm>
                  <a:off x="8597250" y="3944391"/>
                  <a:ext cx="2103000" cy="1711200"/>
                  <a:chOff x="8597250" y="3944391"/>
                  <a:chExt cx="2103000" cy="1711200"/>
                </a:xfrm>
              </p:grpSpPr>
              <p:sp>
                <p:nvSpPr>
                  <p:cNvPr id="32" name="Google Shape;404;p24">
                    <a:extLst>
                      <a:ext uri="{FF2B5EF4-FFF2-40B4-BE49-F238E27FC236}">
                        <a16:creationId xmlns:a16="http://schemas.microsoft.com/office/drawing/2014/main" id="{4AEA76DE-109F-472D-A847-5A4A3D0E3AE7}"/>
                      </a:ext>
                    </a:extLst>
                  </p:cNvPr>
                  <p:cNvSpPr/>
                  <p:nvPr/>
                </p:nvSpPr>
                <p:spPr>
                  <a:xfrm>
                    <a:off x="8597250" y="3944391"/>
                    <a:ext cx="2103000" cy="1711200"/>
                  </a:xfrm>
                  <a:prstGeom prst="rect">
                    <a:avLst/>
                  </a:prstGeom>
                  <a:solidFill>
                    <a:srgbClr val="B6D7A8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b="1"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sp>
                <p:nvSpPr>
                  <p:cNvPr id="33" name="Google Shape;407;p24">
                    <a:extLst>
                      <a:ext uri="{FF2B5EF4-FFF2-40B4-BE49-F238E27FC236}">
                        <a16:creationId xmlns:a16="http://schemas.microsoft.com/office/drawing/2014/main" id="{78B12ED8-AC69-40E1-BF02-1E19FEA7065F}"/>
                      </a:ext>
                    </a:extLst>
                  </p:cNvPr>
                  <p:cNvSpPr txBox="1"/>
                  <p:nvPr/>
                </p:nvSpPr>
                <p:spPr>
                  <a:xfrm>
                    <a:off x="9216099" y="3944462"/>
                    <a:ext cx="887099" cy="59438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4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MMU</a:t>
                    </a:r>
                    <a:endParaRPr sz="6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  <p:grpSp>
              <p:nvGrpSpPr>
                <p:cNvPr id="26" name="Google Shape;408;p24">
                  <a:extLst>
                    <a:ext uri="{FF2B5EF4-FFF2-40B4-BE49-F238E27FC236}">
                      <a16:creationId xmlns:a16="http://schemas.microsoft.com/office/drawing/2014/main" id="{08C89511-B834-4518-B0A8-E1CB5F86FEDE}"/>
                    </a:ext>
                  </a:extLst>
                </p:cNvPr>
                <p:cNvGrpSpPr/>
                <p:nvPr/>
              </p:nvGrpSpPr>
              <p:grpSpPr>
                <a:xfrm>
                  <a:off x="8638450" y="4491965"/>
                  <a:ext cx="1901250" cy="548700"/>
                  <a:chOff x="8638450" y="4491965"/>
                  <a:chExt cx="1901250" cy="548700"/>
                </a:xfrm>
              </p:grpSpPr>
              <p:sp>
                <p:nvSpPr>
                  <p:cNvPr id="30" name="Google Shape;409;p24">
                    <a:extLst>
                      <a:ext uri="{FF2B5EF4-FFF2-40B4-BE49-F238E27FC236}">
                        <a16:creationId xmlns:a16="http://schemas.microsoft.com/office/drawing/2014/main" id="{37EE1619-A57B-4123-8F82-5BE1BCC89F4B}"/>
                      </a:ext>
                    </a:extLst>
                  </p:cNvPr>
                  <p:cNvSpPr/>
                  <p:nvPr/>
                </p:nvSpPr>
                <p:spPr>
                  <a:xfrm>
                    <a:off x="9550900" y="4570717"/>
                    <a:ext cx="988800" cy="308100"/>
                  </a:xfrm>
                  <a:prstGeom prst="rect">
                    <a:avLst/>
                  </a:prstGeom>
                  <a:solidFill>
                    <a:schemeClr val="lt2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" name="Google Shape;410;p24">
                    <a:extLst>
                      <a:ext uri="{FF2B5EF4-FFF2-40B4-BE49-F238E27FC236}">
                        <a16:creationId xmlns:a16="http://schemas.microsoft.com/office/drawing/2014/main" id="{699390AA-8EFE-42A1-BC68-7ED08CB4DD77}"/>
                      </a:ext>
                    </a:extLst>
                  </p:cNvPr>
                  <p:cNvSpPr txBox="1"/>
                  <p:nvPr/>
                </p:nvSpPr>
                <p:spPr>
                  <a:xfrm>
                    <a:off x="8638450" y="4491965"/>
                    <a:ext cx="887099" cy="54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PTRB</a:t>
                    </a:r>
                    <a:endParaRPr sz="6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</p:grpSp>
        </p:grpSp>
      </p:grpSp>
      <p:cxnSp>
        <p:nvCxnSpPr>
          <p:cNvPr id="5" name="Conector: angular 4">
            <a:extLst>
              <a:ext uri="{FF2B5EF4-FFF2-40B4-BE49-F238E27FC236}">
                <a16:creationId xmlns:a16="http://schemas.microsoft.com/office/drawing/2014/main" id="{AE59D03F-C364-490F-8FD1-BBAFB00535E1}"/>
              </a:ext>
            </a:extLst>
          </p:cNvPr>
          <p:cNvCxnSpPr>
            <a:cxnSpLocks/>
            <a:stCxn id="30" idx="3"/>
          </p:cNvCxnSpPr>
          <p:nvPr/>
        </p:nvCxnSpPr>
        <p:spPr>
          <a:xfrm flipV="1">
            <a:off x="3013371" y="4455883"/>
            <a:ext cx="3140686" cy="1120772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" name="Google Shape;2088;p99"/>
          <p:cNvSpPr txBox="1">
            <a:spLocks noGrp="1"/>
          </p:cNvSpPr>
          <p:nvPr>
            <p:ph type="title"/>
          </p:nvPr>
        </p:nvSpPr>
        <p:spPr>
          <a:xfrm>
            <a:off x="449943" y="96038"/>
            <a:ext cx="1082540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latin typeface="+mj-lt"/>
              </a:rPr>
              <a:t>Estructura de una tabla de página</a:t>
            </a:r>
            <a:endParaRPr b="0" dirty="0">
              <a:latin typeface="+mj-lt"/>
            </a:endParaRPr>
          </a:p>
        </p:txBody>
      </p:sp>
      <p:sp>
        <p:nvSpPr>
          <p:cNvPr id="2089" name="Google Shape;2089;p99"/>
          <p:cNvSpPr txBox="1">
            <a:spLocks noGrp="1"/>
          </p:cNvSpPr>
          <p:nvPr>
            <p:ph type="body" idx="1"/>
          </p:nvPr>
        </p:nvSpPr>
        <p:spPr>
          <a:xfrm>
            <a:off x="449943" y="908994"/>
            <a:ext cx="5442050" cy="94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  <a:ea typeface="Roboto" panose="02000000000000000000" pitchFamily="2" charset="0"/>
              </a:rPr>
              <a:t>Registro </a:t>
            </a:r>
            <a:r>
              <a:rPr lang="es-ES" sz="2400" b="1" dirty="0">
                <a:solidFill>
                  <a:schemeClr val="accent1"/>
                </a:solidFill>
                <a:latin typeface="Consolas" panose="020B0609020204030204" pitchFamily="49" charset="0"/>
                <a:ea typeface="Roboto" panose="02000000000000000000" pitchFamily="2" charset="0"/>
              </a:rPr>
              <a:t>PTBR</a:t>
            </a:r>
            <a:endParaRPr sz="2400" b="1" dirty="0">
              <a:solidFill>
                <a:schemeClr val="accent1"/>
              </a:solidFill>
              <a:latin typeface="Consolas" panose="020B0609020204030204" pitchFamily="49" charset="0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  <a:ea typeface="Roboto" panose="02000000000000000000" pitchFamily="2" charset="0"/>
              </a:rPr>
              <a:t>Suponiendo que </a:t>
            </a:r>
            <a:r>
              <a:rPr lang="es-ES" sz="2000" b="1" dirty="0">
                <a:latin typeface="Consolas" panose="020B0609020204030204" pitchFamily="49" charset="0"/>
                <a:ea typeface="Roboto" panose="02000000000000000000" pitchFamily="2" charset="0"/>
              </a:rPr>
              <a:t>PTBR = 4</a:t>
            </a:r>
            <a:r>
              <a:rPr lang="es-ES" sz="2000" dirty="0">
                <a:latin typeface="+mn-lt"/>
                <a:ea typeface="Roboto" panose="02000000000000000000" pitchFamily="2" charset="0"/>
              </a:rPr>
              <a:t>, entonces tenemos: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</p:txBody>
      </p:sp>
      <p:graphicFrame>
        <p:nvGraphicFramePr>
          <p:cNvPr id="2090" name="Google Shape;2090;p99"/>
          <p:cNvGraphicFramePr/>
          <p:nvPr>
            <p:extLst>
              <p:ext uri="{D42A27DB-BD31-4B8C-83A1-F6EECF244321}">
                <p14:modId xmlns:p14="http://schemas.microsoft.com/office/powerpoint/2010/main" val="450681378"/>
              </p:ext>
            </p:extLst>
          </p:nvPr>
        </p:nvGraphicFramePr>
        <p:xfrm>
          <a:off x="2751507" y="2895179"/>
          <a:ext cx="5442050" cy="368784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2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2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2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2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2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2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6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chemeClr val="accent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100">
                        <a:solidFill>
                          <a:schemeClr val="accent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chemeClr val="accent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100">
                        <a:solidFill>
                          <a:schemeClr val="accent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chemeClr val="accent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100">
                        <a:solidFill>
                          <a:schemeClr val="accent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chemeClr val="accent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100">
                        <a:solidFill>
                          <a:schemeClr val="accent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chemeClr val="accent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100">
                        <a:solidFill>
                          <a:schemeClr val="accent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chemeClr val="accent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100">
                        <a:solidFill>
                          <a:schemeClr val="accent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chemeClr val="accent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100">
                        <a:solidFill>
                          <a:schemeClr val="accent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chemeClr val="accent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100">
                        <a:solidFill>
                          <a:schemeClr val="accent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1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1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1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1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chemeClr val="accent5"/>
                          </a:solidFill>
                          <a:highlight>
                            <a:srgbClr val="FFFF00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100">
                        <a:solidFill>
                          <a:schemeClr val="accent5"/>
                        </a:solidFill>
                        <a:highlight>
                          <a:srgbClr val="FFFF00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1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z="1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z="1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z="1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9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9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1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091" name="Google Shape;2091;p99"/>
          <p:cNvSpPr/>
          <p:nvPr/>
        </p:nvSpPr>
        <p:spPr>
          <a:xfrm>
            <a:off x="9979534" y="3162460"/>
            <a:ext cx="15513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latin typeface="Consolas"/>
                <a:ea typeface="Consolas"/>
                <a:cs typeface="Consolas"/>
                <a:sym typeface="Consolas"/>
              </a:rPr>
              <a:t>Page Table (PT)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92" name="Google Shape;2092;p99"/>
          <p:cNvSpPr/>
          <p:nvPr/>
        </p:nvSpPr>
        <p:spPr>
          <a:xfrm>
            <a:off x="700415" y="5110189"/>
            <a:ext cx="8463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PTBR</a:t>
            </a:r>
            <a:endParaRPr sz="2200" b="1" dirty="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093" name="Google Shape;2093;p99"/>
          <p:cNvCxnSpPr/>
          <p:nvPr/>
        </p:nvCxnSpPr>
        <p:spPr>
          <a:xfrm rot="10800000" flipH="1">
            <a:off x="2053165" y="5351214"/>
            <a:ext cx="886200" cy="9900"/>
          </a:xfrm>
          <a:prstGeom prst="straightConnector1">
            <a:avLst/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2094" name="Google Shape;2094;p99"/>
          <p:cNvGraphicFramePr/>
          <p:nvPr>
            <p:extLst>
              <p:ext uri="{D42A27DB-BD31-4B8C-83A1-F6EECF244321}">
                <p14:modId xmlns:p14="http://schemas.microsoft.com/office/powerpoint/2010/main" val="1083960238"/>
              </p:ext>
            </p:extLst>
          </p:nvPr>
        </p:nvGraphicFramePr>
        <p:xfrm>
          <a:off x="10054847" y="3683054"/>
          <a:ext cx="1400650" cy="213450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469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095" name="Google Shape;2095;p99"/>
          <p:cNvGrpSpPr/>
          <p:nvPr/>
        </p:nvGrpSpPr>
        <p:grpSpPr>
          <a:xfrm>
            <a:off x="9302293" y="4061726"/>
            <a:ext cx="636313" cy="1684450"/>
            <a:chOff x="5161375" y="3094650"/>
            <a:chExt cx="636313" cy="1684450"/>
          </a:xfrm>
        </p:grpSpPr>
        <p:sp>
          <p:nvSpPr>
            <p:cNvPr id="2096" name="Google Shape;2096;p99"/>
            <p:cNvSpPr txBox="1"/>
            <p:nvPr/>
          </p:nvSpPr>
          <p:spPr>
            <a:xfrm>
              <a:off x="5161375" y="30946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2097" name="Google Shape;2097;p99"/>
            <p:cNvSpPr txBox="1"/>
            <p:nvPr/>
          </p:nvSpPr>
          <p:spPr>
            <a:xfrm>
              <a:off x="5161388" y="35213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2098" name="Google Shape;2098;p99"/>
            <p:cNvSpPr txBox="1"/>
            <p:nvPr/>
          </p:nvSpPr>
          <p:spPr>
            <a:xfrm>
              <a:off x="5161375" y="395245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2099" name="Google Shape;2099;p99"/>
            <p:cNvSpPr txBox="1"/>
            <p:nvPr/>
          </p:nvSpPr>
          <p:spPr>
            <a:xfrm>
              <a:off x="5161375" y="4348000"/>
              <a:ext cx="6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b="1">
                <a:solidFill>
                  <a:srgbClr val="FF0000"/>
                </a:solidFill>
              </a:endParaRPr>
            </a:p>
          </p:txBody>
        </p:sp>
      </p:grpSp>
      <p:sp>
        <p:nvSpPr>
          <p:cNvPr id="2100" name="Google Shape;2100;p99"/>
          <p:cNvSpPr/>
          <p:nvPr/>
        </p:nvSpPr>
        <p:spPr>
          <a:xfrm rot="5400000">
            <a:off x="10626309" y="5301322"/>
            <a:ext cx="281100" cy="14139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1" name="Google Shape;2101;p99"/>
          <p:cNvSpPr txBox="1"/>
          <p:nvPr/>
        </p:nvSpPr>
        <p:spPr>
          <a:xfrm>
            <a:off x="10209172" y="6144561"/>
            <a:ext cx="1092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4 bits</a:t>
            </a:r>
            <a:endParaRPr sz="1000">
              <a:solidFill>
                <a:schemeClr val="accent2"/>
              </a:solidFill>
            </a:endParaRPr>
          </a:p>
        </p:txBody>
      </p:sp>
      <p:sp>
        <p:nvSpPr>
          <p:cNvPr id="2102" name="Google Shape;2102;p99"/>
          <p:cNvSpPr/>
          <p:nvPr/>
        </p:nvSpPr>
        <p:spPr>
          <a:xfrm>
            <a:off x="4443365" y="4653014"/>
            <a:ext cx="2783100" cy="4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Page Table (PT)</a:t>
            </a:r>
            <a:endParaRPr sz="18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03" name="Google Shape;2103;p99"/>
          <p:cNvSpPr/>
          <p:nvPr/>
        </p:nvSpPr>
        <p:spPr>
          <a:xfrm>
            <a:off x="4917215" y="3600689"/>
            <a:ext cx="1551300" cy="87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5800" b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OS</a:t>
            </a:r>
            <a:endParaRPr sz="5800" b="1">
              <a:solidFill>
                <a:srgbClr val="70AD4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04" name="Google Shape;2104;p99"/>
          <p:cNvSpPr/>
          <p:nvPr/>
        </p:nvSpPr>
        <p:spPr>
          <a:xfrm>
            <a:off x="1546715" y="5110189"/>
            <a:ext cx="421500" cy="470400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800" b="1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05" name="Google Shape;2105;p99"/>
          <p:cNvSpPr/>
          <p:nvPr/>
        </p:nvSpPr>
        <p:spPr>
          <a:xfrm>
            <a:off x="8421315" y="4261789"/>
            <a:ext cx="1026300" cy="87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PFN0</a:t>
            </a:r>
            <a:endParaRPr sz="2800" b="1">
              <a:solidFill>
                <a:srgbClr val="70AD4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06" name="Google Shape;2106;p99"/>
          <p:cNvSpPr/>
          <p:nvPr/>
        </p:nvSpPr>
        <p:spPr>
          <a:xfrm>
            <a:off x="629572" y="5717630"/>
            <a:ext cx="2145900" cy="2811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PTRB = &amp;PT[0] = 4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1" name="Google Shape;398;p24">
            <a:extLst>
              <a:ext uri="{FF2B5EF4-FFF2-40B4-BE49-F238E27FC236}">
                <a16:creationId xmlns:a16="http://schemas.microsoft.com/office/drawing/2014/main" id="{5D474D65-C08D-4DA9-8B36-57F898D4DB11}"/>
              </a:ext>
            </a:extLst>
          </p:cNvPr>
          <p:cNvGrpSpPr/>
          <p:nvPr/>
        </p:nvGrpSpPr>
        <p:grpSpPr>
          <a:xfrm>
            <a:off x="449943" y="2075147"/>
            <a:ext cx="1995507" cy="2581917"/>
            <a:chOff x="8218048" y="1566825"/>
            <a:chExt cx="2820903" cy="3835859"/>
          </a:xfrm>
        </p:grpSpPr>
        <p:sp>
          <p:nvSpPr>
            <p:cNvPr id="22" name="Google Shape;399;p24">
              <a:extLst>
                <a:ext uri="{FF2B5EF4-FFF2-40B4-BE49-F238E27FC236}">
                  <a16:creationId xmlns:a16="http://schemas.microsoft.com/office/drawing/2014/main" id="{138647DD-25A9-4444-B41F-288C70DD9488}"/>
                </a:ext>
              </a:extLst>
            </p:cNvPr>
            <p:cNvSpPr/>
            <p:nvPr/>
          </p:nvSpPr>
          <p:spPr>
            <a:xfrm>
              <a:off x="8218048" y="1566825"/>
              <a:ext cx="2820903" cy="3835859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3" name="Google Shape;400;p24">
              <a:extLst>
                <a:ext uri="{FF2B5EF4-FFF2-40B4-BE49-F238E27FC236}">
                  <a16:creationId xmlns:a16="http://schemas.microsoft.com/office/drawing/2014/main" id="{6E711A23-259B-4BD0-9AA8-67DED2A3DBCC}"/>
                </a:ext>
              </a:extLst>
            </p:cNvPr>
            <p:cNvSpPr txBox="1"/>
            <p:nvPr/>
          </p:nvSpPr>
          <p:spPr>
            <a:xfrm>
              <a:off x="8597250" y="1637048"/>
              <a:ext cx="2103000" cy="73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latin typeface="Consolas"/>
                  <a:ea typeface="Consolas"/>
                  <a:cs typeface="Consolas"/>
                  <a:sym typeface="Consolas"/>
                </a:rPr>
                <a:t>Chip CPU</a:t>
              </a:r>
              <a:endParaRPr sz="20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24" name="Google Shape;401;p24">
              <a:extLst>
                <a:ext uri="{FF2B5EF4-FFF2-40B4-BE49-F238E27FC236}">
                  <a16:creationId xmlns:a16="http://schemas.microsoft.com/office/drawing/2014/main" id="{A5887C17-AFE8-4F8B-B61B-212A2C1AA2FC}"/>
                </a:ext>
              </a:extLst>
            </p:cNvPr>
            <p:cNvGrpSpPr/>
            <p:nvPr/>
          </p:nvGrpSpPr>
          <p:grpSpPr>
            <a:xfrm>
              <a:off x="8597250" y="2492456"/>
              <a:ext cx="2103000" cy="2665105"/>
              <a:chOff x="8597250" y="2492456"/>
              <a:chExt cx="2103000" cy="2665105"/>
            </a:xfrm>
          </p:grpSpPr>
          <p:sp>
            <p:nvSpPr>
              <p:cNvPr id="25" name="Google Shape;402;p24">
                <a:extLst>
                  <a:ext uri="{FF2B5EF4-FFF2-40B4-BE49-F238E27FC236}">
                    <a16:creationId xmlns:a16="http://schemas.microsoft.com/office/drawing/2014/main" id="{1C0DCD68-E3F1-4019-BD00-C7A8C2CAFB19}"/>
                  </a:ext>
                </a:extLst>
              </p:cNvPr>
              <p:cNvSpPr/>
              <p:nvPr/>
            </p:nvSpPr>
            <p:spPr>
              <a:xfrm>
                <a:off x="9154351" y="2492456"/>
                <a:ext cx="988800" cy="9954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 b="1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sz="14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26" name="Google Shape;403;p24">
                <a:extLst>
                  <a:ext uri="{FF2B5EF4-FFF2-40B4-BE49-F238E27FC236}">
                    <a16:creationId xmlns:a16="http://schemas.microsoft.com/office/drawing/2014/main" id="{6BF47492-A16E-4033-A892-C5F37712FAFB}"/>
                  </a:ext>
                </a:extLst>
              </p:cNvPr>
              <p:cNvCxnSpPr>
                <a:cxnSpLocks/>
                <a:stCxn id="25" idx="4"/>
                <a:endCxn id="32" idx="0"/>
              </p:cNvCxnSpPr>
              <p:nvPr/>
            </p:nvCxnSpPr>
            <p:spPr>
              <a:xfrm flipH="1">
                <a:off x="9648750" y="3487856"/>
                <a:ext cx="1" cy="456535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27" name="Google Shape;405;p24">
                <a:extLst>
                  <a:ext uri="{FF2B5EF4-FFF2-40B4-BE49-F238E27FC236}">
                    <a16:creationId xmlns:a16="http://schemas.microsoft.com/office/drawing/2014/main" id="{591707CD-B949-4E0C-8D52-5781F74F5FE9}"/>
                  </a:ext>
                </a:extLst>
              </p:cNvPr>
              <p:cNvGrpSpPr/>
              <p:nvPr/>
            </p:nvGrpSpPr>
            <p:grpSpPr>
              <a:xfrm>
                <a:off x="8597250" y="3944392"/>
                <a:ext cx="2103000" cy="1213169"/>
                <a:chOff x="8597250" y="3944392"/>
                <a:chExt cx="2103000" cy="1213169"/>
              </a:xfrm>
            </p:grpSpPr>
            <p:grpSp>
              <p:nvGrpSpPr>
                <p:cNvPr id="28" name="Google Shape;406;p24">
                  <a:extLst>
                    <a:ext uri="{FF2B5EF4-FFF2-40B4-BE49-F238E27FC236}">
                      <a16:creationId xmlns:a16="http://schemas.microsoft.com/office/drawing/2014/main" id="{8111AB58-3C4B-4798-9815-1547E7F4773F}"/>
                    </a:ext>
                  </a:extLst>
                </p:cNvPr>
                <p:cNvGrpSpPr/>
                <p:nvPr/>
              </p:nvGrpSpPr>
              <p:grpSpPr>
                <a:xfrm>
                  <a:off x="8597250" y="3944392"/>
                  <a:ext cx="2103000" cy="1213169"/>
                  <a:chOff x="8597250" y="3944392"/>
                  <a:chExt cx="2103000" cy="1213169"/>
                </a:xfrm>
              </p:grpSpPr>
              <p:sp>
                <p:nvSpPr>
                  <p:cNvPr id="32" name="Google Shape;404;p24">
                    <a:extLst>
                      <a:ext uri="{FF2B5EF4-FFF2-40B4-BE49-F238E27FC236}">
                        <a16:creationId xmlns:a16="http://schemas.microsoft.com/office/drawing/2014/main" id="{915991B3-0C65-4C9D-BCAF-06019BA7404E}"/>
                      </a:ext>
                    </a:extLst>
                  </p:cNvPr>
                  <p:cNvSpPr/>
                  <p:nvPr/>
                </p:nvSpPr>
                <p:spPr>
                  <a:xfrm>
                    <a:off x="8597250" y="3944392"/>
                    <a:ext cx="2103000" cy="1213169"/>
                  </a:xfrm>
                  <a:prstGeom prst="rect">
                    <a:avLst/>
                  </a:prstGeom>
                  <a:solidFill>
                    <a:srgbClr val="B6D7A8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b="1"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sp>
                <p:nvSpPr>
                  <p:cNvPr id="33" name="Google Shape;407;p24">
                    <a:extLst>
                      <a:ext uri="{FF2B5EF4-FFF2-40B4-BE49-F238E27FC236}">
                        <a16:creationId xmlns:a16="http://schemas.microsoft.com/office/drawing/2014/main" id="{18D8610E-E3D9-485F-9D88-57A8124D492B}"/>
                      </a:ext>
                    </a:extLst>
                  </p:cNvPr>
                  <p:cNvSpPr txBox="1"/>
                  <p:nvPr/>
                </p:nvSpPr>
                <p:spPr>
                  <a:xfrm>
                    <a:off x="9216099" y="3944462"/>
                    <a:ext cx="887099" cy="59438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4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MMU</a:t>
                    </a:r>
                    <a:endParaRPr sz="6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  <p:grpSp>
              <p:nvGrpSpPr>
                <p:cNvPr id="29" name="Google Shape;408;p24">
                  <a:extLst>
                    <a:ext uri="{FF2B5EF4-FFF2-40B4-BE49-F238E27FC236}">
                      <a16:creationId xmlns:a16="http://schemas.microsoft.com/office/drawing/2014/main" id="{02817709-5327-4872-8E65-CD2B21717F55}"/>
                    </a:ext>
                  </a:extLst>
                </p:cNvPr>
                <p:cNvGrpSpPr/>
                <p:nvPr/>
              </p:nvGrpSpPr>
              <p:grpSpPr>
                <a:xfrm>
                  <a:off x="8638450" y="4491965"/>
                  <a:ext cx="1901250" cy="548700"/>
                  <a:chOff x="8638450" y="4491965"/>
                  <a:chExt cx="1901250" cy="548700"/>
                </a:xfrm>
              </p:grpSpPr>
              <p:sp>
                <p:nvSpPr>
                  <p:cNvPr id="30" name="Google Shape;409;p24">
                    <a:extLst>
                      <a:ext uri="{FF2B5EF4-FFF2-40B4-BE49-F238E27FC236}">
                        <a16:creationId xmlns:a16="http://schemas.microsoft.com/office/drawing/2014/main" id="{1FCA075B-2526-4580-B431-1E50C6FBD896}"/>
                      </a:ext>
                    </a:extLst>
                  </p:cNvPr>
                  <p:cNvSpPr/>
                  <p:nvPr/>
                </p:nvSpPr>
                <p:spPr>
                  <a:xfrm>
                    <a:off x="9550900" y="4570717"/>
                    <a:ext cx="988800" cy="308100"/>
                  </a:xfrm>
                  <a:prstGeom prst="rect">
                    <a:avLst/>
                  </a:prstGeom>
                  <a:solidFill>
                    <a:schemeClr val="lt2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MX" sz="1200" b="1" dirty="0">
                        <a:solidFill>
                          <a:schemeClr val="accent5"/>
                        </a:solidFill>
                        <a:latin typeface="Consolas" panose="020B0609020204030204" pitchFamily="49" charset="0"/>
                      </a:rPr>
                      <a:t>&amp;PT[0]</a:t>
                    </a:r>
                    <a:endParaRPr b="1" dirty="0">
                      <a:solidFill>
                        <a:schemeClr val="accent5"/>
                      </a:solidFill>
                      <a:latin typeface="Consolas" panose="020B0609020204030204" pitchFamily="49" charset="0"/>
                    </a:endParaRPr>
                  </a:p>
                </p:txBody>
              </p:sp>
              <p:sp>
                <p:nvSpPr>
                  <p:cNvPr id="31" name="Google Shape;410;p24">
                    <a:extLst>
                      <a:ext uri="{FF2B5EF4-FFF2-40B4-BE49-F238E27FC236}">
                        <a16:creationId xmlns:a16="http://schemas.microsoft.com/office/drawing/2014/main" id="{41D5B426-4128-40A9-88DF-B337FE841A81}"/>
                      </a:ext>
                    </a:extLst>
                  </p:cNvPr>
                  <p:cNvSpPr txBox="1"/>
                  <p:nvPr/>
                </p:nvSpPr>
                <p:spPr>
                  <a:xfrm>
                    <a:off x="8638450" y="4491965"/>
                    <a:ext cx="887099" cy="54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PTBR</a:t>
                    </a:r>
                    <a:endParaRPr sz="6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</p:grpSp>
        </p:grpSp>
      </p:grpSp>
      <p:sp>
        <p:nvSpPr>
          <p:cNvPr id="36" name="CuadroTexto 35">
            <a:extLst>
              <a:ext uri="{FF2B5EF4-FFF2-40B4-BE49-F238E27FC236}">
                <a16:creationId xmlns:a16="http://schemas.microsoft.com/office/drawing/2014/main" id="{639E400D-0947-470A-894E-49B6B0A146D9}"/>
              </a:ext>
            </a:extLst>
          </p:cNvPr>
          <p:cNvSpPr txBox="1"/>
          <p:nvPr/>
        </p:nvSpPr>
        <p:spPr>
          <a:xfrm>
            <a:off x="6300009" y="1146002"/>
            <a:ext cx="4849946" cy="16312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s-MX" sz="2000" dirty="0"/>
              <a:t>El </a:t>
            </a:r>
            <a:r>
              <a:rPr lang="es-MX" sz="2000" b="1" dirty="0"/>
              <a:t>PTBR</a:t>
            </a:r>
            <a:r>
              <a:rPr lang="es-MX" sz="2000" dirty="0"/>
              <a:t> apunta a la base de la tabla de páginas en memoria física. La MMU usa este valor como referencia para ubicar la entrada correspondiente durante la traducción de direcciones.</a:t>
            </a:r>
            <a:endParaRPr lang="es-CO" sz="20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7" name="Google Shape;2117;p101"/>
          <p:cNvSpPr txBox="1">
            <a:spLocks noGrp="1"/>
          </p:cNvSpPr>
          <p:nvPr>
            <p:ph type="title"/>
          </p:nvPr>
        </p:nvSpPr>
        <p:spPr>
          <a:xfrm>
            <a:off x="203199" y="96038"/>
            <a:ext cx="1135017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latin typeface="+mj-lt"/>
              </a:rPr>
              <a:t>Traducción de direcciones usando paginación</a:t>
            </a:r>
            <a:endParaRPr b="0" dirty="0">
              <a:latin typeface="+mj-lt"/>
            </a:endParaRPr>
          </a:p>
        </p:txBody>
      </p:sp>
      <p:sp>
        <p:nvSpPr>
          <p:cNvPr id="2118" name="Google Shape;2118;p101"/>
          <p:cNvSpPr txBox="1">
            <a:spLocks noGrp="1"/>
          </p:cNvSpPr>
          <p:nvPr>
            <p:ph type="body" idx="1"/>
          </p:nvPr>
        </p:nvSpPr>
        <p:spPr>
          <a:xfrm>
            <a:off x="285384" y="1045538"/>
            <a:ext cx="11185800" cy="94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  <a:ea typeface="Roboto" panose="02000000000000000000" pitchFamily="2" charset="0"/>
              </a:rPr>
              <a:t>Hardware asociado</a:t>
            </a:r>
            <a:endParaRPr sz="2400" b="1" dirty="0">
              <a:solidFill>
                <a:schemeClr val="accent1"/>
              </a:solidFill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  <a:ea typeface="Roboto" panose="02000000000000000000" pitchFamily="2" charset="0"/>
              </a:rPr>
              <a:t>El hardware debe conocer la estructura exacta de la tabla de página (PT)</a:t>
            </a:r>
            <a:endParaRPr sz="20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</p:txBody>
      </p:sp>
      <p:pic>
        <p:nvPicPr>
          <p:cNvPr id="2119" name="Google Shape;2119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5350" y="1995038"/>
            <a:ext cx="7021299" cy="433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4" name="Google Shape;2124;p102"/>
          <p:cNvSpPr txBox="1">
            <a:spLocks noGrp="1"/>
          </p:cNvSpPr>
          <p:nvPr>
            <p:ph type="title"/>
          </p:nvPr>
        </p:nvSpPr>
        <p:spPr>
          <a:xfrm>
            <a:off x="348343" y="96038"/>
            <a:ext cx="10844532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latin typeface="+mj-lt"/>
              </a:rPr>
              <a:t>Traducción de direcciones usando paginación</a:t>
            </a:r>
            <a:endParaRPr b="0" dirty="0">
              <a:latin typeface="+mj-lt"/>
            </a:endParaRPr>
          </a:p>
        </p:txBody>
      </p:sp>
      <p:sp>
        <p:nvSpPr>
          <p:cNvPr id="2125" name="Google Shape;2125;p102"/>
          <p:cNvSpPr txBox="1">
            <a:spLocks noGrp="1"/>
          </p:cNvSpPr>
          <p:nvPr>
            <p:ph type="body" idx="1"/>
          </p:nvPr>
        </p:nvSpPr>
        <p:spPr>
          <a:xfrm>
            <a:off x="348343" y="979700"/>
            <a:ext cx="5911007" cy="48292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  <a:ea typeface="Roboto" panose="02000000000000000000" pitchFamily="2" charset="0"/>
              </a:rPr>
              <a:t>Lógica implementada resumida</a:t>
            </a:r>
            <a:endParaRPr sz="2400" dirty="0">
              <a:solidFill>
                <a:schemeClr val="accent1"/>
              </a:solidFill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</p:txBody>
      </p:sp>
      <p:pic>
        <p:nvPicPr>
          <p:cNvPr id="2126" name="Google Shape;2126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2826" y="3586167"/>
            <a:ext cx="5117299" cy="3156635"/>
          </a:xfrm>
          <a:prstGeom prst="rect">
            <a:avLst/>
          </a:prstGeom>
          <a:noFill/>
          <a:ln>
            <a:noFill/>
          </a:ln>
        </p:spPr>
      </p:pic>
      <p:sp>
        <p:nvSpPr>
          <p:cNvPr id="2127" name="Google Shape;2127;p102"/>
          <p:cNvSpPr txBox="1"/>
          <p:nvPr/>
        </p:nvSpPr>
        <p:spPr>
          <a:xfrm>
            <a:off x="453380" y="1582258"/>
            <a:ext cx="10336745" cy="18471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index </a:t>
            </a:r>
            <a:r>
              <a:rPr lang="es-ES" sz="1800" dirty="0" err="1">
                <a:latin typeface="Consolas"/>
                <a:ea typeface="Consolas"/>
                <a:cs typeface="Consolas"/>
                <a:sym typeface="Consolas"/>
              </a:rPr>
              <a:t>into</a:t>
            </a: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 PT: PTBR + VPN*size(PTE)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Fetch PTE </a:t>
            </a:r>
            <a:r>
              <a:rPr lang="es-ES" sz="1800" dirty="0" err="1"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 VPN;                </a:t>
            </a:r>
            <a:r>
              <a:rPr lang="es-ES" sz="1800" dirty="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// Traer la PTE</a:t>
            </a:r>
            <a:endParaRPr sz="1800" dirty="0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 err="1"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 (VALID == 0)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800" dirty="0" err="1">
                <a:latin typeface="Consolas"/>
                <a:ea typeface="Consolas"/>
                <a:cs typeface="Consolas"/>
                <a:sym typeface="Consolas"/>
              </a:rPr>
              <a:t>fault</a:t>
            </a: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PA = (PFN &lt;&lt; PAGESHIFT) | offset  </a:t>
            </a:r>
            <a:r>
              <a:rPr lang="es-ES" sz="1800" dirty="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// Realizar la traducción</a:t>
            </a:r>
            <a:endParaRPr sz="1800" dirty="0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Fetch PA → R1;                    </a:t>
            </a:r>
            <a:r>
              <a:rPr lang="es-ES" sz="1800" dirty="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// Cargar los datos desde la memoria física</a:t>
            </a:r>
            <a:endParaRPr sz="1800" dirty="0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2128" name="Google Shape;2128;p102"/>
          <p:cNvGraphicFramePr/>
          <p:nvPr>
            <p:extLst>
              <p:ext uri="{D42A27DB-BD31-4B8C-83A1-F6EECF244321}">
                <p14:modId xmlns:p14="http://schemas.microsoft.com/office/powerpoint/2010/main" val="2662141296"/>
              </p:ext>
            </p:extLst>
          </p:nvPr>
        </p:nvGraphicFramePr>
        <p:xfrm>
          <a:off x="1881338" y="3658077"/>
          <a:ext cx="2863650" cy="482875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47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2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29" name="Google Shape;2129;p102"/>
          <p:cNvGraphicFramePr/>
          <p:nvPr>
            <p:extLst>
              <p:ext uri="{D42A27DB-BD31-4B8C-83A1-F6EECF244321}">
                <p14:modId xmlns:p14="http://schemas.microsoft.com/office/powerpoint/2010/main" val="369790836"/>
              </p:ext>
            </p:extLst>
          </p:nvPr>
        </p:nvGraphicFramePr>
        <p:xfrm>
          <a:off x="1254488" y="4577810"/>
          <a:ext cx="1581400" cy="1158225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158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582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Address Translation</a:t>
                      </a:r>
                      <a:endParaRPr sz="18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30" name="Google Shape;2130;p102"/>
          <p:cNvGraphicFramePr/>
          <p:nvPr>
            <p:extLst>
              <p:ext uri="{D42A27DB-BD31-4B8C-83A1-F6EECF244321}">
                <p14:modId xmlns:p14="http://schemas.microsoft.com/office/powerpoint/2010/main" val="2975670396"/>
              </p:ext>
            </p:extLst>
          </p:nvPr>
        </p:nvGraphicFramePr>
        <p:xfrm>
          <a:off x="1254476" y="6172890"/>
          <a:ext cx="3490500" cy="47850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50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78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31" name="Google Shape;2131;p102"/>
          <p:cNvCxnSpPr/>
          <p:nvPr/>
        </p:nvCxnSpPr>
        <p:spPr>
          <a:xfrm flipH="1">
            <a:off x="4501763" y="4140952"/>
            <a:ext cx="7800" cy="20106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32" name="Google Shape;2132;p102"/>
          <p:cNvCxnSpPr/>
          <p:nvPr/>
        </p:nvCxnSpPr>
        <p:spPr>
          <a:xfrm>
            <a:off x="4037388" y="4140952"/>
            <a:ext cx="9300" cy="1987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33" name="Google Shape;2133;p102"/>
          <p:cNvCxnSpPr/>
          <p:nvPr/>
        </p:nvCxnSpPr>
        <p:spPr>
          <a:xfrm>
            <a:off x="2577188" y="5736027"/>
            <a:ext cx="11700" cy="443100"/>
          </a:xfrm>
          <a:prstGeom prst="straightConnector1">
            <a:avLst/>
          </a:prstGeom>
          <a:noFill/>
          <a:ln w="28575" cap="flat" cmpd="sng">
            <a:solidFill>
              <a:srgbClr val="70AD4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34" name="Google Shape;2134;p102"/>
          <p:cNvCxnSpPr/>
          <p:nvPr/>
        </p:nvCxnSpPr>
        <p:spPr>
          <a:xfrm>
            <a:off x="2641863" y="4163327"/>
            <a:ext cx="17100" cy="378600"/>
          </a:xfrm>
          <a:prstGeom prst="straightConnector1">
            <a:avLst/>
          </a:prstGeom>
          <a:noFill/>
          <a:ln w="28575" cap="flat" cmpd="sng">
            <a:solidFill>
              <a:srgbClr val="70AD4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35" name="Google Shape;2135;p102"/>
          <p:cNvCxnSpPr/>
          <p:nvPr/>
        </p:nvCxnSpPr>
        <p:spPr>
          <a:xfrm>
            <a:off x="2009488" y="5724277"/>
            <a:ext cx="11700" cy="443100"/>
          </a:xfrm>
          <a:prstGeom prst="straightConnector1">
            <a:avLst/>
          </a:prstGeom>
          <a:noFill/>
          <a:ln w="28575" cap="flat" cmpd="sng">
            <a:solidFill>
              <a:srgbClr val="70AD4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36" name="Google Shape;2136;p102"/>
          <p:cNvCxnSpPr/>
          <p:nvPr/>
        </p:nvCxnSpPr>
        <p:spPr>
          <a:xfrm>
            <a:off x="2175088" y="4163327"/>
            <a:ext cx="5700" cy="378600"/>
          </a:xfrm>
          <a:prstGeom prst="straightConnector1">
            <a:avLst/>
          </a:prstGeom>
          <a:noFill/>
          <a:ln w="28575" cap="flat" cmpd="sng">
            <a:solidFill>
              <a:srgbClr val="70AD4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37" name="Google Shape;2137;p102"/>
          <p:cNvCxnSpPr/>
          <p:nvPr/>
        </p:nvCxnSpPr>
        <p:spPr>
          <a:xfrm>
            <a:off x="1503313" y="5755802"/>
            <a:ext cx="11700" cy="443100"/>
          </a:xfrm>
          <a:prstGeom prst="straightConnector1">
            <a:avLst/>
          </a:prstGeom>
          <a:noFill/>
          <a:ln w="28575" cap="flat" cmpd="sng">
            <a:solidFill>
              <a:srgbClr val="70AD47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38" name="Google Shape;2138;p102"/>
          <p:cNvSpPr txBox="1"/>
          <p:nvPr/>
        </p:nvSpPr>
        <p:spPr>
          <a:xfrm>
            <a:off x="4824249" y="3637902"/>
            <a:ext cx="636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/>
          </a:p>
        </p:txBody>
      </p:sp>
      <p:sp>
        <p:nvSpPr>
          <p:cNvPr id="2139" name="Google Shape;2139;p102"/>
          <p:cNvSpPr txBox="1"/>
          <p:nvPr/>
        </p:nvSpPr>
        <p:spPr>
          <a:xfrm>
            <a:off x="4824236" y="6150552"/>
            <a:ext cx="636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</a:t>
            </a:r>
            <a:endParaRPr/>
          </a:p>
        </p:txBody>
      </p:sp>
      <p:cxnSp>
        <p:nvCxnSpPr>
          <p:cNvPr id="2140" name="Google Shape;2140;p102"/>
          <p:cNvCxnSpPr/>
          <p:nvPr/>
        </p:nvCxnSpPr>
        <p:spPr>
          <a:xfrm>
            <a:off x="3573013" y="4163327"/>
            <a:ext cx="9300" cy="1987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41" name="Google Shape;2141;p102"/>
          <p:cNvCxnSpPr/>
          <p:nvPr/>
        </p:nvCxnSpPr>
        <p:spPr>
          <a:xfrm>
            <a:off x="3108638" y="4163327"/>
            <a:ext cx="9300" cy="1987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6" name="Google Shape;2146;p103"/>
          <p:cNvSpPr txBox="1">
            <a:spLocks noGrp="1"/>
          </p:cNvSpPr>
          <p:nvPr>
            <p:ph type="title"/>
          </p:nvPr>
        </p:nvSpPr>
        <p:spPr>
          <a:xfrm>
            <a:off x="292535" y="125462"/>
            <a:ext cx="1056415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0" dirty="0">
                <a:latin typeface="+mj-lt"/>
              </a:rPr>
              <a:t>Traducción de direcciones usando paginación</a:t>
            </a:r>
            <a:endParaRPr b="0" dirty="0">
              <a:latin typeface="+mj-lt"/>
            </a:endParaRPr>
          </a:p>
        </p:txBody>
      </p:sp>
      <p:sp>
        <p:nvSpPr>
          <p:cNvPr id="2147" name="Google Shape;2147;p103"/>
          <p:cNvSpPr txBox="1">
            <a:spLocks noGrp="1"/>
          </p:cNvSpPr>
          <p:nvPr>
            <p:ph type="body" idx="1"/>
          </p:nvPr>
        </p:nvSpPr>
        <p:spPr>
          <a:xfrm>
            <a:off x="420914" y="1119700"/>
            <a:ext cx="11495536" cy="2531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  <a:ea typeface="Roboto" panose="02000000000000000000" pitchFamily="2" charset="0"/>
              </a:rPr>
              <a:t>Ejemplo tomado del libro</a:t>
            </a:r>
            <a:endParaRPr sz="2400" dirty="0">
              <a:solidFill>
                <a:schemeClr val="accent1"/>
              </a:solidFill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2148" name="Google Shape;2148;p103"/>
          <p:cNvSpPr txBox="1"/>
          <p:nvPr/>
        </p:nvSpPr>
        <p:spPr>
          <a:xfrm>
            <a:off x="5728450" y="1866914"/>
            <a:ext cx="5548318" cy="3647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Supongamos que se ejecuta la instrucción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movl 21, %eax</a:t>
            </a:r>
            <a:endParaRPr sz="2000" b="1" dirty="0">
              <a:solidFill>
                <a:schemeClr val="dk1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¿Cómo es que el hardware lleva a cabo la traducción de la VA (21) a la PA (117)?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AutoNum type="arabicPeriod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Traer la PTE solicitada de la PT asociada al proceso.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AutoNum type="arabicPeriod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Realizar la traducción.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AutoNum type="arabicPeriod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Cargar los datos desde memoria física.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aphicFrame>
        <p:nvGraphicFramePr>
          <p:cNvPr id="2149" name="Google Shape;2149;p103"/>
          <p:cNvGraphicFramePr/>
          <p:nvPr/>
        </p:nvGraphicFramePr>
        <p:xfrm>
          <a:off x="1716400" y="2491800"/>
          <a:ext cx="2863650" cy="482875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47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2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50" name="Google Shape;2150;p103"/>
          <p:cNvGraphicFramePr/>
          <p:nvPr/>
        </p:nvGraphicFramePr>
        <p:xfrm>
          <a:off x="1089550" y="3411532"/>
          <a:ext cx="1581400" cy="1158225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158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582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Address Translation</a:t>
                      </a:r>
                      <a:endParaRPr sz="18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51" name="Google Shape;2151;p103"/>
          <p:cNvGraphicFramePr/>
          <p:nvPr/>
        </p:nvGraphicFramePr>
        <p:xfrm>
          <a:off x="1089538" y="5006613"/>
          <a:ext cx="3490500" cy="47850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50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78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52" name="Google Shape;2152;p103"/>
          <p:cNvCxnSpPr/>
          <p:nvPr/>
        </p:nvCxnSpPr>
        <p:spPr>
          <a:xfrm flipH="1">
            <a:off x="4336825" y="2974675"/>
            <a:ext cx="7800" cy="20106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53" name="Google Shape;2153;p103"/>
          <p:cNvCxnSpPr/>
          <p:nvPr/>
        </p:nvCxnSpPr>
        <p:spPr>
          <a:xfrm>
            <a:off x="3872450" y="2974675"/>
            <a:ext cx="9300" cy="1987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54" name="Google Shape;2154;p103"/>
          <p:cNvCxnSpPr/>
          <p:nvPr/>
        </p:nvCxnSpPr>
        <p:spPr>
          <a:xfrm>
            <a:off x="2412250" y="4569750"/>
            <a:ext cx="11700" cy="443100"/>
          </a:xfrm>
          <a:prstGeom prst="straightConnector1">
            <a:avLst/>
          </a:prstGeom>
          <a:noFill/>
          <a:ln w="28575" cap="flat" cmpd="sng">
            <a:solidFill>
              <a:srgbClr val="70AD4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55" name="Google Shape;2155;p103"/>
          <p:cNvCxnSpPr/>
          <p:nvPr/>
        </p:nvCxnSpPr>
        <p:spPr>
          <a:xfrm flipH="1">
            <a:off x="2460700" y="2992725"/>
            <a:ext cx="8100" cy="377400"/>
          </a:xfrm>
          <a:prstGeom prst="straightConnector1">
            <a:avLst/>
          </a:prstGeom>
          <a:noFill/>
          <a:ln w="28575" cap="flat" cmpd="sng">
            <a:solidFill>
              <a:srgbClr val="70AD4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56" name="Google Shape;2156;p103"/>
          <p:cNvCxnSpPr/>
          <p:nvPr/>
        </p:nvCxnSpPr>
        <p:spPr>
          <a:xfrm>
            <a:off x="1873900" y="4575900"/>
            <a:ext cx="0" cy="408300"/>
          </a:xfrm>
          <a:prstGeom prst="straightConnector1">
            <a:avLst/>
          </a:prstGeom>
          <a:noFill/>
          <a:ln w="28575" cap="flat" cmpd="sng">
            <a:solidFill>
              <a:srgbClr val="70AD4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57" name="Google Shape;2157;p103"/>
          <p:cNvCxnSpPr/>
          <p:nvPr/>
        </p:nvCxnSpPr>
        <p:spPr>
          <a:xfrm>
            <a:off x="1980100" y="3003800"/>
            <a:ext cx="5700" cy="378600"/>
          </a:xfrm>
          <a:prstGeom prst="straightConnector1">
            <a:avLst/>
          </a:prstGeom>
          <a:noFill/>
          <a:ln w="28575" cap="flat" cmpd="sng">
            <a:solidFill>
              <a:srgbClr val="70AD47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58" name="Google Shape;2158;p103"/>
          <p:cNvCxnSpPr/>
          <p:nvPr/>
        </p:nvCxnSpPr>
        <p:spPr>
          <a:xfrm>
            <a:off x="1338375" y="4589525"/>
            <a:ext cx="11700" cy="443100"/>
          </a:xfrm>
          <a:prstGeom prst="straightConnector1">
            <a:avLst/>
          </a:prstGeom>
          <a:noFill/>
          <a:ln w="28575" cap="flat" cmpd="sng">
            <a:solidFill>
              <a:srgbClr val="70AD47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59" name="Google Shape;2159;p103"/>
          <p:cNvSpPr txBox="1"/>
          <p:nvPr/>
        </p:nvSpPr>
        <p:spPr>
          <a:xfrm>
            <a:off x="4659311" y="2471625"/>
            <a:ext cx="636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/>
          </a:p>
        </p:txBody>
      </p:sp>
      <p:sp>
        <p:nvSpPr>
          <p:cNvPr id="2160" name="Google Shape;2160;p103"/>
          <p:cNvSpPr txBox="1"/>
          <p:nvPr/>
        </p:nvSpPr>
        <p:spPr>
          <a:xfrm>
            <a:off x="4659298" y="4984275"/>
            <a:ext cx="636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</a:t>
            </a:r>
            <a:endParaRPr/>
          </a:p>
        </p:txBody>
      </p:sp>
      <p:cxnSp>
        <p:nvCxnSpPr>
          <p:cNvPr id="2161" name="Google Shape;2161;p103"/>
          <p:cNvCxnSpPr/>
          <p:nvPr/>
        </p:nvCxnSpPr>
        <p:spPr>
          <a:xfrm>
            <a:off x="3408075" y="2997050"/>
            <a:ext cx="9300" cy="1987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62" name="Google Shape;2162;p103"/>
          <p:cNvCxnSpPr/>
          <p:nvPr/>
        </p:nvCxnSpPr>
        <p:spPr>
          <a:xfrm>
            <a:off x="2943700" y="2997050"/>
            <a:ext cx="9300" cy="19872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7" name="Google Shape;2167;p104"/>
          <p:cNvSpPr txBox="1">
            <a:spLocks noGrp="1"/>
          </p:cNvSpPr>
          <p:nvPr>
            <p:ph type="title"/>
          </p:nvPr>
        </p:nvSpPr>
        <p:spPr>
          <a:xfrm>
            <a:off x="261257" y="96038"/>
            <a:ext cx="1143725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latin typeface="+mj-lt"/>
              </a:rPr>
              <a:t>Traducción de direcciones usando paginación</a:t>
            </a:r>
            <a:endParaRPr b="0" dirty="0">
              <a:latin typeface="+mj-lt"/>
            </a:endParaRPr>
          </a:p>
        </p:txBody>
      </p:sp>
      <p:sp>
        <p:nvSpPr>
          <p:cNvPr id="2168" name="Google Shape;2168;p104"/>
          <p:cNvSpPr txBox="1">
            <a:spLocks noGrp="1"/>
          </p:cNvSpPr>
          <p:nvPr>
            <p:ph type="body" idx="1"/>
          </p:nvPr>
        </p:nvSpPr>
        <p:spPr>
          <a:xfrm>
            <a:off x="261257" y="1061855"/>
            <a:ext cx="10999800" cy="645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  <a:ea typeface="Roboto" panose="02000000000000000000" pitchFamily="2" charset="0"/>
              </a:rPr>
              <a:t>Ejemplo tomado del libro (Análisis detallado)</a:t>
            </a:r>
            <a:endParaRPr sz="2400" b="1" dirty="0">
              <a:solidFill>
                <a:schemeClr val="accent1"/>
              </a:solidFill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  <a:ea typeface="Roboto" panose="02000000000000000000" pitchFamily="2" charset="0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  <a:ea typeface="Roboto" panose="02000000000000000000" pitchFamily="2" charset="0"/>
            </a:endParaRPr>
          </a:p>
        </p:txBody>
      </p:sp>
      <p:sp>
        <p:nvSpPr>
          <p:cNvPr id="2169" name="Google Shape;2169;p104"/>
          <p:cNvSpPr txBox="1"/>
          <p:nvPr/>
        </p:nvSpPr>
        <p:spPr>
          <a:xfrm>
            <a:off x="170850" y="1706217"/>
            <a:ext cx="10940400" cy="556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AutoNum type="arabicPeriod"/>
            </a:pP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Encontrar la localización del PTE deseado.</a:t>
            </a:r>
            <a:endParaRPr sz="2000" dirty="0">
              <a:solidFill>
                <a:schemeClr val="dk1"/>
              </a:solidFill>
              <a:ea typeface="Roboto" panose="02000000000000000000" pitchFamily="2" charset="0"/>
              <a:cs typeface="Roboto"/>
              <a:sym typeface="Roboto"/>
            </a:endParaRPr>
          </a:p>
        </p:txBody>
      </p:sp>
      <p:graphicFrame>
        <p:nvGraphicFramePr>
          <p:cNvPr id="2170" name="Google Shape;2170;p104"/>
          <p:cNvGraphicFramePr/>
          <p:nvPr>
            <p:extLst>
              <p:ext uri="{D42A27DB-BD31-4B8C-83A1-F6EECF244321}">
                <p14:modId xmlns:p14="http://schemas.microsoft.com/office/powerpoint/2010/main" val="258229698"/>
              </p:ext>
            </p:extLst>
          </p:nvPr>
        </p:nvGraphicFramePr>
        <p:xfrm>
          <a:off x="2345950" y="2359111"/>
          <a:ext cx="2863650" cy="482875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47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2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71" name="Google Shape;2171;p104"/>
          <p:cNvSpPr txBox="1"/>
          <p:nvPr/>
        </p:nvSpPr>
        <p:spPr>
          <a:xfrm>
            <a:off x="1627861" y="2338949"/>
            <a:ext cx="636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/>
          </a:p>
        </p:txBody>
      </p:sp>
      <p:sp>
        <p:nvSpPr>
          <p:cNvPr id="2172" name="Google Shape;2172;p104"/>
          <p:cNvSpPr/>
          <p:nvPr/>
        </p:nvSpPr>
        <p:spPr>
          <a:xfrm rot="5400000">
            <a:off x="4153775" y="2110586"/>
            <a:ext cx="233400" cy="18777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3" name="Google Shape;2173;p104"/>
          <p:cNvSpPr/>
          <p:nvPr/>
        </p:nvSpPr>
        <p:spPr>
          <a:xfrm rot="5400000">
            <a:off x="2690450" y="2572461"/>
            <a:ext cx="233400" cy="9555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4" name="Google Shape;2174;p104"/>
          <p:cNvSpPr/>
          <p:nvPr/>
        </p:nvSpPr>
        <p:spPr>
          <a:xfrm>
            <a:off x="3728075" y="3256886"/>
            <a:ext cx="1084800" cy="3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 sz="18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75" name="Google Shape;2175;p104"/>
          <p:cNvSpPr/>
          <p:nvPr/>
        </p:nvSpPr>
        <p:spPr>
          <a:xfrm>
            <a:off x="2264750" y="3258436"/>
            <a:ext cx="1084800" cy="3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endParaRPr sz="1800" b="1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176" name="Google Shape;2176;p104"/>
          <p:cNvCxnSpPr>
            <a:stCxn id="2174" idx="2"/>
          </p:cNvCxnSpPr>
          <p:nvPr/>
        </p:nvCxnSpPr>
        <p:spPr>
          <a:xfrm rot="-5400000" flipH="1">
            <a:off x="5173175" y="2680886"/>
            <a:ext cx="276600" cy="2082000"/>
          </a:xfrm>
          <a:prstGeom prst="bentConnector2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77" name="Google Shape;2177;p104"/>
          <p:cNvCxnSpPr>
            <a:stCxn id="2175" idx="2"/>
          </p:cNvCxnSpPr>
          <p:nvPr/>
        </p:nvCxnSpPr>
        <p:spPr>
          <a:xfrm rot="-5400000" flipH="1">
            <a:off x="4168100" y="2224186"/>
            <a:ext cx="823200" cy="3545100"/>
          </a:xfrm>
          <a:prstGeom prst="bentConnector2">
            <a:avLst/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78" name="Google Shape;2178;p104"/>
          <p:cNvSpPr/>
          <p:nvPr/>
        </p:nvSpPr>
        <p:spPr>
          <a:xfrm>
            <a:off x="6413875" y="3689186"/>
            <a:ext cx="1451100" cy="3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SHIFT = 4</a:t>
            </a:r>
            <a:endParaRPr sz="18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79" name="Google Shape;2179;p104"/>
          <p:cNvSpPr/>
          <p:nvPr/>
        </p:nvSpPr>
        <p:spPr>
          <a:xfrm>
            <a:off x="6413875" y="4238136"/>
            <a:ext cx="2664600" cy="3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VPN &amp; MASK = 110000 </a:t>
            </a:r>
            <a:endParaRPr sz="1800" b="1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80" name="Google Shape;2180;p104"/>
          <p:cNvSpPr txBox="1"/>
          <p:nvPr/>
        </p:nvSpPr>
        <p:spPr>
          <a:xfrm>
            <a:off x="865050" y="5151783"/>
            <a:ext cx="10461900" cy="7389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nsolas"/>
                <a:ea typeface="Consolas"/>
                <a:cs typeface="Consolas"/>
                <a:sym typeface="Consolas"/>
              </a:rPr>
              <a:t>VPN = (VirtualAddress &amp; VPN_MASK) &gt;&gt; SHIFT              </a:t>
            </a:r>
            <a:r>
              <a:rPr lang="es-E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// VPN = 01 </a:t>
            </a:r>
            <a:r>
              <a:rPr lang="es-ES" sz="1800"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nsolas"/>
                <a:ea typeface="Consolas"/>
                <a:cs typeface="Consolas"/>
                <a:sym typeface="Consolas"/>
              </a:rPr>
              <a:t>PTEAddr = PageTableBaseRegister + (VPN * sizeof(PTE))   </a:t>
            </a:r>
            <a:r>
              <a:rPr lang="es-E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// PTEAddr = &amp;PT[1]</a:t>
            </a:r>
            <a:endParaRPr sz="1800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5" name="Google Shape;2185;p105"/>
          <p:cNvSpPr txBox="1">
            <a:spLocks noGrp="1"/>
          </p:cNvSpPr>
          <p:nvPr>
            <p:ph type="title"/>
          </p:nvPr>
        </p:nvSpPr>
        <p:spPr>
          <a:xfrm>
            <a:off x="309401" y="96050"/>
            <a:ext cx="1140844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latin typeface="+mj-lt"/>
              </a:rPr>
              <a:t>Traducción de direcciones usando paginación</a:t>
            </a:r>
            <a:endParaRPr b="0" dirty="0">
              <a:latin typeface="+mj-lt"/>
            </a:endParaRPr>
          </a:p>
        </p:txBody>
      </p:sp>
      <p:sp>
        <p:nvSpPr>
          <p:cNvPr id="2186" name="Google Shape;2186;p105"/>
          <p:cNvSpPr txBox="1">
            <a:spLocks noGrp="1"/>
          </p:cNvSpPr>
          <p:nvPr>
            <p:ph type="body" idx="1"/>
          </p:nvPr>
        </p:nvSpPr>
        <p:spPr>
          <a:xfrm>
            <a:off x="474150" y="1003031"/>
            <a:ext cx="10999800" cy="645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  <a:ea typeface="Roboto" panose="02000000000000000000" pitchFamily="2" charset="0"/>
              </a:rPr>
              <a:t>Ejemplo tomado del libro (Análisis detallado)</a:t>
            </a:r>
            <a:endParaRPr sz="2400" b="1" dirty="0">
              <a:solidFill>
                <a:schemeClr val="accent1"/>
              </a:solidFill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  <a:ea typeface="Roboto" panose="02000000000000000000" pitchFamily="2" charset="0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  <a:ea typeface="Roboto" panose="02000000000000000000" pitchFamily="2" charset="0"/>
            </a:endParaRPr>
          </a:p>
        </p:txBody>
      </p:sp>
      <p:sp>
        <p:nvSpPr>
          <p:cNvPr id="2187" name="Google Shape;2187;p105"/>
          <p:cNvSpPr txBox="1"/>
          <p:nvPr/>
        </p:nvSpPr>
        <p:spPr>
          <a:xfrm>
            <a:off x="309401" y="1719445"/>
            <a:ext cx="10940400" cy="556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AutoNum type="arabicPeriod" startAt="2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Realizar la traducción.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aphicFrame>
        <p:nvGraphicFramePr>
          <p:cNvPr id="2188" name="Google Shape;2188;p105"/>
          <p:cNvGraphicFramePr/>
          <p:nvPr>
            <p:extLst>
              <p:ext uri="{D42A27DB-BD31-4B8C-83A1-F6EECF244321}">
                <p14:modId xmlns:p14="http://schemas.microsoft.com/office/powerpoint/2010/main" val="130338024"/>
              </p:ext>
            </p:extLst>
          </p:nvPr>
        </p:nvGraphicFramePr>
        <p:xfrm>
          <a:off x="1852464" y="2555312"/>
          <a:ext cx="2863650" cy="482875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477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7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2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89" name="Google Shape;2189;p105"/>
          <p:cNvSpPr txBox="1"/>
          <p:nvPr/>
        </p:nvSpPr>
        <p:spPr>
          <a:xfrm>
            <a:off x="1134375" y="2535150"/>
            <a:ext cx="636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/>
          </a:p>
        </p:txBody>
      </p:sp>
      <p:sp>
        <p:nvSpPr>
          <p:cNvPr id="2190" name="Google Shape;2190;p105"/>
          <p:cNvSpPr/>
          <p:nvPr/>
        </p:nvSpPr>
        <p:spPr>
          <a:xfrm rot="5400000">
            <a:off x="3660289" y="2306787"/>
            <a:ext cx="233400" cy="18777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1" name="Google Shape;2191;p105"/>
          <p:cNvSpPr/>
          <p:nvPr/>
        </p:nvSpPr>
        <p:spPr>
          <a:xfrm rot="5400000">
            <a:off x="2196964" y="2768662"/>
            <a:ext cx="233400" cy="9555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2" name="Google Shape;2192;p105"/>
          <p:cNvSpPr/>
          <p:nvPr/>
        </p:nvSpPr>
        <p:spPr>
          <a:xfrm>
            <a:off x="3234589" y="3453087"/>
            <a:ext cx="1084800" cy="3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 sz="18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93" name="Google Shape;2193;p105"/>
          <p:cNvSpPr/>
          <p:nvPr/>
        </p:nvSpPr>
        <p:spPr>
          <a:xfrm>
            <a:off x="1771264" y="3454637"/>
            <a:ext cx="1084800" cy="3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VPN</a:t>
            </a:r>
            <a:endParaRPr sz="1800" b="1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194" name="Google Shape;2194;p105"/>
          <p:cNvCxnSpPr>
            <a:stCxn id="2192" idx="2"/>
          </p:cNvCxnSpPr>
          <p:nvPr/>
        </p:nvCxnSpPr>
        <p:spPr>
          <a:xfrm rot="-5400000" flipH="1">
            <a:off x="4679689" y="2877087"/>
            <a:ext cx="276600" cy="2082000"/>
          </a:xfrm>
          <a:prstGeom prst="bentConnector2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95" name="Google Shape;2195;p105"/>
          <p:cNvSpPr/>
          <p:nvPr/>
        </p:nvSpPr>
        <p:spPr>
          <a:xfrm>
            <a:off x="5920389" y="3885387"/>
            <a:ext cx="29709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OFFSET_MASK= 001111</a:t>
            </a:r>
            <a:endParaRPr sz="18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96" name="Google Shape;2196;p105"/>
          <p:cNvSpPr txBox="1"/>
          <p:nvPr/>
        </p:nvSpPr>
        <p:spPr>
          <a:xfrm>
            <a:off x="916650" y="4946850"/>
            <a:ext cx="10801200" cy="7389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800">
                <a:latin typeface="Consolas"/>
                <a:ea typeface="Consolas"/>
                <a:cs typeface="Consolas"/>
                <a:sym typeface="Consolas"/>
              </a:rPr>
              <a:t>offset = VirtualAddress &amp; OFFSET_MASK   </a:t>
            </a:r>
            <a:r>
              <a:rPr lang="es-E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// offset = 010001 &amp; 001111 = 000101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nsolas"/>
                <a:ea typeface="Consolas"/>
                <a:cs typeface="Consolas"/>
                <a:sym typeface="Consolas"/>
              </a:rPr>
              <a:t>PhysAddr = (PFN &lt;&lt; SHIFT) | offset      </a:t>
            </a:r>
            <a:r>
              <a:rPr lang="es-E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// PhysAddr = (111 &lt;&lt; 4) | 000101 = 1110101</a:t>
            </a:r>
            <a:endParaRPr sz="1800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" name="Google Shape;2201;p106"/>
          <p:cNvSpPr txBox="1">
            <a:spLocks noGrp="1"/>
          </p:cNvSpPr>
          <p:nvPr>
            <p:ph type="title"/>
          </p:nvPr>
        </p:nvSpPr>
        <p:spPr>
          <a:xfrm>
            <a:off x="493486" y="96038"/>
            <a:ext cx="10595428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latin typeface="+mj-lt"/>
              </a:rPr>
              <a:t>Traducción de direcciones usando paginación</a:t>
            </a:r>
            <a:endParaRPr b="0" dirty="0">
              <a:latin typeface="+mj-lt"/>
            </a:endParaRPr>
          </a:p>
        </p:txBody>
      </p:sp>
      <p:sp>
        <p:nvSpPr>
          <p:cNvPr id="2202" name="Google Shape;2202;p106"/>
          <p:cNvSpPr txBox="1">
            <a:spLocks noGrp="1"/>
          </p:cNvSpPr>
          <p:nvPr>
            <p:ph type="body" idx="1"/>
          </p:nvPr>
        </p:nvSpPr>
        <p:spPr>
          <a:xfrm>
            <a:off x="653885" y="1003213"/>
            <a:ext cx="10999800" cy="645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</a:rPr>
              <a:t>Ejemplo tomado del libro (Análisis detallado)</a:t>
            </a:r>
            <a:endParaRPr sz="2400" b="1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</p:txBody>
      </p:sp>
      <p:sp>
        <p:nvSpPr>
          <p:cNvPr id="2203" name="Google Shape;2203;p106"/>
          <p:cNvSpPr txBox="1"/>
          <p:nvPr/>
        </p:nvSpPr>
        <p:spPr>
          <a:xfrm>
            <a:off x="636800" y="1741725"/>
            <a:ext cx="5482500" cy="556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AutoNum type="arabicPeriod" startAt="3"/>
            </a:pP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Cargar los datos desde la memoria física</a:t>
            </a:r>
            <a:endParaRPr sz="2000" dirty="0">
              <a:solidFill>
                <a:schemeClr val="dk1"/>
              </a:solidFill>
              <a:ea typeface="Roboto" panose="02000000000000000000" pitchFamily="2" charset="0"/>
              <a:cs typeface="Roboto"/>
              <a:sym typeface="Roboto"/>
            </a:endParaRPr>
          </a:p>
        </p:txBody>
      </p:sp>
      <p:sp>
        <p:nvSpPr>
          <p:cNvPr id="2204" name="Google Shape;2204;p106"/>
          <p:cNvSpPr txBox="1"/>
          <p:nvPr/>
        </p:nvSpPr>
        <p:spPr>
          <a:xfrm>
            <a:off x="975750" y="2675135"/>
            <a:ext cx="4572000" cy="4617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Register = </a:t>
            </a:r>
            <a:r>
              <a:rPr lang="es-ES" sz="1800" dirty="0" err="1">
                <a:latin typeface="Consolas"/>
                <a:ea typeface="Consolas"/>
                <a:cs typeface="Consolas"/>
                <a:sym typeface="Consolas"/>
              </a:rPr>
              <a:t>AccessMemory</a:t>
            </a: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800" dirty="0" err="1">
                <a:latin typeface="Consolas"/>
                <a:ea typeface="Consolas"/>
                <a:cs typeface="Consolas"/>
                <a:sym typeface="Consolas"/>
              </a:rPr>
              <a:t>PhysAddr</a:t>
            </a: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) </a:t>
            </a:r>
            <a:endParaRPr sz="1800" dirty="0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2205" name="Google Shape;2205;p106"/>
          <p:cNvGraphicFramePr/>
          <p:nvPr/>
        </p:nvGraphicFramePr>
        <p:xfrm>
          <a:off x="7990813" y="2401713"/>
          <a:ext cx="2227675" cy="347224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22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7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Operating system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VP3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D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VP2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(Unused)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2206" name="Google Shape;2206;p106"/>
          <p:cNvGrpSpPr/>
          <p:nvPr/>
        </p:nvGrpSpPr>
        <p:grpSpPr>
          <a:xfrm>
            <a:off x="6943976" y="2408487"/>
            <a:ext cx="1047237" cy="3389724"/>
            <a:chOff x="6720550" y="2261913"/>
            <a:chExt cx="858672" cy="3389724"/>
          </a:xfrm>
        </p:grpSpPr>
        <p:sp>
          <p:nvSpPr>
            <p:cNvPr id="2207" name="Google Shape;2207;p106"/>
            <p:cNvSpPr txBox="1"/>
            <p:nvPr/>
          </p:nvSpPr>
          <p:spPr>
            <a:xfrm>
              <a:off x="6750622" y="2261913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 (000)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2208" name="Google Shape;2208;p106"/>
            <p:cNvSpPr txBox="1"/>
            <p:nvPr/>
          </p:nvSpPr>
          <p:spPr>
            <a:xfrm>
              <a:off x="6750622" y="2689802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(001)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2209" name="Google Shape;2209;p106"/>
            <p:cNvSpPr txBox="1"/>
            <p:nvPr/>
          </p:nvSpPr>
          <p:spPr>
            <a:xfrm>
              <a:off x="6750622" y="3141841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2210" name="Google Shape;2210;p106"/>
            <p:cNvSpPr txBox="1"/>
            <p:nvPr/>
          </p:nvSpPr>
          <p:spPr>
            <a:xfrm>
              <a:off x="6730556" y="3566955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(011)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2211" name="Google Shape;2211;p106"/>
            <p:cNvSpPr txBox="1"/>
            <p:nvPr/>
          </p:nvSpPr>
          <p:spPr>
            <a:xfrm>
              <a:off x="6730567" y="3974969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2212" name="Google Shape;2212;p106"/>
            <p:cNvSpPr txBox="1"/>
            <p:nvPr/>
          </p:nvSpPr>
          <p:spPr>
            <a:xfrm>
              <a:off x="6730556" y="4403670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(101)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200" b="1">
                <a:solidFill>
                  <a:srgbClr val="E46C0A"/>
                </a:solidFill>
              </a:endParaRPr>
            </a:p>
          </p:txBody>
        </p:sp>
        <p:sp>
          <p:nvSpPr>
            <p:cNvPr id="2213" name="Google Shape;2213;p106"/>
            <p:cNvSpPr txBox="1"/>
            <p:nvPr/>
          </p:nvSpPr>
          <p:spPr>
            <a:xfrm>
              <a:off x="6750622" y="4837022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(110)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 sz="1200" b="1">
                <a:solidFill>
                  <a:schemeClr val="accent2"/>
                </a:solidFill>
              </a:endParaRPr>
            </a:p>
          </p:txBody>
        </p:sp>
        <p:sp>
          <p:nvSpPr>
            <p:cNvPr id="2214" name="Google Shape;2214;p106"/>
            <p:cNvSpPr txBox="1"/>
            <p:nvPr/>
          </p:nvSpPr>
          <p:spPr>
            <a:xfrm>
              <a:off x="6720550" y="5282336"/>
              <a:ext cx="828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(111)</a:t>
              </a: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200" b="1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 sz="1200" b="1">
                <a:solidFill>
                  <a:schemeClr val="accent2"/>
                </a:solidFill>
              </a:endParaRPr>
            </a:p>
          </p:txBody>
        </p:sp>
      </p:grpSp>
      <p:sp>
        <p:nvSpPr>
          <p:cNvPr id="2215" name="Google Shape;2215;p106"/>
          <p:cNvSpPr txBox="1"/>
          <p:nvPr/>
        </p:nvSpPr>
        <p:spPr>
          <a:xfrm>
            <a:off x="7885900" y="5888825"/>
            <a:ext cx="24375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Physical Address</a:t>
            </a:r>
            <a:endParaRPr b="1" dirty="0"/>
          </a:p>
        </p:txBody>
      </p:sp>
      <p:sp>
        <p:nvSpPr>
          <p:cNvPr id="2216" name="Google Shape;2216;p106"/>
          <p:cNvSpPr txBox="1"/>
          <p:nvPr/>
        </p:nvSpPr>
        <p:spPr>
          <a:xfrm>
            <a:off x="7419688" y="1955750"/>
            <a:ext cx="636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PFN</a:t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2217" name="Google Shape;2217;p106"/>
          <p:cNvSpPr/>
          <p:nvPr/>
        </p:nvSpPr>
        <p:spPr>
          <a:xfrm>
            <a:off x="7997663" y="5798213"/>
            <a:ext cx="2214000" cy="33000"/>
          </a:xfrm>
          <a:prstGeom prst="rect">
            <a:avLst/>
          </a:prstGeom>
          <a:solidFill>
            <a:srgbClr val="E46C0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2218" name="Google Shape;2218;p106"/>
          <p:cNvSpPr/>
          <p:nvPr/>
        </p:nvSpPr>
        <p:spPr>
          <a:xfrm>
            <a:off x="10323400" y="5671625"/>
            <a:ext cx="17610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PA = 117 = [</a:t>
            </a:r>
            <a:r>
              <a:rPr lang="es-ES" sz="100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111</a:t>
            </a:r>
            <a:r>
              <a:rPr lang="es-ES" sz="10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0101</a:t>
            </a:r>
            <a:r>
              <a:rPr lang="es-ES" sz="100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00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219" name="Google Shape;2219;p106"/>
          <p:cNvGrpSpPr/>
          <p:nvPr/>
        </p:nvGrpSpPr>
        <p:grpSpPr>
          <a:xfrm>
            <a:off x="3845000" y="3997500"/>
            <a:ext cx="1854600" cy="1278300"/>
            <a:chOff x="3553425" y="4230775"/>
            <a:chExt cx="1854600" cy="1278300"/>
          </a:xfrm>
        </p:grpSpPr>
        <p:sp>
          <p:nvSpPr>
            <p:cNvPr id="2220" name="Google Shape;2220;p106"/>
            <p:cNvSpPr/>
            <p:nvPr/>
          </p:nvSpPr>
          <p:spPr>
            <a:xfrm>
              <a:off x="3553425" y="4230775"/>
              <a:ext cx="1854600" cy="12783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 b="1">
                  <a:latin typeface="Consolas"/>
                  <a:ea typeface="Consolas"/>
                  <a:cs typeface="Consolas"/>
                  <a:sym typeface="Consolas"/>
                </a:rPr>
                <a:t>CPU</a:t>
              </a:r>
              <a:endParaRPr sz="22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221" name="Google Shape;2221;p106"/>
            <p:cNvSpPr/>
            <p:nvPr/>
          </p:nvSpPr>
          <p:spPr>
            <a:xfrm>
              <a:off x="4801375" y="4991675"/>
              <a:ext cx="454800" cy="3384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106"/>
            <p:cNvSpPr txBox="1"/>
            <p:nvPr/>
          </p:nvSpPr>
          <p:spPr>
            <a:xfrm>
              <a:off x="3693375" y="4960775"/>
              <a:ext cx="1047300" cy="4000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latin typeface="Consolas"/>
                  <a:ea typeface="Consolas"/>
                  <a:cs typeface="Consolas"/>
                  <a:sym typeface="Consolas"/>
                </a:rPr>
                <a:t>Register</a:t>
              </a:r>
              <a:endParaRPr sz="14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cxnSp>
        <p:nvCxnSpPr>
          <p:cNvPr id="2223" name="Google Shape;2223;p106"/>
          <p:cNvCxnSpPr/>
          <p:nvPr/>
        </p:nvCxnSpPr>
        <p:spPr>
          <a:xfrm rot="10800000">
            <a:off x="5407763" y="4937513"/>
            <a:ext cx="2589900" cy="8772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24" name="Google Shape;2224;p106"/>
          <p:cNvSpPr txBox="1"/>
          <p:nvPr/>
        </p:nvSpPr>
        <p:spPr>
          <a:xfrm>
            <a:off x="5832400" y="4565125"/>
            <a:ext cx="695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data</a:t>
            </a:r>
            <a:endParaRPr sz="100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9" name="Google Shape;2229;p107"/>
          <p:cNvSpPr txBox="1">
            <a:spLocks noGrp="1"/>
          </p:cNvSpPr>
          <p:nvPr>
            <p:ph type="title"/>
          </p:nvPr>
        </p:nvSpPr>
        <p:spPr>
          <a:xfrm>
            <a:off x="348343" y="96038"/>
            <a:ext cx="1156810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latin typeface="+mj-lt"/>
              </a:rPr>
              <a:t>Traducción de direcciones usando paginación</a:t>
            </a:r>
            <a:endParaRPr b="0" dirty="0">
              <a:latin typeface="+mj-lt"/>
            </a:endParaRPr>
          </a:p>
        </p:txBody>
      </p:sp>
      <p:sp>
        <p:nvSpPr>
          <p:cNvPr id="2230" name="Google Shape;2230;p107"/>
          <p:cNvSpPr txBox="1">
            <a:spLocks noGrp="1"/>
          </p:cNvSpPr>
          <p:nvPr>
            <p:ph type="body" idx="1"/>
          </p:nvPr>
        </p:nvSpPr>
        <p:spPr>
          <a:xfrm>
            <a:off x="433600" y="885893"/>
            <a:ext cx="10999800" cy="645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latin typeface="+mn-lt"/>
                <a:ea typeface="Roboto" panose="02000000000000000000" pitchFamily="2" charset="0"/>
              </a:rPr>
              <a:t>Resumen protocolo completo</a:t>
            </a:r>
            <a:endParaRPr sz="2400" dirty="0">
              <a:solidFill>
                <a:schemeClr val="accent1"/>
              </a:solidFill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  <a:ea typeface="Roboto" panose="02000000000000000000" pitchFamily="2" charset="0"/>
            </a:endParaRPr>
          </a:p>
        </p:txBody>
      </p:sp>
      <p:grpSp>
        <p:nvGrpSpPr>
          <p:cNvPr id="2231" name="Google Shape;2231;p107"/>
          <p:cNvGrpSpPr/>
          <p:nvPr/>
        </p:nvGrpSpPr>
        <p:grpSpPr>
          <a:xfrm>
            <a:off x="1789411" y="1676336"/>
            <a:ext cx="7626675" cy="4863900"/>
            <a:chOff x="1675625" y="1690850"/>
            <a:chExt cx="7626675" cy="4863900"/>
          </a:xfrm>
        </p:grpSpPr>
        <p:sp>
          <p:nvSpPr>
            <p:cNvPr id="2232" name="Google Shape;2232;p107"/>
            <p:cNvSpPr txBox="1"/>
            <p:nvPr/>
          </p:nvSpPr>
          <p:spPr>
            <a:xfrm>
              <a:off x="2308100" y="1690850"/>
              <a:ext cx="6994200" cy="48639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// </a:t>
              </a:r>
              <a:r>
                <a:rPr lang="es-ES" sz="1600" dirty="0" err="1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Extract</a:t>
              </a:r>
              <a:r>
                <a:rPr lang="es-ES" sz="16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 the VPN </a:t>
              </a:r>
              <a:r>
                <a:rPr lang="es-ES" sz="1600" dirty="0" err="1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from</a:t>
              </a:r>
              <a:r>
                <a:rPr lang="es-ES" sz="16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 the virtual address </a:t>
              </a:r>
              <a:endParaRPr sz="1600" dirty="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VPN = 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VirtualAddress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&amp; VPN_MASK) &gt;&gt; SHIFT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// </a:t>
              </a:r>
              <a:r>
                <a:rPr lang="es-ES" sz="1600" dirty="0" err="1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Form</a:t>
              </a:r>
              <a:r>
                <a:rPr lang="es-ES" sz="16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 the address </a:t>
              </a:r>
              <a:r>
                <a:rPr lang="es-ES" sz="1600" dirty="0" err="1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of</a:t>
              </a:r>
              <a:r>
                <a:rPr lang="es-ES" sz="16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 the page-table </a:t>
              </a:r>
              <a:r>
                <a:rPr lang="es-ES" sz="1600" dirty="0" err="1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entry</a:t>
              </a:r>
              <a:r>
                <a:rPr lang="es-ES" sz="16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 (PTE)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PTEAddr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= PTBR + (VPN *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sizeof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(PTE))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// Fetch the PTE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PTE =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AccessMemory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PTEAddr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)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// </a:t>
              </a:r>
              <a:r>
                <a:rPr lang="es-ES" sz="1600" dirty="0" err="1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Check</a:t>
              </a:r>
              <a:r>
                <a:rPr lang="es-ES" sz="16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s-ES" sz="16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process</a:t>
              </a:r>
              <a:r>
                <a:rPr lang="es-ES" sz="16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 can </a:t>
              </a:r>
              <a:r>
                <a:rPr lang="es-ES" sz="1600" dirty="0" err="1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access</a:t>
              </a:r>
              <a:r>
                <a:rPr lang="es-ES" sz="16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 the page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PTE.Valid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== False)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RaiseException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(SEGMENTATION_FAULT)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else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CanAccess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PTE.ProtectBits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) == False)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	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RaiseException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(PROTECTION_FAULT)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else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	</a:t>
              </a:r>
              <a:r>
                <a:rPr lang="es-ES" sz="16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// Access </a:t>
              </a:r>
              <a:r>
                <a:rPr lang="es-ES" sz="1600" dirty="0" err="1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is</a:t>
              </a:r>
              <a:r>
                <a:rPr lang="es-ES" sz="16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 OK: </a:t>
              </a:r>
              <a:r>
                <a:rPr lang="es-ES" sz="1600" dirty="0" err="1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form</a:t>
              </a:r>
              <a:r>
                <a:rPr lang="es-ES" sz="16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600" dirty="0" err="1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physical</a:t>
              </a:r>
              <a:r>
                <a:rPr lang="es-ES" sz="16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 address and fetch </a:t>
              </a:r>
              <a:r>
                <a:rPr lang="es-ES" sz="1600" dirty="0" err="1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it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	offset =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VirtualAddress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&amp; OFFSET_MASK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	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PhysAddr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= (PTE.PFN &lt;&lt; PFN_SHIFT) | offset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	Register = 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AccessMemory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PhysAddr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)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233" name="Google Shape;2233;p107"/>
            <p:cNvSpPr txBox="1"/>
            <p:nvPr/>
          </p:nvSpPr>
          <p:spPr>
            <a:xfrm>
              <a:off x="1675625" y="1690850"/>
              <a:ext cx="560100" cy="486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9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11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12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13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14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16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17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19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4" name="Google Shape;2244;p109"/>
          <p:cNvSpPr txBox="1">
            <a:spLocks noGrp="1"/>
          </p:cNvSpPr>
          <p:nvPr>
            <p:ph type="title"/>
          </p:nvPr>
        </p:nvSpPr>
        <p:spPr>
          <a:xfrm>
            <a:off x="290286" y="96038"/>
            <a:ext cx="8930364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b="0" dirty="0">
                <a:latin typeface="+mj-lt"/>
              </a:rPr>
              <a:t>Posibles problemas</a:t>
            </a:r>
            <a:endParaRPr sz="3200" b="0" dirty="0">
              <a:solidFill>
                <a:srgbClr val="701E5C"/>
              </a:solidFill>
              <a:latin typeface="+mj-lt"/>
              <a:sym typeface="Roboto Slab"/>
            </a:endParaRPr>
          </a:p>
        </p:txBody>
      </p:sp>
      <p:sp>
        <p:nvSpPr>
          <p:cNvPr id="2245" name="Google Shape;2245;p109"/>
          <p:cNvSpPr txBox="1"/>
          <p:nvPr/>
        </p:nvSpPr>
        <p:spPr>
          <a:xfrm>
            <a:off x="221650" y="6392660"/>
            <a:ext cx="56994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ea typeface="Roboto" panose="02000000000000000000" pitchFamily="2" charset="0"/>
                <a:cs typeface="Roboto"/>
                <a:sym typeface="Roboto"/>
              </a:rPr>
              <a:t>x86 </a:t>
            </a:r>
            <a:r>
              <a:rPr lang="es-ES" sz="1200" b="1" dirty="0" err="1">
                <a:ea typeface="Roboto" panose="02000000000000000000" pitchFamily="2" charset="0"/>
                <a:cs typeface="Roboto"/>
                <a:sym typeface="Roboto"/>
              </a:rPr>
              <a:t>cheatsheet</a:t>
            </a:r>
            <a:r>
              <a:rPr lang="es-ES" sz="1200" dirty="0">
                <a:ea typeface="Roboto" panose="02000000000000000000" pitchFamily="2" charset="0"/>
                <a:cs typeface="Roboto"/>
                <a:sym typeface="Roboto"/>
              </a:rPr>
              <a:t>: </a:t>
            </a:r>
            <a:r>
              <a:rPr lang="es-ES" sz="1200" u="sng" dirty="0">
                <a:solidFill>
                  <a:schemeClr val="hlink"/>
                </a:solidFill>
                <a:ea typeface="Roboto" panose="02000000000000000000" pitchFamily="2" charset="0"/>
                <a:cs typeface="Roboto"/>
                <a:sym typeface="Roboto"/>
                <a:hlinkClick r:id="rId3"/>
              </a:rPr>
              <a:t>https://web.stanford.edu/class/cs107/resources/x86-64-reference.pdf</a:t>
            </a:r>
            <a:r>
              <a:rPr lang="es-ES" sz="1200" dirty="0">
                <a:ea typeface="Roboto" panose="02000000000000000000" pitchFamily="2" charset="0"/>
                <a:cs typeface="Roboto"/>
                <a:sym typeface="Roboto"/>
              </a:rPr>
              <a:t> </a:t>
            </a:r>
            <a:endParaRPr sz="1200" dirty="0">
              <a:ea typeface="Roboto" panose="02000000000000000000" pitchFamily="2" charset="0"/>
              <a:cs typeface="Roboto"/>
              <a:sym typeface="Roboto"/>
            </a:endParaRPr>
          </a:p>
        </p:txBody>
      </p:sp>
      <p:sp>
        <p:nvSpPr>
          <p:cNvPr id="2246" name="Google Shape;2246;p109"/>
          <p:cNvSpPr txBox="1"/>
          <p:nvPr/>
        </p:nvSpPr>
        <p:spPr>
          <a:xfrm>
            <a:off x="479650" y="845023"/>
            <a:ext cx="108828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>
                <a:solidFill>
                  <a:schemeClr val="accent2"/>
                </a:solidFill>
                <a:ea typeface="Roboto" panose="02000000000000000000" pitchFamily="2" charset="0"/>
                <a:cs typeface="Roboto"/>
                <a:sym typeface="Roboto"/>
              </a:rPr>
              <a:t>Acceso simple a memoria</a:t>
            </a:r>
            <a:endParaRPr sz="2000">
              <a:ea typeface="Roboto" panose="02000000000000000000" pitchFamily="2" charset="0"/>
              <a:cs typeface="Roboto"/>
              <a:sym typeface="Roboto"/>
            </a:endParaRPr>
          </a:p>
        </p:txBody>
      </p:sp>
      <p:sp>
        <p:nvSpPr>
          <p:cNvPr id="2247" name="Google Shape;2247;p109"/>
          <p:cNvSpPr txBox="1"/>
          <p:nvPr/>
        </p:nvSpPr>
        <p:spPr>
          <a:xfrm>
            <a:off x="916650" y="1934750"/>
            <a:ext cx="4701000" cy="1169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int array[1000];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...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for (i = 0; i &lt; 1000; i++)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  array[i] = 0;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48" name="Google Shape;2248;p109"/>
          <p:cNvSpPr txBox="1"/>
          <p:nvPr/>
        </p:nvSpPr>
        <p:spPr>
          <a:xfrm>
            <a:off x="5921050" y="1294125"/>
            <a:ext cx="4572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rgbClr val="0B6937"/>
                </a:solidFill>
                <a:ea typeface="Roboto" panose="02000000000000000000" pitchFamily="2" charset="0"/>
                <a:cs typeface="Roboto"/>
                <a:sym typeface="Roboto"/>
              </a:rPr>
              <a:t>Compilación y ejecución</a:t>
            </a:r>
            <a:endParaRPr sz="1200" b="1">
              <a:solidFill>
                <a:srgbClr val="0B6937"/>
              </a:solidFill>
              <a:ea typeface="Roboto" panose="02000000000000000000" pitchFamily="2" charset="0"/>
            </a:endParaRPr>
          </a:p>
        </p:txBody>
      </p:sp>
      <p:sp>
        <p:nvSpPr>
          <p:cNvPr id="2249" name="Google Shape;2249;p109"/>
          <p:cNvSpPr txBox="1"/>
          <p:nvPr/>
        </p:nvSpPr>
        <p:spPr>
          <a:xfrm>
            <a:off x="916650" y="3591138"/>
            <a:ext cx="612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0B6937"/>
                </a:solidFill>
                <a:ea typeface="Roboto" panose="02000000000000000000" pitchFamily="2" charset="0"/>
                <a:cs typeface="Roboto"/>
                <a:sym typeface="Roboto"/>
              </a:rPr>
              <a:t>Código ensamblador resultante</a:t>
            </a:r>
            <a:endParaRPr sz="1200" b="1" dirty="0">
              <a:solidFill>
                <a:srgbClr val="0B6937"/>
              </a:solidFill>
              <a:ea typeface="Roboto" panose="02000000000000000000" pitchFamily="2" charset="0"/>
            </a:endParaRPr>
          </a:p>
        </p:txBody>
      </p:sp>
      <p:sp>
        <p:nvSpPr>
          <p:cNvPr id="2250" name="Google Shape;2250;p109"/>
          <p:cNvSpPr txBox="1"/>
          <p:nvPr/>
        </p:nvSpPr>
        <p:spPr>
          <a:xfrm>
            <a:off x="6036825" y="1934750"/>
            <a:ext cx="4701000" cy="677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prompt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gcc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–o array 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array.c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–Wall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prompt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&gt;./array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51" name="Google Shape;2251;p109"/>
          <p:cNvSpPr txBox="1"/>
          <p:nvPr/>
        </p:nvSpPr>
        <p:spPr>
          <a:xfrm>
            <a:off x="986625" y="4156227"/>
            <a:ext cx="10100400" cy="1169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0x1024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movl $0x0,(%edi,%eax,4)    </a:t>
            </a:r>
            <a:r>
              <a:rPr lang="es-ES" sz="1600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# %</a:t>
            </a:r>
            <a:r>
              <a:rPr lang="es-ES" sz="1600" dirty="0" err="1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edi</a:t>
            </a:r>
            <a:r>
              <a:rPr lang="es-ES" sz="1600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 = &amp;array; %eax = i → array[i] = 0 </a:t>
            </a:r>
            <a:endParaRPr sz="1600" dirty="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0x1028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incl %eax                  </a:t>
            </a:r>
            <a:r>
              <a:rPr lang="es-ES" sz="1600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# %eax = %eax + i         → i = i + 1</a:t>
            </a:r>
            <a:endParaRPr sz="1600" dirty="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0x102c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cmpl $0x03e8,%eax          </a:t>
            </a:r>
            <a:r>
              <a:rPr lang="es-ES" sz="1600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# 0x03e8 = 1000           → i - 1000 &lt; 0 → </a:t>
            </a:r>
            <a:r>
              <a:rPr lang="es-ES" sz="1600" dirty="0" err="1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sf</a:t>
            </a:r>
            <a:r>
              <a:rPr lang="es-ES" sz="1600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 = 1</a:t>
            </a:r>
            <a:endParaRPr sz="1600" dirty="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0x1030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jne 0x1024                 </a:t>
            </a:r>
            <a:r>
              <a:rPr lang="es-ES" sz="1600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# Si no se llega a i = 1000 vaya al principio</a:t>
            </a:r>
            <a:endParaRPr sz="1600" dirty="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52" name="Google Shape;2252;p109"/>
          <p:cNvSpPr txBox="1"/>
          <p:nvPr/>
        </p:nvSpPr>
        <p:spPr>
          <a:xfrm>
            <a:off x="788350" y="1381988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rgbClr val="0B6937"/>
                </a:solidFill>
                <a:ea typeface="Roboto" panose="02000000000000000000" pitchFamily="2" charset="0"/>
                <a:cs typeface="Roboto"/>
                <a:sym typeface="Roboto"/>
              </a:rPr>
              <a:t>Código</a:t>
            </a:r>
            <a:endParaRPr b="1">
              <a:solidFill>
                <a:srgbClr val="0B6937"/>
              </a:solidFill>
              <a:ea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7" name="Google Shape;2257;p110"/>
          <p:cNvSpPr txBox="1">
            <a:spLocks noGrp="1"/>
          </p:cNvSpPr>
          <p:nvPr>
            <p:ph type="title"/>
          </p:nvPr>
        </p:nvSpPr>
        <p:spPr>
          <a:xfrm>
            <a:off x="392549" y="96038"/>
            <a:ext cx="11020775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b="0" dirty="0">
                <a:latin typeface="+mj-lt"/>
              </a:rPr>
              <a:t>Posibles problemas</a:t>
            </a:r>
            <a:endParaRPr sz="3200" b="0" dirty="0">
              <a:solidFill>
                <a:srgbClr val="701E5C"/>
              </a:solidFill>
              <a:latin typeface="+mj-lt"/>
              <a:ea typeface="Roboto Slab"/>
              <a:cs typeface="Roboto Slab"/>
              <a:sym typeface="Roboto Slab"/>
            </a:endParaRPr>
          </a:p>
        </p:txBody>
      </p:sp>
      <p:sp>
        <p:nvSpPr>
          <p:cNvPr id="2258" name="Google Shape;2258;p110"/>
          <p:cNvSpPr txBox="1"/>
          <p:nvPr/>
        </p:nvSpPr>
        <p:spPr>
          <a:xfrm>
            <a:off x="134549" y="6392660"/>
            <a:ext cx="56994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ea typeface="Roboto" panose="02000000000000000000" pitchFamily="2" charset="0"/>
                <a:cs typeface="Roboto"/>
                <a:sym typeface="Roboto"/>
              </a:rPr>
              <a:t>x86 cheatsheet</a:t>
            </a:r>
            <a:r>
              <a:rPr lang="es-ES" sz="1200">
                <a:ea typeface="Roboto" panose="02000000000000000000" pitchFamily="2" charset="0"/>
                <a:cs typeface="Roboto"/>
                <a:sym typeface="Roboto"/>
              </a:rPr>
              <a:t>: </a:t>
            </a:r>
            <a:r>
              <a:rPr lang="es-ES" sz="1200" u="sng">
                <a:solidFill>
                  <a:schemeClr val="hlink"/>
                </a:solidFill>
                <a:ea typeface="Roboto" panose="02000000000000000000" pitchFamily="2" charset="0"/>
                <a:cs typeface="Roboto"/>
                <a:sym typeface="Roboto"/>
                <a:hlinkClick r:id="rId3"/>
              </a:rPr>
              <a:t>https://web.stanford.edu/class/cs107/resources/x86-64-reference.pdf</a:t>
            </a:r>
            <a:r>
              <a:rPr lang="es-ES" sz="1200">
                <a:ea typeface="Roboto" panose="02000000000000000000" pitchFamily="2" charset="0"/>
                <a:cs typeface="Roboto"/>
                <a:sym typeface="Roboto"/>
              </a:rPr>
              <a:t> </a:t>
            </a:r>
            <a:endParaRPr sz="1200">
              <a:ea typeface="Roboto" panose="02000000000000000000" pitchFamily="2" charset="0"/>
              <a:cs typeface="Roboto"/>
              <a:sym typeface="Roboto"/>
            </a:endParaRPr>
          </a:p>
        </p:txBody>
      </p:sp>
      <p:sp>
        <p:nvSpPr>
          <p:cNvPr id="2259" name="Google Shape;2259;p110"/>
          <p:cNvSpPr txBox="1"/>
          <p:nvPr/>
        </p:nvSpPr>
        <p:spPr>
          <a:xfrm>
            <a:off x="392549" y="957667"/>
            <a:ext cx="108828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2"/>
                </a:solidFill>
                <a:ea typeface="Roboto" panose="02000000000000000000" pitchFamily="2" charset="0"/>
                <a:cs typeface="Roboto"/>
                <a:sym typeface="Roboto"/>
              </a:rPr>
              <a:t>Acceso simple a memoria</a:t>
            </a:r>
            <a:endParaRPr sz="2000" dirty="0">
              <a:ea typeface="Roboto" panose="02000000000000000000" pitchFamily="2" charset="0"/>
              <a:cs typeface="Roboto"/>
              <a:sym typeface="Roboto"/>
            </a:endParaRPr>
          </a:p>
        </p:txBody>
      </p:sp>
      <p:sp>
        <p:nvSpPr>
          <p:cNvPr id="2261" name="Google Shape;2261;p110"/>
          <p:cNvSpPr txBox="1"/>
          <p:nvPr/>
        </p:nvSpPr>
        <p:spPr>
          <a:xfrm>
            <a:off x="392549" y="1610845"/>
            <a:ext cx="6264000" cy="421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0B6937"/>
                </a:solidFill>
                <a:ea typeface="Roboto" panose="02000000000000000000" pitchFamily="2" charset="0"/>
                <a:cs typeface="Roboto"/>
                <a:sym typeface="Roboto"/>
              </a:rPr>
              <a:t>Código</a:t>
            </a:r>
            <a:endParaRPr sz="2200" b="1" dirty="0">
              <a:solidFill>
                <a:srgbClr val="0B6937"/>
              </a:solidFill>
              <a:ea typeface="Roboto" panose="02000000000000000000" pitchFamily="2" charset="0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AutoNum type="arabicPeriod"/>
            </a:pP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Espacio de direcciones de 64KB y tamaño de página de 1KB.</a:t>
            </a:r>
            <a:endParaRPr sz="2000" dirty="0">
              <a:solidFill>
                <a:schemeClr val="dk1"/>
              </a:solidFill>
              <a:ea typeface="Roboto" panose="02000000000000000000" pitchFamily="2" charset="0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AutoNum type="arabicPeriod"/>
            </a:pP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Tabla de página (tipo array) localizada en la dirección física 1KB (1024).</a:t>
            </a:r>
            <a:endParaRPr sz="2000" dirty="0">
              <a:solidFill>
                <a:schemeClr val="dk1"/>
              </a:solidFill>
              <a:ea typeface="Roboto" panose="02000000000000000000" pitchFamily="2" charset="0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AutoNum type="arabicPeriod"/>
            </a:pP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Del enunciado, el código está desde 1KB (1024), luego este se encuentra dentro de la página cuya VPN = 1</a:t>
            </a:r>
            <a:endParaRPr sz="2000" dirty="0">
              <a:solidFill>
                <a:schemeClr val="dk1"/>
              </a:solidFill>
              <a:ea typeface="Roboto" panose="02000000000000000000" pitchFamily="2" charset="0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AutoNum type="arabicPeriod"/>
            </a:pP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El tamaño del array es de 1000 enteros → 4000 bytes.</a:t>
            </a:r>
            <a:endParaRPr sz="2000" dirty="0">
              <a:solidFill>
                <a:schemeClr val="dk1"/>
              </a:solidFill>
              <a:ea typeface="Roboto" panose="02000000000000000000" pitchFamily="2" charset="0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AutoNum type="arabicPeriod"/>
            </a:pP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Se asume que el rango de direcciones del array es: 40000 &lt;= </a:t>
            </a:r>
            <a:r>
              <a:rPr lang="es-ES" sz="2000" dirty="0" err="1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dir</a:t>
            </a: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 &lt; 44000 ocupando las páginas virtuales 39, 40, 41 y 42. </a:t>
            </a:r>
            <a:endParaRPr sz="2000" dirty="0">
              <a:solidFill>
                <a:schemeClr val="dk1"/>
              </a:solidFill>
              <a:ea typeface="Roboto" panose="02000000000000000000" pitchFamily="2" charset="0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AutoNum type="arabicPeriod"/>
            </a:pP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Se asume el mapeo mostrado en la tabla a continuación.</a:t>
            </a:r>
            <a:endParaRPr sz="2200" dirty="0">
              <a:solidFill>
                <a:schemeClr val="dk1"/>
              </a:solidFill>
              <a:ea typeface="Roboto" panose="02000000000000000000" pitchFamily="2" charset="0"/>
              <a:cs typeface="Roboto"/>
              <a:sym typeface="Roboto"/>
            </a:endParaRPr>
          </a:p>
        </p:txBody>
      </p:sp>
      <p:graphicFrame>
        <p:nvGraphicFramePr>
          <p:cNvPr id="2262" name="Google Shape;2262;p110"/>
          <p:cNvGraphicFramePr/>
          <p:nvPr>
            <p:extLst>
              <p:ext uri="{D42A27DB-BD31-4B8C-83A1-F6EECF244321}">
                <p14:modId xmlns:p14="http://schemas.microsoft.com/office/powerpoint/2010/main" val="607858920"/>
              </p:ext>
            </p:extLst>
          </p:nvPr>
        </p:nvGraphicFramePr>
        <p:xfrm>
          <a:off x="8617747" y="3429000"/>
          <a:ext cx="1888575" cy="213345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90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1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VPN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PFN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39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40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16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41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42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6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3B33A258-DB09-4355-870C-FC4CE818D00A}"/>
              </a:ext>
            </a:extLst>
          </p:cNvPr>
          <p:cNvGrpSpPr/>
          <p:nvPr/>
        </p:nvGrpSpPr>
        <p:grpSpPr>
          <a:xfrm>
            <a:off x="7052892" y="1716950"/>
            <a:ext cx="3977966" cy="1175066"/>
            <a:chOff x="7052892" y="1716950"/>
            <a:chExt cx="3977966" cy="1175066"/>
          </a:xfrm>
        </p:grpSpPr>
        <p:sp>
          <p:nvSpPr>
            <p:cNvPr id="2260" name="Google Shape;2260;p110"/>
            <p:cNvSpPr txBox="1"/>
            <p:nvPr/>
          </p:nvSpPr>
          <p:spPr>
            <a:xfrm>
              <a:off x="8093212" y="1716950"/>
              <a:ext cx="2937646" cy="1169521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movl $0x0,(%edi,%eax,4)    </a:t>
              </a:r>
              <a:endParaRPr sz="1600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incl %eax                  </a:t>
              </a:r>
              <a:endParaRPr sz="1600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cmpl $0x03e8,%eax          </a:t>
              </a:r>
              <a:endParaRPr sz="1600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jne 0x1024                 </a:t>
              </a:r>
              <a:endParaRPr sz="1600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8" name="Google Shape;2260;p110">
              <a:extLst>
                <a:ext uri="{FF2B5EF4-FFF2-40B4-BE49-F238E27FC236}">
                  <a16:creationId xmlns:a16="http://schemas.microsoft.com/office/drawing/2014/main" id="{E74AB9BD-5ED1-438B-A3BE-0EAA70C76B62}"/>
                </a:ext>
              </a:extLst>
            </p:cNvPr>
            <p:cNvSpPr txBox="1"/>
            <p:nvPr/>
          </p:nvSpPr>
          <p:spPr>
            <a:xfrm>
              <a:off x="7052892" y="1722495"/>
              <a:ext cx="1002538" cy="1169521"/>
            </a:xfrm>
            <a:prstGeom prst="rect">
              <a:avLst/>
            </a:prstGeom>
            <a:noFill/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0x1024</a:t>
              </a:r>
              <a:endParaRPr sz="1600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0x1028</a:t>
              </a: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0x102c</a:t>
              </a: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0x1030</a:t>
              </a:r>
              <a:endParaRPr sz="1600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7" name="Google Shape;2267;p111"/>
          <p:cNvSpPr txBox="1">
            <a:spLocks noGrp="1"/>
          </p:cNvSpPr>
          <p:nvPr>
            <p:ph type="title"/>
          </p:nvPr>
        </p:nvSpPr>
        <p:spPr>
          <a:xfrm>
            <a:off x="275771" y="96038"/>
            <a:ext cx="8944879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b="0" dirty="0">
                <a:latin typeface="+mj-lt"/>
              </a:rPr>
              <a:t>Posibles problemas</a:t>
            </a:r>
            <a:endParaRPr sz="3200" b="0" dirty="0">
              <a:solidFill>
                <a:srgbClr val="701E5C"/>
              </a:solidFill>
              <a:latin typeface="+mj-lt"/>
              <a:sym typeface="Roboto Slab"/>
            </a:endParaRPr>
          </a:p>
        </p:txBody>
      </p:sp>
      <p:sp>
        <p:nvSpPr>
          <p:cNvPr id="2268" name="Google Shape;2268;p111"/>
          <p:cNvSpPr txBox="1"/>
          <p:nvPr/>
        </p:nvSpPr>
        <p:spPr>
          <a:xfrm>
            <a:off x="370207" y="753038"/>
            <a:ext cx="46716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2"/>
                </a:solidFill>
                <a:ea typeface="Roboto" panose="02000000000000000000" pitchFamily="2" charset="0"/>
                <a:cs typeface="Roboto"/>
                <a:sym typeface="Roboto"/>
              </a:rPr>
              <a:t>Acceso simple a memoria</a:t>
            </a:r>
            <a:endParaRPr sz="2000" dirty="0">
              <a:ea typeface="Roboto" panose="02000000000000000000" pitchFamily="2" charset="0"/>
              <a:cs typeface="Roboto"/>
              <a:sym typeface="Roboto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3BE643C6-DC31-416A-8D12-5D6FDB169A00}"/>
              </a:ext>
            </a:extLst>
          </p:cNvPr>
          <p:cNvGrpSpPr/>
          <p:nvPr/>
        </p:nvGrpSpPr>
        <p:grpSpPr>
          <a:xfrm>
            <a:off x="916650" y="1660375"/>
            <a:ext cx="4036175" cy="4785060"/>
            <a:chOff x="916650" y="1660375"/>
            <a:chExt cx="4036175" cy="4785060"/>
          </a:xfrm>
        </p:grpSpPr>
        <p:graphicFrame>
          <p:nvGraphicFramePr>
            <p:cNvPr id="2270" name="Google Shape;2270;p111"/>
            <p:cNvGraphicFramePr/>
            <p:nvPr>
              <p:extLst>
                <p:ext uri="{D42A27DB-BD31-4B8C-83A1-F6EECF244321}">
                  <p14:modId xmlns:p14="http://schemas.microsoft.com/office/powerpoint/2010/main" val="2693720758"/>
                </p:ext>
              </p:extLst>
            </p:nvPr>
          </p:nvGraphicFramePr>
          <p:xfrm>
            <a:off x="2084738" y="1660375"/>
            <a:ext cx="2227675" cy="4785060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222767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22797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74697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100"/>
                          <a:buFont typeface="Arial"/>
                          <a:buNone/>
                        </a:pPr>
                        <a:r>
                          <a:rPr lang="es-ES" sz="1000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movl $0x0,(%edi,%eax,4)    </a:t>
                        </a:r>
                        <a:endParaRPr sz="1000" dirty="0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100"/>
                          <a:buFont typeface="Arial"/>
                          <a:buNone/>
                        </a:pPr>
                        <a:r>
                          <a:rPr lang="es-ES" sz="1000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incl %eax                  </a:t>
                        </a:r>
                        <a:endParaRPr sz="1000" dirty="0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100"/>
                          <a:buFont typeface="Arial"/>
                          <a:buNone/>
                        </a:pPr>
                        <a:r>
                          <a:rPr lang="es-ES" sz="1000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cmpl $0x03e8,%eax          </a:t>
                        </a:r>
                        <a:endParaRPr sz="1000" dirty="0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jne 0x1024</a:t>
                        </a:r>
                        <a:endParaRPr sz="1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100"/>
                          <a:buFont typeface="Arial"/>
                          <a:buNone/>
                        </a:pPr>
                        <a:r>
                          <a:rPr lang="es-ES" sz="1000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...</a:t>
                        </a:r>
                        <a:endParaRPr sz="1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4CCC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23245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23245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23245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100"/>
                          <a:buFont typeface="Arial"/>
                          <a:buNone/>
                        </a:pP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23245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232450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100"/>
                          <a:buFont typeface="Arial"/>
                          <a:buNone/>
                        </a:pP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  <a:tr h="23245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100"/>
                          <a:buFont typeface="Arial"/>
                          <a:buNone/>
                        </a:pP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7"/>
                    </a:ext>
                  </a:extLst>
                </a:tr>
                <a:tr h="23245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8"/>
                    </a:ext>
                  </a:extLst>
                </a:tr>
                <a:tr h="23245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600" dirty="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9"/>
                    </a:ext>
                  </a:extLst>
                </a:tr>
              </a:tbl>
            </a:graphicData>
          </a:graphic>
        </p:graphicFrame>
        <p:sp>
          <p:nvSpPr>
            <p:cNvPr id="2271" name="Google Shape;2271;p111"/>
            <p:cNvSpPr txBox="1"/>
            <p:nvPr/>
          </p:nvSpPr>
          <p:spPr>
            <a:xfrm>
              <a:off x="1349850" y="1837800"/>
              <a:ext cx="664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VPN0</a:t>
              </a:r>
              <a:endParaRPr sz="1600"/>
            </a:p>
          </p:txBody>
        </p:sp>
        <p:sp>
          <p:nvSpPr>
            <p:cNvPr id="2272" name="Google Shape;2272;p111"/>
            <p:cNvSpPr txBox="1"/>
            <p:nvPr/>
          </p:nvSpPr>
          <p:spPr>
            <a:xfrm>
              <a:off x="1349850" y="2402162"/>
              <a:ext cx="664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VPN1</a:t>
              </a:r>
              <a:endParaRPr sz="1600"/>
            </a:p>
          </p:txBody>
        </p:sp>
        <p:sp>
          <p:nvSpPr>
            <p:cNvPr id="2273" name="Google Shape;2273;p111"/>
            <p:cNvSpPr txBox="1"/>
            <p:nvPr/>
          </p:nvSpPr>
          <p:spPr>
            <a:xfrm>
              <a:off x="1349850" y="2966512"/>
              <a:ext cx="664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 sz="1600"/>
            </a:p>
          </p:txBody>
        </p:sp>
        <p:sp>
          <p:nvSpPr>
            <p:cNvPr id="2274" name="Google Shape;2274;p111"/>
            <p:cNvSpPr txBox="1"/>
            <p:nvPr/>
          </p:nvSpPr>
          <p:spPr>
            <a:xfrm>
              <a:off x="1349850" y="3417387"/>
              <a:ext cx="664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VPN39</a:t>
              </a:r>
              <a:endParaRPr sz="1600"/>
            </a:p>
          </p:txBody>
        </p:sp>
        <p:sp>
          <p:nvSpPr>
            <p:cNvPr id="2275" name="Google Shape;2275;p111"/>
            <p:cNvSpPr txBox="1"/>
            <p:nvPr/>
          </p:nvSpPr>
          <p:spPr>
            <a:xfrm>
              <a:off x="1349850" y="3868262"/>
              <a:ext cx="664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VPN40</a:t>
              </a:r>
              <a:endParaRPr sz="1600"/>
            </a:p>
          </p:txBody>
        </p:sp>
        <p:sp>
          <p:nvSpPr>
            <p:cNvPr id="2276" name="Google Shape;2276;p111"/>
            <p:cNvSpPr txBox="1"/>
            <p:nvPr/>
          </p:nvSpPr>
          <p:spPr>
            <a:xfrm>
              <a:off x="1349850" y="4319137"/>
              <a:ext cx="664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VPN41</a:t>
              </a:r>
              <a:endParaRPr sz="1600"/>
            </a:p>
          </p:txBody>
        </p:sp>
        <p:sp>
          <p:nvSpPr>
            <p:cNvPr id="2277" name="Google Shape;2277;p111"/>
            <p:cNvSpPr txBox="1"/>
            <p:nvPr/>
          </p:nvSpPr>
          <p:spPr>
            <a:xfrm>
              <a:off x="1349850" y="4697462"/>
              <a:ext cx="664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VPN42</a:t>
              </a:r>
              <a:endParaRPr sz="1600"/>
            </a:p>
          </p:txBody>
        </p:sp>
        <p:sp>
          <p:nvSpPr>
            <p:cNvPr id="2278" name="Google Shape;2278;p111"/>
            <p:cNvSpPr txBox="1"/>
            <p:nvPr/>
          </p:nvSpPr>
          <p:spPr>
            <a:xfrm>
              <a:off x="1303175" y="5337500"/>
              <a:ext cx="664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 sz="1600"/>
            </a:p>
          </p:txBody>
        </p:sp>
        <p:sp>
          <p:nvSpPr>
            <p:cNvPr id="2279" name="Google Shape;2279;p111"/>
            <p:cNvSpPr txBox="1"/>
            <p:nvPr/>
          </p:nvSpPr>
          <p:spPr>
            <a:xfrm>
              <a:off x="1349850" y="5977537"/>
              <a:ext cx="664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VPN63</a:t>
              </a:r>
              <a:endParaRPr sz="1600"/>
            </a:p>
          </p:txBody>
        </p:sp>
        <p:sp>
          <p:nvSpPr>
            <p:cNvPr id="2290" name="Google Shape;2290;p111"/>
            <p:cNvSpPr/>
            <p:nvPr/>
          </p:nvSpPr>
          <p:spPr>
            <a:xfrm>
              <a:off x="2305450" y="3594887"/>
              <a:ext cx="1854600" cy="1353000"/>
            </a:xfrm>
            <a:prstGeom prst="rect">
              <a:avLst/>
            </a:prstGeom>
            <a:solidFill>
              <a:srgbClr val="D0E0E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array</a:t>
              </a:r>
              <a:endParaRPr sz="12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292" name="Google Shape;2292;p111"/>
            <p:cNvSpPr txBox="1"/>
            <p:nvPr/>
          </p:nvSpPr>
          <p:spPr>
            <a:xfrm>
              <a:off x="4382525" y="3559912"/>
              <a:ext cx="570300" cy="141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40000</a:t>
              </a:r>
              <a:endParaRPr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40001</a:t>
              </a:r>
              <a:endParaRPr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43999</a:t>
              </a:r>
              <a:endParaRPr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294" name="Google Shape;2294;p111"/>
            <p:cNvCxnSpPr/>
            <p:nvPr/>
          </p:nvCxnSpPr>
          <p:spPr>
            <a:xfrm>
              <a:off x="4229875" y="3618212"/>
              <a:ext cx="653100" cy="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95" name="Google Shape;2295;p111"/>
            <p:cNvCxnSpPr/>
            <p:nvPr/>
          </p:nvCxnSpPr>
          <p:spPr>
            <a:xfrm>
              <a:off x="4230675" y="4925262"/>
              <a:ext cx="653100" cy="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2298" name="Google Shape;2298;p11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16650" y="2361201"/>
              <a:ext cx="433489" cy="451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99" name="Google Shape;2299;p11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16650" y="4042301"/>
              <a:ext cx="433489" cy="4512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14A94A14-33B4-4428-8BD0-9961734075CE}"/>
              </a:ext>
            </a:extLst>
          </p:cNvPr>
          <p:cNvGrpSpPr/>
          <p:nvPr/>
        </p:nvGrpSpPr>
        <p:grpSpPr>
          <a:xfrm>
            <a:off x="6247225" y="975550"/>
            <a:ext cx="4164575" cy="5716330"/>
            <a:chOff x="6247225" y="975550"/>
            <a:chExt cx="4164575" cy="5716330"/>
          </a:xfrm>
        </p:grpSpPr>
        <p:graphicFrame>
          <p:nvGraphicFramePr>
            <p:cNvPr id="2269" name="Google Shape;2269;p111"/>
            <p:cNvGraphicFramePr/>
            <p:nvPr>
              <p:extLst>
                <p:ext uri="{D42A27DB-BD31-4B8C-83A1-F6EECF244321}">
                  <p14:modId xmlns:p14="http://schemas.microsoft.com/office/powerpoint/2010/main" val="947863526"/>
                </p:ext>
              </p:extLst>
            </p:nvPr>
          </p:nvGraphicFramePr>
          <p:xfrm>
            <a:off x="7479663" y="975550"/>
            <a:ext cx="2227675" cy="5716330"/>
          </p:xfrm>
          <a:graphic>
            <a:graphicData uri="http://schemas.openxmlformats.org/drawingml/2006/table">
              <a:tbl>
                <a:tblPr>
                  <a:noFill/>
                  <a:tableStyleId>{03666690-7EF2-4E8B-8E0B-2A96984E9CDD}</a:tableStyleId>
                </a:tblPr>
                <a:tblGrid>
                  <a:gridCol w="222767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</a:tblGrid>
                <a:tr h="4279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4195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D9EAD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419500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43627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100"/>
                          <a:buFont typeface="Arial"/>
                          <a:buNone/>
                        </a:pPr>
                        <a:r>
                          <a:rPr lang="es-ES" sz="1000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movl $0x0,(%edi,%eax,4)    </a:t>
                        </a:r>
                        <a:endParaRPr sz="1000" dirty="0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100"/>
                          <a:buFont typeface="Arial"/>
                          <a:buNone/>
                        </a:pPr>
                        <a:r>
                          <a:rPr lang="es-ES" sz="1000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incl %eax                  </a:t>
                        </a:r>
                        <a:endParaRPr sz="1000" dirty="0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100"/>
                          <a:buFont typeface="Arial"/>
                          <a:buNone/>
                        </a:pPr>
                        <a:r>
                          <a:rPr lang="es-ES" sz="1000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cmpl $0x03e8,%eax          </a:t>
                        </a:r>
                        <a:endParaRPr sz="1000" dirty="0">
                          <a:solidFill>
                            <a:srgbClr val="0B693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000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jne 0x1024</a:t>
                        </a:r>
                        <a:endParaRPr sz="1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100"/>
                          <a:buFont typeface="Arial"/>
                          <a:buNone/>
                        </a:pPr>
                        <a:r>
                          <a:rPr lang="es-ES" sz="1000" dirty="0">
                            <a:solidFill>
                              <a:schemeClr val="dk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...</a:t>
                        </a:r>
                        <a:endParaRPr sz="1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4CCC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43627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43627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100"/>
                          <a:buFont typeface="Arial"/>
                          <a:buNone/>
                        </a:pP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43627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  <a:tr h="43627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100"/>
                          <a:buFont typeface="Arial"/>
                          <a:buNone/>
                        </a:pP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7"/>
                    </a:ext>
                  </a:extLst>
                </a:tr>
                <a:tr h="43627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100"/>
                          <a:buFont typeface="Arial"/>
                          <a:buNone/>
                        </a:pP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8"/>
                    </a:ext>
                  </a:extLst>
                </a:tr>
                <a:tr h="436275">
                  <a:tc>
                    <a:txBody>
                      <a:bodyPr/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F2CC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9"/>
                    </a:ext>
                  </a:extLst>
                </a:tr>
                <a:tr h="43627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dash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10"/>
                    </a:ext>
                  </a:extLst>
                </a:tr>
                <a:tr h="43627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6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3F3F3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11"/>
                    </a:ext>
                  </a:extLst>
                </a:tr>
              </a:tbl>
            </a:graphicData>
          </a:graphic>
        </p:graphicFrame>
        <p:sp>
          <p:nvSpPr>
            <p:cNvPr id="2280" name="Google Shape;2280;p111"/>
            <p:cNvSpPr txBox="1"/>
            <p:nvPr/>
          </p:nvSpPr>
          <p:spPr>
            <a:xfrm>
              <a:off x="6680725" y="1109688"/>
              <a:ext cx="664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PFN0</a:t>
              </a:r>
              <a:endParaRPr sz="1600"/>
            </a:p>
          </p:txBody>
        </p:sp>
        <p:sp>
          <p:nvSpPr>
            <p:cNvPr id="2281" name="Google Shape;2281;p111"/>
            <p:cNvSpPr txBox="1"/>
            <p:nvPr/>
          </p:nvSpPr>
          <p:spPr>
            <a:xfrm>
              <a:off x="6680725" y="2553038"/>
              <a:ext cx="664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PFN4</a:t>
              </a:r>
              <a:endParaRPr sz="1600"/>
            </a:p>
          </p:txBody>
        </p:sp>
        <p:sp>
          <p:nvSpPr>
            <p:cNvPr id="2282" name="Google Shape;2282;p111"/>
            <p:cNvSpPr txBox="1"/>
            <p:nvPr/>
          </p:nvSpPr>
          <p:spPr>
            <a:xfrm>
              <a:off x="6750725" y="2029938"/>
              <a:ext cx="664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 sz="1600"/>
            </a:p>
          </p:txBody>
        </p:sp>
        <p:sp>
          <p:nvSpPr>
            <p:cNvPr id="2283" name="Google Shape;2283;p111"/>
            <p:cNvSpPr txBox="1"/>
            <p:nvPr/>
          </p:nvSpPr>
          <p:spPr>
            <a:xfrm>
              <a:off x="6680725" y="3336425"/>
              <a:ext cx="664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 sz="1600"/>
            </a:p>
          </p:txBody>
        </p:sp>
        <p:sp>
          <p:nvSpPr>
            <p:cNvPr id="2284" name="Google Shape;2284;p111"/>
            <p:cNvSpPr txBox="1"/>
            <p:nvPr/>
          </p:nvSpPr>
          <p:spPr>
            <a:xfrm>
              <a:off x="6610750" y="4122938"/>
              <a:ext cx="664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PFN7</a:t>
              </a:r>
              <a:endParaRPr sz="1600"/>
            </a:p>
          </p:txBody>
        </p:sp>
        <p:sp>
          <p:nvSpPr>
            <p:cNvPr id="2285" name="Google Shape;2285;p111"/>
            <p:cNvSpPr txBox="1"/>
            <p:nvPr/>
          </p:nvSpPr>
          <p:spPr>
            <a:xfrm>
              <a:off x="6680725" y="1578700"/>
              <a:ext cx="664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PFN1</a:t>
              </a:r>
              <a:endParaRPr sz="1600"/>
            </a:p>
          </p:txBody>
        </p:sp>
        <p:sp>
          <p:nvSpPr>
            <p:cNvPr id="2286" name="Google Shape;2286;p111"/>
            <p:cNvSpPr txBox="1"/>
            <p:nvPr/>
          </p:nvSpPr>
          <p:spPr>
            <a:xfrm>
              <a:off x="6610750" y="4559213"/>
              <a:ext cx="664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PFN8</a:t>
              </a:r>
              <a:endParaRPr sz="1600"/>
            </a:p>
          </p:txBody>
        </p:sp>
        <p:sp>
          <p:nvSpPr>
            <p:cNvPr id="2287" name="Google Shape;2287;p111"/>
            <p:cNvSpPr txBox="1"/>
            <p:nvPr/>
          </p:nvSpPr>
          <p:spPr>
            <a:xfrm>
              <a:off x="6610750" y="4995488"/>
              <a:ext cx="664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PFN9</a:t>
              </a:r>
              <a:endParaRPr sz="1600"/>
            </a:p>
          </p:txBody>
        </p:sp>
        <p:sp>
          <p:nvSpPr>
            <p:cNvPr id="2288" name="Google Shape;2288;p111"/>
            <p:cNvSpPr txBox="1"/>
            <p:nvPr/>
          </p:nvSpPr>
          <p:spPr>
            <a:xfrm>
              <a:off x="6610750" y="5431763"/>
              <a:ext cx="664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PFN10</a:t>
              </a:r>
              <a:endParaRPr sz="1600"/>
            </a:p>
          </p:txBody>
        </p:sp>
        <p:sp>
          <p:nvSpPr>
            <p:cNvPr id="2289" name="Google Shape;2289;p111"/>
            <p:cNvSpPr txBox="1"/>
            <p:nvPr/>
          </p:nvSpPr>
          <p:spPr>
            <a:xfrm>
              <a:off x="6610750" y="5996600"/>
              <a:ext cx="664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 sz="1600"/>
            </a:p>
          </p:txBody>
        </p:sp>
        <p:sp>
          <p:nvSpPr>
            <p:cNvPr id="2291" name="Google Shape;2291;p111"/>
            <p:cNvSpPr/>
            <p:nvPr/>
          </p:nvSpPr>
          <p:spPr>
            <a:xfrm>
              <a:off x="7623900" y="4250100"/>
              <a:ext cx="1959300" cy="1353000"/>
            </a:xfrm>
            <a:prstGeom prst="rect">
              <a:avLst/>
            </a:prstGeom>
            <a:solidFill>
              <a:srgbClr val="D0E0E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array</a:t>
              </a:r>
              <a:endParaRPr/>
            </a:p>
          </p:txBody>
        </p:sp>
        <p:sp>
          <p:nvSpPr>
            <p:cNvPr id="2293" name="Google Shape;2293;p111"/>
            <p:cNvSpPr txBox="1"/>
            <p:nvPr/>
          </p:nvSpPr>
          <p:spPr>
            <a:xfrm>
              <a:off x="9841500" y="4218600"/>
              <a:ext cx="570300" cy="141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7232</a:t>
              </a:r>
              <a:endParaRPr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7233</a:t>
              </a:r>
              <a:endParaRPr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...</a:t>
              </a:r>
              <a:endParaRPr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11231</a:t>
              </a:r>
              <a:endParaRPr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296" name="Google Shape;2296;p111"/>
            <p:cNvCxnSpPr/>
            <p:nvPr/>
          </p:nvCxnSpPr>
          <p:spPr>
            <a:xfrm>
              <a:off x="9644600" y="4260150"/>
              <a:ext cx="653100" cy="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97" name="Google Shape;2297;p111"/>
            <p:cNvCxnSpPr/>
            <p:nvPr/>
          </p:nvCxnSpPr>
          <p:spPr>
            <a:xfrm>
              <a:off x="9654875" y="5592125"/>
              <a:ext cx="653100" cy="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2300" name="Google Shape;2300;p11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317225" y="1220264"/>
              <a:ext cx="433489" cy="451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1" name="Google Shape;2301;p11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317225" y="2512076"/>
              <a:ext cx="433489" cy="451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2" name="Google Shape;2302;p11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247225" y="4736389"/>
              <a:ext cx="433489" cy="4512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7" name="Google Shape;2307;p112"/>
          <p:cNvSpPr txBox="1">
            <a:spLocks noGrp="1"/>
          </p:cNvSpPr>
          <p:nvPr>
            <p:ph type="title"/>
          </p:nvPr>
        </p:nvSpPr>
        <p:spPr>
          <a:xfrm>
            <a:off x="429950" y="96038"/>
            <a:ext cx="87907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b="0" dirty="0">
                <a:latin typeface="+mj-lt"/>
              </a:rPr>
              <a:t>Posibles problemas</a:t>
            </a:r>
            <a:endParaRPr sz="3200" b="0" dirty="0">
              <a:solidFill>
                <a:srgbClr val="701E5C"/>
              </a:solidFill>
              <a:latin typeface="+mj-lt"/>
              <a:sym typeface="Roboto Slab"/>
            </a:endParaRPr>
          </a:p>
        </p:txBody>
      </p:sp>
      <p:sp>
        <p:nvSpPr>
          <p:cNvPr id="2308" name="Google Shape;2308;p112"/>
          <p:cNvSpPr txBox="1"/>
          <p:nvPr/>
        </p:nvSpPr>
        <p:spPr>
          <a:xfrm>
            <a:off x="429950" y="823040"/>
            <a:ext cx="108828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>
                <a:solidFill>
                  <a:schemeClr val="accent2"/>
                </a:solidFill>
                <a:ea typeface="Roboto" panose="02000000000000000000" pitchFamily="2" charset="0"/>
                <a:cs typeface="Roboto"/>
                <a:sym typeface="Roboto"/>
              </a:rPr>
              <a:t>Acceso simple a memoria</a:t>
            </a:r>
            <a:endParaRPr sz="2000">
              <a:ea typeface="Roboto" panose="02000000000000000000" pitchFamily="2" charset="0"/>
              <a:cs typeface="Roboto"/>
              <a:sym typeface="Roboto"/>
            </a:endParaRPr>
          </a:p>
        </p:txBody>
      </p:sp>
      <p:sp>
        <p:nvSpPr>
          <p:cNvPr id="2309" name="Google Shape;2309;p112"/>
          <p:cNvSpPr txBox="1"/>
          <p:nvPr/>
        </p:nvSpPr>
        <p:spPr>
          <a:xfrm>
            <a:off x="429950" y="1257890"/>
            <a:ext cx="5307600" cy="3293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0B6937"/>
                </a:solidFill>
                <a:ea typeface="Roboto" panose="02000000000000000000" pitchFamily="2" charset="0"/>
                <a:cs typeface="Roboto"/>
                <a:sym typeface="Roboto"/>
              </a:rPr>
              <a:t>Análisis de la traza de memoria</a:t>
            </a:r>
            <a:endParaRPr sz="2200" b="1" dirty="0">
              <a:solidFill>
                <a:srgbClr val="0B6937"/>
              </a:solidFill>
              <a:ea typeface="Roboto" panose="02000000000000000000" pitchFamily="2" charset="0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Para la ejecución del código del programa, cada </a:t>
            </a:r>
            <a:r>
              <a:rPr lang="es-ES" sz="2000" b="1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instruction fetch</a:t>
            </a: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 genera dos referencias a memoria:</a:t>
            </a:r>
            <a:endParaRPr sz="2000" dirty="0">
              <a:solidFill>
                <a:schemeClr val="dk1"/>
              </a:solidFill>
              <a:ea typeface="Roboto" panose="02000000000000000000" pitchFamily="2" charset="0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Acceso a la tabla de página (PT) para obtener la dirección física en la que reside la instrucción.</a:t>
            </a:r>
            <a:endParaRPr sz="2000" dirty="0">
              <a:solidFill>
                <a:schemeClr val="dk1"/>
              </a:solidFill>
              <a:ea typeface="Roboto" panose="02000000000000000000" pitchFamily="2" charset="0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A la dirección física en la que se encuentra la instrucción para poder llevarla a la CPU para su ejecución</a:t>
            </a:r>
            <a:endParaRPr sz="2400" dirty="0">
              <a:solidFill>
                <a:schemeClr val="dk1"/>
              </a:solidFill>
              <a:ea typeface="Roboto" panose="02000000000000000000" pitchFamily="2" charset="0"/>
              <a:cs typeface="Roboto"/>
              <a:sym typeface="Roboto"/>
            </a:endParaRPr>
          </a:p>
        </p:txBody>
      </p:sp>
      <p:pic>
        <p:nvPicPr>
          <p:cNvPr id="2310" name="Google Shape;2310;p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1001" y="1559853"/>
            <a:ext cx="5631049" cy="4326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11" name="Google Shape;2311;p112"/>
          <p:cNvGraphicFramePr/>
          <p:nvPr>
            <p:extLst>
              <p:ext uri="{D42A27DB-BD31-4B8C-83A1-F6EECF244321}">
                <p14:modId xmlns:p14="http://schemas.microsoft.com/office/powerpoint/2010/main" val="2951089819"/>
              </p:ext>
            </p:extLst>
          </p:nvPr>
        </p:nvGraphicFramePr>
        <p:xfrm>
          <a:off x="681784" y="4579105"/>
          <a:ext cx="5109202" cy="2011530"/>
        </p:xfrm>
        <a:graphic>
          <a:graphicData uri="http://schemas.openxmlformats.org/drawingml/2006/table">
            <a:tbl>
              <a:tblPr>
                <a:noFill/>
                <a:tableStyleId>{03666690-7EF2-4E8B-8E0B-2A96984E9CDD}</a:tableStyleId>
              </a:tblPr>
              <a:tblGrid>
                <a:gridCol w="2889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9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+mn-lt"/>
                          <a:ea typeface="Roboto" panose="02000000000000000000" pitchFamily="2" charset="0"/>
                          <a:cs typeface="Roboto"/>
                          <a:sym typeface="Roboto"/>
                        </a:rPr>
                        <a:t>Instrucción</a:t>
                      </a:r>
                      <a:endParaRPr sz="1600" b="1" dirty="0">
                        <a:latin typeface="+mn-lt"/>
                        <a:ea typeface="Roboto" panose="02000000000000000000" pitchFamily="2" charset="0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+mn-lt"/>
                          <a:ea typeface="Roboto" panose="02000000000000000000" pitchFamily="2" charset="0"/>
                          <a:cs typeface="Roboto"/>
                          <a:sym typeface="Roboto"/>
                        </a:rPr>
                        <a:t>Accesos a memoria</a:t>
                      </a:r>
                      <a:endParaRPr sz="1600" b="1" dirty="0">
                        <a:latin typeface="+mn-lt"/>
                        <a:ea typeface="Roboto" panose="02000000000000000000" pitchFamily="2" charset="0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movl $0x0,(%edi,%eax,4)    </a:t>
                      </a:r>
                      <a:endParaRPr sz="14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+mn-lt"/>
                        </a:rPr>
                        <a:t>2 + 2 = 4</a:t>
                      </a:r>
                      <a:endParaRPr sz="1400">
                        <a:latin typeface="+mn-l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incl %eax                  </a:t>
                      </a:r>
                      <a:endParaRPr sz="14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+mn-lt"/>
                        </a:rPr>
                        <a:t>2</a:t>
                      </a:r>
                      <a:endParaRPr sz="1400">
                        <a:latin typeface="+mn-l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cmpl $0x03e8,%eax       </a:t>
                      </a:r>
                      <a:endParaRPr sz="14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latin typeface="+mn-lt"/>
                        </a:rPr>
                        <a:t>2</a:t>
                      </a:r>
                      <a:endParaRPr sz="1400">
                        <a:latin typeface="+mn-l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4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jne 0x1024  </a:t>
                      </a:r>
                      <a:endParaRPr sz="14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latin typeface="+mn-lt"/>
                        </a:rPr>
                        <a:t>2</a:t>
                      </a:r>
                      <a:endParaRPr sz="1400" dirty="0">
                        <a:latin typeface="+mn-l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6" name="Google Shape;2316;p113"/>
          <p:cNvSpPr txBox="1">
            <a:spLocks noGrp="1"/>
          </p:cNvSpPr>
          <p:nvPr>
            <p:ph type="title"/>
          </p:nvPr>
        </p:nvSpPr>
        <p:spPr>
          <a:xfrm>
            <a:off x="290286" y="96038"/>
            <a:ext cx="8930364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b="0" dirty="0">
                <a:latin typeface="+mj-lt"/>
              </a:rPr>
              <a:t>Posibles problemas</a:t>
            </a:r>
            <a:endParaRPr sz="3200" b="0" dirty="0">
              <a:solidFill>
                <a:srgbClr val="701E5C"/>
              </a:solidFill>
              <a:latin typeface="+mj-lt"/>
              <a:sym typeface="Roboto Slab"/>
            </a:endParaRPr>
          </a:p>
        </p:txBody>
      </p:sp>
      <p:sp>
        <p:nvSpPr>
          <p:cNvPr id="2317" name="Google Shape;2317;p113"/>
          <p:cNvSpPr txBox="1"/>
          <p:nvPr/>
        </p:nvSpPr>
        <p:spPr>
          <a:xfrm>
            <a:off x="145143" y="6392660"/>
            <a:ext cx="56994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ea typeface="Roboto" panose="02000000000000000000" pitchFamily="2" charset="0"/>
                <a:cs typeface="Roboto"/>
                <a:sym typeface="Roboto"/>
              </a:rPr>
              <a:t>x86 cheatsheet</a:t>
            </a:r>
            <a:r>
              <a:rPr lang="es-ES" sz="1200">
                <a:ea typeface="Roboto" panose="02000000000000000000" pitchFamily="2" charset="0"/>
                <a:cs typeface="Roboto"/>
                <a:sym typeface="Roboto"/>
              </a:rPr>
              <a:t>: </a:t>
            </a:r>
            <a:r>
              <a:rPr lang="es-ES" sz="1200" u="sng">
                <a:solidFill>
                  <a:schemeClr val="hlink"/>
                </a:solidFill>
                <a:ea typeface="Roboto" panose="02000000000000000000" pitchFamily="2" charset="0"/>
                <a:cs typeface="Roboto"/>
                <a:sym typeface="Roboto"/>
                <a:hlinkClick r:id="rId3"/>
              </a:rPr>
              <a:t>https://web.stanford.edu/class/cs107/resources/x86-64-reference.pdf</a:t>
            </a:r>
            <a:r>
              <a:rPr lang="es-ES" sz="1200">
                <a:ea typeface="Roboto" panose="02000000000000000000" pitchFamily="2" charset="0"/>
                <a:cs typeface="Roboto"/>
                <a:sym typeface="Roboto"/>
              </a:rPr>
              <a:t> </a:t>
            </a:r>
            <a:endParaRPr sz="1200">
              <a:ea typeface="Roboto" panose="02000000000000000000" pitchFamily="2" charset="0"/>
              <a:cs typeface="Roboto"/>
              <a:sym typeface="Roboto"/>
            </a:endParaRPr>
          </a:p>
        </p:txBody>
      </p:sp>
      <p:sp>
        <p:nvSpPr>
          <p:cNvPr id="2318" name="Google Shape;2318;p113"/>
          <p:cNvSpPr txBox="1"/>
          <p:nvPr/>
        </p:nvSpPr>
        <p:spPr>
          <a:xfrm>
            <a:off x="290285" y="1045538"/>
            <a:ext cx="11466285" cy="147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2"/>
                </a:solidFill>
                <a:ea typeface="Roboto" panose="02000000000000000000" pitchFamily="2" charset="0"/>
                <a:cs typeface="Roboto"/>
                <a:sym typeface="Roboto"/>
              </a:rPr>
              <a:t>Paginación - Desempeño</a:t>
            </a:r>
            <a:endParaRPr sz="2400" b="1" dirty="0">
              <a:solidFill>
                <a:schemeClr val="accent2"/>
              </a:solidFill>
              <a:ea typeface="Roboto" panose="02000000000000000000" pitchFamily="2" charset="0"/>
              <a:cs typeface="Roboto"/>
              <a:sym typeface="Robo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Para encontrar el PTE requerido se necesita saber la dirección de memoria dónde se encuentra la tabla de página.</a:t>
            </a:r>
            <a:endParaRPr sz="2000" dirty="0">
              <a:solidFill>
                <a:schemeClr val="dk1"/>
              </a:solidFill>
              <a:ea typeface="Roboto" panose="02000000000000000000" pitchFamily="2" charset="0"/>
              <a:cs typeface="Roboto"/>
              <a:sym typeface="Robo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Por cada acceso a memoria se requiere que el SO realice </a:t>
            </a:r>
            <a:r>
              <a:rPr lang="es-ES" sz="2000" b="1" dirty="0">
                <a:solidFill>
                  <a:srgbClr val="FF0000"/>
                </a:solidFill>
                <a:ea typeface="Roboto" panose="02000000000000000000" pitchFamily="2" charset="0"/>
                <a:cs typeface="Roboto"/>
                <a:sym typeface="Roboto"/>
              </a:rPr>
              <a:t>una referencia extra a memoria</a:t>
            </a:r>
            <a:r>
              <a:rPr lang="es-ES" sz="2000" dirty="0">
                <a:solidFill>
                  <a:schemeClr val="dk1"/>
                </a:solidFill>
                <a:ea typeface="Roboto" panose="02000000000000000000" pitchFamily="2" charset="0"/>
                <a:cs typeface="Roboto"/>
                <a:sym typeface="Roboto"/>
              </a:rPr>
              <a:t>.</a:t>
            </a:r>
            <a:endParaRPr sz="2000" dirty="0">
              <a:solidFill>
                <a:schemeClr val="dk1"/>
              </a:solidFill>
              <a:ea typeface="Roboto" panose="02000000000000000000" pitchFamily="2" charset="0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p114"/>
          <p:cNvSpPr txBox="1">
            <a:spLocks noGrp="1"/>
          </p:cNvSpPr>
          <p:nvPr>
            <p:ph type="title"/>
          </p:nvPr>
        </p:nvSpPr>
        <p:spPr>
          <a:xfrm>
            <a:off x="391886" y="96038"/>
            <a:ext cx="8828764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b="0" dirty="0">
                <a:latin typeface="+mj-lt"/>
              </a:rPr>
              <a:t>Referencias</a:t>
            </a:r>
            <a:endParaRPr sz="3200" b="0" dirty="0">
              <a:solidFill>
                <a:srgbClr val="701E5C"/>
              </a:solidFill>
              <a:latin typeface="+mj-lt"/>
              <a:ea typeface="Roboto Slab"/>
              <a:cs typeface="Roboto Slab"/>
              <a:sym typeface="Roboto Slab"/>
            </a:endParaRPr>
          </a:p>
        </p:txBody>
      </p:sp>
      <p:sp>
        <p:nvSpPr>
          <p:cNvPr id="2324" name="Google Shape;2324;p114"/>
          <p:cNvSpPr txBox="1">
            <a:spLocks noGrp="1"/>
          </p:cNvSpPr>
          <p:nvPr>
            <p:ph type="body" idx="1"/>
          </p:nvPr>
        </p:nvSpPr>
        <p:spPr>
          <a:xfrm>
            <a:off x="391886" y="883929"/>
            <a:ext cx="11034014" cy="5655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s-ES" sz="2000" b="1" dirty="0" err="1">
                <a:latin typeface="+mn-lt"/>
              </a:rPr>
              <a:t>Operating</a:t>
            </a:r>
            <a:r>
              <a:rPr lang="es-ES" sz="2000" b="1" dirty="0">
                <a:latin typeface="+mn-lt"/>
              </a:rPr>
              <a:t> </a:t>
            </a:r>
            <a:r>
              <a:rPr lang="es-ES" sz="2000" b="1" dirty="0" err="1">
                <a:latin typeface="+mn-lt"/>
              </a:rPr>
              <a:t>Systems</a:t>
            </a:r>
            <a:r>
              <a:rPr lang="es-ES" sz="2000" b="1" dirty="0">
                <a:latin typeface="+mn-lt"/>
              </a:rPr>
              <a:t> </a:t>
            </a:r>
            <a:r>
              <a:rPr lang="es-ES" sz="2000" b="1" dirty="0" err="1">
                <a:latin typeface="+mn-lt"/>
              </a:rPr>
              <a:t>Three</a:t>
            </a:r>
            <a:r>
              <a:rPr lang="es-ES" sz="2000" b="1" dirty="0">
                <a:latin typeface="+mn-lt"/>
              </a:rPr>
              <a:t> Easy </a:t>
            </a:r>
            <a:r>
              <a:rPr lang="es-ES" sz="2000" b="1" dirty="0" err="1">
                <a:latin typeface="+mn-lt"/>
              </a:rPr>
              <a:t>Pieces</a:t>
            </a:r>
            <a:r>
              <a:rPr lang="es-ES" sz="2000" b="1" dirty="0">
                <a:latin typeface="+mn-lt"/>
              </a:rPr>
              <a:t> - </a:t>
            </a:r>
            <a:r>
              <a:rPr lang="es-ES" sz="2000" b="1" dirty="0" err="1">
                <a:latin typeface="+mn-lt"/>
              </a:rPr>
              <a:t>Chapter</a:t>
            </a:r>
            <a:r>
              <a:rPr lang="es-ES" sz="2000" b="1" dirty="0">
                <a:latin typeface="+mn-lt"/>
              </a:rPr>
              <a:t> 18: </a:t>
            </a:r>
            <a:r>
              <a:rPr lang="es-ES" sz="2000" b="1" dirty="0" err="1">
                <a:latin typeface="+mn-lt"/>
              </a:rPr>
              <a:t>Paging</a:t>
            </a:r>
            <a:r>
              <a:rPr lang="es-ES" sz="2000" b="1" dirty="0">
                <a:latin typeface="+mn-lt"/>
              </a:rPr>
              <a:t>: </a:t>
            </a:r>
            <a:r>
              <a:rPr lang="es-ES" sz="2000" b="1" dirty="0" err="1">
                <a:latin typeface="+mn-lt"/>
              </a:rPr>
              <a:t>Introduction</a:t>
            </a:r>
            <a:r>
              <a:rPr lang="es-ES" sz="2000" b="1" dirty="0">
                <a:latin typeface="+mn-lt"/>
              </a:rPr>
              <a:t> </a:t>
            </a:r>
            <a:r>
              <a:rPr lang="es-ES" sz="2000" dirty="0">
                <a:latin typeface="+mn-lt"/>
              </a:rPr>
              <a:t>(</a:t>
            </a:r>
            <a:r>
              <a:rPr lang="es-ES" sz="2000" u="sng" dirty="0" err="1">
                <a:solidFill>
                  <a:schemeClr val="hlink"/>
                </a:solidFill>
                <a:latin typeface="+mn-lt"/>
                <a:hlinkClick r:id="rId3"/>
              </a:rPr>
              <a:t>website</a:t>
            </a:r>
            <a:r>
              <a:rPr lang="es-ES" sz="2000" dirty="0">
                <a:latin typeface="+mn-lt"/>
              </a:rPr>
              <a:t>: Capítulos </a:t>
            </a:r>
            <a:r>
              <a:rPr lang="es-ES" sz="2000" u="sng" dirty="0">
                <a:solidFill>
                  <a:schemeClr val="hlink"/>
                </a:solidFill>
                <a:latin typeface="+mn-lt"/>
                <a:hlinkClick r:id="rId4"/>
              </a:rPr>
              <a:t>18</a:t>
            </a:r>
            <a:r>
              <a:rPr lang="es-ES" sz="2000" dirty="0">
                <a:latin typeface="+mn-lt"/>
              </a:rPr>
              <a:t>)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s-ES" sz="2000" dirty="0">
                <a:latin typeface="+mn-lt"/>
              </a:rPr>
              <a:t>Videos de </a:t>
            </a:r>
            <a:r>
              <a:rPr lang="es-ES" sz="2000" dirty="0" err="1">
                <a:latin typeface="+mn-lt"/>
              </a:rPr>
              <a:t>youtube</a:t>
            </a:r>
            <a:r>
              <a:rPr lang="es-ES" sz="2000" dirty="0">
                <a:latin typeface="+mn-lt"/>
              </a:rPr>
              <a:t>: Clase 1 - Introducción a los sistemas operativos (</a:t>
            </a:r>
            <a:r>
              <a:rPr lang="es-ES" sz="2000" u="sng" dirty="0">
                <a:solidFill>
                  <a:schemeClr val="hlink"/>
                </a:solidFill>
                <a:latin typeface="+mn-lt"/>
                <a:hlinkClick r:id="rId5"/>
              </a:rPr>
              <a:t>link</a:t>
            </a:r>
            <a:r>
              <a:rPr lang="es-ES" sz="2000" dirty="0">
                <a:latin typeface="+mn-lt"/>
              </a:rPr>
              <a:t>).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s-ES" sz="2000" dirty="0">
                <a:latin typeface="+mn-lt"/>
              </a:rPr>
              <a:t>Página de </a:t>
            </a:r>
            <a:r>
              <a:rPr lang="es-ES" sz="2000" dirty="0" err="1">
                <a:latin typeface="+mn-lt"/>
              </a:rPr>
              <a:t>Remzi</a:t>
            </a:r>
            <a:r>
              <a:rPr lang="es-ES" sz="2000" dirty="0">
                <a:latin typeface="+mn-lt"/>
              </a:rPr>
              <a:t> H. </a:t>
            </a:r>
            <a:r>
              <a:rPr lang="es-ES" sz="2000" dirty="0" err="1">
                <a:latin typeface="+mn-lt"/>
              </a:rPr>
              <a:t>Arpaci-Dusseau</a:t>
            </a:r>
            <a:r>
              <a:rPr lang="es-ES" sz="2000" dirty="0">
                <a:latin typeface="+mn-lt"/>
              </a:rPr>
              <a:t> (</a:t>
            </a:r>
            <a:r>
              <a:rPr lang="es-ES" sz="2000" u="sng" dirty="0">
                <a:solidFill>
                  <a:schemeClr val="hlink"/>
                </a:solidFill>
                <a:latin typeface="+mn-lt"/>
                <a:hlinkClick r:id="rId6"/>
              </a:rPr>
              <a:t>link</a:t>
            </a:r>
            <a:r>
              <a:rPr lang="es-ES" sz="2000" dirty="0">
                <a:latin typeface="+mn-lt"/>
              </a:rPr>
              <a:t>)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s-ES" sz="2000" dirty="0" err="1">
                <a:latin typeface="+mn-lt"/>
              </a:rPr>
              <a:t>Operating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System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Concepts</a:t>
            </a:r>
            <a:r>
              <a:rPr lang="es-ES" sz="2000" dirty="0">
                <a:latin typeface="+mn-lt"/>
              </a:rPr>
              <a:t> - </a:t>
            </a:r>
            <a:r>
              <a:rPr lang="es-ES" sz="2000" dirty="0" err="1">
                <a:latin typeface="+mn-lt"/>
              </a:rPr>
              <a:t>Tenth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Edition</a:t>
            </a:r>
            <a:r>
              <a:rPr lang="es-ES" sz="2000" dirty="0">
                <a:latin typeface="+mn-lt"/>
              </a:rPr>
              <a:t> (</a:t>
            </a:r>
            <a:r>
              <a:rPr lang="es-ES" sz="2000" u="sng" dirty="0" err="1">
                <a:solidFill>
                  <a:schemeClr val="hlink"/>
                </a:solidFill>
                <a:latin typeface="+mn-lt"/>
                <a:hlinkClick r:id="rId7"/>
              </a:rPr>
              <a:t>website</a:t>
            </a:r>
            <a:r>
              <a:rPr lang="es-ES" sz="2000" dirty="0">
                <a:latin typeface="+mn-lt"/>
              </a:rPr>
              <a:t>)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s-ES" sz="2000" dirty="0" err="1">
                <a:latin typeface="+mn-lt"/>
              </a:rPr>
              <a:t>Operating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Systems</a:t>
            </a:r>
            <a:r>
              <a:rPr lang="es-ES" sz="2000" dirty="0">
                <a:latin typeface="+mn-lt"/>
              </a:rPr>
              <a:t> Notes (</a:t>
            </a:r>
            <a:r>
              <a:rPr lang="es-ES" sz="2000" u="sng" dirty="0">
                <a:solidFill>
                  <a:schemeClr val="hlink"/>
                </a:solidFill>
                <a:latin typeface="+mn-lt"/>
                <a:hlinkClick r:id="rId8"/>
              </a:rPr>
              <a:t>link</a:t>
            </a:r>
            <a:r>
              <a:rPr lang="es-ES" sz="2000" dirty="0">
                <a:latin typeface="+mn-lt"/>
              </a:rPr>
              <a:t>)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9"/>
              </a:rPr>
              <a:t>https://github.com/Aniruddha-Tapas/Operating-Systems-Notes/blob/master/1-Overview.md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0"/>
              </a:rPr>
              <a:t>https://myaut.github.io/dtrace-stap-book/kernel/proc.html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1"/>
              </a:rPr>
              <a:t>https://myaut.github.io/dtrace-stap-book/index.html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2"/>
              </a:rPr>
              <a:t>https://www.technologyuk.net/computing/computer-software/operating-systems/operating-system-utilities.shtml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3"/>
              </a:rPr>
              <a:t>http://www.it.uu.se/education/course/homepage/os/vt18/module-4/simple-threads/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4"/>
              </a:rPr>
              <a:t>https://courses.cs.duke.edu/spring19/compsci590.1/slides/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5"/>
              </a:rPr>
              <a:t>http://csl.snu.ac.kr/courses/4190.307/2020-1/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6"/>
              </a:rPr>
              <a:t>http://pages.cs.wisc.edu/~bart/537/lecturenotes/titlepage.html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7"/>
              </a:rPr>
              <a:t>https://www.scs.stanford.edu/22wi-cs212/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8"/>
              </a:rPr>
              <a:t>https://flint.cs.yale.edu/cs421/papers/x86-asm/asm.html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900" dirty="0">
              <a:latin typeface="+mn-lt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321</TotalTime>
  <Words>9489</Words>
  <Application>Microsoft Office PowerPoint</Application>
  <PresentationFormat>Panorámica</PresentationFormat>
  <Paragraphs>3252</Paragraphs>
  <Slides>95</Slides>
  <Notes>95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95</vt:i4>
      </vt:variant>
    </vt:vector>
  </HeadingPairs>
  <TitlesOfParts>
    <vt:vector size="104" baseType="lpstr">
      <vt:lpstr>Consolas</vt:lpstr>
      <vt:lpstr>Roboto Slab</vt:lpstr>
      <vt:lpstr>Roboto</vt:lpstr>
      <vt:lpstr>Courier New</vt:lpstr>
      <vt:lpstr>Arial</vt:lpstr>
      <vt:lpstr>Calibri</vt:lpstr>
      <vt:lpstr>Calibri Light</vt:lpstr>
      <vt:lpstr>Times New Roman</vt:lpstr>
      <vt:lpstr>Tema de Office</vt:lpstr>
      <vt:lpstr>Sistemas Operativos</vt:lpstr>
      <vt:lpstr>Virtualización de memoria</vt:lpstr>
      <vt:lpstr>Address Translation (Mapeo)</vt:lpstr>
      <vt:lpstr>Memory Management Unit (MMU)</vt:lpstr>
      <vt:lpstr>Traducción de direcciones – Dynamic Relocation (base &amp; bounds)</vt:lpstr>
      <vt:lpstr>Repaso Traducción de direcciones – Dynamic Relocation (base &amp; bounds)</vt:lpstr>
      <vt:lpstr>Repaso Traducción de direcciones – Dynamic Relocation (base &amp; bounds)</vt:lpstr>
      <vt:lpstr>Fragmentación interna</vt:lpstr>
      <vt:lpstr>Traducción de direcciones - Segmentation</vt:lpstr>
      <vt:lpstr>Traducción de direcciones - Segmentation</vt:lpstr>
      <vt:lpstr>Traducción de direcciones - Segmentation</vt:lpstr>
      <vt:lpstr>Traducción de direcciones - Segmentation</vt:lpstr>
      <vt:lpstr>Fragmentación externa</vt:lpstr>
      <vt:lpstr>Contextualización</vt:lpstr>
      <vt:lpstr>Contextualización</vt:lpstr>
      <vt:lpstr>Paginación</vt:lpstr>
      <vt:lpstr>Paginación</vt:lpstr>
      <vt:lpstr>Paginación</vt:lpstr>
      <vt:lpstr>Paginación</vt:lpstr>
      <vt:lpstr>Paginación</vt:lpstr>
      <vt:lpstr>Paginación</vt:lpstr>
      <vt:lpstr>Paginación</vt:lpstr>
      <vt:lpstr>Paginación</vt:lpstr>
      <vt:lpstr>Paginación</vt:lpstr>
      <vt:lpstr>Paginación</vt:lpstr>
      <vt:lpstr>Traducción de direcciones – Direcciones Virtuales</vt:lpstr>
      <vt:lpstr>Traducción de direcciones – Direcciones Virtuales</vt:lpstr>
      <vt:lpstr>Traducción de direcciones – Direcciones Virtuales</vt:lpstr>
      <vt:lpstr>Traducción de direcciones – Direcciones Virtuales</vt:lpstr>
      <vt:lpstr>Traducción de direcciones – Direcciones Virtuales</vt:lpstr>
      <vt:lpstr>Traducción de direcciones – Direcciones Virtuales</vt:lpstr>
      <vt:lpstr>Traducción de direcciones – Direcciones Virtuales</vt:lpstr>
      <vt:lpstr>Traducción de direcciones – Direcciones Virtuales</vt:lpstr>
      <vt:lpstr>Traducción de direcciones – Direcciones Virtuales</vt:lpstr>
      <vt:lpstr>Traducción de direcciones – Direcciones físicas</vt:lpstr>
      <vt:lpstr>Traducción de direcciones – Direcciones físicas</vt:lpstr>
      <vt:lpstr>Traducción de direcciones – Direcciones físicas</vt:lpstr>
      <vt:lpstr>Traducción de direcciones – Direcciones físicas </vt:lpstr>
      <vt:lpstr>Traducción de direcciones – Direcciones físicas</vt:lpstr>
      <vt:lpstr>Traducción de direcciones – Direcciones físicas</vt:lpstr>
      <vt:lpstr>Traducción de direcciones – Direcciones físicas</vt:lpstr>
      <vt:lpstr>Traducción de direcciones – Tabla de pagina </vt:lpstr>
      <vt:lpstr>Traducción de direcciones – Tabla de pagina </vt:lpstr>
      <vt:lpstr>Traducción de direcciones – Tabla de pagina </vt:lpstr>
      <vt:lpstr>Traducción de direcciones – Tabla de pagina </vt:lpstr>
      <vt:lpstr>Traducción de direcciones </vt:lpstr>
      <vt:lpstr>Traducción de direcciones – HW de traducción </vt:lpstr>
      <vt:lpstr>Traducción de direcciones </vt:lpstr>
      <vt:lpstr>Traducción de direcciones </vt:lpstr>
      <vt:lpstr>Traducción de direcciones </vt:lpstr>
      <vt:lpstr>Procesos y espacio de direcciones</vt:lpstr>
      <vt:lpstr>Procesos y espacio de direcciones</vt:lpstr>
      <vt:lpstr>Procesos y espacio de direcciones</vt:lpstr>
      <vt:lpstr>Procesos y espacio de direcciones</vt:lpstr>
      <vt:lpstr>Procesos y espacio de direcciones</vt:lpstr>
      <vt:lpstr>Procesos y espacio de direcciones</vt:lpstr>
      <vt:lpstr>Procesos y espacio de direcciones</vt:lpstr>
      <vt:lpstr>Procesos y espacio de direcciones</vt:lpstr>
      <vt:lpstr>Procesos y espacio de direcciones</vt:lpstr>
      <vt:lpstr>Procesos y espacio de direcciones</vt:lpstr>
      <vt:lpstr>Estructura de una tabla de página</vt:lpstr>
      <vt:lpstr>Estructura de una tabla de página</vt:lpstr>
      <vt:lpstr>Estructura de una tabla de página</vt:lpstr>
      <vt:lpstr>Estructura de una tabla de página</vt:lpstr>
      <vt:lpstr>Traducción de direcciones (II)</vt:lpstr>
      <vt:lpstr>Traducción de direcciones (II)</vt:lpstr>
      <vt:lpstr>Traducción de direcciones (II)</vt:lpstr>
      <vt:lpstr>Traducción de direcciones (II)</vt:lpstr>
      <vt:lpstr>Traducción de direcciones (II)</vt:lpstr>
      <vt:lpstr>Traducción de direcciones (II)</vt:lpstr>
      <vt:lpstr>Traducción de direcciones (II)</vt:lpstr>
      <vt:lpstr>Traducción de direcciones (II)</vt:lpstr>
      <vt:lpstr>Traducción de direcciones (II)</vt:lpstr>
      <vt:lpstr>Estructura de una tabla de página</vt:lpstr>
      <vt:lpstr>Estructura de una tabla de página</vt:lpstr>
      <vt:lpstr>Estructura de una tabla de página</vt:lpstr>
      <vt:lpstr>Estructura de una tabla de página</vt:lpstr>
      <vt:lpstr>Estructura de una tabla de página</vt:lpstr>
      <vt:lpstr>Estructura de una tabla de página</vt:lpstr>
      <vt:lpstr>Estructura de una tabla de página</vt:lpstr>
      <vt:lpstr>Estructura de una tabla de página</vt:lpstr>
      <vt:lpstr>Estructura de una tabla de página</vt:lpstr>
      <vt:lpstr>Traducción de direcciones usando paginación</vt:lpstr>
      <vt:lpstr>Traducción de direcciones usando paginación</vt:lpstr>
      <vt:lpstr>Traducción de direcciones usando paginación</vt:lpstr>
      <vt:lpstr>Traducción de direcciones usando paginación</vt:lpstr>
      <vt:lpstr>Traducción de direcciones usando paginación</vt:lpstr>
      <vt:lpstr>Traducción de direcciones usando paginación</vt:lpstr>
      <vt:lpstr>Traducción de direcciones usando paginación</vt:lpstr>
      <vt:lpstr>Posibles problemas</vt:lpstr>
      <vt:lpstr>Posibles problemas</vt:lpstr>
      <vt:lpstr>Posibles problemas</vt:lpstr>
      <vt:lpstr>Posibles problemas</vt:lpstr>
      <vt:lpstr>Posibles problemas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Sistemas Operativos</dc:title>
  <dc:creator>Usuario</dc:creator>
  <cp:lastModifiedBy>HENRY ALBERTO ARCILA RAMIREZ</cp:lastModifiedBy>
  <cp:revision>39</cp:revision>
  <dcterms:modified xsi:type="dcterms:W3CDTF">2026-03-26T02:26:06Z</dcterms:modified>
</cp:coreProperties>
</file>