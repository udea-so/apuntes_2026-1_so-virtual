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80" r:id="rId22"/>
    <p:sldId id="281" r:id="rId23"/>
    <p:sldId id="282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9" r:id="rId39"/>
    <p:sldId id="300" r:id="rId40"/>
    <p:sldId id="301" r:id="rId41"/>
    <p:sldId id="303" r:id="rId42"/>
    <p:sldId id="304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7" r:id="rId54"/>
    <p:sldId id="318" r:id="rId55"/>
    <p:sldId id="319" r:id="rId56"/>
    <p:sldId id="320" r:id="rId57"/>
    <p:sldId id="321" r:id="rId58"/>
    <p:sldId id="322" r:id="rId59"/>
    <p:sldId id="324" r:id="rId60"/>
    <p:sldId id="325" r:id="rId61"/>
    <p:sldId id="326" r:id="rId62"/>
    <p:sldId id="327" r:id="rId63"/>
  </p:sldIdLst>
  <p:sldSz cx="12192000" cy="6858000"/>
  <p:notesSz cx="6858000" cy="9144000"/>
  <p:embeddedFontLst>
    <p:embeddedFont>
      <p:font typeface="Calibri" panose="020F0502020204030204" pitchFamily="34" charset="0"/>
      <p:regular r:id="rId65"/>
      <p:bold r:id="rId66"/>
      <p:italic r:id="rId67"/>
      <p:boldItalic r:id="rId68"/>
    </p:embeddedFont>
    <p:embeddedFont>
      <p:font typeface="Calibri Light" panose="020F0302020204030204" pitchFamily="34" charset="0"/>
      <p:regular r:id="rId69"/>
      <p:italic r:id="rId70"/>
    </p:embeddedFont>
    <p:embeddedFont>
      <p:font typeface="Consolas" panose="020B0609020204030204" pitchFamily="49" charset="0"/>
      <p:regular r:id="rId71"/>
      <p:bold r:id="rId72"/>
      <p:italic r:id="rId73"/>
      <p:boldItalic r:id="rId74"/>
    </p:embeddedFont>
    <p:embeddedFont>
      <p:font typeface="Roboto" panose="02000000000000000000" pitchFamily="2" charset="0"/>
      <p:regular r:id="rId75"/>
      <p:bold r:id="rId76"/>
      <p:italic r:id="rId77"/>
      <p:boldItalic r:id="rId78"/>
    </p:embeddedFont>
    <p:embeddedFont>
      <p:font typeface="Roboto Slab" panose="020B0604020202020204" charset="0"/>
      <p:regular r:id="rId79"/>
      <p:bold r:id="rId80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0E1A64-338D-42A0-9394-E2ECDD66DA37}">
  <a:tblStyle styleId="{F60E1A64-338D-42A0-9394-E2ECDD66DA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0.fntdata"/><Relationship Id="rId79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77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8.fntdata"/><Relationship Id="rId80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font" Target="fonts/font1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font" Target="fonts/font9.fntdata"/><Relationship Id="rId78" Type="http://schemas.openxmlformats.org/officeDocument/2006/relationships/font" Target="fonts/font14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font" Target="fonts/font7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13212c29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13212c29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13212c29b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13212c29b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3212c29b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3212c29b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13212c29bb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13212c29bb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113212c29b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113212c29b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13212c29bb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13212c29bb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3212c29bb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13212c29bb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13212c29bb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13212c29bb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113212c29bb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113212c29bb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113212c29bb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13212c29bb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113212c29bb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113212c29bb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0" name="Google Shape;870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113212c29bb_0_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7" name="Google Shape;877;g113212c29bb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13212c29bb_0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4" name="Google Shape;884;g113212c29bb_0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113212c29bb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1" name="Google Shape;891;g113212c29bb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1359daf8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1" name="Google Shape;901;g11359daf8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1359daf871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8" name="Google Shape;908;g11359daf871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0f9d150ef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5" name="Google Shape;925;g10f9d150ef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1359daf87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2" name="Google Shape;942;g11359daf87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11359daf87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6" name="Google Shape;956;g11359daf87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1359daf87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3" name="Google Shape;973;g11359daf87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1359daf8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9" name="Google Shape;999;g11359daf8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11359daf87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0" name="Google Shape;1030;g11359daf87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0f9d150ef3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7" name="Google Shape;1057;g10f9d150ef3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10cb0ccef6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7" name="Google Shape;1067;g10cb0ccef6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150b7416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150b7416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0dd4e9c58c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g10dd4e9c58c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11359daf87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g11359daf87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11359daf871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11359daf871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11359daf871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11359daf871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1359daf871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1359daf871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11359daf871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11359daf871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1359daf871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11359daf871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1359daf871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11359daf871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11359daf871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1359daf871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1359daf871_0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11359daf871_0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11359daf871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11359daf871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9" name="Google Shape;1319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11199df30b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9" name="Google Shape;1369;g11199df30b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1150b74162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8" name="Google Shape;1378;g1150b74162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1150b741621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8" name="Google Shape;1388;g1150b741621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1150b741621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2" name="Google Shape;1412;g1150b741621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150b741621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22" name="Google Shape;1422;g1150b741621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1150b741621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1150b741621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1150b741621_1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1150b741621_1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1150b741621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1150b741621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1150b741621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1150b741621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704C2-E0F4-4985-AAE4-48775AA36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B3DAA3-6D6B-4277-B432-78F41D5BD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274E7E-054B-4592-8098-532AC397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886699-F0F6-4800-8854-152A6F8F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5306A3-0088-4A74-A603-A4D000E2D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00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D0570-5ABE-4196-9AFA-CCD5F7E8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4AE2D-8154-442C-99E2-39F8C5B38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E661ED-AB54-46A4-9D04-829BAB1E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7E5A0-D052-4EA0-95DA-A2C78CEA1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EF109-4F3F-480C-8040-3DF3BFA8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0452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3AF3B-BD1E-4E2B-B860-F5ECE54E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13870E-98FC-4B93-A2E6-3B2C18639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E6D1FD-59B7-46DB-B1D6-D5DC163E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A1288-32D9-4798-90E4-8FC3D244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58CDD-97D2-4721-8E9F-5695732B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204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16064-D549-41FC-80E8-BA931EC9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E46344-8BC2-4398-A637-8356F9899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CDB977-B8C3-4AE6-A600-A51573F8C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E2F03-E365-4D58-9FCF-0C636E92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174B4F-E86B-4A65-8E18-A6E59B10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699AC5-AA53-4A74-9A1A-E239C016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619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8AA0F-8287-4B47-B95B-B2D2F5E5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D27DCE-C19D-443E-BB20-2C103D0C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267507-29C0-44CD-B21D-E522CE6F6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E7B53E-AF71-4939-93DE-E7DB58599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E02F172-A122-4460-BBA5-45287A0FA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37FDF-06AE-4965-8DBE-32BBBF3C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3D4423-8767-4A61-A0E7-913F76FB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36AFFF-55CB-45B4-82B6-847357FB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084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DF3C4-76C1-420D-9C37-2EA92F12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7C3F2E-650D-436F-90CE-F965FC3CA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6700A0-B734-4664-A451-CD846E32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7E4816-0BF9-48A3-9254-4632ECB1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232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DDCCA1-2144-4F58-A066-DCF1CA7F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9387C1-46CB-4D3D-9F62-FBE52073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C760F0-1C4F-4CA1-A0BE-51DB53D7D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7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30715-9C12-4B5C-9330-5CB9CC9A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25DCC-2993-44B5-855C-F268DD117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B37FE3-680C-40B0-8CD3-7806790B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8C8587-006C-4322-A921-2DE0893B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76D1A0-9A4E-4450-8654-9DF4EFFC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2EF46B-8C25-4CB0-88DF-D8C91D4E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610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4833D-98CC-4E88-B32A-F5E8CAA81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682B8D-D165-4097-8F30-BD1309BE3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A1F04C-8F20-4E6B-A72C-343660294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4CD7C4-CDB2-4EAA-9D63-83572A8D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4C3447-346A-43A3-B6BB-1ECDF986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E69616-C454-4D3F-A9FB-BCE0372F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52065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4703A-6071-4B8B-99CD-181F0F9D7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86C90D-B600-4B21-8825-B014F706B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81141-86EC-40F9-914D-DAFD737B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691ADB-1A33-4781-BBEF-732D31DD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3314D8-E620-42F1-81C9-7E038D65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83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831C55-CEFB-4AD5-9571-4E512CC95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FAC652-1931-4B4F-A8F3-1F6EA0D2A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B8EE4-9BAC-4C17-9BC2-9619223F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CCAE2-AB0C-4473-8A7E-95937BCB2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D10994-4B68-4721-A5EC-D3F6A8D6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74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7112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1378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628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0974DC3-3A6B-4BEC-83D9-38D173B0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C8F760-4211-411F-A55D-E0A05AA2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31DC5-69EE-4D24-B5FA-5AD9960C3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16A67E-8FE1-4C13-8D32-8E4534F8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C5208A-C6E6-4B99-92C1-680BC4318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89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18" Type="http://schemas.openxmlformats.org/officeDocument/2006/relationships/hyperlink" Target="https://www.scs.stanford.edu/22wi-cs212/" TargetMode="External"/><Relationship Id="rId3" Type="http://schemas.openxmlformats.org/officeDocument/2006/relationships/hyperlink" Target="http://pages.cs.wisc.edu/~remzi/OSTEP/" TargetMode="External"/><Relationship Id="rId21" Type="http://schemas.openxmlformats.org/officeDocument/2006/relationships/hyperlink" Target="https://applied-programming.github.io/Operating-Systems-Notes/5-Memory-Management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://pages.cs.wisc.edu/~bart/537/lecturenotes/titlepage.html" TargetMode="External"/><Relationship Id="rId2" Type="http://schemas.openxmlformats.org/officeDocument/2006/relationships/notesSlide" Target="../notesSlides/notesSlide62.xml"/><Relationship Id="rId16" Type="http://schemas.openxmlformats.org/officeDocument/2006/relationships/hyperlink" Target="http://csl.snu.ac.kr/courses/4190.307/2020-1/" TargetMode="External"/><Relationship Id="rId20" Type="http://schemas.openxmlformats.org/officeDocument/2006/relationships/hyperlink" Target="https://github.com/Aniruddha-Tapas/Operating-Systems-Notes/blob/master/5-Memory-Management.m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19" Type="http://schemas.openxmlformats.org/officeDocument/2006/relationships/hyperlink" Target="https://flint.cs.yale.edu/cs421/papers/x86-asm/asm.html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036024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705277"/>
            <a:ext cx="9144000" cy="16557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Clase</a:t>
            </a:r>
            <a:r>
              <a:rPr lang="es-E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3200" b="1" dirty="0"/>
              <a:t>11 –</a:t>
            </a:r>
            <a:r>
              <a:rPr lang="es-ES" sz="3200" b="1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3200" b="1" dirty="0"/>
              <a:t>TLB</a:t>
            </a:r>
          </a:p>
          <a:p>
            <a:r>
              <a:rPr lang="es-ES" dirty="0">
                <a:sym typeface="Roboto"/>
              </a:rPr>
              <a:t>14/04/2026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159774" y="12890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 de memoria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2653842" y="2205743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2647879" y="4325918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5593363" y="1668125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922463" y="28165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6650" y="44429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3483725" y="2219900"/>
            <a:ext cx="2105700" cy="357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3483725" y="3386225"/>
            <a:ext cx="2108700" cy="363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3464013" y="42954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3458188" y="54686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1617163" y="30614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605438" y="46500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2284113" y="4807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2295763" y="32139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>
            <a:off x="3460163" y="2697395"/>
            <a:ext cx="2141100" cy="3765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3454201" y="47881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2348263" y="5903000"/>
            <a:ext cx="4426050" cy="677100"/>
            <a:chOff x="7439250" y="5328100"/>
            <a:chExt cx="4426050" cy="6771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2429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sz="1600" b="1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5593838" y="1679225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urier New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150" y="4442900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7189838" y="18461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220650" y="18461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238" y="2872288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6930188" y="367860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AS(P1)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431825" y="388985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AS(P2)</a:t>
            </a:r>
            <a:endParaRPr sz="1600"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31813" y="1757963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AS(P1)</a:t>
            </a:r>
            <a:endParaRPr sz="1600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3038" y="2778963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8960988" y="3678175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AS(P2)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 rot="10800000" flipH="1">
            <a:off x="6930200" y="4144275"/>
            <a:ext cx="5067300" cy="234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10355463" y="284357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rPr>
              <a:t>Memoria Virtual</a:t>
            </a:r>
            <a:endParaRPr sz="1600" b="1">
              <a:solidFill>
                <a:srgbClr val="70AD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0304688" y="456912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Memoria Física</a:t>
            </a:r>
            <a:endParaRPr sz="1600" b="1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484836" y="29320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- Mapeo</a:t>
            </a:r>
            <a:endParaRPr dirty="0"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406812" y="4949428"/>
            <a:ext cx="9378375" cy="1156800"/>
            <a:chOff x="1094825" y="3951525"/>
            <a:chExt cx="9378375" cy="1156800"/>
          </a:xfrm>
        </p:grpSpPr>
        <p:grpSp>
          <p:nvGrpSpPr>
            <p:cNvPr id="235" name="Google Shape;235;p21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236" name="Google Shape;236;p21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7" name="Google Shape;237;p21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39" name="Google Shape;239;p21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1452550" y="2566492"/>
            <a:ext cx="2514286" cy="1890706"/>
            <a:chOff x="1378950" y="2483639"/>
            <a:chExt cx="2514286" cy="1890706"/>
          </a:xfrm>
        </p:grpSpPr>
        <p:grpSp>
          <p:nvGrpSpPr>
            <p:cNvPr id="242" name="Google Shape;242;p21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4" name="Google Shape;244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5" name="Google Shape;245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6" name="Google Shape;246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47" name="Google Shape;247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48" name="Google Shape;248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49" name="Google Shape;249;p21"/>
                <p:cNvCxnSpPr>
                  <a:stCxn id="247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0" name="Google Shape;250;p21"/>
                <p:cNvCxnSpPr>
                  <a:stCxn id="248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51" name="Google Shape;251;p21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52" name="Google Shape;252;p21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1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54" name="Google Shape;254;p21"/>
          <p:cNvSpPr txBox="1"/>
          <p:nvPr/>
        </p:nvSpPr>
        <p:spPr>
          <a:xfrm>
            <a:off x="1936087" y="1986978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Mapa de memoria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55" name="Google Shape;255;p21"/>
          <p:cNvGrpSpPr/>
          <p:nvPr/>
        </p:nvGrpSpPr>
        <p:grpSpPr>
          <a:xfrm>
            <a:off x="9077100" y="2067328"/>
            <a:ext cx="822300" cy="2750411"/>
            <a:chOff x="8636788" y="1783150"/>
            <a:chExt cx="822300" cy="2750411"/>
          </a:xfrm>
        </p:grpSpPr>
        <p:sp>
          <p:nvSpPr>
            <p:cNvPr id="256" name="Google Shape;256;p21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21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258" name="Google Shape;258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9" name="Google Shape;259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60" name="Google Shape;260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1" name="Google Shape;261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/>
                </a:p>
              </p:txBody>
            </p:sp>
            <p:sp>
              <p:nvSpPr>
                <p:cNvPr id="262" name="Google Shape;262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/>
                </a:p>
              </p:txBody>
            </p:sp>
            <p:sp>
              <p:nvSpPr>
                <p:cNvPr id="263" name="Google Shape;263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/>
                </a:p>
              </p:txBody>
            </p:sp>
            <p:cxnSp>
              <p:nvCxnSpPr>
                <p:cNvPr id="264" name="Google Shape;264;p21"/>
                <p:cNvCxnSpPr>
                  <a:stCxn id="26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5" name="Google Shape;265;p21"/>
                <p:cNvCxnSpPr>
                  <a:stCxn id="26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66" name="Google Shape;266;p21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67" name="Google Shape;267;p21"/>
          <p:cNvCxnSpPr/>
          <p:nvPr/>
        </p:nvCxnSpPr>
        <p:spPr>
          <a:xfrm>
            <a:off x="4038987" y="2572603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1"/>
          <p:cNvCxnSpPr/>
          <p:nvPr/>
        </p:nvCxnSpPr>
        <p:spPr>
          <a:xfrm rot="10800000" flipH="1">
            <a:off x="4038987" y="4019228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9" name="Google Shape;269;p21"/>
          <p:cNvSpPr txBox="1"/>
          <p:nvPr/>
        </p:nvSpPr>
        <p:spPr>
          <a:xfrm>
            <a:off x="2460612" y="2911903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70" name="Google Shape;270;p21"/>
          <p:cNvCxnSpPr>
            <a:stCxn id="246" idx="1"/>
          </p:cNvCxnSpPr>
          <p:nvPr/>
        </p:nvCxnSpPr>
        <p:spPr>
          <a:xfrm flipH="1">
            <a:off x="2804717" y="3064300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8505012" y="3064303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chemeClr val="accent6"/>
              </a:solidFill>
              <a:highlight>
                <a:schemeClr val="lt1"/>
              </a:highlight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flipH="1">
            <a:off x="8849117" y="3216700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3" name="Google Shape;273;p21"/>
          <p:cNvCxnSpPr/>
          <p:nvPr/>
        </p:nvCxnSpPr>
        <p:spPr>
          <a:xfrm>
            <a:off x="3966837" y="3074128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Memory Management Unit (MMU)</a:t>
            </a:r>
            <a:endParaRPr dirty="0"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1073647" y="1905200"/>
            <a:ext cx="3303251" cy="837000"/>
            <a:chOff x="3888184" y="3951525"/>
            <a:chExt cx="3303251" cy="837000"/>
          </a:xfrm>
        </p:grpSpPr>
        <p:grpSp>
          <p:nvGrpSpPr>
            <p:cNvPr id="281" name="Google Shape;281;p22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282" name="Google Shape;282;p22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3" name="Google Shape;283;p22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4" name="Google Shape;284;p22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85" name="Google Shape;285;p22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1497041" y="3271320"/>
            <a:ext cx="2340362" cy="3256628"/>
            <a:chOff x="8005450" y="1566825"/>
            <a:chExt cx="3308400" cy="4491900"/>
          </a:xfrm>
        </p:grpSpPr>
        <p:sp>
          <p:nvSpPr>
            <p:cNvPr id="288" name="Google Shape;288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90" name="Google Shape;290;p22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2" name="Google Shape;292;p22"/>
              <p:cNvCxnSpPr>
                <a:stCxn id="291" idx="4"/>
                <a:endCxn id="29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94" name="Google Shape;294;p22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293" name="Google Shape;293;p22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95" name="Google Shape;295;p22"/>
                <p:cNvSpPr txBox="1"/>
                <p:nvPr/>
              </p:nvSpPr>
              <p:spPr>
                <a:xfrm>
                  <a:off x="9216100" y="3718050"/>
                  <a:ext cx="887100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296" name="Google Shape;296;p22"/>
          <p:cNvGrpSpPr/>
          <p:nvPr/>
        </p:nvGrpSpPr>
        <p:grpSpPr>
          <a:xfrm>
            <a:off x="4973481" y="2822807"/>
            <a:ext cx="5734875" cy="3579418"/>
            <a:chOff x="4973481" y="2822807"/>
            <a:chExt cx="5734875" cy="3579418"/>
          </a:xfrm>
        </p:grpSpPr>
        <p:grpSp>
          <p:nvGrpSpPr>
            <p:cNvPr id="297" name="Google Shape;297;p22"/>
            <p:cNvGrpSpPr/>
            <p:nvPr/>
          </p:nvGrpSpPr>
          <p:grpSpPr>
            <a:xfrm>
              <a:off x="4973481" y="3397057"/>
              <a:ext cx="5571969" cy="3005168"/>
              <a:chOff x="4471956" y="3182707"/>
              <a:chExt cx="5571969" cy="3005168"/>
            </a:xfrm>
          </p:grpSpPr>
          <p:sp>
            <p:nvSpPr>
              <p:cNvPr id="298" name="Google Shape;298;p22"/>
              <p:cNvSpPr/>
              <p:nvPr/>
            </p:nvSpPr>
            <p:spPr>
              <a:xfrm>
                <a:off x="4509800" y="3771125"/>
                <a:ext cx="3114300" cy="1492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4471956" y="3182707"/>
                <a:ext cx="1487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999999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CPU Chip</a:t>
                </a:r>
                <a:endParaRPr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>
                <a:off x="4657298" y="4179826"/>
                <a:ext cx="699600" cy="7218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1" name="Google Shape;301;p22"/>
              <p:cNvCxnSpPr>
                <a:stCxn id="300" idx="6"/>
                <a:endCxn id="302" idx="1"/>
              </p:cNvCxnSpPr>
              <p:nvPr/>
            </p:nvCxnSpPr>
            <p:spPr>
              <a:xfrm>
                <a:off x="5356898" y="4540726"/>
                <a:ext cx="1232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3" name="Google Shape;303;p22"/>
              <p:cNvGrpSpPr/>
              <p:nvPr/>
            </p:nvGrpSpPr>
            <p:grpSpPr>
              <a:xfrm>
                <a:off x="6589263" y="4081121"/>
                <a:ext cx="895500" cy="878104"/>
                <a:chOff x="6589263" y="4081121"/>
                <a:chExt cx="895500" cy="878104"/>
              </a:xfrm>
            </p:grpSpPr>
            <p:sp>
              <p:nvSpPr>
                <p:cNvPr id="302" name="Google Shape;302;p22"/>
                <p:cNvSpPr/>
                <p:nvPr/>
              </p:nvSpPr>
              <p:spPr>
                <a:xfrm>
                  <a:off x="6589263" y="4122225"/>
                  <a:ext cx="895500" cy="8370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04" name="Google Shape;304;p22"/>
                <p:cNvSpPr txBox="1"/>
                <p:nvPr/>
              </p:nvSpPr>
              <p:spPr>
                <a:xfrm>
                  <a:off x="6746730" y="4081121"/>
                  <a:ext cx="6276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305" name="Google Shape;305;p22"/>
              <p:cNvCxnSpPr>
                <a:stCxn id="302" idx="3"/>
              </p:cNvCxnSpPr>
              <p:nvPr/>
            </p:nvCxnSpPr>
            <p:spPr>
              <a:xfrm>
                <a:off x="7484763" y="4540725"/>
                <a:ext cx="1428000" cy="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6" name="Google Shape;306;p22"/>
              <p:cNvGrpSpPr/>
              <p:nvPr/>
            </p:nvGrpSpPr>
            <p:grpSpPr>
              <a:xfrm>
                <a:off x="8918625" y="3347575"/>
                <a:ext cx="1125300" cy="2339900"/>
                <a:chOff x="2625425" y="3871775"/>
                <a:chExt cx="1125300" cy="2339900"/>
              </a:xfrm>
            </p:grpSpPr>
            <p:grpSp>
              <p:nvGrpSpPr>
                <p:cNvPr id="307" name="Google Shape;307;p22"/>
                <p:cNvGrpSpPr/>
                <p:nvPr/>
              </p:nvGrpSpPr>
              <p:grpSpPr>
                <a:xfrm>
                  <a:off x="2626525" y="4273149"/>
                  <a:ext cx="1124200" cy="1619400"/>
                  <a:chOff x="2626525" y="4273149"/>
                  <a:chExt cx="1124200" cy="1619400"/>
                </a:xfrm>
              </p:grpSpPr>
              <p:sp>
                <p:nvSpPr>
                  <p:cNvPr id="308" name="Google Shape;308;p22"/>
                  <p:cNvSpPr/>
                  <p:nvPr/>
                </p:nvSpPr>
                <p:spPr>
                  <a:xfrm>
                    <a:off x="2626525" y="4273149"/>
                    <a:ext cx="1122000" cy="16194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2"/>
                  <p:cNvSpPr/>
                  <p:nvPr/>
                </p:nvSpPr>
                <p:spPr>
                  <a:xfrm>
                    <a:off x="2628725" y="4801224"/>
                    <a:ext cx="1122000" cy="583200"/>
                  </a:xfrm>
                  <a:prstGeom prst="rect">
                    <a:avLst/>
                  </a:prstGeom>
                  <a:solidFill>
                    <a:srgbClr val="D9D9D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200"/>
                  </a:p>
                </p:txBody>
              </p:sp>
            </p:grpSp>
            <p:cxnSp>
              <p:nvCxnSpPr>
                <p:cNvPr id="310" name="Google Shape;310;p22"/>
                <p:cNvCxnSpPr/>
                <p:nvPr/>
              </p:nvCxnSpPr>
              <p:spPr>
                <a:xfrm rot="10800000">
                  <a:off x="2625425" y="3872500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22"/>
                <p:cNvCxnSpPr/>
                <p:nvPr/>
              </p:nvCxnSpPr>
              <p:spPr>
                <a:xfrm rot="10800000">
                  <a:off x="2627600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22"/>
                <p:cNvCxnSpPr/>
                <p:nvPr/>
              </p:nvCxnSpPr>
              <p:spPr>
                <a:xfrm rot="10800000">
                  <a:off x="3749525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22"/>
                <p:cNvCxnSpPr/>
                <p:nvPr/>
              </p:nvCxnSpPr>
              <p:spPr>
                <a:xfrm rot="10800000">
                  <a:off x="3748600" y="38717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14" name="Google Shape;314;p22"/>
              <p:cNvSpPr txBox="1"/>
              <p:nvPr/>
            </p:nvSpPr>
            <p:spPr>
              <a:xfrm>
                <a:off x="5356900" y="4122225"/>
                <a:ext cx="1153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Virtual Address (VA)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15" name="Google Shape;315;p22"/>
              <p:cNvSpPr txBox="1"/>
              <p:nvPr/>
            </p:nvSpPr>
            <p:spPr>
              <a:xfrm>
                <a:off x="7569875" y="4122225"/>
                <a:ext cx="13428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Address (PA)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16" name="Google Shape;316;p22"/>
              <p:cNvCxnSpPr>
                <a:stCxn id="309" idx="3"/>
              </p:cNvCxnSpPr>
              <p:nvPr/>
            </p:nvCxnSpPr>
            <p:spPr>
              <a:xfrm flipH="1">
                <a:off x="5017125" y="4568624"/>
                <a:ext cx="5026800" cy="1581900"/>
              </a:xfrm>
              <a:prstGeom prst="bentConnector3">
                <a:avLst>
                  <a:gd name="adj1" fmla="val -4737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22"/>
              <p:cNvCxnSpPr>
                <a:endCxn id="300" idx="4"/>
              </p:cNvCxnSpPr>
              <p:nvPr/>
            </p:nvCxnSpPr>
            <p:spPr>
              <a:xfrm rot="10800000">
                <a:off x="5007098" y="4901626"/>
                <a:ext cx="9300" cy="1254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18" name="Google Shape;318;p22"/>
              <p:cNvSpPr txBox="1"/>
              <p:nvPr/>
            </p:nvSpPr>
            <p:spPr>
              <a:xfrm>
                <a:off x="7089575" y="5849175"/>
                <a:ext cx="1342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nsolas"/>
                    <a:ea typeface="Consolas"/>
                    <a:cs typeface="Consolas"/>
                    <a:sym typeface="Consolas"/>
                  </a:rPr>
                  <a:t>Data word</a:t>
                </a:r>
                <a:endParaRPr sz="10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19" name="Google Shape;319;p22"/>
            <p:cNvSpPr txBox="1"/>
            <p:nvPr/>
          </p:nvSpPr>
          <p:spPr>
            <a:xfrm>
              <a:off x="9220656" y="2822807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486697" y="365125"/>
            <a:ext cx="11385755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Dynamic Relocation (Base &amp; Bounds)</a:t>
            </a:r>
            <a:endParaRPr dirty="0"/>
          </a:p>
        </p:txBody>
      </p:sp>
      <p:grpSp>
        <p:nvGrpSpPr>
          <p:cNvPr id="326" name="Google Shape;326;p23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327" name="Google Shape;327;p2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29" name="Google Shape;329;p23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330" name="Google Shape;330;p2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31" name="Google Shape;331;p23"/>
              <p:cNvCxnSpPr>
                <a:stCxn id="330" idx="4"/>
                <a:endCxn id="332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33" name="Google Shape;333;p23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332" name="Google Shape;332;p23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34" name="Google Shape;334;p23"/>
                <p:cNvSpPr txBox="1"/>
                <p:nvPr/>
              </p:nvSpPr>
              <p:spPr>
                <a:xfrm>
                  <a:off x="9216100" y="3718050"/>
                  <a:ext cx="887100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335" name="Google Shape;335;p23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336" name="Google Shape;336;p23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4324806" y="183183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504648" y="3708601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7487305" y="2654096"/>
              <a:ext cx="627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41" name="Google Shape;341;p23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342" name="Google Shape;342;p23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343" name="Google Shape;343;p2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23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345" name="Google Shape;345;p2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2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2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2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9" name="Google Shape;349;p23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Address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5204248" y="3110700"/>
              <a:ext cx="5193702" cy="2052650"/>
              <a:chOff x="4839273" y="4250500"/>
              <a:chExt cx="5193702" cy="2052650"/>
            </a:xfrm>
          </p:grpSpPr>
          <p:grpSp>
            <p:nvGrpSpPr>
              <p:cNvPr id="353" name="Google Shape;353;p23"/>
              <p:cNvGrpSpPr/>
              <p:nvPr/>
            </p:nvGrpSpPr>
            <p:grpSpPr>
              <a:xfrm>
                <a:off x="4839273" y="4250500"/>
                <a:ext cx="5193702" cy="2052650"/>
                <a:chOff x="4705323" y="4089750"/>
                <a:chExt cx="5193702" cy="2052650"/>
              </a:xfrm>
            </p:grpSpPr>
            <p:sp>
              <p:nvSpPr>
                <p:cNvPr id="354" name="Google Shape;354;p23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5" name="Google Shape;355;p23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 err="1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6" name="Google Shape;356;p23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7" name="Google Shape;357;p23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358" name="Google Shape;358;p23"/>
                <p:cNvCxnSpPr>
                  <a:stCxn id="338" idx="6"/>
                  <a:endCxn id="356" idx="1"/>
                </p:cNvCxnSpPr>
                <p:nvPr/>
              </p:nvCxnSpPr>
              <p:spPr>
                <a:xfrm rot="10800000" flipH="1">
                  <a:off x="4705323" y="5038651"/>
                  <a:ext cx="1751700" cy="9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59" name="Google Shape;359;p23"/>
                <p:cNvCxnSpPr>
                  <a:stCxn id="355" idx="2"/>
                  <a:endCxn id="356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0" name="Google Shape;360;p23"/>
                <p:cNvCxnSpPr>
                  <a:stCxn id="354" idx="2"/>
                  <a:endCxn id="357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1" name="Google Shape;361;p23"/>
                <p:cNvCxnSpPr>
                  <a:stCxn id="356" idx="3"/>
                  <a:endCxn id="357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362;p23"/>
                <p:cNvCxnSpPr>
                  <a:stCxn id="356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363;p23"/>
                <p:cNvCxnSpPr>
                  <a:stCxn id="357" idx="6"/>
                  <a:endCxn id="344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64" name="Google Shape;364;p23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65" name="Google Shape;365;p23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66" name="Google Shape;366;p23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67" name="Google Shape;367;p23"/>
            <p:cNvCxnSpPr>
              <a:stCxn id="344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23"/>
            <p:cNvCxnSpPr>
              <a:endCxn id="338" idx="4"/>
            </p:cNvCxnSpPr>
            <p:nvPr/>
          </p:nvCxnSpPr>
          <p:spPr>
            <a:xfrm rot="10800000">
              <a:off x="4854448" y="4430401"/>
              <a:ext cx="4800" cy="1394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9" name="Google Shape;369;p23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Dynamic Relocation (Base &amp; Bounds)</a:t>
            </a:r>
            <a:endParaRPr dirty="0"/>
          </a:p>
        </p:txBody>
      </p:sp>
      <p:grpSp>
        <p:nvGrpSpPr>
          <p:cNvPr id="376" name="Google Shape;376;p24"/>
          <p:cNvGrpSpPr/>
          <p:nvPr/>
        </p:nvGrpSpPr>
        <p:grpSpPr>
          <a:xfrm>
            <a:off x="5103489" y="1857388"/>
            <a:ext cx="5468492" cy="2566425"/>
            <a:chOff x="4905735" y="3809425"/>
            <a:chExt cx="5468492" cy="2566425"/>
          </a:xfrm>
        </p:grpSpPr>
        <p:sp>
          <p:nvSpPr>
            <p:cNvPr id="377" name="Google Shape;377;p24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 err="1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82" name="Google Shape;382;p24"/>
            <p:cNvCxnSpPr>
              <a:stCxn id="377" idx="3"/>
              <a:endCxn id="380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3" name="Google Shape;383;p24"/>
            <p:cNvCxnSpPr>
              <a:stCxn id="379" idx="2"/>
              <a:endCxn id="380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4" name="Google Shape;384;p24"/>
            <p:cNvCxnSpPr>
              <a:stCxn id="378" idx="2"/>
              <a:endCxn id="381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5" name="Google Shape;385;p24"/>
            <p:cNvCxnSpPr>
              <a:stCxn id="380" idx="3"/>
              <a:endCxn id="381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6" name="Google Shape;386;p24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7" name="Google Shape;387;p24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9" name="Google Shape;389;p24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0" name="Google Shape;390;p24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2" name="Google Shape;392;p24"/>
          <p:cNvGrpSpPr/>
          <p:nvPr/>
        </p:nvGrpSpPr>
        <p:grpSpPr>
          <a:xfrm>
            <a:off x="6529804" y="4851963"/>
            <a:ext cx="3132600" cy="637200"/>
            <a:chOff x="6652650" y="1665575"/>
            <a:chExt cx="3132600" cy="637200"/>
          </a:xfrm>
        </p:grpSpPr>
        <p:sp>
          <p:nvSpPr>
            <p:cNvPr id="393" name="Google Shape;393;p24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5" name="Google Shape;395;p24"/>
          <p:cNvGrpSpPr/>
          <p:nvPr/>
        </p:nvGrpSpPr>
        <p:grpSpPr>
          <a:xfrm>
            <a:off x="6529804" y="5742388"/>
            <a:ext cx="3132600" cy="637200"/>
            <a:chOff x="6652650" y="2614950"/>
            <a:chExt cx="3132600" cy="637200"/>
          </a:xfrm>
        </p:grpSpPr>
        <p:sp>
          <p:nvSpPr>
            <p:cNvPr id="396" name="Google Shape;396;p24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</a:t>
              </a:r>
              <a:r>
                <a:rPr lang="es-ES" sz="2400" b="1" dirty="0" err="1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24"/>
          <p:cNvGrpSpPr/>
          <p:nvPr/>
        </p:nvGrpSpPr>
        <p:grpSpPr>
          <a:xfrm>
            <a:off x="1514196" y="2190405"/>
            <a:ext cx="2340362" cy="3023498"/>
            <a:chOff x="8005450" y="1566825"/>
            <a:chExt cx="3308400" cy="4491900"/>
          </a:xfrm>
        </p:grpSpPr>
        <p:sp>
          <p:nvSpPr>
            <p:cNvPr id="399" name="Google Shape;399;p24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1" name="Google Shape;401;p24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402" name="Google Shape;402;p24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3" name="Google Shape;403;p24"/>
              <p:cNvCxnSpPr>
                <a:stCxn id="402" idx="4"/>
                <a:endCxn id="404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5" name="Google Shape;405;p24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406" name="Google Shape;406;p24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04" name="Google Shape;404;p24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7" name="Google Shape;407;p24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08" name="Google Shape;408;p24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409" name="Google Shape;409;p24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24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1" name="Google Shape;411;p24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412" name="Google Shape;412;p24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24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 err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pSp>
        <p:nvGrpSpPr>
          <p:cNvPr id="420" name="Google Shape;420;p25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421" name="Google Shape;421;p25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2" name="Google Shape;422;p25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23" name="Google Shape;423;p25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424" name="Google Shape;424;p25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25" name="Google Shape;425;p25"/>
              <p:cNvCxnSpPr>
                <a:stCxn id="424" idx="4"/>
                <a:endCxn id="426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7" name="Google Shape;427;p25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426" name="Google Shape;426;p25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8" name="Google Shape;428;p25"/>
                <p:cNvSpPr txBox="1"/>
                <p:nvPr/>
              </p:nvSpPr>
              <p:spPr>
                <a:xfrm>
                  <a:off x="9216100" y="3718050"/>
                  <a:ext cx="887100" cy="5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8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429" name="Google Shape;429;p25"/>
          <p:cNvSpPr/>
          <p:nvPr/>
        </p:nvSpPr>
        <p:spPr>
          <a:xfrm>
            <a:off x="3944800" y="2629888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3951581" y="2078519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4131423" y="3824526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5930200" y="3070038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3" name="Google Shape;433;p25"/>
          <p:cNvSpPr txBox="1"/>
          <p:nvPr/>
        </p:nvSpPr>
        <p:spPr>
          <a:xfrm>
            <a:off x="6976455" y="3070033"/>
            <a:ext cx="6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5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25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25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7" name="Google Shape;437;p25"/>
          <p:cNvCxnSpPr>
            <a:stCxn id="431" idx="6"/>
            <a:endCxn id="432" idx="1"/>
          </p:cNvCxnSpPr>
          <p:nvPr/>
        </p:nvCxnSpPr>
        <p:spPr>
          <a:xfrm>
            <a:off x="4831023" y="4185426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" name="Google Shape;438;p25"/>
          <p:cNvCxnSpPr>
            <a:stCxn id="432" idx="3"/>
            <a:endCxn id="439" idx="1"/>
          </p:cNvCxnSpPr>
          <p:nvPr/>
        </p:nvCxnSpPr>
        <p:spPr>
          <a:xfrm>
            <a:off x="8650300" y="4185438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0" name="Google Shape;440;p25"/>
          <p:cNvCxnSpPr>
            <a:endCxn id="431" idx="4"/>
          </p:cNvCxnSpPr>
          <p:nvPr/>
        </p:nvCxnSpPr>
        <p:spPr>
          <a:xfrm rot="10800000">
            <a:off x="4481223" y="4546326"/>
            <a:ext cx="5400" cy="144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1" name="Google Shape;441;p25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2" name="Google Shape;442;p25"/>
          <p:cNvGrpSpPr/>
          <p:nvPr/>
        </p:nvGrpSpPr>
        <p:grpSpPr>
          <a:xfrm>
            <a:off x="10021450" y="2970513"/>
            <a:ext cx="1125300" cy="2339900"/>
            <a:chOff x="2625425" y="3871775"/>
            <a:chExt cx="1125300" cy="2339900"/>
          </a:xfrm>
        </p:grpSpPr>
        <p:grpSp>
          <p:nvGrpSpPr>
            <p:cNvPr id="443" name="Google Shape;443;p25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444" name="Google Shape;444;p25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5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445" name="Google Shape;445;p25"/>
            <p:cNvCxnSpPr/>
            <p:nvPr/>
          </p:nvCxnSpPr>
          <p:spPr>
            <a:xfrm rot="10800000">
              <a:off x="2625425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p25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7" name="Google Shape;447;p25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8" name="Google Shape;448;p25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49" name="Google Shape;449;p25"/>
          <p:cNvGraphicFramePr/>
          <p:nvPr/>
        </p:nvGraphicFramePr>
        <p:xfrm>
          <a:off x="6109638" y="353901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450" name="Google Shape;450;p25"/>
          <p:cNvCxnSpPr>
            <a:stCxn id="439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pSp>
        <p:nvGrpSpPr>
          <p:cNvPr id="456" name="Google Shape;456;p26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457" name="Google Shape;457;p26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8" name="Google Shape;458;p26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60" name="Google Shape;460;p26"/>
            <p:cNvCxnSpPr>
              <a:stCxn id="459" idx="4"/>
              <a:endCxn id="461" idx="0"/>
            </p:cNvCxnSpPr>
            <p:nvPr/>
          </p:nvCxnSpPr>
          <p:spPr>
            <a:xfrm>
              <a:off x="2370311" y="3522614"/>
              <a:ext cx="0" cy="355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462" name="Google Shape;462;p26"/>
            <p:cNvGrpSpPr/>
            <p:nvPr/>
          </p:nvGrpSpPr>
          <p:grpSpPr>
            <a:xfrm>
              <a:off x="910042" y="3822353"/>
              <a:ext cx="2920431" cy="2339925"/>
              <a:chOff x="8597231" y="3675891"/>
              <a:chExt cx="4880400" cy="1753278"/>
            </a:xfrm>
          </p:grpSpPr>
          <p:sp>
            <p:nvSpPr>
              <p:cNvPr id="461" name="Google Shape;461;p26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63" name="Google Shape;463;p26"/>
              <p:cNvSpPr txBox="1"/>
              <p:nvPr/>
            </p:nvSpPr>
            <p:spPr>
              <a:xfrm>
                <a:off x="10593876" y="3675891"/>
                <a:ext cx="887101" cy="3228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464" name="Google Shape;464;p26"/>
          <p:cNvGraphicFramePr/>
          <p:nvPr/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6" name="Google Shape;466;p26"/>
          <p:cNvGraphicFramePr/>
          <p:nvPr>
            <p:extLst>
              <p:ext uri="{D42A27DB-BD31-4B8C-83A1-F6EECF244321}">
                <p14:modId xmlns:p14="http://schemas.microsoft.com/office/powerpoint/2010/main" val="4112303424"/>
              </p:ext>
            </p:extLst>
          </p:nvPr>
        </p:nvGraphicFramePr>
        <p:xfrm>
          <a:off x="5188843" y="3820600"/>
          <a:ext cx="6747813" cy="1737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9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7" name="Google Shape;467;p26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8" name="Google Shape;468;p26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469" name="Google Shape;469;p26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471" name="Google Shape;471;p26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Segmentation</a:t>
            </a:r>
            <a:endParaRPr dirty="0"/>
          </a:p>
        </p:txBody>
      </p:sp>
      <p:graphicFrame>
        <p:nvGraphicFramePr>
          <p:cNvPr id="479" name="Google Shape;479;p27"/>
          <p:cNvGraphicFramePr/>
          <p:nvPr/>
        </p:nvGraphicFramePr>
        <p:xfrm>
          <a:off x="1055875" y="1893350"/>
          <a:ext cx="10271900" cy="35050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base(code)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- VA(heap)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base(heap)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offset(stack) = offset - offset(</a:t>
                      </a: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base(stack)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80" name="Google Shape;4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900" y="3564375"/>
            <a:ext cx="4865550" cy="115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"/>
          <p:cNvSpPr txBox="1">
            <a:spLocks noGrp="1"/>
          </p:cNvSpPr>
          <p:nvPr>
            <p:ph type="title"/>
          </p:nvPr>
        </p:nvSpPr>
        <p:spPr>
          <a:xfrm>
            <a:off x="658578" y="20221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graphicFrame>
        <p:nvGraphicFramePr>
          <p:cNvPr id="487" name="Google Shape;487;p28"/>
          <p:cNvGraphicFramePr/>
          <p:nvPr/>
        </p:nvGraphicFramePr>
        <p:xfrm>
          <a:off x="2014588" y="1942000"/>
          <a:ext cx="2227675" cy="17982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88" name="Google Shape;488;p28"/>
          <p:cNvGrpSpPr/>
          <p:nvPr/>
        </p:nvGrpSpPr>
        <p:grpSpPr>
          <a:xfrm>
            <a:off x="964454" y="1889463"/>
            <a:ext cx="979788" cy="1655500"/>
            <a:chOff x="6895500" y="3168388"/>
            <a:chExt cx="963600" cy="1655500"/>
          </a:xfrm>
        </p:grpSpPr>
        <p:sp>
          <p:nvSpPr>
            <p:cNvPr id="489" name="Google Shape;489;p28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0" name="Google Shape;490;p28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1" name="Google Shape;491;p28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492" name="Google Shape;492;p28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493" name="Google Shape;493;p28"/>
          <p:cNvSpPr txBox="1"/>
          <p:nvPr/>
        </p:nvSpPr>
        <p:spPr>
          <a:xfrm>
            <a:off x="2091325" y="36633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494" name="Google Shape;494;p28"/>
          <p:cNvGraphicFramePr/>
          <p:nvPr/>
        </p:nvGraphicFramePr>
        <p:xfrm>
          <a:off x="8943063" y="166448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495" name="Google Shape;495;p28"/>
          <p:cNvGrpSpPr/>
          <p:nvPr/>
        </p:nvGrpSpPr>
        <p:grpSpPr>
          <a:xfrm>
            <a:off x="7896226" y="1671262"/>
            <a:ext cx="1047237" cy="3389724"/>
            <a:chOff x="6720550" y="2261913"/>
            <a:chExt cx="858672" cy="3389724"/>
          </a:xfrm>
        </p:grpSpPr>
        <p:sp>
          <p:nvSpPr>
            <p:cNvPr id="496" name="Google Shape;496;p28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7" name="Google Shape;497;p28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8" name="Google Shape;498;p28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499" name="Google Shape;499;p28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0" name="Google Shape;500;p28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502" name="Google Shape;502;p28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503" name="Google Shape;503;p28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504" name="Google Shape;504;p28"/>
          <p:cNvSpPr txBox="1"/>
          <p:nvPr/>
        </p:nvSpPr>
        <p:spPr>
          <a:xfrm>
            <a:off x="8838150" y="5151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505" name="Google Shape;505;p28"/>
          <p:cNvSpPr txBox="1"/>
          <p:nvPr/>
        </p:nvSpPr>
        <p:spPr>
          <a:xfrm>
            <a:off x="1455038" y="14477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06" name="Google Shape;506;p28"/>
          <p:cNvSpPr txBox="1"/>
          <p:nvPr/>
        </p:nvSpPr>
        <p:spPr>
          <a:xfrm>
            <a:off x="8371938" y="121852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507" name="Google Shape;507;p28"/>
          <p:cNvGraphicFramePr/>
          <p:nvPr/>
        </p:nvGraphicFramePr>
        <p:xfrm>
          <a:off x="1626263" y="58901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8" name="Google Shape;508;p28"/>
          <p:cNvGraphicFramePr/>
          <p:nvPr/>
        </p:nvGraphicFramePr>
        <p:xfrm>
          <a:off x="8268788" y="5843088"/>
          <a:ext cx="3466075" cy="48847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9" name="Google Shape;509;p28"/>
          <p:cNvSpPr txBox="1"/>
          <p:nvPr/>
        </p:nvSpPr>
        <p:spPr>
          <a:xfrm>
            <a:off x="7755788" y="58257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510" name="Google Shape;510;p28"/>
          <p:cNvSpPr txBox="1"/>
          <p:nvPr/>
        </p:nvSpPr>
        <p:spPr>
          <a:xfrm>
            <a:off x="964438" y="582471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511" name="Google Shape;511;p28"/>
          <p:cNvCxnSpPr/>
          <p:nvPr/>
        </p:nvCxnSpPr>
        <p:spPr>
          <a:xfrm>
            <a:off x="5009975" y="6087325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12" name="Google Shape;512;p28"/>
          <p:cNvGrpSpPr/>
          <p:nvPr/>
        </p:nvGrpSpPr>
        <p:grpSpPr>
          <a:xfrm>
            <a:off x="4592972" y="1723875"/>
            <a:ext cx="3303251" cy="837000"/>
            <a:chOff x="3888184" y="3951525"/>
            <a:chExt cx="3303251" cy="837000"/>
          </a:xfrm>
        </p:grpSpPr>
        <p:grpSp>
          <p:nvGrpSpPr>
            <p:cNvPr id="513" name="Google Shape;513;p28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514" name="Google Shape;514;p28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15" name="Google Shape;515;p28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6" name="Google Shape;516;p28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517" name="Google Shape;517;p28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19" name="Google Shape;519;p28"/>
          <p:cNvSpPr/>
          <p:nvPr/>
        </p:nvSpPr>
        <p:spPr>
          <a:xfrm>
            <a:off x="5468938" y="52202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20" name="Google Shape;520;p28"/>
          <p:cNvGraphicFramePr/>
          <p:nvPr/>
        </p:nvGraphicFramePr>
        <p:xfrm>
          <a:off x="5821000" y="3086807"/>
          <a:ext cx="852850" cy="21335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21" name="Google Shape;521;p28"/>
          <p:cNvGrpSpPr/>
          <p:nvPr/>
        </p:nvGrpSpPr>
        <p:grpSpPr>
          <a:xfrm>
            <a:off x="5081250" y="3111338"/>
            <a:ext cx="636313" cy="2057925"/>
            <a:chOff x="4673025" y="3220413"/>
            <a:chExt cx="636313" cy="2057925"/>
          </a:xfrm>
        </p:grpSpPr>
        <p:grpSp>
          <p:nvGrpSpPr>
            <p:cNvPr id="522" name="Google Shape;522;p28"/>
            <p:cNvGrpSpPr/>
            <p:nvPr/>
          </p:nvGrpSpPr>
          <p:grpSpPr>
            <a:xfrm>
              <a:off x="4673025" y="3593888"/>
              <a:ext cx="636313" cy="1684450"/>
              <a:chOff x="5161375" y="3094650"/>
              <a:chExt cx="636313" cy="1684450"/>
            </a:xfrm>
          </p:grpSpPr>
          <p:sp>
            <p:nvSpPr>
              <p:cNvPr id="523" name="Google Shape;523;p28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4" name="Google Shape;524;p28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5" name="Google Shape;525;p28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526" name="Google Shape;526;p28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527" name="Google Shape;527;p28"/>
            <p:cNvSpPr txBox="1"/>
            <p:nvPr/>
          </p:nvSpPr>
          <p:spPr>
            <a:xfrm>
              <a:off x="4673025" y="3220413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528" name="Google Shape;528;p28"/>
          <p:cNvSpPr/>
          <p:nvPr/>
        </p:nvSpPr>
        <p:spPr>
          <a:xfrm>
            <a:off x="5641125" y="1577650"/>
            <a:ext cx="1093800" cy="1107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5140375" y="2990919"/>
            <a:ext cx="1879800" cy="2821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0" name="Google Shape;530;p28"/>
          <p:cNvCxnSpPr/>
          <p:nvPr/>
        </p:nvCxnSpPr>
        <p:spPr>
          <a:xfrm flipH="1">
            <a:off x="5174600" y="1718400"/>
            <a:ext cx="478200" cy="1458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1" name="Google Shape;531;p28"/>
          <p:cNvCxnSpPr/>
          <p:nvPr/>
        </p:nvCxnSpPr>
        <p:spPr>
          <a:xfrm>
            <a:off x="6725825" y="1695050"/>
            <a:ext cx="291600" cy="156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28"/>
          <p:cNvCxnSpPr/>
          <p:nvPr/>
        </p:nvCxnSpPr>
        <p:spPr>
          <a:xfrm>
            <a:off x="4218225" y="2604800"/>
            <a:ext cx="1866000" cy="1644600"/>
          </a:xfrm>
          <a:prstGeom prst="bentConnector3">
            <a:avLst>
              <a:gd name="adj1" fmla="val 29377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533;p28"/>
          <p:cNvCxnSpPr/>
          <p:nvPr/>
        </p:nvCxnSpPr>
        <p:spPr>
          <a:xfrm rot="10800000" flipH="1">
            <a:off x="6492550" y="3584475"/>
            <a:ext cx="1726200" cy="676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9"/>
          <p:cNvSpPr txBox="1">
            <a:spLocks noGrp="1"/>
          </p:cNvSpPr>
          <p:nvPr>
            <p:ph type="title"/>
          </p:nvPr>
        </p:nvSpPr>
        <p:spPr>
          <a:xfrm>
            <a:off x="812170" y="131381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graphicFrame>
        <p:nvGraphicFramePr>
          <p:cNvPr id="540" name="Google Shape;540;p29"/>
          <p:cNvGraphicFramePr/>
          <p:nvPr>
            <p:extLst>
              <p:ext uri="{D42A27DB-BD31-4B8C-83A1-F6EECF244321}">
                <p14:modId xmlns:p14="http://schemas.microsoft.com/office/powerpoint/2010/main" val="1579973185"/>
              </p:ext>
            </p:extLst>
          </p:nvPr>
        </p:nvGraphicFramePr>
        <p:xfrm>
          <a:off x="6480038" y="2847650"/>
          <a:ext cx="2518975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54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1" name="Google Shape;541;p29"/>
          <p:cNvGraphicFramePr/>
          <p:nvPr>
            <p:extLst>
              <p:ext uri="{D42A27DB-BD31-4B8C-83A1-F6EECF244321}">
                <p14:modId xmlns:p14="http://schemas.microsoft.com/office/powerpoint/2010/main" val="852388240"/>
              </p:ext>
            </p:extLst>
          </p:nvPr>
        </p:nvGraphicFramePr>
        <p:xfrm>
          <a:off x="2616675" y="2847650"/>
          <a:ext cx="2342250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3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1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" name="Google Shape;542;p29"/>
          <p:cNvSpPr/>
          <p:nvPr/>
        </p:nvSpPr>
        <p:spPr>
          <a:xfrm>
            <a:off x="1056375" y="2649755"/>
            <a:ext cx="794100" cy="792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3" name="Google Shape;543;p29"/>
          <p:cNvCxnSpPr>
            <a:stCxn id="542" idx="3"/>
          </p:cNvCxnSpPr>
          <p:nvPr/>
        </p:nvCxnSpPr>
        <p:spPr>
          <a:xfrm>
            <a:off x="1850475" y="304575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29"/>
          <p:cNvSpPr txBox="1"/>
          <p:nvPr/>
        </p:nvSpPr>
        <p:spPr>
          <a:xfrm>
            <a:off x="4203290" y="4138800"/>
            <a:ext cx="68306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200" dirty="0"/>
          </a:p>
        </p:txBody>
      </p:sp>
      <p:sp>
        <p:nvSpPr>
          <p:cNvPr id="545" name="Google Shape;545;p29"/>
          <p:cNvSpPr txBox="1"/>
          <p:nvPr/>
        </p:nvSpPr>
        <p:spPr>
          <a:xfrm>
            <a:off x="10949725" y="270915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00...00</a:t>
            </a:r>
            <a:endParaRPr sz="1000">
              <a:solidFill>
                <a:srgbClr val="FF0000"/>
              </a:solidFill>
            </a:endParaRPr>
          </a:p>
        </p:txBody>
      </p:sp>
      <p:graphicFrame>
        <p:nvGraphicFramePr>
          <p:cNvPr id="546" name="Google Shape;546;p29"/>
          <p:cNvGraphicFramePr/>
          <p:nvPr/>
        </p:nvGraphicFramePr>
        <p:xfrm>
          <a:off x="5173050" y="3744155"/>
          <a:ext cx="1204300" cy="27430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7" name="Google Shape;547;p29"/>
          <p:cNvSpPr/>
          <p:nvPr/>
        </p:nvSpPr>
        <p:spPr>
          <a:xfrm>
            <a:off x="4886350" y="3744150"/>
            <a:ext cx="1983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8" name="Google Shape;548;p29"/>
          <p:cNvCxnSpPr/>
          <p:nvPr/>
        </p:nvCxnSpPr>
        <p:spPr>
          <a:xfrm rot="-5400000" flipH="1">
            <a:off x="3331825" y="3292900"/>
            <a:ext cx="1889400" cy="1819500"/>
          </a:xfrm>
          <a:prstGeom prst="bentConnector3">
            <a:avLst>
              <a:gd name="adj1" fmla="val 100001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9" name="Google Shape;549;p29"/>
          <p:cNvCxnSpPr/>
          <p:nvPr/>
        </p:nvCxnSpPr>
        <p:spPr>
          <a:xfrm rot="-5400000">
            <a:off x="5926875" y="3730300"/>
            <a:ext cx="1901100" cy="9564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50" name="Google Shape;550;p29"/>
          <p:cNvGrpSpPr/>
          <p:nvPr/>
        </p:nvGrpSpPr>
        <p:grpSpPr>
          <a:xfrm>
            <a:off x="4591587" y="2324875"/>
            <a:ext cx="4023905" cy="536500"/>
            <a:chOff x="4813050" y="1928325"/>
            <a:chExt cx="4746850" cy="536500"/>
          </a:xfrm>
        </p:grpSpPr>
        <p:cxnSp>
          <p:nvCxnSpPr>
            <p:cNvPr id="551" name="Google Shape;551;p29"/>
            <p:cNvCxnSpPr/>
            <p:nvPr/>
          </p:nvCxnSpPr>
          <p:spPr>
            <a:xfrm rot="10800000">
              <a:off x="4813050" y="1928425"/>
              <a:ext cx="0" cy="536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2" name="Google Shape;552;p29"/>
            <p:cNvCxnSpPr/>
            <p:nvPr/>
          </p:nvCxnSpPr>
          <p:spPr>
            <a:xfrm>
              <a:off x="4824700" y="1928325"/>
              <a:ext cx="4735200" cy="513300"/>
            </a:xfrm>
            <a:prstGeom prst="bentConnector3">
              <a:avLst>
                <a:gd name="adj1" fmla="val 99703"/>
              </a:avLst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553" name="Google Shape;553;p29"/>
          <p:cNvGraphicFramePr/>
          <p:nvPr/>
        </p:nvGraphicFramePr>
        <p:xfrm>
          <a:off x="9745413" y="1663128"/>
          <a:ext cx="1204300" cy="41145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0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554" name="Google Shape;554;p29"/>
          <p:cNvCxnSpPr/>
          <p:nvPr/>
        </p:nvCxnSpPr>
        <p:spPr>
          <a:xfrm>
            <a:off x="8999025" y="3044705"/>
            <a:ext cx="746400" cy="21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Google Shape;555;p29"/>
          <p:cNvSpPr txBox="1"/>
          <p:nvPr/>
        </p:nvSpPr>
        <p:spPr>
          <a:xfrm>
            <a:off x="10949725" y="3044700"/>
            <a:ext cx="95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11...11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556" name="Google Shape;556;p29"/>
          <p:cNvSpPr txBox="1"/>
          <p:nvPr/>
        </p:nvSpPr>
        <p:spPr>
          <a:xfrm>
            <a:off x="2616675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Virtual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557" name="Google Shape;557;p29"/>
          <p:cNvSpPr txBox="1"/>
          <p:nvPr/>
        </p:nvSpPr>
        <p:spPr>
          <a:xfrm>
            <a:off x="6480050" y="2324875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9E9E9E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sz="1200" b="1" dirty="0">
              <a:solidFill>
                <a:srgbClr val="9E9E9E"/>
              </a:solidFill>
            </a:endParaRPr>
          </a:p>
        </p:txBody>
      </p:sp>
      <p:sp>
        <p:nvSpPr>
          <p:cNvPr id="558" name="Google Shape;558;p29"/>
          <p:cNvSpPr txBox="1"/>
          <p:nvPr/>
        </p:nvSpPr>
        <p:spPr>
          <a:xfrm>
            <a:off x="1952650" y="264975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59" name="Google Shape;559;p29"/>
          <p:cNvSpPr txBox="1"/>
          <p:nvPr/>
        </p:nvSpPr>
        <p:spPr>
          <a:xfrm>
            <a:off x="9080675" y="2678400"/>
            <a:ext cx="44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560" name="Google Shape;560;p29"/>
          <p:cNvSpPr txBox="1"/>
          <p:nvPr/>
        </p:nvSpPr>
        <p:spPr>
          <a:xfrm>
            <a:off x="5206500" y="3383400"/>
            <a:ext cx="118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12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595" name="Google Shape;595;p30"/>
          <p:cNvSpPr txBox="1">
            <a:spLocks noGrp="1"/>
          </p:cNvSpPr>
          <p:nvPr>
            <p:ph type="body" idx="4294967295"/>
          </p:nvPr>
        </p:nvSpPr>
        <p:spPr>
          <a:xfrm>
            <a:off x="217767" y="5240700"/>
            <a:ext cx="3722688" cy="1293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</a:rPr>
              <a:t>PTBR (Page Table Base Register)</a:t>
            </a:r>
            <a:endParaRPr sz="16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s-ES" sz="1400" dirty="0"/>
              <a:t>Registro que apunta a la dirección base de la tabla de página del proceso que se encuentra actualmente en ejecución.</a:t>
            </a:r>
            <a:endParaRPr sz="14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sz="1400" dirty="0"/>
              <a:t>Cada proceso tiene su propio PTBR.</a:t>
            </a:r>
            <a:endParaRPr sz="1400" dirty="0"/>
          </a:p>
        </p:txBody>
      </p:sp>
      <p:grpSp>
        <p:nvGrpSpPr>
          <p:cNvPr id="567" name="Google Shape;567;p30"/>
          <p:cNvGrpSpPr/>
          <p:nvPr/>
        </p:nvGrpSpPr>
        <p:grpSpPr>
          <a:xfrm>
            <a:off x="916642" y="2000867"/>
            <a:ext cx="2340362" cy="3023498"/>
            <a:chOff x="8005450" y="1566825"/>
            <a:chExt cx="3308400" cy="4491900"/>
          </a:xfrm>
        </p:grpSpPr>
        <p:sp>
          <p:nvSpPr>
            <p:cNvPr id="568" name="Google Shape;568;p30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69" name="Google Shape;569;p30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70" name="Google Shape;570;p30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571" name="Google Shape;571;p30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72" name="Google Shape;572;p30"/>
              <p:cNvCxnSpPr>
                <a:stCxn id="571" idx="4"/>
                <a:endCxn id="57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74" name="Google Shape;574;p30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grpSp>
              <p:nvGrpSpPr>
                <p:cNvPr id="575" name="Google Shape;575;p30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573" name="Google Shape;573;p30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76" name="Google Shape;576;p30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577" name="Google Shape;577;p30"/>
                <p:cNvGrpSpPr/>
                <p:nvPr/>
              </p:nvGrpSpPr>
              <p:grpSpPr>
                <a:xfrm>
                  <a:off x="8638450" y="4491965"/>
                  <a:ext cx="1901260" cy="548700"/>
                  <a:chOff x="8638450" y="4491965"/>
                  <a:chExt cx="1901260" cy="548700"/>
                </a:xfrm>
              </p:grpSpPr>
              <p:sp>
                <p:nvSpPr>
                  <p:cNvPr id="578" name="Google Shape;578;p30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&amp;PT[]</a:t>
                    </a: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579" name="Google Shape;579;p30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580" name="Google Shape;580;p30"/>
          <p:cNvCxnSpPr>
            <a:stCxn id="578" idx="3"/>
          </p:cNvCxnSpPr>
          <p:nvPr/>
        </p:nvCxnSpPr>
        <p:spPr>
          <a:xfrm rot="10800000" flipH="1">
            <a:off x="2709377" y="3584541"/>
            <a:ext cx="2103600" cy="591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581" name="Google Shape;581;p30"/>
          <p:cNvGrpSpPr/>
          <p:nvPr/>
        </p:nvGrpSpPr>
        <p:grpSpPr>
          <a:xfrm>
            <a:off x="4824675" y="2068300"/>
            <a:ext cx="2966700" cy="3907200"/>
            <a:chOff x="6957275" y="2149925"/>
            <a:chExt cx="2966700" cy="3907200"/>
          </a:xfrm>
        </p:grpSpPr>
        <p:sp>
          <p:nvSpPr>
            <p:cNvPr id="582" name="Google Shape;582;p30"/>
            <p:cNvSpPr/>
            <p:nvPr/>
          </p:nvSpPr>
          <p:spPr>
            <a:xfrm>
              <a:off x="6957275" y="2149925"/>
              <a:ext cx="2966700" cy="3230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3" name="Google Shape;583;p30"/>
            <p:cNvCxnSpPr/>
            <p:nvPr/>
          </p:nvCxnSpPr>
          <p:spPr>
            <a:xfrm>
              <a:off x="6957275" y="53223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4" name="Google Shape;584;p30"/>
            <p:cNvCxnSpPr/>
            <p:nvPr/>
          </p:nvCxnSpPr>
          <p:spPr>
            <a:xfrm>
              <a:off x="9923975" y="5380625"/>
              <a:ext cx="0" cy="676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585" name="Google Shape;585;p30"/>
          <p:cNvGraphicFramePr/>
          <p:nvPr/>
        </p:nvGraphicFramePr>
        <p:xfrm>
          <a:off x="5582988" y="3345732"/>
          <a:ext cx="1907575" cy="17067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86" name="Google Shape;586;p30"/>
          <p:cNvGrpSpPr/>
          <p:nvPr/>
        </p:nvGrpSpPr>
        <p:grpSpPr>
          <a:xfrm>
            <a:off x="4710525" y="3357300"/>
            <a:ext cx="793213" cy="1684450"/>
            <a:chOff x="5004475" y="3094650"/>
            <a:chExt cx="793213" cy="1684450"/>
          </a:xfrm>
        </p:grpSpPr>
        <p:sp>
          <p:nvSpPr>
            <p:cNvPr id="587" name="Google Shape;587;p30"/>
            <p:cNvSpPr txBox="1"/>
            <p:nvPr/>
          </p:nvSpPr>
          <p:spPr>
            <a:xfrm>
              <a:off x="5004475" y="3094650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88" name="Google Shape;588;p30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89" name="Google Shape;589;p30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590" name="Google Shape;590;p30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591" name="Google Shape;591;p30"/>
          <p:cNvSpPr/>
          <p:nvPr/>
        </p:nvSpPr>
        <p:spPr>
          <a:xfrm>
            <a:off x="5542138" y="2879000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5036775" y="2162975"/>
            <a:ext cx="2542500" cy="7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nsolas"/>
                <a:ea typeface="Consolas"/>
                <a:cs typeface="Consolas"/>
                <a:sym typeface="Consolas"/>
              </a:rPr>
              <a:t>Operating System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3" name="Google Shape;593;p30"/>
          <p:cNvSpPr txBox="1"/>
          <p:nvPr/>
        </p:nvSpPr>
        <p:spPr>
          <a:xfrm>
            <a:off x="3850950" y="32134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5036775" y="1604225"/>
            <a:ext cx="254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6" name="Google Shape;596;p30"/>
          <p:cNvCxnSpPr/>
          <p:nvPr/>
        </p:nvCxnSpPr>
        <p:spPr>
          <a:xfrm rot="10800000" flipH="1">
            <a:off x="7628125" y="3001325"/>
            <a:ext cx="1675200" cy="1451700"/>
          </a:xfrm>
          <a:prstGeom prst="bentConnector3">
            <a:avLst>
              <a:gd name="adj1" fmla="val 29751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597" name="Google Shape;597;p30"/>
          <p:cNvGraphicFramePr/>
          <p:nvPr/>
        </p:nvGraphicFramePr>
        <p:xfrm>
          <a:off x="9816588" y="2786757"/>
          <a:ext cx="1907575" cy="4266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3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8" name="Google Shape;598;p30"/>
          <p:cNvSpPr/>
          <p:nvPr/>
        </p:nvSpPr>
        <p:spPr>
          <a:xfrm>
            <a:off x="5197925" y="4167675"/>
            <a:ext cx="2379300" cy="489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9303328" y="2784550"/>
            <a:ext cx="55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>
              <a:solidFill>
                <a:srgbClr val="70AD47"/>
              </a:solidFill>
            </a:endParaRPr>
          </a:p>
        </p:txBody>
      </p:sp>
      <p:sp>
        <p:nvSpPr>
          <p:cNvPr id="600" name="Google Shape;600;p30"/>
          <p:cNvSpPr txBox="1"/>
          <p:nvPr/>
        </p:nvSpPr>
        <p:spPr>
          <a:xfrm>
            <a:off x="8248876" y="3433038"/>
            <a:ext cx="3771059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PTRB + (VPN*size(PTE))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1" name="Google Shape;601;p30"/>
          <p:cNvSpPr txBox="1"/>
          <p:nvPr/>
        </p:nvSpPr>
        <p:spPr>
          <a:xfrm>
            <a:off x="8248876" y="3952246"/>
            <a:ext cx="3762419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 = AccessMemory[PTEAddr]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1"/>
          <p:cNvSpPr txBox="1">
            <a:spLocks noGrp="1"/>
          </p:cNvSpPr>
          <p:nvPr>
            <p:ph type="title"/>
          </p:nvPr>
        </p:nvSpPr>
        <p:spPr>
          <a:xfrm>
            <a:off x="285400" y="16581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08" name="Google Shape;608;p31"/>
          <p:cNvSpPr txBox="1"/>
          <p:nvPr/>
        </p:nvSpPr>
        <p:spPr>
          <a:xfrm>
            <a:off x="285400" y="1226324"/>
            <a:ext cx="10870200" cy="23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Pasos de la traducción de direcciones mediante paginación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Extraer el VPN de la VA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Calcular la dirección del PTE (PTEAddr)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Obtener (Fetch) el PTE</a:t>
            </a:r>
            <a:r>
              <a:rPr lang="es-ES" sz="2000" b="1" dirty="0">
                <a:ea typeface="Roboto"/>
                <a:cs typeface="Roboto"/>
                <a:sym typeface="Roboto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[cost]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Extraer el PFN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Construir la PA </a:t>
            </a: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[cheap]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Traer el PA a un registro</a:t>
            </a: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[cost]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31"/>
          <p:cNvSpPr txBox="1"/>
          <p:nvPr/>
        </p:nvSpPr>
        <p:spPr>
          <a:xfrm>
            <a:off x="6535525" y="3902650"/>
            <a:ext cx="5333825" cy="236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Acceso a memoria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ea typeface="Roboto"/>
                <a:cs typeface="Roboto"/>
                <a:sym typeface="Roboto"/>
              </a:rPr>
              <a:t>Cada instrucción genera dos referencias a memoria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Una a la PT (Page table) para encontrar el PFN donde se encuentra la instrucción.</a:t>
            </a:r>
            <a:endParaRPr sz="2000" b="1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2000" dirty="0">
                <a:ea typeface="Roboto"/>
                <a:cs typeface="Roboto"/>
                <a:sym typeface="Roboto"/>
              </a:rPr>
              <a:t>Para traer de memoria (</a:t>
            </a:r>
            <a:r>
              <a:rPr lang="es-ES" sz="2000" dirty="0" err="1">
                <a:ea typeface="Roboto"/>
                <a:cs typeface="Roboto"/>
                <a:sym typeface="Roboto"/>
              </a:rPr>
              <a:t>fetch</a:t>
            </a:r>
            <a:r>
              <a:rPr lang="es-ES" sz="2000" dirty="0">
                <a:ea typeface="Roboto"/>
                <a:cs typeface="Roboto"/>
                <a:sym typeface="Roboto"/>
              </a:rPr>
              <a:t>) la instrucción como tal.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610" name="Google Shape;610;p31"/>
          <p:cNvGrpSpPr/>
          <p:nvPr/>
        </p:nvGrpSpPr>
        <p:grpSpPr>
          <a:xfrm>
            <a:off x="775300" y="4090574"/>
            <a:ext cx="4945200" cy="2181925"/>
            <a:chOff x="1209100" y="4220425"/>
            <a:chExt cx="4945200" cy="2181925"/>
          </a:xfrm>
        </p:grpSpPr>
        <p:grpSp>
          <p:nvGrpSpPr>
            <p:cNvPr id="611" name="Google Shape;611;p31"/>
            <p:cNvGrpSpPr/>
            <p:nvPr/>
          </p:nvGrpSpPr>
          <p:grpSpPr>
            <a:xfrm>
              <a:off x="1209100" y="4220425"/>
              <a:ext cx="4945200" cy="2181925"/>
              <a:chOff x="1209100" y="3991825"/>
              <a:chExt cx="4945200" cy="2181925"/>
            </a:xfrm>
          </p:grpSpPr>
          <p:grpSp>
            <p:nvGrpSpPr>
              <p:cNvPr id="612" name="Google Shape;612;p31"/>
              <p:cNvGrpSpPr/>
              <p:nvPr/>
            </p:nvGrpSpPr>
            <p:grpSpPr>
              <a:xfrm>
                <a:off x="1441626" y="4206925"/>
                <a:ext cx="1473949" cy="1151700"/>
                <a:chOff x="1453276" y="4206925"/>
                <a:chExt cx="1473949" cy="1151700"/>
              </a:xfrm>
            </p:grpSpPr>
            <p:sp>
              <p:nvSpPr>
                <p:cNvPr id="613" name="Google Shape;613;p31"/>
                <p:cNvSpPr/>
                <p:nvPr/>
              </p:nvSpPr>
              <p:spPr>
                <a:xfrm>
                  <a:off x="1582325" y="4206925"/>
                  <a:ext cx="1344900" cy="1151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14" name="Google Shape;614;p31"/>
                <p:cNvGrpSpPr/>
                <p:nvPr/>
              </p:nvGrpSpPr>
              <p:grpSpPr>
                <a:xfrm>
                  <a:off x="1453276" y="4650929"/>
                  <a:ext cx="1344951" cy="369330"/>
                  <a:chOff x="8638450" y="4491965"/>
                  <a:chExt cx="1901260" cy="548700"/>
                </a:xfrm>
              </p:grpSpPr>
              <p:sp>
                <p:nvSpPr>
                  <p:cNvPr id="615" name="Google Shape;615;p31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rgbClr val="FFF2C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616" name="Google Shape;616;p31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617" name="Google Shape;617;p31"/>
              <p:cNvGrpSpPr/>
              <p:nvPr/>
            </p:nvGrpSpPr>
            <p:grpSpPr>
              <a:xfrm>
                <a:off x="4557250" y="3991825"/>
                <a:ext cx="1344900" cy="1581900"/>
                <a:chOff x="4568900" y="4206925"/>
                <a:chExt cx="1344900" cy="1581900"/>
              </a:xfrm>
            </p:grpSpPr>
            <p:sp>
              <p:nvSpPr>
                <p:cNvPr id="618" name="Google Shape;618;p31"/>
                <p:cNvSpPr/>
                <p:nvPr/>
              </p:nvSpPr>
              <p:spPr>
                <a:xfrm>
                  <a:off x="4568900" y="4206925"/>
                  <a:ext cx="1344900" cy="15819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Mem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619" name="Google Shape;619;p31"/>
                <p:cNvGrpSpPr/>
                <p:nvPr/>
              </p:nvGrpSpPr>
              <p:grpSpPr>
                <a:xfrm>
                  <a:off x="4923050" y="4937450"/>
                  <a:ext cx="636600" cy="641400"/>
                  <a:chOff x="9231450" y="2884725"/>
                  <a:chExt cx="636600" cy="641400"/>
                </a:xfrm>
              </p:grpSpPr>
              <p:grpSp>
                <p:nvGrpSpPr>
                  <p:cNvPr id="620" name="Google Shape;620;p31"/>
                  <p:cNvGrpSpPr/>
                  <p:nvPr/>
                </p:nvGrpSpPr>
                <p:grpSpPr>
                  <a:xfrm>
                    <a:off x="9231450" y="2884725"/>
                    <a:ext cx="636600" cy="641400"/>
                    <a:chOff x="9231450" y="2884725"/>
                    <a:chExt cx="636600" cy="641400"/>
                  </a:xfrm>
                </p:grpSpPr>
                <p:sp>
                  <p:nvSpPr>
                    <p:cNvPr id="621" name="Google Shape;621;p31"/>
                    <p:cNvSpPr/>
                    <p:nvPr/>
                  </p:nvSpPr>
                  <p:spPr>
                    <a:xfrm>
                      <a:off x="9233850" y="2884725"/>
                      <a:ext cx="629400" cy="6414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cxnSp>
                  <p:nvCxnSpPr>
                    <p:cNvPr id="622" name="Google Shape;622;p31"/>
                    <p:cNvCxnSpPr>
                      <a:stCxn id="621" idx="1"/>
                    </p:cNvCxnSpPr>
                    <p:nvPr/>
                  </p:nvCxnSpPr>
                  <p:spPr>
                    <a:xfrm>
                      <a:off x="9233850" y="3205425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623" name="Google Shape;623;p31"/>
                    <p:cNvCxnSpPr/>
                    <p:nvPr/>
                  </p:nvCxnSpPr>
                  <p:spPr>
                    <a:xfrm>
                      <a:off x="9233850" y="304000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624" name="Google Shape;624;p31"/>
                    <p:cNvCxnSpPr/>
                    <p:nvPr/>
                  </p:nvCxnSpPr>
                  <p:spPr>
                    <a:xfrm>
                      <a:off x="9231450" y="336735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625" name="Google Shape;625;p31"/>
                  <p:cNvSpPr txBox="1"/>
                  <p:nvPr/>
                </p:nvSpPr>
                <p:spPr>
                  <a:xfrm>
                    <a:off x="9389400" y="3042150"/>
                    <a:ext cx="3207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/>
                      <a:t>…</a:t>
                    </a:r>
                    <a:endParaRPr/>
                  </a:p>
                </p:txBody>
              </p:sp>
            </p:grpSp>
            <p:sp>
              <p:nvSpPr>
                <p:cNvPr id="626" name="Google Shape;626;p31"/>
                <p:cNvSpPr txBox="1"/>
                <p:nvPr/>
              </p:nvSpPr>
              <p:spPr>
                <a:xfrm>
                  <a:off x="4927551" y="4598129"/>
                  <a:ext cx="6276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PT</a:t>
                  </a:r>
                  <a:endParaRPr sz="6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627" name="Google Shape;627;p31"/>
              <p:cNvCxnSpPr/>
              <p:nvPr/>
            </p:nvCxnSpPr>
            <p:spPr>
              <a:xfrm>
                <a:off x="1209100" y="6173750"/>
                <a:ext cx="49452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8" name="Google Shape;628;p31"/>
              <p:cNvCxnSpPr>
                <a:stCxn id="613" idx="2"/>
              </p:cNvCxnSpPr>
              <p:nvPr/>
            </p:nvCxnSpPr>
            <p:spPr>
              <a:xfrm>
                <a:off x="2243125" y="5358625"/>
                <a:ext cx="3900" cy="801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9" name="Google Shape;629;p31"/>
              <p:cNvCxnSpPr>
                <a:stCxn id="618" idx="2"/>
              </p:cNvCxnSpPr>
              <p:nvPr/>
            </p:nvCxnSpPr>
            <p:spPr>
              <a:xfrm flipH="1">
                <a:off x="5227000" y="5573725"/>
                <a:ext cx="2700" cy="592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30" name="Google Shape;630;p31"/>
            <p:cNvSpPr/>
            <p:nvPr/>
          </p:nvSpPr>
          <p:spPr>
            <a:xfrm>
              <a:off x="2725325" y="5042425"/>
              <a:ext cx="2041075" cy="429600"/>
            </a:xfrm>
            <a:custGeom>
              <a:avLst/>
              <a:gdLst/>
              <a:ahLst/>
              <a:cxnLst/>
              <a:rect l="l" t="t" r="r" b="b"/>
              <a:pathLst>
                <a:path w="81643" h="17184" extrusionOk="0">
                  <a:moveTo>
                    <a:pt x="0" y="1399"/>
                  </a:moveTo>
                  <a:cubicBezTo>
                    <a:pt x="2099" y="3343"/>
                    <a:pt x="7387" y="10497"/>
                    <a:pt x="12596" y="13063"/>
                  </a:cubicBezTo>
                  <a:cubicBezTo>
                    <a:pt x="17806" y="15629"/>
                    <a:pt x="26281" y="16173"/>
                    <a:pt x="31257" y="16795"/>
                  </a:cubicBezTo>
                  <a:cubicBezTo>
                    <a:pt x="36233" y="17417"/>
                    <a:pt x="37866" y="17106"/>
                    <a:pt x="42454" y="16795"/>
                  </a:cubicBezTo>
                  <a:cubicBezTo>
                    <a:pt x="47042" y="16484"/>
                    <a:pt x="53496" y="16717"/>
                    <a:pt x="58783" y="14929"/>
                  </a:cubicBezTo>
                  <a:cubicBezTo>
                    <a:pt x="64070" y="13141"/>
                    <a:pt x="70368" y="8553"/>
                    <a:pt x="74178" y="6065"/>
                  </a:cubicBezTo>
                  <a:cubicBezTo>
                    <a:pt x="77988" y="3577"/>
                    <a:pt x="80399" y="1011"/>
                    <a:pt x="81643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1" name="Google Shape;631;p31"/>
            <p:cNvSpPr/>
            <p:nvPr/>
          </p:nvSpPr>
          <p:spPr>
            <a:xfrm>
              <a:off x="2667000" y="5357325"/>
              <a:ext cx="2111050" cy="386350"/>
            </a:xfrm>
            <a:custGeom>
              <a:avLst/>
              <a:gdLst/>
              <a:ahLst/>
              <a:cxnLst/>
              <a:rect l="l" t="t" r="r" b="b"/>
              <a:pathLst>
                <a:path w="84442" h="15454" extrusionOk="0">
                  <a:moveTo>
                    <a:pt x="84442" y="933"/>
                  </a:moveTo>
                  <a:cubicBezTo>
                    <a:pt x="83042" y="2022"/>
                    <a:pt x="80087" y="5366"/>
                    <a:pt x="76044" y="7465"/>
                  </a:cubicBezTo>
                  <a:cubicBezTo>
                    <a:pt x="72001" y="9564"/>
                    <a:pt x="65392" y="12285"/>
                    <a:pt x="60182" y="13529"/>
                  </a:cubicBezTo>
                  <a:cubicBezTo>
                    <a:pt x="54973" y="14773"/>
                    <a:pt x="50385" y="14696"/>
                    <a:pt x="44787" y="14929"/>
                  </a:cubicBezTo>
                  <a:cubicBezTo>
                    <a:pt x="39189" y="15162"/>
                    <a:pt x="31957" y="15862"/>
                    <a:pt x="26592" y="14929"/>
                  </a:cubicBezTo>
                  <a:cubicBezTo>
                    <a:pt x="21227" y="13996"/>
                    <a:pt x="16406" y="11119"/>
                    <a:pt x="12596" y="9331"/>
                  </a:cubicBezTo>
                  <a:cubicBezTo>
                    <a:pt x="8786" y="7543"/>
                    <a:pt x="5831" y="5754"/>
                    <a:pt x="3732" y="4199"/>
                  </a:cubicBezTo>
                  <a:cubicBezTo>
                    <a:pt x="1633" y="2644"/>
                    <a:pt x="622" y="70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2" name="Google Shape;632;p31"/>
            <p:cNvSpPr/>
            <p:nvPr/>
          </p:nvSpPr>
          <p:spPr>
            <a:xfrm>
              <a:off x="2404575" y="5472025"/>
              <a:ext cx="2530925" cy="563725"/>
            </a:xfrm>
            <a:custGeom>
              <a:avLst/>
              <a:gdLst/>
              <a:ahLst/>
              <a:cxnLst/>
              <a:rect l="l" t="t" r="r" b="b"/>
              <a:pathLst>
                <a:path w="101237" h="22549" extrusionOk="0">
                  <a:moveTo>
                    <a:pt x="0" y="0"/>
                  </a:moveTo>
                  <a:cubicBezTo>
                    <a:pt x="1711" y="1633"/>
                    <a:pt x="6220" y="6842"/>
                    <a:pt x="10263" y="9797"/>
                  </a:cubicBezTo>
                  <a:cubicBezTo>
                    <a:pt x="14306" y="12752"/>
                    <a:pt x="20527" y="16095"/>
                    <a:pt x="24259" y="17728"/>
                  </a:cubicBezTo>
                  <a:cubicBezTo>
                    <a:pt x="27991" y="19361"/>
                    <a:pt x="28458" y="18817"/>
                    <a:pt x="32657" y="19594"/>
                  </a:cubicBezTo>
                  <a:cubicBezTo>
                    <a:pt x="36856" y="20372"/>
                    <a:pt x="44320" y="22082"/>
                    <a:pt x="49452" y="22393"/>
                  </a:cubicBezTo>
                  <a:cubicBezTo>
                    <a:pt x="54584" y="22704"/>
                    <a:pt x="59094" y="21771"/>
                    <a:pt x="63448" y="21460"/>
                  </a:cubicBezTo>
                  <a:cubicBezTo>
                    <a:pt x="67802" y="21149"/>
                    <a:pt x="71768" y="21227"/>
                    <a:pt x="75578" y="20527"/>
                  </a:cubicBezTo>
                  <a:cubicBezTo>
                    <a:pt x="79388" y="19827"/>
                    <a:pt x="83276" y="18661"/>
                    <a:pt x="86308" y="17261"/>
                  </a:cubicBezTo>
                  <a:cubicBezTo>
                    <a:pt x="89340" y="15861"/>
                    <a:pt x="91284" y="13762"/>
                    <a:pt x="93772" y="12129"/>
                  </a:cubicBezTo>
                  <a:cubicBezTo>
                    <a:pt x="96260" y="10496"/>
                    <a:pt x="99993" y="8242"/>
                    <a:pt x="101237" y="7464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3" name="Google Shape;633;p31"/>
            <p:cNvSpPr/>
            <p:nvPr/>
          </p:nvSpPr>
          <p:spPr>
            <a:xfrm>
              <a:off x="2188800" y="5417600"/>
              <a:ext cx="2962475" cy="859200"/>
            </a:xfrm>
            <a:custGeom>
              <a:avLst/>
              <a:gdLst/>
              <a:ahLst/>
              <a:cxnLst/>
              <a:rect l="l" t="t" r="r" b="b"/>
              <a:pathLst>
                <a:path w="118499" h="34368" extrusionOk="0">
                  <a:moveTo>
                    <a:pt x="118499" y="12130"/>
                  </a:moveTo>
                  <a:cubicBezTo>
                    <a:pt x="117722" y="13685"/>
                    <a:pt x="115467" y="18817"/>
                    <a:pt x="113834" y="21461"/>
                  </a:cubicBezTo>
                  <a:cubicBezTo>
                    <a:pt x="112201" y="24105"/>
                    <a:pt x="111424" y="26204"/>
                    <a:pt x="108702" y="27992"/>
                  </a:cubicBezTo>
                  <a:cubicBezTo>
                    <a:pt x="105981" y="29780"/>
                    <a:pt x="101782" y="31180"/>
                    <a:pt x="97505" y="32191"/>
                  </a:cubicBezTo>
                  <a:cubicBezTo>
                    <a:pt x="93229" y="33202"/>
                    <a:pt x="88019" y="33746"/>
                    <a:pt x="83043" y="34057"/>
                  </a:cubicBezTo>
                  <a:cubicBezTo>
                    <a:pt x="78067" y="34368"/>
                    <a:pt x="73868" y="34057"/>
                    <a:pt x="67647" y="34057"/>
                  </a:cubicBezTo>
                  <a:cubicBezTo>
                    <a:pt x="61427" y="34057"/>
                    <a:pt x="52329" y="34368"/>
                    <a:pt x="45720" y="34057"/>
                  </a:cubicBezTo>
                  <a:cubicBezTo>
                    <a:pt x="39111" y="33746"/>
                    <a:pt x="32424" y="33124"/>
                    <a:pt x="27992" y="32191"/>
                  </a:cubicBezTo>
                  <a:cubicBezTo>
                    <a:pt x="23560" y="31258"/>
                    <a:pt x="21616" y="29703"/>
                    <a:pt x="19128" y="28459"/>
                  </a:cubicBezTo>
                  <a:cubicBezTo>
                    <a:pt x="16640" y="27215"/>
                    <a:pt x="14929" y="26515"/>
                    <a:pt x="13063" y="24726"/>
                  </a:cubicBezTo>
                  <a:cubicBezTo>
                    <a:pt x="11197" y="22938"/>
                    <a:pt x="9408" y="20216"/>
                    <a:pt x="7931" y="17728"/>
                  </a:cubicBezTo>
                  <a:cubicBezTo>
                    <a:pt x="6454" y="15240"/>
                    <a:pt x="5521" y="12752"/>
                    <a:pt x="4199" y="9797"/>
                  </a:cubicBezTo>
                  <a:cubicBezTo>
                    <a:pt x="2877" y="6842"/>
                    <a:pt x="700" y="1633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634" name="Google Shape;634;p31"/>
            <p:cNvSpPr txBox="1"/>
            <p:nvPr/>
          </p:nvSpPr>
          <p:spPr>
            <a:xfrm>
              <a:off x="3296800" y="518868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endParaRPr sz="1000" b="1" dirty="0">
                <a:solidFill>
                  <a:schemeClr val="accent5"/>
                </a:solidFill>
              </a:endParaRPr>
            </a:p>
          </p:txBody>
        </p:sp>
        <p:sp>
          <p:nvSpPr>
            <p:cNvPr id="635" name="Google Shape;635;p31"/>
            <p:cNvSpPr txBox="1"/>
            <p:nvPr/>
          </p:nvSpPr>
          <p:spPr>
            <a:xfrm>
              <a:off x="3337625" y="547201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000" b="1">
                <a:solidFill>
                  <a:schemeClr val="accent5"/>
                </a:solidFill>
              </a:endParaRPr>
            </a:p>
          </p:txBody>
        </p:sp>
        <p:sp>
          <p:nvSpPr>
            <p:cNvPr id="636" name="Google Shape;636;p31"/>
            <p:cNvSpPr txBox="1"/>
            <p:nvPr/>
          </p:nvSpPr>
          <p:spPr>
            <a:xfrm>
              <a:off x="3360962" y="574366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000" b="1">
                <a:solidFill>
                  <a:schemeClr val="accent2"/>
                </a:solidFill>
              </a:endParaRPr>
            </a:p>
          </p:txBody>
        </p:sp>
        <p:sp>
          <p:nvSpPr>
            <p:cNvPr id="637" name="Google Shape;637;p31"/>
            <p:cNvSpPr txBox="1"/>
            <p:nvPr/>
          </p:nvSpPr>
          <p:spPr>
            <a:xfrm>
              <a:off x="3372637" y="600073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data</a:t>
              </a:r>
              <a:endParaRPr sz="10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2"/>
          <p:cNvSpPr txBox="1">
            <a:spLocks noGrp="1"/>
          </p:cNvSpPr>
          <p:nvPr>
            <p:ph type="title"/>
          </p:nvPr>
        </p:nvSpPr>
        <p:spPr>
          <a:xfrm>
            <a:off x="462525" y="141650"/>
            <a:ext cx="9320981" cy="784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43" name="Google Shape;643;p32"/>
          <p:cNvSpPr txBox="1">
            <a:spLocks noGrp="1"/>
          </p:cNvSpPr>
          <p:nvPr>
            <p:ph idx="1"/>
          </p:nvPr>
        </p:nvSpPr>
        <p:spPr>
          <a:xfrm>
            <a:off x="663000" y="767733"/>
            <a:ext cx="10866000" cy="58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800" b="1" dirty="0">
                <a:solidFill>
                  <a:srgbClr val="EA9999"/>
                </a:solidFill>
              </a:rPr>
              <a:t>Ejemplo paginación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44" name="Google Shape;644;p32"/>
          <p:cNvGraphicFramePr/>
          <p:nvPr/>
        </p:nvGraphicFramePr>
        <p:xfrm>
          <a:off x="5446013" y="1838203"/>
          <a:ext cx="1700900" cy="4618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7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45" name="Google Shape;645;p32"/>
          <p:cNvGraphicFramePr/>
          <p:nvPr>
            <p:extLst>
              <p:ext uri="{D42A27DB-BD31-4B8C-83A1-F6EECF244321}">
                <p14:modId xmlns:p14="http://schemas.microsoft.com/office/powerpoint/2010/main" val="3475233790"/>
              </p:ext>
            </p:extLst>
          </p:nvPr>
        </p:nvGraphicFramePr>
        <p:xfrm>
          <a:off x="8264250" y="1585175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32"/>
          <p:cNvGraphicFramePr/>
          <p:nvPr>
            <p:extLst>
              <p:ext uri="{D42A27DB-BD31-4B8C-83A1-F6EECF244321}">
                <p14:modId xmlns:p14="http://schemas.microsoft.com/office/powerpoint/2010/main" val="1610326289"/>
              </p:ext>
            </p:extLst>
          </p:nvPr>
        </p:nvGraphicFramePr>
        <p:xfrm>
          <a:off x="8264250" y="2072275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7" name="Google Shape;647;p32"/>
          <p:cNvCxnSpPr/>
          <p:nvPr/>
        </p:nvCxnSpPr>
        <p:spPr>
          <a:xfrm flipH="1">
            <a:off x="7203750" y="1835025"/>
            <a:ext cx="933300" cy="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48" name="Google Shape;648;p32"/>
          <p:cNvCxnSpPr/>
          <p:nvPr/>
        </p:nvCxnSpPr>
        <p:spPr>
          <a:xfrm flipH="1">
            <a:off x="7213875" y="2231575"/>
            <a:ext cx="946500" cy="3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9" name="Google Shape;649;p32"/>
          <p:cNvSpPr/>
          <p:nvPr/>
        </p:nvSpPr>
        <p:spPr>
          <a:xfrm>
            <a:off x="7312073" y="1508475"/>
            <a:ext cx="8016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PTBR(P1)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0" name="Google Shape;650;p32"/>
          <p:cNvSpPr/>
          <p:nvPr/>
        </p:nvSpPr>
        <p:spPr>
          <a:xfrm>
            <a:off x="7312050" y="190477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PTBR(P2)</a:t>
            </a:r>
            <a:endParaRPr sz="10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1" name="Google Shape;651;p32"/>
          <p:cNvSpPr/>
          <p:nvPr/>
        </p:nvSpPr>
        <p:spPr>
          <a:xfrm>
            <a:off x="10296950" y="158512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PT(P1)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2" name="Google Shape;652;p32"/>
          <p:cNvSpPr/>
          <p:nvPr/>
        </p:nvSpPr>
        <p:spPr>
          <a:xfrm>
            <a:off x="10296950" y="2072225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PT(P2)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53" name="Google Shape;653;p32"/>
          <p:cNvGraphicFramePr/>
          <p:nvPr>
            <p:extLst>
              <p:ext uri="{D42A27DB-BD31-4B8C-83A1-F6EECF244321}">
                <p14:modId xmlns:p14="http://schemas.microsoft.com/office/powerpoint/2010/main" val="1652507348"/>
              </p:ext>
            </p:extLst>
          </p:nvPr>
        </p:nvGraphicFramePr>
        <p:xfrm>
          <a:off x="1627228" y="2146160"/>
          <a:ext cx="1481250" cy="15848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50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54" name="Google Shape;654;p32"/>
          <p:cNvGraphicFramePr/>
          <p:nvPr>
            <p:extLst>
              <p:ext uri="{D42A27DB-BD31-4B8C-83A1-F6EECF244321}">
                <p14:modId xmlns:p14="http://schemas.microsoft.com/office/powerpoint/2010/main" val="3440929085"/>
              </p:ext>
            </p:extLst>
          </p:nvPr>
        </p:nvGraphicFramePr>
        <p:xfrm>
          <a:off x="1715861" y="4537584"/>
          <a:ext cx="1481250" cy="15848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1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55" name="Google Shape;655;p32"/>
          <p:cNvGrpSpPr/>
          <p:nvPr/>
        </p:nvGrpSpPr>
        <p:grpSpPr>
          <a:xfrm>
            <a:off x="4621873" y="1637175"/>
            <a:ext cx="824150" cy="4881550"/>
            <a:chOff x="5578273" y="1637175"/>
            <a:chExt cx="824150" cy="4881550"/>
          </a:xfrm>
        </p:grpSpPr>
        <p:sp>
          <p:nvSpPr>
            <p:cNvPr id="656" name="Google Shape;656;p32"/>
            <p:cNvSpPr/>
            <p:nvPr/>
          </p:nvSpPr>
          <p:spPr>
            <a:xfrm>
              <a:off x="5600823" y="16371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 KB</a:t>
              </a:r>
              <a:endParaRPr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5600823" y="24347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600823" y="302973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600823" y="36250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600823" y="42786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578273" y="490917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20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5578273" y="553975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24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5578273" y="61224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28 KB</a:t>
              </a:r>
              <a:endParaRPr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64" name="Google Shape;664;p32"/>
          <p:cNvGrpSpPr/>
          <p:nvPr/>
        </p:nvGrpSpPr>
        <p:grpSpPr>
          <a:xfrm>
            <a:off x="3998701" y="2012060"/>
            <a:ext cx="860700" cy="4168563"/>
            <a:chOff x="5009623" y="2046338"/>
            <a:chExt cx="860700" cy="4168563"/>
          </a:xfrm>
        </p:grpSpPr>
        <p:sp>
          <p:nvSpPr>
            <p:cNvPr id="665" name="Google Shape;665;p32"/>
            <p:cNvSpPr/>
            <p:nvPr/>
          </p:nvSpPr>
          <p:spPr>
            <a:xfrm>
              <a:off x="5039160" y="204633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PFN0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5009623" y="2701513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PFN1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5009623" y="335668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PFN2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5009623" y="3969463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PFN3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5009623" y="4582388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PFN4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5068723" y="52005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PFN5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5068723" y="5818600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PFN6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2" name="Google Shape;672;p32"/>
          <p:cNvGrpSpPr/>
          <p:nvPr/>
        </p:nvGrpSpPr>
        <p:grpSpPr>
          <a:xfrm>
            <a:off x="785151" y="2158300"/>
            <a:ext cx="801600" cy="1572700"/>
            <a:chOff x="1212698" y="1993825"/>
            <a:chExt cx="801600" cy="1572700"/>
          </a:xfrm>
        </p:grpSpPr>
        <p:sp>
          <p:nvSpPr>
            <p:cNvPr id="673" name="Google Shape;673;p32"/>
            <p:cNvSpPr/>
            <p:nvPr/>
          </p:nvSpPr>
          <p:spPr>
            <a:xfrm>
              <a:off x="1212698" y="19938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4" name="Google Shape;674;p32"/>
            <p:cNvSpPr/>
            <p:nvPr/>
          </p:nvSpPr>
          <p:spPr>
            <a:xfrm>
              <a:off x="1212698" y="23776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5" name="Google Shape;675;p32"/>
            <p:cNvSpPr/>
            <p:nvPr/>
          </p:nvSpPr>
          <p:spPr>
            <a:xfrm>
              <a:off x="1212698" y="27739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VPN2</a:t>
              </a:r>
              <a:endParaRPr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1212698" y="31702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VPN3</a:t>
              </a:r>
              <a:endParaRPr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7" name="Google Shape;677;p32"/>
          <p:cNvGrpSpPr/>
          <p:nvPr/>
        </p:nvGrpSpPr>
        <p:grpSpPr>
          <a:xfrm>
            <a:off x="885903" y="4561458"/>
            <a:ext cx="801600" cy="1572700"/>
            <a:chOff x="1212698" y="1993825"/>
            <a:chExt cx="801600" cy="1572700"/>
          </a:xfrm>
        </p:grpSpPr>
        <p:sp>
          <p:nvSpPr>
            <p:cNvPr id="678" name="Google Shape;678;p32"/>
            <p:cNvSpPr/>
            <p:nvPr/>
          </p:nvSpPr>
          <p:spPr>
            <a:xfrm>
              <a:off x="1212698" y="19938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9" name="Google Shape;679;p32"/>
            <p:cNvSpPr/>
            <p:nvPr/>
          </p:nvSpPr>
          <p:spPr>
            <a:xfrm>
              <a:off x="1212698" y="23776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0" name="Google Shape;680;p32"/>
            <p:cNvSpPr/>
            <p:nvPr/>
          </p:nvSpPr>
          <p:spPr>
            <a:xfrm>
              <a:off x="1212698" y="27739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VPN2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1" name="Google Shape;681;p32"/>
            <p:cNvSpPr/>
            <p:nvPr/>
          </p:nvSpPr>
          <p:spPr>
            <a:xfrm>
              <a:off x="1212698" y="3170225"/>
              <a:ext cx="801600" cy="39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VPN3</a:t>
              </a:r>
              <a:endParaRPr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2" name="Google Shape;682;p32"/>
          <p:cNvSpPr/>
          <p:nvPr/>
        </p:nvSpPr>
        <p:spPr>
          <a:xfrm>
            <a:off x="5512825" y="1368450"/>
            <a:ext cx="15711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1289065" y="1726310"/>
            <a:ext cx="21576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 - P1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1320173" y="4100259"/>
            <a:ext cx="21576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 - P2</a:t>
            </a:r>
            <a:endParaRPr sz="15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7437275" y="2837400"/>
            <a:ext cx="4572000" cy="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Asumiendo una PTE de 8-byte (size(PTE) = 8B)</a:t>
            </a:r>
            <a:r>
              <a:rPr lang="es-ES" sz="160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s-E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¿Que se debe saber para realizar la traducción? </a:t>
            </a:r>
            <a:endParaRPr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86" name="Google Shape;686;p32"/>
          <p:cNvGraphicFramePr/>
          <p:nvPr/>
        </p:nvGraphicFramePr>
        <p:xfrm>
          <a:off x="8566775" y="4151575"/>
          <a:ext cx="2408950" cy="134647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PTBR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0x0000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0x8000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87" name="Google Shape;687;p32"/>
          <p:cNvSpPr/>
          <p:nvPr/>
        </p:nvSpPr>
        <p:spPr>
          <a:xfrm>
            <a:off x="4577473" y="2035225"/>
            <a:ext cx="8016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2 KB</a:t>
            </a:r>
            <a:endParaRPr sz="12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3"/>
          <p:cNvSpPr txBox="1">
            <a:spLocks noGrp="1"/>
          </p:cNvSpPr>
          <p:nvPr>
            <p:ph type="title"/>
          </p:nvPr>
        </p:nvSpPr>
        <p:spPr>
          <a:xfrm>
            <a:off x="838200" y="114218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693" name="Google Shape;693;p33"/>
          <p:cNvSpPr txBox="1">
            <a:spLocks noGrp="1"/>
          </p:cNvSpPr>
          <p:nvPr>
            <p:ph idx="1"/>
          </p:nvPr>
        </p:nvSpPr>
        <p:spPr>
          <a:xfrm>
            <a:off x="487800" y="1168738"/>
            <a:ext cx="10866000" cy="63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800" b="1" dirty="0">
                <a:solidFill>
                  <a:srgbClr val="EA9999"/>
                </a:solidFill>
              </a:rPr>
              <a:t>Ejemplo paginación</a:t>
            </a:r>
            <a:endParaRPr sz="2400" dirty="0">
              <a:solidFill>
                <a:srgbClr val="EA9999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94" name="Google Shape;694;p33"/>
          <p:cNvGraphicFramePr/>
          <p:nvPr/>
        </p:nvGraphicFramePr>
        <p:xfrm>
          <a:off x="1859838" y="3168200"/>
          <a:ext cx="8979625" cy="30191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6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Proceso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800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0x0800 : PTEAddr = 0x0800 + 0*8 = 0x0800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000</a:t>
                      </a: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(PA = 0x6000 = 24 KB)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0x0800 : PTEAddr = 0x0800 +  1*8 = 0x0808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rgbClr val="E46C0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 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0x0000 : PTEAddr = 0x0000 +  1*8 = 0x0008</a:t>
                      </a:r>
                      <a:endParaRPr sz="1600"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8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load 0x</a:t>
                      </a:r>
                      <a:r>
                        <a:rPr lang="es-ES" sz="1600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444 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95" name="Google Shape;695;p33"/>
          <p:cNvGraphicFramePr/>
          <p:nvPr>
            <p:extLst>
              <p:ext uri="{D42A27DB-BD31-4B8C-83A1-F6EECF244321}">
                <p14:modId xmlns:p14="http://schemas.microsoft.com/office/powerpoint/2010/main" val="3288937993"/>
              </p:ext>
            </p:extLst>
          </p:nvPr>
        </p:nvGraphicFramePr>
        <p:xfrm>
          <a:off x="8162373" y="1915924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6" name="Google Shape;696;p33"/>
          <p:cNvGraphicFramePr/>
          <p:nvPr>
            <p:extLst>
              <p:ext uri="{D42A27DB-BD31-4B8C-83A1-F6EECF244321}">
                <p14:modId xmlns:p14="http://schemas.microsoft.com/office/powerpoint/2010/main" val="1036545293"/>
              </p:ext>
            </p:extLst>
          </p:nvPr>
        </p:nvGraphicFramePr>
        <p:xfrm>
          <a:off x="8162373" y="2403024"/>
          <a:ext cx="2032700" cy="3962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0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97" name="Google Shape;697;p33"/>
          <p:cNvCxnSpPr/>
          <p:nvPr/>
        </p:nvCxnSpPr>
        <p:spPr>
          <a:xfrm flipH="1">
            <a:off x="7101873" y="2165774"/>
            <a:ext cx="933300" cy="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8" name="Google Shape;698;p33"/>
          <p:cNvCxnSpPr/>
          <p:nvPr/>
        </p:nvCxnSpPr>
        <p:spPr>
          <a:xfrm flipH="1">
            <a:off x="7111998" y="2562324"/>
            <a:ext cx="946500" cy="3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9" name="Google Shape;699;p33"/>
          <p:cNvSpPr/>
          <p:nvPr/>
        </p:nvSpPr>
        <p:spPr>
          <a:xfrm>
            <a:off x="4553599" y="1967924"/>
            <a:ext cx="2421074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PTBR(P1) = 0x0000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10195073" y="1915874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PT(P1)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10195073" y="2402974"/>
            <a:ext cx="8661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PT(P2)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33"/>
          <p:cNvSpPr/>
          <p:nvPr/>
        </p:nvSpPr>
        <p:spPr>
          <a:xfrm>
            <a:off x="4553599" y="2365974"/>
            <a:ext cx="2389949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PTBR(P2) = 0x0800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33"/>
          <p:cNvSpPr txBox="1"/>
          <p:nvPr/>
        </p:nvSpPr>
        <p:spPr>
          <a:xfrm>
            <a:off x="675876" y="2165827"/>
            <a:ext cx="3877723" cy="4308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PTEAddr = PTRB + (VPN*size(PTE))</a:t>
            </a:r>
            <a:endParaRPr sz="1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4"/>
          <p:cNvSpPr txBox="1">
            <a:spLocks noGrp="1"/>
          </p:cNvSpPr>
          <p:nvPr>
            <p:ph type="title"/>
          </p:nvPr>
        </p:nvSpPr>
        <p:spPr>
          <a:xfrm>
            <a:off x="838200" y="229621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Paginación</a:t>
            </a:r>
            <a:endParaRPr dirty="0"/>
          </a:p>
        </p:txBody>
      </p:sp>
      <p:sp>
        <p:nvSpPr>
          <p:cNvPr id="709" name="Google Shape;709;p34"/>
          <p:cNvSpPr txBox="1">
            <a:spLocks noGrp="1"/>
          </p:cNvSpPr>
          <p:nvPr>
            <p:ph idx="1"/>
          </p:nvPr>
        </p:nvSpPr>
        <p:spPr>
          <a:xfrm>
            <a:off x="838200" y="1211405"/>
            <a:ext cx="10866000" cy="12173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400" b="1" dirty="0">
                <a:solidFill>
                  <a:srgbClr val="EA9999"/>
                </a:solidFill>
              </a:rPr>
              <a:t>Problemas de la paginación</a:t>
            </a:r>
            <a:endParaRPr sz="2000" dirty="0">
              <a:solidFill>
                <a:srgbClr val="EA9999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/>
              <a:t>Lentitud en el proceso debido a los accesos a la tabla de página.</a:t>
            </a:r>
            <a:endParaRPr sz="20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/>
              <a:t>Gasto de memoria (cada proceso tiene su propia tabla de página).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10" name="Google Shape;710;p34"/>
          <p:cNvGrpSpPr/>
          <p:nvPr/>
        </p:nvGrpSpPr>
        <p:grpSpPr>
          <a:xfrm>
            <a:off x="3727602" y="3464670"/>
            <a:ext cx="4945200" cy="2181925"/>
            <a:chOff x="1209100" y="4220425"/>
            <a:chExt cx="4945200" cy="2181925"/>
          </a:xfrm>
        </p:grpSpPr>
        <p:grpSp>
          <p:nvGrpSpPr>
            <p:cNvPr id="711" name="Google Shape;711;p34"/>
            <p:cNvGrpSpPr/>
            <p:nvPr/>
          </p:nvGrpSpPr>
          <p:grpSpPr>
            <a:xfrm>
              <a:off x="1209100" y="4220425"/>
              <a:ext cx="4945200" cy="2181925"/>
              <a:chOff x="1209100" y="3991825"/>
              <a:chExt cx="4945200" cy="2181925"/>
            </a:xfrm>
          </p:grpSpPr>
          <p:grpSp>
            <p:nvGrpSpPr>
              <p:cNvPr id="712" name="Google Shape;712;p34"/>
              <p:cNvGrpSpPr/>
              <p:nvPr/>
            </p:nvGrpSpPr>
            <p:grpSpPr>
              <a:xfrm>
                <a:off x="1441626" y="4206925"/>
                <a:ext cx="1473949" cy="1151700"/>
                <a:chOff x="1453276" y="4206925"/>
                <a:chExt cx="1473949" cy="1151700"/>
              </a:xfrm>
            </p:grpSpPr>
            <p:sp>
              <p:nvSpPr>
                <p:cNvPr id="713" name="Google Shape;713;p34"/>
                <p:cNvSpPr/>
                <p:nvPr/>
              </p:nvSpPr>
              <p:spPr>
                <a:xfrm>
                  <a:off x="1582325" y="4206925"/>
                  <a:ext cx="1344900" cy="1151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714" name="Google Shape;714;p34"/>
                <p:cNvGrpSpPr/>
                <p:nvPr/>
              </p:nvGrpSpPr>
              <p:grpSpPr>
                <a:xfrm>
                  <a:off x="1453276" y="4650929"/>
                  <a:ext cx="1344951" cy="369330"/>
                  <a:chOff x="8638450" y="4491965"/>
                  <a:chExt cx="1901260" cy="548700"/>
                </a:xfrm>
              </p:grpSpPr>
              <p:sp>
                <p:nvSpPr>
                  <p:cNvPr id="715" name="Google Shape;715;p34"/>
                  <p:cNvSpPr/>
                  <p:nvPr/>
                </p:nvSpPr>
                <p:spPr>
                  <a:xfrm>
                    <a:off x="9550910" y="4570695"/>
                    <a:ext cx="988800" cy="456600"/>
                  </a:xfrm>
                  <a:prstGeom prst="rect">
                    <a:avLst/>
                  </a:prstGeom>
                  <a:solidFill>
                    <a:srgbClr val="FFF2CC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716" name="Google Shape;716;p34"/>
                  <p:cNvSpPr txBox="1"/>
                  <p:nvPr/>
                </p:nvSpPr>
                <p:spPr>
                  <a:xfrm>
                    <a:off x="8638450" y="4491965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  <p:grpSp>
            <p:nvGrpSpPr>
              <p:cNvPr id="717" name="Google Shape;717;p34"/>
              <p:cNvGrpSpPr/>
              <p:nvPr/>
            </p:nvGrpSpPr>
            <p:grpSpPr>
              <a:xfrm>
                <a:off x="4557250" y="3991825"/>
                <a:ext cx="1344900" cy="1581900"/>
                <a:chOff x="4568900" y="4206925"/>
                <a:chExt cx="1344900" cy="1581900"/>
              </a:xfrm>
            </p:grpSpPr>
            <p:sp>
              <p:nvSpPr>
                <p:cNvPr id="718" name="Google Shape;718;p34"/>
                <p:cNvSpPr/>
                <p:nvPr/>
              </p:nvSpPr>
              <p:spPr>
                <a:xfrm>
                  <a:off x="4568900" y="4206925"/>
                  <a:ext cx="1344900" cy="15819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/>
                      <a:ea typeface="Consolas"/>
                      <a:cs typeface="Consolas"/>
                      <a:sym typeface="Consolas"/>
                    </a:rPr>
                    <a:t>Mem</a:t>
                  </a:r>
                  <a:endParaRPr sz="16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grpSp>
              <p:nvGrpSpPr>
                <p:cNvPr id="719" name="Google Shape;719;p34"/>
                <p:cNvGrpSpPr/>
                <p:nvPr/>
              </p:nvGrpSpPr>
              <p:grpSpPr>
                <a:xfrm>
                  <a:off x="4923050" y="4937450"/>
                  <a:ext cx="636600" cy="641400"/>
                  <a:chOff x="9231450" y="2884725"/>
                  <a:chExt cx="636600" cy="641400"/>
                </a:xfrm>
              </p:grpSpPr>
              <p:grpSp>
                <p:nvGrpSpPr>
                  <p:cNvPr id="720" name="Google Shape;720;p34"/>
                  <p:cNvGrpSpPr/>
                  <p:nvPr/>
                </p:nvGrpSpPr>
                <p:grpSpPr>
                  <a:xfrm>
                    <a:off x="9231450" y="2884725"/>
                    <a:ext cx="636600" cy="641400"/>
                    <a:chOff x="9231450" y="2884725"/>
                    <a:chExt cx="636600" cy="641400"/>
                  </a:xfrm>
                </p:grpSpPr>
                <p:sp>
                  <p:nvSpPr>
                    <p:cNvPr id="721" name="Google Shape;721;p34"/>
                    <p:cNvSpPr/>
                    <p:nvPr/>
                  </p:nvSpPr>
                  <p:spPr>
                    <a:xfrm>
                      <a:off x="9233850" y="2884725"/>
                      <a:ext cx="629400" cy="641400"/>
                    </a:xfrm>
                    <a:prstGeom prst="rect">
                      <a:avLst/>
                    </a:prstGeom>
                    <a:solidFill>
                      <a:schemeClr val="lt2"/>
                    </a:solidFill>
                    <a:ln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cxnSp>
                  <p:nvCxnSpPr>
                    <p:cNvPr id="722" name="Google Shape;722;p34"/>
                    <p:cNvCxnSpPr>
                      <a:stCxn id="721" idx="1"/>
                    </p:cNvCxnSpPr>
                    <p:nvPr/>
                  </p:nvCxnSpPr>
                  <p:spPr>
                    <a:xfrm>
                      <a:off x="9233850" y="3205425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723" name="Google Shape;723;p34"/>
                    <p:cNvCxnSpPr/>
                    <p:nvPr/>
                  </p:nvCxnSpPr>
                  <p:spPr>
                    <a:xfrm>
                      <a:off x="9233850" y="304000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724" name="Google Shape;724;p34"/>
                    <p:cNvCxnSpPr/>
                    <p:nvPr/>
                  </p:nvCxnSpPr>
                  <p:spPr>
                    <a:xfrm>
                      <a:off x="9231450" y="3367350"/>
                      <a:ext cx="634200" cy="0"/>
                    </a:xfrm>
                    <a:prstGeom prst="straightConnector1">
                      <a:avLst/>
                    </a:prstGeom>
                    <a:no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</p:grpSp>
              <p:sp>
                <p:nvSpPr>
                  <p:cNvPr id="725" name="Google Shape;725;p34"/>
                  <p:cNvSpPr txBox="1"/>
                  <p:nvPr/>
                </p:nvSpPr>
                <p:spPr>
                  <a:xfrm>
                    <a:off x="9389400" y="3042150"/>
                    <a:ext cx="320700" cy="400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/>
                      <a:t>…</a:t>
                    </a:r>
                    <a:endParaRPr/>
                  </a:p>
                </p:txBody>
              </p:sp>
            </p:grpSp>
            <p:sp>
              <p:nvSpPr>
                <p:cNvPr id="726" name="Google Shape;726;p34"/>
                <p:cNvSpPr txBox="1"/>
                <p:nvPr/>
              </p:nvSpPr>
              <p:spPr>
                <a:xfrm>
                  <a:off x="4927551" y="4598129"/>
                  <a:ext cx="6276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PT</a:t>
                  </a:r>
                  <a:endParaRPr sz="6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727" name="Google Shape;727;p34"/>
              <p:cNvCxnSpPr/>
              <p:nvPr/>
            </p:nvCxnSpPr>
            <p:spPr>
              <a:xfrm>
                <a:off x="1209100" y="6173750"/>
                <a:ext cx="49452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34"/>
              <p:cNvCxnSpPr>
                <a:stCxn id="713" idx="2"/>
              </p:cNvCxnSpPr>
              <p:nvPr/>
            </p:nvCxnSpPr>
            <p:spPr>
              <a:xfrm>
                <a:off x="2243125" y="5358625"/>
                <a:ext cx="3900" cy="8016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34"/>
              <p:cNvCxnSpPr>
                <a:stCxn id="718" idx="2"/>
              </p:cNvCxnSpPr>
              <p:nvPr/>
            </p:nvCxnSpPr>
            <p:spPr>
              <a:xfrm flipH="1">
                <a:off x="5227000" y="5573725"/>
                <a:ext cx="2700" cy="592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730" name="Google Shape;730;p34"/>
            <p:cNvSpPr/>
            <p:nvPr/>
          </p:nvSpPr>
          <p:spPr>
            <a:xfrm>
              <a:off x="2725325" y="5042425"/>
              <a:ext cx="2041075" cy="429600"/>
            </a:xfrm>
            <a:custGeom>
              <a:avLst/>
              <a:gdLst/>
              <a:ahLst/>
              <a:cxnLst/>
              <a:rect l="l" t="t" r="r" b="b"/>
              <a:pathLst>
                <a:path w="81643" h="17184" extrusionOk="0">
                  <a:moveTo>
                    <a:pt x="0" y="1399"/>
                  </a:moveTo>
                  <a:cubicBezTo>
                    <a:pt x="2099" y="3343"/>
                    <a:pt x="7387" y="10497"/>
                    <a:pt x="12596" y="13063"/>
                  </a:cubicBezTo>
                  <a:cubicBezTo>
                    <a:pt x="17806" y="15629"/>
                    <a:pt x="26281" y="16173"/>
                    <a:pt x="31257" y="16795"/>
                  </a:cubicBezTo>
                  <a:cubicBezTo>
                    <a:pt x="36233" y="17417"/>
                    <a:pt x="37866" y="17106"/>
                    <a:pt x="42454" y="16795"/>
                  </a:cubicBezTo>
                  <a:cubicBezTo>
                    <a:pt x="47042" y="16484"/>
                    <a:pt x="53496" y="16717"/>
                    <a:pt x="58783" y="14929"/>
                  </a:cubicBezTo>
                  <a:cubicBezTo>
                    <a:pt x="64070" y="13141"/>
                    <a:pt x="70368" y="8553"/>
                    <a:pt x="74178" y="6065"/>
                  </a:cubicBezTo>
                  <a:cubicBezTo>
                    <a:pt x="77988" y="3577"/>
                    <a:pt x="80399" y="1011"/>
                    <a:pt x="81643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1" name="Google Shape;731;p34"/>
            <p:cNvSpPr/>
            <p:nvPr/>
          </p:nvSpPr>
          <p:spPr>
            <a:xfrm>
              <a:off x="2667000" y="5357325"/>
              <a:ext cx="2111050" cy="386350"/>
            </a:xfrm>
            <a:custGeom>
              <a:avLst/>
              <a:gdLst/>
              <a:ahLst/>
              <a:cxnLst/>
              <a:rect l="l" t="t" r="r" b="b"/>
              <a:pathLst>
                <a:path w="84442" h="15454" extrusionOk="0">
                  <a:moveTo>
                    <a:pt x="84442" y="933"/>
                  </a:moveTo>
                  <a:cubicBezTo>
                    <a:pt x="83042" y="2022"/>
                    <a:pt x="80087" y="5366"/>
                    <a:pt x="76044" y="7465"/>
                  </a:cubicBezTo>
                  <a:cubicBezTo>
                    <a:pt x="72001" y="9564"/>
                    <a:pt x="65392" y="12285"/>
                    <a:pt x="60182" y="13529"/>
                  </a:cubicBezTo>
                  <a:cubicBezTo>
                    <a:pt x="54973" y="14773"/>
                    <a:pt x="50385" y="14696"/>
                    <a:pt x="44787" y="14929"/>
                  </a:cubicBezTo>
                  <a:cubicBezTo>
                    <a:pt x="39189" y="15162"/>
                    <a:pt x="31957" y="15862"/>
                    <a:pt x="26592" y="14929"/>
                  </a:cubicBezTo>
                  <a:cubicBezTo>
                    <a:pt x="21227" y="13996"/>
                    <a:pt x="16406" y="11119"/>
                    <a:pt x="12596" y="9331"/>
                  </a:cubicBezTo>
                  <a:cubicBezTo>
                    <a:pt x="8786" y="7543"/>
                    <a:pt x="5831" y="5754"/>
                    <a:pt x="3732" y="4199"/>
                  </a:cubicBezTo>
                  <a:cubicBezTo>
                    <a:pt x="1633" y="2644"/>
                    <a:pt x="622" y="700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2" name="Google Shape;732;p34"/>
            <p:cNvSpPr/>
            <p:nvPr/>
          </p:nvSpPr>
          <p:spPr>
            <a:xfrm>
              <a:off x="2404575" y="5472025"/>
              <a:ext cx="2530925" cy="563725"/>
            </a:xfrm>
            <a:custGeom>
              <a:avLst/>
              <a:gdLst/>
              <a:ahLst/>
              <a:cxnLst/>
              <a:rect l="l" t="t" r="r" b="b"/>
              <a:pathLst>
                <a:path w="101237" h="22549" extrusionOk="0">
                  <a:moveTo>
                    <a:pt x="0" y="0"/>
                  </a:moveTo>
                  <a:cubicBezTo>
                    <a:pt x="1711" y="1633"/>
                    <a:pt x="6220" y="6842"/>
                    <a:pt x="10263" y="9797"/>
                  </a:cubicBezTo>
                  <a:cubicBezTo>
                    <a:pt x="14306" y="12752"/>
                    <a:pt x="20527" y="16095"/>
                    <a:pt x="24259" y="17728"/>
                  </a:cubicBezTo>
                  <a:cubicBezTo>
                    <a:pt x="27991" y="19361"/>
                    <a:pt x="28458" y="18817"/>
                    <a:pt x="32657" y="19594"/>
                  </a:cubicBezTo>
                  <a:cubicBezTo>
                    <a:pt x="36856" y="20372"/>
                    <a:pt x="44320" y="22082"/>
                    <a:pt x="49452" y="22393"/>
                  </a:cubicBezTo>
                  <a:cubicBezTo>
                    <a:pt x="54584" y="22704"/>
                    <a:pt x="59094" y="21771"/>
                    <a:pt x="63448" y="21460"/>
                  </a:cubicBezTo>
                  <a:cubicBezTo>
                    <a:pt x="67802" y="21149"/>
                    <a:pt x="71768" y="21227"/>
                    <a:pt x="75578" y="20527"/>
                  </a:cubicBezTo>
                  <a:cubicBezTo>
                    <a:pt x="79388" y="19827"/>
                    <a:pt x="83276" y="18661"/>
                    <a:pt x="86308" y="17261"/>
                  </a:cubicBezTo>
                  <a:cubicBezTo>
                    <a:pt x="89340" y="15861"/>
                    <a:pt x="91284" y="13762"/>
                    <a:pt x="93772" y="12129"/>
                  </a:cubicBezTo>
                  <a:cubicBezTo>
                    <a:pt x="96260" y="10496"/>
                    <a:pt x="99993" y="8242"/>
                    <a:pt x="101237" y="7464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3" name="Google Shape;733;p34"/>
            <p:cNvSpPr/>
            <p:nvPr/>
          </p:nvSpPr>
          <p:spPr>
            <a:xfrm>
              <a:off x="2188800" y="5417600"/>
              <a:ext cx="2962475" cy="859200"/>
            </a:xfrm>
            <a:custGeom>
              <a:avLst/>
              <a:gdLst/>
              <a:ahLst/>
              <a:cxnLst/>
              <a:rect l="l" t="t" r="r" b="b"/>
              <a:pathLst>
                <a:path w="118499" h="34368" extrusionOk="0">
                  <a:moveTo>
                    <a:pt x="118499" y="12130"/>
                  </a:moveTo>
                  <a:cubicBezTo>
                    <a:pt x="117722" y="13685"/>
                    <a:pt x="115467" y="18817"/>
                    <a:pt x="113834" y="21461"/>
                  </a:cubicBezTo>
                  <a:cubicBezTo>
                    <a:pt x="112201" y="24105"/>
                    <a:pt x="111424" y="26204"/>
                    <a:pt x="108702" y="27992"/>
                  </a:cubicBezTo>
                  <a:cubicBezTo>
                    <a:pt x="105981" y="29780"/>
                    <a:pt x="101782" y="31180"/>
                    <a:pt x="97505" y="32191"/>
                  </a:cubicBezTo>
                  <a:cubicBezTo>
                    <a:pt x="93229" y="33202"/>
                    <a:pt x="88019" y="33746"/>
                    <a:pt x="83043" y="34057"/>
                  </a:cubicBezTo>
                  <a:cubicBezTo>
                    <a:pt x="78067" y="34368"/>
                    <a:pt x="73868" y="34057"/>
                    <a:pt x="67647" y="34057"/>
                  </a:cubicBezTo>
                  <a:cubicBezTo>
                    <a:pt x="61427" y="34057"/>
                    <a:pt x="52329" y="34368"/>
                    <a:pt x="45720" y="34057"/>
                  </a:cubicBezTo>
                  <a:cubicBezTo>
                    <a:pt x="39111" y="33746"/>
                    <a:pt x="32424" y="33124"/>
                    <a:pt x="27992" y="32191"/>
                  </a:cubicBezTo>
                  <a:cubicBezTo>
                    <a:pt x="23560" y="31258"/>
                    <a:pt x="21616" y="29703"/>
                    <a:pt x="19128" y="28459"/>
                  </a:cubicBezTo>
                  <a:cubicBezTo>
                    <a:pt x="16640" y="27215"/>
                    <a:pt x="14929" y="26515"/>
                    <a:pt x="13063" y="24726"/>
                  </a:cubicBezTo>
                  <a:cubicBezTo>
                    <a:pt x="11197" y="22938"/>
                    <a:pt x="9408" y="20216"/>
                    <a:pt x="7931" y="17728"/>
                  </a:cubicBezTo>
                  <a:cubicBezTo>
                    <a:pt x="6454" y="15240"/>
                    <a:pt x="5521" y="12752"/>
                    <a:pt x="4199" y="9797"/>
                  </a:cubicBezTo>
                  <a:cubicBezTo>
                    <a:pt x="2877" y="6842"/>
                    <a:pt x="700" y="1633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4" name="Google Shape;734;p34"/>
            <p:cNvSpPr txBox="1"/>
            <p:nvPr/>
          </p:nvSpPr>
          <p:spPr>
            <a:xfrm>
              <a:off x="3296800" y="518868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endParaRPr sz="1000" b="1" dirty="0">
                <a:solidFill>
                  <a:schemeClr val="accent5"/>
                </a:solidFill>
              </a:endParaRPr>
            </a:p>
          </p:txBody>
        </p:sp>
        <p:sp>
          <p:nvSpPr>
            <p:cNvPr id="735" name="Google Shape;735;p34"/>
            <p:cNvSpPr txBox="1"/>
            <p:nvPr/>
          </p:nvSpPr>
          <p:spPr>
            <a:xfrm>
              <a:off x="3337625" y="547201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PTE</a:t>
              </a:r>
              <a:endParaRPr sz="1000" b="1">
                <a:solidFill>
                  <a:schemeClr val="accent5"/>
                </a:solidFill>
              </a:endParaRPr>
            </a:p>
          </p:txBody>
        </p:sp>
        <p:sp>
          <p:nvSpPr>
            <p:cNvPr id="736" name="Google Shape;736;p34"/>
            <p:cNvSpPr txBox="1"/>
            <p:nvPr/>
          </p:nvSpPr>
          <p:spPr>
            <a:xfrm>
              <a:off x="3360962" y="5743663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000" b="1">
                <a:solidFill>
                  <a:schemeClr val="accent2"/>
                </a:solidFill>
              </a:endParaRPr>
            </a:p>
          </p:txBody>
        </p:sp>
        <p:sp>
          <p:nvSpPr>
            <p:cNvPr id="737" name="Google Shape;737;p34"/>
            <p:cNvSpPr txBox="1"/>
            <p:nvPr/>
          </p:nvSpPr>
          <p:spPr>
            <a:xfrm>
              <a:off x="3372637" y="6000738"/>
              <a:ext cx="769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data</a:t>
              </a:r>
              <a:endParaRPr sz="1000" b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5"/>
          <p:cNvSpPr txBox="1">
            <a:spLocks noGrp="1"/>
          </p:cNvSpPr>
          <p:nvPr>
            <p:ph type="title"/>
          </p:nvPr>
        </p:nvSpPr>
        <p:spPr>
          <a:xfrm>
            <a:off x="575187" y="153953"/>
            <a:ext cx="11129011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sp>
        <p:nvSpPr>
          <p:cNvPr id="743" name="Google Shape;743;p35"/>
          <p:cNvSpPr txBox="1">
            <a:spLocks noGrp="1"/>
          </p:cNvSpPr>
          <p:nvPr>
            <p:ph idx="1"/>
          </p:nvPr>
        </p:nvSpPr>
        <p:spPr>
          <a:xfrm>
            <a:off x="663000" y="1184360"/>
            <a:ext cx="10866000" cy="52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</a:rPr>
              <a:t>Traducción de direcciones - </a:t>
            </a:r>
            <a:r>
              <a:rPr lang="es-ES" sz="2400" b="1" dirty="0">
                <a:solidFill>
                  <a:srgbClr val="EA9999"/>
                </a:solidFill>
              </a:rPr>
              <a:t>Trazas de memoria</a:t>
            </a:r>
            <a:endParaRPr sz="2000" dirty="0">
              <a:solidFill>
                <a:srgbClr val="EA999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744" name="Google Shape;744;p35"/>
          <p:cNvSpPr txBox="1"/>
          <p:nvPr/>
        </p:nvSpPr>
        <p:spPr>
          <a:xfrm>
            <a:off x="837250" y="2575051"/>
            <a:ext cx="47010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int array[1000];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...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for (i = 0; i &lt; 1000; i++)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array[i] = 0;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35"/>
          <p:cNvSpPr txBox="1"/>
          <p:nvPr/>
        </p:nvSpPr>
        <p:spPr>
          <a:xfrm>
            <a:off x="6247625" y="2039688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Compilación y ejecución</a:t>
            </a:r>
            <a:endParaRPr sz="1200" b="1" dirty="0">
              <a:solidFill>
                <a:srgbClr val="0B6937"/>
              </a:solidFill>
            </a:endParaRPr>
          </a:p>
        </p:txBody>
      </p:sp>
      <p:sp>
        <p:nvSpPr>
          <p:cNvPr id="746" name="Google Shape;746;p35"/>
          <p:cNvSpPr txBox="1"/>
          <p:nvPr/>
        </p:nvSpPr>
        <p:spPr>
          <a:xfrm>
            <a:off x="844255" y="4295113"/>
            <a:ext cx="612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Código ensamblador resultante</a:t>
            </a:r>
            <a:endParaRPr sz="1200" b="1" dirty="0">
              <a:solidFill>
                <a:srgbClr val="0B6937"/>
              </a:solidFill>
            </a:endParaRPr>
          </a:p>
        </p:txBody>
      </p:sp>
      <p:sp>
        <p:nvSpPr>
          <p:cNvPr id="747" name="Google Shape;747;p35"/>
          <p:cNvSpPr txBox="1"/>
          <p:nvPr/>
        </p:nvSpPr>
        <p:spPr>
          <a:xfrm>
            <a:off x="6247625" y="2574116"/>
            <a:ext cx="47010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prompt&gt; gcc –o array array.c –Wall –o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prompt&gt;./array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8" name="Google Shape;748;p35"/>
          <p:cNvSpPr txBox="1"/>
          <p:nvPr/>
        </p:nvSpPr>
        <p:spPr>
          <a:xfrm>
            <a:off x="903555" y="4859037"/>
            <a:ext cx="101004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movl $0x0,(%edi,%eax,4)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incl %eax        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cmpl $0x03e8,%eax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jne 0x1024                 </a:t>
            </a:r>
            <a:endParaRPr sz="160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35"/>
          <p:cNvSpPr txBox="1"/>
          <p:nvPr/>
        </p:nvSpPr>
        <p:spPr>
          <a:xfrm>
            <a:off x="837250" y="208611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Código</a:t>
            </a:r>
            <a:endParaRPr b="1" dirty="0">
              <a:solidFill>
                <a:srgbClr val="0B693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6"/>
          <p:cNvSpPr txBox="1">
            <a:spLocks noGrp="1"/>
          </p:cNvSpPr>
          <p:nvPr>
            <p:ph type="title"/>
          </p:nvPr>
        </p:nvSpPr>
        <p:spPr>
          <a:xfrm>
            <a:off x="683101" y="143725"/>
            <a:ext cx="108660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sp>
        <p:nvSpPr>
          <p:cNvPr id="756" name="Google Shape;756;p36"/>
          <p:cNvSpPr txBox="1"/>
          <p:nvPr/>
        </p:nvSpPr>
        <p:spPr>
          <a:xfrm>
            <a:off x="554717" y="1742899"/>
            <a:ext cx="3685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movl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$0x0,(%edi,%eax,4)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incl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%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eax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cmpl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$0x03e8,%eax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jne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0x1024                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57" name="Google Shape;7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234" y="1942259"/>
            <a:ext cx="5631049" cy="432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8" name="Google Shape;758;p36"/>
          <p:cNvGraphicFramePr/>
          <p:nvPr>
            <p:extLst>
              <p:ext uri="{D42A27DB-BD31-4B8C-83A1-F6EECF244321}">
                <p14:modId xmlns:p14="http://schemas.microsoft.com/office/powerpoint/2010/main" val="135883200"/>
              </p:ext>
            </p:extLst>
          </p:nvPr>
        </p:nvGraphicFramePr>
        <p:xfrm>
          <a:off x="554717" y="4105409"/>
          <a:ext cx="4940573" cy="23772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4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Instrucción</a:t>
                      </a:r>
                      <a:endParaRPr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Fetch inst</a:t>
                      </a:r>
                      <a:endParaRPr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Mem Access</a:t>
                      </a:r>
                      <a:endParaRPr b="1">
                        <a:solidFill>
                          <a:schemeClr val="dk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movl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$0x0,(%edi,%eax,4)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incl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%</a:t>
                      </a: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eax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    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sz="140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cmpl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$0x03e8,%eax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jne</a:t>
                      </a: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 0x1024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 panose="020B0609020204030204" pitchFamily="49" charset="0"/>
                        </a:rPr>
                        <a:t>2</a:t>
                      </a:r>
                      <a:endParaRPr sz="14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9" name="Google Shape;759;p36"/>
          <p:cNvSpPr/>
          <p:nvPr/>
        </p:nvSpPr>
        <p:spPr>
          <a:xfrm>
            <a:off x="4629442" y="1469288"/>
            <a:ext cx="772700" cy="1716925"/>
          </a:xfrm>
          <a:custGeom>
            <a:avLst/>
            <a:gdLst/>
            <a:ahLst/>
            <a:cxnLst/>
            <a:rect l="l" t="t" r="r" b="b"/>
            <a:pathLst>
              <a:path w="30908" h="68677" extrusionOk="0">
                <a:moveTo>
                  <a:pt x="0" y="56002"/>
                </a:moveTo>
                <a:cubicBezTo>
                  <a:pt x="855" y="57635"/>
                  <a:pt x="2411" y="63701"/>
                  <a:pt x="5132" y="65800"/>
                </a:cubicBezTo>
                <a:cubicBezTo>
                  <a:pt x="7854" y="67900"/>
                  <a:pt x="13141" y="68755"/>
                  <a:pt x="16329" y="68599"/>
                </a:cubicBezTo>
                <a:cubicBezTo>
                  <a:pt x="19517" y="68444"/>
                  <a:pt x="22161" y="67900"/>
                  <a:pt x="24260" y="64867"/>
                </a:cubicBezTo>
                <a:cubicBezTo>
                  <a:pt x="26359" y="61835"/>
                  <a:pt x="27837" y="55925"/>
                  <a:pt x="28925" y="50404"/>
                </a:cubicBezTo>
                <a:cubicBezTo>
                  <a:pt x="30014" y="44883"/>
                  <a:pt x="31024" y="37575"/>
                  <a:pt x="30791" y="31743"/>
                </a:cubicBezTo>
                <a:cubicBezTo>
                  <a:pt x="30558" y="25911"/>
                  <a:pt x="28769" y="19768"/>
                  <a:pt x="27525" y="15414"/>
                </a:cubicBezTo>
                <a:cubicBezTo>
                  <a:pt x="26281" y="11060"/>
                  <a:pt x="25425" y="8183"/>
                  <a:pt x="23326" y="5617"/>
                </a:cubicBezTo>
                <a:cubicBezTo>
                  <a:pt x="21227" y="3051"/>
                  <a:pt x="18195" y="-59"/>
                  <a:pt x="14929" y="19"/>
                </a:cubicBezTo>
                <a:cubicBezTo>
                  <a:pt x="11663" y="97"/>
                  <a:pt x="5598" y="5073"/>
                  <a:pt x="3732" y="6084"/>
                </a:cubicBezTo>
              </a:path>
            </a:pathLst>
          </a:cu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0" name="Google Shape;760;p36"/>
          <p:cNvSpPr txBox="1"/>
          <p:nvPr/>
        </p:nvSpPr>
        <p:spPr>
          <a:xfrm>
            <a:off x="4240217" y="2050712"/>
            <a:ext cx="956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Análisis:</a:t>
            </a:r>
            <a:endParaRPr sz="12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ciclos</a:t>
            </a:r>
            <a:endParaRPr sz="1000"/>
          </a:p>
        </p:txBody>
      </p:sp>
      <p:sp>
        <p:nvSpPr>
          <p:cNvPr id="761" name="Google Shape;761;p36"/>
          <p:cNvSpPr txBox="1"/>
          <p:nvPr/>
        </p:nvSpPr>
        <p:spPr>
          <a:xfrm>
            <a:off x="554717" y="3370095"/>
            <a:ext cx="46419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5 ciclos * 10 accesos/1 ciclo = </a:t>
            </a:r>
            <a:r>
              <a:rPr lang="es-ES" sz="18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50 accesos</a:t>
            </a:r>
            <a:endParaRPr sz="1800" b="1" dirty="0"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36"/>
          <p:cNvSpPr/>
          <p:nvPr/>
        </p:nvSpPr>
        <p:spPr>
          <a:xfrm rot="465539">
            <a:off x="6932599" y="2292769"/>
            <a:ext cx="1002175" cy="1403880"/>
          </a:xfrm>
          <a:prstGeom prst="ellipse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36"/>
          <p:cNvSpPr/>
          <p:nvPr/>
        </p:nvSpPr>
        <p:spPr>
          <a:xfrm rot="5027734">
            <a:off x="7415553" y="4131409"/>
            <a:ext cx="377511" cy="653049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6"/>
          <p:cNvSpPr/>
          <p:nvPr/>
        </p:nvSpPr>
        <p:spPr>
          <a:xfrm rot="5027410">
            <a:off x="7314457" y="5181205"/>
            <a:ext cx="407692" cy="825058"/>
          </a:xfrm>
          <a:prstGeom prst="ellipse">
            <a:avLst/>
          </a:prstGeom>
          <a:noFill/>
          <a:ln w="19050" cap="flat" cmpd="sng">
            <a:solidFill>
              <a:srgbClr val="0B6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65" name="Google Shape;765;p36"/>
          <p:cNvSpPr txBox="1"/>
          <p:nvPr/>
        </p:nvSpPr>
        <p:spPr>
          <a:xfrm>
            <a:off x="7790759" y="2003934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766" name="Google Shape;766;p36"/>
          <p:cNvSpPr txBox="1"/>
          <p:nvPr/>
        </p:nvSpPr>
        <p:spPr>
          <a:xfrm>
            <a:off x="7849859" y="3811747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767" name="Google Shape;767;p36"/>
          <p:cNvSpPr txBox="1"/>
          <p:nvPr/>
        </p:nvSpPr>
        <p:spPr>
          <a:xfrm>
            <a:off x="7949309" y="5060497"/>
            <a:ext cx="7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Patrón</a:t>
            </a:r>
            <a:endParaRPr>
              <a:solidFill>
                <a:srgbClr val="0B693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7"/>
          <p:cNvSpPr txBox="1">
            <a:spLocks noGrp="1"/>
          </p:cNvSpPr>
          <p:nvPr>
            <p:ph type="title"/>
          </p:nvPr>
        </p:nvSpPr>
        <p:spPr>
          <a:xfrm>
            <a:off x="759750" y="60425"/>
            <a:ext cx="110229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– Trazas de memoria</a:t>
            </a:r>
            <a:endParaRPr dirty="0"/>
          </a:p>
        </p:txBody>
      </p:sp>
      <p:pic>
        <p:nvPicPr>
          <p:cNvPr id="774" name="Google Shape;7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375" y="2398413"/>
            <a:ext cx="4180924" cy="424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7196" y="2402949"/>
            <a:ext cx="4180925" cy="4234114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7"/>
          <p:cNvSpPr txBox="1"/>
          <p:nvPr/>
        </p:nvSpPr>
        <p:spPr>
          <a:xfrm>
            <a:off x="2001325" y="1505601"/>
            <a:ext cx="30000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B6937"/>
                </a:solidFill>
                <a:ea typeface="Roboto"/>
                <a:cs typeface="Roboto"/>
                <a:sym typeface="Roboto"/>
              </a:rPr>
              <a:t>Localidad espacial </a:t>
            </a:r>
            <a:endParaRPr sz="2400" b="1" dirty="0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Acceso secuencial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7040600" y="1385988"/>
            <a:ext cx="39423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0B6937"/>
                </a:solidFill>
                <a:ea typeface="Roboto"/>
                <a:cs typeface="Roboto"/>
                <a:sym typeface="Roboto"/>
              </a:rPr>
              <a:t>Localidad Temporal</a:t>
            </a:r>
            <a:endParaRPr sz="2400" b="1">
              <a:solidFill>
                <a:srgbClr val="0B6937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Acceso aleatorio repetido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792" name="Google Shape;792;p39"/>
          <p:cNvSpPr txBox="1">
            <a:spLocks noGrp="1"/>
          </p:cNvSpPr>
          <p:nvPr>
            <p:ph type="body" idx="1"/>
          </p:nvPr>
        </p:nvSpPr>
        <p:spPr>
          <a:xfrm>
            <a:off x="916650" y="967040"/>
            <a:ext cx="10919700" cy="5908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Pregunta clave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93" name="Google Shape;793;p39"/>
          <p:cNvSpPr txBox="1"/>
          <p:nvPr/>
        </p:nvSpPr>
        <p:spPr>
          <a:xfrm>
            <a:off x="916650" y="1557873"/>
            <a:ext cx="10547400" cy="206207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ea typeface="Roboto"/>
                <a:cs typeface="Roboto"/>
                <a:sym typeface="Roboto"/>
              </a:rPr>
              <a:t>¿Cómo mejorar la traducción de direcciones?</a:t>
            </a:r>
            <a:endParaRPr sz="2600" b="1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¿Cómo podemos acelerar la traducción de direcciones evitando la referencia adicional a memoria necesaria cuando se usa paginación?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¿Que soporte de hardware es necesario?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¿Qué es lo que tiene que hacer el sistema operativo en este caso?</a:t>
            </a:r>
            <a:endParaRPr sz="2400" dirty="0">
              <a:ea typeface="Roboto"/>
              <a:cs typeface="Roboto"/>
              <a:sym typeface="Roboto"/>
            </a:endParaRPr>
          </a:p>
        </p:txBody>
      </p:sp>
      <p:pic>
        <p:nvPicPr>
          <p:cNvPr id="794" name="Google Shape;79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801" y="3949950"/>
            <a:ext cx="2518350" cy="25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7378" y="3949950"/>
            <a:ext cx="2633431" cy="255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1"/>
          <p:cNvSpPr txBox="1">
            <a:spLocks noGrp="1"/>
          </p:cNvSpPr>
          <p:nvPr>
            <p:ph type="title"/>
          </p:nvPr>
        </p:nvSpPr>
        <p:spPr>
          <a:xfrm>
            <a:off x="592186" y="23457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(Translation Lookaside Buffer)</a:t>
            </a:r>
            <a:endParaRPr dirty="0">
              <a:latin typeface="+mj-lt"/>
            </a:endParaRPr>
          </a:p>
        </p:txBody>
      </p:sp>
      <p:sp>
        <p:nvSpPr>
          <p:cNvPr id="807" name="Google Shape;807;p41"/>
          <p:cNvSpPr txBox="1">
            <a:spLocks noGrp="1"/>
          </p:cNvSpPr>
          <p:nvPr>
            <p:ph type="body" idx="1"/>
          </p:nvPr>
        </p:nvSpPr>
        <p:spPr>
          <a:xfrm>
            <a:off x="573655" y="1448100"/>
            <a:ext cx="5828254" cy="3961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Aspectos claves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La </a:t>
            </a:r>
            <a:r>
              <a:rPr lang="es-ES" sz="2000" b="1" dirty="0">
                <a:latin typeface="+mn-lt"/>
              </a:rPr>
              <a:t>TLB</a:t>
            </a:r>
            <a:r>
              <a:rPr lang="es-ES" sz="2000" dirty="0">
                <a:latin typeface="+mn-lt"/>
              </a:rPr>
              <a:t> es una memoria cache </a:t>
            </a:r>
            <a:r>
              <a:rPr lang="es-ES" sz="2000" dirty="0" err="1">
                <a:latin typeface="+mn-lt"/>
              </a:rPr>
              <a:t>on</a:t>
            </a:r>
            <a:r>
              <a:rPr lang="es-ES" sz="2000" dirty="0">
                <a:latin typeface="+mn-lt"/>
              </a:rPr>
              <a:t> chip (En la CPU).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Pequeña y rápida.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Mantiene las direcciones más populares de la tabla de página (PT).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Tamaños típicos: 16 ~ 256 entradas. 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Usualmente es full asociativo (todas las entradas son comparadas en paralelo), pero puede haber asociatividad para reducir la latencia.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08" name="Google Shape;808;p41"/>
          <p:cNvGrpSpPr/>
          <p:nvPr/>
        </p:nvGrpSpPr>
        <p:grpSpPr>
          <a:xfrm>
            <a:off x="6982425" y="1992975"/>
            <a:ext cx="4945200" cy="2462425"/>
            <a:chOff x="3308475" y="3275925"/>
            <a:chExt cx="4945200" cy="2462425"/>
          </a:xfrm>
        </p:grpSpPr>
        <p:grpSp>
          <p:nvGrpSpPr>
            <p:cNvPr id="809" name="Google Shape;809;p41"/>
            <p:cNvGrpSpPr/>
            <p:nvPr/>
          </p:nvGrpSpPr>
          <p:grpSpPr>
            <a:xfrm>
              <a:off x="4019950" y="3473025"/>
              <a:ext cx="1344684" cy="1582059"/>
              <a:chOff x="1842634" y="4206918"/>
              <a:chExt cx="801600" cy="1256400"/>
            </a:xfrm>
          </p:grpSpPr>
          <p:sp>
            <p:nvSpPr>
              <p:cNvPr id="810" name="Google Shape;810;p41"/>
              <p:cNvSpPr/>
              <p:nvPr/>
            </p:nvSpPr>
            <p:spPr>
              <a:xfrm>
                <a:off x="1842634" y="4206918"/>
                <a:ext cx="801600" cy="1256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6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11" name="Google Shape;811;p41"/>
              <p:cNvSpPr txBox="1"/>
              <p:nvPr/>
            </p:nvSpPr>
            <p:spPr>
              <a:xfrm>
                <a:off x="2083476" y="4509669"/>
                <a:ext cx="342600" cy="29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TLB</a:t>
                </a:r>
                <a:endParaRPr sz="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812" name="Google Shape;812;p41"/>
            <p:cNvSpPr/>
            <p:nvPr/>
          </p:nvSpPr>
          <p:spPr>
            <a:xfrm>
              <a:off x="6656625" y="3275925"/>
              <a:ext cx="1344900" cy="18624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/>
                  <a:ea typeface="Consolas"/>
                  <a:cs typeface="Consolas"/>
                  <a:sym typeface="Consolas"/>
                </a:rPr>
                <a:t>Mem</a:t>
              </a:r>
              <a:endParaRPr sz="1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813" name="Google Shape;813;p41"/>
            <p:cNvGrpSpPr/>
            <p:nvPr/>
          </p:nvGrpSpPr>
          <p:grpSpPr>
            <a:xfrm>
              <a:off x="7010775" y="4286950"/>
              <a:ext cx="636600" cy="641400"/>
              <a:chOff x="9231450" y="2884725"/>
              <a:chExt cx="636600" cy="641400"/>
            </a:xfrm>
          </p:grpSpPr>
          <p:grpSp>
            <p:nvGrpSpPr>
              <p:cNvPr id="814" name="Google Shape;814;p41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815" name="Google Shape;815;p41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16" name="Google Shape;816;p41"/>
                <p:cNvCxnSpPr>
                  <a:stCxn id="815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7" name="Google Shape;817;p41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18" name="Google Shape;818;p41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19" name="Google Shape;819;p41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  <p:sp>
          <p:nvSpPr>
            <p:cNvPr id="820" name="Google Shape;820;p41"/>
            <p:cNvSpPr txBox="1"/>
            <p:nvPr/>
          </p:nvSpPr>
          <p:spPr>
            <a:xfrm>
              <a:off x="7015276" y="3947629"/>
              <a:ext cx="62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PT</a:t>
              </a:r>
              <a:endParaRPr sz="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21" name="Google Shape;821;p41"/>
            <p:cNvCxnSpPr/>
            <p:nvPr/>
          </p:nvCxnSpPr>
          <p:spPr>
            <a:xfrm>
              <a:off x="3308475" y="5738350"/>
              <a:ext cx="49452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41"/>
            <p:cNvCxnSpPr>
              <a:stCxn id="810" idx="2"/>
            </p:cNvCxnSpPr>
            <p:nvPr/>
          </p:nvCxnSpPr>
          <p:spPr>
            <a:xfrm flipH="1">
              <a:off x="4684792" y="5055084"/>
              <a:ext cx="7500" cy="67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41"/>
            <p:cNvCxnSpPr>
              <a:stCxn id="812" idx="2"/>
            </p:cNvCxnSpPr>
            <p:nvPr/>
          </p:nvCxnSpPr>
          <p:spPr>
            <a:xfrm flipH="1">
              <a:off x="7326375" y="5138325"/>
              <a:ext cx="2700" cy="592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24" name="Google Shape;824;p41"/>
            <p:cNvGrpSpPr/>
            <p:nvPr/>
          </p:nvGrpSpPr>
          <p:grpSpPr>
            <a:xfrm>
              <a:off x="4394975" y="4171100"/>
              <a:ext cx="636600" cy="641400"/>
              <a:chOff x="9231450" y="2884725"/>
              <a:chExt cx="636600" cy="641400"/>
            </a:xfrm>
          </p:grpSpPr>
          <p:grpSp>
            <p:nvGrpSpPr>
              <p:cNvPr id="825" name="Google Shape;825;p41"/>
              <p:cNvGrpSpPr/>
              <p:nvPr/>
            </p:nvGrpSpPr>
            <p:grpSpPr>
              <a:xfrm>
                <a:off x="9231450" y="2884725"/>
                <a:ext cx="636600" cy="641400"/>
                <a:chOff x="9231450" y="2884725"/>
                <a:chExt cx="636600" cy="641400"/>
              </a:xfrm>
            </p:grpSpPr>
            <p:sp>
              <p:nvSpPr>
                <p:cNvPr id="826" name="Google Shape;826;p41"/>
                <p:cNvSpPr/>
                <p:nvPr/>
              </p:nvSpPr>
              <p:spPr>
                <a:xfrm>
                  <a:off x="9233850" y="2884725"/>
                  <a:ext cx="629400" cy="6414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827" name="Google Shape;827;p41"/>
                <p:cNvCxnSpPr>
                  <a:stCxn id="826" idx="1"/>
                </p:cNvCxnSpPr>
                <p:nvPr/>
              </p:nvCxnSpPr>
              <p:spPr>
                <a:xfrm>
                  <a:off x="9233850" y="3205425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8" name="Google Shape;828;p41"/>
                <p:cNvCxnSpPr/>
                <p:nvPr/>
              </p:nvCxnSpPr>
              <p:spPr>
                <a:xfrm>
                  <a:off x="9233850" y="304000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9" name="Google Shape;829;p41"/>
                <p:cNvCxnSpPr/>
                <p:nvPr/>
              </p:nvCxnSpPr>
              <p:spPr>
                <a:xfrm>
                  <a:off x="9231450" y="3367350"/>
                  <a:ext cx="634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30" name="Google Shape;830;p41"/>
              <p:cNvSpPr txBox="1"/>
              <p:nvPr/>
            </p:nvSpPr>
            <p:spPr>
              <a:xfrm>
                <a:off x="9389400" y="3042150"/>
                <a:ext cx="320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…</a:t>
                </a:r>
                <a:endParaRPr/>
              </a:p>
            </p:txBody>
          </p:sp>
        </p:grpSp>
      </p:grpSp>
      <p:cxnSp>
        <p:nvCxnSpPr>
          <p:cNvPr id="831" name="Google Shape;831;p41"/>
          <p:cNvCxnSpPr/>
          <p:nvPr/>
        </p:nvCxnSpPr>
        <p:spPr>
          <a:xfrm flipH="1">
            <a:off x="8626950" y="1671725"/>
            <a:ext cx="758100" cy="1271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41"/>
          <p:cNvSpPr txBox="1"/>
          <p:nvPr/>
        </p:nvSpPr>
        <p:spPr>
          <a:xfrm>
            <a:off x="9326750" y="1429150"/>
            <a:ext cx="84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Cache</a:t>
            </a:r>
            <a:endParaRPr sz="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3" name="Google Shape;833;p41"/>
          <p:cNvSpPr txBox="1"/>
          <p:nvPr/>
        </p:nvSpPr>
        <p:spPr>
          <a:xfrm>
            <a:off x="8715200" y="4560700"/>
            <a:ext cx="2064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Memory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Interconnection</a:t>
            </a:r>
            <a:endParaRPr sz="1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41"/>
          <p:cNvSpPr txBox="1"/>
          <p:nvPr/>
        </p:nvSpPr>
        <p:spPr>
          <a:xfrm>
            <a:off x="8626950" y="3881175"/>
            <a:ext cx="206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PTEs más populares son transferidas más a menudo</a:t>
            </a:r>
            <a:endParaRPr sz="4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5" name="Google Shape;835;p41"/>
          <p:cNvCxnSpPr/>
          <p:nvPr/>
        </p:nvCxnSpPr>
        <p:spPr>
          <a:xfrm rot="10800000">
            <a:off x="9198300" y="4377600"/>
            <a:ext cx="1084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(Translation Lookaside Buffer)</a:t>
            </a:r>
            <a:endParaRPr dirty="0">
              <a:latin typeface="+mj-lt"/>
            </a:endParaRPr>
          </a:p>
        </p:txBody>
      </p:sp>
      <p:pic>
        <p:nvPicPr>
          <p:cNvPr id="842" name="Google Shape;8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000" y="1808862"/>
            <a:ext cx="9715551" cy="436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(Translation Lookaside Buffer)</a:t>
            </a:r>
            <a:endParaRPr dirty="0">
              <a:latin typeface="+mj-lt"/>
            </a:endParaRPr>
          </a:p>
        </p:txBody>
      </p:sp>
      <p:sp>
        <p:nvSpPr>
          <p:cNvPr id="848" name="Google Shape;848;p43"/>
          <p:cNvSpPr txBox="1">
            <a:spLocks noGrp="1"/>
          </p:cNvSpPr>
          <p:nvPr>
            <p:ph type="body" idx="1"/>
          </p:nvPr>
        </p:nvSpPr>
        <p:spPr>
          <a:xfrm>
            <a:off x="589935" y="964068"/>
            <a:ext cx="10978515" cy="133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Contenido de una entrada TLB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A diferencia de una entrada de una tabla de página (</a:t>
            </a:r>
            <a:r>
              <a:rPr lang="es-ES" sz="2000" b="1" dirty="0">
                <a:solidFill>
                  <a:srgbClr val="E46C0A"/>
                </a:solidFill>
                <a:latin typeface="+mn-lt"/>
                <a:ea typeface="Consolas"/>
                <a:cs typeface="Consolas"/>
                <a:sym typeface="Consolas"/>
              </a:rPr>
              <a:t>PTE = PFN + </a:t>
            </a:r>
            <a:r>
              <a:rPr lang="es-ES" sz="2000" b="1" dirty="0" err="1">
                <a:solidFill>
                  <a:srgbClr val="E46C0A"/>
                </a:solidFill>
                <a:latin typeface="+mn-lt"/>
                <a:ea typeface="Consolas"/>
                <a:cs typeface="Consolas"/>
                <a:sym typeface="Consolas"/>
              </a:rPr>
              <a:t>Other</a:t>
            </a:r>
            <a:r>
              <a:rPr lang="es-ES" sz="2000" b="1" dirty="0">
                <a:solidFill>
                  <a:srgbClr val="E46C0A"/>
                </a:solidFill>
                <a:latin typeface="+mn-lt"/>
                <a:ea typeface="Consolas"/>
                <a:cs typeface="Consolas"/>
                <a:sym typeface="Consolas"/>
              </a:rPr>
              <a:t> bits</a:t>
            </a:r>
            <a:r>
              <a:rPr lang="es-ES" sz="2000" dirty="0">
                <a:latin typeface="+mn-lt"/>
              </a:rPr>
              <a:t>), una entrada de una TLB (</a:t>
            </a:r>
            <a:r>
              <a:rPr lang="es-ES" sz="2000" b="1" dirty="0">
                <a:latin typeface="+mn-lt"/>
              </a:rPr>
              <a:t>TLB </a:t>
            </a:r>
            <a:r>
              <a:rPr lang="es-ES" sz="2000" b="1" dirty="0" err="1">
                <a:latin typeface="+mn-lt"/>
              </a:rPr>
              <a:t>Entry</a:t>
            </a:r>
            <a:r>
              <a:rPr lang="es-ES" sz="2000" dirty="0">
                <a:latin typeface="+mn-lt"/>
              </a:rPr>
              <a:t>) contiene la siguiente forma: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916650" y="2442091"/>
            <a:ext cx="5620500" cy="523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TLB </a:t>
            </a:r>
            <a:r>
              <a:rPr lang="es-ES" sz="2200" b="1" dirty="0" err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Entry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 + PFN + </a:t>
            </a:r>
            <a:r>
              <a:rPr lang="es-ES" sz="2200" b="1" dirty="0" err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Other</a:t>
            </a:r>
            <a:r>
              <a:rPr lang="es-ES" sz="22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 bits</a:t>
            </a:r>
            <a:endParaRPr dirty="0"/>
          </a:p>
        </p:txBody>
      </p:sp>
      <p:graphicFrame>
        <p:nvGraphicFramePr>
          <p:cNvPr id="850" name="Google Shape;850;p43"/>
          <p:cNvGraphicFramePr/>
          <p:nvPr/>
        </p:nvGraphicFramePr>
        <p:xfrm>
          <a:off x="6819975" y="2496725"/>
          <a:ext cx="4851825" cy="4724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51" name="Google Shape;851;p43"/>
          <p:cNvGrpSpPr/>
          <p:nvPr/>
        </p:nvGrpSpPr>
        <p:grpSpPr>
          <a:xfrm>
            <a:off x="6794925" y="3058325"/>
            <a:ext cx="4923950" cy="1268400"/>
            <a:chOff x="1275575" y="4284000"/>
            <a:chExt cx="4923950" cy="1268400"/>
          </a:xfrm>
        </p:grpSpPr>
        <p:grpSp>
          <p:nvGrpSpPr>
            <p:cNvPr id="852" name="Google Shape;852;p43"/>
            <p:cNvGrpSpPr/>
            <p:nvPr/>
          </p:nvGrpSpPr>
          <p:grpSpPr>
            <a:xfrm>
              <a:off x="1275575" y="4284000"/>
              <a:ext cx="1449900" cy="945150"/>
              <a:chOff x="1275575" y="4284000"/>
              <a:chExt cx="1449900" cy="945150"/>
            </a:xfrm>
          </p:grpSpPr>
          <p:sp>
            <p:nvSpPr>
              <p:cNvPr id="853" name="Google Shape;853;p43"/>
              <p:cNvSpPr txBox="1"/>
              <p:nvPr/>
            </p:nvSpPr>
            <p:spPr>
              <a:xfrm>
                <a:off x="1300625" y="4397850"/>
                <a:ext cx="1282500" cy="831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Virtual Page Number </a:t>
                </a:r>
                <a:r>
                  <a:rPr lang="es-ES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(Tag) </a:t>
                </a: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854" name="Google Shape;854;p43"/>
              <p:cNvSpPr/>
              <p:nvPr/>
            </p:nvSpPr>
            <p:spPr>
              <a:xfrm rot="-5400000">
                <a:off x="1889675" y="3669900"/>
                <a:ext cx="221700" cy="14499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43"/>
            <p:cNvGrpSpPr/>
            <p:nvPr/>
          </p:nvGrpSpPr>
          <p:grpSpPr>
            <a:xfrm>
              <a:off x="2757600" y="4284775"/>
              <a:ext cx="1355700" cy="836525"/>
              <a:chOff x="2757600" y="4284775"/>
              <a:chExt cx="1355700" cy="836525"/>
            </a:xfrm>
          </p:grpSpPr>
          <p:sp>
            <p:nvSpPr>
              <p:cNvPr id="856" name="Google Shape;856;p43"/>
              <p:cNvSpPr txBox="1"/>
              <p:nvPr/>
            </p:nvSpPr>
            <p:spPr>
              <a:xfrm>
                <a:off x="2758725" y="4505700"/>
                <a:ext cx="12825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Page Frame Number</a:t>
                </a:r>
                <a:endParaRPr/>
              </a:p>
            </p:txBody>
          </p:sp>
          <p:sp>
            <p:nvSpPr>
              <p:cNvPr id="857" name="Google Shape;857;p43"/>
              <p:cNvSpPr/>
              <p:nvPr/>
            </p:nvSpPr>
            <p:spPr>
              <a:xfrm rot="-5400000">
                <a:off x="3324600" y="3717775"/>
                <a:ext cx="221700" cy="13557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8" name="Google Shape;858;p43"/>
            <p:cNvGrpSpPr/>
            <p:nvPr/>
          </p:nvGrpSpPr>
          <p:grpSpPr>
            <a:xfrm>
              <a:off x="4122975" y="4297225"/>
              <a:ext cx="2076550" cy="1255175"/>
              <a:chOff x="4122975" y="4297225"/>
              <a:chExt cx="2076550" cy="1255175"/>
            </a:xfrm>
          </p:grpSpPr>
          <p:sp>
            <p:nvSpPr>
              <p:cNvPr id="859" name="Google Shape;859;p43"/>
              <p:cNvSpPr txBox="1"/>
              <p:nvPr/>
            </p:nvSpPr>
            <p:spPr>
              <a:xfrm>
                <a:off x="4145425" y="4505700"/>
                <a:ext cx="2054100" cy="104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V: Valid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R: Reference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M: </a:t>
                </a: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Modif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180000" lvl="0" indent="-174625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onsolas"/>
                  <a:buChar char="●"/>
                </a:pP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Prot</a:t>
                </a:r>
                <a:r>
                  <a:rPr lang="es-ES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: </a:t>
                </a:r>
                <a:r>
                  <a:rPr lang="es-ES" dirty="0" err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Protection</a:t>
                </a:r>
                <a:endParaRPr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60" name="Google Shape;860;p43"/>
              <p:cNvSpPr/>
              <p:nvPr/>
            </p:nvSpPr>
            <p:spPr>
              <a:xfrm rot="-5400000">
                <a:off x="5016075" y="3404125"/>
                <a:ext cx="221700" cy="20079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61" name="Google Shape;8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085" y="4704378"/>
            <a:ext cx="7229840" cy="17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5"/>
          <p:cNvSpPr txBox="1">
            <a:spLocks noGrp="1"/>
          </p:cNvSpPr>
          <p:nvPr>
            <p:ph type="title"/>
          </p:nvPr>
        </p:nvSpPr>
        <p:spPr>
          <a:xfrm>
            <a:off x="737419" y="96038"/>
            <a:ext cx="848323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873" name="Google Shape;873;p45"/>
          <p:cNvSpPr txBox="1">
            <a:spLocks noGrp="1"/>
          </p:cNvSpPr>
          <p:nvPr>
            <p:ph type="body" idx="1"/>
          </p:nvPr>
        </p:nvSpPr>
        <p:spPr>
          <a:xfrm>
            <a:off x="737419" y="1045538"/>
            <a:ext cx="11174400" cy="62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Hardware de traducción con TLB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74" name="Google Shape;87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100" y="1701497"/>
            <a:ext cx="10094650" cy="48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880" name="Google Shape;880;p46"/>
          <p:cNvSpPr txBox="1">
            <a:spLocks noGrp="1"/>
          </p:cNvSpPr>
          <p:nvPr>
            <p:ph type="body" idx="1"/>
          </p:nvPr>
        </p:nvSpPr>
        <p:spPr>
          <a:xfrm>
            <a:off x="528382" y="1178962"/>
            <a:ext cx="5097600" cy="472039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Caso Hit</a:t>
            </a:r>
            <a:endParaRPr sz="24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Se elimina la necesidad de acceder a memoria física: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El procesador envía la VA a la MMU.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La MMU extrae la VPN de la VA.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verifica que la VPN se encuentre en la TLB, como en este caso esto es verdadero (</a:t>
            </a:r>
            <a:r>
              <a:rPr lang="es-ES" sz="2000" b="1" dirty="0">
                <a:solidFill>
                  <a:srgbClr val="0B6937"/>
                </a:solidFill>
                <a:latin typeface="+mn-lt"/>
              </a:rPr>
              <a:t>TLB hit</a:t>
            </a:r>
            <a:r>
              <a:rPr lang="es-ES" sz="2000" dirty="0">
                <a:latin typeface="+mn-lt"/>
              </a:rPr>
              <a:t>), se obtiene la PTE.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extrae la PFN de la PTE y se procede a formar la dirección física (PA) asociada a la dirección virtual.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Con la dirección física obtenida, se procede a cargar el dato que allí se encuentra a la CPU.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81" name="Google Shape;8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294" y="1935565"/>
            <a:ext cx="5748324" cy="344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87" name="Google Shape;887;p47"/>
          <p:cNvSpPr txBox="1">
            <a:spLocks noGrp="1"/>
          </p:cNvSpPr>
          <p:nvPr>
            <p:ph type="body" idx="1"/>
          </p:nvPr>
        </p:nvSpPr>
        <p:spPr>
          <a:xfrm>
            <a:off x="339213" y="788975"/>
            <a:ext cx="6105832" cy="5862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C00000"/>
                </a:solidFill>
                <a:latin typeface="+mn-lt"/>
              </a:rPr>
              <a:t>Caso Miss</a:t>
            </a:r>
            <a:endParaRPr sz="2400" b="1" dirty="0">
              <a:solidFill>
                <a:srgbClr val="C0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En este caso, se da un acceso adicional a memoria (más exactamente a la PT). </a:t>
            </a:r>
            <a:r>
              <a:rPr lang="es-MX" sz="2200" dirty="0">
                <a:latin typeface="+mn-lt"/>
              </a:rPr>
              <a:t>En programas con buena localidad, los TLB misses son poco frecuentes</a:t>
            </a:r>
            <a:r>
              <a:rPr lang="es-ES" sz="2200" dirty="0">
                <a:latin typeface="+mn-lt"/>
              </a:rPr>
              <a:t>: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El procesador envía la VA a la MMU.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La MMU extrae la VPN de la VA.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verifica que la VPN se encuentre en </a:t>
            </a:r>
            <a:r>
              <a:rPr lang="es-ES" sz="2000">
                <a:latin typeface="+mn-lt"/>
              </a:rPr>
              <a:t>la TLB, </a:t>
            </a:r>
            <a:r>
              <a:rPr lang="es-ES" sz="2000" dirty="0">
                <a:latin typeface="+mn-lt"/>
              </a:rPr>
              <a:t>como en este caso no se encuentra (</a:t>
            </a:r>
            <a:r>
              <a:rPr lang="es-ES" sz="2000" b="1" dirty="0">
                <a:solidFill>
                  <a:srgbClr val="0B6937"/>
                </a:solidFill>
                <a:latin typeface="+mn-lt"/>
              </a:rPr>
              <a:t>TLB miss</a:t>
            </a:r>
            <a:r>
              <a:rPr lang="es-ES" sz="2000" dirty="0">
                <a:latin typeface="+mn-lt"/>
              </a:rPr>
              <a:t>), se tiene que acceder a la PT.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Una vez al obtiene el PFN (al acceder a la PT) asociado al VPN deseado, se procede a la actualización de la TLB.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Se realiza nuevamente la búsqueda original en la TLB ya actualizada produciéndose un TLB Hit lo cual hace posible formar la dirección física deseada.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Con la dirección física obtenida, se procede a cargar el dato que allí se encuentra a la CPU.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888" name="Google Shape;8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695" y="1792433"/>
            <a:ext cx="5441974" cy="3273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894" name="Google Shape;894;p48"/>
          <p:cNvSpPr txBox="1">
            <a:spLocks noGrp="1"/>
          </p:cNvSpPr>
          <p:nvPr>
            <p:ph type="body" idx="1"/>
          </p:nvPr>
        </p:nvSpPr>
        <p:spPr>
          <a:xfrm>
            <a:off x="747900" y="905600"/>
            <a:ext cx="10696200" cy="6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Control Flow Basic Algorithm (Pseudocódigo)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95" name="Google Shape;895;p48"/>
          <p:cNvGrpSpPr/>
          <p:nvPr/>
        </p:nvGrpSpPr>
        <p:grpSpPr>
          <a:xfrm>
            <a:off x="776700" y="1660000"/>
            <a:ext cx="6531400" cy="4863900"/>
            <a:chOff x="1255750" y="1531700"/>
            <a:chExt cx="6531400" cy="4863900"/>
          </a:xfrm>
        </p:grpSpPr>
        <p:sp>
          <p:nvSpPr>
            <p:cNvPr id="896" name="Google Shape;896;p48"/>
            <p:cNvSpPr txBox="1"/>
            <p:nvPr/>
          </p:nvSpPr>
          <p:spPr>
            <a:xfrm>
              <a:off x="1982750" y="1531700"/>
              <a:ext cx="5804400" cy="48639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VPN MASK) &gt;&gt; SHIFT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True) // TLB Hit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Register = AccessMemory(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// TLB Miss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PTEAddr = PTBR + (VPN *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(PTE))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PTE = AccessMemory(PTEAddr)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False)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(SEGMENTATION_FAULT)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False)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TLB_Insert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(VPN, PTE.PFN,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RetryInstruction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97" name="Google Shape;897;p48"/>
            <p:cNvSpPr txBox="1"/>
            <p:nvPr/>
          </p:nvSpPr>
          <p:spPr>
            <a:xfrm>
              <a:off x="1255750" y="1531700"/>
              <a:ext cx="6417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CE5CD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CE5CD"/>
                  </a:highlight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D9EAD3"/>
                  </a:highlight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CFE2F3"/>
                  </a:highlight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highlight>
                    <a:srgbClr val="F4CCCC"/>
                  </a:highlight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98" name="Google Shape;898;p48"/>
          <p:cNvSpPr txBox="1"/>
          <p:nvPr/>
        </p:nvSpPr>
        <p:spPr>
          <a:xfrm>
            <a:off x="7542250" y="1660000"/>
            <a:ext cx="4501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Resumen Algoritmo</a:t>
            </a: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comunes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>
                <a:solidFill>
                  <a:schemeClr val="dk1"/>
                </a:solidFill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hit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miss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Instrucciones </a:t>
            </a:r>
            <a:r>
              <a:rPr lang="es-ES" sz="1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interrupción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>
                <a:solidFill>
                  <a:schemeClr val="dk1"/>
                </a:solidFill>
                <a:highlight>
                  <a:srgbClr val="C9DAF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904" name="Google Shape;904;p49"/>
          <p:cNvSpPr txBox="1">
            <a:spLocks noGrp="1"/>
          </p:cNvSpPr>
          <p:nvPr>
            <p:ph type="body" idx="1"/>
          </p:nvPr>
        </p:nvSpPr>
        <p:spPr>
          <a:xfrm>
            <a:off x="916650" y="905600"/>
            <a:ext cx="10696200" cy="6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Control Flow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650" y="1719100"/>
            <a:ext cx="10032526" cy="43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0"/>
          <p:cNvSpPr txBox="1">
            <a:spLocks noGrp="1"/>
          </p:cNvSpPr>
          <p:nvPr>
            <p:ph type="title"/>
          </p:nvPr>
        </p:nvSpPr>
        <p:spPr>
          <a:xfrm>
            <a:off x="381025" y="163663"/>
            <a:ext cx="88279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11" name="Google Shape;911;p50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132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000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 continuación se muestra como una TLB puede mejorar el desempeño en la traducción de direcciones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12" name="Google Shape;912;p50"/>
          <p:cNvGraphicFramePr/>
          <p:nvPr>
            <p:extLst>
              <p:ext uri="{D42A27DB-BD31-4B8C-83A1-F6EECF244321}">
                <p14:modId xmlns:p14="http://schemas.microsoft.com/office/powerpoint/2010/main" val="2486480567"/>
              </p:ext>
            </p:extLst>
          </p:nvPr>
        </p:nvGraphicFramePr>
        <p:xfrm>
          <a:off x="972113" y="1331264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00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01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02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03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04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05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06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07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08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09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10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11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12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13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14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VNP = 15</a:t>
                      </a:r>
                      <a:endParaRPr sz="100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13" name="Google Shape;913;p50"/>
          <p:cNvSpPr txBox="1"/>
          <p:nvPr/>
        </p:nvSpPr>
        <p:spPr>
          <a:xfrm>
            <a:off x="155406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4" name="Google Shape;914;p50"/>
          <p:cNvSpPr txBox="1"/>
          <p:nvPr/>
        </p:nvSpPr>
        <p:spPr>
          <a:xfrm>
            <a:off x="2044688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5" name="Google Shape;915;p50"/>
          <p:cNvSpPr txBox="1"/>
          <p:nvPr/>
        </p:nvSpPr>
        <p:spPr>
          <a:xfrm>
            <a:off x="253531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6" name="Google Shape;916;p50"/>
          <p:cNvSpPr txBox="1"/>
          <p:nvPr/>
        </p:nvSpPr>
        <p:spPr>
          <a:xfrm>
            <a:off x="3025938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7" name="Google Shape;917;p50"/>
          <p:cNvSpPr txBox="1"/>
          <p:nvPr/>
        </p:nvSpPr>
        <p:spPr>
          <a:xfrm>
            <a:off x="3516563" y="1039214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18" name="Google Shape;918;p50"/>
          <p:cNvSpPr txBox="1"/>
          <p:nvPr/>
        </p:nvSpPr>
        <p:spPr>
          <a:xfrm>
            <a:off x="2415613" y="842814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919" name="Google Shape;919;p50"/>
          <p:cNvGrpSpPr/>
          <p:nvPr/>
        </p:nvGrpSpPr>
        <p:grpSpPr>
          <a:xfrm>
            <a:off x="6137913" y="2574525"/>
            <a:ext cx="4205825" cy="1177450"/>
            <a:chOff x="6613800" y="2582275"/>
            <a:chExt cx="4205825" cy="1177450"/>
          </a:xfrm>
        </p:grpSpPr>
        <p:sp>
          <p:nvSpPr>
            <p:cNvPr id="920" name="Google Shape;920;p50"/>
            <p:cNvSpPr txBox="1"/>
            <p:nvPr/>
          </p:nvSpPr>
          <p:spPr>
            <a:xfrm>
              <a:off x="6997925" y="2582275"/>
              <a:ext cx="3821700" cy="11697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int sum = 0;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for (i = 0; i &lt; 10; i++) {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sum += a[i];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21" name="Google Shape;921;p50"/>
            <p:cNvSpPr txBox="1"/>
            <p:nvPr/>
          </p:nvSpPr>
          <p:spPr>
            <a:xfrm>
              <a:off x="6613800" y="2590025"/>
              <a:ext cx="3219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22" name="Google Shape;922;p50"/>
          <p:cNvSpPr txBox="1"/>
          <p:nvPr/>
        </p:nvSpPr>
        <p:spPr>
          <a:xfrm>
            <a:off x="4647288" y="3947250"/>
            <a:ext cx="7187100" cy="2498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Suposiciones (continuación)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tiene un array de diez elementos tipo int: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size(int) = 4B → size(array) = 40 B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dirección base del arreglo a es 100: &amp;a[0] =  100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Address Space: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Número de bits de direcciones: n(VA) = 8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Tamaño de la memoria: 2^8 = 256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1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28" name="Google Shape;928;p51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132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000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 continuación se muestra como una TLB puede mejorar el desempeño en la traducción de direcciones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29" name="Google Shape;929;p51"/>
          <p:cNvGraphicFramePr/>
          <p:nvPr>
            <p:extLst>
              <p:ext uri="{D42A27DB-BD31-4B8C-83A1-F6EECF244321}">
                <p14:modId xmlns:p14="http://schemas.microsoft.com/office/powerpoint/2010/main" val="2340645624"/>
              </p:ext>
            </p:extLst>
          </p:nvPr>
        </p:nvGraphicFramePr>
        <p:xfrm>
          <a:off x="788938" y="1328993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30" name="Google Shape;930;p51"/>
          <p:cNvSpPr txBox="1"/>
          <p:nvPr/>
        </p:nvSpPr>
        <p:spPr>
          <a:xfrm>
            <a:off x="137088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1" name="Google Shape;931;p51"/>
          <p:cNvSpPr txBox="1"/>
          <p:nvPr/>
        </p:nvSpPr>
        <p:spPr>
          <a:xfrm>
            <a:off x="1861513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2" name="Google Shape;932;p51"/>
          <p:cNvSpPr txBox="1"/>
          <p:nvPr/>
        </p:nvSpPr>
        <p:spPr>
          <a:xfrm>
            <a:off x="235213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3" name="Google Shape;933;p51"/>
          <p:cNvSpPr txBox="1"/>
          <p:nvPr/>
        </p:nvSpPr>
        <p:spPr>
          <a:xfrm>
            <a:off x="2842763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4" name="Google Shape;934;p51"/>
          <p:cNvSpPr txBox="1"/>
          <p:nvPr/>
        </p:nvSpPr>
        <p:spPr>
          <a:xfrm>
            <a:off x="3333388" y="1036943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35" name="Google Shape;935;p51"/>
          <p:cNvSpPr txBox="1"/>
          <p:nvPr/>
        </p:nvSpPr>
        <p:spPr>
          <a:xfrm>
            <a:off x="2232438" y="840543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936" name="Google Shape;936;p51"/>
          <p:cNvGrpSpPr/>
          <p:nvPr/>
        </p:nvGrpSpPr>
        <p:grpSpPr>
          <a:xfrm>
            <a:off x="6137913" y="2574525"/>
            <a:ext cx="4205825" cy="1177450"/>
            <a:chOff x="6613800" y="2582275"/>
            <a:chExt cx="4205825" cy="1177450"/>
          </a:xfrm>
        </p:grpSpPr>
        <p:sp>
          <p:nvSpPr>
            <p:cNvPr id="937" name="Google Shape;937;p51"/>
            <p:cNvSpPr txBox="1"/>
            <p:nvPr/>
          </p:nvSpPr>
          <p:spPr>
            <a:xfrm>
              <a:off x="6997925" y="2582275"/>
              <a:ext cx="3821700" cy="11697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int sum = 0;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for (i = 0; i &lt; 10; i++) {  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sum += a[i];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38" name="Google Shape;938;p51"/>
            <p:cNvSpPr txBox="1"/>
            <p:nvPr/>
          </p:nvSpPr>
          <p:spPr>
            <a:xfrm>
              <a:off x="6613800" y="2590025"/>
              <a:ext cx="3219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39" name="Google Shape;939;p51"/>
          <p:cNvSpPr txBox="1"/>
          <p:nvPr/>
        </p:nvSpPr>
        <p:spPr>
          <a:xfrm>
            <a:off x="4647288" y="3947250"/>
            <a:ext cx="7187100" cy="160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Suposiciones</a:t>
            </a:r>
            <a:r>
              <a:rPr lang="es-ES" sz="24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4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 startAt="4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Páginas: 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size(page) = 16 B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num_paginas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= size(VA)/size(page) = 256/16 = 16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2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45" name="Google Shape;945;p52"/>
          <p:cNvSpPr txBox="1">
            <a:spLocks noGrp="1"/>
          </p:cNvSpPr>
          <p:nvPr>
            <p:ph type="body" idx="1"/>
          </p:nvPr>
        </p:nvSpPr>
        <p:spPr>
          <a:xfrm>
            <a:off x="4670675" y="973275"/>
            <a:ext cx="71403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46" name="Google Shape;946;p52"/>
          <p:cNvGraphicFramePr/>
          <p:nvPr>
            <p:extLst>
              <p:ext uri="{D42A27DB-BD31-4B8C-83A1-F6EECF244321}">
                <p14:modId xmlns:p14="http://schemas.microsoft.com/office/powerpoint/2010/main" val="432583171"/>
              </p:ext>
            </p:extLst>
          </p:nvPr>
        </p:nvGraphicFramePr>
        <p:xfrm>
          <a:off x="11449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47" name="Google Shape;947;p52"/>
          <p:cNvSpPr txBox="1"/>
          <p:nvPr/>
        </p:nvSpPr>
        <p:spPr>
          <a:xfrm>
            <a:off x="17269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8" name="Google Shape;948;p52"/>
          <p:cNvSpPr txBox="1"/>
          <p:nvPr/>
        </p:nvSpPr>
        <p:spPr>
          <a:xfrm>
            <a:off x="22175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49" name="Google Shape;949;p52"/>
          <p:cNvSpPr txBox="1"/>
          <p:nvPr/>
        </p:nvSpPr>
        <p:spPr>
          <a:xfrm>
            <a:off x="27081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0" name="Google Shape;950;p52"/>
          <p:cNvSpPr txBox="1"/>
          <p:nvPr/>
        </p:nvSpPr>
        <p:spPr>
          <a:xfrm>
            <a:off x="31988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1" name="Google Shape;951;p52"/>
          <p:cNvSpPr txBox="1"/>
          <p:nvPr/>
        </p:nvSpPr>
        <p:spPr>
          <a:xfrm>
            <a:off x="36894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2" name="Google Shape;952;p52"/>
          <p:cNvSpPr txBox="1"/>
          <p:nvPr/>
        </p:nvSpPr>
        <p:spPr>
          <a:xfrm>
            <a:off x="25884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53" name="Google Shape;953;p52"/>
          <p:cNvSpPr txBox="1"/>
          <p:nvPr/>
        </p:nvSpPr>
        <p:spPr>
          <a:xfrm>
            <a:off x="4763913" y="1740475"/>
            <a:ext cx="7187100" cy="95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el offset asociado a la dirección de 100?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3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59" name="Google Shape;959;p53"/>
          <p:cNvSpPr txBox="1">
            <a:spLocks noGrp="1"/>
          </p:cNvSpPr>
          <p:nvPr>
            <p:ph type="body" idx="1"/>
          </p:nvPr>
        </p:nvSpPr>
        <p:spPr>
          <a:xfrm>
            <a:off x="3994200" y="973275"/>
            <a:ext cx="71403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60" name="Google Shape;960;p53"/>
          <p:cNvGraphicFramePr/>
          <p:nvPr>
            <p:extLst>
              <p:ext uri="{D42A27DB-BD31-4B8C-83A1-F6EECF244321}">
                <p14:modId xmlns:p14="http://schemas.microsoft.com/office/powerpoint/2010/main" val="2410145979"/>
              </p:ext>
            </p:extLst>
          </p:nvPr>
        </p:nvGraphicFramePr>
        <p:xfrm>
          <a:off x="8401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61" name="Google Shape;961;p53"/>
          <p:cNvSpPr txBox="1"/>
          <p:nvPr/>
        </p:nvSpPr>
        <p:spPr>
          <a:xfrm>
            <a:off x="14221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2" name="Google Shape;962;p53"/>
          <p:cNvSpPr txBox="1"/>
          <p:nvPr/>
        </p:nvSpPr>
        <p:spPr>
          <a:xfrm>
            <a:off x="19127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3" name="Google Shape;963;p53"/>
          <p:cNvSpPr txBox="1"/>
          <p:nvPr/>
        </p:nvSpPr>
        <p:spPr>
          <a:xfrm>
            <a:off x="24033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4" name="Google Shape;964;p53"/>
          <p:cNvSpPr txBox="1"/>
          <p:nvPr/>
        </p:nvSpPr>
        <p:spPr>
          <a:xfrm>
            <a:off x="28940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5" name="Google Shape;965;p53"/>
          <p:cNvSpPr txBox="1"/>
          <p:nvPr/>
        </p:nvSpPr>
        <p:spPr>
          <a:xfrm>
            <a:off x="33846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6" name="Google Shape;966;p53"/>
          <p:cNvSpPr txBox="1"/>
          <p:nvPr/>
        </p:nvSpPr>
        <p:spPr>
          <a:xfrm>
            <a:off x="22836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67" name="Google Shape;967;p53"/>
          <p:cNvSpPr txBox="1"/>
          <p:nvPr/>
        </p:nvSpPr>
        <p:spPr>
          <a:xfrm>
            <a:off x="3877513" y="1740475"/>
            <a:ext cx="7187100" cy="95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el offset asociado a la dirección de 100?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53"/>
          <p:cNvSpPr txBox="1"/>
          <p:nvPr/>
        </p:nvSpPr>
        <p:spPr>
          <a:xfrm>
            <a:off x="3788125" y="2818775"/>
            <a:ext cx="8304000" cy="1528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Solución</a:t>
            </a:r>
            <a:r>
              <a:rPr lang="es-ES" sz="22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492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→ n(offset) = log2(16) = log2(2^4) = 4 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8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 = 8 - 4 = 4</a:t>
            </a:r>
            <a:endParaRPr sz="19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9" name="Google Shape;969;p53"/>
          <p:cNvSpPr txBox="1"/>
          <p:nvPr/>
        </p:nvSpPr>
        <p:spPr>
          <a:xfrm>
            <a:off x="3924225" y="4639975"/>
            <a:ext cx="4306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100 = </a:t>
            </a:r>
            <a:r>
              <a:rPr lang="es-ES" sz="19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1100100 = </a:t>
            </a:r>
            <a:r>
              <a:rPr lang="es-ES" sz="19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0110</a:t>
            </a:r>
            <a:r>
              <a:rPr lang="es-E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0100</a:t>
            </a:r>
            <a:endParaRPr sz="19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0110 = 6 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Char char="●"/>
            </a:pPr>
            <a:r>
              <a:rPr lang="es-E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0100 = 4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70" name="Google Shape;970;p53"/>
          <p:cNvGraphicFramePr/>
          <p:nvPr/>
        </p:nvGraphicFramePr>
        <p:xfrm>
          <a:off x="8679375" y="4875788"/>
          <a:ext cx="2937400" cy="79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6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7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4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976" name="Google Shape;976;p54"/>
          <p:cNvSpPr txBox="1">
            <a:spLocks noGrp="1"/>
          </p:cNvSpPr>
          <p:nvPr>
            <p:ph type="body" idx="1"/>
          </p:nvPr>
        </p:nvSpPr>
        <p:spPr>
          <a:xfrm>
            <a:off x="4334850" y="991675"/>
            <a:ext cx="73827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77" name="Google Shape;977;p54"/>
          <p:cNvGraphicFramePr/>
          <p:nvPr>
            <p:extLst>
              <p:ext uri="{D42A27DB-BD31-4B8C-83A1-F6EECF244321}">
                <p14:modId xmlns:p14="http://schemas.microsoft.com/office/powerpoint/2010/main" val="70546920"/>
              </p:ext>
            </p:extLst>
          </p:nvPr>
        </p:nvGraphicFramePr>
        <p:xfrm>
          <a:off x="1144975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78" name="Google Shape;978;p54"/>
          <p:cNvSpPr txBox="1"/>
          <p:nvPr/>
        </p:nvSpPr>
        <p:spPr>
          <a:xfrm>
            <a:off x="17269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9" name="Google Shape;979;p54"/>
          <p:cNvSpPr txBox="1"/>
          <p:nvPr/>
        </p:nvSpPr>
        <p:spPr>
          <a:xfrm>
            <a:off x="22175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0" name="Google Shape;980;p54"/>
          <p:cNvSpPr txBox="1"/>
          <p:nvPr/>
        </p:nvSpPr>
        <p:spPr>
          <a:xfrm>
            <a:off x="27081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1" name="Google Shape;981;p54"/>
          <p:cNvSpPr txBox="1"/>
          <p:nvPr/>
        </p:nvSpPr>
        <p:spPr>
          <a:xfrm>
            <a:off x="31988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2" name="Google Shape;982;p54"/>
          <p:cNvSpPr txBox="1"/>
          <p:nvPr/>
        </p:nvSpPr>
        <p:spPr>
          <a:xfrm>
            <a:off x="36894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3" name="Google Shape;983;p54"/>
          <p:cNvSpPr txBox="1"/>
          <p:nvPr/>
        </p:nvSpPr>
        <p:spPr>
          <a:xfrm>
            <a:off x="2588475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84" name="Google Shape;984;p54"/>
          <p:cNvSpPr txBox="1"/>
          <p:nvPr/>
        </p:nvSpPr>
        <p:spPr>
          <a:xfrm>
            <a:off x="4334851" y="1601425"/>
            <a:ext cx="7604400" cy="126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985" name="Google Shape;985;p54"/>
          <p:cNvGraphicFramePr/>
          <p:nvPr>
            <p:extLst>
              <p:ext uri="{D42A27DB-BD31-4B8C-83A1-F6EECF244321}">
                <p14:modId xmlns:p14="http://schemas.microsoft.com/office/powerpoint/2010/main" val="3870623672"/>
              </p:ext>
            </p:extLst>
          </p:nvPr>
        </p:nvGraphicFramePr>
        <p:xfrm>
          <a:off x="4497700" y="3603424"/>
          <a:ext cx="1471550" cy="8838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86" name="Google Shape;986;p54"/>
          <p:cNvGraphicFramePr/>
          <p:nvPr>
            <p:extLst>
              <p:ext uri="{D42A27DB-BD31-4B8C-83A1-F6EECF244321}">
                <p14:modId xmlns:p14="http://schemas.microsoft.com/office/powerpoint/2010/main" val="1597448716"/>
              </p:ext>
            </p:extLst>
          </p:nvPr>
        </p:nvGraphicFramePr>
        <p:xfrm>
          <a:off x="7000930" y="3594444"/>
          <a:ext cx="867390" cy="252966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7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7" name="Google Shape;987;p54"/>
          <p:cNvSpPr txBox="1"/>
          <p:nvPr/>
        </p:nvSpPr>
        <p:spPr>
          <a:xfrm>
            <a:off x="4947725" y="302036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54"/>
          <p:cNvSpPr txBox="1"/>
          <p:nvPr/>
        </p:nvSpPr>
        <p:spPr>
          <a:xfrm>
            <a:off x="7075625" y="307411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89" name="Google Shape;989;p54"/>
          <p:cNvGrpSpPr/>
          <p:nvPr/>
        </p:nvGrpSpPr>
        <p:grpSpPr>
          <a:xfrm>
            <a:off x="6364750" y="3550200"/>
            <a:ext cx="571525" cy="2411725"/>
            <a:chOff x="8965125" y="3668475"/>
            <a:chExt cx="571525" cy="2411725"/>
          </a:xfrm>
        </p:grpSpPr>
        <p:sp>
          <p:nvSpPr>
            <p:cNvPr id="990" name="Google Shape;990;p54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1" name="Google Shape;991;p54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2" name="Google Shape;992;p54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3" name="Google Shape;993;p54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4" name="Google Shape;994;p54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95" name="Google Shape;995;p54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96" name="Google Shape;996;p54"/>
          <p:cNvGraphicFramePr/>
          <p:nvPr>
            <p:extLst>
              <p:ext uri="{D42A27DB-BD31-4B8C-83A1-F6EECF244321}">
                <p14:modId xmlns:p14="http://schemas.microsoft.com/office/powerpoint/2010/main" val="923941342"/>
              </p:ext>
            </p:extLst>
          </p:nvPr>
        </p:nvGraphicFramePr>
        <p:xfrm>
          <a:off x="8401650" y="3020375"/>
          <a:ext cx="3385375" cy="37184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5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Dato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VPN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Resultado (M/H)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55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1002" name="Google Shape;1002;p55"/>
          <p:cNvSpPr txBox="1">
            <a:spLocks noGrp="1"/>
          </p:cNvSpPr>
          <p:nvPr>
            <p:ph type="body" idx="1"/>
          </p:nvPr>
        </p:nvSpPr>
        <p:spPr>
          <a:xfrm>
            <a:off x="3961625" y="991675"/>
            <a:ext cx="77559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003" name="Google Shape;1003;p55"/>
          <p:cNvGraphicFramePr/>
          <p:nvPr>
            <p:extLst>
              <p:ext uri="{D42A27DB-BD31-4B8C-83A1-F6EECF244321}">
                <p14:modId xmlns:p14="http://schemas.microsoft.com/office/powerpoint/2010/main" val="1098347131"/>
              </p:ext>
            </p:extLst>
          </p:nvPr>
        </p:nvGraphicFramePr>
        <p:xfrm>
          <a:off x="905000" y="1405225"/>
          <a:ext cx="2747000" cy="53640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6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06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07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08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09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10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11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12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13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14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15</a:t>
                      </a:r>
                      <a:endParaRPr sz="1000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04" name="Google Shape;1004;p55"/>
          <p:cNvSpPr txBox="1"/>
          <p:nvPr/>
        </p:nvSpPr>
        <p:spPr>
          <a:xfrm>
            <a:off x="14869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5" name="Google Shape;1005;p55"/>
          <p:cNvSpPr txBox="1"/>
          <p:nvPr/>
        </p:nvSpPr>
        <p:spPr>
          <a:xfrm>
            <a:off x="197757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6" name="Google Shape;1006;p55"/>
          <p:cNvSpPr txBox="1"/>
          <p:nvPr/>
        </p:nvSpPr>
        <p:spPr>
          <a:xfrm>
            <a:off x="246820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08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7" name="Google Shape;1007;p55"/>
          <p:cNvSpPr txBox="1"/>
          <p:nvPr/>
        </p:nvSpPr>
        <p:spPr>
          <a:xfrm>
            <a:off x="2958825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8" name="Google Shape;1008;p55"/>
          <p:cNvSpPr txBox="1"/>
          <p:nvPr/>
        </p:nvSpPr>
        <p:spPr>
          <a:xfrm>
            <a:off x="3449450" y="1113175"/>
            <a:ext cx="403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9" name="Google Shape;1009;p55"/>
          <p:cNvSpPr txBox="1"/>
          <p:nvPr/>
        </p:nvSpPr>
        <p:spPr>
          <a:xfrm>
            <a:off x="2348500" y="916775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10" name="Google Shape;1010;p55"/>
          <p:cNvSpPr txBox="1"/>
          <p:nvPr/>
        </p:nvSpPr>
        <p:spPr>
          <a:xfrm>
            <a:off x="3961625" y="1467862"/>
            <a:ext cx="7977600" cy="126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1" name="Google Shape;1011;p55"/>
          <p:cNvGraphicFramePr/>
          <p:nvPr>
            <p:extLst>
              <p:ext uri="{D42A27DB-BD31-4B8C-83A1-F6EECF244321}">
                <p14:modId xmlns:p14="http://schemas.microsoft.com/office/powerpoint/2010/main" val="358445816"/>
              </p:ext>
            </p:extLst>
          </p:nvPr>
        </p:nvGraphicFramePr>
        <p:xfrm>
          <a:off x="4406000" y="3504567"/>
          <a:ext cx="1422313" cy="15544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49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strike="sng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strike="sngStrik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12" name="Google Shape;1012;p55"/>
          <p:cNvGraphicFramePr/>
          <p:nvPr>
            <p:extLst>
              <p:ext uri="{D42A27DB-BD31-4B8C-83A1-F6EECF244321}">
                <p14:modId xmlns:p14="http://schemas.microsoft.com/office/powerpoint/2010/main" val="316762499"/>
              </p:ext>
            </p:extLst>
          </p:nvPr>
        </p:nvGraphicFramePr>
        <p:xfrm>
          <a:off x="7215125" y="3503237"/>
          <a:ext cx="868762" cy="2560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8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13" name="Google Shape;1013;p55"/>
          <p:cNvSpPr txBox="1"/>
          <p:nvPr/>
        </p:nvSpPr>
        <p:spPr>
          <a:xfrm>
            <a:off x="4891450" y="3009512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4" name="Google Shape;1014;p55"/>
          <p:cNvSpPr txBox="1"/>
          <p:nvPr/>
        </p:nvSpPr>
        <p:spPr>
          <a:xfrm>
            <a:off x="7297250" y="302715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15" name="Google Shape;1015;p55"/>
          <p:cNvGrpSpPr/>
          <p:nvPr/>
        </p:nvGrpSpPr>
        <p:grpSpPr>
          <a:xfrm>
            <a:off x="6586375" y="3503237"/>
            <a:ext cx="571525" cy="2411725"/>
            <a:chOff x="8965125" y="3668475"/>
            <a:chExt cx="571525" cy="2411725"/>
          </a:xfrm>
        </p:grpSpPr>
        <p:sp>
          <p:nvSpPr>
            <p:cNvPr id="1016" name="Google Shape;1016;p55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7" name="Google Shape;1017;p55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8" name="Google Shape;1018;p55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19" name="Google Shape;1019;p55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0" name="Google Shape;1020;p55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21" name="Google Shape;1021;p55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022" name="Google Shape;1022;p55"/>
          <p:cNvGraphicFramePr/>
          <p:nvPr>
            <p:extLst>
              <p:ext uri="{D42A27DB-BD31-4B8C-83A1-F6EECF244321}">
                <p14:modId xmlns:p14="http://schemas.microsoft.com/office/powerpoint/2010/main" val="1332811518"/>
              </p:ext>
            </p:extLst>
          </p:nvPr>
        </p:nvGraphicFramePr>
        <p:xfrm>
          <a:off x="8701968" y="2870857"/>
          <a:ext cx="3116463" cy="38098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0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Dato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VPN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/>
                        <a:t>Resultado (M/H)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a[0]</a:t>
                      </a:r>
                      <a:endParaRPr sz="1600" dirty="0"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a[1]</a:t>
                      </a:r>
                      <a:endParaRPr sz="1600" dirty="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a[2]</a:t>
                      </a:r>
                      <a:endParaRPr sz="1600" dirty="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a[3]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a[4]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a[5]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a[6]</a:t>
                      </a:r>
                      <a:endParaRPr sz="1600"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sz="1600"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a[7]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a[8]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highlight>
                            <a:srgbClr val="D9EAD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a[9]</a:t>
                      </a:r>
                      <a:endParaRPr>
                        <a:solidFill>
                          <a:schemeClr val="dk1"/>
                        </a:solidFill>
                        <a:highlight>
                          <a:srgbClr val="D9EAD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dirty="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3" name="Google Shape;1023;p55"/>
          <p:cNvSpPr txBox="1"/>
          <p:nvPr/>
        </p:nvSpPr>
        <p:spPr>
          <a:xfrm>
            <a:off x="5901325" y="3969175"/>
            <a:ext cx="40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/>
          </a:p>
        </p:txBody>
      </p:sp>
      <p:sp>
        <p:nvSpPr>
          <p:cNvPr id="1024" name="Google Shape;1024;p55"/>
          <p:cNvSpPr txBox="1"/>
          <p:nvPr/>
        </p:nvSpPr>
        <p:spPr>
          <a:xfrm>
            <a:off x="5889625" y="4193675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5" name="Google Shape;1025;p55"/>
          <p:cNvSpPr txBox="1"/>
          <p:nvPr/>
        </p:nvSpPr>
        <p:spPr>
          <a:xfrm>
            <a:off x="5936325" y="4399950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6" name="Google Shape;1026;p55"/>
          <p:cNvSpPr txBox="1"/>
          <p:nvPr/>
        </p:nvSpPr>
        <p:spPr>
          <a:xfrm>
            <a:off x="5854650" y="4602075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27" name="Google Shape;1027;p55"/>
          <p:cNvSpPr txBox="1"/>
          <p:nvPr/>
        </p:nvSpPr>
        <p:spPr>
          <a:xfrm>
            <a:off x="4370770" y="5157781"/>
            <a:ext cx="147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: Miss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: Hit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56"/>
          <p:cNvSpPr txBox="1">
            <a:spLocks noGrp="1"/>
          </p:cNvSpPr>
          <p:nvPr>
            <p:ph type="title"/>
          </p:nvPr>
        </p:nvSpPr>
        <p:spPr>
          <a:xfrm>
            <a:off x="905000" y="163663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1033" name="Google Shape;1033;p56"/>
          <p:cNvSpPr txBox="1">
            <a:spLocks noGrp="1"/>
          </p:cNvSpPr>
          <p:nvPr>
            <p:ph type="body" idx="1"/>
          </p:nvPr>
        </p:nvSpPr>
        <p:spPr>
          <a:xfrm>
            <a:off x="905000" y="984725"/>
            <a:ext cx="7755900" cy="58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Accediendo a un arreglo</a:t>
            </a:r>
            <a:endParaRPr sz="22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905000" y="1663551"/>
            <a:ext cx="5018100" cy="157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</a:t>
            </a:r>
            <a:r>
              <a:rPr lang="es-ES" sz="22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Asumiendo una TLB de una sola entrada, ¿Cuantos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miss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TLB hits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 presentan en este ejemplo?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35" name="Google Shape;1035;p56"/>
          <p:cNvGraphicFramePr/>
          <p:nvPr>
            <p:extLst>
              <p:ext uri="{D42A27DB-BD31-4B8C-83A1-F6EECF244321}">
                <p14:modId xmlns:p14="http://schemas.microsoft.com/office/powerpoint/2010/main" val="2615689655"/>
              </p:ext>
            </p:extLst>
          </p:nvPr>
        </p:nvGraphicFramePr>
        <p:xfrm>
          <a:off x="1004600" y="4024263"/>
          <a:ext cx="1450375" cy="158490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43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strike="sngStrik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strike="sngStrik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strike="sngStrik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36" name="Google Shape;1036;p56"/>
          <p:cNvGraphicFramePr/>
          <p:nvPr>
            <p:extLst>
              <p:ext uri="{D42A27DB-BD31-4B8C-83A1-F6EECF244321}">
                <p14:modId xmlns:p14="http://schemas.microsoft.com/office/powerpoint/2010/main" val="1090515431"/>
              </p:ext>
            </p:extLst>
          </p:nvPr>
        </p:nvGraphicFramePr>
        <p:xfrm>
          <a:off x="4063850" y="3909800"/>
          <a:ext cx="901000" cy="25601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PFN_x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PFN_y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PFN_z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37" name="Google Shape;1037;p56"/>
          <p:cNvSpPr txBox="1"/>
          <p:nvPr/>
        </p:nvSpPr>
        <p:spPr>
          <a:xfrm>
            <a:off x="1541875" y="35088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56"/>
          <p:cNvSpPr txBox="1"/>
          <p:nvPr/>
        </p:nvSpPr>
        <p:spPr>
          <a:xfrm>
            <a:off x="4145975" y="343371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39" name="Google Shape;1039;p56"/>
          <p:cNvGrpSpPr/>
          <p:nvPr/>
        </p:nvGrpSpPr>
        <p:grpSpPr>
          <a:xfrm>
            <a:off x="3435100" y="3909800"/>
            <a:ext cx="571525" cy="2411725"/>
            <a:chOff x="8965125" y="3668475"/>
            <a:chExt cx="571525" cy="2411725"/>
          </a:xfrm>
        </p:grpSpPr>
        <p:sp>
          <p:nvSpPr>
            <p:cNvPr id="1040" name="Google Shape;1040;p56"/>
            <p:cNvSpPr txBox="1"/>
            <p:nvPr/>
          </p:nvSpPr>
          <p:spPr>
            <a:xfrm>
              <a:off x="8965125" y="40646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1" name="Google Shape;1041;p56"/>
            <p:cNvSpPr txBox="1"/>
            <p:nvPr/>
          </p:nvSpPr>
          <p:spPr>
            <a:xfrm>
              <a:off x="9133100" y="447412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2" name="Google Shape;1042;p56"/>
            <p:cNvSpPr txBox="1"/>
            <p:nvPr/>
          </p:nvSpPr>
          <p:spPr>
            <a:xfrm>
              <a:off x="9133100" y="48835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3" name="Google Shape;1043;p56"/>
            <p:cNvSpPr txBox="1"/>
            <p:nvPr/>
          </p:nvSpPr>
          <p:spPr>
            <a:xfrm>
              <a:off x="9133100" y="5283775"/>
              <a:ext cx="403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4" name="Google Shape;1044;p56"/>
            <p:cNvSpPr txBox="1"/>
            <p:nvPr/>
          </p:nvSpPr>
          <p:spPr>
            <a:xfrm>
              <a:off x="8965150" y="3668475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5" name="Google Shape;1045;p56"/>
            <p:cNvSpPr txBox="1"/>
            <p:nvPr/>
          </p:nvSpPr>
          <p:spPr>
            <a:xfrm>
              <a:off x="8965138" y="5680000"/>
              <a:ext cx="57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046" name="Google Shape;1046;p56"/>
          <p:cNvSpPr txBox="1"/>
          <p:nvPr/>
        </p:nvSpPr>
        <p:spPr>
          <a:xfrm>
            <a:off x="2551750" y="4468463"/>
            <a:ext cx="40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/>
          </a:p>
        </p:txBody>
      </p:sp>
      <p:sp>
        <p:nvSpPr>
          <p:cNvPr id="1047" name="Google Shape;1047;p56"/>
          <p:cNvSpPr txBox="1"/>
          <p:nvPr/>
        </p:nvSpPr>
        <p:spPr>
          <a:xfrm>
            <a:off x="2540050" y="4692963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48" name="Google Shape;1048;p56"/>
          <p:cNvSpPr txBox="1"/>
          <p:nvPr/>
        </p:nvSpPr>
        <p:spPr>
          <a:xfrm>
            <a:off x="2586750" y="4899238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HHH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49" name="Google Shape;1049;p56"/>
          <p:cNvSpPr txBox="1"/>
          <p:nvPr/>
        </p:nvSpPr>
        <p:spPr>
          <a:xfrm>
            <a:off x="2505075" y="5101363"/>
            <a:ext cx="57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HH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50" name="Google Shape;1050;p56"/>
          <p:cNvSpPr txBox="1"/>
          <p:nvPr/>
        </p:nvSpPr>
        <p:spPr>
          <a:xfrm>
            <a:off x="924104" y="5677550"/>
            <a:ext cx="1471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: Miss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(3)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: Hit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51" name="Google Shape;1051;p56"/>
          <p:cNvGraphicFramePr/>
          <p:nvPr/>
        </p:nvGraphicFramePr>
        <p:xfrm>
          <a:off x="6251789" y="2042250"/>
          <a:ext cx="5274425" cy="16458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Acceso a[i]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H/M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2" name="Google Shape;1052;p56"/>
          <p:cNvGraphicFramePr/>
          <p:nvPr>
            <p:extLst>
              <p:ext uri="{D42A27DB-BD31-4B8C-83A1-F6EECF244321}">
                <p14:modId xmlns:p14="http://schemas.microsoft.com/office/powerpoint/2010/main" val="2827578792"/>
              </p:ext>
            </p:extLst>
          </p:nvPr>
        </p:nvGraphicFramePr>
        <p:xfrm>
          <a:off x="6997450" y="3784187"/>
          <a:ext cx="3895575" cy="12800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B6937"/>
                          </a:solidFill>
                        </a:rPr>
                        <a:t>Hits</a:t>
                      </a:r>
                      <a:endParaRPr sz="1600" b="1"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7 (70%)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</a:rPr>
                        <a:t>Miss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 (30%)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/>
                        <a:t>Total</a:t>
                      </a:r>
                      <a:endParaRPr sz="1600"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 (100%)</a:t>
                      </a:r>
                      <a:endParaRPr sz="16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rgbClr val="0B6937"/>
                          </a:solidFill>
                        </a:rPr>
                        <a:t>TLB Hit </a:t>
                      </a:r>
                      <a:r>
                        <a:rPr lang="es-ES" sz="1600" b="1" dirty="0" err="1">
                          <a:solidFill>
                            <a:srgbClr val="0B6937"/>
                          </a:solidFill>
                        </a:rPr>
                        <a:t>rate</a:t>
                      </a:r>
                      <a:r>
                        <a:rPr lang="es-ES" sz="1600" b="1" dirty="0">
                          <a:solidFill>
                            <a:srgbClr val="0B6937"/>
                          </a:solidFill>
                        </a:rPr>
                        <a:t> = 70%</a:t>
                      </a:r>
                      <a:endParaRPr sz="1600" b="1" dirty="0">
                        <a:solidFill>
                          <a:srgbClr val="0B6937"/>
                        </a:solidFill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3" name="Google Shape;1053;p56"/>
          <p:cNvSpPr txBox="1"/>
          <p:nvPr/>
        </p:nvSpPr>
        <p:spPr>
          <a:xfrm>
            <a:off x="9013825" y="3844300"/>
            <a:ext cx="14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Estadísticas</a:t>
            </a:r>
            <a:endParaRPr sz="1200" b="1" dirty="0">
              <a:solidFill>
                <a:schemeClr val="accent5"/>
              </a:solidFill>
            </a:endParaRPr>
          </a:p>
        </p:txBody>
      </p:sp>
      <p:sp>
        <p:nvSpPr>
          <p:cNvPr id="1054" name="Google Shape;1054;p56"/>
          <p:cNvSpPr txBox="1"/>
          <p:nvPr/>
        </p:nvSpPr>
        <p:spPr>
          <a:xfrm>
            <a:off x="6053425" y="5268538"/>
            <a:ext cx="5920800" cy="11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Conclusión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Las TLB mejoran el desempeño debido a los principios de localidad espacial y temporal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1060" name="Google Shape;1060;p57"/>
          <p:cNvSpPr txBox="1">
            <a:spLocks noGrp="1"/>
          </p:cNvSpPr>
          <p:nvPr>
            <p:ph type="body" idx="1"/>
          </p:nvPr>
        </p:nvSpPr>
        <p:spPr>
          <a:xfrm>
            <a:off x="916650" y="833325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Principios de localidad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061" name="Google Shape;1061;p57"/>
          <p:cNvGraphicFramePr/>
          <p:nvPr>
            <p:extLst>
              <p:ext uri="{D42A27DB-BD31-4B8C-83A1-F6EECF244321}">
                <p14:modId xmlns:p14="http://schemas.microsoft.com/office/powerpoint/2010/main" val="1837707138"/>
              </p:ext>
            </p:extLst>
          </p:nvPr>
        </p:nvGraphicFramePr>
        <p:xfrm>
          <a:off x="412955" y="1508325"/>
          <a:ext cx="11665973" cy="399281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737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8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Localidad Temporal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Localidad espacial</a:t>
                      </a:r>
                      <a:endParaRPr sz="20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Una instrucción o dato que ha sido accedido recientemente es probable que vuelva a ser accedido pronto.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Ciclo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Si un programa accede a una dirección de memoria x, probablemente pronto accederá a una dirección cercana a x.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Roboto"/>
                        <a:buChar char="●"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r>
                        <a:rPr lang="es-ES" sz="18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: Array</a:t>
                      </a: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62" name="Google Shape;10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00" y="3219451"/>
            <a:ext cx="3914201" cy="234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5650" y="3363100"/>
            <a:ext cx="4070500" cy="21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57"/>
          <p:cNvSpPr txBox="1"/>
          <p:nvPr/>
        </p:nvSpPr>
        <p:spPr>
          <a:xfrm>
            <a:off x="864651" y="6024675"/>
            <a:ext cx="95763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ea typeface="Roboto"/>
                <a:cs typeface="Roboto"/>
                <a:sym typeface="Roboto"/>
              </a:rPr>
              <a:t>Al ser pequeñas y rápidas las memoria caché aprovechan estos principios.</a:t>
            </a:r>
            <a:endParaRPr sz="16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Address Translation usando TLB</a:t>
            </a:r>
            <a:endParaRPr dirty="0">
              <a:latin typeface="+mj-lt"/>
            </a:endParaRPr>
          </a:p>
        </p:txBody>
      </p:sp>
      <p:sp>
        <p:nvSpPr>
          <p:cNvPr id="1070" name="Google Shape;1070;p58"/>
          <p:cNvSpPr txBox="1">
            <a:spLocks noGrp="1"/>
          </p:cNvSpPr>
          <p:nvPr>
            <p:ph type="body" idx="1"/>
          </p:nvPr>
        </p:nvSpPr>
        <p:spPr>
          <a:xfrm>
            <a:off x="916650" y="1045538"/>
            <a:ext cx="10789500" cy="516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Importancia del tamaño de la página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 mayor tamaño de la página, menor cantidad de TLB misses.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Con un tamaño de página grande (por ejemplo 4KB), la tasa de Hits mejora y por lo tanto, también el desempeño. (Hit </a:t>
            </a:r>
            <a:r>
              <a:rPr lang="es-ES" sz="2400" dirty="0" err="1">
                <a:latin typeface="+mn-lt"/>
              </a:rPr>
              <a:t>rate</a:t>
            </a:r>
            <a:r>
              <a:rPr lang="es-ES" sz="2400" dirty="0">
                <a:latin typeface="+mn-lt"/>
              </a:rPr>
              <a:t> → 100%).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071" name="Google Shape;1071;p58"/>
          <p:cNvGraphicFramePr/>
          <p:nvPr>
            <p:extLst>
              <p:ext uri="{D42A27DB-BD31-4B8C-83A1-F6EECF244321}">
                <p14:modId xmlns:p14="http://schemas.microsoft.com/office/powerpoint/2010/main" val="2265590533"/>
              </p:ext>
            </p:extLst>
          </p:nvPr>
        </p:nvGraphicFramePr>
        <p:xfrm>
          <a:off x="2597562" y="2612201"/>
          <a:ext cx="6996875" cy="137152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5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8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TLB Misses</a:t>
                      </a:r>
                      <a:endParaRPr sz="18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Hit Rate</a:t>
                      </a:r>
                      <a:endParaRPr sz="18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70 %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80 %</a:t>
                      </a:r>
                      <a:endParaRPr sz="18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0"/>
          <p:cNvSpPr txBox="1">
            <a:spLocks noGrp="1"/>
          </p:cNvSpPr>
          <p:nvPr>
            <p:ph type="title"/>
          </p:nvPr>
        </p:nvSpPr>
        <p:spPr>
          <a:xfrm>
            <a:off x="838200" y="163605"/>
            <a:ext cx="10515600" cy="102827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¿Quién maneja las TLB Miss?</a:t>
            </a:r>
            <a:endParaRPr dirty="0"/>
          </a:p>
        </p:txBody>
      </p:sp>
      <p:sp>
        <p:nvSpPr>
          <p:cNvPr id="1083" name="Google Shape;1083;p60"/>
          <p:cNvSpPr txBox="1">
            <a:spLocks noGrp="1"/>
          </p:cNvSpPr>
          <p:nvPr>
            <p:ph idx="1"/>
          </p:nvPr>
        </p:nvSpPr>
        <p:spPr>
          <a:xfrm>
            <a:off x="838181" y="1120362"/>
            <a:ext cx="11164800" cy="249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Opción 1 - Hardware-</a:t>
            </a:r>
            <a:r>
              <a:rPr lang="es-ES" sz="2800" b="1" dirty="0" err="1">
                <a:solidFill>
                  <a:schemeClr val="accent5"/>
                </a:solidFill>
              </a:rPr>
              <a:t>managed</a:t>
            </a:r>
            <a:r>
              <a:rPr lang="es-ES" sz="2800" b="1" dirty="0">
                <a:solidFill>
                  <a:schemeClr val="accent5"/>
                </a:solidFill>
              </a:rPr>
              <a:t> TLB (x86, ARM)  </a:t>
            </a:r>
            <a:endParaRPr sz="28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hardware conoce donde se encuentran las Page tables (PT) en memoria.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Cuando sucede un TLB Miss, el Hardware se </a:t>
            </a:r>
            <a:r>
              <a:rPr lang="es-ES" sz="2000" b="1" dirty="0"/>
              <a:t>mueve</a:t>
            </a:r>
            <a:r>
              <a:rPr lang="es-ES" sz="2000" dirty="0"/>
              <a:t> a través de la PT, </a:t>
            </a:r>
            <a:r>
              <a:rPr lang="es-ES" sz="2000" b="1" dirty="0"/>
              <a:t>encuentra</a:t>
            </a:r>
            <a:r>
              <a:rPr lang="es-ES" sz="2000" dirty="0"/>
              <a:t> la PTE correcta y </a:t>
            </a:r>
            <a:r>
              <a:rPr lang="es-ES" sz="2000" b="1" dirty="0"/>
              <a:t>extrae</a:t>
            </a:r>
            <a:r>
              <a:rPr lang="es-ES" sz="2000" dirty="0"/>
              <a:t> la traducción deseada para luego </a:t>
            </a:r>
            <a:r>
              <a:rPr lang="es-ES" sz="2000" b="1" dirty="0"/>
              <a:t>actualizar</a:t>
            </a:r>
            <a:r>
              <a:rPr lang="es-ES" sz="2000" dirty="0"/>
              <a:t> la TLB. Luego la instrucción se vuelve a ejecutar.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hardware especifica el formato exacto de la PT.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Uso de los registros de Hardware (PTBR).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84" name="Google Shape;1084;p60"/>
          <p:cNvGraphicFramePr/>
          <p:nvPr/>
        </p:nvGraphicFramePr>
        <p:xfrm>
          <a:off x="5400625" y="4222125"/>
          <a:ext cx="2076050" cy="2026855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07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7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5" name="Google Shape;1085;p60"/>
          <p:cNvSpPr/>
          <p:nvPr/>
        </p:nvSpPr>
        <p:spPr>
          <a:xfrm>
            <a:off x="1745575" y="3922775"/>
            <a:ext cx="1971000" cy="135086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60"/>
          <p:cNvSpPr/>
          <p:nvPr/>
        </p:nvSpPr>
        <p:spPr>
          <a:xfrm>
            <a:off x="4156300" y="4222125"/>
            <a:ext cx="8046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PTBR</a:t>
            </a:r>
            <a:endParaRPr sz="18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7" name="Google Shape;1087;p60"/>
          <p:cNvCxnSpPr>
            <a:stCxn id="1086" idx="3"/>
          </p:cNvCxnSpPr>
          <p:nvPr/>
        </p:nvCxnSpPr>
        <p:spPr>
          <a:xfrm rot="10800000" flipH="1">
            <a:off x="4960900" y="4424175"/>
            <a:ext cx="400200" cy="2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8" name="Google Shape;1088;p60"/>
          <p:cNvSpPr/>
          <p:nvPr/>
        </p:nvSpPr>
        <p:spPr>
          <a:xfrm>
            <a:off x="7527775" y="4935325"/>
            <a:ext cx="6444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sz="18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9" name="Google Shape;1089;p60"/>
          <p:cNvSpPr/>
          <p:nvPr/>
        </p:nvSpPr>
        <p:spPr>
          <a:xfrm>
            <a:off x="8172175" y="4935326"/>
            <a:ext cx="3728511" cy="408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(Select PTE y Update TLB)</a:t>
            </a:r>
            <a:endParaRPr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1"/>
          <p:cNvSpPr txBox="1">
            <a:spLocks noGrp="1"/>
          </p:cNvSpPr>
          <p:nvPr>
            <p:ph type="title"/>
          </p:nvPr>
        </p:nvSpPr>
        <p:spPr>
          <a:xfrm>
            <a:off x="381000" y="138612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¿Quién maneja las TLB Miss?</a:t>
            </a:r>
            <a:endParaRPr dirty="0"/>
          </a:p>
        </p:txBody>
      </p:sp>
      <p:sp>
        <p:nvSpPr>
          <p:cNvPr id="1095" name="Google Shape;1095;p61"/>
          <p:cNvSpPr txBox="1">
            <a:spLocks noGrp="1"/>
          </p:cNvSpPr>
          <p:nvPr>
            <p:ph idx="1"/>
          </p:nvPr>
        </p:nvSpPr>
        <p:spPr>
          <a:xfrm>
            <a:off x="513600" y="977352"/>
            <a:ext cx="11164800" cy="19902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Opción 2 - Software-</a:t>
            </a:r>
            <a:r>
              <a:rPr lang="es-ES" sz="2800" b="1" dirty="0" err="1">
                <a:solidFill>
                  <a:schemeClr val="accent5"/>
                </a:solidFill>
              </a:rPr>
              <a:t>managed</a:t>
            </a:r>
            <a:r>
              <a:rPr lang="es-ES" sz="2800" b="1" dirty="0">
                <a:solidFill>
                  <a:schemeClr val="accent5"/>
                </a:solidFill>
              </a:rPr>
              <a:t> TLB (MIPS,...)</a:t>
            </a:r>
            <a:endParaRPr sz="28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Cuando sucede un TLB miss, el hardware lanza la excepción.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La excepción es manejada por el </a:t>
            </a:r>
            <a:r>
              <a:rPr lang="es-ES" sz="2000" dirty="0" err="1"/>
              <a:t>Trap</a:t>
            </a:r>
            <a:r>
              <a:rPr lang="es-ES" sz="2000" dirty="0"/>
              <a:t> </a:t>
            </a:r>
            <a:r>
              <a:rPr lang="es-ES" sz="2000" dirty="0" err="1"/>
              <a:t>handler</a:t>
            </a:r>
            <a:r>
              <a:rPr lang="es-ES" sz="2000" dirty="0"/>
              <a:t>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En este caso la instrucción </a:t>
            </a:r>
            <a:r>
              <a:rPr lang="es-ES" sz="2000" b="1" dirty="0" err="1">
                <a:solidFill>
                  <a:schemeClr val="accent2"/>
                </a:solidFill>
              </a:rPr>
              <a:t>return</a:t>
            </a:r>
            <a:r>
              <a:rPr lang="es-ES" sz="2000" b="1" dirty="0">
                <a:solidFill>
                  <a:schemeClr val="accent2"/>
                </a:solidFill>
              </a:rPr>
              <a:t> </a:t>
            </a:r>
            <a:r>
              <a:rPr lang="es-ES" sz="2000" b="1" dirty="0" err="1">
                <a:solidFill>
                  <a:schemeClr val="accent2"/>
                </a:solidFill>
              </a:rPr>
              <a:t>to</a:t>
            </a:r>
            <a:r>
              <a:rPr lang="es-ES" sz="2000" b="1" dirty="0">
                <a:solidFill>
                  <a:schemeClr val="accent2"/>
                </a:solidFill>
              </a:rPr>
              <a:t> </a:t>
            </a:r>
            <a:r>
              <a:rPr lang="es-ES" sz="2000" b="1" dirty="0" err="1">
                <a:solidFill>
                  <a:schemeClr val="accent2"/>
                </a:solidFill>
              </a:rPr>
              <a:t>trap</a:t>
            </a:r>
            <a:r>
              <a:rPr lang="es-ES" sz="2000" dirty="0"/>
              <a:t> es un poco </a:t>
            </a:r>
            <a:r>
              <a:rPr lang="es-ES" sz="2000" b="1" dirty="0">
                <a:solidFill>
                  <a:srgbClr val="FF0000"/>
                </a:solidFill>
              </a:rPr>
              <a:t>diferente</a:t>
            </a:r>
            <a:r>
              <a:rPr lang="es-ES" sz="2000" dirty="0"/>
              <a:t> al caso tradicional ya que en este caso el hardware debe continuar la ejecución en la instrucción causante del </a:t>
            </a:r>
            <a:r>
              <a:rPr lang="es-ES" sz="2000" dirty="0" err="1"/>
              <a:t>trap</a:t>
            </a:r>
            <a:r>
              <a:rPr lang="es-ES" sz="2000" dirty="0"/>
              <a:t> (y no después).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96" name="Google Shape;1096;p61"/>
          <p:cNvGraphicFramePr/>
          <p:nvPr/>
        </p:nvGraphicFramePr>
        <p:xfrm>
          <a:off x="2519800" y="3254075"/>
          <a:ext cx="1308225" cy="13656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97" name="Google Shape;1097;p61"/>
          <p:cNvGraphicFramePr/>
          <p:nvPr/>
        </p:nvGraphicFramePr>
        <p:xfrm>
          <a:off x="4619975" y="5039325"/>
          <a:ext cx="1308225" cy="136564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8" name="Google Shape;1098;p61"/>
          <p:cNvSpPr/>
          <p:nvPr/>
        </p:nvSpPr>
        <p:spPr>
          <a:xfrm>
            <a:off x="4194850" y="2934887"/>
            <a:ext cx="1971000" cy="135086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99" name="Google Shape;1099;p61"/>
          <p:cNvCxnSpPr/>
          <p:nvPr/>
        </p:nvCxnSpPr>
        <p:spPr>
          <a:xfrm>
            <a:off x="1818050" y="4826675"/>
            <a:ext cx="9241200" cy="5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61"/>
          <p:cNvCxnSpPr/>
          <p:nvPr/>
        </p:nvCxnSpPr>
        <p:spPr>
          <a:xfrm>
            <a:off x="3926625" y="4016050"/>
            <a:ext cx="594900" cy="1574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1" name="Google Shape;1101;p61"/>
          <p:cNvSpPr/>
          <p:nvPr/>
        </p:nvSpPr>
        <p:spPr>
          <a:xfrm>
            <a:off x="4264900" y="4285750"/>
            <a:ext cx="6648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Trap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2" name="Google Shape;1102;p61"/>
          <p:cNvSpPr/>
          <p:nvPr/>
        </p:nvSpPr>
        <p:spPr>
          <a:xfrm>
            <a:off x="6165850" y="5182450"/>
            <a:ext cx="4618800" cy="12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Trap handler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Búsqueda de la PTE en la PT.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Actualizar PTE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AutoNum type="arabicPeriod"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Retornar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103" name="Google Shape;1103;p61"/>
          <p:cNvGrpSpPr/>
          <p:nvPr/>
        </p:nvGrpSpPr>
        <p:grpSpPr>
          <a:xfrm>
            <a:off x="2060500" y="3829475"/>
            <a:ext cx="4956900" cy="2845800"/>
            <a:chOff x="2060500" y="3829475"/>
            <a:chExt cx="4956900" cy="2845800"/>
          </a:xfrm>
        </p:grpSpPr>
        <p:cxnSp>
          <p:nvCxnSpPr>
            <p:cNvPr id="1104" name="Google Shape;1104;p61"/>
            <p:cNvCxnSpPr/>
            <p:nvPr/>
          </p:nvCxnSpPr>
          <p:spPr>
            <a:xfrm flipH="1">
              <a:off x="2060500" y="6337050"/>
              <a:ext cx="4956900" cy="338100"/>
            </a:xfrm>
            <a:prstGeom prst="bentConnector3">
              <a:avLst>
                <a:gd name="adj1" fmla="val 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5" name="Google Shape;1105;p61"/>
            <p:cNvCxnSpPr/>
            <p:nvPr/>
          </p:nvCxnSpPr>
          <p:spPr>
            <a:xfrm rot="-5400000">
              <a:off x="865000" y="5024975"/>
              <a:ext cx="2845800" cy="454800"/>
            </a:xfrm>
            <a:prstGeom prst="bentConnector3">
              <a:avLst>
                <a:gd name="adj1" fmla="val 100001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06" name="Google Shape;1106;p61"/>
          <p:cNvSpPr/>
          <p:nvPr/>
        </p:nvSpPr>
        <p:spPr>
          <a:xfrm>
            <a:off x="2119650" y="5505275"/>
            <a:ext cx="2075200" cy="3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Return-from-Trap</a:t>
            </a:r>
            <a:endParaRPr sz="16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7" name="Google Shape;1107;p61"/>
          <p:cNvSpPr/>
          <p:nvPr/>
        </p:nvSpPr>
        <p:spPr>
          <a:xfrm>
            <a:off x="916650" y="3096875"/>
            <a:ext cx="1308300" cy="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Instrucción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culpable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8" name="Google Shape;1108;p61"/>
          <p:cNvCxnSpPr>
            <a:stCxn id="1107" idx="3"/>
          </p:cNvCxnSpPr>
          <p:nvPr/>
        </p:nvCxnSpPr>
        <p:spPr>
          <a:xfrm>
            <a:off x="2224950" y="3269075"/>
            <a:ext cx="243900" cy="455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9" name="Google Shape;1109;p61"/>
          <p:cNvSpPr/>
          <p:nvPr/>
        </p:nvSpPr>
        <p:spPr>
          <a:xfrm>
            <a:off x="2387226" y="4354788"/>
            <a:ext cx="1744362" cy="949482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TLB Hit</a:t>
            </a:r>
            <a:endParaRPr sz="16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0" name="Google Shape;1110;p61"/>
          <p:cNvCxnSpPr/>
          <p:nvPr/>
        </p:nvCxnSpPr>
        <p:spPr>
          <a:xfrm>
            <a:off x="2632000" y="3841100"/>
            <a:ext cx="303300" cy="7347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62"/>
          <p:cNvSpPr txBox="1">
            <a:spLocks noGrp="1"/>
          </p:cNvSpPr>
          <p:nvPr>
            <p:ph type="title"/>
          </p:nvPr>
        </p:nvSpPr>
        <p:spPr>
          <a:xfrm>
            <a:off x="838200" y="19582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¿Quién maneja las TLB Miss?</a:t>
            </a:r>
            <a:endParaRPr/>
          </a:p>
        </p:txBody>
      </p:sp>
      <p:sp>
        <p:nvSpPr>
          <p:cNvPr id="1116" name="Google Shape;1116;p62"/>
          <p:cNvSpPr txBox="1">
            <a:spLocks noGrp="1"/>
          </p:cNvSpPr>
          <p:nvPr>
            <p:ph idx="1"/>
          </p:nvPr>
        </p:nvSpPr>
        <p:spPr>
          <a:xfrm>
            <a:off x="838200" y="1305025"/>
            <a:ext cx="11164800" cy="73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Opción 2 - Software-</a:t>
            </a:r>
            <a:r>
              <a:rPr lang="es-ES" sz="2800" b="1" dirty="0" err="1">
                <a:solidFill>
                  <a:schemeClr val="accent5"/>
                </a:solidFill>
              </a:rPr>
              <a:t>managed</a:t>
            </a:r>
            <a:r>
              <a:rPr lang="es-ES" sz="2800" b="1" dirty="0">
                <a:solidFill>
                  <a:schemeClr val="accent5"/>
                </a:solidFill>
              </a:rPr>
              <a:t> TLB (MIPS,...)</a:t>
            </a:r>
            <a:endParaRPr sz="28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17" name="Google Shape;1117;p62"/>
          <p:cNvGrpSpPr/>
          <p:nvPr/>
        </p:nvGrpSpPr>
        <p:grpSpPr>
          <a:xfrm>
            <a:off x="3172950" y="2039725"/>
            <a:ext cx="6531400" cy="2893800"/>
            <a:chOff x="1255750" y="1531700"/>
            <a:chExt cx="6531400" cy="2893800"/>
          </a:xfrm>
        </p:grpSpPr>
        <p:sp>
          <p:nvSpPr>
            <p:cNvPr id="1118" name="Google Shape;1118;p62"/>
            <p:cNvSpPr txBox="1"/>
            <p:nvPr/>
          </p:nvSpPr>
          <p:spPr>
            <a:xfrm>
              <a:off x="1982750" y="1531700"/>
              <a:ext cx="5804400" cy="2893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VPN_MASK) &gt;&gt; SHIFT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,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TLB_Lookup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(VPN)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Success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True) // TLB Hit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True)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Offset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OFFSET_MASK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TlbEntry.PFN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&lt;&lt; SHIFT) | Offset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Register = AccessMemory(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// TLB Miss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(TLB_MISS)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19" name="Google Shape;1119;p62"/>
            <p:cNvSpPr txBox="1"/>
            <p:nvPr/>
          </p:nvSpPr>
          <p:spPr>
            <a:xfrm>
              <a:off x="1255750" y="1531700"/>
              <a:ext cx="6417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120" name="Google Shape;1120;p62"/>
          <p:cNvSpPr txBox="1"/>
          <p:nvPr/>
        </p:nvSpPr>
        <p:spPr>
          <a:xfrm>
            <a:off x="4571975" y="4991825"/>
            <a:ext cx="438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Roboto"/>
                <a:ea typeface="Roboto"/>
                <a:cs typeface="Roboto"/>
                <a:sym typeface="Roboto"/>
              </a:rPr>
              <a:t>TLB Control Flow Algorithm (OS </a:t>
            </a:r>
            <a:r>
              <a:rPr lang="es-ES" sz="1600" b="1" dirty="0" err="1">
                <a:latin typeface="Roboto"/>
                <a:ea typeface="Roboto"/>
                <a:cs typeface="Roboto"/>
                <a:sym typeface="Roboto"/>
              </a:rPr>
              <a:t>Handled</a:t>
            </a:r>
            <a:r>
              <a:rPr lang="es-ES" sz="1600" b="1" dirty="0">
                <a:latin typeface="Roboto"/>
                <a:ea typeface="Roboto"/>
                <a:cs typeface="Roboto"/>
                <a:sym typeface="Roboto"/>
              </a:rPr>
              <a:t>) </a:t>
            </a:r>
            <a:endParaRPr sz="16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Contenido de una entrada TLB</a:t>
            </a:r>
            <a:endParaRPr dirty="0">
              <a:latin typeface="+mj-lt"/>
            </a:endParaRPr>
          </a:p>
        </p:txBody>
      </p:sp>
      <p:sp>
        <p:nvSpPr>
          <p:cNvPr id="1135" name="Google Shape;1135;p64"/>
          <p:cNvSpPr txBox="1">
            <a:spLocks noGrp="1"/>
          </p:cNvSpPr>
          <p:nvPr>
            <p:ph type="body" idx="1"/>
          </p:nvPr>
        </p:nvSpPr>
        <p:spPr>
          <a:xfrm>
            <a:off x="6492525" y="1045550"/>
            <a:ext cx="5516700" cy="344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Sobre las TLB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Memoria cache completamente asociativa.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Cualquier traducción puede estar en cualquier lugar de la TLB (aleatoria).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La búsqueda se hace de manera paralela.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Una TLB típica puede tener 32, 64 0 128 entradas (TLB </a:t>
            </a:r>
            <a:r>
              <a:rPr lang="es-ES" sz="2200" dirty="0" err="1">
                <a:latin typeface="+mn-lt"/>
              </a:rPr>
              <a:t>entry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36" name="Google Shape;1136;p64"/>
          <p:cNvGraphicFramePr/>
          <p:nvPr/>
        </p:nvGraphicFramePr>
        <p:xfrm>
          <a:off x="3823275" y="3228588"/>
          <a:ext cx="2103300" cy="32013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7" name="Google Shape;1137;p64"/>
          <p:cNvSpPr txBox="1"/>
          <p:nvPr/>
        </p:nvSpPr>
        <p:spPr>
          <a:xfrm>
            <a:off x="4528425" y="6240538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64"/>
          <p:cNvSpPr/>
          <p:nvPr/>
        </p:nvSpPr>
        <p:spPr>
          <a:xfrm>
            <a:off x="3016900" y="37394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9" name="Google Shape;1139;p64"/>
          <p:cNvSpPr/>
          <p:nvPr/>
        </p:nvSpPr>
        <p:spPr>
          <a:xfrm>
            <a:off x="3028550" y="4137888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0" name="Google Shape;1140;p64"/>
          <p:cNvSpPr/>
          <p:nvPr/>
        </p:nvSpPr>
        <p:spPr>
          <a:xfrm>
            <a:off x="3016900" y="455630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1" name="Google Shape;1141;p64"/>
          <p:cNvSpPr/>
          <p:nvPr/>
        </p:nvSpPr>
        <p:spPr>
          <a:xfrm>
            <a:off x="3029350" y="4979163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2" name="Google Shape;1142;p64"/>
          <p:cNvSpPr/>
          <p:nvPr/>
        </p:nvSpPr>
        <p:spPr>
          <a:xfrm>
            <a:off x="3029350" y="539327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3" name="Google Shape;1143;p64"/>
          <p:cNvSpPr/>
          <p:nvPr/>
        </p:nvSpPr>
        <p:spPr>
          <a:xfrm>
            <a:off x="3023525" y="58532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4" name="Google Shape;1144;p64"/>
          <p:cNvCxnSpPr>
            <a:stCxn id="1138" idx="6"/>
          </p:cNvCxnSpPr>
          <p:nvPr/>
        </p:nvCxnSpPr>
        <p:spPr>
          <a:xfrm>
            <a:off x="3378400" y="39140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5" name="Google Shape;1145;p64"/>
          <p:cNvCxnSpPr/>
          <p:nvPr/>
        </p:nvCxnSpPr>
        <p:spPr>
          <a:xfrm rot="10800000" flipH="1">
            <a:off x="3397900" y="4306725"/>
            <a:ext cx="4206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6" name="Google Shape;1146;p64"/>
          <p:cNvCxnSpPr/>
          <p:nvPr/>
        </p:nvCxnSpPr>
        <p:spPr>
          <a:xfrm>
            <a:off x="3385775" y="47320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7" name="Google Shape;1147;p64"/>
          <p:cNvCxnSpPr/>
          <p:nvPr/>
        </p:nvCxnSpPr>
        <p:spPr>
          <a:xfrm>
            <a:off x="3392375" y="515847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8" name="Google Shape;1148;p64"/>
          <p:cNvCxnSpPr/>
          <p:nvPr/>
        </p:nvCxnSpPr>
        <p:spPr>
          <a:xfrm>
            <a:off x="3378400" y="55786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9" name="Google Shape;1149;p64"/>
          <p:cNvCxnSpPr/>
          <p:nvPr/>
        </p:nvCxnSpPr>
        <p:spPr>
          <a:xfrm>
            <a:off x="3392375" y="60395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0" name="Google Shape;1150;p64"/>
          <p:cNvCxnSpPr/>
          <p:nvPr/>
        </p:nvCxnSpPr>
        <p:spPr>
          <a:xfrm rot="10800000" flipH="1">
            <a:off x="6430425" y="5392450"/>
            <a:ext cx="746400" cy="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1" name="Google Shape;1151;p64"/>
          <p:cNvSpPr/>
          <p:nvPr/>
        </p:nvSpPr>
        <p:spPr>
          <a:xfrm>
            <a:off x="7176825" y="5132650"/>
            <a:ext cx="635700" cy="525300"/>
          </a:xfrm>
          <a:prstGeom prst="diamond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52" name="Google Shape;1152;p64"/>
          <p:cNvCxnSpPr/>
          <p:nvPr/>
        </p:nvCxnSpPr>
        <p:spPr>
          <a:xfrm rot="10800000" flipH="1">
            <a:off x="7812525" y="5392450"/>
            <a:ext cx="746400" cy="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3" name="Google Shape;1153;p64"/>
          <p:cNvCxnSpPr>
            <a:stCxn id="1151" idx="2"/>
          </p:cNvCxnSpPr>
          <p:nvPr/>
        </p:nvCxnSpPr>
        <p:spPr>
          <a:xfrm flipH="1">
            <a:off x="7483875" y="5657950"/>
            <a:ext cx="10800" cy="597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54" name="Google Shape;1154;p64"/>
          <p:cNvSpPr txBox="1"/>
          <p:nvPr/>
        </p:nvSpPr>
        <p:spPr>
          <a:xfrm>
            <a:off x="6854025" y="6240550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155" name="Google Shape;1155;p64"/>
          <p:cNvSpPr txBox="1"/>
          <p:nvPr/>
        </p:nvSpPr>
        <p:spPr>
          <a:xfrm>
            <a:off x="8965925" y="5164450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TLB Hit</a:t>
            </a:r>
            <a:endParaRPr sz="1800" b="1">
              <a:solidFill>
                <a:schemeClr val="accent6"/>
              </a:solidFill>
            </a:endParaRPr>
          </a:p>
        </p:txBody>
      </p:sp>
      <p:pic>
        <p:nvPicPr>
          <p:cNvPr id="1156" name="Google Shape;115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4775" y="5204084"/>
            <a:ext cx="361500" cy="382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2525" y="6282957"/>
            <a:ext cx="361500" cy="376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8" name="Google Shape;1158;p64"/>
          <p:cNvCxnSpPr/>
          <p:nvPr/>
        </p:nvCxnSpPr>
        <p:spPr>
          <a:xfrm>
            <a:off x="2597025" y="391497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9" name="Google Shape;1159;p64"/>
          <p:cNvCxnSpPr/>
          <p:nvPr/>
        </p:nvCxnSpPr>
        <p:spPr>
          <a:xfrm>
            <a:off x="2597025" y="43113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0" name="Google Shape;1160;p64"/>
          <p:cNvCxnSpPr/>
          <p:nvPr/>
        </p:nvCxnSpPr>
        <p:spPr>
          <a:xfrm>
            <a:off x="2603625" y="473777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1" name="Google Shape;1161;p64"/>
          <p:cNvCxnSpPr/>
          <p:nvPr/>
        </p:nvCxnSpPr>
        <p:spPr>
          <a:xfrm>
            <a:off x="2597025" y="51481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2" name="Google Shape;1162;p64"/>
          <p:cNvCxnSpPr/>
          <p:nvPr/>
        </p:nvCxnSpPr>
        <p:spPr>
          <a:xfrm>
            <a:off x="2603625" y="55584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3" name="Google Shape;1163;p64"/>
          <p:cNvCxnSpPr/>
          <p:nvPr/>
        </p:nvCxnSpPr>
        <p:spPr>
          <a:xfrm>
            <a:off x="2603625" y="60266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4" name="Google Shape;1164;p64"/>
          <p:cNvCxnSpPr/>
          <p:nvPr/>
        </p:nvCxnSpPr>
        <p:spPr>
          <a:xfrm rot="10800000">
            <a:off x="2596950" y="3456375"/>
            <a:ext cx="23400" cy="25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165" name="Google Shape;1165;p64"/>
          <p:cNvGraphicFramePr/>
          <p:nvPr/>
        </p:nvGraphicFramePr>
        <p:xfrm>
          <a:off x="2256075" y="1781513"/>
          <a:ext cx="210330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66" name="Google Shape;1166;p64"/>
          <p:cNvGraphicFramePr/>
          <p:nvPr/>
        </p:nvGraphicFramePr>
        <p:xfrm>
          <a:off x="2256075" y="2943088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67" name="Google Shape;1167;p64"/>
          <p:cNvCxnSpPr/>
          <p:nvPr/>
        </p:nvCxnSpPr>
        <p:spPr>
          <a:xfrm>
            <a:off x="2632000" y="2231575"/>
            <a:ext cx="0" cy="69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8" name="Google Shape;1168;p64"/>
          <p:cNvSpPr txBox="1"/>
          <p:nvPr/>
        </p:nvSpPr>
        <p:spPr>
          <a:xfrm>
            <a:off x="1684575" y="1745425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Contenido de una entrada TLB</a:t>
            </a:r>
            <a:endParaRPr dirty="0">
              <a:latin typeface="+mj-lt"/>
            </a:endParaRPr>
          </a:p>
        </p:txBody>
      </p:sp>
      <p:sp>
        <p:nvSpPr>
          <p:cNvPr id="1174" name="Google Shape;1174;p65"/>
          <p:cNvSpPr txBox="1">
            <a:spLocks noGrp="1"/>
          </p:cNvSpPr>
          <p:nvPr>
            <p:ph type="body" idx="1"/>
          </p:nvPr>
        </p:nvSpPr>
        <p:spPr>
          <a:xfrm>
            <a:off x="383458" y="847275"/>
            <a:ext cx="11577484" cy="32380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Entrada TLB</a:t>
            </a:r>
            <a:endParaRPr sz="2400" b="1" dirty="0">
              <a:solidFill>
                <a:schemeClr val="accent1"/>
              </a:solidFill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V (Valid)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bit que dice si un PTE puede o no ser usada. Se evalúa cada vez que una dirección virtual es usada.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D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Dirt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Indica si la salida ha sido modificada (Una operación </a:t>
            </a:r>
            <a:r>
              <a:rPr lang="es-ES" sz="2000" dirty="0" err="1">
                <a:latin typeface="+mn-lt"/>
              </a:rPr>
              <a:t>write</a:t>
            </a:r>
            <a:r>
              <a:rPr lang="es-ES" sz="2000" dirty="0">
                <a:latin typeface="+mn-lt"/>
              </a:rPr>
              <a:t> ocurre sobre esta).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R (Reference)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Indica si la página ha sido accedida. Es llevada a 1 (set) cuando la página ha sido leída o escrita. Es útil ya que:</a:t>
            </a:r>
            <a:endParaRPr sz="20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>
                <a:latin typeface="+mn-lt"/>
              </a:rPr>
              <a:t>Rastrea el acceso a la página.</a:t>
            </a:r>
            <a:endParaRPr sz="2000" dirty="0">
              <a:latin typeface="+mn-lt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>
                <a:latin typeface="+mn-lt"/>
              </a:rPr>
              <a:t>Determina la popularidad de la página.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P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Protection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Bits que controlan las operaciones que son permitidas (R, W, X, </a:t>
            </a:r>
            <a:r>
              <a:rPr lang="es-ES" sz="2000" dirty="0" err="1">
                <a:latin typeface="+mn-lt"/>
              </a:rPr>
              <a:t>User</a:t>
            </a:r>
            <a:r>
              <a:rPr lang="es-ES" sz="2000" dirty="0">
                <a:latin typeface="+mn-lt"/>
              </a:rPr>
              <a:t>/</a:t>
            </a:r>
            <a:r>
              <a:rPr lang="es-ES" sz="2000" dirty="0" err="1">
                <a:latin typeface="+mn-lt"/>
              </a:rPr>
              <a:t>Kernel</a:t>
            </a:r>
            <a:r>
              <a:rPr lang="es-ES" sz="2000" dirty="0">
                <a:latin typeface="+mn-lt"/>
              </a:rPr>
              <a:t>, </a:t>
            </a:r>
            <a:r>
              <a:rPr lang="es-ES" sz="2000" dirty="0" err="1">
                <a:latin typeface="+mn-lt"/>
              </a:rPr>
              <a:t>etc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P (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Present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  Indica si la página se encuentra en memoria física o en el disco.</a:t>
            </a:r>
            <a:endParaRPr sz="20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ASID (Address Space </a:t>
            </a:r>
            <a:r>
              <a:rPr lang="es-ES" sz="2000" b="1" dirty="0" err="1">
                <a:solidFill>
                  <a:schemeClr val="accent2"/>
                </a:solidFill>
                <a:latin typeface="+mn-lt"/>
              </a:rPr>
              <a:t>Identifier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)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Lo veremos en breve.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175" name="Google Shape;1175;p65"/>
          <p:cNvGraphicFramePr/>
          <p:nvPr>
            <p:extLst>
              <p:ext uri="{D42A27DB-BD31-4B8C-83A1-F6EECF244321}">
                <p14:modId xmlns:p14="http://schemas.microsoft.com/office/powerpoint/2010/main" val="772002085"/>
              </p:ext>
            </p:extLst>
          </p:nvPr>
        </p:nvGraphicFramePr>
        <p:xfrm>
          <a:off x="2642725" y="4899570"/>
          <a:ext cx="48518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4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65"/>
          <p:cNvGraphicFramePr/>
          <p:nvPr>
            <p:extLst>
              <p:ext uri="{D42A27DB-BD31-4B8C-83A1-F6EECF244321}">
                <p14:modId xmlns:p14="http://schemas.microsoft.com/office/powerpoint/2010/main" val="2055495527"/>
              </p:ext>
            </p:extLst>
          </p:nvPr>
        </p:nvGraphicFramePr>
        <p:xfrm>
          <a:off x="4506088" y="6020020"/>
          <a:ext cx="68935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7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8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</a:t>
                      </a: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bits</a:t>
                      </a:r>
                      <a:endParaRPr sz="18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77" name="Google Shape;1177;p65"/>
          <p:cNvCxnSpPr/>
          <p:nvPr/>
        </p:nvCxnSpPr>
        <p:spPr>
          <a:xfrm>
            <a:off x="4124900" y="5440095"/>
            <a:ext cx="349800" cy="51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8" name="Google Shape;1178;p65"/>
          <p:cNvCxnSpPr/>
          <p:nvPr/>
        </p:nvCxnSpPr>
        <p:spPr>
          <a:xfrm>
            <a:off x="7577225" y="5381770"/>
            <a:ext cx="3662100" cy="58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9" name="Google Shape;1179;p65"/>
          <p:cNvSpPr txBox="1"/>
          <p:nvPr/>
        </p:nvSpPr>
        <p:spPr>
          <a:xfrm>
            <a:off x="1092450" y="4897308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 Entry</a:t>
            </a:r>
            <a:endParaRPr b="1"/>
          </a:p>
        </p:txBody>
      </p:sp>
      <p:sp>
        <p:nvSpPr>
          <p:cNvPr id="1180" name="Google Shape;1180;p65"/>
          <p:cNvSpPr txBox="1"/>
          <p:nvPr/>
        </p:nvSpPr>
        <p:spPr>
          <a:xfrm>
            <a:off x="2854375" y="6036733"/>
            <a:ext cx="145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b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192" name="Google Shape;1192;p67"/>
          <p:cNvSpPr txBox="1">
            <a:spLocks noGrp="1"/>
          </p:cNvSpPr>
          <p:nvPr>
            <p:ph type="body" idx="1"/>
          </p:nvPr>
        </p:nvSpPr>
        <p:spPr>
          <a:xfrm>
            <a:off x="341463" y="1045538"/>
            <a:ext cx="11185800" cy="315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TLB es una estructura de hardware (memoria cache)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compartida por todos los procesos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Las traducciones para el proceso en ejecución,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no tienen sentido</a:t>
            </a:r>
            <a:r>
              <a:rPr lang="es-ES" sz="2400" dirty="0">
                <a:latin typeface="+mn-lt"/>
              </a:rPr>
              <a:t> para los demás procesos.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Es necesario que cuando se cambie de un proceso a otro; el hardware, el software o ambos, tengan en cuenta este detalle para asegurarse de que el proceso que está a punto de ejecutarse, no acceda de manera accidental la información de algún proceso ejecutado previamente.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198" name="Google Shape;1198;p68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123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Ejemplo</a:t>
            </a:r>
            <a:r>
              <a:rPr lang="es-ES" sz="2800" dirty="0">
                <a:solidFill>
                  <a:schemeClr val="accent5"/>
                </a:solidFill>
                <a:latin typeface="+mn-lt"/>
              </a:rPr>
              <a:t>:</a:t>
            </a:r>
            <a:endParaRPr sz="28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Se tienen dos procesos (P1 y P2) con las siguientes PT y la siguiente TLB.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99" name="Google Shape;1199;p68"/>
          <p:cNvSpPr/>
          <p:nvPr/>
        </p:nvSpPr>
        <p:spPr>
          <a:xfrm>
            <a:off x="979157" y="3115888"/>
            <a:ext cx="606600" cy="6531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0" name="Google Shape;1200;p68"/>
          <p:cNvSpPr/>
          <p:nvPr/>
        </p:nvSpPr>
        <p:spPr>
          <a:xfrm>
            <a:off x="979157" y="4842801"/>
            <a:ext cx="606600" cy="65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01" name="Google Shape;1201;p68"/>
          <p:cNvGraphicFramePr/>
          <p:nvPr>
            <p:extLst>
              <p:ext uri="{D42A27DB-BD31-4B8C-83A1-F6EECF244321}">
                <p14:modId xmlns:p14="http://schemas.microsoft.com/office/powerpoint/2010/main" val="3294362305"/>
              </p:ext>
            </p:extLst>
          </p:nvPr>
        </p:nvGraphicFramePr>
        <p:xfrm>
          <a:off x="1902507" y="2848126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02" name="Google Shape;1202;p68"/>
          <p:cNvGraphicFramePr/>
          <p:nvPr>
            <p:extLst>
              <p:ext uri="{D42A27DB-BD31-4B8C-83A1-F6EECF244321}">
                <p14:modId xmlns:p14="http://schemas.microsoft.com/office/powerpoint/2010/main" val="1051459844"/>
              </p:ext>
            </p:extLst>
          </p:nvPr>
        </p:nvGraphicFramePr>
        <p:xfrm>
          <a:off x="1902507" y="4575038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03" name="Google Shape;1203;p68"/>
          <p:cNvSpPr txBox="1"/>
          <p:nvPr/>
        </p:nvSpPr>
        <p:spPr>
          <a:xfrm>
            <a:off x="4258900" y="2042725"/>
            <a:ext cx="74763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¿Que pasa cuando se da un cambio de contexto?</a:t>
            </a:r>
            <a:endParaRPr sz="20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04" name="Google Shape;1204;p68"/>
          <p:cNvSpPr txBox="1"/>
          <p:nvPr/>
        </p:nvSpPr>
        <p:spPr>
          <a:xfrm>
            <a:off x="4334850" y="2735125"/>
            <a:ext cx="7266000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tiene la misma tabla para todos los procesos; sin embargo, no se puede distinguir qué entrada se asocia a cada proceso.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205" name="Google Shape;1205;p68"/>
          <p:cNvGrpSpPr/>
          <p:nvPr/>
        </p:nvGrpSpPr>
        <p:grpSpPr>
          <a:xfrm>
            <a:off x="5512850" y="4575038"/>
            <a:ext cx="2134500" cy="956400"/>
            <a:chOff x="4579775" y="2908050"/>
            <a:chExt cx="2134500" cy="956400"/>
          </a:xfrm>
        </p:grpSpPr>
        <p:cxnSp>
          <p:nvCxnSpPr>
            <p:cNvPr id="1206" name="Google Shape;1206;p68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07" name="Google Shape;1207;p68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09" name="Google Shape;1209;p68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210" name="Google Shape;1210;p68"/>
          <p:cNvGraphicFramePr/>
          <p:nvPr>
            <p:extLst>
              <p:ext uri="{D42A27DB-BD31-4B8C-83A1-F6EECF244321}">
                <p14:modId xmlns:p14="http://schemas.microsoft.com/office/powerpoint/2010/main" val="3687765297"/>
              </p:ext>
            </p:extLst>
          </p:nvPr>
        </p:nvGraphicFramePr>
        <p:xfrm>
          <a:off x="8445537" y="4040163"/>
          <a:ext cx="3050775" cy="21334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1" name="Google Shape;1211;p68"/>
          <p:cNvSpPr txBox="1"/>
          <p:nvPr/>
        </p:nvSpPr>
        <p:spPr>
          <a:xfrm>
            <a:off x="11600850" y="4458925"/>
            <a:ext cx="33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2" name="Google Shape;1212;p68"/>
          <p:cNvSpPr txBox="1"/>
          <p:nvPr/>
        </p:nvSpPr>
        <p:spPr>
          <a:xfrm>
            <a:off x="11600850" y="5251350"/>
            <a:ext cx="338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18" name="Google Shape;1218;p69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0542847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Paso a paso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19" name="Google Shape;1219;p69"/>
          <p:cNvGrpSpPr/>
          <p:nvPr/>
        </p:nvGrpSpPr>
        <p:grpSpPr>
          <a:xfrm>
            <a:off x="1314075" y="2824688"/>
            <a:ext cx="2134500" cy="956400"/>
            <a:chOff x="4579775" y="2908050"/>
            <a:chExt cx="2134500" cy="956400"/>
          </a:xfrm>
        </p:grpSpPr>
        <p:cxnSp>
          <p:nvCxnSpPr>
            <p:cNvPr id="1220" name="Google Shape;1220;p69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21" name="Google Shape;1221;p69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2" name="Google Shape;1222;p69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23" name="Google Shape;1223;p69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24" name="Google Shape;12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75" y="3911075"/>
            <a:ext cx="496850" cy="49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525" y="1835025"/>
            <a:ext cx="7648724" cy="411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31" name="Google Shape;1231;p70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chemeClr val="accent5"/>
                </a:solidFill>
              </a:rPr>
              <a:t>Paso a paso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32" name="Google Shape;1232;p70"/>
          <p:cNvGrpSpPr/>
          <p:nvPr/>
        </p:nvGrpSpPr>
        <p:grpSpPr>
          <a:xfrm>
            <a:off x="1232425" y="3101825"/>
            <a:ext cx="2134500" cy="956400"/>
            <a:chOff x="4579775" y="2908050"/>
            <a:chExt cx="2134500" cy="956400"/>
          </a:xfrm>
        </p:grpSpPr>
        <p:cxnSp>
          <p:nvCxnSpPr>
            <p:cNvPr id="1233" name="Google Shape;1233;p70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4" name="Google Shape;1234;p70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5" name="Google Shape;1235;p70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36" name="Google Shape;1236;p70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37" name="Google Shape;1237;p70"/>
          <p:cNvSpPr/>
          <p:nvPr/>
        </p:nvSpPr>
        <p:spPr>
          <a:xfrm>
            <a:off x="1547325" y="3081041"/>
            <a:ext cx="384900" cy="410150"/>
          </a:xfrm>
          <a:custGeom>
            <a:avLst/>
            <a:gdLst/>
            <a:ahLst/>
            <a:cxnLst/>
            <a:rect l="l" t="t" r="r" b="b"/>
            <a:pathLst>
              <a:path w="15396" h="16406" extrusionOk="0">
                <a:moveTo>
                  <a:pt x="0" y="16406"/>
                </a:moveTo>
                <a:cubicBezTo>
                  <a:pt x="233" y="15007"/>
                  <a:pt x="778" y="10497"/>
                  <a:pt x="1400" y="8009"/>
                </a:cubicBezTo>
                <a:cubicBezTo>
                  <a:pt x="2022" y="5521"/>
                  <a:pt x="2333" y="2721"/>
                  <a:pt x="3732" y="1477"/>
                </a:cubicBezTo>
                <a:cubicBezTo>
                  <a:pt x="5132" y="233"/>
                  <a:pt x="8164" y="-389"/>
                  <a:pt x="9797" y="544"/>
                </a:cubicBezTo>
                <a:cubicBezTo>
                  <a:pt x="11430" y="1477"/>
                  <a:pt x="12596" y="4743"/>
                  <a:pt x="13529" y="7076"/>
                </a:cubicBezTo>
                <a:cubicBezTo>
                  <a:pt x="14462" y="9409"/>
                  <a:pt x="15085" y="13296"/>
                  <a:pt x="15396" y="1454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38" name="Google Shape;1238;p70"/>
          <p:cNvSpPr txBox="1"/>
          <p:nvPr/>
        </p:nvSpPr>
        <p:spPr>
          <a:xfrm>
            <a:off x="1290675" y="2526950"/>
            <a:ext cx="89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 switch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39" name="Google Shape;123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1050" y="1582025"/>
            <a:ext cx="8110874" cy="420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45" name="Google Shape;1245;p71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65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Paso a paso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246" name="Google Shape;12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550" y="1667650"/>
            <a:ext cx="7895224" cy="424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1"/>
          <p:cNvSpPr/>
          <p:nvPr/>
        </p:nvSpPr>
        <p:spPr>
          <a:xfrm>
            <a:off x="987499" y="2441500"/>
            <a:ext cx="2419377" cy="2577600"/>
          </a:xfrm>
          <a:prstGeom prst="roundRect">
            <a:avLst>
              <a:gd name="adj" fmla="val 10596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</a:t>
            </a:r>
            <a:r>
              <a:rPr lang="es-ES" sz="200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00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ea typeface="Roboto"/>
                <a:cs typeface="Roboto"/>
                <a:sym typeface="Roboto"/>
              </a:rPr>
              <a:t>Ambos procesos tienen entradas en la TLB pero no se puede distinguir cuál entrada está asociada a cada proceso.</a:t>
            </a:r>
            <a:endParaRPr sz="180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53" name="Google Shape;1253;p72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146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+mn-lt"/>
              </a:rPr>
              <a:t>Solución 1 - Vaciar (</a:t>
            </a:r>
            <a:r>
              <a:rPr lang="es-ES" b="1" dirty="0" err="1">
                <a:solidFill>
                  <a:srgbClr val="70AD47"/>
                </a:solidFill>
                <a:latin typeface="+mn-lt"/>
              </a:rPr>
              <a:t>flush</a:t>
            </a:r>
            <a:r>
              <a:rPr lang="es-ES" b="1" dirty="0">
                <a:solidFill>
                  <a:srgbClr val="70AD47"/>
                </a:solidFill>
                <a:latin typeface="+mn-lt"/>
              </a:rPr>
              <a:t>) la TLB en los cambios de contexto</a:t>
            </a:r>
            <a:endParaRPr b="1" dirty="0">
              <a:solidFill>
                <a:srgbClr val="70AD47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 err="1">
                <a:latin typeface="+mn-lt"/>
              </a:rPr>
              <a:t>Flush</a:t>
            </a:r>
            <a:r>
              <a:rPr lang="es-ES" sz="2200" dirty="0">
                <a:latin typeface="+mn-lt"/>
              </a:rPr>
              <a:t>: Establecer todos los bits de validez (</a:t>
            </a:r>
            <a:r>
              <a:rPr lang="es-ES" sz="2200" b="1" dirty="0">
                <a:latin typeface="+mn-lt"/>
              </a:rPr>
              <a:t>V</a:t>
            </a:r>
            <a:r>
              <a:rPr lang="es-ES" sz="2200" dirty="0">
                <a:latin typeface="+mn-lt"/>
              </a:rPr>
              <a:t>) a </a:t>
            </a:r>
            <a:r>
              <a:rPr lang="es-ES" sz="2200" b="1" dirty="0">
                <a:latin typeface="+mn-lt"/>
              </a:rPr>
              <a:t>cero</a:t>
            </a:r>
            <a:r>
              <a:rPr lang="es-ES" sz="2200" dirty="0">
                <a:latin typeface="+mn-lt"/>
              </a:rPr>
              <a:t> (0).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54" name="Google Shape;1254;p72"/>
          <p:cNvGrpSpPr/>
          <p:nvPr/>
        </p:nvGrpSpPr>
        <p:grpSpPr>
          <a:xfrm>
            <a:off x="1290750" y="2964638"/>
            <a:ext cx="2134500" cy="956400"/>
            <a:chOff x="4579775" y="2908050"/>
            <a:chExt cx="2134500" cy="956400"/>
          </a:xfrm>
        </p:grpSpPr>
        <p:cxnSp>
          <p:nvCxnSpPr>
            <p:cNvPr id="1255" name="Google Shape;1255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56" name="Google Shape;1256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7" name="Google Shape;1257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8" name="Google Shape;1258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59" name="Google Shape;12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750" y="4051025"/>
            <a:ext cx="496850" cy="496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0" name="Google Shape;1260;p72"/>
          <p:cNvGrpSpPr/>
          <p:nvPr/>
        </p:nvGrpSpPr>
        <p:grpSpPr>
          <a:xfrm>
            <a:off x="4941738" y="2964638"/>
            <a:ext cx="2134500" cy="956400"/>
            <a:chOff x="4579775" y="2908050"/>
            <a:chExt cx="2134500" cy="956400"/>
          </a:xfrm>
        </p:grpSpPr>
        <p:cxnSp>
          <p:nvCxnSpPr>
            <p:cNvPr id="1261" name="Google Shape;1261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2" name="Google Shape;1262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3" name="Google Shape;1263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4" name="Google Shape;1264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65" name="Google Shape;1265;p72"/>
          <p:cNvSpPr/>
          <p:nvPr/>
        </p:nvSpPr>
        <p:spPr>
          <a:xfrm>
            <a:off x="5256638" y="2943853"/>
            <a:ext cx="384900" cy="410150"/>
          </a:xfrm>
          <a:custGeom>
            <a:avLst/>
            <a:gdLst/>
            <a:ahLst/>
            <a:cxnLst/>
            <a:rect l="l" t="t" r="r" b="b"/>
            <a:pathLst>
              <a:path w="15396" h="16406" extrusionOk="0">
                <a:moveTo>
                  <a:pt x="0" y="16406"/>
                </a:moveTo>
                <a:cubicBezTo>
                  <a:pt x="233" y="15007"/>
                  <a:pt x="778" y="10497"/>
                  <a:pt x="1400" y="8009"/>
                </a:cubicBezTo>
                <a:cubicBezTo>
                  <a:pt x="2022" y="5521"/>
                  <a:pt x="2333" y="2721"/>
                  <a:pt x="3732" y="1477"/>
                </a:cubicBezTo>
                <a:cubicBezTo>
                  <a:pt x="5132" y="233"/>
                  <a:pt x="8164" y="-389"/>
                  <a:pt x="9797" y="544"/>
                </a:cubicBezTo>
                <a:cubicBezTo>
                  <a:pt x="11430" y="1477"/>
                  <a:pt x="12596" y="4743"/>
                  <a:pt x="13529" y="7076"/>
                </a:cubicBezTo>
                <a:cubicBezTo>
                  <a:pt x="14462" y="9409"/>
                  <a:pt x="15085" y="13296"/>
                  <a:pt x="15396" y="14540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266" name="Google Shape;1266;p72"/>
          <p:cNvSpPr txBox="1"/>
          <p:nvPr/>
        </p:nvSpPr>
        <p:spPr>
          <a:xfrm>
            <a:off x="4999988" y="2389763"/>
            <a:ext cx="89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 switch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7" name="Google Shape;1267;p72"/>
          <p:cNvGrpSpPr/>
          <p:nvPr/>
        </p:nvGrpSpPr>
        <p:grpSpPr>
          <a:xfrm>
            <a:off x="8405689" y="2964650"/>
            <a:ext cx="2134500" cy="956400"/>
            <a:chOff x="4579775" y="2908050"/>
            <a:chExt cx="2134500" cy="956400"/>
          </a:xfrm>
        </p:grpSpPr>
        <p:cxnSp>
          <p:nvCxnSpPr>
            <p:cNvPr id="1268" name="Google Shape;1268;p72"/>
            <p:cNvCxnSpPr/>
            <p:nvPr/>
          </p:nvCxnSpPr>
          <p:spPr>
            <a:xfrm>
              <a:off x="4579775" y="2908050"/>
              <a:ext cx="2134500" cy="9564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9" name="Google Shape;1269;p72"/>
            <p:cNvSpPr/>
            <p:nvPr/>
          </p:nvSpPr>
          <p:spPr>
            <a:xfrm>
              <a:off x="4582750" y="3290025"/>
              <a:ext cx="501600" cy="57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0" name="Google Shape;1270;p72"/>
            <p:cNvSpPr/>
            <p:nvPr/>
          </p:nvSpPr>
          <p:spPr>
            <a:xfrm>
              <a:off x="5084225" y="3290025"/>
              <a:ext cx="501600" cy="5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71" name="Google Shape;1271;p72"/>
            <p:cNvSpPr txBox="1"/>
            <p:nvPr/>
          </p:nvSpPr>
          <p:spPr>
            <a:xfrm>
              <a:off x="5701600" y="3336675"/>
              <a:ext cx="501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272" name="Google Shape;12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8889" y="4051025"/>
            <a:ext cx="496850" cy="496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3" name="Google Shape;1273;p72"/>
          <p:cNvGraphicFramePr/>
          <p:nvPr>
            <p:extLst>
              <p:ext uri="{D42A27DB-BD31-4B8C-83A1-F6EECF244321}">
                <p14:modId xmlns:p14="http://schemas.microsoft.com/office/powerpoint/2010/main" val="1807458455"/>
              </p:ext>
            </p:extLst>
          </p:nvPr>
        </p:nvGraphicFramePr>
        <p:xfrm>
          <a:off x="1151800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72"/>
          <p:cNvGraphicFramePr/>
          <p:nvPr>
            <p:extLst>
              <p:ext uri="{D42A27DB-BD31-4B8C-83A1-F6EECF244321}">
                <p14:modId xmlns:p14="http://schemas.microsoft.com/office/powerpoint/2010/main" val="1618217772"/>
              </p:ext>
            </p:extLst>
          </p:nvPr>
        </p:nvGraphicFramePr>
        <p:xfrm>
          <a:off x="4802800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75" name="Google Shape;1275;p72"/>
          <p:cNvGraphicFramePr/>
          <p:nvPr>
            <p:extLst>
              <p:ext uri="{D42A27DB-BD31-4B8C-83A1-F6EECF244321}">
                <p14:modId xmlns:p14="http://schemas.microsoft.com/office/powerpoint/2010/main" val="3229694981"/>
              </p:ext>
            </p:extLst>
          </p:nvPr>
        </p:nvGraphicFramePr>
        <p:xfrm>
          <a:off x="8266764" y="4794450"/>
          <a:ext cx="2496975" cy="18286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60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solidFill>
                          <a:srgbClr val="0B693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76" name="Google Shape;1276;p72"/>
          <p:cNvSpPr/>
          <p:nvPr/>
        </p:nvSpPr>
        <p:spPr>
          <a:xfrm>
            <a:off x="4054925" y="4167725"/>
            <a:ext cx="1259658" cy="837324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Flush</a:t>
            </a:r>
            <a:endParaRPr sz="14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7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82" name="Google Shape;1282;p73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323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+mn-lt"/>
              </a:rPr>
              <a:t>Solución 1 - Vaciado (vaciado) de la TLB - </a:t>
            </a:r>
            <a:r>
              <a:rPr lang="es-ES" b="1" dirty="0">
                <a:solidFill>
                  <a:srgbClr val="FF0000"/>
                </a:solidFill>
                <a:latin typeface="+mn-lt"/>
              </a:rPr>
              <a:t>Consecuencias del vaciado</a:t>
            </a:r>
            <a:endParaRPr b="1" dirty="0">
              <a:solidFill>
                <a:srgbClr val="FF0000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Un proceso nunca encontrará accidentalmente traducciones incorrectas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El </a:t>
            </a:r>
            <a:r>
              <a:rPr lang="es-ES" sz="2200" b="1" dirty="0" err="1">
                <a:solidFill>
                  <a:srgbClr val="FF0000"/>
                </a:solidFill>
                <a:latin typeface="+mn-lt"/>
              </a:rPr>
              <a:t>flushing</a:t>
            </a:r>
            <a:r>
              <a:rPr lang="es-ES" sz="2200" dirty="0">
                <a:latin typeface="+mn-lt"/>
              </a:rPr>
              <a:t> es costoso pues se pierden todas las traducciones recientemente cargadas a la TLB: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lang="es-ES" sz="22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switch [up] → TLB miss [up] → Costo [up]</a:t>
            </a:r>
            <a:endParaRPr sz="22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88" name="Google Shape;1288;p74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316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+mn-lt"/>
              </a:rPr>
              <a:t>Solución 2 - Proveer un campo Address Space </a:t>
            </a:r>
            <a:r>
              <a:rPr lang="es-ES" b="1" dirty="0" err="1">
                <a:solidFill>
                  <a:srgbClr val="70AD47"/>
                </a:solidFill>
                <a:latin typeface="+mn-lt"/>
              </a:rPr>
              <a:t>Identifier</a:t>
            </a:r>
            <a:r>
              <a:rPr lang="es-ES" b="1" dirty="0">
                <a:solidFill>
                  <a:srgbClr val="70AD47"/>
                </a:solidFill>
                <a:latin typeface="+mn-lt"/>
              </a:rPr>
              <a:t> (ASID) en el TLB</a:t>
            </a:r>
            <a:endParaRPr b="1" dirty="0">
              <a:solidFill>
                <a:srgbClr val="70AD47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latin typeface="+mn-lt"/>
              </a:rPr>
              <a:t>ASID (Address Space </a:t>
            </a:r>
            <a:r>
              <a:rPr lang="es-ES" sz="2200" b="1" dirty="0" err="1">
                <a:latin typeface="+mn-lt"/>
              </a:rPr>
              <a:t>Identifier</a:t>
            </a:r>
            <a:r>
              <a:rPr lang="es-ES" sz="2200" b="1" dirty="0">
                <a:latin typeface="+mn-lt"/>
              </a:rPr>
              <a:t>)</a:t>
            </a:r>
            <a:r>
              <a:rPr lang="es-ES" sz="2200" dirty="0">
                <a:latin typeface="+mn-lt"/>
              </a:rPr>
              <a:t>: Campo de 8 bits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Permite diferenciar un proceso de otro en la TLB.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Gracias a este campo, varios procesos pueden compartir la TLB (manteniendo sus instrucciones) sin ninguna confusión.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200"/>
              <a:buChar char="●"/>
            </a:pPr>
            <a:r>
              <a:rPr lang="es-ES" sz="2200" dirty="0">
                <a:solidFill>
                  <a:srgbClr val="FF9900"/>
                </a:solidFill>
                <a:latin typeface="+mn-lt"/>
              </a:rPr>
              <a:t>Soluciona el problema de </a:t>
            </a:r>
            <a:r>
              <a:rPr lang="es-ES" sz="2200" dirty="0" err="1">
                <a:solidFill>
                  <a:srgbClr val="FF9900"/>
                </a:solidFill>
                <a:latin typeface="+mn-lt"/>
              </a:rPr>
              <a:t>overhead</a:t>
            </a:r>
            <a:r>
              <a:rPr lang="es-ES" sz="2200" dirty="0">
                <a:solidFill>
                  <a:srgbClr val="FF9900"/>
                </a:solidFill>
                <a:latin typeface="+mn-lt"/>
              </a:rPr>
              <a:t> debido a la técnica de vaciado (</a:t>
            </a:r>
            <a:r>
              <a:rPr lang="es-ES" sz="2200" dirty="0" err="1">
                <a:solidFill>
                  <a:srgbClr val="FF9900"/>
                </a:solidFill>
                <a:latin typeface="+mn-lt"/>
              </a:rPr>
              <a:t>flushing</a:t>
            </a:r>
            <a:r>
              <a:rPr lang="es-ES" sz="2200" dirty="0">
                <a:solidFill>
                  <a:srgbClr val="FF9900"/>
                </a:solidFill>
                <a:latin typeface="+mn-lt"/>
              </a:rPr>
              <a:t>) de la TLB.</a:t>
            </a:r>
            <a:endParaRPr sz="2200" dirty="0">
              <a:solidFill>
                <a:srgbClr val="FF99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289" name="Google Shape;1289;p74"/>
          <p:cNvGraphicFramePr/>
          <p:nvPr>
            <p:extLst>
              <p:ext uri="{D42A27DB-BD31-4B8C-83A1-F6EECF244321}">
                <p14:modId xmlns:p14="http://schemas.microsoft.com/office/powerpoint/2010/main" val="2971856239"/>
              </p:ext>
            </p:extLst>
          </p:nvPr>
        </p:nvGraphicFramePr>
        <p:xfrm>
          <a:off x="4650321" y="4097825"/>
          <a:ext cx="3941425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5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FF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b="1">
                        <a:solidFill>
                          <a:srgbClr val="FFFF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295" name="Google Shape;1295;p75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113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+mn-lt"/>
              </a:rPr>
              <a:t>Proveer un campo Address Space </a:t>
            </a:r>
            <a:r>
              <a:rPr lang="es-ES" b="1" dirty="0" err="1">
                <a:solidFill>
                  <a:srgbClr val="70AD47"/>
                </a:solidFill>
                <a:latin typeface="+mn-lt"/>
              </a:rPr>
              <a:t>Identifier</a:t>
            </a:r>
            <a:r>
              <a:rPr lang="es-ES" b="1" dirty="0">
                <a:solidFill>
                  <a:srgbClr val="70AD47"/>
                </a:solidFill>
                <a:latin typeface="+mn-lt"/>
              </a:rPr>
              <a:t> (ASID) en el TLB - Ejemplo</a:t>
            </a:r>
            <a:endParaRPr sz="2200" dirty="0">
              <a:solidFill>
                <a:srgbClr val="FF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296" name="Google Shape;129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575" y="2173250"/>
            <a:ext cx="7727101" cy="425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TLB y Context switch</a:t>
            </a:r>
            <a:endParaRPr dirty="0">
              <a:latin typeface="+mj-lt"/>
            </a:endParaRPr>
          </a:p>
        </p:txBody>
      </p:sp>
      <p:sp>
        <p:nvSpPr>
          <p:cNvPr id="1302" name="Google Shape;1302;p76"/>
          <p:cNvSpPr txBox="1">
            <a:spLocks noGrp="1"/>
          </p:cNvSpPr>
          <p:nvPr>
            <p:ph type="body" idx="1"/>
          </p:nvPr>
        </p:nvSpPr>
        <p:spPr>
          <a:xfrm>
            <a:off x="916650" y="928925"/>
            <a:ext cx="11185800" cy="113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Solucionando el problema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+mn-lt"/>
              </a:rPr>
              <a:t>Proveer un campo Address Space </a:t>
            </a:r>
            <a:r>
              <a:rPr lang="es-ES" b="1" dirty="0" err="1">
                <a:solidFill>
                  <a:srgbClr val="70AD47"/>
                </a:solidFill>
                <a:latin typeface="+mn-lt"/>
              </a:rPr>
              <a:t>Identifier</a:t>
            </a:r>
            <a:r>
              <a:rPr lang="es-ES" b="1" dirty="0">
                <a:solidFill>
                  <a:srgbClr val="70AD47"/>
                </a:solidFill>
                <a:latin typeface="+mn-lt"/>
              </a:rPr>
              <a:t> (ASID) en el TLB - Ejemplo</a:t>
            </a:r>
            <a:endParaRPr sz="2200" dirty="0">
              <a:solidFill>
                <a:srgbClr val="FF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303" name="Google Shape;1303;p76"/>
          <p:cNvGraphicFramePr/>
          <p:nvPr/>
        </p:nvGraphicFramePr>
        <p:xfrm>
          <a:off x="1129275" y="4351250"/>
          <a:ext cx="3920875" cy="21334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8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valid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ASID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rwx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4" name="Google Shape;1304;p76"/>
          <p:cNvSpPr/>
          <p:nvPr/>
        </p:nvSpPr>
        <p:spPr>
          <a:xfrm>
            <a:off x="1742500" y="2124950"/>
            <a:ext cx="606600" cy="653100"/>
          </a:xfrm>
          <a:prstGeom prst="ellipse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5" name="Google Shape;1305;p76"/>
          <p:cNvSpPr/>
          <p:nvPr/>
        </p:nvSpPr>
        <p:spPr>
          <a:xfrm>
            <a:off x="3748675" y="2181588"/>
            <a:ext cx="606600" cy="6531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7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06" name="Google Shape;1306;p76"/>
          <p:cNvGraphicFramePr/>
          <p:nvPr/>
        </p:nvGraphicFramePr>
        <p:xfrm>
          <a:off x="1129275" y="2834675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07" name="Google Shape;1307;p76"/>
          <p:cNvGraphicFramePr/>
          <p:nvPr/>
        </p:nvGraphicFramePr>
        <p:xfrm>
          <a:off x="3135450" y="2834688"/>
          <a:ext cx="1833050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9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0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PT P2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8" name="Google Shape;1308;p76"/>
          <p:cNvSpPr txBox="1"/>
          <p:nvPr/>
        </p:nvSpPr>
        <p:spPr>
          <a:xfrm>
            <a:off x="5512825" y="2938238"/>
            <a:ext cx="6379800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Es común que procesos distintos compartan segmentos de código (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binaries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shared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s-ES" sz="2000" dirty="0" err="1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libraries</a:t>
            </a:r>
            <a:r>
              <a:rPr lang="es-ES" sz="2000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).</a:t>
            </a:r>
            <a:endParaRPr sz="2000" dirty="0">
              <a:solidFill>
                <a:schemeClr val="dk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76"/>
          <p:cNvSpPr/>
          <p:nvPr/>
        </p:nvSpPr>
        <p:spPr>
          <a:xfrm>
            <a:off x="5833525" y="5494165"/>
            <a:ext cx="5738400" cy="800400"/>
          </a:xfrm>
          <a:prstGeom prst="roundRect">
            <a:avLst>
              <a:gd name="adj" fmla="val 21858"/>
            </a:avLst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ea typeface="Roboto"/>
                <a:cs typeface="Roboto"/>
                <a:sym typeface="Roboto"/>
              </a:rPr>
              <a:t>Compartir páginas es </a:t>
            </a:r>
            <a:r>
              <a:rPr lang="es-ES" sz="1800" b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útil</a:t>
            </a:r>
            <a:r>
              <a:rPr lang="es-ES" sz="1800">
                <a:ea typeface="Roboto"/>
                <a:cs typeface="Roboto"/>
                <a:sym typeface="Roboto"/>
              </a:rPr>
              <a:t> porque reduce el número de frames en uso.</a:t>
            </a:r>
            <a:endParaRPr sz="1800"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76"/>
          <p:cNvSpPr txBox="1"/>
          <p:nvPr/>
        </p:nvSpPr>
        <p:spPr>
          <a:xfrm>
            <a:off x="5924950" y="4351250"/>
            <a:ext cx="5792700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+mj-lt"/>
                <a:ea typeface="Roboto"/>
                <a:cs typeface="Roboto"/>
                <a:sym typeface="Roboto"/>
              </a:rPr>
              <a:t>¿Qué pasa cuando dos procesos apuntan a un mismo </a:t>
            </a:r>
            <a:r>
              <a:rPr lang="es-ES" sz="2000" b="1" dirty="0" err="1">
                <a:solidFill>
                  <a:srgbClr val="FF0000"/>
                </a:solidFill>
                <a:latin typeface="+mj-lt"/>
                <a:ea typeface="Roboto"/>
                <a:cs typeface="Roboto"/>
                <a:sym typeface="Roboto"/>
              </a:rPr>
              <a:t>frame</a:t>
            </a:r>
            <a:r>
              <a:rPr lang="es-ES" sz="2000" b="1" dirty="0">
                <a:solidFill>
                  <a:srgbClr val="FF0000"/>
                </a:solidFill>
                <a:latin typeface="+mj-lt"/>
                <a:ea typeface="Roboto"/>
                <a:cs typeface="Roboto"/>
                <a:sym typeface="Roboto"/>
              </a:rPr>
              <a:t> (PFN)?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322" name="Google Shape;1322;p78"/>
          <p:cNvSpPr txBox="1"/>
          <p:nvPr/>
        </p:nvSpPr>
        <p:spPr>
          <a:xfrm>
            <a:off x="916650" y="843525"/>
            <a:ext cx="11091300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</a:t>
            </a: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política de reemplazo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en este caso, consiste en el procedimiento llevado a cabo para reemplazar una entrada antigua en la TLB (cache) por una nueva.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323" name="Google Shape;1323;p78"/>
          <p:cNvGraphicFramePr/>
          <p:nvPr/>
        </p:nvGraphicFramePr>
        <p:xfrm>
          <a:off x="3346050" y="2933513"/>
          <a:ext cx="2103300" cy="32013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24" name="Google Shape;1324;p78"/>
          <p:cNvSpPr txBox="1"/>
          <p:nvPr/>
        </p:nvSpPr>
        <p:spPr>
          <a:xfrm>
            <a:off x="4146450" y="5945463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p78"/>
          <p:cNvSpPr/>
          <p:nvPr/>
        </p:nvSpPr>
        <p:spPr>
          <a:xfrm>
            <a:off x="2539675" y="344435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6" name="Google Shape;1326;p78"/>
          <p:cNvSpPr/>
          <p:nvPr/>
        </p:nvSpPr>
        <p:spPr>
          <a:xfrm>
            <a:off x="2551325" y="3842813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7" name="Google Shape;1327;p78"/>
          <p:cNvSpPr/>
          <p:nvPr/>
        </p:nvSpPr>
        <p:spPr>
          <a:xfrm>
            <a:off x="2539675" y="4261225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p78"/>
          <p:cNvSpPr/>
          <p:nvPr/>
        </p:nvSpPr>
        <p:spPr>
          <a:xfrm>
            <a:off x="2552125" y="4684088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p78"/>
          <p:cNvSpPr/>
          <p:nvPr/>
        </p:nvSpPr>
        <p:spPr>
          <a:xfrm>
            <a:off x="2552125" y="509820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78"/>
          <p:cNvSpPr/>
          <p:nvPr/>
        </p:nvSpPr>
        <p:spPr>
          <a:xfrm>
            <a:off x="2546300" y="5558150"/>
            <a:ext cx="361500" cy="349200"/>
          </a:xfrm>
          <a:prstGeom prst="ellipse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onsolas"/>
                <a:ea typeface="Consolas"/>
                <a:cs typeface="Consolas"/>
                <a:sym typeface="Consolas"/>
              </a:rPr>
              <a:t>=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31" name="Google Shape;1331;p78"/>
          <p:cNvCxnSpPr>
            <a:stCxn id="1325" idx="6"/>
          </p:cNvCxnSpPr>
          <p:nvPr/>
        </p:nvCxnSpPr>
        <p:spPr>
          <a:xfrm>
            <a:off x="2901175" y="361895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78"/>
          <p:cNvCxnSpPr/>
          <p:nvPr/>
        </p:nvCxnSpPr>
        <p:spPr>
          <a:xfrm rot="10800000" flipH="1">
            <a:off x="2920675" y="4011650"/>
            <a:ext cx="4206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3" name="Google Shape;1333;p78"/>
          <p:cNvCxnSpPr/>
          <p:nvPr/>
        </p:nvCxnSpPr>
        <p:spPr>
          <a:xfrm>
            <a:off x="2908550" y="44369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4" name="Google Shape;1334;p78"/>
          <p:cNvCxnSpPr/>
          <p:nvPr/>
        </p:nvCxnSpPr>
        <p:spPr>
          <a:xfrm>
            <a:off x="2915150" y="486340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5" name="Google Shape;1335;p78"/>
          <p:cNvCxnSpPr/>
          <p:nvPr/>
        </p:nvCxnSpPr>
        <p:spPr>
          <a:xfrm>
            <a:off x="2901175" y="5283525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6" name="Google Shape;1336;p78"/>
          <p:cNvCxnSpPr/>
          <p:nvPr/>
        </p:nvCxnSpPr>
        <p:spPr>
          <a:xfrm>
            <a:off x="2915150" y="5744450"/>
            <a:ext cx="427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7" name="Google Shape;1337;p78"/>
          <p:cNvCxnSpPr/>
          <p:nvPr/>
        </p:nvCxnSpPr>
        <p:spPr>
          <a:xfrm>
            <a:off x="5797550" y="4192025"/>
            <a:ext cx="2162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8" name="Google Shape;1338;p78"/>
          <p:cNvSpPr txBox="1"/>
          <p:nvPr/>
        </p:nvSpPr>
        <p:spPr>
          <a:xfrm>
            <a:off x="6350850" y="3631075"/>
            <a:ext cx="127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TLB Miss</a:t>
            </a:r>
            <a:endParaRPr sz="1800" b="1">
              <a:solidFill>
                <a:srgbClr val="FF0000"/>
              </a:solidFill>
            </a:endParaRPr>
          </a:p>
        </p:txBody>
      </p:sp>
      <p:pic>
        <p:nvPicPr>
          <p:cNvPr id="1339" name="Google Shape;133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225" y="3673495"/>
            <a:ext cx="361500" cy="3768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0" name="Google Shape;1340;p78"/>
          <p:cNvCxnSpPr/>
          <p:nvPr/>
        </p:nvCxnSpPr>
        <p:spPr>
          <a:xfrm>
            <a:off x="2119800" y="36199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1" name="Google Shape;1341;p78"/>
          <p:cNvCxnSpPr/>
          <p:nvPr/>
        </p:nvCxnSpPr>
        <p:spPr>
          <a:xfrm>
            <a:off x="2119800" y="40162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2" name="Google Shape;1342;p78"/>
          <p:cNvCxnSpPr/>
          <p:nvPr/>
        </p:nvCxnSpPr>
        <p:spPr>
          <a:xfrm>
            <a:off x="2126400" y="444270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3" name="Google Shape;1343;p78"/>
          <p:cNvCxnSpPr/>
          <p:nvPr/>
        </p:nvCxnSpPr>
        <p:spPr>
          <a:xfrm>
            <a:off x="2119800" y="4853025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4" name="Google Shape;1344;p78"/>
          <p:cNvCxnSpPr/>
          <p:nvPr/>
        </p:nvCxnSpPr>
        <p:spPr>
          <a:xfrm>
            <a:off x="2126400" y="526335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5" name="Google Shape;1345;p78"/>
          <p:cNvCxnSpPr/>
          <p:nvPr/>
        </p:nvCxnSpPr>
        <p:spPr>
          <a:xfrm>
            <a:off x="2126400" y="5731550"/>
            <a:ext cx="420000" cy="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6" name="Google Shape;1346;p78"/>
          <p:cNvCxnSpPr/>
          <p:nvPr/>
        </p:nvCxnSpPr>
        <p:spPr>
          <a:xfrm rot="10800000">
            <a:off x="2119725" y="3161300"/>
            <a:ext cx="23400" cy="257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347" name="Google Shape;1347;p78"/>
          <p:cNvGraphicFramePr/>
          <p:nvPr/>
        </p:nvGraphicFramePr>
        <p:xfrm>
          <a:off x="1743875" y="1801338"/>
          <a:ext cx="210330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48" name="Google Shape;1348;p78"/>
          <p:cNvGraphicFramePr/>
          <p:nvPr/>
        </p:nvGraphicFramePr>
        <p:xfrm>
          <a:off x="1778850" y="2648013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49" name="Google Shape;1349;p78"/>
          <p:cNvCxnSpPr/>
          <p:nvPr/>
        </p:nvCxnSpPr>
        <p:spPr>
          <a:xfrm flipH="1">
            <a:off x="2154800" y="2244725"/>
            <a:ext cx="4200" cy="391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50" name="Google Shape;1350;p78"/>
          <p:cNvSpPr txBox="1"/>
          <p:nvPr/>
        </p:nvSpPr>
        <p:spPr>
          <a:xfrm>
            <a:off x="1172375" y="1783300"/>
            <a:ext cx="57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1" name="Google Shape;1351;p78"/>
          <p:cNvGraphicFramePr/>
          <p:nvPr/>
        </p:nvGraphicFramePr>
        <p:xfrm>
          <a:off x="8964063" y="3056532"/>
          <a:ext cx="2336425" cy="298683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52" name="Google Shape;1352;p78"/>
          <p:cNvSpPr/>
          <p:nvPr/>
        </p:nvSpPr>
        <p:spPr>
          <a:xfrm>
            <a:off x="9137625" y="2613263"/>
            <a:ext cx="1989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3" name="Google Shape;1353;p78"/>
          <p:cNvGraphicFramePr/>
          <p:nvPr/>
        </p:nvGraphicFramePr>
        <p:xfrm>
          <a:off x="7182900" y="4788913"/>
          <a:ext cx="705150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70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4" name="Google Shape;1354;p78"/>
          <p:cNvGraphicFramePr/>
          <p:nvPr/>
        </p:nvGraphicFramePr>
        <p:xfrm>
          <a:off x="5817888" y="6265833"/>
          <a:ext cx="23364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86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other bits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5" name="Google Shape;1355;p78"/>
          <p:cNvSpPr/>
          <p:nvPr/>
        </p:nvSpPr>
        <p:spPr>
          <a:xfrm>
            <a:off x="8083800" y="4909175"/>
            <a:ext cx="361500" cy="185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78"/>
          <p:cNvGrpSpPr/>
          <p:nvPr/>
        </p:nvGrpSpPr>
        <p:grpSpPr>
          <a:xfrm>
            <a:off x="4435550" y="4498975"/>
            <a:ext cx="6924600" cy="2286000"/>
            <a:chOff x="4435550" y="4346575"/>
            <a:chExt cx="6924600" cy="2286000"/>
          </a:xfrm>
        </p:grpSpPr>
        <p:cxnSp>
          <p:nvCxnSpPr>
            <p:cNvPr id="1357" name="Google Shape;1357;p78"/>
            <p:cNvCxnSpPr/>
            <p:nvPr/>
          </p:nvCxnSpPr>
          <p:spPr>
            <a:xfrm flipH="1">
              <a:off x="4435550" y="4346575"/>
              <a:ext cx="6924600" cy="2286000"/>
            </a:xfrm>
            <a:prstGeom prst="bentConnector3">
              <a:avLst>
                <a:gd name="adj1" fmla="val -674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8" name="Google Shape;1358;p78"/>
            <p:cNvCxnSpPr/>
            <p:nvPr/>
          </p:nvCxnSpPr>
          <p:spPr>
            <a:xfrm rot="10800000">
              <a:off x="4445100" y="6261063"/>
              <a:ext cx="0" cy="362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359" name="Google Shape;1359;p78"/>
          <p:cNvGrpSpPr/>
          <p:nvPr/>
        </p:nvGrpSpPr>
        <p:grpSpPr>
          <a:xfrm>
            <a:off x="8130000" y="3056525"/>
            <a:ext cx="818275" cy="2995650"/>
            <a:chOff x="8130000" y="2904125"/>
            <a:chExt cx="818275" cy="2995650"/>
          </a:xfrm>
        </p:grpSpPr>
        <p:sp>
          <p:nvSpPr>
            <p:cNvPr id="1360" name="Google Shape;1360;p78"/>
            <p:cNvSpPr txBox="1"/>
            <p:nvPr/>
          </p:nvSpPr>
          <p:spPr>
            <a:xfrm>
              <a:off x="8130000" y="2904125"/>
              <a:ext cx="793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VPN:0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1" name="Google Shape;1361;p78"/>
            <p:cNvSpPr txBox="1"/>
            <p:nvPr/>
          </p:nvSpPr>
          <p:spPr>
            <a:xfrm>
              <a:off x="8286913" y="33308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2" name="Google Shape;1362;p78"/>
            <p:cNvSpPr txBox="1"/>
            <p:nvPr/>
          </p:nvSpPr>
          <p:spPr>
            <a:xfrm>
              <a:off x="8286900" y="37619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3" name="Google Shape;1363;p78"/>
            <p:cNvSpPr txBox="1"/>
            <p:nvPr/>
          </p:nvSpPr>
          <p:spPr>
            <a:xfrm>
              <a:off x="8286900" y="41574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4" name="Google Shape;1364;p78"/>
            <p:cNvSpPr txBox="1"/>
            <p:nvPr/>
          </p:nvSpPr>
          <p:spPr>
            <a:xfrm>
              <a:off x="8286925" y="50375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365" name="Google Shape;1365;p78"/>
            <p:cNvSpPr txBox="1"/>
            <p:nvPr/>
          </p:nvSpPr>
          <p:spPr>
            <a:xfrm>
              <a:off x="8277375" y="459562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b="1">
                <a:solidFill>
                  <a:schemeClr val="accent6"/>
                </a:solidFill>
              </a:endParaRPr>
            </a:p>
          </p:txBody>
        </p:sp>
        <p:sp>
          <p:nvSpPr>
            <p:cNvPr id="1366" name="Google Shape;1366;p78"/>
            <p:cNvSpPr txBox="1"/>
            <p:nvPr/>
          </p:nvSpPr>
          <p:spPr>
            <a:xfrm>
              <a:off x="8311975" y="5468675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N-1</a:t>
              </a:r>
              <a:endParaRPr b="1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dirty="0">
              <a:latin typeface="+mj-lt"/>
            </a:endParaRPr>
          </a:p>
        </p:txBody>
      </p:sp>
      <p:sp>
        <p:nvSpPr>
          <p:cNvPr id="1373" name="Google Shape;1373;p79"/>
          <p:cNvSpPr txBox="1"/>
          <p:nvPr/>
        </p:nvSpPr>
        <p:spPr>
          <a:xfrm>
            <a:off x="916650" y="881750"/>
            <a:ext cx="108828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Objetivo de la política de reemplazo</a:t>
            </a:r>
            <a:endParaRPr sz="26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Reducir la tasa de miss aumentando por consiguiente la tasa de hits.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79"/>
          <p:cNvSpPr txBox="1"/>
          <p:nvPr/>
        </p:nvSpPr>
        <p:spPr>
          <a:xfrm>
            <a:off x="5553075" y="2514775"/>
            <a:ext cx="57690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¿Cómo hacer el reemplazo?</a:t>
            </a:r>
            <a:endParaRPr sz="26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Hay diferentes políticas, algunas son: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Least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Recently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Used (LRU).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AutoNum type="arabicPeriod"/>
            </a:pP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Random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(aleatorio).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375" name="Google Shape;13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273" y="2251405"/>
            <a:ext cx="2363575" cy="33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dirty="0">
              <a:latin typeface="+mj-lt"/>
            </a:endParaRPr>
          </a:p>
        </p:txBody>
      </p:sp>
      <p:sp>
        <p:nvSpPr>
          <p:cNvPr id="1382" name="Google Shape;1382;p80"/>
          <p:cNvSpPr txBox="1"/>
          <p:nvPr/>
        </p:nvSpPr>
        <p:spPr>
          <a:xfrm>
            <a:off x="916650" y="881750"/>
            <a:ext cx="10882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LRU (</a:t>
            </a:r>
            <a:r>
              <a:rPr lang="es-ES" sz="24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Least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Recently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Used)</a:t>
            </a:r>
            <a:endParaRPr sz="24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Reemplaza la entrada de la TLB que no haya sido usada recientemente (la que lleva más tiempo sin ser accedida).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0"/>
          <p:cNvSpPr txBox="1"/>
          <p:nvPr/>
        </p:nvSpPr>
        <p:spPr>
          <a:xfrm>
            <a:off x="1000225" y="2206550"/>
            <a:ext cx="108828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84" name="Google Shape;1384;p80"/>
          <p:cNvGraphicFramePr/>
          <p:nvPr/>
        </p:nvGraphicFramePr>
        <p:xfrm>
          <a:off x="1079925" y="5032863"/>
          <a:ext cx="2361375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85" name="Google Shape;1385;p80"/>
          <p:cNvGraphicFramePr/>
          <p:nvPr/>
        </p:nvGraphicFramePr>
        <p:xfrm>
          <a:off x="846675" y="4298950"/>
          <a:ext cx="86580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5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dirty="0">
              <a:latin typeface="+mj-lt"/>
            </a:endParaRPr>
          </a:p>
        </p:txBody>
      </p:sp>
      <p:sp>
        <p:nvSpPr>
          <p:cNvPr id="1392" name="Google Shape;1392;p81"/>
          <p:cNvSpPr txBox="1"/>
          <p:nvPr/>
        </p:nvSpPr>
        <p:spPr>
          <a:xfrm>
            <a:off x="916650" y="881750"/>
            <a:ext cx="1088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LRU (</a:t>
            </a:r>
            <a:r>
              <a:rPr lang="es-ES" sz="24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Least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Recently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 Used)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93" name="Google Shape;1393;p81"/>
          <p:cNvSpPr txBox="1"/>
          <p:nvPr/>
        </p:nvSpPr>
        <p:spPr>
          <a:xfrm>
            <a:off x="976875" y="1553400"/>
            <a:ext cx="108828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94" name="Google Shape;1394;p81"/>
          <p:cNvGraphicFramePr/>
          <p:nvPr/>
        </p:nvGraphicFramePr>
        <p:xfrm>
          <a:off x="846675" y="4356388"/>
          <a:ext cx="2361375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5" name="Google Shape;1395;p81"/>
          <p:cNvGraphicFramePr/>
          <p:nvPr/>
        </p:nvGraphicFramePr>
        <p:xfrm>
          <a:off x="822850" y="3704935"/>
          <a:ext cx="10071575" cy="7314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6" name="Google Shape;1396;p81"/>
          <p:cNvGraphicFramePr/>
          <p:nvPr/>
        </p:nvGraphicFramePr>
        <p:xfrm>
          <a:off x="33757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7" name="Google Shape;1397;p81"/>
          <p:cNvGraphicFramePr/>
          <p:nvPr/>
        </p:nvGraphicFramePr>
        <p:xfrm>
          <a:off x="39263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8" name="Google Shape;1398;p81"/>
          <p:cNvGraphicFramePr/>
          <p:nvPr/>
        </p:nvGraphicFramePr>
        <p:xfrm>
          <a:off x="44769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99" name="Google Shape;1399;p81"/>
          <p:cNvGraphicFramePr/>
          <p:nvPr/>
        </p:nvGraphicFramePr>
        <p:xfrm>
          <a:off x="50275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0" name="Google Shape;1400;p81"/>
          <p:cNvGraphicFramePr/>
          <p:nvPr/>
        </p:nvGraphicFramePr>
        <p:xfrm>
          <a:off x="55474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1" name="Google Shape;1401;p81"/>
          <p:cNvGraphicFramePr/>
          <p:nvPr/>
        </p:nvGraphicFramePr>
        <p:xfrm>
          <a:off x="60980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2" name="Google Shape;1402;p81"/>
          <p:cNvGraphicFramePr/>
          <p:nvPr/>
        </p:nvGraphicFramePr>
        <p:xfrm>
          <a:off x="66486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3" name="Google Shape;1403;p81"/>
          <p:cNvGraphicFramePr/>
          <p:nvPr/>
        </p:nvGraphicFramePr>
        <p:xfrm>
          <a:off x="71992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4" name="Google Shape;1404;p81"/>
          <p:cNvGraphicFramePr/>
          <p:nvPr/>
        </p:nvGraphicFramePr>
        <p:xfrm>
          <a:off x="77191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5" name="Google Shape;1405;p81"/>
          <p:cNvGraphicFramePr/>
          <p:nvPr/>
        </p:nvGraphicFramePr>
        <p:xfrm>
          <a:off x="82697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6" name="Google Shape;1406;p81"/>
          <p:cNvGraphicFramePr/>
          <p:nvPr/>
        </p:nvGraphicFramePr>
        <p:xfrm>
          <a:off x="882031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7" name="Google Shape;1407;p81"/>
          <p:cNvGraphicFramePr/>
          <p:nvPr/>
        </p:nvGraphicFramePr>
        <p:xfrm>
          <a:off x="937090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8" name="Google Shape;1408;p81"/>
          <p:cNvGraphicFramePr/>
          <p:nvPr/>
        </p:nvGraphicFramePr>
        <p:xfrm>
          <a:off x="9890863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09" name="Google Shape;1409;p81"/>
          <p:cNvGraphicFramePr/>
          <p:nvPr/>
        </p:nvGraphicFramePr>
        <p:xfrm>
          <a:off x="10441450" y="4356400"/>
          <a:ext cx="382850" cy="182868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dirty="0">
              <a:latin typeface="+mj-lt"/>
            </a:endParaRPr>
          </a:p>
        </p:txBody>
      </p:sp>
      <p:sp>
        <p:nvSpPr>
          <p:cNvPr id="1415" name="Google Shape;1415;p82"/>
          <p:cNvSpPr txBox="1"/>
          <p:nvPr/>
        </p:nvSpPr>
        <p:spPr>
          <a:xfrm>
            <a:off x="518444" y="980550"/>
            <a:ext cx="108828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Random</a:t>
            </a:r>
            <a:endParaRPr sz="2400" b="1">
              <a:solidFill>
                <a:schemeClr val="accent2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 un reemplazo seleccionando una entrada al azar de la TLB.</a:t>
            </a:r>
            <a:endParaRPr sz="220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82"/>
          <p:cNvSpPr txBox="1"/>
          <p:nvPr/>
        </p:nvSpPr>
        <p:spPr>
          <a:xfrm>
            <a:off x="518444" y="2206550"/>
            <a:ext cx="11364581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17" name="Google Shape;1417;p82"/>
          <p:cNvGraphicFramePr/>
          <p:nvPr/>
        </p:nvGraphicFramePr>
        <p:xfrm>
          <a:off x="2163225" y="5028363"/>
          <a:ext cx="2361375" cy="137151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18" name="Google Shape;1418;p82"/>
          <p:cNvGraphicFramePr/>
          <p:nvPr/>
        </p:nvGraphicFramePr>
        <p:xfrm>
          <a:off x="1929975" y="4294450"/>
          <a:ext cx="8658025" cy="45717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2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5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19" name="Google Shape;141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7851" y="5569250"/>
            <a:ext cx="558500" cy="55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Políticas de reemplazo</a:t>
            </a:r>
            <a:endParaRPr dirty="0">
              <a:latin typeface="+mj-lt"/>
            </a:endParaRPr>
          </a:p>
        </p:txBody>
      </p:sp>
      <p:sp>
        <p:nvSpPr>
          <p:cNvPr id="1425" name="Google Shape;1425;p83"/>
          <p:cNvSpPr txBox="1"/>
          <p:nvPr/>
        </p:nvSpPr>
        <p:spPr>
          <a:xfrm>
            <a:off x="788350" y="6550200"/>
            <a:ext cx="5699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 b="1">
                <a:latin typeface="Roboto"/>
                <a:ea typeface="Roboto"/>
                <a:cs typeface="Roboto"/>
                <a:sym typeface="Roboto"/>
              </a:rPr>
              <a:t>Nota</a:t>
            </a:r>
            <a:r>
              <a:rPr lang="es-ES" sz="800">
                <a:latin typeface="Roboto"/>
                <a:ea typeface="Roboto"/>
                <a:cs typeface="Roboto"/>
                <a:sym typeface="Roboto"/>
              </a:rPr>
              <a:t>: Se uso un generador de numeros aleatorios en internet. Buscando en  google, </a:t>
            </a:r>
            <a:r>
              <a:rPr lang="es-ES" sz="800" b="1">
                <a:latin typeface="Roboto"/>
                <a:ea typeface="Roboto"/>
                <a:cs typeface="Roboto"/>
                <a:sym typeface="Roboto"/>
              </a:rPr>
              <a:t>random number generator</a:t>
            </a:r>
            <a:endParaRPr sz="8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6" name="Google Shape;1426;p83"/>
          <p:cNvSpPr txBox="1"/>
          <p:nvPr/>
        </p:nvSpPr>
        <p:spPr>
          <a:xfrm>
            <a:off x="916650" y="881750"/>
            <a:ext cx="10882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 err="1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Random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27" name="Google Shape;1427;p83"/>
          <p:cNvSpPr txBox="1"/>
          <p:nvPr/>
        </p:nvSpPr>
        <p:spPr>
          <a:xfrm>
            <a:off x="976875" y="1553400"/>
            <a:ext cx="10882800" cy="17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Ejemplo:</a:t>
            </a:r>
            <a:endParaRPr sz="22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Asuma que se tiene una TLB de tres entradas, y que el acceso a memoria (principal) se está realizando de acuerdo al orden presentado en la siguiente traza: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7, 0, 1, 2, 0, 3, 0, 4, 2, 3, 0, 3, 2, 1, 2  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28" name="Google Shape;1428;p83"/>
          <p:cNvGraphicFramePr/>
          <p:nvPr/>
        </p:nvGraphicFramePr>
        <p:xfrm>
          <a:off x="846675" y="4356388"/>
          <a:ext cx="2361375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7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 Frame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83"/>
          <p:cNvGraphicFramePr/>
          <p:nvPr/>
        </p:nvGraphicFramePr>
        <p:xfrm>
          <a:off x="822850" y="3704935"/>
          <a:ext cx="10071575" cy="73149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9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42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63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 row →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83"/>
          <p:cNvGraphicFramePr/>
          <p:nvPr/>
        </p:nvGraphicFramePr>
        <p:xfrm>
          <a:off x="33757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1" name="Google Shape;1431;p83"/>
          <p:cNvGraphicFramePr/>
          <p:nvPr/>
        </p:nvGraphicFramePr>
        <p:xfrm>
          <a:off x="39263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2" name="Google Shape;1432;p83"/>
          <p:cNvGraphicFramePr/>
          <p:nvPr/>
        </p:nvGraphicFramePr>
        <p:xfrm>
          <a:off x="447691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3" name="Google Shape;1433;p83"/>
          <p:cNvGraphicFramePr/>
          <p:nvPr/>
        </p:nvGraphicFramePr>
        <p:xfrm>
          <a:off x="50275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4" name="Google Shape;1434;p83"/>
          <p:cNvGraphicFramePr/>
          <p:nvPr/>
        </p:nvGraphicFramePr>
        <p:xfrm>
          <a:off x="55474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5" name="Google Shape;1435;p83"/>
          <p:cNvGraphicFramePr/>
          <p:nvPr/>
        </p:nvGraphicFramePr>
        <p:xfrm>
          <a:off x="60980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6" name="Google Shape;1436;p83"/>
          <p:cNvGraphicFramePr/>
          <p:nvPr/>
        </p:nvGraphicFramePr>
        <p:xfrm>
          <a:off x="664861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7" name="Google Shape;1437;p83"/>
          <p:cNvGraphicFramePr/>
          <p:nvPr/>
        </p:nvGraphicFramePr>
        <p:xfrm>
          <a:off x="71992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8" name="Google Shape;1438;p83"/>
          <p:cNvGraphicFramePr/>
          <p:nvPr/>
        </p:nvGraphicFramePr>
        <p:xfrm>
          <a:off x="77191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39" name="Google Shape;1439;p83"/>
          <p:cNvGraphicFramePr/>
          <p:nvPr/>
        </p:nvGraphicFramePr>
        <p:xfrm>
          <a:off x="82697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0" name="Google Shape;1440;p83"/>
          <p:cNvGraphicFramePr/>
          <p:nvPr/>
        </p:nvGraphicFramePr>
        <p:xfrm>
          <a:off x="8820313" y="4356400"/>
          <a:ext cx="382850" cy="274302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41" name="Google Shape;1441;p83"/>
          <p:cNvGraphicFramePr/>
          <p:nvPr/>
        </p:nvGraphicFramePr>
        <p:xfrm>
          <a:off x="937090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2" name="Google Shape;1442;p83"/>
          <p:cNvGraphicFramePr/>
          <p:nvPr/>
        </p:nvGraphicFramePr>
        <p:xfrm>
          <a:off x="9890863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43" name="Google Shape;1443;p83"/>
          <p:cNvGraphicFramePr/>
          <p:nvPr/>
        </p:nvGraphicFramePr>
        <p:xfrm>
          <a:off x="10441450" y="4356400"/>
          <a:ext cx="382850" cy="22858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70AD4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70AD47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85"/>
          <p:cNvSpPr txBox="1">
            <a:spLocks noGrp="1"/>
          </p:cNvSpPr>
          <p:nvPr>
            <p:ph type="title"/>
          </p:nvPr>
        </p:nvSpPr>
        <p:spPr>
          <a:xfrm>
            <a:off x="838200" y="166029"/>
            <a:ext cx="10515600" cy="86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Entrada TLB real - caso MIPS</a:t>
            </a:r>
            <a:endParaRPr dirty="0"/>
          </a:p>
        </p:txBody>
      </p:sp>
      <p:sp>
        <p:nvSpPr>
          <p:cNvPr id="1455" name="Google Shape;1455;p85"/>
          <p:cNvSpPr txBox="1">
            <a:spLocks noGrp="1"/>
          </p:cNvSpPr>
          <p:nvPr>
            <p:ph idx="1"/>
          </p:nvPr>
        </p:nvSpPr>
        <p:spPr>
          <a:xfrm>
            <a:off x="306300" y="762670"/>
            <a:ext cx="11047500" cy="114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Forma de la entrada TLB 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TLB de un MIPS R4000.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sistema operativo maneja la TLB por software.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56" name="Google Shape;145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48" y="1910470"/>
            <a:ext cx="7962901" cy="1147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7" name="Google Shape;1457;p85"/>
          <p:cNvGraphicFramePr/>
          <p:nvPr>
            <p:extLst>
              <p:ext uri="{D42A27DB-BD31-4B8C-83A1-F6EECF244321}">
                <p14:modId xmlns:p14="http://schemas.microsoft.com/office/powerpoint/2010/main" val="34466303"/>
              </p:ext>
            </p:extLst>
          </p:nvPr>
        </p:nvGraphicFramePr>
        <p:xfrm>
          <a:off x="3040049" y="3396970"/>
          <a:ext cx="5895031" cy="3290013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129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9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Flag</a:t>
                      </a:r>
                      <a:endParaRPr sz="2000">
                        <a:solidFill>
                          <a:schemeClr val="lt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Content</a:t>
                      </a:r>
                      <a:endParaRPr sz="2000" dirty="0">
                        <a:solidFill>
                          <a:schemeClr val="lt1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19-bit VPN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rest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reserved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for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kernel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24-bit PFN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Systems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can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support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with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up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to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64GB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of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main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memory(  2^24∗4KB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pages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).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Global bit (G)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Used for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pages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that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are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globally-shared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among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processes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ASID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OS can use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to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distinguish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between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address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spaces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Coherence bit (C)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</a:rPr>
                        <a:t>Determine how a page is cached by the hardware.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Dirty bit (D)</a:t>
                      </a:r>
                      <a:endParaRPr sz="14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+mn-lt"/>
                        </a:rPr>
                        <a:t>Marking when the page has been written.</a:t>
                      </a:r>
                      <a:endParaRPr sz="120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Valid bit (V)</a:t>
                      </a:r>
                      <a:endParaRPr sz="14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Tells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hardware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if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there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is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a valid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translation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present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in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the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dk1"/>
                          </a:solidFill>
                          <a:latin typeface="+mn-lt"/>
                        </a:rPr>
                        <a:t>entry</a:t>
                      </a:r>
                      <a:r>
                        <a:rPr lang="es-ES" sz="1200" dirty="0">
                          <a:solidFill>
                            <a:schemeClr val="dk1"/>
                          </a:solidFill>
                          <a:latin typeface="+mn-lt"/>
                        </a:rPr>
                        <a:t>.</a:t>
                      </a:r>
                      <a:endParaRPr sz="12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58" name="Google Shape;1458;p85"/>
          <p:cNvSpPr txBox="1"/>
          <p:nvPr/>
        </p:nvSpPr>
        <p:spPr>
          <a:xfrm>
            <a:off x="3040049" y="3058270"/>
            <a:ext cx="6111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64 bits of this TLB entry (example of MIPS R4000)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86"/>
          <p:cNvSpPr txBox="1">
            <a:spLocks noGrp="1"/>
          </p:cNvSpPr>
          <p:nvPr>
            <p:ph type="title"/>
          </p:nvPr>
        </p:nvSpPr>
        <p:spPr>
          <a:xfrm>
            <a:off x="838200" y="261132"/>
            <a:ext cx="10515600" cy="81694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Entrada TLB real - caso MIPS</a:t>
            </a:r>
            <a:endParaRPr/>
          </a:p>
        </p:txBody>
      </p:sp>
      <p:sp>
        <p:nvSpPr>
          <p:cNvPr id="1464" name="Google Shape;1464;p86"/>
          <p:cNvSpPr txBox="1">
            <a:spLocks noGrp="1"/>
          </p:cNvSpPr>
          <p:nvPr>
            <p:ph idx="1"/>
          </p:nvPr>
        </p:nvSpPr>
        <p:spPr>
          <a:xfrm>
            <a:off x="838200" y="927175"/>
            <a:ext cx="11047500" cy="1215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Sobre el MIPS R4000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Soporta un espacio de direccionamiento de 32 bits (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n(AS) = 32</a:t>
            </a:r>
            <a:r>
              <a:rPr lang="es-ES" sz="2000" dirty="0"/>
              <a:t>).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tamaño de las páginas es de 4 KB (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r>
              <a:rPr lang="es-ES" sz="2000" dirty="0"/>
              <a:t>).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5" name="Google Shape;1465;p86"/>
          <p:cNvSpPr txBox="1"/>
          <p:nvPr/>
        </p:nvSpPr>
        <p:spPr>
          <a:xfrm>
            <a:off x="1041150" y="2086000"/>
            <a:ext cx="59529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 de la memoria virtual: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2^n(AS) = 2^32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= (2^2)(2^30) = 4 GB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Número de páginas: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●"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size(AS)/size(page) 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= 2^32/(4*(2^10)) = 2^20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66" name="Google Shape;1466;p86"/>
          <p:cNvGraphicFramePr/>
          <p:nvPr/>
        </p:nvGraphicFramePr>
        <p:xfrm>
          <a:off x="7655863" y="2883225"/>
          <a:ext cx="396545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8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7" name="Google Shape;1467;p86"/>
          <p:cNvSpPr txBox="1"/>
          <p:nvPr/>
        </p:nvSpPr>
        <p:spPr>
          <a:xfrm>
            <a:off x="6994038" y="28177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468" name="Google Shape;1468;p86"/>
          <p:cNvSpPr/>
          <p:nvPr/>
        </p:nvSpPr>
        <p:spPr>
          <a:xfrm rot="-5400000">
            <a:off x="8817625" y="2249675"/>
            <a:ext cx="228600" cy="25521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86"/>
          <p:cNvSpPr/>
          <p:nvPr/>
        </p:nvSpPr>
        <p:spPr>
          <a:xfrm rot="-5400000">
            <a:off x="10817650" y="2839775"/>
            <a:ext cx="228600" cy="13719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86"/>
          <p:cNvSpPr txBox="1"/>
          <p:nvPr/>
        </p:nvSpPr>
        <p:spPr>
          <a:xfrm>
            <a:off x="8675425" y="3640025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/>
          </a:p>
        </p:txBody>
      </p:sp>
      <p:sp>
        <p:nvSpPr>
          <p:cNvPr id="1471" name="Google Shape;1471;p86"/>
          <p:cNvSpPr txBox="1"/>
          <p:nvPr/>
        </p:nvSpPr>
        <p:spPr>
          <a:xfrm>
            <a:off x="10675450" y="3588400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1472" name="Google Shape;1472;p86"/>
          <p:cNvSpPr txBox="1"/>
          <p:nvPr/>
        </p:nvSpPr>
        <p:spPr>
          <a:xfrm>
            <a:off x="987850" y="4808200"/>
            <a:ext cx="10200600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el caso del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MIPS R4000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</a:t>
            </a: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VPN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 de 19 bits: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</a:t>
            </a:r>
            <a:r>
              <a:rPr lang="es-ES" sz="20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2 GB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Espacio de direcciones (usuario): </a:t>
            </a:r>
            <a:r>
              <a:rPr lang="es-ES" sz="20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2 GB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87"/>
          <p:cNvSpPr txBox="1">
            <a:spLocks noGrp="1"/>
          </p:cNvSpPr>
          <p:nvPr>
            <p:ph type="title"/>
          </p:nvPr>
        </p:nvSpPr>
        <p:spPr>
          <a:xfrm>
            <a:off x="838200" y="153462"/>
            <a:ext cx="10515600" cy="73865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Entrada TLB real - caso MIPS</a:t>
            </a:r>
            <a:endParaRPr dirty="0"/>
          </a:p>
        </p:txBody>
      </p:sp>
      <p:sp>
        <p:nvSpPr>
          <p:cNvPr id="1478" name="Google Shape;1478;p87"/>
          <p:cNvSpPr txBox="1">
            <a:spLocks noGrp="1"/>
          </p:cNvSpPr>
          <p:nvPr>
            <p:ph idx="1"/>
          </p:nvPr>
        </p:nvSpPr>
        <p:spPr>
          <a:xfrm>
            <a:off x="964350" y="852200"/>
            <a:ext cx="11047500" cy="8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Sobre el MIPS R4000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La PFN tiene 24 bits para el MIPS R4000, de modo que la forma de una dirección física será: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9" name="Google Shape;1479;p87"/>
          <p:cNvSpPr txBox="1"/>
          <p:nvPr/>
        </p:nvSpPr>
        <p:spPr>
          <a:xfrm>
            <a:off x="1640625" y="4036025"/>
            <a:ext cx="99153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2^n(PM) = 2^36 = (2^6)(2^30) = 64 GB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size(PM)/size(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 (2^36)/(4*(2^10)) = (2^24)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frames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80" name="Google Shape;1480;p87"/>
          <p:cNvGraphicFramePr/>
          <p:nvPr/>
        </p:nvGraphicFramePr>
        <p:xfrm>
          <a:off x="4788575" y="1996825"/>
          <a:ext cx="3965450" cy="458750"/>
        </p:xfrm>
        <a:graphic>
          <a:graphicData uri="http://schemas.openxmlformats.org/drawingml/2006/table">
            <a:tbl>
              <a:tblPr>
                <a:noFill/>
                <a:tableStyleId>{F60E1A64-338D-42A0-9394-E2ECDD66DA37}</a:tableStyleId>
              </a:tblPr>
              <a:tblGrid>
                <a:gridCol w="258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b="1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1" name="Google Shape;1481;p87"/>
          <p:cNvSpPr txBox="1"/>
          <p:nvPr/>
        </p:nvSpPr>
        <p:spPr>
          <a:xfrm>
            <a:off x="4126750" y="19313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482" name="Google Shape;1482;p87"/>
          <p:cNvSpPr/>
          <p:nvPr/>
        </p:nvSpPr>
        <p:spPr>
          <a:xfrm rot="-5400000">
            <a:off x="5950338" y="1363275"/>
            <a:ext cx="228600" cy="25521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87"/>
          <p:cNvSpPr/>
          <p:nvPr/>
        </p:nvSpPr>
        <p:spPr>
          <a:xfrm rot="-5400000">
            <a:off x="7950363" y="1953375"/>
            <a:ext cx="228600" cy="13719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87"/>
          <p:cNvSpPr txBox="1"/>
          <p:nvPr/>
        </p:nvSpPr>
        <p:spPr>
          <a:xfrm>
            <a:off x="5808138" y="2753625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/>
          </a:p>
        </p:txBody>
      </p:sp>
      <p:sp>
        <p:nvSpPr>
          <p:cNvPr id="1485" name="Google Shape;1485;p87"/>
          <p:cNvSpPr txBox="1"/>
          <p:nvPr/>
        </p:nvSpPr>
        <p:spPr>
          <a:xfrm>
            <a:off x="7808163" y="2702000"/>
            <a:ext cx="5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1486" name="Google Shape;1486;p87"/>
          <p:cNvSpPr txBox="1"/>
          <p:nvPr/>
        </p:nvSpPr>
        <p:spPr>
          <a:xfrm>
            <a:off x="964350" y="3348625"/>
            <a:ext cx="102006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 modo que el tamaño de la memoria física es: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88"/>
          <p:cNvSpPr txBox="1">
            <a:spLocks noGrp="1"/>
          </p:cNvSpPr>
          <p:nvPr>
            <p:ph type="title"/>
          </p:nvPr>
        </p:nvSpPr>
        <p:spPr>
          <a:xfrm>
            <a:off x="469490" y="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Referencias</a:t>
            </a:r>
            <a:endParaRPr dirty="0"/>
          </a:p>
        </p:txBody>
      </p:sp>
      <p:sp>
        <p:nvSpPr>
          <p:cNvPr id="1492" name="Google Shape;1492;p88"/>
          <p:cNvSpPr txBox="1">
            <a:spLocks noGrp="1"/>
          </p:cNvSpPr>
          <p:nvPr>
            <p:ph idx="1"/>
          </p:nvPr>
        </p:nvSpPr>
        <p:spPr>
          <a:xfrm>
            <a:off x="266884" y="994937"/>
            <a:ext cx="11658232" cy="56713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b="1" dirty="0" err="1"/>
              <a:t>Operating</a:t>
            </a:r>
            <a:r>
              <a:rPr lang="es-ES" sz="2000" b="1" dirty="0"/>
              <a:t> </a:t>
            </a:r>
            <a:r>
              <a:rPr lang="es-ES" sz="2000" b="1" dirty="0" err="1"/>
              <a:t>Systems</a:t>
            </a:r>
            <a:r>
              <a:rPr lang="es-ES" sz="2000" b="1" dirty="0"/>
              <a:t> </a:t>
            </a:r>
            <a:r>
              <a:rPr lang="es-ES" sz="2000" b="1" dirty="0" err="1"/>
              <a:t>Three</a:t>
            </a:r>
            <a:r>
              <a:rPr lang="es-ES" sz="2000" b="1" dirty="0"/>
              <a:t> Easy </a:t>
            </a:r>
            <a:r>
              <a:rPr lang="es-ES" sz="2000" b="1" dirty="0" err="1"/>
              <a:t>Pieces</a:t>
            </a:r>
            <a:r>
              <a:rPr lang="es-ES" sz="2000" b="1" dirty="0"/>
              <a:t> </a:t>
            </a:r>
            <a:r>
              <a:rPr lang="es-ES" sz="2000" dirty="0"/>
              <a:t>(</a:t>
            </a:r>
            <a:r>
              <a:rPr lang="es-ES" sz="2000" u="sng" dirty="0" err="1">
                <a:solidFill>
                  <a:schemeClr val="hlink"/>
                </a:solidFill>
                <a:hlinkClick r:id="rId3"/>
              </a:rPr>
              <a:t>website</a:t>
            </a:r>
            <a:r>
              <a:rPr lang="es-ES" sz="2000" dirty="0"/>
              <a:t>: Capítulos </a:t>
            </a:r>
            <a:r>
              <a:rPr lang="es-ES" sz="2000" u="sng" dirty="0">
                <a:solidFill>
                  <a:schemeClr val="hlink"/>
                </a:solidFill>
                <a:hlinkClick r:id="rId4"/>
              </a:rPr>
              <a:t>1</a:t>
            </a:r>
            <a:r>
              <a:rPr lang="es-ES" sz="2000" dirty="0"/>
              <a:t> y </a:t>
            </a:r>
            <a:r>
              <a:rPr lang="es-ES" sz="2000" u="sng" dirty="0">
                <a:solidFill>
                  <a:schemeClr val="hlink"/>
                </a:solidFill>
                <a:hlinkClick r:id="rId5"/>
              </a:rPr>
              <a:t>2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/>
              <a:t>Videos de </a:t>
            </a:r>
            <a:r>
              <a:rPr lang="es-ES" sz="2000" dirty="0" err="1"/>
              <a:t>youtube</a:t>
            </a:r>
            <a:r>
              <a:rPr lang="es-ES" sz="2000" dirty="0"/>
              <a:t>: Clase 1 - Introducción a los sistemas operativos (</a:t>
            </a:r>
            <a:r>
              <a:rPr lang="es-ES" sz="2000" u="sng" dirty="0">
                <a:solidFill>
                  <a:schemeClr val="hlink"/>
                </a:solidFill>
                <a:hlinkClick r:id="rId6"/>
              </a:rPr>
              <a:t>link</a:t>
            </a:r>
            <a:r>
              <a:rPr lang="es-ES" sz="2000" dirty="0"/>
              <a:t>).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/>
              <a:t>Página de </a:t>
            </a:r>
            <a:r>
              <a:rPr lang="es-ES" sz="2000" dirty="0" err="1"/>
              <a:t>Remzi</a:t>
            </a:r>
            <a:r>
              <a:rPr lang="es-ES" sz="2000" dirty="0"/>
              <a:t> H. </a:t>
            </a:r>
            <a:r>
              <a:rPr lang="es-ES" sz="2000" dirty="0" err="1"/>
              <a:t>Arpaci-Dusseau</a:t>
            </a:r>
            <a:r>
              <a:rPr lang="es-ES" sz="2000" dirty="0"/>
              <a:t> (</a:t>
            </a:r>
            <a:r>
              <a:rPr lang="es-ES" sz="2000" u="sng" dirty="0">
                <a:solidFill>
                  <a:schemeClr val="hlink"/>
                </a:solidFill>
                <a:hlinkClick r:id="rId7"/>
              </a:rPr>
              <a:t>link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/>
              <a:t>Operating</a:t>
            </a:r>
            <a:r>
              <a:rPr lang="es-ES" sz="2000" dirty="0"/>
              <a:t> </a:t>
            </a:r>
            <a:r>
              <a:rPr lang="es-ES" sz="2000" dirty="0" err="1"/>
              <a:t>System</a:t>
            </a:r>
            <a:r>
              <a:rPr lang="es-ES" sz="2000" dirty="0"/>
              <a:t> </a:t>
            </a:r>
            <a:r>
              <a:rPr lang="es-ES" sz="2000" dirty="0" err="1"/>
              <a:t>Concepts</a:t>
            </a:r>
            <a:r>
              <a:rPr lang="es-ES" sz="2000" dirty="0"/>
              <a:t> - </a:t>
            </a:r>
            <a:r>
              <a:rPr lang="es-ES" sz="2000" dirty="0" err="1"/>
              <a:t>Tenth</a:t>
            </a:r>
            <a:r>
              <a:rPr lang="es-ES" sz="2000" dirty="0"/>
              <a:t> </a:t>
            </a:r>
            <a:r>
              <a:rPr lang="es-ES" sz="2000" dirty="0" err="1"/>
              <a:t>Edition</a:t>
            </a:r>
            <a:r>
              <a:rPr lang="es-ES" sz="2000" dirty="0"/>
              <a:t> (</a:t>
            </a:r>
            <a:r>
              <a:rPr lang="es-ES" sz="2000" u="sng" dirty="0" err="1">
                <a:solidFill>
                  <a:schemeClr val="hlink"/>
                </a:solidFill>
                <a:hlinkClick r:id="rId8"/>
              </a:rPr>
              <a:t>website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dirty="0" err="1"/>
              <a:t>Operating</a:t>
            </a:r>
            <a:r>
              <a:rPr lang="es-ES" sz="2000" dirty="0"/>
              <a:t> </a:t>
            </a:r>
            <a:r>
              <a:rPr lang="es-ES" sz="2000" dirty="0" err="1"/>
              <a:t>Systems</a:t>
            </a:r>
            <a:r>
              <a:rPr lang="es-ES" sz="2000" dirty="0"/>
              <a:t> Notes (</a:t>
            </a:r>
            <a:r>
              <a:rPr lang="es-ES" sz="2000" u="sng" dirty="0">
                <a:solidFill>
                  <a:schemeClr val="hlink"/>
                </a:solidFill>
                <a:hlinkClick r:id="rId9"/>
              </a:rPr>
              <a:t>link</a:t>
            </a:r>
            <a:r>
              <a:rPr lang="es-ES" sz="2000" dirty="0"/>
              <a:t>)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0"/>
              </a:rPr>
              <a:t>https://github.com/Aniruddha-Tapas/Operating-Systems-Notes/blob/master/1-Overview.md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1"/>
              </a:rPr>
              <a:t>https://myaut.github.io/dtrace-stap-book/kernel/proc.html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2"/>
              </a:rPr>
              <a:t>https://myaut.github.io/dtrace-stap-book/index.html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3"/>
              </a:rPr>
              <a:t>https://www.technologyuk.net/computing/computer-software/operating-systems/operating-system-utilities.shtml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4"/>
              </a:rPr>
              <a:t>http://www.it.uu.se/education/course/homepage/os/vt18/module-4/simple-threads/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5"/>
              </a:rPr>
              <a:t>https://courses.cs.duke.edu/spring19/compsci590.1/slides/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6"/>
              </a:rPr>
              <a:t>http://csl.snu.ac.kr/courses/4190.307/2020-1/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7"/>
              </a:rPr>
              <a:t>http://pages.cs.wisc.edu/~bart/537/lecturenotes/titlepage.html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8"/>
              </a:rPr>
              <a:t>https://www.scs.stanford.edu/22wi-cs212/</a:t>
            </a:r>
            <a:r>
              <a:rPr lang="es-ES" sz="2000" dirty="0"/>
              <a:t> 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19"/>
              </a:rPr>
              <a:t>https://flint.cs.yale.edu/cs421/papers/x86-asm/asm.html</a:t>
            </a:r>
            <a:r>
              <a:rPr lang="es-ES" sz="2000" dirty="0"/>
              <a:t> 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20"/>
              </a:rPr>
              <a:t>https://github.com/Aniruddha-Tapas/Operating-Systems-Notes/blob/master/5-Memory-Management.md</a:t>
            </a:r>
            <a:r>
              <a:rPr lang="es-ES" sz="2000" dirty="0"/>
              <a:t> </a:t>
            </a:r>
            <a:endParaRPr sz="2000" dirty="0"/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21"/>
              </a:rPr>
              <a:t>https://applied-programming.github.io/Operating-Systems-Notes/5-Memory-Management/</a:t>
            </a:r>
            <a:r>
              <a:rPr lang="es-ES" sz="2000" dirty="0"/>
              <a:t> 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6533</Words>
  <Application>Microsoft Office PowerPoint</Application>
  <PresentationFormat>Panorámica</PresentationFormat>
  <Paragraphs>2091</Paragraphs>
  <Slides>62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71" baseType="lpstr">
      <vt:lpstr>Calibri</vt:lpstr>
      <vt:lpstr>Courier New</vt:lpstr>
      <vt:lpstr>Arial</vt:lpstr>
      <vt:lpstr>Calibri Light</vt:lpstr>
      <vt:lpstr>Times New Roman</vt:lpstr>
      <vt:lpstr>Roboto</vt:lpstr>
      <vt:lpstr>Roboto Slab</vt:lpstr>
      <vt:lpstr>Consolas</vt:lpstr>
      <vt:lpstr>Tema de Office</vt:lpstr>
      <vt:lpstr>Sistemas Operativos</vt:lpstr>
      <vt:lpstr>Virtualización de memoria</vt:lpstr>
      <vt:lpstr>Address Translation - Mapeo</vt:lpstr>
      <vt:lpstr>Memory Management Unit (MMU)</vt:lpstr>
      <vt:lpstr>Traducción de direcciones – Dynamic Relocation (Base &amp; Bounds)</vt:lpstr>
      <vt:lpstr>Traducción de direcciones – Dynamic Relocation (Base &amp; Bounds)</vt:lpstr>
      <vt:lpstr>Traducción de direcciones – Segmentation</vt:lpstr>
      <vt:lpstr>Traducción de direcciones – Segmentation</vt:lpstr>
      <vt:lpstr>Traducción de direcciones – Segmentation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Paginación</vt:lpstr>
      <vt:lpstr>Traducción de direcciones – Trazas de memoria</vt:lpstr>
      <vt:lpstr>Traducción de direcciones – Trazas de memoria</vt:lpstr>
      <vt:lpstr>Traducción de direcciones – Trazas de memoria</vt:lpstr>
      <vt:lpstr>Contextualización</vt:lpstr>
      <vt:lpstr>TLB (Translation Lookaside Buffer)</vt:lpstr>
      <vt:lpstr>TLB (Translation Lookaside Buffer)</vt:lpstr>
      <vt:lpstr>TLB (Translation Lookaside Buffer)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Address Translation usando TLB</vt:lpstr>
      <vt:lpstr>¿Quién maneja las TLB Miss?</vt:lpstr>
      <vt:lpstr>¿Quién maneja las TLB Miss?</vt:lpstr>
      <vt:lpstr>¿Quién maneja las TLB Miss?</vt:lpstr>
      <vt:lpstr>Contenido de una entrada TLB</vt:lpstr>
      <vt:lpstr>Contenido de una entrada TLB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TLB y Context switch</vt:lpstr>
      <vt:lpstr>Políticas de reemplazo</vt:lpstr>
      <vt:lpstr>Políticas de reemplazo</vt:lpstr>
      <vt:lpstr>Políticas de reemplazo</vt:lpstr>
      <vt:lpstr>Políticas de reemplazo</vt:lpstr>
      <vt:lpstr>Políticas de reemplazo</vt:lpstr>
      <vt:lpstr>Políticas de reemplazo</vt:lpstr>
      <vt:lpstr>Entrada TLB real - caso MIPS</vt:lpstr>
      <vt:lpstr>Entrada TLB real - caso MIPS</vt:lpstr>
      <vt:lpstr>Entrada TLB real - caso MIPS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23</cp:revision>
  <dcterms:modified xsi:type="dcterms:W3CDTF">2026-04-14T04:18:13Z</dcterms:modified>
</cp:coreProperties>
</file>