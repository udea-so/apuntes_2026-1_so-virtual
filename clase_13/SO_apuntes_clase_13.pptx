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56"/>
  </p:notesMasterIdLst>
  <p:sldIdLst>
    <p:sldId id="256" r:id="rId2"/>
    <p:sldId id="349" r:id="rId3"/>
    <p:sldId id="350" r:id="rId4"/>
    <p:sldId id="395" r:id="rId5"/>
    <p:sldId id="396" r:id="rId6"/>
    <p:sldId id="397" r:id="rId7"/>
    <p:sldId id="398" r:id="rId8"/>
    <p:sldId id="399" r:id="rId9"/>
    <p:sldId id="400" r:id="rId10"/>
    <p:sldId id="402" r:id="rId11"/>
    <p:sldId id="403" r:id="rId12"/>
    <p:sldId id="404" r:id="rId13"/>
    <p:sldId id="405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8" r:id="rId22"/>
    <p:sldId id="280" r:id="rId23"/>
    <p:sldId id="281" r:id="rId24"/>
    <p:sldId id="282" r:id="rId25"/>
    <p:sldId id="283" r:id="rId26"/>
    <p:sldId id="284" r:id="rId27"/>
    <p:sldId id="286" r:id="rId28"/>
    <p:sldId id="287" r:id="rId29"/>
    <p:sldId id="288" r:id="rId30"/>
    <p:sldId id="289" r:id="rId31"/>
    <p:sldId id="290" r:id="rId32"/>
    <p:sldId id="291" r:id="rId33"/>
    <p:sldId id="293" r:id="rId34"/>
    <p:sldId id="294" r:id="rId35"/>
    <p:sldId id="295" r:id="rId36"/>
    <p:sldId id="296" r:id="rId37"/>
    <p:sldId id="297" r:id="rId38"/>
    <p:sldId id="298" r:id="rId39"/>
    <p:sldId id="300" r:id="rId40"/>
    <p:sldId id="301" r:id="rId41"/>
    <p:sldId id="302" r:id="rId42"/>
    <p:sldId id="303" r:id="rId43"/>
    <p:sldId id="304" r:id="rId44"/>
    <p:sldId id="305" r:id="rId45"/>
    <p:sldId id="307" r:id="rId46"/>
    <p:sldId id="308" r:id="rId47"/>
    <p:sldId id="309" r:id="rId48"/>
    <p:sldId id="310" r:id="rId49"/>
    <p:sldId id="311" r:id="rId50"/>
    <p:sldId id="312" r:id="rId51"/>
    <p:sldId id="313" r:id="rId52"/>
    <p:sldId id="315" r:id="rId53"/>
    <p:sldId id="316" r:id="rId54"/>
    <p:sldId id="317" r:id="rId55"/>
  </p:sldIdLst>
  <p:sldSz cx="12192000" cy="6858000"/>
  <p:notesSz cx="6858000" cy="9144000"/>
  <p:embeddedFontLst>
    <p:embeddedFont>
      <p:font typeface="Calibri" panose="020F0502020204030204" pitchFamily="34" charset="0"/>
      <p:regular r:id="rId57"/>
      <p:bold r:id="rId58"/>
      <p:italic r:id="rId59"/>
      <p:boldItalic r:id="rId60"/>
    </p:embeddedFont>
    <p:embeddedFont>
      <p:font typeface="Calibri Light" panose="020F0302020204030204" pitchFamily="34" charset="0"/>
      <p:regular r:id="rId61"/>
      <p:italic r:id="rId62"/>
    </p:embeddedFont>
    <p:embeddedFont>
      <p:font typeface="Cambria Math" panose="02040503050406030204" pitchFamily="18" charset="0"/>
      <p:regular r:id="rId63"/>
    </p:embeddedFont>
    <p:embeddedFont>
      <p:font typeface="Consolas" panose="020B0609020204030204" pitchFamily="49" charset="0"/>
      <p:regular r:id="rId64"/>
      <p:bold r:id="rId65"/>
      <p:italic r:id="rId66"/>
      <p:boldItalic r:id="rId67"/>
    </p:embeddedFont>
    <p:embeddedFont>
      <p:font typeface="Roboto" panose="02000000000000000000" pitchFamily="2" charset="0"/>
      <p:regular r:id="rId68"/>
      <p:bold r:id="rId69"/>
      <p:italic r:id="rId70"/>
      <p:boldItalic r:id="rId71"/>
    </p:embeddedFont>
    <p:embeddedFont>
      <p:font typeface="Roboto Slab" panose="020B0604020202020204" charset="0"/>
      <p:regular r:id="rId72"/>
      <p:bold r:id="rId73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66A2E93-5121-40D1-B61B-F19DAAD5E98B}">
  <a:tblStyle styleId="{F66A2E93-5121-40D1-B61B-F19DAAD5E98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931F8EA-094C-4022-B5A3-1638E5F4CCC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7.fntdata"/><Relationship Id="rId68" Type="http://schemas.openxmlformats.org/officeDocument/2006/relationships/font" Target="fonts/font12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2.fntdata"/><Relationship Id="rId66" Type="http://schemas.openxmlformats.org/officeDocument/2006/relationships/font" Target="fonts/font10.fntdata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font" Target="fonts/font5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64" Type="http://schemas.openxmlformats.org/officeDocument/2006/relationships/font" Target="fonts/font8.fntdata"/><Relationship Id="rId69" Type="http://schemas.openxmlformats.org/officeDocument/2006/relationships/font" Target="fonts/font13.fntdata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3.fntdata"/><Relationship Id="rId67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6.fntdata"/><Relationship Id="rId70" Type="http://schemas.openxmlformats.org/officeDocument/2006/relationships/font" Target="fonts/font14.fntdata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4.fntdata"/><Relationship Id="rId65" Type="http://schemas.openxmlformats.org/officeDocument/2006/relationships/font" Target="fonts/font9.fntdata"/><Relationship Id="rId73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font" Target="fonts/font15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78358aba08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78358aba08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3e980eb33d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" name="Google Shape;304;g13e980eb33d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0e655267c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" name="Google Shape;312;g10e655267c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148dd72d00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148dd72d00_1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15265ae9e1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15265ae9e1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148dd72d00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148dd72d00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172ea73a71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172ea73a71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172ea73a71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1172ea73a71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172ea73a71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1172ea73a71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0e655267c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" name="Google Shape;266;g10e655267c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15265ae9e1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g115265ae9e1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115265ae9e1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" name="Google Shape;303;g115265ae9e1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1148dd72d00_1_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g1148dd72d00_1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1172ea73a71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" name="Google Shape;326;g1172ea73a71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148dd72d00_1_3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" name="Google Shape;338;g1148dd72d00_1_3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1172ea73a71_0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7" name="Google Shape;347;g1172ea73a71_0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1172ea73a71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" name="Google Shape;354;g1172ea73a71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172ea73a71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" name="Google Shape;385;g1172ea73a71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1172ea73a71_0_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g1172ea73a71_0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1172ea73a71_0_3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" name="Google Shape;408;g1172ea73a71_0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10411c0b8ff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10411c0b8ff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10e4de43856_0_9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5" name="Google Shape;435;g10e4de43856_0_9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1172ea73a71_0_3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3" name="Google Shape;443;g1172ea73a71_0_3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172ea73a71_0_3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53" name="Google Shape;453;g1172ea73a71_0_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113212c29bb_0_7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72" name="Google Shape;472;g113212c29bb_0_7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172ea73a71_0_4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490" name="Google Shape;490;g1172ea73a71_0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10e4de43856_0_10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10e4de43856_0_10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11359daf871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11359daf871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114975471eb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114975471eb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114975471eb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114975471eb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114975471eb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114975471eb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114975471eb_0_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114975471eb_0_3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115c7f9ec68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8" name="Google Shape;588;g115c7f9ec68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114975471eb_0_3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5" name="Google Shape;595;g114975471eb_0_3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114975471eb_0_4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6" name="Google Shape;606;g114975471eb_0_4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115c7f9ec68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0" name="Google Shape;630;g115c7f9ec68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114ae551f2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9" name="Google Shape;639;g114ae551f2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1172ea73a71_0_5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9" name="Google Shape;659;g1172ea73a71_0_5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10e4de43856_0_9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10e4de43856_0_9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115c7f9ec68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115c7f9ec68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1172ea73a71_0_5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1172ea73a71_0_5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114ae551f2c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114ae551f2c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114ae551f2c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114ae551f2c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1172ea73a71_0_5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1172ea73a71_0_5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1172ea73a71_0_6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48" name="Google Shape;748;g1172ea73a71_0_6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1172ea73a71_0_6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54" name="Google Shape;754;g1172ea73a71_0_6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1172ea73a71_0_6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61" name="Google Shape;761;g1172ea73a71_0_6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1172ea73a71_0_6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69" name="Google Shape;769;g1172ea73a71_0_6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1172ea73a71_0_6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76" name="Google Shape;776;g1172ea73a71_0_6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1172ea73a71_0_6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84" name="Google Shape;784;g1172ea73a71_0_6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1172ea73a71_0_6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90" name="Google Shape;790;g1172ea73a71_0_6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1172ea73a71_0_6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1172ea73a71_0_6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115c7f9ec68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115c7f9ec68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114ae551f2c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6" name="Google Shape;816;g114ae551f2c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54EFC6-2F92-4E13-B961-A63A460793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6F2C6D-CAFB-44D8-9D3D-F5A367BA19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F026EC-B5D6-4D83-A457-01DAE0EA9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191B12-6E98-4529-8DFE-C63E15B2C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0FC392-DBA9-4D32-93B1-DF4E5BB1A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8102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5FF4AE-CAC7-4BBF-AE34-C379EC15E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83AA2B-92AE-42A5-BCF6-E98BDE358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082BFE-1D32-4479-83ED-A11083042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F20778-84C0-4301-A4E0-10F9266DF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9CCB08-11A5-48C7-93D0-9383D622F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4745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94BA23-0AB4-4AC3-93DC-F53881019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9929E9-AF43-4475-9794-9B572F85C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50D247-5A16-4ED9-905C-B541C172A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6C9789-EE70-48D0-BC42-A6F6D7E34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D6E942-C7E5-4333-BDF7-15CF95F1A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4204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938B16-3F67-406F-8896-C5A869B85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60E17A-AD41-4672-9C99-944730E378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28A3F05-AEEE-48F9-8760-BA226C2BF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840793A-4279-4444-93A4-9043D37A4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303B0D4-543E-46DA-BE81-54D2A4EA1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E875236-A285-4F7E-B2AA-02F956A1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0090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5C3896-951A-4DB9-8E22-DACD3A717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2C3865-E925-430F-BBFE-7CCF8668A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E5588A4-4D2B-4258-A424-4AB644D24D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2518C85-5630-41BD-B5C7-0BE9B5CE96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7DF6C0B-3AF4-431B-8284-6CE72DCB17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4BDE952-7D99-4D51-B797-4DF6129DE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EB417C5-DA3D-446E-B651-152F4B987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6B7A783-CBCE-4D23-82A1-495BE8FAB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4238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12725F-C606-4002-81BA-57D4D40EF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6311ACD-59CB-473D-A95A-770B983BE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40A660C-36A3-45CD-8C5C-1ED4EEA51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17ED5B6-B4E1-43CC-9237-973602CE8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03594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D2DC51D-11D6-4E6C-A274-1502ED2A1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E48D94D-B572-4A3F-A07D-B3E7CA38C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13177E2-88CE-4061-A1E2-64D4BF5B9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3681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24E2D6-30D3-4D7C-92E0-7BD982CE8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2F63FE-F153-44EC-8B3F-9AB705E80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B53B2D7-2EBB-4DF4-85BE-E6F6C8A1D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06675FD-5EDC-4BA5-89E6-5527FDA7B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DDFFFF-DED3-443F-AF70-AE8622667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51918A-4D8E-49A8-AED4-7E4D11032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2096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C07736-A43F-4823-A3D8-27A558EB1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A95A70B-4C45-4A90-927B-891E93A1B9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81C756-EC01-425F-81C9-E0CCFAD04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58AC5BF-EEBA-470C-9C6F-522C81E94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1E409BB-9B3B-4F69-8C28-47570F129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40C99D3-07A0-4E76-9435-F682D02AF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742949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48ACD2-83F5-4E65-9816-AB21E7D4E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68C3005-8107-477C-A680-E897E310A3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CBF435-23E7-497A-9ADC-36BE59324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11B139-777A-4BC1-9C85-71598B28B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7BD15A-E716-4D55-B413-340CDF05A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0687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60A9933-DFFE-4FED-9733-EBC96A6A15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6F4986F-5D3E-4A01-A65E-23B40E95A0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D6847E-AC2C-4D4E-8FD1-1B163A985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A50FCC-0956-4A29-BB7C-AC033763C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575AB2-90A3-4094-85A8-397A869CC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2437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">
  <p:cSld name="UdeA-Nueva 1 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8CC63E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790400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">
  <p:cSld name="UdeA-Nueva 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8A02B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204075" y="62974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48616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93098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 1">
  <p:cSld name="UdeA-Nueva 1 1 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701E5C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0228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195C28F-71F9-496E-A52E-B0A9C891B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F544CEF-7090-4EF7-ABC2-01FDE5987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C934C1-DE25-48B2-9A9C-F22C174704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529388-65E5-4496-A9AF-B22A7AC842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A2886E-44BF-4964-9363-44A3C2C64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1832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youtube.com/watch?v=p3q5zWCw8J4&amp;t=3s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L%C3%A1szl%C3%B3_B%C3%A9l%C3%A1dy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ache_replacement_policies#B%C3%A9l%C3%A1dy's_Anomaly_in_Page_Replacement_Algorithms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8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0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hyperlink" Target="https://myaut.github.io/dtrace-stap-book/kernel/proc.html" TargetMode="External"/><Relationship Id="rId13" Type="http://schemas.openxmlformats.org/officeDocument/2006/relationships/hyperlink" Target="http://csl.snu.ac.kr/courses/4190.307/2020-1/" TargetMode="External"/><Relationship Id="rId18" Type="http://schemas.openxmlformats.org/officeDocument/2006/relationships/hyperlink" Target="https://applied-programming.github.io/Operating-Systems-Notes/5-Memory-Management/" TargetMode="External"/><Relationship Id="rId3" Type="http://schemas.openxmlformats.org/officeDocument/2006/relationships/hyperlink" Target="http://pages.cs.wisc.edu/~remzi/" TargetMode="External"/><Relationship Id="rId7" Type="http://schemas.openxmlformats.org/officeDocument/2006/relationships/hyperlink" Target="https://github.com/Aniruddha-Tapas/Operating-Systems-Notes/blob/master/1-Overview.md" TargetMode="External"/><Relationship Id="rId12" Type="http://schemas.openxmlformats.org/officeDocument/2006/relationships/hyperlink" Target="https://courses.cs.duke.edu/spring19/compsci590.1/slides/" TargetMode="External"/><Relationship Id="rId17" Type="http://schemas.openxmlformats.org/officeDocument/2006/relationships/hyperlink" Target="https://github.com/Aniruddha-Tapas/Operating-Systems-Notes/blob/master/5-Memory-Management.md" TargetMode="External"/><Relationship Id="rId2" Type="http://schemas.openxmlformats.org/officeDocument/2006/relationships/notesSlide" Target="../notesSlides/notesSlide53.xml"/><Relationship Id="rId16" Type="http://schemas.openxmlformats.org/officeDocument/2006/relationships/hyperlink" Target="https://flint.cs.yale.edu/cs421/papers/x86-asm/asm.html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://web.eecs.utk.edu/~mbeck/classes/cs560/560/oldtests/t2/2003/Answers.html" TargetMode="External"/><Relationship Id="rId11" Type="http://schemas.openxmlformats.org/officeDocument/2006/relationships/hyperlink" Target="http://www.it.uu.se/education/course/homepage/os/vt18/module-4/simple-threads/" TargetMode="External"/><Relationship Id="rId5" Type="http://schemas.openxmlformats.org/officeDocument/2006/relationships/hyperlink" Target="https://applied-programming.github.io/Operating-Systems-Notes/" TargetMode="External"/><Relationship Id="rId15" Type="http://schemas.openxmlformats.org/officeDocument/2006/relationships/hyperlink" Target="https://www.scs.stanford.edu/22wi-cs212/" TargetMode="External"/><Relationship Id="rId10" Type="http://schemas.openxmlformats.org/officeDocument/2006/relationships/hyperlink" Target="https://www.technologyuk.net/computing/computer-software/operating-systems/operating-system-utilities.shtml" TargetMode="External"/><Relationship Id="rId4" Type="http://schemas.openxmlformats.org/officeDocument/2006/relationships/hyperlink" Target="https://www.os-book.com/OS10/index.html" TargetMode="External"/><Relationship Id="rId9" Type="http://schemas.openxmlformats.org/officeDocument/2006/relationships/hyperlink" Target="https://myaut.github.io/dtrace-stap-book/index.html" TargetMode="External"/><Relationship Id="rId14" Type="http://schemas.openxmlformats.org/officeDocument/2006/relationships/hyperlink" Target="http://pages.cs.wisc.edu/~bart/537/lecturenotes/titlepage.html" TargetMode="Externa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hyperlink" Target="https://emeryberger.com/teaching/grad-systems/" TargetMode="External"/><Relationship Id="rId3" Type="http://schemas.openxmlformats.org/officeDocument/2006/relationships/hyperlink" Target="https://csapp.cs.cmu.edu/" TargetMode="External"/><Relationship Id="rId7" Type="http://schemas.openxmlformats.org/officeDocument/2006/relationships/hyperlink" Target="https://courses.engr.illinois.edu/cs241/sp2014/" TargetMode="Externa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eb.eecs.umich.edu/~akamil/teaching/sp04/" TargetMode="External"/><Relationship Id="rId5" Type="http://schemas.openxmlformats.org/officeDocument/2006/relationships/hyperlink" Target="http://www.cs.cmu.edu/~213/" TargetMode="External"/><Relationship Id="rId10" Type="http://schemas.openxmlformats.org/officeDocument/2006/relationships/hyperlink" Target="https://oslab.kaist.ac.kr/ee488-fall-2020/" TargetMode="External"/><Relationship Id="rId4" Type="http://schemas.openxmlformats.org/officeDocument/2006/relationships/hyperlink" Target="https://applied-programming.github.io/Operating-Systems-Notes/5-Memory-Management/" TargetMode="External"/><Relationship Id="rId9" Type="http://schemas.openxmlformats.org/officeDocument/2006/relationships/hyperlink" Target="https://oslab.kaist.ac.kr/coursewar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>
            <a:spLocks noGrp="1"/>
          </p:cNvSpPr>
          <p:nvPr>
            <p:ph type="ctrTitle"/>
          </p:nvPr>
        </p:nvSpPr>
        <p:spPr>
          <a:xfrm>
            <a:off x="408724" y="2964875"/>
            <a:ext cx="11330991" cy="922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Slab"/>
              <a:buNone/>
            </a:pPr>
            <a:r>
              <a:rPr lang="es-ES" b="1" dirty="0"/>
              <a:t>Sistemas Operativos</a:t>
            </a:r>
            <a:endParaRPr sz="3200" dirty="0"/>
          </a:p>
        </p:txBody>
      </p:sp>
      <p:sp>
        <p:nvSpPr>
          <p:cNvPr id="140" name="Google Shape;140;p17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3200" b="1" dirty="0"/>
              <a:t>Clase</a:t>
            </a:r>
            <a:r>
              <a:rPr lang="es-ES" sz="3200" b="1" dirty="0">
                <a:ea typeface="Roboto"/>
                <a:cs typeface="Roboto"/>
                <a:sym typeface="Roboto"/>
              </a:rPr>
              <a:t> 13 – Swapping Policies</a:t>
            </a: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/>
              <a:t>28/04/2026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5"/>
          <p:cNvSpPr txBox="1">
            <a:spLocks noGrp="1"/>
          </p:cNvSpPr>
          <p:nvPr>
            <p:ph type="title"/>
          </p:nvPr>
        </p:nvSpPr>
        <p:spPr>
          <a:xfrm>
            <a:off x="355650" y="96038"/>
            <a:ext cx="8865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Jerarquía de memoria</a:t>
            </a:r>
            <a:endParaRPr dirty="0">
              <a:latin typeface="+mj-lt"/>
            </a:endParaRPr>
          </a:p>
        </p:txBody>
      </p:sp>
      <p:sp>
        <p:nvSpPr>
          <p:cNvPr id="307" name="Google Shape;307;p25"/>
          <p:cNvSpPr txBox="1">
            <a:spLocks noGrp="1"/>
          </p:cNvSpPr>
          <p:nvPr>
            <p:ph type="body" idx="1"/>
          </p:nvPr>
        </p:nvSpPr>
        <p:spPr>
          <a:xfrm>
            <a:off x="355650" y="835600"/>
            <a:ext cx="11480700" cy="72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Jerarquía de memoria en un sistema moderno</a:t>
            </a: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pic>
        <p:nvPicPr>
          <p:cNvPr id="308" name="Google Shape;30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0175" y="1558300"/>
            <a:ext cx="7751650" cy="434092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5"/>
          <p:cNvSpPr txBox="1"/>
          <p:nvPr/>
        </p:nvSpPr>
        <p:spPr>
          <a:xfrm>
            <a:off x="2375400" y="6033325"/>
            <a:ext cx="7394400" cy="589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000" b="1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How</a:t>
            </a: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000" b="1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computer</a:t>
            </a: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000" b="1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memory</a:t>
            </a: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000" b="1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works</a:t>
            </a: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- </a:t>
            </a:r>
            <a:r>
              <a:rPr lang="es-ES" sz="2000" b="1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Kanawat</a:t>
            </a: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000" b="1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Senanan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(</a:t>
            </a:r>
            <a:r>
              <a:rPr lang="es-ES" sz="2000" u="sng" dirty="0">
                <a:solidFill>
                  <a:schemeClr val="hlink"/>
                </a:solidFill>
                <a:ea typeface="Roboto"/>
                <a:cs typeface="Roboto"/>
                <a:sym typeface="Roboto"/>
                <a:hlinkClick r:id="rId4"/>
              </a:rPr>
              <a:t>link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6"/>
          <p:cNvSpPr txBox="1">
            <a:spLocks noGrp="1"/>
          </p:cNvSpPr>
          <p:nvPr>
            <p:ph type="title"/>
          </p:nvPr>
        </p:nvSpPr>
        <p:spPr>
          <a:xfrm>
            <a:off x="478971" y="96038"/>
            <a:ext cx="874167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Jerarquía de memoria</a:t>
            </a:r>
            <a:endParaRPr dirty="0">
              <a:latin typeface="+mj-lt"/>
            </a:endParaRPr>
          </a:p>
        </p:txBody>
      </p:sp>
      <p:sp>
        <p:nvSpPr>
          <p:cNvPr id="315" name="Google Shape;315;p26"/>
          <p:cNvSpPr txBox="1">
            <a:spLocks noGrp="1"/>
          </p:cNvSpPr>
          <p:nvPr>
            <p:ph type="body" idx="1"/>
          </p:nvPr>
        </p:nvSpPr>
        <p:spPr>
          <a:xfrm>
            <a:off x="478971" y="835600"/>
            <a:ext cx="11357379" cy="72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Jerarquía de memoria en un sistema moderno</a:t>
            </a: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316" name="Google Shape;316;p26"/>
          <p:cNvGrpSpPr/>
          <p:nvPr/>
        </p:nvGrpSpPr>
        <p:grpSpPr>
          <a:xfrm>
            <a:off x="6740450" y="1982650"/>
            <a:ext cx="4796700" cy="4008000"/>
            <a:chOff x="6740450" y="1982650"/>
            <a:chExt cx="4796700" cy="4008000"/>
          </a:xfrm>
        </p:grpSpPr>
        <p:grpSp>
          <p:nvGrpSpPr>
            <p:cNvPr id="317" name="Google Shape;317;p26"/>
            <p:cNvGrpSpPr/>
            <p:nvPr/>
          </p:nvGrpSpPr>
          <p:grpSpPr>
            <a:xfrm>
              <a:off x="6740450" y="1982650"/>
              <a:ext cx="4796700" cy="4008000"/>
              <a:chOff x="6753175" y="1880850"/>
              <a:chExt cx="4796700" cy="4008000"/>
            </a:xfrm>
          </p:grpSpPr>
          <p:sp>
            <p:nvSpPr>
              <p:cNvPr id="318" name="Google Shape;318;p26"/>
              <p:cNvSpPr/>
              <p:nvPr/>
            </p:nvSpPr>
            <p:spPr>
              <a:xfrm>
                <a:off x="6753175" y="1880850"/>
                <a:ext cx="4796700" cy="4008000"/>
              </a:xfrm>
              <a:prstGeom prst="triangle">
                <a:avLst>
                  <a:gd name="adj" fmla="val 49814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19" name="Google Shape;319;p26"/>
              <p:cNvCxnSpPr/>
              <p:nvPr/>
            </p:nvCxnSpPr>
            <p:spPr>
              <a:xfrm rot="10800000" flipH="1">
                <a:off x="8460425" y="3026800"/>
                <a:ext cx="1371000" cy="9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0" name="Google Shape;320;p26"/>
              <p:cNvCxnSpPr>
                <a:stCxn id="318" idx="1"/>
                <a:endCxn id="318" idx="5"/>
              </p:cNvCxnSpPr>
              <p:nvPr/>
            </p:nvCxnSpPr>
            <p:spPr>
              <a:xfrm>
                <a:off x="7947889" y="3884850"/>
                <a:ext cx="2398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1" name="Google Shape;321;p26"/>
              <p:cNvCxnSpPr/>
              <p:nvPr/>
            </p:nvCxnSpPr>
            <p:spPr>
              <a:xfrm rot="10800000" flipH="1">
                <a:off x="7398000" y="4820750"/>
                <a:ext cx="3510000" cy="3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322" name="Google Shape;322;p26"/>
            <p:cNvSpPr/>
            <p:nvPr/>
          </p:nvSpPr>
          <p:spPr>
            <a:xfrm>
              <a:off x="8591600" y="2494199"/>
              <a:ext cx="1094400" cy="5572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>
                  <a:latin typeface="Consolas"/>
                  <a:ea typeface="Consolas"/>
                  <a:cs typeface="Consolas"/>
                  <a:sym typeface="Consolas"/>
                </a:rPr>
                <a:t>CPU </a:t>
              </a:r>
              <a:endParaRPr sz="1400" b="1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 err="1">
                  <a:latin typeface="Consolas"/>
                  <a:ea typeface="Consolas"/>
                  <a:cs typeface="Consolas"/>
                  <a:sym typeface="Consolas"/>
                </a:rPr>
                <a:t>Registers</a:t>
              </a:r>
              <a:endParaRPr sz="1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23" name="Google Shape;323;p26"/>
            <p:cNvSpPr/>
            <p:nvPr/>
          </p:nvSpPr>
          <p:spPr>
            <a:xfrm>
              <a:off x="8591600" y="3407375"/>
              <a:ext cx="1094400" cy="43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>
                  <a:latin typeface="Consolas"/>
                  <a:ea typeface="Consolas"/>
                  <a:cs typeface="Consolas"/>
                  <a:sym typeface="Consolas"/>
                </a:rPr>
                <a:t>Cache</a:t>
              </a:r>
              <a:endParaRPr sz="1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24" name="Google Shape;324;p26"/>
            <p:cNvSpPr/>
            <p:nvPr/>
          </p:nvSpPr>
          <p:spPr>
            <a:xfrm>
              <a:off x="8591600" y="4297750"/>
              <a:ext cx="1094400" cy="43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 err="1"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r>
                <a:rPr lang="es-ES" sz="1600" b="1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b="1" dirty="0" err="1">
                  <a:latin typeface="Consolas"/>
                  <a:ea typeface="Consolas"/>
                  <a:cs typeface="Consolas"/>
                  <a:sym typeface="Consolas"/>
                </a:rPr>
                <a:t>memory</a:t>
              </a:r>
              <a:endParaRPr sz="16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25" name="Google Shape;325;p26"/>
            <p:cNvSpPr/>
            <p:nvPr/>
          </p:nvSpPr>
          <p:spPr>
            <a:xfrm>
              <a:off x="7637450" y="5328100"/>
              <a:ext cx="3002700" cy="43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 err="1">
                  <a:latin typeface="Consolas"/>
                  <a:ea typeface="Consolas"/>
                  <a:cs typeface="Consolas"/>
                  <a:sym typeface="Consolas"/>
                </a:rPr>
                <a:t>Mass</a:t>
              </a:r>
              <a:r>
                <a:rPr lang="es-ES" sz="1400" b="1" dirty="0">
                  <a:latin typeface="Consolas"/>
                  <a:ea typeface="Consolas"/>
                  <a:cs typeface="Consolas"/>
                  <a:sym typeface="Consolas"/>
                </a:rPr>
                <a:t> Storage</a:t>
              </a:r>
              <a:endParaRPr sz="1400" b="1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400" b="1" dirty="0" err="1">
                  <a:latin typeface="Consolas"/>
                  <a:ea typeface="Consolas"/>
                  <a:cs typeface="Consolas"/>
                  <a:sym typeface="Consolas"/>
                </a:rPr>
                <a:t>hard</a:t>
              </a:r>
              <a:r>
                <a:rPr lang="es-ES" sz="1400" b="1" dirty="0">
                  <a:latin typeface="Consolas"/>
                  <a:ea typeface="Consolas"/>
                  <a:cs typeface="Consolas"/>
                  <a:sym typeface="Consolas"/>
                </a:rPr>
                <a:t> disk, tape, etc.)</a:t>
              </a:r>
              <a:endParaRPr sz="1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26" name="Google Shape;326;p26"/>
          <p:cNvGrpSpPr/>
          <p:nvPr/>
        </p:nvGrpSpPr>
        <p:grpSpPr>
          <a:xfrm>
            <a:off x="6600525" y="2593075"/>
            <a:ext cx="941625" cy="2430300"/>
            <a:chOff x="6422400" y="2529750"/>
            <a:chExt cx="941625" cy="2430300"/>
          </a:xfrm>
        </p:grpSpPr>
        <p:cxnSp>
          <p:nvCxnSpPr>
            <p:cNvPr id="327" name="Google Shape;327;p26"/>
            <p:cNvCxnSpPr/>
            <p:nvPr/>
          </p:nvCxnSpPr>
          <p:spPr>
            <a:xfrm>
              <a:off x="6422400" y="2529750"/>
              <a:ext cx="12600" cy="2430300"/>
            </a:xfrm>
            <a:prstGeom prst="straightConnector1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28" name="Google Shape;328;p26"/>
            <p:cNvSpPr/>
            <p:nvPr/>
          </p:nvSpPr>
          <p:spPr>
            <a:xfrm>
              <a:off x="6491925" y="3445275"/>
              <a:ext cx="872100" cy="43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Size</a:t>
              </a:r>
              <a:endParaRPr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29" name="Google Shape;329;p26"/>
          <p:cNvGrpSpPr/>
          <p:nvPr/>
        </p:nvGrpSpPr>
        <p:grpSpPr>
          <a:xfrm>
            <a:off x="10779375" y="2593075"/>
            <a:ext cx="884700" cy="2430300"/>
            <a:chOff x="10779375" y="2593075"/>
            <a:chExt cx="884700" cy="2430300"/>
          </a:xfrm>
        </p:grpSpPr>
        <p:cxnSp>
          <p:nvCxnSpPr>
            <p:cNvPr id="330" name="Google Shape;330;p26"/>
            <p:cNvCxnSpPr/>
            <p:nvPr/>
          </p:nvCxnSpPr>
          <p:spPr>
            <a:xfrm rot="10800000" flipH="1">
              <a:off x="11651475" y="2593075"/>
              <a:ext cx="12600" cy="2430300"/>
            </a:xfrm>
            <a:prstGeom prst="straightConnector1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31" name="Google Shape;331;p26"/>
            <p:cNvSpPr/>
            <p:nvPr/>
          </p:nvSpPr>
          <p:spPr>
            <a:xfrm>
              <a:off x="10779375" y="3212700"/>
              <a:ext cx="872100" cy="43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Speed</a:t>
              </a:r>
              <a:endParaRPr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32" name="Google Shape;332;p26"/>
            <p:cNvSpPr/>
            <p:nvPr/>
          </p:nvSpPr>
          <p:spPr>
            <a:xfrm>
              <a:off x="10779375" y="3770350"/>
              <a:ext cx="872100" cy="43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Cost</a:t>
              </a:r>
              <a:endParaRPr b="1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33" name="Google Shape;333;p26"/>
          <p:cNvGrpSpPr/>
          <p:nvPr/>
        </p:nvGrpSpPr>
        <p:grpSpPr>
          <a:xfrm>
            <a:off x="987992" y="1658822"/>
            <a:ext cx="5066854" cy="5053578"/>
            <a:chOff x="364542" y="1658822"/>
            <a:chExt cx="5066854" cy="5053578"/>
          </a:xfrm>
        </p:grpSpPr>
        <p:grpSp>
          <p:nvGrpSpPr>
            <p:cNvPr id="334" name="Google Shape;334;p26"/>
            <p:cNvGrpSpPr/>
            <p:nvPr/>
          </p:nvGrpSpPr>
          <p:grpSpPr>
            <a:xfrm>
              <a:off x="2529417" y="1658822"/>
              <a:ext cx="872091" cy="949515"/>
              <a:chOff x="9436950" y="1528650"/>
              <a:chExt cx="1049700" cy="1050000"/>
            </a:xfrm>
          </p:grpSpPr>
          <p:sp>
            <p:nvSpPr>
              <p:cNvPr id="335" name="Google Shape;335;p26"/>
              <p:cNvSpPr/>
              <p:nvPr/>
            </p:nvSpPr>
            <p:spPr>
              <a:xfrm>
                <a:off x="9436950" y="1528650"/>
                <a:ext cx="1049700" cy="1050000"/>
              </a:xfrm>
              <a:prstGeom prst="rect">
                <a:avLst/>
              </a:prstGeom>
              <a:solidFill>
                <a:srgbClr val="FFF2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sz="16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grpSp>
            <p:nvGrpSpPr>
              <p:cNvPr id="336" name="Google Shape;336;p26"/>
              <p:cNvGrpSpPr/>
              <p:nvPr/>
            </p:nvGrpSpPr>
            <p:grpSpPr>
              <a:xfrm>
                <a:off x="9632650" y="1910875"/>
                <a:ext cx="653850" cy="483000"/>
                <a:chOff x="9281900" y="3440875"/>
                <a:chExt cx="653850" cy="483000"/>
              </a:xfrm>
            </p:grpSpPr>
            <p:sp>
              <p:nvSpPr>
                <p:cNvPr id="337" name="Google Shape;337;p26"/>
                <p:cNvSpPr/>
                <p:nvPr/>
              </p:nvSpPr>
              <p:spPr>
                <a:xfrm>
                  <a:off x="9285200" y="3440875"/>
                  <a:ext cx="648900" cy="4830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338" name="Google Shape;338;p26"/>
                <p:cNvCxnSpPr/>
                <p:nvPr/>
              </p:nvCxnSpPr>
              <p:spPr>
                <a:xfrm>
                  <a:off x="9281900" y="3535800"/>
                  <a:ext cx="652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9" name="Google Shape;339;p26"/>
                <p:cNvCxnSpPr/>
                <p:nvPr/>
              </p:nvCxnSpPr>
              <p:spPr>
                <a:xfrm>
                  <a:off x="9283550" y="3627775"/>
                  <a:ext cx="652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0" name="Google Shape;340;p26"/>
                <p:cNvCxnSpPr/>
                <p:nvPr/>
              </p:nvCxnSpPr>
              <p:spPr>
                <a:xfrm>
                  <a:off x="9283550" y="3729300"/>
                  <a:ext cx="652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1" name="Google Shape;341;p26"/>
                <p:cNvCxnSpPr/>
                <p:nvPr/>
              </p:nvCxnSpPr>
              <p:spPr>
                <a:xfrm>
                  <a:off x="9283550" y="3827625"/>
                  <a:ext cx="652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342" name="Google Shape;342;p26"/>
            <p:cNvGrpSpPr/>
            <p:nvPr/>
          </p:nvGrpSpPr>
          <p:grpSpPr>
            <a:xfrm>
              <a:off x="1956651" y="2986998"/>
              <a:ext cx="1883550" cy="884004"/>
              <a:chOff x="8880000" y="3399000"/>
              <a:chExt cx="2745300" cy="1357500"/>
            </a:xfrm>
          </p:grpSpPr>
          <p:sp>
            <p:nvSpPr>
              <p:cNvPr id="343" name="Google Shape;343;p26"/>
              <p:cNvSpPr/>
              <p:nvPr/>
            </p:nvSpPr>
            <p:spPr>
              <a:xfrm>
                <a:off x="8880000" y="3399000"/>
                <a:ext cx="2745300" cy="1357500"/>
              </a:xfrm>
              <a:prstGeom prst="rect">
                <a:avLst/>
              </a:prstGeom>
              <a:solidFill>
                <a:srgbClr val="F3F3F3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 err="1">
                    <a:latin typeface="Consolas"/>
                    <a:ea typeface="Consolas"/>
                    <a:cs typeface="Consolas"/>
                    <a:sym typeface="Consolas"/>
                  </a:rPr>
                  <a:t>Main</a:t>
                </a:r>
                <a:r>
                  <a:rPr lang="es-ES" sz="1600" b="1" dirty="0">
                    <a:latin typeface="Consolas"/>
                    <a:ea typeface="Consolas"/>
                    <a:cs typeface="Consolas"/>
                    <a:sym typeface="Consolas"/>
                  </a:rPr>
                  <a:t> Memory</a:t>
                </a:r>
                <a:endParaRPr sz="1600" b="1"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344" name="Google Shape;344;p26"/>
              <p:cNvSpPr/>
              <p:nvPr/>
            </p:nvSpPr>
            <p:spPr>
              <a:xfrm>
                <a:off x="9145200" y="3967375"/>
                <a:ext cx="216300" cy="2418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26"/>
              <p:cNvSpPr/>
              <p:nvPr/>
            </p:nvSpPr>
            <p:spPr>
              <a:xfrm>
                <a:off x="9526650" y="4349075"/>
                <a:ext cx="216300" cy="2418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26"/>
              <p:cNvSpPr/>
              <p:nvPr/>
            </p:nvSpPr>
            <p:spPr>
              <a:xfrm>
                <a:off x="9892000" y="4107275"/>
                <a:ext cx="216300" cy="2418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26"/>
              <p:cNvSpPr/>
              <p:nvPr/>
            </p:nvSpPr>
            <p:spPr>
              <a:xfrm>
                <a:off x="10257350" y="4349075"/>
                <a:ext cx="216300" cy="2418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26"/>
              <p:cNvSpPr/>
              <p:nvPr/>
            </p:nvSpPr>
            <p:spPr>
              <a:xfrm>
                <a:off x="10620038" y="3967375"/>
                <a:ext cx="216300" cy="2418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26"/>
              <p:cNvSpPr/>
              <p:nvPr/>
            </p:nvSpPr>
            <p:spPr>
              <a:xfrm>
                <a:off x="11166875" y="4043375"/>
                <a:ext cx="216300" cy="2418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50" name="Google Shape;350;p26"/>
            <p:cNvSpPr/>
            <p:nvPr/>
          </p:nvSpPr>
          <p:spPr>
            <a:xfrm>
              <a:off x="1467563" y="4300675"/>
              <a:ext cx="2995800" cy="722700"/>
            </a:xfrm>
            <a:prstGeom prst="rect">
              <a:avLst/>
            </a:prstGeom>
            <a:solidFill>
              <a:srgbClr val="FCE5C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latin typeface="Consolas"/>
                  <a:ea typeface="Consolas"/>
                  <a:cs typeface="Consolas"/>
                  <a:sym typeface="Consolas"/>
                </a:rPr>
                <a:t>SSD (Solid State Drive)</a:t>
              </a:r>
              <a:endParaRPr sz="16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351" name="Google Shape;351;p26"/>
            <p:cNvGrpSpPr/>
            <p:nvPr/>
          </p:nvGrpSpPr>
          <p:grpSpPr>
            <a:xfrm>
              <a:off x="2433113" y="5453050"/>
              <a:ext cx="1064725" cy="1259350"/>
              <a:chOff x="1243875" y="5299700"/>
              <a:chExt cx="1064725" cy="1259350"/>
            </a:xfrm>
          </p:grpSpPr>
          <p:sp>
            <p:nvSpPr>
              <p:cNvPr id="352" name="Google Shape;352;p26"/>
              <p:cNvSpPr/>
              <p:nvPr/>
            </p:nvSpPr>
            <p:spPr>
              <a:xfrm>
                <a:off x="1243875" y="6126450"/>
                <a:ext cx="1064700" cy="432600"/>
              </a:xfrm>
              <a:prstGeom prst="ellipse">
                <a:avLst/>
              </a:prstGeom>
              <a:solidFill>
                <a:srgbClr val="D9D2E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26"/>
              <p:cNvSpPr/>
              <p:nvPr/>
            </p:nvSpPr>
            <p:spPr>
              <a:xfrm>
                <a:off x="1243875" y="5532525"/>
                <a:ext cx="1064700" cy="827100"/>
              </a:xfrm>
              <a:prstGeom prst="rect">
                <a:avLst/>
              </a:prstGeom>
              <a:solidFill>
                <a:srgbClr val="D9D2E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1">
                    <a:latin typeface="Consolas"/>
                    <a:ea typeface="Consolas"/>
                    <a:cs typeface="Consolas"/>
                    <a:sym typeface="Consolas"/>
                  </a:rPr>
                  <a:t>Hard </a:t>
                </a:r>
                <a:endParaRPr b="1"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1">
                    <a:latin typeface="Consolas"/>
                    <a:ea typeface="Consolas"/>
                    <a:cs typeface="Consolas"/>
                    <a:sym typeface="Consolas"/>
                  </a:rPr>
                  <a:t>Drive</a:t>
                </a:r>
                <a:endParaRPr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354" name="Google Shape;354;p26"/>
              <p:cNvSpPr/>
              <p:nvPr/>
            </p:nvSpPr>
            <p:spPr>
              <a:xfrm>
                <a:off x="1243900" y="5299700"/>
                <a:ext cx="1064700" cy="432600"/>
              </a:xfrm>
              <a:prstGeom prst="ellipse">
                <a:avLst/>
              </a:prstGeom>
              <a:solidFill>
                <a:srgbClr val="D9D2E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55" name="Google Shape;355;p26"/>
              <p:cNvCxnSpPr/>
              <p:nvPr/>
            </p:nvCxnSpPr>
            <p:spPr>
              <a:xfrm>
                <a:off x="1254550" y="6368200"/>
                <a:ext cx="1043400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D9D2E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356" name="Google Shape;356;p26"/>
            <p:cNvSpPr/>
            <p:nvPr/>
          </p:nvSpPr>
          <p:spPr>
            <a:xfrm rot="-8989418">
              <a:off x="2328436" y="2145360"/>
              <a:ext cx="185095" cy="978845"/>
            </a:xfrm>
            <a:custGeom>
              <a:avLst/>
              <a:gdLst/>
              <a:ahLst/>
              <a:cxnLst/>
              <a:rect l="l" t="t" r="r" b="b"/>
              <a:pathLst>
                <a:path w="22818" h="45296" extrusionOk="0">
                  <a:moveTo>
                    <a:pt x="0" y="0"/>
                  </a:moveTo>
                  <a:cubicBezTo>
                    <a:pt x="1442" y="339"/>
                    <a:pt x="6107" y="932"/>
                    <a:pt x="8652" y="2035"/>
                  </a:cubicBezTo>
                  <a:cubicBezTo>
                    <a:pt x="11197" y="3138"/>
                    <a:pt x="13402" y="4580"/>
                    <a:pt x="15268" y="6616"/>
                  </a:cubicBezTo>
                  <a:cubicBezTo>
                    <a:pt x="17134" y="8652"/>
                    <a:pt x="18661" y="11621"/>
                    <a:pt x="19849" y="14250"/>
                  </a:cubicBezTo>
                  <a:cubicBezTo>
                    <a:pt x="21037" y="16880"/>
                    <a:pt x="21970" y="19679"/>
                    <a:pt x="22394" y="22393"/>
                  </a:cubicBezTo>
                  <a:cubicBezTo>
                    <a:pt x="22818" y="25107"/>
                    <a:pt x="22649" y="27907"/>
                    <a:pt x="22394" y="30536"/>
                  </a:cubicBezTo>
                  <a:cubicBezTo>
                    <a:pt x="22140" y="33166"/>
                    <a:pt x="21885" y="35710"/>
                    <a:pt x="20867" y="38170"/>
                  </a:cubicBezTo>
                  <a:cubicBezTo>
                    <a:pt x="19849" y="40630"/>
                    <a:pt x="17050" y="44108"/>
                    <a:pt x="16286" y="45296"/>
                  </a:cubicBezTo>
                </a:path>
              </a:pathLst>
            </a:custGeom>
            <a:noFill/>
            <a:ln w="19050" cap="flat" cmpd="sng">
              <a:solidFill>
                <a:srgbClr val="0B6937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57" name="Google Shape;357;p26"/>
            <p:cNvSpPr/>
            <p:nvPr/>
          </p:nvSpPr>
          <p:spPr>
            <a:xfrm rot="-575579">
              <a:off x="3374070" y="2154245"/>
              <a:ext cx="300204" cy="1058447"/>
            </a:xfrm>
            <a:custGeom>
              <a:avLst/>
              <a:gdLst/>
              <a:ahLst/>
              <a:cxnLst/>
              <a:rect l="l" t="t" r="r" b="b"/>
              <a:pathLst>
                <a:path w="22818" h="45296" extrusionOk="0">
                  <a:moveTo>
                    <a:pt x="0" y="0"/>
                  </a:moveTo>
                  <a:cubicBezTo>
                    <a:pt x="1442" y="339"/>
                    <a:pt x="6107" y="932"/>
                    <a:pt x="8652" y="2035"/>
                  </a:cubicBezTo>
                  <a:cubicBezTo>
                    <a:pt x="11197" y="3138"/>
                    <a:pt x="13402" y="4580"/>
                    <a:pt x="15268" y="6616"/>
                  </a:cubicBezTo>
                  <a:cubicBezTo>
                    <a:pt x="17134" y="8652"/>
                    <a:pt x="18661" y="11621"/>
                    <a:pt x="19849" y="14250"/>
                  </a:cubicBezTo>
                  <a:cubicBezTo>
                    <a:pt x="21037" y="16880"/>
                    <a:pt x="21970" y="19679"/>
                    <a:pt x="22394" y="22393"/>
                  </a:cubicBezTo>
                  <a:cubicBezTo>
                    <a:pt x="22818" y="25107"/>
                    <a:pt x="22649" y="27907"/>
                    <a:pt x="22394" y="30536"/>
                  </a:cubicBezTo>
                  <a:cubicBezTo>
                    <a:pt x="22140" y="33166"/>
                    <a:pt x="21885" y="35710"/>
                    <a:pt x="20867" y="38170"/>
                  </a:cubicBezTo>
                  <a:cubicBezTo>
                    <a:pt x="19849" y="40630"/>
                    <a:pt x="17050" y="44108"/>
                    <a:pt x="16286" y="45296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58" name="Google Shape;358;p26"/>
            <p:cNvSpPr/>
            <p:nvPr/>
          </p:nvSpPr>
          <p:spPr>
            <a:xfrm rot="-9075647">
              <a:off x="1960223" y="3627871"/>
              <a:ext cx="320091" cy="717564"/>
            </a:xfrm>
            <a:custGeom>
              <a:avLst/>
              <a:gdLst/>
              <a:ahLst/>
              <a:cxnLst/>
              <a:rect l="l" t="t" r="r" b="b"/>
              <a:pathLst>
                <a:path w="22818" h="45296" extrusionOk="0">
                  <a:moveTo>
                    <a:pt x="0" y="0"/>
                  </a:moveTo>
                  <a:cubicBezTo>
                    <a:pt x="1442" y="339"/>
                    <a:pt x="6107" y="932"/>
                    <a:pt x="8652" y="2035"/>
                  </a:cubicBezTo>
                  <a:cubicBezTo>
                    <a:pt x="11197" y="3138"/>
                    <a:pt x="13402" y="4580"/>
                    <a:pt x="15268" y="6616"/>
                  </a:cubicBezTo>
                  <a:cubicBezTo>
                    <a:pt x="17134" y="8652"/>
                    <a:pt x="18661" y="11621"/>
                    <a:pt x="19849" y="14250"/>
                  </a:cubicBezTo>
                  <a:cubicBezTo>
                    <a:pt x="21037" y="16880"/>
                    <a:pt x="21970" y="19679"/>
                    <a:pt x="22394" y="22393"/>
                  </a:cubicBezTo>
                  <a:cubicBezTo>
                    <a:pt x="22818" y="25107"/>
                    <a:pt x="22649" y="27907"/>
                    <a:pt x="22394" y="30536"/>
                  </a:cubicBezTo>
                  <a:cubicBezTo>
                    <a:pt x="22140" y="33166"/>
                    <a:pt x="21885" y="35710"/>
                    <a:pt x="20867" y="38170"/>
                  </a:cubicBezTo>
                  <a:cubicBezTo>
                    <a:pt x="19849" y="40630"/>
                    <a:pt x="17050" y="44108"/>
                    <a:pt x="16286" y="45296"/>
                  </a:cubicBezTo>
                </a:path>
              </a:pathLst>
            </a:custGeom>
            <a:noFill/>
            <a:ln w="19050" cap="flat" cmpd="sng">
              <a:solidFill>
                <a:srgbClr val="0B6937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59" name="Google Shape;359;p26"/>
            <p:cNvSpPr/>
            <p:nvPr/>
          </p:nvSpPr>
          <p:spPr>
            <a:xfrm rot="949901">
              <a:off x="3384982" y="3681062"/>
              <a:ext cx="331632" cy="699372"/>
            </a:xfrm>
            <a:custGeom>
              <a:avLst/>
              <a:gdLst/>
              <a:ahLst/>
              <a:cxnLst/>
              <a:rect l="l" t="t" r="r" b="b"/>
              <a:pathLst>
                <a:path w="22818" h="45296" extrusionOk="0">
                  <a:moveTo>
                    <a:pt x="0" y="0"/>
                  </a:moveTo>
                  <a:cubicBezTo>
                    <a:pt x="1442" y="339"/>
                    <a:pt x="6107" y="932"/>
                    <a:pt x="8652" y="2035"/>
                  </a:cubicBezTo>
                  <a:cubicBezTo>
                    <a:pt x="11197" y="3138"/>
                    <a:pt x="13402" y="4580"/>
                    <a:pt x="15268" y="6616"/>
                  </a:cubicBezTo>
                  <a:cubicBezTo>
                    <a:pt x="17134" y="8652"/>
                    <a:pt x="18661" y="11621"/>
                    <a:pt x="19849" y="14250"/>
                  </a:cubicBezTo>
                  <a:cubicBezTo>
                    <a:pt x="21037" y="16880"/>
                    <a:pt x="21970" y="19679"/>
                    <a:pt x="22394" y="22393"/>
                  </a:cubicBezTo>
                  <a:cubicBezTo>
                    <a:pt x="22818" y="25107"/>
                    <a:pt x="22649" y="27907"/>
                    <a:pt x="22394" y="30536"/>
                  </a:cubicBezTo>
                  <a:cubicBezTo>
                    <a:pt x="22140" y="33166"/>
                    <a:pt x="21885" y="35710"/>
                    <a:pt x="20867" y="38170"/>
                  </a:cubicBezTo>
                  <a:cubicBezTo>
                    <a:pt x="19849" y="40630"/>
                    <a:pt x="17050" y="44108"/>
                    <a:pt x="16286" y="45296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60" name="Google Shape;360;p26"/>
            <p:cNvSpPr/>
            <p:nvPr/>
          </p:nvSpPr>
          <p:spPr>
            <a:xfrm rot="-9075561">
              <a:off x="726758" y="3710336"/>
              <a:ext cx="2472347" cy="2140022"/>
            </a:xfrm>
            <a:custGeom>
              <a:avLst/>
              <a:gdLst/>
              <a:ahLst/>
              <a:cxnLst/>
              <a:rect l="l" t="t" r="r" b="b"/>
              <a:pathLst>
                <a:path w="22818" h="45296" extrusionOk="0">
                  <a:moveTo>
                    <a:pt x="0" y="0"/>
                  </a:moveTo>
                  <a:cubicBezTo>
                    <a:pt x="1442" y="339"/>
                    <a:pt x="6107" y="932"/>
                    <a:pt x="8652" y="2035"/>
                  </a:cubicBezTo>
                  <a:cubicBezTo>
                    <a:pt x="11197" y="3138"/>
                    <a:pt x="13402" y="4580"/>
                    <a:pt x="15268" y="6616"/>
                  </a:cubicBezTo>
                  <a:cubicBezTo>
                    <a:pt x="17134" y="8652"/>
                    <a:pt x="18661" y="11621"/>
                    <a:pt x="19849" y="14250"/>
                  </a:cubicBezTo>
                  <a:cubicBezTo>
                    <a:pt x="21037" y="16880"/>
                    <a:pt x="21970" y="19679"/>
                    <a:pt x="22394" y="22393"/>
                  </a:cubicBezTo>
                  <a:cubicBezTo>
                    <a:pt x="22818" y="25107"/>
                    <a:pt x="22649" y="27907"/>
                    <a:pt x="22394" y="30536"/>
                  </a:cubicBezTo>
                  <a:cubicBezTo>
                    <a:pt x="22140" y="33166"/>
                    <a:pt x="21885" y="35710"/>
                    <a:pt x="20867" y="38170"/>
                  </a:cubicBezTo>
                  <a:cubicBezTo>
                    <a:pt x="19849" y="40630"/>
                    <a:pt x="17050" y="44108"/>
                    <a:pt x="16286" y="45296"/>
                  </a:cubicBezTo>
                </a:path>
              </a:pathLst>
            </a:custGeom>
            <a:noFill/>
            <a:ln w="19050" cap="flat" cmpd="sng">
              <a:solidFill>
                <a:srgbClr val="0B6937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61" name="Google Shape;361;p26"/>
            <p:cNvSpPr/>
            <p:nvPr/>
          </p:nvSpPr>
          <p:spPr>
            <a:xfrm rot="9075561" flipH="1">
              <a:off x="2596833" y="3786386"/>
              <a:ext cx="2472347" cy="2140022"/>
            </a:xfrm>
            <a:custGeom>
              <a:avLst/>
              <a:gdLst/>
              <a:ahLst/>
              <a:cxnLst/>
              <a:rect l="l" t="t" r="r" b="b"/>
              <a:pathLst>
                <a:path w="22818" h="45296" extrusionOk="0">
                  <a:moveTo>
                    <a:pt x="0" y="0"/>
                  </a:moveTo>
                  <a:cubicBezTo>
                    <a:pt x="1442" y="339"/>
                    <a:pt x="6107" y="932"/>
                    <a:pt x="8652" y="2035"/>
                  </a:cubicBezTo>
                  <a:cubicBezTo>
                    <a:pt x="11197" y="3138"/>
                    <a:pt x="13402" y="4580"/>
                    <a:pt x="15268" y="6616"/>
                  </a:cubicBezTo>
                  <a:cubicBezTo>
                    <a:pt x="17134" y="8652"/>
                    <a:pt x="18661" y="11621"/>
                    <a:pt x="19849" y="14250"/>
                  </a:cubicBezTo>
                  <a:cubicBezTo>
                    <a:pt x="21037" y="16880"/>
                    <a:pt x="21970" y="19679"/>
                    <a:pt x="22394" y="22393"/>
                  </a:cubicBezTo>
                  <a:cubicBezTo>
                    <a:pt x="22818" y="25107"/>
                    <a:pt x="22649" y="27907"/>
                    <a:pt x="22394" y="30536"/>
                  </a:cubicBezTo>
                  <a:cubicBezTo>
                    <a:pt x="22140" y="33166"/>
                    <a:pt x="21885" y="35710"/>
                    <a:pt x="20867" y="38170"/>
                  </a:cubicBezTo>
                  <a:cubicBezTo>
                    <a:pt x="19849" y="40630"/>
                    <a:pt x="17050" y="44108"/>
                    <a:pt x="16286" y="45296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>
            <a:spLocks noGrp="1"/>
          </p:cNvSpPr>
          <p:nvPr>
            <p:ph type="title"/>
          </p:nvPr>
        </p:nvSpPr>
        <p:spPr>
          <a:xfrm>
            <a:off x="355650" y="183973"/>
            <a:ext cx="11480700" cy="1028254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dirty="0"/>
              <a:t>Punto de partida - Problema: No se tiene suficiente memoria física</a:t>
            </a:r>
          </a:p>
        </p:txBody>
      </p:sp>
      <p:sp>
        <p:nvSpPr>
          <p:cNvPr id="158" name="Google Shape;158;p20"/>
          <p:cNvSpPr txBox="1">
            <a:spLocks noGrp="1"/>
          </p:cNvSpPr>
          <p:nvPr>
            <p:ph type="body" idx="1"/>
          </p:nvPr>
        </p:nvSpPr>
        <p:spPr>
          <a:xfrm>
            <a:off x="355650" y="1341466"/>
            <a:ext cx="11272974" cy="52808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/>
              <a:t>El tamaño de la memoria virtual es mayor que el de la memoria física</a:t>
            </a:r>
            <a:endParaRPr sz="2200" b="1" dirty="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59" name="Google Shape;15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069" y="1998789"/>
            <a:ext cx="4687234" cy="467523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0" name="Google Shape;160;p20"/>
          <p:cNvGraphicFramePr/>
          <p:nvPr>
            <p:extLst>
              <p:ext uri="{D42A27DB-BD31-4B8C-83A1-F6EECF244321}">
                <p14:modId xmlns:p14="http://schemas.microsoft.com/office/powerpoint/2010/main" val="554323803"/>
              </p:ext>
            </p:extLst>
          </p:nvPr>
        </p:nvGraphicFramePr>
        <p:xfrm>
          <a:off x="633675" y="2453700"/>
          <a:ext cx="4738375" cy="19506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146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Lugar</a:t>
                      </a:r>
                      <a:endParaRPr sz="2000" b="1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Porción de memoria</a:t>
                      </a:r>
                      <a:endParaRPr sz="2000" b="1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+mn-lt"/>
                          <a:ea typeface="Roboto"/>
                          <a:cs typeface="Roboto"/>
                          <a:sym typeface="Roboto"/>
                        </a:rPr>
                        <a:t>Memoria virtual</a:t>
                      </a:r>
                      <a:endParaRPr sz="20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+mn-lt"/>
                          <a:ea typeface="Roboto"/>
                          <a:cs typeface="Roboto"/>
                          <a:sym typeface="Roboto"/>
                        </a:rPr>
                        <a:t>page</a:t>
                      </a:r>
                      <a:endParaRPr sz="20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+mn-lt"/>
                          <a:ea typeface="Roboto"/>
                          <a:cs typeface="Roboto"/>
                          <a:sym typeface="Roboto"/>
                        </a:rPr>
                        <a:t>Memoria física</a:t>
                      </a:r>
                      <a:endParaRPr sz="20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+mn-lt"/>
                          <a:ea typeface="Roboto"/>
                          <a:cs typeface="Roboto"/>
                          <a:sym typeface="Roboto"/>
                        </a:rPr>
                        <a:t>frame</a:t>
                      </a:r>
                      <a:endParaRPr sz="20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+mn-lt"/>
                          <a:ea typeface="Roboto"/>
                          <a:cs typeface="Roboto"/>
                          <a:sym typeface="Roboto"/>
                        </a:rPr>
                        <a:t>Disco duro</a:t>
                      </a:r>
                      <a:endParaRPr sz="20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Bloque</a:t>
                      </a:r>
                      <a:endParaRPr sz="20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 txBox="1">
            <a:spLocks noGrp="1"/>
          </p:cNvSpPr>
          <p:nvPr>
            <p:ph type="title"/>
          </p:nvPr>
        </p:nvSpPr>
        <p:spPr>
          <a:xfrm>
            <a:off x="427704" y="354849"/>
            <a:ext cx="1123827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es-MX" sz="4400" b="1" dirty="0">
                <a:solidFill>
                  <a:srgbClr val="CC0000"/>
                </a:solidFill>
              </a:rPr>
              <a:t>¿Qué se hace cuando la memoria física se queda corta?</a:t>
            </a:r>
            <a:endParaRPr dirty="0"/>
          </a:p>
        </p:txBody>
      </p:sp>
      <p:sp>
        <p:nvSpPr>
          <p:cNvPr id="167" name="Google Shape;167;p21"/>
          <p:cNvSpPr txBox="1"/>
          <p:nvPr/>
        </p:nvSpPr>
        <p:spPr>
          <a:xfrm>
            <a:off x="473832" y="1487473"/>
            <a:ext cx="6002400" cy="1941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Se hace uso de un espacio de memoria en el nivel inferior (de la jerarquía de memoria - usualmente el disco duro) enviando aquella porciones del espacio de direcciones que no son muy demandadas.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pic>
        <p:nvPicPr>
          <p:cNvPr id="168" name="Google Shape;16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2733" y="3612124"/>
            <a:ext cx="3904597" cy="3036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7600" y="1722307"/>
            <a:ext cx="4738374" cy="4586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 txBox="1">
            <a:spLocks noGrp="1"/>
          </p:cNvSpPr>
          <p:nvPr>
            <p:ph type="title"/>
          </p:nvPr>
        </p:nvSpPr>
        <p:spPr>
          <a:xfrm>
            <a:off x="383458" y="96038"/>
            <a:ext cx="1119402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/>
              <a:t>Espacio swap</a:t>
            </a:r>
            <a:endParaRPr dirty="0"/>
          </a:p>
        </p:txBody>
      </p:sp>
      <p:sp>
        <p:nvSpPr>
          <p:cNvPr id="176" name="Google Shape;176;p22"/>
          <p:cNvSpPr txBox="1">
            <a:spLocks noGrp="1"/>
          </p:cNvSpPr>
          <p:nvPr>
            <p:ph type="body" idx="1"/>
          </p:nvPr>
        </p:nvSpPr>
        <p:spPr>
          <a:xfrm>
            <a:off x="526750" y="1188469"/>
            <a:ext cx="4761000" cy="1245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/>
              <a:t>Espacio reservado en el disco duro para almacenar páginas de memoria.</a:t>
            </a: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77" name="Google Shape;177;p22"/>
          <p:cNvGraphicFramePr/>
          <p:nvPr>
            <p:extLst>
              <p:ext uri="{D42A27DB-BD31-4B8C-83A1-F6EECF244321}">
                <p14:modId xmlns:p14="http://schemas.microsoft.com/office/powerpoint/2010/main" val="1157693344"/>
              </p:ext>
            </p:extLst>
          </p:nvPr>
        </p:nvGraphicFramePr>
        <p:xfrm>
          <a:off x="5668825" y="779237"/>
          <a:ext cx="6246200" cy="59873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10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solidFill>
                            <a:schemeClr val="lt1"/>
                          </a:solidFill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2000" b="1">
                        <a:solidFill>
                          <a:schemeClr val="lt1"/>
                        </a:solidFill>
                        <a:latin typeface="+mn-lt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solidFill>
                            <a:schemeClr val="lt1"/>
                          </a:solidFill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endParaRPr sz="2000" b="1">
                        <a:solidFill>
                          <a:schemeClr val="lt1"/>
                        </a:solidFill>
                        <a:latin typeface="+mn-lt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>
                          <a:solidFill>
                            <a:schemeClr val="lt1"/>
                          </a:solidFill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Evento</a:t>
                      </a:r>
                      <a:endParaRPr sz="2000" b="1" dirty="0">
                        <a:solidFill>
                          <a:schemeClr val="lt1"/>
                        </a:solidFill>
                        <a:latin typeface="+mn-lt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2000" b="1">
                        <a:latin typeface="+mn-lt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2000" b="1">
                        <a:latin typeface="+mn-lt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+mn-lt"/>
                        </a:rPr>
                        <a:t>Se obtiene la dirección física asociada a la dirección virtual</a:t>
                      </a:r>
                      <a:endParaRPr sz="1800" dirty="0">
                        <a:latin typeface="+mn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2000" b="1">
                        <a:latin typeface="+mn-lt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2000" b="1">
                        <a:latin typeface="+mn-lt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+mn-lt"/>
                        </a:rPr>
                        <a:t>Se genera una ausencia de página</a:t>
                      </a:r>
                      <a:endParaRPr sz="1800">
                        <a:latin typeface="+mn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+mn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+mn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+mn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+mn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6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2000" b="1">
                        <a:latin typeface="+mn-lt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>
                          <a:latin typeface="+mn-lt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endParaRPr sz="2000" b="1" dirty="0">
                        <a:latin typeface="+mn-lt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+mn-lt"/>
                        </a:rPr>
                        <a:t>Se produce un fallo de segmentación</a:t>
                      </a:r>
                      <a:endParaRPr sz="1800" dirty="0">
                        <a:latin typeface="+mn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6" name="Grupo 5">
            <a:extLst>
              <a:ext uri="{FF2B5EF4-FFF2-40B4-BE49-F238E27FC236}">
                <a16:creationId xmlns:a16="http://schemas.microsoft.com/office/drawing/2014/main" id="{6AE7C37D-38D7-417E-8ABD-1600858C3556}"/>
              </a:ext>
            </a:extLst>
          </p:cNvPr>
          <p:cNvGrpSpPr/>
          <p:nvPr/>
        </p:nvGrpSpPr>
        <p:grpSpPr>
          <a:xfrm>
            <a:off x="8389855" y="5600022"/>
            <a:ext cx="1175254" cy="757900"/>
            <a:chOff x="8253009" y="5766370"/>
            <a:chExt cx="1175254" cy="757900"/>
          </a:xfrm>
        </p:grpSpPr>
        <p:pic>
          <p:nvPicPr>
            <p:cNvPr id="178" name="Google Shape;178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253009" y="5766370"/>
              <a:ext cx="344317" cy="495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" name="Google Shape;179;p22"/>
            <p:cNvSpPr/>
            <p:nvPr/>
          </p:nvSpPr>
          <p:spPr>
            <a:xfrm>
              <a:off x="8919163" y="5984870"/>
              <a:ext cx="509100" cy="5394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P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80" name="Google Shape;180;p22"/>
            <p:cNvSpPr/>
            <p:nvPr/>
          </p:nvSpPr>
          <p:spPr>
            <a:xfrm rot="-2700000">
              <a:off x="8707649" y="5877737"/>
              <a:ext cx="166328" cy="380921"/>
            </a:xfrm>
            <a:prstGeom prst="lightningBolt">
              <a:avLst/>
            </a:prstGeom>
            <a:solidFill>
              <a:srgbClr val="FFFF00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9D2160C0-A3EE-4357-93B4-748BAC4D309B}"/>
              </a:ext>
            </a:extLst>
          </p:cNvPr>
          <p:cNvGrpSpPr/>
          <p:nvPr/>
        </p:nvGrpSpPr>
        <p:grpSpPr>
          <a:xfrm>
            <a:off x="7302275" y="3521899"/>
            <a:ext cx="3742875" cy="1119362"/>
            <a:chOff x="7392425" y="3712717"/>
            <a:chExt cx="3742875" cy="1119362"/>
          </a:xfrm>
        </p:grpSpPr>
        <p:grpSp>
          <p:nvGrpSpPr>
            <p:cNvPr id="181" name="Google Shape;181;p22"/>
            <p:cNvGrpSpPr/>
            <p:nvPr/>
          </p:nvGrpSpPr>
          <p:grpSpPr>
            <a:xfrm>
              <a:off x="9754900" y="4034979"/>
              <a:ext cx="1380400" cy="797100"/>
              <a:chOff x="9631850" y="3714475"/>
              <a:chExt cx="1380400" cy="797100"/>
            </a:xfrm>
          </p:grpSpPr>
          <p:pic>
            <p:nvPicPr>
              <p:cNvPr id="182" name="Google Shape;182;p2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9631850" y="3714475"/>
                <a:ext cx="1380400" cy="797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3" name="Google Shape;183;p22"/>
              <p:cNvSpPr/>
              <p:nvPr/>
            </p:nvSpPr>
            <p:spPr>
              <a:xfrm>
                <a:off x="10213900" y="4092500"/>
                <a:ext cx="216300" cy="2418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4" name="Google Shape;184;p22"/>
            <p:cNvSpPr/>
            <p:nvPr/>
          </p:nvSpPr>
          <p:spPr>
            <a:xfrm>
              <a:off x="9834900" y="3712717"/>
              <a:ext cx="12204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Hard disc</a:t>
              </a:r>
              <a:endParaRPr sz="12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85" name="Google Shape;185;p22"/>
            <p:cNvSpPr/>
            <p:nvPr/>
          </p:nvSpPr>
          <p:spPr>
            <a:xfrm>
              <a:off x="7402025" y="3772917"/>
              <a:ext cx="1380300" cy="51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 err="1">
                  <a:latin typeface="Consolas"/>
                  <a:ea typeface="Consolas"/>
                  <a:cs typeface="Consolas"/>
                  <a:sym typeface="Consolas"/>
                </a:rPr>
                <a:t>Physical</a:t>
              </a:r>
              <a:r>
                <a:rPr lang="es-ES" sz="1200" dirty="0">
                  <a:latin typeface="Consolas"/>
                  <a:ea typeface="Consolas"/>
                  <a:cs typeface="Consolas"/>
                  <a:sym typeface="Consolas"/>
                </a:rPr>
                <a:t> Memory</a:t>
              </a:r>
              <a:endParaRPr sz="12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86" name="Google Shape;186;p22"/>
            <p:cNvSpPr/>
            <p:nvPr/>
          </p:nvSpPr>
          <p:spPr>
            <a:xfrm>
              <a:off x="8919163" y="4119742"/>
              <a:ext cx="8103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70AD47"/>
                  </a:solidFill>
                  <a:latin typeface="Consolas"/>
                  <a:ea typeface="Consolas"/>
                  <a:cs typeface="Consolas"/>
                  <a:sym typeface="Consolas"/>
                </a:rPr>
                <a:t>paging in</a:t>
              </a:r>
              <a:endParaRPr sz="12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187" name="Google Shape;187;p22"/>
            <p:cNvGrpSpPr/>
            <p:nvPr/>
          </p:nvGrpSpPr>
          <p:grpSpPr>
            <a:xfrm>
              <a:off x="7392425" y="4283529"/>
              <a:ext cx="1399500" cy="510600"/>
              <a:chOff x="7523275" y="3958100"/>
              <a:chExt cx="1399500" cy="510600"/>
            </a:xfrm>
          </p:grpSpPr>
          <p:sp>
            <p:nvSpPr>
              <p:cNvPr id="188" name="Google Shape;188;p22"/>
              <p:cNvSpPr/>
              <p:nvPr/>
            </p:nvSpPr>
            <p:spPr>
              <a:xfrm>
                <a:off x="7523275" y="3958100"/>
                <a:ext cx="1399500" cy="5106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22"/>
              <p:cNvSpPr/>
              <p:nvPr/>
            </p:nvSpPr>
            <p:spPr>
              <a:xfrm>
                <a:off x="8152950" y="4117663"/>
                <a:ext cx="216300" cy="2418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90" name="Google Shape;190;p22"/>
            <p:cNvCxnSpPr/>
            <p:nvPr/>
          </p:nvCxnSpPr>
          <p:spPr>
            <a:xfrm flipH="1">
              <a:off x="8407975" y="4536729"/>
              <a:ext cx="1742400" cy="4200"/>
            </a:xfrm>
            <a:prstGeom prst="straightConnector1">
              <a:avLst/>
            </a:prstGeom>
            <a:noFill/>
            <a:ln w="2857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889D4B03-5B67-40A6-9A02-4FE82459E36D}"/>
              </a:ext>
            </a:extLst>
          </p:cNvPr>
          <p:cNvGrpSpPr/>
          <p:nvPr/>
        </p:nvGrpSpPr>
        <p:grpSpPr>
          <a:xfrm>
            <a:off x="6457601" y="2203490"/>
            <a:ext cx="5241900" cy="431100"/>
            <a:chOff x="6519251" y="2540816"/>
            <a:chExt cx="5241900" cy="431100"/>
          </a:xfrm>
        </p:grpSpPr>
        <p:graphicFrame>
          <p:nvGraphicFramePr>
            <p:cNvPr id="191" name="Google Shape;191;p22"/>
            <p:cNvGraphicFramePr/>
            <p:nvPr>
              <p:extLst>
                <p:ext uri="{D42A27DB-BD31-4B8C-83A1-F6EECF244321}">
                  <p14:modId xmlns:p14="http://schemas.microsoft.com/office/powerpoint/2010/main" val="1481387099"/>
                </p:ext>
              </p:extLst>
            </p:nvPr>
          </p:nvGraphicFramePr>
          <p:xfrm>
            <a:off x="10061901" y="2565879"/>
            <a:ext cx="1699250" cy="380970"/>
          </p:xfrm>
          <a:graphic>
            <a:graphicData uri="http://schemas.openxmlformats.org/drawingml/2006/table">
              <a:tbl>
                <a:tblPr>
                  <a:noFill/>
                </a:tblPr>
                <a:tblGrid>
                  <a:gridCol w="6166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08265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30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PTN</a:t>
                        </a:r>
                        <a:endParaRPr sz="13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0E0E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30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offset</a:t>
                        </a:r>
                        <a:endParaRPr sz="13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aphicFrame>
          <p:nvGraphicFramePr>
            <p:cNvPr id="192" name="Google Shape;192;p22"/>
            <p:cNvGraphicFramePr/>
            <p:nvPr>
              <p:extLst>
                <p:ext uri="{D42A27DB-BD31-4B8C-83A1-F6EECF244321}">
                  <p14:modId xmlns:p14="http://schemas.microsoft.com/office/powerpoint/2010/main" val="3968660645"/>
                </p:ext>
              </p:extLst>
            </p:nvPr>
          </p:nvGraphicFramePr>
          <p:xfrm>
            <a:off x="6972251" y="2565891"/>
            <a:ext cx="1699250" cy="380970"/>
          </p:xfrm>
          <a:graphic>
            <a:graphicData uri="http://schemas.openxmlformats.org/drawingml/2006/table">
              <a:tbl>
                <a:tblPr>
                  <a:noFill/>
                </a:tblPr>
                <a:tblGrid>
                  <a:gridCol w="6166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08265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30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PTN</a:t>
                        </a:r>
                        <a:endParaRPr sz="13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B6D7A8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300" dirty="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offset</a:t>
                        </a:r>
                        <a:endParaRPr sz="1300" dirty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cxnSp>
          <p:nvCxnSpPr>
            <p:cNvPr id="193" name="Google Shape;193;p22"/>
            <p:cNvCxnSpPr>
              <a:stCxn id="194" idx="1"/>
            </p:cNvCxnSpPr>
            <p:nvPr/>
          </p:nvCxnSpPr>
          <p:spPr>
            <a:xfrm flipH="1">
              <a:off x="8767701" y="2756366"/>
              <a:ext cx="785100" cy="3600"/>
            </a:xfrm>
            <a:prstGeom prst="straightConnector1">
              <a:avLst/>
            </a:prstGeom>
            <a:noFill/>
            <a:ln w="28575" cap="flat" cmpd="sng">
              <a:solidFill>
                <a:schemeClr val="accent6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sp>
          <p:nvSpPr>
            <p:cNvPr id="195" name="Google Shape;195;p22"/>
            <p:cNvSpPr txBox="1"/>
            <p:nvPr/>
          </p:nvSpPr>
          <p:spPr>
            <a:xfrm>
              <a:off x="6519251" y="2540816"/>
              <a:ext cx="509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VA</a:t>
              </a:r>
              <a:endParaRPr sz="1800" b="1">
                <a:solidFill>
                  <a:schemeClr val="accent5"/>
                </a:solidFill>
              </a:endParaRPr>
            </a:p>
          </p:txBody>
        </p:sp>
        <p:sp>
          <p:nvSpPr>
            <p:cNvPr id="194" name="Google Shape;194;p22"/>
            <p:cNvSpPr txBox="1"/>
            <p:nvPr/>
          </p:nvSpPr>
          <p:spPr>
            <a:xfrm>
              <a:off x="9552801" y="2540816"/>
              <a:ext cx="509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PA</a:t>
              </a:r>
              <a:endParaRPr sz="1800" b="1">
                <a:solidFill>
                  <a:srgbClr val="FF0000"/>
                </a:solidFill>
              </a:endParaRPr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1B68DF51-B561-4997-9DBB-70A1EA357641}"/>
              </a:ext>
            </a:extLst>
          </p:cNvPr>
          <p:cNvGrpSpPr/>
          <p:nvPr/>
        </p:nvGrpSpPr>
        <p:grpSpPr>
          <a:xfrm>
            <a:off x="622087" y="3359455"/>
            <a:ext cx="4032400" cy="461700"/>
            <a:chOff x="622087" y="3359455"/>
            <a:chExt cx="4032400" cy="461700"/>
          </a:xfrm>
        </p:grpSpPr>
        <p:graphicFrame>
          <p:nvGraphicFramePr>
            <p:cNvPr id="196" name="Google Shape;196;p22"/>
            <p:cNvGraphicFramePr/>
            <p:nvPr>
              <p:extLst>
                <p:ext uri="{D42A27DB-BD31-4B8C-83A1-F6EECF244321}">
                  <p14:modId xmlns:p14="http://schemas.microsoft.com/office/powerpoint/2010/main" val="1865573130"/>
                </p:ext>
              </p:extLst>
            </p:nvPr>
          </p:nvGraphicFramePr>
          <p:xfrm>
            <a:off x="1352062" y="3384518"/>
            <a:ext cx="3302425" cy="426690"/>
          </p:xfrm>
          <a:graphic>
            <a:graphicData uri="http://schemas.openxmlformats.org/drawingml/2006/table">
              <a:tbl>
                <a:tblPr>
                  <a:noFill/>
                </a:tblPr>
                <a:tblGrid>
                  <a:gridCol w="218782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55730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55730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38095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PTN</a:t>
                        </a:r>
                        <a:endParaRPr sz="16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0E0E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V</a:t>
                        </a:r>
                        <a:endParaRPr sz="16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4CC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 dirty="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P</a:t>
                        </a:r>
                        <a:endParaRPr sz="1600" dirty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197" name="Google Shape;197;p22"/>
            <p:cNvSpPr txBox="1"/>
            <p:nvPr/>
          </p:nvSpPr>
          <p:spPr>
            <a:xfrm>
              <a:off x="622087" y="3359455"/>
              <a:ext cx="785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PTE</a:t>
              </a:r>
              <a:endParaRPr sz="2000" b="1">
                <a:solidFill>
                  <a:schemeClr val="dk1"/>
                </a:solidFill>
              </a:endParaRPr>
            </a:p>
          </p:txBody>
        </p:sp>
      </p:grpSp>
      <p:sp>
        <p:nvSpPr>
          <p:cNvPr id="198" name="Google Shape;198;p22"/>
          <p:cNvSpPr txBox="1"/>
          <p:nvPr/>
        </p:nvSpPr>
        <p:spPr>
          <a:xfrm>
            <a:off x="774787" y="2572705"/>
            <a:ext cx="3752700" cy="587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92D050"/>
                </a:solidFill>
                <a:latin typeface="Roboto"/>
                <a:ea typeface="Roboto"/>
                <a:cs typeface="Roboto"/>
                <a:sym typeface="Roboto"/>
              </a:rPr>
              <a:t>Bits Valid (V) </a:t>
            </a:r>
            <a:r>
              <a:rPr lang="es-ES" sz="2200" b="1" dirty="0">
                <a:ea typeface="Roboto"/>
                <a:cs typeface="Roboto"/>
                <a:sym typeface="Roboto"/>
              </a:rPr>
              <a:t>y</a:t>
            </a:r>
            <a:r>
              <a:rPr lang="es-ES" sz="2200" b="1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ES" sz="2200" b="1" dirty="0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Preset (P)</a:t>
            </a:r>
            <a:endParaRPr sz="2200" b="1" dirty="0">
              <a:solidFill>
                <a:srgbClr val="C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3"/>
          <p:cNvSpPr txBox="1">
            <a:spLocks noGrp="1"/>
          </p:cNvSpPr>
          <p:nvPr>
            <p:ph type="body" idx="1"/>
          </p:nvPr>
        </p:nvSpPr>
        <p:spPr>
          <a:xfrm>
            <a:off x="636588" y="1187388"/>
            <a:ext cx="4643400" cy="1283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/>
              <a:t>Operaciones</a:t>
            </a:r>
            <a:r>
              <a:rPr lang="es-ES" sz="2400" dirty="0"/>
              <a:t>:</a:t>
            </a:r>
            <a:endParaRPr sz="2400" dirty="0"/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Font typeface="Consolas"/>
              <a:buAutoNum type="arabicPeriod"/>
            </a:pPr>
            <a:r>
              <a:rPr lang="es-ES" sz="2000" dirty="0">
                <a:ea typeface="Consolas"/>
                <a:cs typeface="Consolas"/>
                <a:sym typeface="Consolas"/>
              </a:rPr>
              <a:t>swap in  = page in </a:t>
            </a:r>
            <a:endParaRPr sz="2000" dirty="0"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nsolas"/>
              <a:buAutoNum type="arabicPeriod"/>
            </a:pPr>
            <a:r>
              <a:rPr lang="es-ES" sz="2000" dirty="0">
                <a:ea typeface="Consolas"/>
                <a:cs typeface="Consolas"/>
                <a:sym typeface="Consolas"/>
              </a:rPr>
              <a:t>swap out  = page out</a:t>
            </a:r>
            <a:endParaRPr sz="2000" dirty="0"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5" name="Google Shape;205;p23"/>
          <p:cNvSpPr txBox="1">
            <a:spLocks noGrp="1"/>
          </p:cNvSpPr>
          <p:nvPr>
            <p:ph type="title"/>
          </p:nvPr>
        </p:nvSpPr>
        <p:spPr>
          <a:xfrm>
            <a:off x="501445" y="96038"/>
            <a:ext cx="8719205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/>
              <a:t>Intercambio por paginación</a:t>
            </a:r>
            <a:endParaRPr dirty="0"/>
          </a:p>
        </p:txBody>
      </p:sp>
      <p:pic>
        <p:nvPicPr>
          <p:cNvPr id="206" name="Google Shape;20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0" y="1402999"/>
            <a:ext cx="5217444" cy="47017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7" name="Google Shape;207;p23"/>
          <p:cNvGrpSpPr/>
          <p:nvPr/>
        </p:nvGrpSpPr>
        <p:grpSpPr>
          <a:xfrm>
            <a:off x="1259425" y="3127112"/>
            <a:ext cx="3890450" cy="1677551"/>
            <a:chOff x="1487600" y="3600500"/>
            <a:chExt cx="3890450" cy="1677551"/>
          </a:xfrm>
        </p:grpSpPr>
        <p:pic>
          <p:nvPicPr>
            <p:cNvPr id="208" name="Google Shape;208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997650" y="3906201"/>
              <a:ext cx="1380400" cy="1371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9" name="Google Shape;209;p23"/>
            <p:cNvSpPr/>
            <p:nvPr/>
          </p:nvSpPr>
          <p:spPr>
            <a:xfrm>
              <a:off x="1487600" y="4227275"/>
              <a:ext cx="1399500" cy="9495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3"/>
            <p:cNvSpPr/>
            <p:nvPr/>
          </p:nvSpPr>
          <p:spPr>
            <a:xfrm>
              <a:off x="1940300" y="4854275"/>
              <a:ext cx="216300" cy="24180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3C78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3"/>
            <p:cNvSpPr/>
            <p:nvPr/>
          </p:nvSpPr>
          <p:spPr>
            <a:xfrm>
              <a:off x="4027550" y="3600500"/>
              <a:ext cx="13206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Hard disc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12" name="Google Shape;212;p23"/>
            <p:cNvSpPr/>
            <p:nvPr/>
          </p:nvSpPr>
          <p:spPr>
            <a:xfrm>
              <a:off x="1497200" y="3627975"/>
              <a:ext cx="1380300" cy="51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dirty="0" err="1">
                  <a:latin typeface="Consolas"/>
                  <a:ea typeface="Consolas"/>
                  <a:cs typeface="Consolas"/>
                  <a:sym typeface="Consolas"/>
                </a:rPr>
                <a:t>Physical</a:t>
              </a:r>
              <a:r>
                <a:rPr lang="es-ES" dirty="0">
                  <a:latin typeface="Consolas"/>
                  <a:ea typeface="Consolas"/>
                  <a:cs typeface="Consolas"/>
                  <a:sym typeface="Consolas"/>
                </a:rPr>
                <a:t> Memory</a:t>
              </a:r>
              <a:endParaRPr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13" name="Google Shape;213;p23"/>
            <p:cNvSpPr/>
            <p:nvPr/>
          </p:nvSpPr>
          <p:spPr>
            <a:xfrm>
              <a:off x="2984875" y="4701875"/>
              <a:ext cx="10605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paging</a:t>
              </a:r>
              <a:r>
                <a:rPr lang="es-ES" sz="12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out</a:t>
              </a:r>
              <a:endParaRPr sz="12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14" name="Google Shape;214;p23"/>
            <p:cNvSpPr/>
            <p:nvPr/>
          </p:nvSpPr>
          <p:spPr>
            <a:xfrm>
              <a:off x="4579700" y="4532313"/>
              <a:ext cx="216300" cy="241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3"/>
            <p:cNvSpPr/>
            <p:nvPr/>
          </p:nvSpPr>
          <p:spPr>
            <a:xfrm>
              <a:off x="4579700" y="4844113"/>
              <a:ext cx="216300" cy="241800"/>
            </a:xfrm>
            <a:prstGeom prst="rect">
              <a:avLst/>
            </a:prstGeom>
            <a:solidFill>
              <a:srgbClr val="9FC5E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3"/>
            <p:cNvSpPr/>
            <p:nvPr/>
          </p:nvSpPr>
          <p:spPr>
            <a:xfrm>
              <a:off x="1940300" y="4492163"/>
              <a:ext cx="216300" cy="241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17" name="Google Shape;217;p23"/>
            <p:cNvCxnSpPr/>
            <p:nvPr/>
          </p:nvCxnSpPr>
          <p:spPr>
            <a:xfrm flipH="1">
              <a:off x="2268950" y="4631650"/>
              <a:ext cx="2208300" cy="23100"/>
            </a:xfrm>
            <a:prstGeom prst="straightConnector1">
              <a:avLst/>
            </a:prstGeom>
            <a:noFill/>
            <a:ln w="2857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18" name="Google Shape;218;p23"/>
            <p:cNvSpPr/>
            <p:nvPr/>
          </p:nvSpPr>
          <p:spPr>
            <a:xfrm>
              <a:off x="2984879" y="4291938"/>
              <a:ext cx="10605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70AD47"/>
                  </a:solidFill>
                  <a:latin typeface="Consolas"/>
                  <a:ea typeface="Consolas"/>
                  <a:cs typeface="Consolas"/>
                  <a:sym typeface="Consolas"/>
                </a:rPr>
                <a:t>paging in</a:t>
              </a:r>
              <a:endParaRPr sz="12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19" name="Google Shape;219;p23"/>
            <p:cNvCxnSpPr/>
            <p:nvPr/>
          </p:nvCxnSpPr>
          <p:spPr>
            <a:xfrm rot="10800000" flipH="1">
              <a:off x="2268900" y="5010975"/>
              <a:ext cx="2214000" cy="126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4"/>
          <p:cNvSpPr txBox="1">
            <a:spLocks noGrp="1"/>
          </p:cNvSpPr>
          <p:nvPr>
            <p:ph type="title"/>
          </p:nvPr>
        </p:nvSpPr>
        <p:spPr>
          <a:xfrm>
            <a:off x="364231" y="200173"/>
            <a:ext cx="886668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/>
              <a:t>Representación y notación</a:t>
            </a:r>
            <a:endParaRPr dirty="0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7D360CE3-E159-4C88-99F6-C40F59F6DB14}"/>
              </a:ext>
            </a:extLst>
          </p:cNvPr>
          <p:cNvGrpSpPr/>
          <p:nvPr/>
        </p:nvGrpSpPr>
        <p:grpSpPr>
          <a:xfrm>
            <a:off x="9555182" y="2428674"/>
            <a:ext cx="1380408" cy="2120750"/>
            <a:chOff x="10077113" y="2859900"/>
            <a:chExt cx="1380408" cy="2120750"/>
          </a:xfrm>
        </p:grpSpPr>
        <p:grpSp>
          <p:nvGrpSpPr>
            <p:cNvPr id="230" name="Google Shape;230;p24"/>
            <p:cNvGrpSpPr/>
            <p:nvPr/>
          </p:nvGrpSpPr>
          <p:grpSpPr>
            <a:xfrm>
              <a:off x="10207513" y="2859900"/>
              <a:ext cx="1119600" cy="626400"/>
              <a:chOff x="8394800" y="3115800"/>
              <a:chExt cx="1119600" cy="626400"/>
            </a:xfrm>
          </p:grpSpPr>
          <p:sp>
            <p:nvSpPr>
              <p:cNvPr id="231" name="Google Shape;231;p24"/>
              <p:cNvSpPr/>
              <p:nvPr/>
            </p:nvSpPr>
            <p:spPr>
              <a:xfrm>
                <a:off x="8394800" y="3115800"/>
                <a:ext cx="1119600" cy="626400"/>
              </a:xfrm>
              <a:prstGeom prst="rect">
                <a:avLst/>
              </a:prstGeom>
              <a:solidFill>
                <a:srgbClr val="F3F3F3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24"/>
              <p:cNvSpPr/>
              <p:nvPr/>
            </p:nvSpPr>
            <p:spPr>
              <a:xfrm>
                <a:off x="8579825" y="3308100"/>
                <a:ext cx="216300" cy="241800"/>
              </a:xfrm>
              <a:prstGeom prst="rect">
                <a:avLst/>
              </a:prstGeom>
              <a:solidFill>
                <a:srgbClr val="9FC5E8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24"/>
              <p:cNvSpPr/>
              <p:nvPr/>
            </p:nvSpPr>
            <p:spPr>
              <a:xfrm>
                <a:off x="9076425" y="3308100"/>
                <a:ext cx="216300" cy="241800"/>
              </a:xfrm>
              <a:prstGeom prst="rect">
                <a:avLst/>
              </a:prstGeom>
              <a:noFill/>
              <a:ln w="19050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4" name="Google Shape;234;p24"/>
            <p:cNvGrpSpPr/>
            <p:nvPr/>
          </p:nvGrpSpPr>
          <p:grpSpPr>
            <a:xfrm>
              <a:off x="10077113" y="3751400"/>
              <a:ext cx="1380400" cy="1229250"/>
              <a:chOff x="8242400" y="4329675"/>
              <a:chExt cx="1380400" cy="1229250"/>
            </a:xfrm>
          </p:grpSpPr>
          <p:pic>
            <p:nvPicPr>
              <p:cNvPr id="235" name="Google Shape;235;p24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8242400" y="4329675"/>
                <a:ext cx="1380400" cy="12292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6" name="Google Shape;236;p24"/>
              <p:cNvSpPr/>
              <p:nvPr/>
            </p:nvSpPr>
            <p:spPr>
              <a:xfrm>
                <a:off x="9062800" y="4949150"/>
                <a:ext cx="216300" cy="2418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24"/>
              <p:cNvSpPr/>
              <p:nvPr/>
            </p:nvSpPr>
            <p:spPr>
              <a:xfrm>
                <a:off x="8542050" y="4949150"/>
                <a:ext cx="216300" cy="241800"/>
              </a:xfrm>
              <a:prstGeom prst="rect">
                <a:avLst/>
              </a:prstGeom>
              <a:noFill/>
              <a:ln w="19050" cap="flat" cmpd="sng">
                <a:solidFill>
                  <a:srgbClr val="3C78D8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8" name="Google Shape;238;p24"/>
            <p:cNvSpPr/>
            <p:nvPr/>
          </p:nvSpPr>
          <p:spPr>
            <a:xfrm>
              <a:off x="10080271" y="3221375"/>
              <a:ext cx="437100" cy="1231900"/>
            </a:xfrm>
            <a:custGeom>
              <a:avLst/>
              <a:gdLst/>
              <a:ahLst/>
              <a:cxnLst/>
              <a:rect l="l" t="t" r="r" b="b"/>
              <a:pathLst>
                <a:path w="17484" h="49276" extrusionOk="0">
                  <a:moveTo>
                    <a:pt x="17484" y="0"/>
                  </a:moveTo>
                  <a:cubicBezTo>
                    <a:pt x="16214" y="677"/>
                    <a:pt x="12150" y="2201"/>
                    <a:pt x="9864" y="4064"/>
                  </a:cubicBezTo>
                  <a:cubicBezTo>
                    <a:pt x="7578" y="5927"/>
                    <a:pt x="5377" y="8721"/>
                    <a:pt x="3768" y="11176"/>
                  </a:cubicBezTo>
                  <a:cubicBezTo>
                    <a:pt x="2159" y="13631"/>
                    <a:pt x="635" y="16425"/>
                    <a:pt x="212" y="18796"/>
                  </a:cubicBezTo>
                  <a:cubicBezTo>
                    <a:pt x="-211" y="21167"/>
                    <a:pt x="466" y="23199"/>
                    <a:pt x="1228" y="25400"/>
                  </a:cubicBezTo>
                  <a:cubicBezTo>
                    <a:pt x="1990" y="27601"/>
                    <a:pt x="3091" y="29295"/>
                    <a:pt x="4784" y="32004"/>
                  </a:cubicBezTo>
                  <a:cubicBezTo>
                    <a:pt x="6477" y="34713"/>
                    <a:pt x="9525" y="38777"/>
                    <a:pt x="11388" y="41656"/>
                  </a:cubicBezTo>
                  <a:cubicBezTo>
                    <a:pt x="13251" y="44535"/>
                    <a:pt x="15198" y="48006"/>
                    <a:pt x="15960" y="49276"/>
                  </a:cubicBezTo>
                </a:path>
              </a:pathLst>
            </a:custGeom>
            <a:noFill/>
            <a:ln w="28575" cap="flat" cmpd="sng">
              <a:solidFill>
                <a:schemeClr val="accent5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239" name="Google Shape;239;p24"/>
            <p:cNvSpPr/>
            <p:nvPr/>
          </p:nvSpPr>
          <p:spPr>
            <a:xfrm rot="10800000">
              <a:off x="11020421" y="3221375"/>
              <a:ext cx="437100" cy="1231900"/>
            </a:xfrm>
            <a:custGeom>
              <a:avLst/>
              <a:gdLst/>
              <a:ahLst/>
              <a:cxnLst/>
              <a:rect l="l" t="t" r="r" b="b"/>
              <a:pathLst>
                <a:path w="17484" h="49276" extrusionOk="0">
                  <a:moveTo>
                    <a:pt x="17484" y="0"/>
                  </a:moveTo>
                  <a:cubicBezTo>
                    <a:pt x="16214" y="677"/>
                    <a:pt x="12150" y="2201"/>
                    <a:pt x="9864" y="4064"/>
                  </a:cubicBezTo>
                  <a:cubicBezTo>
                    <a:pt x="7578" y="5927"/>
                    <a:pt x="5377" y="8721"/>
                    <a:pt x="3768" y="11176"/>
                  </a:cubicBezTo>
                  <a:cubicBezTo>
                    <a:pt x="2159" y="13631"/>
                    <a:pt x="635" y="16425"/>
                    <a:pt x="212" y="18796"/>
                  </a:cubicBezTo>
                  <a:cubicBezTo>
                    <a:pt x="-211" y="21167"/>
                    <a:pt x="466" y="23199"/>
                    <a:pt x="1228" y="25400"/>
                  </a:cubicBezTo>
                  <a:cubicBezTo>
                    <a:pt x="1990" y="27601"/>
                    <a:pt x="3091" y="29295"/>
                    <a:pt x="4784" y="32004"/>
                  </a:cubicBezTo>
                  <a:cubicBezTo>
                    <a:pt x="6477" y="34713"/>
                    <a:pt x="9525" y="38777"/>
                    <a:pt x="11388" y="41656"/>
                  </a:cubicBezTo>
                  <a:cubicBezTo>
                    <a:pt x="13251" y="44535"/>
                    <a:pt x="15198" y="48006"/>
                    <a:pt x="15960" y="49276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</p:spPr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77A2CAE4-1EEC-4C43-B38E-CFC80B66F7F1}"/>
              </a:ext>
            </a:extLst>
          </p:cNvPr>
          <p:cNvGrpSpPr/>
          <p:nvPr/>
        </p:nvGrpSpPr>
        <p:grpSpPr>
          <a:xfrm>
            <a:off x="966106" y="1581500"/>
            <a:ext cx="6991062" cy="3695000"/>
            <a:chOff x="1400038" y="1955425"/>
            <a:chExt cx="6991062" cy="3695000"/>
          </a:xfrm>
        </p:grpSpPr>
        <p:graphicFrame>
          <p:nvGraphicFramePr>
            <p:cNvPr id="226" name="Google Shape;226;p24"/>
            <p:cNvGraphicFramePr/>
            <p:nvPr>
              <p:extLst>
                <p:ext uri="{D42A27DB-BD31-4B8C-83A1-F6EECF244321}">
                  <p14:modId xmlns:p14="http://schemas.microsoft.com/office/powerpoint/2010/main" val="1576182091"/>
                </p:ext>
              </p:extLst>
            </p:nvPr>
          </p:nvGraphicFramePr>
          <p:xfrm>
            <a:off x="3804225" y="2558385"/>
            <a:ext cx="4586875" cy="883860"/>
          </p:xfrm>
          <a:graphic>
            <a:graphicData uri="http://schemas.openxmlformats.org/drawingml/2006/table">
              <a:tbl>
                <a:tblPr>
                  <a:noFill/>
                </a:tblPr>
                <a:tblGrid>
                  <a:gridCol w="7392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73920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73920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1655475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71380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3050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 b="1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0</a:t>
                        </a:r>
                        <a:endParaRPr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 b="1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1</a:t>
                        </a:r>
                        <a:endParaRPr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 b="1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2</a:t>
                        </a:r>
                        <a:endParaRPr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 b="1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...</a:t>
                        </a:r>
                        <a:endParaRPr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 b="1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M - 1</a:t>
                        </a:r>
                        <a:endParaRPr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6045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/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A4C2F4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/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/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/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/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</a:tbl>
            </a:graphicData>
          </a:graphic>
        </p:graphicFrame>
        <p:graphicFrame>
          <p:nvGraphicFramePr>
            <p:cNvPr id="227" name="Google Shape;227;p24"/>
            <p:cNvGraphicFramePr/>
            <p:nvPr>
              <p:extLst>
                <p:ext uri="{D42A27DB-BD31-4B8C-83A1-F6EECF244321}">
                  <p14:modId xmlns:p14="http://schemas.microsoft.com/office/powerpoint/2010/main" val="626186274"/>
                </p:ext>
              </p:extLst>
            </p:nvPr>
          </p:nvGraphicFramePr>
          <p:xfrm>
            <a:off x="3050775" y="4084935"/>
            <a:ext cx="5340325" cy="883860"/>
          </p:xfrm>
          <a:graphic>
            <a:graphicData uri="http://schemas.openxmlformats.org/drawingml/2006/table">
              <a:tbl>
                <a:tblPr>
                  <a:noFill/>
                </a:tblPr>
                <a:tblGrid>
                  <a:gridCol w="74117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7411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741175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741175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165990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715725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</a:tblGrid>
                <a:tr h="52185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/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/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/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/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EA9999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/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/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18900"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 b="1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0</a:t>
                        </a:r>
                        <a:endParaRPr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 b="1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1</a:t>
                        </a:r>
                        <a:endParaRPr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 b="1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2</a:t>
                        </a:r>
                        <a:endParaRPr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 b="1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3</a:t>
                        </a:r>
                        <a:endParaRPr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 b="1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N - 1</a:t>
                        </a:r>
                        <a:endParaRPr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</a:tbl>
            </a:graphicData>
          </a:graphic>
        </p:graphicFrame>
        <p:sp>
          <p:nvSpPr>
            <p:cNvPr id="228" name="Google Shape;228;p24"/>
            <p:cNvSpPr/>
            <p:nvPr/>
          </p:nvSpPr>
          <p:spPr>
            <a:xfrm>
              <a:off x="1719838" y="4018425"/>
              <a:ext cx="1060500" cy="6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latin typeface="Consolas"/>
                  <a:ea typeface="Consolas"/>
                  <a:cs typeface="Consolas"/>
                  <a:sym typeface="Consolas"/>
                </a:rPr>
                <a:t>Swap Space</a:t>
              </a:r>
              <a:endParaRPr sz="20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29" name="Google Shape;229;p24"/>
            <p:cNvSpPr/>
            <p:nvPr/>
          </p:nvSpPr>
          <p:spPr>
            <a:xfrm>
              <a:off x="1400038" y="2825500"/>
              <a:ext cx="1380300" cy="6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 err="1">
                  <a:latin typeface="Consolas"/>
                  <a:ea typeface="Consolas"/>
                  <a:cs typeface="Consolas"/>
                  <a:sym typeface="Consolas"/>
                </a:rPr>
                <a:t>Physical</a:t>
              </a:r>
              <a:r>
                <a:rPr lang="es-ES" sz="2000" dirty="0">
                  <a:latin typeface="Consolas"/>
                  <a:ea typeface="Consolas"/>
                  <a:cs typeface="Consolas"/>
                  <a:sym typeface="Consolas"/>
                </a:rPr>
                <a:t> Memory</a:t>
              </a:r>
              <a:endParaRPr sz="20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40" name="Google Shape;240;p24"/>
            <p:cNvSpPr/>
            <p:nvPr/>
          </p:nvSpPr>
          <p:spPr>
            <a:xfrm rot="10800000" flipH="1">
              <a:off x="3884164" y="3195292"/>
              <a:ext cx="437100" cy="1231900"/>
            </a:xfrm>
            <a:custGeom>
              <a:avLst/>
              <a:gdLst/>
              <a:ahLst/>
              <a:cxnLst/>
              <a:rect l="l" t="t" r="r" b="b"/>
              <a:pathLst>
                <a:path w="17484" h="49276" extrusionOk="0">
                  <a:moveTo>
                    <a:pt x="17484" y="0"/>
                  </a:moveTo>
                  <a:cubicBezTo>
                    <a:pt x="16214" y="677"/>
                    <a:pt x="12150" y="2201"/>
                    <a:pt x="9864" y="4064"/>
                  </a:cubicBezTo>
                  <a:cubicBezTo>
                    <a:pt x="7578" y="5927"/>
                    <a:pt x="5377" y="8721"/>
                    <a:pt x="3768" y="11176"/>
                  </a:cubicBezTo>
                  <a:cubicBezTo>
                    <a:pt x="2159" y="13631"/>
                    <a:pt x="635" y="16425"/>
                    <a:pt x="212" y="18796"/>
                  </a:cubicBezTo>
                  <a:cubicBezTo>
                    <a:pt x="-211" y="21167"/>
                    <a:pt x="466" y="23199"/>
                    <a:pt x="1228" y="25400"/>
                  </a:cubicBezTo>
                  <a:cubicBezTo>
                    <a:pt x="1990" y="27601"/>
                    <a:pt x="3091" y="29295"/>
                    <a:pt x="4784" y="32004"/>
                  </a:cubicBezTo>
                  <a:cubicBezTo>
                    <a:pt x="6477" y="34713"/>
                    <a:pt x="9525" y="38777"/>
                    <a:pt x="11388" y="41656"/>
                  </a:cubicBezTo>
                  <a:cubicBezTo>
                    <a:pt x="13251" y="44535"/>
                    <a:pt x="15198" y="48006"/>
                    <a:pt x="15960" y="49276"/>
                  </a:cubicBezTo>
                </a:path>
              </a:pathLst>
            </a:custGeom>
            <a:noFill/>
            <a:ln w="2857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41" name="Google Shape;241;p24"/>
            <p:cNvSpPr/>
            <p:nvPr/>
          </p:nvSpPr>
          <p:spPr>
            <a:xfrm flipH="1">
              <a:off x="5596818" y="3195290"/>
              <a:ext cx="437100" cy="1231900"/>
            </a:xfrm>
            <a:custGeom>
              <a:avLst/>
              <a:gdLst/>
              <a:ahLst/>
              <a:cxnLst/>
              <a:rect l="l" t="t" r="r" b="b"/>
              <a:pathLst>
                <a:path w="17484" h="49276" extrusionOk="0">
                  <a:moveTo>
                    <a:pt x="17484" y="0"/>
                  </a:moveTo>
                  <a:cubicBezTo>
                    <a:pt x="16214" y="677"/>
                    <a:pt x="12150" y="2201"/>
                    <a:pt x="9864" y="4064"/>
                  </a:cubicBezTo>
                  <a:cubicBezTo>
                    <a:pt x="7578" y="5927"/>
                    <a:pt x="5377" y="8721"/>
                    <a:pt x="3768" y="11176"/>
                  </a:cubicBezTo>
                  <a:cubicBezTo>
                    <a:pt x="2159" y="13631"/>
                    <a:pt x="635" y="16425"/>
                    <a:pt x="212" y="18796"/>
                  </a:cubicBezTo>
                  <a:cubicBezTo>
                    <a:pt x="-211" y="21167"/>
                    <a:pt x="466" y="23199"/>
                    <a:pt x="1228" y="25400"/>
                  </a:cubicBezTo>
                  <a:cubicBezTo>
                    <a:pt x="1990" y="27601"/>
                    <a:pt x="3091" y="29295"/>
                    <a:pt x="4784" y="32004"/>
                  </a:cubicBezTo>
                  <a:cubicBezTo>
                    <a:pt x="6477" y="34713"/>
                    <a:pt x="9525" y="38777"/>
                    <a:pt x="11388" y="41656"/>
                  </a:cubicBezTo>
                  <a:cubicBezTo>
                    <a:pt x="13251" y="44535"/>
                    <a:pt x="15198" y="48006"/>
                    <a:pt x="15960" y="49276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42" name="Google Shape;242;p24"/>
            <p:cNvSpPr/>
            <p:nvPr/>
          </p:nvSpPr>
          <p:spPr>
            <a:xfrm rot="5400000">
              <a:off x="4807100" y="2162700"/>
              <a:ext cx="190800" cy="717900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4"/>
            <p:cNvSpPr/>
            <p:nvPr/>
          </p:nvSpPr>
          <p:spPr>
            <a:xfrm rot="5400000" flipH="1">
              <a:off x="4807100" y="4705250"/>
              <a:ext cx="190800" cy="717900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4"/>
            <p:cNvSpPr txBox="1"/>
            <p:nvPr/>
          </p:nvSpPr>
          <p:spPr>
            <a:xfrm>
              <a:off x="4477100" y="1955425"/>
              <a:ext cx="8508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Frame</a:t>
              </a:r>
              <a:endParaRPr sz="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45" name="Google Shape;245;p24"/>
            <p:cNvSpPr txBox="1"/>
            <p:nvPr/>
          </p:nvSpPr>
          <p:spPr>
            <a:xfrm>
              <a:off x="4477100" y="5219325"/>
              <a:ext cx="8508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Block</a:t>
              </a:r>
              <a:endParaRPr sz="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46" name="Google Shape;246;p24"/>
            <p:cNvSpPr txBox="1"/>
            <p:nvPr/>
          </p:nvSpPr>
          <p:spPr>
            <a:xfrm>
              <a:off x="3055025" y="3591638"/>
              <a:ext cx="850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Page in</a:t>
              </a:r>
              <a:endParaRPr sz="4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47" name="Google Shape;247;p24"/>
            <p:cNvSpPr txBox="1"/>
            <p:nvPr/>
          </p:nvSpPr>
          <p:spPr>
            <a:xfrm>
              <a:off x="5945475" y="3549800"/>
              <a:ext cx="1005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Page out</a:t>
              </a:r>
              <a:endParaRPr sz="4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5"/>
          <p:cNvSpPr txBox="1">
            <a:spLocks noGrp="1"/>
          </p:cNvSpPr>
          <p:nvPr>
            <p:ph type="title"/>
          </p:nvPr>
        </p:nvSpPr>
        <p:spPr>
          <a:xfrm>
            <a:off x="427703" y="96038"/>
            <a:ext cx="879294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/>
              <a:t>Traducción de direcciones</a:t>
            </a:r>
            <a:endParaRPr dirty="0"/>
          </a:p>
        </p:txBody>
      </p:sp>
      <p:pic>
        <p:nvPicPr>
          <p:cNvPr id="254" name="Google Shape;25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9994" y="1045538"/>
            <a:ext cx="6514133" cy="5090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7"/>
          <p:cNvSpPr txBox="1">
            <a:spLocks noGrp="1"/>
          </p:cNvSpPr>
          <p:nvPr>
            <p:ph type="title"/>
          </p:nvPr>
        </p:nvSpPr>
        <p:spPr>
          <a:xfrm>
            <a:off x="355650" y="96038"/>
            <a:ext cx="8865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Contextualización</a:t>
            </a:r>
            <a:endParaRPr dirty="0">
              <a:latin typeface="+mj-lt"/>
            </a:endParaRPr>
          </a:p>
        </p:txBody>
      </p:sp>
      <p:sp>
        <p:nvSpPr>
          <p:cNvPr id="269" name="Google Shape;269;p27"/>
          <p:cNvSpPr txBox="1">
            <a:spLocks noGrp="1"/>
          </p:cNvSpPr>
          <p:nvPr>
            <p:ph type="body" idx="1"/>
          </p:nvPr>
        </p:nvSpPr>
        <p:spPr>
          <a:xfrm>
            <a:off x="355650" y="1045538"/>
            <a:ext cx="10760400" cy="72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Pregunta clave</a:t>
            </a: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270" name="Google Shape;270;p27"/>
          <p:cNvSpPr txBox="1"/>
          <p:nvPr/>
        </p:nvSpPr>
        <p:spPr>
          <a:xfrm>
            <a:off x="355649" y="1788363"/>
            <a:ext cx="11280827" cy="95407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>
                <a:ea typeface="Roboto"/>
                <a:cs typeface="Roboto"/>
                <a:sym typeface="Roboto"/>
              </a:rPr>
              <a:t>¿Cómo decidir cuál página reemplazar?</a:t>
            </a:r>
            <a:endParaRPr sz="2600" b="1"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ea typeface="Roboto"/>
                <a:cs typeface="Roboto"/>
                <a:sym typeface="Roboto"/>
              </a:rPr>
              <a:t>¿Cómo decide el SO cuál página (o páginas) sacar de memoria?</a:t>
            </a:r>
            <a:endParaRPr sz="2400"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27"/>
          <p:cNvSpPr txBox="1"/>
          <p:nvPr/>
        </p:nvSpPr>
        <p:spPr>
          <a:xfrm>
            <a:off x="355649" y="3161788"/>
            <a:ext cx="11280827" cy="954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dirty="0">
                <a:solidFill>
                  <a:srgbClr val="0B6937"/>
                </a:solidFill>
                <a:ea typeface="Roboto"/>
                <a:cs typeface="Roboto"/>
                <a:sym typeface="Roboto"/>
              </a:rPr>
              <a:t>Respuesta</a:t>
            </a:r>
            <a:r>
              <a:rPr lang="es-ES" sz="2600" dirty="0">
                <a:solidFill>
                  <a:srgbClr val="0B6937"/>
                </a:solidFill>
                <a:ea typeface="Roboto"/>
                <a:cs typeface="Roboto"/>
                <a:sym typeface="Roboto"/>
              </a:rPr>
              <a:t>:</a:t>
            </a:r>
            <a:endParaRPr sz="2600" dirty="0">
              <a:solidFill>
                <a:srgbClr val="0B6937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dirty="0">
                <a:ea typeface="Roboto"/>
                <a:cs typeface="Roboto"/>
                <a:sym typeface="Roboto"/>
              </a:rPr>
              <a:t>Mediante el uso de una </a:t>
            </a:r>
            <a:r>
              <a:rPr lang="es-ES" sz="2400" b="1" dirty="0">
                <a:solidFill>
                  <a:srgbClr val="E46C0A"/>
                </a:solidFill>
                <a:ea typeface="Roboto"/>
                <a:cs typeface="Roboto"/>
                <a:sym typeface="Roboto"/>
              </a:rPr>
              <a:t>política de reemplazo (Replacement </a:t>
            </a:r>
            <a:r>
              <a:rPr lang="es-ES" sz="2400" b="1" dirty="0" err="1">
                <a:solidFill>
                  <a:srgbClr val="E46C0A"/>
                </a:solidFill>
                <a:ea typeface="Roboto"/>
                <a:cs typeface="Roboto"/>
                <a:sym typeface="Roboto"/>
              </a:rPr>
              <a:t>policy</a:t>
            </a:r>
            <a:r>
              <a:rPr lang="es-ES" sz="2400" b="1" dirty="0">
                <a:solidFill>
                  <a:srgbClr val="E46C0A"/>
                </a:solidFill>
                <a:ea typeface="Roboto"/>
                <a:cs typeface="Roboto"/>
                <a:sym typeface="Roboto"/>
              </a:rPr>
              <a:t>)</a:t>
            </a:r>
            <a:endParaRPr sz="2400" b="1" dirty="0">
              <a:solidFill>
                <a:srgbClr val="E46C0A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8"/>
          <p:cNvSpPr txBox="1">
            <a:spLocks noGrp="1"/>
          </p:cNvSpPr>
          <p:nvPr>
            <p:ph type="title"/>
          </p:nvPr>
        </p:nvSpPr>
        <p:spPr>
          <a:xfrm>
            <a:off x="355650" y="96038"/>
            <a:ext cx="8865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>
                <a:latin typeface="+mj-lt"/>
              </a:rPr>
              <a:t>Contextualización</a:t>
            </a:r>
            <a:endParaRPr dirty="0">
              <a:latin typeface="+mj-lt"/>
            </a:endParaRPr>
          </a:p>
        </p:txBody>
      </p:sp>
      <p:sp>
        <p:nvSpPr>
          <p:cNvPr id="277" name="Google Shape;277;p28"/>
          <p:cNvSpPr txBox="1">
            <a:spLocks noGrp="1"/>
          </p:cNvSpPr>
          <p:nvPr>
            <p:ph type="body" idx="1"/>
          </p:nvPr>
        </p:nvSpPr>
        <p:spPr>
          <a:xfrm>
            <a:off x="369842" y="998303"/>
            <a:ext cx="11466508" cy="178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Memoria como caché</a:t>
            </a:r>
            <a:endParaRPr dirty="0">
              <a:solidFill>
                <a:srgbClr val="FF0000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La </a:t>
            </a:r>
            <a:r>
              <a:rPr lang="es-ES" sz="2400" b="1" dirty="0">
                <a:latin typeface="+mn-lt"/>
              </a:rPr>
              <a:t>memoria física</a:t>
            </a:r>
            <a:r>
              <a:rPr lang="es-ES" sz="2400" dirty="0">
                <a:latin typeface="+mn-lt"/>
              </a:rPr>
              <a:t> mantiene un </a:t>
            </a:r>
            <a:r>
              <a:rPr lang="es-ES" sz="2400" b="1" dirty="0">
                <a:solidFill>
                  <a:srgbClr val="70AD47"/>
                </a:solidFill>
                <a:latin typeface="+mn-lt"/>
              </a:rPr>
              <a:t>subconjunto</a:t>
            </a:r>
            <a:r>
              <a:rPr lang="es-ES" sz="2400" dirty="0">
                <a:latin typeface="+mn-lt"/>
              </a:rPr>
              <a:t> de todas las páginas por lo que puede ser vista como una especie de </a:t>
            </a:r>
            <a:r>
              <a:rPr lang="es-ES" sz="2400" b="1" dirty="0">
                <a:solidFill>
                  <a:schemeClr val="accent2"/>
                </a:solidFill>
                <a:latin typeface="+mn-lt"/>
              </a:rPr>
              <a:t>memoria caché para páginas de memoria virtual.</a:t>
            </a: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8EDBAC69-57E6-47D1-A086-EA97EFDB4F07}"/>
              </a:ext>
            </a:extLst>
          </p:cNvPr>
          <p:cNvGrpSpPr/>
          <p:nvPr/>
        </p:nvGrpSpPr>
        <p:grpSpPr>
          <a:xfrm>
            <a:off x="534042" y="2922894"/>
            <a:ext cx="6955125" cy="3695000"/>
            <a:chOff x="652263" y="2790605"/>
            <a:chExt cx="6955125" cy="3695000"/>
          </a:xfrm>
        </p:grpSpPr>
        <p:graphicFrame>
          <p:nvGraphicFramePr>
            <p:cNvPr id="278" name="Google Shape;278;p28"/>
            <p:cNvGraphicFramePr/>
            <p:nvPr>
              <p:extLst>
                <p:ext uri="{D42A27DB-BD31-4B8C-83A1-F6EECF244321}">
                  <p14:modId xmlns:p14="http://schemas.microsoft.com/office/powerpoint/2010/main" val="138431351"/>
                </p:ext>
              </p:extLst>
            </p:nvPr>
          </p:nvGraphicFramePr>
          <p:xfrm>
            <a:off x="3020513" y="3393565"/>
            <a:ext cx="4586875" cy="883860"/>
          </p:xfrm>
          <a:graphic>
            <a:graphicData uri="http://schemas.openxmlformats.org/drawingml/2006/table">
              <a:tbl>
                <a:tblPr>
                  <a:noFill/>
                </a:tblPr>
                <a:tblGrid>
                  <a:gridCol w="7392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73920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73920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1655475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71380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3050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 b="1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0</a:t>
                        </a:r>
                        <a:endParaRPr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 b="1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1</a:t>
                        </a:r>
                        <a:endParaRPr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 b="1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2</a:t>
                        </a:r>
                        <a:endParaRPr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 b="1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...</a:t>
                        </a:r>
                        <a:endParaRPr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 b="1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M - 1</a:t>
                        </a:r>
                        <a:endParaRPr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6045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/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A4C2F4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/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/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/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/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</a:tbl>
            </a:graphicData>
          </a:graphic>
        </p:graphicFrame>
        <p:graphicFrame>
          <p:nvGraphicFramePr>
            <p:cNvPr id="279" name="Google Shape;279;p28"/>
            <p:cNvGraphicFramePr/>
            <p:nvPr>
              <p:extLst>
                <p:ext uri="{D42A27DB-BD31-4B8C-83A1-F6EECF244321}">
                  <p14:modId xmlns:p14="http://schemas.microsoft.com/office/powerpoint/2010/main" val="3896054766"/>
                </p:ext>
              </p:extLst>
            </p:nvPr>
          </p:nvGraphicFramePr>
          <p:xfrm>
            <a:off x="2267063" y="4920115"/>
            <a:ext cx="5340325" cy="883860"/>
          </p:xfrm>
          <a:graphic>
            <a:graphicData uri="http://schemas.openxmlformats.org/drawingml/2006/table">
              <a:tbl>
                <a:tblPr>
                  <a:noFill/>
                </a:tblPr>
                <a:tblGrid>
                  <a:gridCol w="74117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7411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741175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741175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165990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715725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</a:tblGrid>
                <a:tr h="52185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/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/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/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/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EA9999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/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2400"/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18900"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 b="1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0</a:t>
                        </a:r>
                        <a:endParaRPr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 b="1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1</a:t>
                        </a:r>
                        <a:endParaRPr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 b="1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2</a:t>
                        </a:r>
                        <a:endParaRPr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 b="1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3</a:t>
                        </a:r>
                        <a:endParaRPr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 b="1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N - 1</a:t>
                        </a:r>
                        <a:endParaRPr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chemeClr val="dk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</a:tbl>
            </a:graphicData>
          </a:graphic>
        </p:graphicFrame>
        <p:sp>
          <p:nvSpPr>
            <p:cNvPr id="280" name="Google Shape;280;p28"/>
            <p:cNvSpPr/>
            <p:nvPr/>
          </p:nvSpPr>
          <p:spPr>
            <a:xfrm>
              <a:off x="936126" y="4853605"/>
              <a:ext cx="1060500" cy="62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latin typeface="Consolas"/>
                  <a:ea typeface="Consolas"/>
                  <a:cs typeface="Consolas"/>
                  <a:sym typeface="Consolas"/>
                </a:rPr>
                <a:t>Swap Space</a:t>
              </a:r>
              <a:endParaRPr sz="20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81" name="Google Shape;281;p28"/>
            <p:cNvSpPr/>
            <p:nvPr/>
          </p:nvSpPr>
          <p:spPr>
            <a:xfrm>
              <a:off x="652263" y="3496480"/>
              <a:ext cx="1380300" cy="102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 err="1">
                  <a:latin typeface="Consolas"/>
                  <a:ea typeface="Consolas"/>
                  <a:cs typeface="Consolas"/>
                  <a:sym typeface="Consolas"/>
                </a:rPr>
                <a:t>Physical</a:t>
              </a:r>
              <a:r>
                <a:rPr lang="es-ES" sz="2000" dirty="0">
                  <a:latin typeface="Consolas"/>
                  <a:ea typeface="Consolas"/>
                  <a:cs typeface="Consolas"/>
                  <a:sym typeface="Consolas"/>
                </a:rPr>
                <a:t> Memory </a:t>
              </a:r>
              <a:r>
                <a:rPr lang="es-ES" sz="20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(cache)</a:t>
              </a:r>
              <a:endParaRPr sz="2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92" name="Google Shape;292;p28"/>
            <p:cNvSpPr/>
            <p:nvPr/>
          </p:nvSpPr>
          <p:spPr>
            <a:xfrm rot="10800000" flipH="1">
              <a:off x="3100452" y="4030472"/>
              <a:ext cx="437100" cy="1231900"/>
            </a:xfrm>
            <a:custGeom>
              <a:avLst/>
              <a:gdLst/>
              <a:ahLst/>
              <a:cxnLst/>
              <a:rect l="l" t="t" r="r" b="b"/>
              <a:pathLst>
                <a:path w="17484" h="49276" extrusionOk="0">
                  <a:moveTo>
                    <a:pt x="17484" y="0"/>
                  </a:moveTo>
                  <a:cubicBezTo>
                    <a:pt x="16214" y="677"/>
                    <a:pt x="12150" y="2201"/>
                    <a:pt x="9864" y="4064"/>
                  </a:cubicBezTo>
                  <a:cubicBezTo>
                    <a:pt x="7578" y="5927"/>
                    <a:pt x="5377" y="8721"/>
                    <a:pt x="3768" y="11176"/>
                  </a:cubicBezTo>
                  <a:cubicBezTo>
                    <a:pt x="2159" y="13631"/>
                    <a:pt x="635" y="16425"/>
                    <a:pt x="212" y="18796"/>
                  </a:cubicBezTo>
                  <a:cubicBezTo>
                    <a:pt x="-211" y="21167"/>
                    <a:pt x="466" y="23199"/>
                    <a:pt x="1228" y="25400"/>
                  </a:cubicBezTo>
                  <a:cubicBezTo>
                    <a:pt x="1990" y="27601"/>
                    <a:pt x="3091" y="29295"/>
                    <a:pt x="4784" y="32004"/>
                  </a:cubicBezTo>
                  <a:cubicBezTo>
                    <a:pt x="6477" y="34713"/>
                    <a:pt x="9525" y="38777"/>
                    <a:pt x="11388" y="41656"/>
                  </a:cubicBezTo>
                  <a:cubicBezTo>
                    <a:pt x="13251" y="44535"/>
                    <a:pt x="15198" y="48006"/>
                    <a:pt x="15960" y="49276"/>
                  </a:cubicBezTo>
                </a:path>
              </a:pathLst>
            </a:custGeom>
            <a:noFill/>
            <a:ln w="2857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93" name="Google Shape;293;p28"/>
            <p:cNvSpPr/>
            <p:nvPr/>
          </p:nvSpPr>
          <p:spPr>
            <a:xfrm flipH="1">
              <a:off x="4813106" y="4030470"/>
              <a:ext cx="437100" cy="1231900"/>
            </a:xfrm>
            <a:custGeom>
              <a:avLst/>
              <a:gdLst/>
              <a:ahLst/>
              <a:cxnLst/>
              <a:rect l="l" t="t" r="r" b="b"/>
              <a:pathLst>
                <a:path w="17484" h="49276" extrusionOk="0">
                  <a:moveTo>
                    <a:pt x="17484" y="0"/>
                  </a:moveTo>
                  <a:cubicBezTo>
                    <a:pt x="16214" y="677"/>
                    <a:pt x="12150" y="2201"/>
                    <a:pt x="9864" y="4064"/>
                  </a:cubicBezTo>
                  <a:cubicBezTo>
                    <a:pt x="7578" y="5927"/>
                    <a:pt x="5377" y="8721"/>
                    <a:pt x="3768" y="11176"/>
                  </a:cubicBezTo>
                  <a:cubicBezTo>
                    <a:pt x="2159" y="13631"/>
                    <a:pt x="635" y="16425"/>
                    <a:pt x="212" y="18796"/>
                  </a:cubicBezTo>
                  <a:cubicBezTo>
                    <a:pt x="-211" y="21167"/>
                    <a:pt x="466" y="23199"/>
                    <a:pt x="1228" y="25400"/>
                  </a:cubicBezTo>
                  <a:cubicBezTo>
                    <a:pt x="1990" y="27601"/>
                    <a:pt x="3091" y="29295"/>
                    <a:pt x="4784" y="32004"/>
                  </a:cubicBezTo>
                  <a:cubicBezTo>
                    <a:pt x="6477" y="34713"/>
                    <a:pt x="9525" y="38777"/>
                    <a:pt x="11388" y="41656"/>
                  </a:cubicBezTo>
                  <a:cubicBezTo>
                    <a:pt x="13251" y="44535"/>
                    <a:pt x="15198" y="48006"/>
                    <a:pt x="15960" y="49276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94" name="Google Shape;294;p28"/>
            <p:cNvSpPr/>
            <p:nvPr/>
          </p:nvSpPr>
          <p:spPr>
            <a:xfrm rot="5400000">
              <a:off x="4023388" y="2997880"/>
              <a:ext cx="190800" cy="717900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8"/>
            <p:cNvSpPr/>
            <p:nvPr/>
          </p:nvSpPr>
          <p:spPr>
            <a:xfrm rot="5400000" flipH="1">
              <a:off x="4023388" y="5540430"/>
              <a:ext cx="190800" cy="717900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8"/>
            <p:cNvSpPr txBox="1"/>
            <p:nvPr/>
          </p:nvSpPr>
          <p:spPr>
            <a:xfrm>
              <a:off x="3693388" y="2790605"/>
              <a:ext cx="8508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Frame</a:t>
              </a:r>
              <a:endParaRPr sz="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97" name="Google Shape;297;p28"/>
            <p:cNvSpPr txBox="1"/>
            <p:nvPr/>
          </p:nvSpPr>
          <p:spPr>
            <a:xfrm>
              <a:off x="3693388" y="6054505"/>
              <a:ext cx="8508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Block</a:t>
              </a:r>
              <a:endParaRPr sz="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98" name="Google Shape;298;p28"/>
            <p:cNvSpPr txBox="1"/>
            <p:nvPr/>
          </p:nvSpPr>
          <p:spPr>
            <a:xfrm>
              <a:off x="2271313" y="4426818"/>
              <a:ext cx="850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Page in</a:t>
              </a:r>
              <a:endParaRPr sz="4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99" name="Google Shape;299;p28"/>
            <p:cNvSpPr txBox="1"/>
            <p:nvPr/>
          </p:nvSpPr>
          <p:spPr>
            <a:xfrm>
              <a:off x="5161763" y="4384980"/>
              <a:ext cx="1005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Page out</a:t>
              </a:r>
              <a:endParaRPr sz="4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9AFDD54B-3205-4949-B6A6-E4B260EC7907}"/>
              </a:ext>
            </a:extLst>
          </p:cNvPr>
          <p:cNvGrpSpPr/>
          <p:nvPr/>
        </p:nvGrpSpPr>
        <p:grpSpPr>
          <a:xfrm>
            <a:off x="8156951" y="2975722"/>
            <a:ext cx="3416400" cy="2883975"/>
            <a:chOff x="8419950" y="3152725"/>
            <a:chExt cx="3416400" cy="2883975"/>
          </a:xfrm>
        </p:grpSpPr>
        <p:grpSp>
          <p:nvGrpSpPr>
            <p:cNvPr id="282" name="Google Shape;282;p28"/>
            <p:cNvGrpSpPr/>
            <p:nvPr/>
          </p:nvGrpSpPr>
          <p:grpSpPr>
            <a:xfrm>
              <a:off x="9724113" y="3915950"/>
              <a:ext cx="1119600" cy="626400"/>
              <a:chOff x="8394800" y="3115800"/>
              <a:chExt cx="1119600" cy="626400"/>
            </a:xfrm>
          </p:grpSpPr>
          <p:sp>
            <p:nvSpPr>
              <p:cNvPr id="283" name="Google Shape;283;p28"/>
              <p:cNvSpPr/>
              <p:nvPr/>
            </p:nvSpPr>
            <p:spPr>
              <a:xfrm>
                <a:off x="8394800" y="3115800"/>
                <a:ext cx="1119600" cy="626400"/>
              </a:xfrm>
              <a:prstGeom prst="rect">
                <a:avLst/>
              </a:prstGeom>
              <a:solidFill>
                <a:srgbClr val="F3F3F3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28"/>
              <p:cNvSpPr/>
              <p:nvPr/>
            </p:nvSpPr>
            <p:spPr>
              <a:xfrm>
                <a:off x="8579825" y="3308100"/>
                <a:ext cx="216300" cy="241800"/>
              </a:xfrm>
              <a:prstGeom prst="rect">
                <a:avLst/>
              </a:prstGeom>
              <a:solidFill>
                <a:srgbClr val="9FC5E8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28"/>
              <p:cNvSpPr/>
              <p:nvPr/>
            </p:nvSpPr>
            <p:spPr>
              <a:xfrm>
                <a:off x="9076425" y="3308100"/>
                <a:ext cx="216300" cy="241800"/>
              </a:xfrm>
              <a:prstGeom prst="rect">
                <a:avLst/>
              </a:prstGeom>
              <a:noFill/>
              <a:ln w="19050" cap="flat" cmpd="sng">
                <a:solidFill>
                  <a:srgbClr val="FF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6" name="Google Shape;286;p28"/>
            <p:cNvGrpSpPr/>
            <p:nvPr/>
          </p:nvGrpSpPr>
          <p:grpSpPr>
            <a:xfrm>
              <a:off x="9593713" y="4807450"/>
              <a:ext cx="1380400" cy="1229250"/>
              <a:chOff x="8242400" y="4329675"/>
              <a:chExt cx="1380400" cy="1229250"/>
            </a:xfrm>
          </p:grpSpPr>
          <p:pic>
            <p:nvPicPr>
              <p:cNvPr id="287" name="Google Shape;287;p28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8242400" y="4329675"/>
                <a:ext cx="1380400" cy="12292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8" name="Google Shape;288;p28"/>
              <p:cNvSpPr/>
              <p:nvPr/>
            </p:nvSpPr>
            <p:spPr>
              <a:xfrm>
                <a:off x="9062800" y="4949150"/>
                <a:ext cx="216300" cy="2418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28"/>
              <p:cNvSpPr/>
              <p:nvPr/>
            </p:nvSpPr>
            <p:spPr>
              <a:xfrm>
                <a:off x="8542050" y="4949150"/>
                <a:ext cx="216300" cy="241800"/>
              </a:xfrm>
              <a:prstGeom prst="rect">
                <a:avLst/>
              </a:prstGeom>
              <a:noFill/>
              <a:ln w="19050" cap="flat" cmpd="sng">
                <a:solidFill>
                  <a:srgbClr val="3C78D8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90" name="Google Shape;290;p28"/>
            <p:cNvSpPr/>
            <p:nvPr/>
          </p:nvSpPr>
          <p:spPr>
            <a:xfrm>
              <a:off x="9596871" y="4277425"/>
              <a:ext cx="437100" cy="1231900"/>
            </a:xfrm>
            <a:custGeom>
              <a:avLst/>
              <a:gdLst/>
              <a:ahLst/>
              <a:cxnLst/>
              <a:rect l="l" t="t" r="r" b="b"/>
              <a:pathLst>
                <a:path w="17484" h="49276" extrusionOk="0">
                  <a:moveTo>
                    <a:pt x="17484" y="0"/>
                  </a:moveTo>
                  <a:cubicBezTo>
                    <a:pt x="16214" y="677"/>
                    <a:pt x="12150" y="2201"/>
                    <a:pt x="9864" y="4064"/>
                  </a:cubicBezTo>
                  <a:cubicBezTo>
                    <a:pt x="7578" y="5927"/>
                    <a:pt x="5377" y="8721"/>
                    <a:pt x="3768" y="11176"/>
                  </a:cubicBezTo>
                  <a:cubicBezTo>
                    <a:pt x="2159" y="13631"/>
                    <a:pt x="635" y="16425"/>
                    <a:pt x="212" y="18796"/>
                  </a:cubicBezTo>
                  <a:cubicBezTo>
                    <a:pt x="-211" y="21167"/>
                    <a:pt x="466" y="23199"/>
                    <a:pt x="1228" y="25400"/>
                  </a:cubicBezTo>
                  <a:cubicBezTo>
                    <a:pt x="1990" y="27601"/>
                    <a:pt x="3091" y="29295"/>
                    <a:pt x="4784" y="32004"/>
                  </a:cubicBezTo>
                  <a:cubicBezTo>
                    <a:pt x="6477" y="34713"/>
                    <a:pt x="9525" y="38777"/>
                    <a:pt x="11388" y="41656"/>
                  </a:cubicBezTo>
                  <a:cubicBezTo>
                    <a:pt x="13251" y="44535"/>
                    <a:pt x="15198" y="48006"/>
                    <a:pt x="15960" y="49276"/>
                  </a:cubicBezTo>
                </a:path>
              </a:pathLst>
            </a:custGeom>
            <a:noFill/>
            <a:ln w="28575" cap="flat" cmpd="sng">
              <a:solidFill>
                <a:schemeClr val="accent5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291" name="Google Shape;291;p28"/>
            <p:cNvSpPr/>
            <p:nvPr/>
          </p:nvSpPr>
          <p:spPr>
            <a:xfrm rot="10800000">
              <a:off x="10537021" y="4277425"/>
              <a:ext cx="437100" cy="1231900"/>
            </a:xfrm>
            <a:custGeom>
              <a:avLst/>
              <a:gdLst/>
              <a:ahLst/>
              <a:cxnLst/>
              <a:rect l="l" t="t" r="r" b="b"/>
              <a:pathLst>
                <a:path w="17484" h="49276" extrusionOk="0">
                  <a:moveTo>
                    <a:pt x="17484" y="0"/>
                  </a:moveTo>
                  <a:cubicBezTo>
                    <a:pt x="16214" y="677"/>
                    <a:pt x="12150" y="2201"/>
                    <a:pt x="9864" y="4064"/>
                  </a:cubicBezTo>
                  <a:cubicBezTo>
                    <a:pt x="7578" y="5927"/>
                    <a:pt x="5377" y="8721"/>
                    <a:pt x="3768" y="11176"/>
                  </a:cubicBezTo>
                  <a:cubicBezTo>
                    <a:pt x="2159" y="13631"/>
                    <a:pt x="635" y="16425"/>
                    <a:pt x="212" y="18796"/>
                  </a:cubicBezTo>
                  <a:cubicBezTo>
                    <a:pt x="-211" y="21167"/>
                    <a:pt x="466" y="23199"/>
                    <a:pt x="1228" y="25400"/>
                  </a:cubicBezTo>
                  <a:cubicBezTo>
                    <a:pt x="1990" y="27601"/>
                    <a:pt x="3091" y="29295"/>
                    <a:pt x="4784" y="32004"/>
                  </a:cubicBezTo>
                  <a:cubicBezTo>
                    <a:pt x="6477" y="34713"/>
                    <a:pt x="9525" y="38777"/>
                    <a:pt x="11388" y="41656"/>
                  </a:cubicBezTo>
                  <a:cubicBezTo>
                    <a:pt x="13251" y="44535"/>
                    <a:pt x="15198" y="48006"/>
                    <a:pt x="15960" y="49276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300" name="Google Shape;300;p28"/>
            <p:cNvSpPr txBox="1"/>
            <p:nvPr/>
          </p:nvSpPr>
          <p:spPr>
            <a:xfrm>
              <a:off x="8419950" y="3152725"/>
              <a:ext cx="3416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Page fault ←→ Cache miss</a:t>
              </a:r>
              <a:endParaRPr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9"/>
          <p:cNvSpPr txBox="1">
            <a:spLocks noGrp="1"/>
          </p:cNvSpPr>
          <p:nvPr>
            <p:ph type="title"/>
          </p:nvPr>
        </p:nvSpPr>
        <p:spPr>
          <a:xfrm>
            <a:off x="355649" y="96038"/>
            <a:ext cx="10115705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Contextualización</a:t>
            </a:r>
            <a:endParaRPr dirty="0">
              <a:latin typeface="+mj-lt"/>
            </a:endParaRPr>
          </a:p>
        </p:txBody>
      </p:sp>
      <p:sp>
        <p:nvSpPr>
          <p:cNvPr id="306" name="Google Shape;306;p29"/>
          <p:cNvSpPr txBox="1">
            <a:spLocks noGrp="1"/>
          </p:cNvSpPr>
          <p:nvPr>
            <p:ph type="body" idx="1"/>
          </p:nvPr>
        </p:nvSpPr>
        <p:spPr>
          <a:xfrm>
            <a:off x="355649" y="835600"/>
            <a:ext cx="11480701" cy="108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</a:rPr>
              <a:t>Objetivo de la política de reemplazo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Minimizar el número de ausencias en memoria (cache miss) 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307" name="Google Shape;307;p29"/>
          <p:cNvSpPr txBox="1"/>
          <p:nvPr/>
        </p:nvSpPr>
        <p:spPr>
          <a:xfrm>
            <a:off x="355649" y="1984900"/>
            <a:ext cx="5214301" cy="2131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Cuando el uso de memoria es alto:</a:t>
            </a:r>
            <a:endParaRPr sz="2200" b="1" dirty="0">
              <a:solidFill>
                <a:srgbClr val="FF0000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El SO saca páginas (</a:t>
            </a:r>
            <a:r>
              <a:rPr lang="es-ES" sz="2200" b="1" i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page out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 de la memoria física.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Espacio libre para páginas con mayor uso.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308" name="Google Shape;308;p29"/>
          <p:cNvSpPr txBox="1"/>
          <p:nvPr/>
        </p:nvSpPr>
        <p:spPr>
          <a:xfrm>
            <a:off x="355648" y="5318225"/>
            <a:ext cx="11369319" cy="96331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0B6937"/>
                </a:solidFill>
                <a:ea typeface="Roboto"/>
                <a:cs typeface="Roboto"/>
                <a:sym typeface="Roboto"/>
              </a:rPr>
              <a:t>Las políticas de reemplazo 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definen los criterios para seleccionar cuál página debe salir de memoria.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1F0486E1-DAD7-46DE-AE53-E3769C75CD25}"/>
              </a:ext>
            </a:extLst>
          </p:cNvPr>
          <p:cNvGrpSpPr/>
          <p:nvPr/>
        </p:nvGrpSpPr>
        <p:grpSpPr>
          <a:xfrm>
            <a:off x="6936247" y="2514690"/>
            <a:ext cx="4104639" cy="1828620"/>
            <a:chOff x="6685524" y="2593713"/>
            <a:chExt cx="4104639" cy="1828620"/>
          </a:xfrm>
        </p:grpSpPr>
        <p:grpSp>
          <p:nvGrpSpPr>
            <p:cNvPr id="309" name="Google Shape;309;p29"/>
            <p:cNvGrpSpPr/>
            <p:nvPr/>
          </p:nvGrpSpPr>
          <p:grpSpPr>
            <a:xfrm>
              <a:off x="9409763" y="2678025"/>
              <a:ext cx="1380400" cy="1229250"/>
              <a:chOff x="8242400" y="4329675"/>
              <a:chExt cx="1380400" cy="1229250"/>
            </a:xfrm>
          </p:grpSpPr>
          <p:pic>
            <p:nvPicPr>
              <p:cNvPr id="310" name="Google Shape;310;p2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8242400" y="4329675"/>
                <a:ext cx="1380400" cy="12292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11" name="Google Shape;311;p29"/>
              <p:cNvSpPr/>
              <p:nvPr/>
            </p:nvSpPr>
            <p:spPr>
              <a:xfrm>
                <a:off x="8824438" y="4949150"/>
                <a:ext cx="216300" cy="2418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aphicFrame>
          <p:nvGraphicFramePr>
            <p:cNvPr id="312" name="Google Shape;312;p29"/>
            <p:cNvGraphicFramePr/>
            <p:nvPr>
              <p:extLst>
                <p:ext uri="{D42A27DB-BD31-4B8C-83A1-F6EECF244321}">
                  <p14:modId xmlns:p14="http://schemas.microsoft.com/office/powerpoint/2010/main" val="3719761674"/>
                </p:ext>
              </p:extLst>
            </p:nvPr>
          </p:nvGraphicFramePr>
          <p:xfrm>
            <a:off x="7136775" y="2593713"/>
            <a:ext cx="1380375" cy="1828620"/>
          </p:xfrm>
          <a:graphic>
            <a:graphicData uri="http://schemas.openxmlformats.org/drawingml/2006/table">
              <a:tbl>
                <a:tblPr>
                  <a:noFill/>
                </a:tblPr>
                <a:tblGrid>
                  <a:gridCol w="138037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25667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800"/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25667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800"/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25667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800"/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4CCC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25667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800"/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C9DAF8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25667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800"/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25667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800"/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</a:tbl>
            </a:graphicData>
          </a:graphic>
        </p:graphicFrame>
        <p:sp>
          <p:nvSpPr>
            <p:cNvPr id="313" name="Google Shape;313;p29"/>
            <p:cNvSpPr/>
            <p:nvPr/>
          </p:nvSpPr>
          <p:spPr>
            <a:xfrm rot="-5257287" flipH="1">
              <a:off x="8913362" y="2352318"/>
              <a:ext cx="437083" cy="1696435"/>
            </a:xfrm>
            <a:custGeom>
              <a:avLst/>
              <a:gdLst/>
              <a:ahLst/>
              <a:cxnLst/>
              <a:rect l="l" t="t" r="r" b="b"/>
              <a:pathLst>
                <a:path w="17484" h="49276" extrusionOk="0">
                  <a:moveTo>
                    <a:pt x="17484" y="0"/>
                  </a:moveTo>
                  <a:cubicBezTo>
                    <a:pt x="16214" y="677"/>
                    <a:pt x="12150" y="2201"/>
                    <a:pt x="9864" y="4064"/>
                  </a:cubicBezTo>
                  <a:cubicBezTo>
                    <a:pt x="7578" y="5927"/>
                    <a:pt x="5377" y="8721"/>
                    <a:pt x="3768" y="11176"/>
                  </a:cubicBezTo>
                  <a:cubicBezTo>
                    <a:pt x="2159" y="13631"/>
                    <a:pt x="635" y="16425"/>
                    <a:pt x="212" y="18796"/>
                  </a:cubicBezTo>
                  <a:cubicBezTo>
                    <a:pt x="-211" y="21167"/>
                    <a:pt x="466" y="23199"/>
                    <a:pt x="1228" y="25400"/>
                  </a:cubicBezTo>
                  <a:cubicBezTo>
                    <a:pt x="1990" y="27601"/>
                    <a:pt x="3091" y="29295"/>
                    <a:pt x="4784" y="32004"/>
                  </a:cubicBezTo>
                  <a:cubicBezTo>
                    <a:pt x="6477" y="34713"/>
                    <a:pt x="9525" y="38777"/>
                    <a:pt x="11388" y="41656"/>
                  </a:cubicBezTo>
                  <a:cubicBezTo>
                    <a:pt x="13251" y="44535"/>
                    <a:pt x="15198" y="48006"/>
                    <a:pt x="15960" y="49276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14" name="Google Shape;314;p29"/>
            <p:cNvSpPr txBox="1"/>
            <p:nvPr/>
          </p:nvSpPr>
          <p:spPr>
            <a:xfrm>
              <a:off x="8517150" y="2593725"/>
              <a:ext cx="1005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Page out</a:t>
              </a:r>
              <a:endParaRPr sz="4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pic>
          <p:nvPicPr>
            <p:cNvPr id="315" name="Google Shape;31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>
              <a:off x="6685524" y="3117813"/>
              <a:ext cx="349676" cy="3496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0"/>
          <p:cNvSpPr txBox="1">
            <a:spLocks noGrp="1"/>
          </p:cNvSpPr>
          <p:nvPr>
            <p:ph type="title"/>
          </p:nvPr>
        </p:nvSpPr>
        <p:spPr>
          <a:xfrm>
            <a:off x="501445" y="96038"/>
            <a:ext cx="8719205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>
                <a:latin typeface="+mj-lt"/>
              </a:rPr>
              <a:t>Contextualización</a:t>
            </a:r>
            <a:endParaRPr dirty="0">
              <a:latin typeface="+mj-lt"/>
            </a:endParaRPr>
          </a:p>
        </p:txBody>
      </p:sp>
      <p:sp>
        <p:nvSpPr>
          <p:cNvPr id="321" name="Google Shape;321;p30"/>
          <p:cNvSpPr txBox="1">
            <a:spLocks noGrp="1"/>
          </p:cNvSpPr>
          <p:nvPr>
            <p:ph type="body" idx="1"/>
          </p:nvPr>
        </p:nvSpPr>
        <p:spPr>
          <a:xfrm>
            <a:off x="501445" y="835600"/>
            <a:ext cx="11334905" cy="1477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 err="1">
                <a:solidFill>
                  <a:schemeClr val="accent1"/>
                </a:solidFill>
                <a:latin typeface="+mn-lt"/>
              </a:rPr>
              <a:t>Metrica</a:t>
            </a:r>
            <a:r>
              <a:rPr lang="es-ES" sz="2800" b="1" dirty="0">
                <a:solidFill>
                  <a:schemeClr val="accent1"/>
                </a:solidFill>
                <a:latin typeface="+mn-lt"/>
              </a:rPr>
              <a:t> - Average Memory Access Time (AMAT)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dirty="0">
                <a:latin typeface="+mn-lt"/>
              </a:rPr>
              <a:t>Con el número de hits y </a:t>
            </a:r>
            <a:r>
              <a:rPr lang="es-ES" sz="2400" dirty="0" err="1">
                <a:latin typeface="+mn-lt"/>
              </a:rPr>
              <a:t>misses</a:t>
            </a:r>
            <a:r>
              <a:rPr lang="es-ES" sz="2400" dirty="0">
                <a:latin typeface="+mn-lt"/>
              </a:rPr>
              <a:t> en la memoria podemos calcular el </a:t>
            </a:r>
            <a:r>
              <a:rPr lang="es-ES" sz="2400" b="1" dirty="0">
                <a:latin typeface="+mn-lt"/>
              </a:rPr>
              <a:t>AMAT (Average Memory Access Time)</a:t>
            </a:r>
            <a:endParaRPr sz="24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22" name="Google Shape;322;p30"/>
              <p:cNvGraphicFramePr/>
              <p:nvPr>
                <p:extLst>
                  <p:ext uri="{D42A27DB-BD31-4B8C-83A1-F6EECF244321}">
                    <p14:modId xmlns:p14="http://schemas.microsoft.com/office/powerpoint/2010/main" val="3497373535"/>
                  </p:ext>
                </p:extLst>
              </p:nvPr>
            </p:nvGraphicFramePr>
            <p:xfrm>
              <a:off x="1648385" y="3662306"/>
              <a:ext cx="8188050" cy="2440917"/>
            </p:xfrm>
            <a:graphic>
              <a:graphicData uri="http://schemas.openxmlformats.org/drawingml/2006/table">
                <a:tbl>
                  <a:tblPr>
                    <a:noFill/>
                  </a:tblPr>
                  <a:tblGrid>
                    <a:gridCol w="201992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168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800" b="1">
                              <a:solidFill>
                                <a:srgbClr val="FFFFFF"/>
                              </a:solidFill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Arguement</a:t>
                          </a:r>
                          <a:endParaRPr sz="1800" b="1">
                            <a:solidFill>
                              <a:srgbClr val="FFFFFF"/>
                            </a:solidFill>
                            <a:latin typeface="Roboto"/>
                            <a:ea typeface="Roboto"/>
                            <a:cs typeface="Roboto"/>
                            <a:sym typeface="Roboto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dk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800" b="1">
                              <a:solidFill>
                                <a:srgbClr val="FFFFFF"/>
                              </a:solidFill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Meaning</a:t>
                          </a:r>
                          <a:endParaRPr sz="1800" b="1">
                            <a:solidFill>
                              <a:srgbClr val="FFFFFF"/>
                            </a:solidFill>
                            <a:latin typeface="Roboto"/>
                            <a:ea typeface="Roboto"/>
                            <a:cs typeface="Roboto"/>
                            <a:sym typeface="Roboto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dk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i="1" dirty="0" smtClean="0">
                                    <a:latin typeface="Cambria Math" panose="02040503050406030204" pitchFamily="18" charset="0"/>
                                    <a:ea typeface="Consolas"/>
                                    <a:cs typeface="Consolas"/>
                                    <a:sym typeface="Consolas"/>
                                  </a:rPr>
                                  <m:t>𝑇</m:t>
                                </m:r>
                                <m:r>
                                  <a:rPr lang="es-ES" sz="1000" i="1" dirty="0">
                                    <a:latin typeface="Cambria Math" panose="02040503050406030204" pitchFamily="18" charset="0"/>
                                    <a:ea typeface="Consolas"/>
                                    <a:cs typeface="Consolas"/>
                                    <a:sym typeface="Consolas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sz="1000" dirty="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The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cost</a:t>
                          </a: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of</a:t>
                          </a: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accessing</a:t>
                          </a: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memory</a:t>
                          </a:r>
                          <a:endParaRPr sz="1800" dirty="0">
                            <a:latin typeface="Roboto"/>
                            <a:ea typeface="Roboto"/>
                            <a:cs typeface="Roboto"/>
                            <a:sym typeface="Roboto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i="1" smtClean="0">
                                    <a:latin typeface="Cambria Math" panose="02040503050406030204" pitchFamily="18" charset="0"/>
                                    <a:ea typeface="Consolas"/>
                                    <a:cs typeface="Consolas"/>
                                    <a:sym typeface="Consolas"/>
                                  </a:rPr>
                                  <m:t>𝑇</m:t>
                                </m:r>
                                <m:r>
                                  <a:rPr lang="es-ES" sz="1000" i="1">
                                    <a:latin typeface="Cambria Math" panose="02040503050406030204" pitchFamily="18" charset="0"/>
                                    <a:ea typeface="Consolas"/>
                                    <a:cs typeface="Consolas"/>
                                    <a:sym typeface="Consolas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sz="100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The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cost</a:t>
                          </a: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of</a:t>
                          </a: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accessing</a:t>
                          </a: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 disk</a:t>
                          </a:r>
                          <a:endParaRPr sz="1800" dirty="0">
                            <a:latin typeface="Roboto"/>
                            <a:ea typeface="Roboto"/>
                            <a:cs typeface="Roboto"/>
                            <a:sym typeface="Roboto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i="1" smtClean="0">
                                    <a:latin typeface="Cambria Math" panose="02040503050406030204" pitchFamily="18" charset="0"/>
                                    <a:ea typeface="Consolas"/>
                                    <a:cs typeface="Consolas"/>
                                    <a:sym typeface="Consolas"/>
                                  </a:rPr>
                                  <m:t>𝑃</m:t>
                                </m:r>
                                <m:r>
                                  <a:rPr lang="es-ES" sz="1000" i="1">
                                    <a:latin typeface="Cambria Math" panose="02040503050406030204" pitchFamily="18" charset="0"/>
                                    <a:ea typeface="Consolas"/>
                                    <a:cs typeface="Consolas"/>
                                    <a:sym typeface="Consolas"/>
                                  </a:rPr>
                                  <m:t>𝐻𝑖𝑡</m:t>
                                </m:r>
                              </m:oMath>
                            </m:oMathPara>
                          </a14:m>
                          <a:endParaRPr sz="100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The probability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of</a:t>
                          </a: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finding</a:t>
                          </a: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the</a:t>
                          </a: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 data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item</a:t>
                          </a: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 in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the</a:t>
                          </a: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 cache(a hit)</a:t>
                          </a:r>
                          <a:endParaRPr sz="1800" dirty="0">
                            <a:latin typeface="Roboto"/>
                            <a:ea typeface="Roboto"/>
                            <a:cs typeface="Roboto"/>
                            <a:sym typeface="Roboto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i="1" dirty="0" smtClean="0">
                                    <a:latin typeface="Cambria Math" panose="02040503050406030204" pitchFamily="18" charset="0"/>
                                    <a:ea typeface="Consolas"/>
                                    <a:cs typeface="Consolas"/>
                                    <a:sym typeface="Consolas"/>
                                  </a:rPr>
                                  <m:t>𝑃</m:t>
                                </m:r>
                                <m:r>
                                  <a:rPr lang="es-ES" sz="1000" i="1" dirty="0" err="1">
                                    <a:latin typeface="Cambria Math" panose="02040503050406030204" pitchFamily="18" charset="0"/>
                                    <a:ea typeface="Consolas"/>
                                    <a:cs typeface="Consolas"/>
                                    <a:sym typeface="Consolas"/>
                                  </a:rPr>
                                  <m:t>𝑀𝑖𝑠𝑠</m:t>
                                </m:r>
                              </m:oMath>
                            </m:oMathPara>
                          </a14:m>
                          <a:endParaRPr sz="1000" dirty="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The probability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of</a:t>
                          </a: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not</a:t>
                          </a: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finding</a:t>
                          </a: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the</a:t>
                          </a: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 data in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the</a:t>
                          </a: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 cache(a miss)</a:t>
                          </a:r>
                          <a:endParaRPr sz="1800" dirty="0">
                            <a:latin typeface="Roboto"/>
                            <a:ea typeface="Roboto"/>
                            <a:cs typeface="Roboto"/>
                            <a:sym typeface="Roboto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22" name="Google Shape;322;p30"/>
              <p:cNvGraphicFramePr/>
              <p:nvPr>
                <p:extLst>
                  <p:ext uri="{D42A27DB-BD31-4B8C-83A1-F6EECF244321}">
                    <p14:modId xmlns:p14="http://schemas.microsoft.com/office/powerpoint/2010/main" val="3497373535"/>
                  </p:ext>
                </p:extLst>
              </p:nvPr>
            </p:nvGraphicFramePr>
            <p:xfrm>
              <a:off x="1648385" y="3662306"/>
              <a:ext cx="8188050" cy="2440917"/>
            </p:xfrm>
            <a:graphic>
              <a:graphicData uri="http://schemas.openxmlformats.org/drawingml/2006/table">
                <a:tbl>
                  <a:tblPr>
                    <a:noFill/>
                  </a:tblPr>
                  <a:tblGrid>
                    <a:gridCol w="201992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168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800" b="1">
                              <a:solidFill>
                                <a:srgbClr val="FFFFFF"/>
                              </a:solidFill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Arguement</a:t>
                          </a:r>
                          <a:endParaRPr sz="1800" b="1">
                            <a:solidFill>
                              <a:srgbClr val="FFFFFF"/>
                            </a:solidFill>
                            <a:latin typeface="Roboto"/>
                            <a:ea typeface="Roboto"/>
                            <a:cs typeface="Roboto"/>
                            <a:sym typeface="Roboto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dk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800" b="1">
                              <a:solidFill>
                                <a:srgbClr val="FFFFFF"/>
                              </a:solidFill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Meaning</a:t>
                          </a:r>
                          <a:endParaRPr sz="1800" b="1">
                            <a:solidFill>
                              <a:srgbClr val="FFFFFF"/>
                            </a:solidFill>
                            <a:latin typeface="Roboto"/>
                            <a:ea typeface="Roboto"/>
                            <a:cs typeface="Roboto"/>
                            <a:sym typeface="Roboto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dk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i="1" dirty="0" smtClean="0">
                                    <a:latin typeface="Cambria Math" panose="02040503050406030204" pitchFamily="18" charset="0"/>
                                    <a:ea typeface="Consolas"/>
                                    <a:cs typeface="Consolas"/>
                                    <a:sym typeface="Consolas"/>
                                  </a:rPr>
                                  <m:t>𝑇</m:t>
                                </m:r>
                                <m:r>
                                  <a:rPr lang="es-ES" sz="1000" i="1" dirty="0">
                                    <a:latin typeface="Cambria Math" panose="02040503050406030204" pitchFamily="18" charset="0"/>
                                    <a:ea typeface="Consolas"/>
                                    <a:cs typeface="Consolas"/>
                                    <a:sym typeface="Consolas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sz="1000" dirty="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The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cost</a:t>
                          </a: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of</a:t>
                          </a: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accessing</a:t>
                          </a: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memory</a:t>
                          </a:r>
                          <a:endParaRPr sz="1800" dirty="0">
                            <a:latin typeface="Roboto"/>
                            <a:ea typeface="Roboto"/>
                            <a:cs typeface="Roboto"/>
                            <a:sym typeface="Roboto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i="1" smtClean="0">
                                    <a:latin typeface="Cambria Math" panose="02040503050406030204" pitchFamily="18" charset="0"/>
                                    <a:ea typeface="Consolas"/>
                                    <a:cs typeface="Consolas"/>
                                    <a:sym typeface="Consolas"/>
                                  </a:rPr>
                                  <m:t>𝑇</m:t>
                                </m:r>
                                <m:r>
                                  <a:rPr lang="es-ES" sz="1000" i="1">
                                    <a:latin typeface="Cambria Math" panose="02040503050406030204" pitchFamily="18" charset="0"/>
                                    <a:ea typeface="Consolas"/>
                                    <a:cs typeface="Consolas"/>
                                    <a:sym typeface="Consolas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sz="100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The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cost</a:t>
                          </a: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of</a:t>
                          </a: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accessing</a:t>
                          </a: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 disk</a:t>
                          </a:r>
                          <a:endParaRPr sz="1800" dirty="0">
                            <a:latin typeface="Roboto"/>
                            <a:ea typeface="Roboto"/>
                            <a:cs typeface="Roboto"/>
                            <a:sym typeface="Roboto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i="1" smtClean="0">
                                    <a:latin typeface="Cambria Math" panose="02040503050406030204" pitchFamily="18" charset="0"/>
                                    <a:ea typeface="Consolas"/>
                                    <a:cs typeface="Consolas"/>
                                    <a:sym typeface="Consolas"/>
                                  </a:rPr>
                                  <m:t>𝑃</m:t>
                                </m:r>
                                <m:r>
                                  <a:rPr lang="es-ES" sz="1000" i="1">
                                    <a:latin typeface="Cambria Math" panose="02040503050406030204" pitchFamily="18" charset="0"/>
                                    <a:ea typeface="Consolas"/>
                                    <a:cs typeface="Consolas"/>
                                    <a:sym typeface="Consolas"/>
                                  </a:rPr>
                                  <m:t>𝐻𝑖𝑡</m:t>
                                </m:r>
                              </m:oMath>
                            </m:oMathPara>
                          </a14:m>
                          <a:endParaRPr sz="100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The probability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of</a:t>
                          </a: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finding</a:t>
                          </a: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the</a:t>
                          </a: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 data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item</a:t>
                          </a: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 in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the</a:t>
                          </a: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 cache(a hit)</a:t>
                          </a:r>
                          <a:endParaRPr sz="1800" dirty="0">
                            <a:latin typeface="Roboto"/>
                            <a:ea typeface="Roboto"/>
                            <a:cs typeface="Roboto"/>
                            <a:sym typeface="Roboto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800" i="1" dirty="0" smtClean="0">
                                    <a:latin typeface="Cambria Math" panose="02040503050406030204" pitchFamily="18" charset="0"/>
                                    <a:ea typeface="Consolas"/>
                                    <a:cs typeface="Consolas"/>
                                    <a:sym typeface="Consolas"/>
                                  </a:rPr>
                                  <m:t>𝑃</m:t>
                                </m:r>
                                <m:r>
                                  <a:rPr lang="es-ES" sz="1000" i="1" dirty="0" err="1">
                                    <a:latin typeface="Cambria Math" panose="02040503050406030204" pitchFamily="18" charset="0"/>
                                    <a:ea typeface="Consolas"/>
                                    <a:cs typeface="Consolas"/>
                                    <a:sym typeface="Consolas"/>
                                  </a:rPr>
                                  <m:t>𝑀𝑖𝑠𝑠</m:t>
                                </m:r>
                              </m:oMath>
                            </m:oMathPara>
                          </a14:m>
                          <a:endParaRPr sz="1000" dirty="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The probability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of</a:t>
                          </a: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not</a:t>
                          </a: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finding</a:t>
                          </a: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the</a:t>
                          </a: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 data in </a:t>
                          </a:r>
                          <a:r>
                            <a:rPr lang="es-ES" sz="1800" dirty="0" err="1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the</a:t>
                          </a:r>
                          <a:r>
                            <a:rPr lang="es-ES" sz="1800" dirty="0">
                              <a:latin typeface="Roboto"/>
                              <a:ea typeface="Roboto"/>
                              <a:cs typeface="Roboto"/>
                              <a:sym typeface="Roboto"/>
                            </a:rPr>
                            <a:t> cache(a miss)</a:t>
                          </a:r>
                          <a:endParaRPr sz="1800" dirty="0">
                            <a:latin typeface="Roboto"/>
                            <a:ea typeface="Roboto"/>
                            <a:cs typeface="Roboto"/>
                            <a:sym typeface="Roboto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EFC51A20-7472-4815-B448-1F7CEC2DBEDC}"/>
                  </a:ext>
                </a:extLst>
              </p:cNvPr>
              <p:cNvSpPr txBox="1"/>
              <p:nvPr/>
            </p:nvSpPr>
            <p:spPr>
              <a:xfrm>
                <a:off x="3118711" y="2715856"/>
                <a:ext cx="4679999" cy="43088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𝐴𝑀𝐴𝑇</m:t>
                      </m:r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𝐻𝑖𝑡</m:t>
                          </m:r>
                        </m:sub>
                      </m:sSub>
                      <m:r>
                        <a:rPr lang="es-MX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s-MX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MX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s-MX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s-MX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𝑠𝑠</m:t>
                          </m:r>
                        </m:sub>
                      </m:sSub>
                      <m:r>
                        <a:rPr lang="es-MX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s-MX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MX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lang="es-CO" sz="2800" dirty="0"/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EFC51A20-7472-4815-B448-1F7CEC2DBE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8711" y="2715856"/>
                <a:ext cx="4679999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1"/>
          <p:cNvSpPr txBox="1">
            <a:spLocks noGrp="1"/>
          </p:cNvSpPr>
          <p:nvPr>
            <p:ph type="title"/>
          </p:nvPr>
        </p:nvSpPr>
        <p:spPr>
          <a:xfrm>
            <a:off x="516194" y="96038"/>
            <a:ext cx="870445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Contextualización</a:t>
            </a:r>
            <a:endParaRPr dirty="0">
              <a:latin typeface="+mj-lt"/>
            </a:endParaRPr>
          </a:p>
        </p:txBody>
      </p:sp>
      <p:sp>
        <p:nvSpPr>
          <p:cNvPr id="329" name="Google Shape;329;p31"/>
          <p:cNvSpPr txBox="1">
            <a:spLocks noGrp="1"/>
          </p:cNvSpPr>
          <p:nvPr>
            <p:ph type="body" idx="1"/>
          </p:nvPr>
        </p:nvSpPr>
        <p:spPr>
          <a:xfrm>
            <a:off x="516194" y="924090"/>
            <a:ext cx="11320156" cy="5587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Average Memory Access Time (AMAT) - </a:t>
            </a:r>
            <a:r>
              <a:rPr lang="es-ES" sz="2800" b="1" dirty="0">
                <a:solidFill>
                  <a:srgbClr val="E06666"/>
                </a:solidFill>
                <a:latin typeface="+mn-lt"/>
              </a:rPr>
              <a:t>Simplificación</a:t>
            </a:r>
            <a:endParaRPr sz="2200" dirty="0">
              <a:solidFill>
                <a:srgbClr val="E06666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Como el objetivo de la política de reemplazo consiste en mejorar la tasa de Hits (aciertos), idealmente se puede realizar la siguiente simplificación: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lang="es-ES"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De modo que la expresión para el </a:t>
            </a:r>
            <a:r>
              <a:rPr lang="es-ES" sz="2400" b="1" dirty="0">
                <a:latin typeface="+mn-lt"/>
              </a:rPr>
              <a:t>tiempo promedio de acceso a memoria</a:t>
            </a:r>
            <a:r>
              <a:rPr lang="es-ES" sz="2400" dirty="0">
                <a:latin typeface="+mn-lt"/>
              </a:rPr>
              <a:t> quedará como: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331" name="Google Shape;331;p31"/>
          <p:cNvGrpSpPr/>
          <p:nvPr/>
        </p:nvGrpSpPr>
        <p:grpSpPr>
          <a:xfrm>
            <a:off x="3158375" y="2805199"/>
            <a:ext cx="2450225" cy="585000"/>
            <a:chOff x="3283325" y="3336850"/>
            <a:chExt cx="2450225" cy="585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2" name="Google Shape;332;p31"/>
                <p:cNvSpPr txBox="1"/>
                <p:nvPr/>
              </p:nvSpPr>
              <p:spPr>
                <a:xfrm>
                  <a:off x="3283325" y="3336850"/>
                  <a:ext cx="1221300" cy="585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sz="2600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600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s-ES" sz="2600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𝐻𝐼𝑇</m:t>
                            </m:r>
                          </m:sub>
                        </m:sSub>
                      </m:oMath>
                    </m:oMathPara>
                  </a14:m>
                  <a:endParaRPr sz="2600" dirty="0">
                    <a:solidFill>
                      <a:schemeClr val="dk1"/>
                    </a:solidFill>
                  </a:endParaRPr>
                </a:p>
              </p:txBody>
            </p:sp>
          </mc:Choice>
          <mc:Fallback xmlns="">
            <p:sp>
              <p:nvSpPr>
                <p:cNvPr id="332" name="Google Shape;332;p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3325" y="3336850"/>
                  <a:ext cx="1221300" cy="5850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3" name="Google Shape;333;p31"/>
            <p:cNvCxnSpPr/>
            <p:nvPr/>
          </p:nvCxnSpPr>
          <p:spPr>
            <a:xfrm>
              <a:off x="4504625" y="3629350"/>
              <a:ext cx="571500" cy="0"/>
            </a:xfrm>
            <a:prstGeom prst="straightConnector1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4" name="Google Shape;334;p31"/>
                <p:cNvSpPr txBox="1"/>
                <p:nvPr/>
              </p:nvSpPr>
              <p:spPr>
                <a:xfrm>
                  <a:off x="5251750" y="3336850"/>
                  <a:ext cx="481800" cy="585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2600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sz="2600" dirty="0">
                    <a:solidFill>
                      <a:schemeClr val="dk1"/>
                    </a:solidFill>
                  </a:endParaRPr>
                </a:p>
              </p:txBody>
            </p:sp>
          </mc:Choice>
          <mc:Fallback xmlns="">
            <p:sp>
              <p:nvSpPr>
                <p:cNvPr id="334" name="Google Shape;334;p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1750" y="3336850"/>
                  <a:ext cx="481800" cy="5850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5" name="Google Shape;335;p31"/>
              <p:cNvSpPr txBox="1"/>
              <p:nvPr/>
            </p:nvSpPr>
            <p:spPr>
              <a:xfrm>
                <a:off x="6475350" y="2805199"/>
                <a:ext cx="2745300" cy="5847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6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0 &lt; </m:t>
                      </m:r>
                      <m:sSub>
                        <m:sSubPr>
                          <m:ctrlPr>
                            <a:rPr lang="es-ES" sz="26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6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ES" sz="26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𝑀𝐼𝑆𝑆</m:t>
                          </m:r>
                        </m:sub>
                      </m:sSub>
                      <m:r>
                        <a:rPr lang="es-ES" sz="26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≤ 1</m:t>
                      </m:r>
                    </m:oMath>
                  </m:oMathPara>
                </a14:m>
                <a:endParaRPr sz="2600" dirty="0">
                  <a:solidFill>
                    <a:schemeClr val="dk1"/>
                  </a:solidFill>
                </a:endParaRPr>
              </a:p>
            </p:txBody>
          </p:sp>
        </mc:Choice>
        <mc:Fallback xmlns="">
          <p:sp>
            <p:nvSpPr>
              <p:cNvPr id="335" name="Google Shape;335;p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5350" y="2805199"/>
                <a:ext cx="2745300" cy="58474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F6CD7A61-519D-4889-8692-AA3041230B71}"/>
                  </a:ext>
                </a:extLst>
              </p:cNvPr>
              <p:cNvSpPr txBox="1"/>
              <p:nvPr/>
            </p:nvSpPr>
            <p:spPr>
              <a:xfrm>
                <a:off x="4379675" y="5149605"/>
                <a:ext cx="3420103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𝐴𝑀𝐴𝑇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MX" sz="2400" b="0" i="1" smtClean="0">
                              <a:latin typeface="Cambria Math" panose="02040503050406030204" pitchFamily="18" charset="0"/>
                            </a:rPr>
                            <m:t>𝐻𝑖𝑡</m:t>
                          </m:r>
                        </m:sub>
                      </m:sSub>
                      <m:r>
                        <a:rPr lang="es-MX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MX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s-MX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MX" sz="2400" b="0" i="1" smtClean="0">
                              <a:latin typeface="Cambria Math" panose="02040503050406030204" pitchFamily="18" charset="0"/>
                            </a:rPr>
                            <m:t>𝑠𝑠</m:t>
                          </m:r>
                        </m:sub>
                      </m:sSub>
                      <m:r>
                        <a:rPr lang="es-MX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s-MX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MX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lang="es-CO" sz="2400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F6CD7A61-519D-4889-8692-AA3041230B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9675" y="5149605"/>
                <a:ext cx="3420103" cy="369332"/>
              </a:xfrm>
              <a:prstGeom prst="rect">
                <a:avLst/>
              </a:prstGeom>
              <a:blipFill>
                <a:blip r:embed="rId6"/>
                <a:stretch>
                  <a:fillRect l="-1604" r="-178" b="-1666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2"/>
          <p:cNvSpPr txBox="1">
            <a:spLocks noGrp="1"/>
          </p:cNvSpPr>
          <p:nvPr>
            <p:ph type="title"/>
          </p:nvPr>
        </p:nvSpPr>
        <p:spPr>
          <a:xfrm>
            <a:off x="516194" y="96038"/>
            <a:ext cx="870445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>
                <a:latin typeface="+mj-lt"/>
              </a:rPr>
              <a:t>Contextualización</a:t>
            </a:r>
            <a:endParaRPr dirty="0">
              <a:latin typeface="+mj-lt"/>
            </a:endParaRPr>
          </a:p>
        </p:txBody>
      </p:sp>
      <p:sp>
        <p:nvSpPr>
          <p:cNvPr id="341" name="Google Shape;341;p32"/>
          <p:cNvSpPr txBox="1">
            <a:spLocks noGrp="1"/>
          </p:cNvSpPr>
          <p:nvPr>
            <p:ph type="body" idx="1"/>
          </p:nvPr>
        </p:nvSpPr>
        <p:spPr>
          <a:xfrm>
            <a:off x="516194" y="924700"/>
            <a:ext cx="11320156" cy="135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Ejemplo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Se tiene un espacio de direcciones de 4 KB dividido en páginas de 256 B. Determine el formato de la dirección virtual para este caso.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342" name="Google Shape;342;p32"/>
          <p:cNvSpPr txBox="1"/>
          <p:nvPr/>
        </p:nvSpPr>
        <p:spPr>
          <a:xfrm>
            <a:off x="6291950" y="2506350"/>
            <a:ext cx="5652300" cy="3262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Datos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(AS) = 4 KB = (2^2)(2^10) = 2^12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(page) = 256 B = 2^8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n(VA) = ?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n(VPN) = ?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n(offset) = ?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Solución:</a:t>
            </a:r>
            <a:endParaRPr dirty="0">
              <a:solidFill>
                <a:schemeClr val="dk1"/>
              </a:solidFill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n(VA) = log2(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(AS))= log2(2^12) = 12 bits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n(offset) = log2(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(page)) =log2(2^8) = 8 bits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n(VPN) = n(VA) - n(offset) = 12 - 8 = 4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343" name="Google Shape;343;p32"/>
          <p:cNvGraphicFramePr/>
          <p:nvPr/>
        </p:nvGraphicFramePr>
        <p:xfrm>
          <a:off x="1430550" y="3432450"/>
          <a:ext cx="4594200" cy="7924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750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</a:t>
                      </a:r>
                      <a:endParaRPr dirty="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44" name="Google Shape;344;p32"/>
          <p:cNvSpPr txBox="1"/>
          <p:nvPr/>
        </p:nvSpPr>
        <p:spPr>
          <a:xfrm>
            <a:off x="825200" y="3704300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3"/>
          <p:cNvSpPr txBox="1">
            <a:spLocks noGrp="1"/>
          </p:cNvSpPr>
          <p:nvPr>
            <p:ph type="title"/>
          </p:nvPr>
        </p:nvSpPr>
        <p:spPr>
          <a:xfrm>
            <a:off x="406550" y="96038"/>
            <a:ext cx="88141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+mj-lt"/>
              </a:rPr>
              <a:t>Contextualización</a:t>
            </a:r>
            <a:endParaRPr>
              <a:latin typeface="+mj-lt"/>
            </a:endParaRPr>
          </a:p>
        </p:txBody>
      </p:sp>
      <p:sp>
        <p:nvSpPr>
          <p:cNvPr id="350" name="Google Shape;350;p33"/>
          <p:cNvSpPr txBox="1">
            <a:spLocks noGrp="1"/>
          </p:cNvSpPr>
          <p:nvPr>
            <p:ph type="body" idx="1"/>
          </p:nvPr>
        </p:nvSpPr>
        <p:spPr>
          <a:xfrm>
            <a:off x="406550" y="822900"/>
            <a:ext cx="11378900" cy="135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</a:rPr>
              <a:t>Ejemplo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La siguiente tabla muestra de manera resumida las referencias a memoria. 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Haga un bosquejo de estas en memoria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aphicFrame>
        <p:nvGraphicFramePr>
          <p:cNvPr id="351" name="Google Shape;351;p33"/>
          <p:cNvGraphicFramePr/>
          <p:nvPr/>
        </p:nvGraphicFramePr>
        <p:xfrm>
          <a:off x="3138575" y="2145543"/>
          <a:ext cx="6374025" cy="18286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8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8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endParaRPr sz="18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8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0, 1, 2, 4, 5, 6, 7, 8, 9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10, 11, 12, 13, 14, 13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4"/>
          <p:cNvSpPr txBox="1">
            <a:spLocks noGrp="1"/>
          </p:cNvSpPr>
          <p:nvPr>
            <p:ph type="title"/>
          </p:nvPr>
        </p:nvSpPr>
        <p:spPr>
          <a:xfrm>
            <a:off x="634181" y="96038"/>
            <a:ext cx="858646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Contextualización</a:t>
            </a:r>
            <a:endParaRPr dirty="0">
              <a:latin typeface="+mj-lt"/>
            </a:endParaRPr>
          </a:p>
        </p:txBody>
      </p:sp>
      <p:graphicFrame>
        <p:nvGraphicFramePr>
          <p:cNvPr id="357" name="Google Shape;357;p34"/>
          <p:cNvGraphicFramePr/>
          <p:nvPr/>
        </p:nvGraphicFramePr>
        <p:xfrm>
          <a:off x="3840938" y="1483400"/>
          <a:ext cx="1142525" cy="48764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9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0</a:t>
                      </a:r>
                      <a:endParaRPr sz="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1</a:t>
                      </a:r>
                      <a:endParaRPr sz="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2</a:t>
                      </a:r>
                      <a:endParaRPr sz="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3</a:t>
                      </a:r>
                      <a:endParaRPr sz="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4</a:t>
                      </a:r>
                      <a:endParaRPr sz="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5</a:t>
                      </a:r>
                      <a:endParaRPr sz="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6</a:t>
                      </a:r>
                      <a:endParaRPr sz="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7</a:t>
                      </a:r>
                      <a:endParaRPr sz="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8</a:t>
                      </a:r>
                      <a:endParaRPr sz="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9</a:t>
                      </a:r>
                      <a:endParaRPr sz="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 sz="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 sz="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  <a:endParaRPr sz="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  <a:endParaRPr sz="8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358" name="Google Shape;358;p34"/>
          <p:cNvSpPr txBox="1"/>
          <p:nvPr/>
        </p:nvSpPr>
        <p:spPr>
          <a:xfrm>
            <a:off x="4133050" y="990800"/>
            <a:ext cx="927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Address Space</a:t>
            </a:r>
            <a:endParaRPr sz="800"/>
          </a:p>
        </p:txBody>
      </p:sp>
      <p:sp>
        <p:nvSpPr>
          <p:cNvPr id="359" name="Google Shape;359;p34"/>
          <p:cNvSpPr txBox="1"/>
          <p:nvPr/>
        </p:nvSpPr>
        <p:spPr>
          <a:xfrm>
            <a:off x="3714500" y="1196713"/>
            <a:ext cx="636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endParaRPr sz="1000">
              <a:solidFill>
                <a:srgbClr val="FF0000"/>
              </a:solidFill>
            </a:endParaRPr>
          </a:p>
        </p:txBody>
      </p:sp>
      <p:graphicFrame>
        <p:nvGraphicFramePr>
          <p:cNvPr id="360" name="Google Shape;360;p34"/>
          <p:cNvGraphicFramePr/>
          <p:nvPr/>
        </p:nvGraphicFramePr>
        <p:xfrm>
          <a:off x="6092263" y="2092938"/>
          <a:ext cx="759675" cy="36573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5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OS</a:t>
                      </a:r>
                      <a:endParaRPr sz="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0</a:t>
                      </a:r>
                      <a:endParaRPr sz="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1</a:t>
                      </a:r>
                      <a:endParaRPr sz="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4</a:t>
                      </a:r>
                      <a:endParaRPr sz="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5</a:t>
                      </a:r>
                      <a:endParaRPr sz="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9</a:t>
                      </a:r>
                      <a:endParaRPr sz="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61" name="Google Shape;361;p34"/>
          <p:cNvSpPr txBox="1"/>
          <p:nvPr/>
        </p:nvSpPr>
        <p:spPr>
          <a:xfrm>
            <a:off x="6008163" y="1600338"/>
            <a:ext cx="927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 err="1">
                <a:latin typeface="Consolas"/>
                <a:ea typeface="Consolas"/>
                <a:cs typeface="Consolas"/>
                <a:sym typeface="Consolas"/>
              </a:rPr>
              <a:t>Physical</a:t>
            </a: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 Memory</a:t>
            </a:r>
            <a:endParaRPr sz="800" dirty="0"/>
          </a:p>
        </p:txBody>
      </p:sp>
      <p:grpSp>
        <p:nvGrpSpPr>
          <p:cNvPr id="362" name="Google Shape;362;p34"/>
          <p:cNvGrpSpPr/>
          <p:nvPr/>
        </p:nvGrpSpPr>
        <p:grpSpPr>
          <a:xfrm>
            <a:off x="7629875" y="1045550"/>
            <a:ext cx="4305300" cy="5365725"/>
            <a:chOff x="7477475" y="1045550"/>
            <a:chExt cx="4305300" cy="5365725"/>
          </a:xfrm>
        </p:grpSpPr>
        <p:pic>
          <p:nvPicPr>
            <p:cNvPr id="363" name="Google Shape;363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477475" y="1045550"/>
              <a:ext cx="4305300" cy="53657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4" name="Google Shape;364;p34"/>
            <p:cNvSpPr/>
            <p:nvPr/>
          </p:nvSpPr>
          <p:spPr>
            <a:xfrm>
              <a:off x="8099775" y="3579175"/>
              <a:ext cx="393600" cy="4008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8633175" y="3579175"/>
              <a:ext cx="393600" cy="4008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9166575" y="3579175"/>
              <a:ext cx="393600" cy="4008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9699975" y="3579175"/>
              <a:ext cx="393600" cy="4008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10233375" y="3579175"/>
              <a:ext cx="393600" cy="4008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10766775" y="3579175"/>
              <a:ext cx="393600" cy="4008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8112525" y="4104500"/>
              <a:ext cx="393600" cy="4008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8645925" y="4104500"/>
              <a:ext cx="393600" cy="4008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9179325" y="4104500"/>
              <a:ext cx="393600" cy="4008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8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9712725" y="4104500"/>
              <a:ext cx="393600" cy="4008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9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10246125" y="4104500"/>
              <a:ext cx="393600" cy="400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10779525" y="4104500"/>
              <a:ext cx="393600" cy="400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8112525" y="4589625"/>
              <a:ext cx="393600" cy="400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8645925" y="4589625"/>
              <a:ext cx="393600" cy="400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9179325" y="4589625"/>
              <a:ext cx="393600" cy="400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9712725" y="4589625"/>
              <a:ext cx="393600" cy="400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10246125" y="4589625"/>
              <a:ext cx="393600" cy="400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10779525" y="4589625"/>
              <a:ext cx="393600" cy="400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382" name="Google Shape;382;p34"/>
          <p:cNvGraphicFramePr/>
          <p:nvPr/>
        </p:nvGraphicFramePr>
        <p:xfrm>
          <a:off x="1132550" y="2615443"/>
          <a:ext cx="2214175" cy="18286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19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4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2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endParaRPr sz="12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2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3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0, 1, 2, 4, 5, 6, 7, 8, 9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10, 11, 12, 13, 14, 13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5"/>
          <p:cNvSpPr txBox="1">
            <a:spLocks noGrp="1"/>
          </p:cNvSpPr>
          <p:nvPr>
            <p:ph type="title"/>
          </p:nvPr>
        </p:nvSpPr>
        <p:spPr>
          <a:xfrm>
            <a:off x="560439" y="96038"/>
            <a:ext cx="866021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Contextualización</a:t>
            </a:r>
            <a:endParaRPr dirty="0">
              <a:latin typeface="+mj-lt"/>
            </a:endParaRPr>
          </a:p>
        </p:txBody>
      </p:sp>
      <p:sp>
        <p:nvSpPr>
          <p:cNvPr id="388" name="Google Shape;388;p35"/>
          <p:cNvSpPr txBox="1">
            <a:spLocks noGrp="1"/>
          </p:cNvSpPr>
          <p:nvPr>
            <p:ph type="body" idx="1"/>
          </p:nvPr>
        </p:nvSpPr>
        <p:spPr>
          <a:xfrm>
            <a:off x="398206" y="822900"/>
            <a:ext cx="11387244" cy="339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</a:rPr>
              <a:t>Ejemplo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Suponga que un proceso lleva a cabo el acceso a memoria de acuerdo a la siguiente traza: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Suponiendo que </a:t>
            </a:r>
            <a:r>
              <a:rPr lang="es-ES" sz="2200" b="1" dirty="0">
                <a:latin typeface="+mn-lt"/>
                <a:ea typeface="Consolas"/>
                <a:cs typeface="Consolas"/>
                <a:sym typeface="Consolas"/>
              </a:rPr>
              <a:t>TD = 10ms</a:t>
            </a:r>
            <a:r>
              <a:rPr lang="es-ES" sz="2200" dirty="0">
                <a:latin typeface="+mn-lt"/>
              </a:rPr>
              <a:t> y </a:t>
            </a:r>
            <a:r>
              <a:rPr lang="es-ES" sz="2200" b="1" dirty="0">
                <a:latin typeface="+mn-lt"/>
                <a:ea typeface="Consolas"/>
                <a:cs typeface="Consolas"/>
                <a:sym typeface="Consolas"/>
              </a:rPr>
              <a:t>TM = 100 ns</a:t>
            </a:r>
            <a:r>
              <a:rPr lang="es-ES" sz="2200" dirty="0">
                <a:latin typeface="+mn-lt"/>
              </a:rPr>
              <a:t>. </a:t>
            </a:r>
            <a:r>
              <a:rPr lang="es-ES" sz="2200" b="1" dirty="0">
                <a:solidFill>
                  <a:srgbClr val="FF0000"/>
                </a:solidFill>
                <a:latin typeface="+mn-lt"/>
              </a:rPr>
              <a:t>¿Cual es el valor de AMAT?</a:t>
            </a:r>
            <a:endParaRPr sz="2200" b="1" dirty="0">
              <a:solidFill>
                <a:srgbClr val="FF0000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b="1" dirty="0">
              <a:solidFill>
                <a:srgbClr val="FF0000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389" name="Google Shape;389;p35"/>
          <p:cNvGrpSpPr/>
          <p:nvPr/>
        </p:nvGrpSpPr>
        <p:grpSpPr>
          <a:xfrm>
            <a:off x="2654710" y="2029027"/>
            <a:ext cx="7223190" cy="978946"/>
            <a:chOff x="3263900" y="2130229"/>
            <a:chExt cx="6436200" cy="978946"/>
          </a:xfrm>
        </p:grpSpPr>
        <p:sp>
          <p:nvSpPr>
            <p:cNvPr id="390" name="Google Shape;390;p35"/>
            <p:cNvSpPr/>
            <p:nvPr/>
          </p:nvSpPr>
          <p:spPr>
            <a:xfrm>
              <a:off x="3263900" y="2410775"/>
              <a:ext cx="6436200" cy="6984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latin typeface="Consolas"/>
                  <a:ea typeface="Consolas"/>
                  <a:cs typeface="Consolas"/>
                  <a:sym typeface="Consolas"/>
                </a:rPr>
                <a:t>0   1   2   3   4   5   6   7   8   9</a:t>
              </a:r>
              <a:r>
                <a:rPr lang="es-ES" sz="1800"/>
                <a:t> </a:t>
              </a:r>
              <a:endParaRPr sz="1800"/>
            </a:p>
          </p:txBody>
        </p:sp>
        <p:sp>
          <p:nvSpPr>
            <p:cNvPr id="391" name="Google Shape;391;p35"/>
            <p:cNvSpPr txBox="1"/>
            <p:nvPr/>
          </p:nvSpPr>
          <p:spPr>
            <a:xfrm>
              <a:off x="3486342" y="2130229"/>
              <a:ext cx="1769791" cy="50318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Reference Row</a:t>
              </a:r>
              <a:endParaRPr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6"/>
          <p:cNvSpPr txBox="1">
            <a:spLocks noGrp="1"/>
          </p:cNvSpPr>
          <p:nvPr>
            <p:ph type="title"/>
          </p:nvPr>
        </p:nvSpPr>
        <p:spPr>
          <a:xfrm>
            <a:off x="406550" y="96038"/>
            <a:ext cx="88141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Contextualización</a:t>
            </a:r>
            <a:endParaRPr dirty="0">
              <a:latin typeface="+mj-lt"/>
            </a:endParaRPr>
          </a:p>
        </p:txBody>
      </p:sp>
      <p:sp>
        <p:nvSpPr>
          <p:cNvPr id="397" name="Google Shape;397;p36"/>
          <p:cNvSpPr txBox="1">
            <a:spLocks noGrp="1"/>
          </p:cNvSpPr>
          <p:nvPr>
            <p:ph type="body" idx="1"/>
          </p:nvPr>
        </p:nvSpPr>
        <p:spPr>
          <a:xfrm>
            <a:off x="406550" y="822900"/>
            <a:ext cx="7705063" cy="546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</a:rPr>
              <a:t>Ejemplo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aphicFrame>
        <p:nvGraphicFramePr>
          <p:cNvPr id="398" name="Google Shape;398;p36"/>
          <p:cNvGraphicFramePr/>
          <p:nvPr>
            <p:extLst>
              <p:ext uri="{D42A27DB-BD31-4B8C-83A1-F6EECF244321}">
                <p14:modId xmlns:p14="http://schemas.microsoft.com/office/powerpoint/2010/main" val="1608164826"/>
              </p:ext>
            </p:extLst>
          </p:nvPr>
        </p:nvGraphicFramePr>
        <p:xfrm>
          <a:off x="8111613" y="1194445"/>
          <a:ext cx="3221000" cy="21944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6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0, 1, 2, 4, 5, 6, 7, 8, 9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10, 11, 12, 13, 14, 13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99" name="Google Shape;399;p36"/>
          <p:cNvGrpSpPr/>
          <p:nvPr/>
        </p:nvGrpSpPr>
        <p:grpSpPr>
          <a:xfrm>
            <a:off x="1040981" y="1695198"/>
            <a:ext cx="6436200" cy="1538792"/>
            <a:chOff x="5130800" y="1820608"/>
            <a:chExt cx="6436200" cy="1538792"/>
          </a:xfrm>
        </p:grpSpPr>
        <p:grpSp>
          <p:nvGrpSpPr>
            <p:cNvPr id="400" name="Google Shape;400;p36"/>
            <p:cNvGrpSpPr/>
            <p:nvPr/>
          </p:nvGrpSpPr>
          <p:grpSpPr>
            <a:xfrm>
              <a:off x="5130800" y="1820608"/>
              <a:ext cx="6436200" cy="945667"/>
              <a:chOff x="3263900" y="2163508"/>
              <a:chExt cx="6436200" cy="945667"/>
            </a:xfrm>
          </p:grpSpPr>
          <p:sp>
            <p:nvSpPr>
              <p:cNvPr id="401" name="Google Shape;401;p36"/>
              <p:cNvSpPr/>
              <p:nvPr/>
            </p:nvSpPr>
            <p:spPr>
              <a:xfrm>
                <a:off x="3263900" y="2410775"/>
                <a:ext cx="6436200" cy="698400"/>
              </a:xfrm>
              <a:prstGeom prst="roundRect">
                <a:avLst>
                  <a:gd name="adj" fmla="val 16667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>
                    <a:latin typeface="Consolas"/>
                    <a:ea typeface="Consolas"/>
                    <a:cs typeface="Consolas"/>
                    <a:sym typeface="Consolas"/>
                  </a:rPr>
                  <a:t>0   1   2   3   4   5   6   7   8   9</a:t>
                </a:r>
                <a:r>
                  <a:rPr lang="es-ES" sz="1800"/>
                  <a:t> </a:t>
                </a:r>
                <a:endParaRPr sz="1800"/>
              </a:p>
            </p:txBody>
          </p:sp>
          <p:sp>
            <p:nvSpPr>
              <p:cNvPr id="402" name="Google Shape;402;p36"/>
              <p:cNvSpPr txBox="1"/>
              <p:nvPr/>
            </p:nvSpPr>
            <p:spPr>
              <a:xfrm>
                <a:off x="3517899" y="2163508"/>
                <a:ext cx="1832487" cy="503184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Reference Row</a:t>
                </a:r>
                <a:endParaRPr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sp>
          <p:nvSpPr>
            <p:cNvPr id="403" name="Google Shape;403;p36"/>
            <p:cNvSpPr txBox="1"/>
            <p:nvPr/>
          </p:nvSpPr>
          <p:spPr>
            <a:xfrm>
              <a:off x="5554850" y="2866800"/>
              <a:ext cx="55881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H   H   H</a:t>
              </a:r>
              <a:r>
                <a:rPr lang="es-ES" sz="20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</a:t>
              </a:r>
              <a:r>
                <a:rPr lang="es-ES" sz="20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M</a:t>
              </a:r>
              <a:r>
                <a:rPr lang="es-ES" sz="20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</a:t>
              </a:r>
              <a:r>
                <a:rPr lang="es-ES" sz="2000" b="1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H   H   H   H   H   H</a:t>
              </a:r>
              <a:r>
                <a:rPr lang="es-ES" sz="1800" b="1">
                  <a:solidFill>
                    <a:schemeClr val="accent6"/>
                  </a:solidFill>
                </a:rPr>
                <a:t> </a:t>
              </a:r>
              <a:endParaRPr b="1">
                <a:solidFill>
                  <a:schemeClr val="accent6"/>
                </a:solidFill>
              </a:endParaRPr>
            </a:p>
          </p:txBody>
        </p:sp>
      </p:grpSp>
      <p:sp>
        <p:nvSpPr>
          <p:cNvPr id="404" name="Google Shape;404;p36"/>
          <p:cNvSpPr txBox="1"/>
          <p:nvPr/>
        </p:nvSpPr>
        <p:spPr>
          <a:xfrm>
            <a:off x="1294980" y="4319200"/>
            <a:ext cx="3665100" cy="1569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●"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Total de accesos: 10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●"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Número de Hits: 9 (90 %)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●"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Numero de Miss: 1 (10 %)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●"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TM = 100 ns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●"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TD = 10 ms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5" name="Google Shape;405;p36"/>
          <p:cNvSpPr txBox="1"/>
          <p:nvPr/>
        </p:nvSpPr>
        <p:spPr>
          <a:xfrm>
            <a:off x="6096000" y="3880200"/>
            <a:ext cx="4978500" cy="21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AMAT = T_M + (P_Miss*T_D)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AMAT = (100e-9) + 0.1*(1e-3)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AMAT = 0.0001 ms + 1ms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AMAT = 1.0001 ms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800" b="1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AMAT aprox. 1 ms </a:t>
            </a:r>
            <a:endParaRPr sz="1800" b="1" dirty="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7"/>
          <p:cNvSpPr txBox="1">
            <a:spLocks noGrp="1"/>
          </p:cNvSpPr>
          <p:nvPr>
            <p:ph type="title"/>
          </p:nvPr>
        </p:nvSpPr>
        <p:spPr>
          <a:xfrm>
            <a:off x="530942" y="96038"/>
            <a:ext cx="8689708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Contextualización</a:t>
            </a:r>
            <a:endParaRPr dirty="0">
              <a:latin typeface="+mj-lt"/>
            </a:endParaRPr>
          </a:p>
        </p:txBody>
      </p:sp>
      <p:sp>
        <p:nvSpPr>
          <p:cNvPr id="411" name="Google Shape;411;p37"/>
          <p:cNvSpPr txBox="1">
            <a:spLocks noGrp="1"/>
          </p:cNvSpPr>
          <p:nvPr>
            <p:ph type="body" idx="1"/>
          </p:nvPr>
        </p:nvSpPr>
        <p:spPr>
          <a:xfrm>
            <a:off x="530942" y="862382"/>
            <a:ext cx="11254508" cy="143360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</a:rPr>
              <a:t>Conclusión sobre el AMAT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Analicemos la siguiente tabla teniendo en cuenta los mismos valores de TD y TM  del ejemplo anterior (</a:t>
            </a:r>
            <a:r>
              <a:rPr lang="es-ES" sz="2200" dirty="0">
                <a:latin typeface="+mn-lt"/>
                <a:ea typeface="Consolas"/>
                <a:cs typeface="Consolas"/>
                <a:sym typeface="Consolas"/>
              </a:rPr>
              <a:t>TD = 10 ms</a:t>
            </a:r>
            <a:r>
              <a:rPr lang="es-ES" sz="2200" dirty="0">
                <a:latin typeface="+mn-lt"/>
              </a:rPr>
              <a:t> y </a:t>
            </a:r>
            <a:r>
              <a:rPr lang="es-ES" sz="2200" dirty="0">
                <a:latin typeface="+mn-lt"/>
                <a:ea typeface="Consolas"/>
                <a:cs typeface="Consolas"/>
                <a:sym typeface="Consolas"/>
              </a:rPr>
              <a:t>TM = 100 ns</a:t>
            </a:r>
            <a:r>
              <a:rPr lang="es-ES" sz="2200" dirty="0">
                <a:latin typeface="+mn-lt"/>
              </a:rPr>
              <a:t>).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12" name="Google Shape;412;p37"/>
              <p:cNvGraphicFramePr/>
              <p:nvPr>
                <p:extLst>
                  <p:ext uri="{D42A27DB-BD31-4B8C-83A1-F6EECF244321}">
                    <p14:modId xmlns:p14="http://schemas.microsoft.com/office/powerpoint/2010/main" val="2311610346"/>
                  </p:ext>
                </p:extLst>
              </p:nvPr>
            </p:nvGraphicFramePr>
            <p:xfrm>
              <a:off x="1189905" y="2519589"/>
              <a:ext cx="4000575" cy="1706760"/>
            </p:xfrm>
            <a:graphic>
              <a:graphicData uri="http://schemas.openxmlformats.org/drawingml/2006/table">
                <a:tbl>
                  <a:tblPr>
                    <a:noFill/>
                  </a:tblPr>
                  <a:tblGrid>
                    <a:gridCol w="133352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335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335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b="1" i="1" dirty="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onsolas"/>
                                        <a:cs typeface="Consolas"/>
                                        <a:sym typeface="Consola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1" i="1" dirty="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onsolas"/>
                                        <a:cs typeface="Consolas"/>
                                        <a:sym typeface="Consolas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s-ES" sz="1600" b="1" i="1" dirty="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onsolas"/>
                                        <a:cs typeface="Consolas"/>
                                        <a:sym typeface="Consolas"/>
                                      </a:rPr>
                                      <m:t>𝑯𝒊𝒕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1600" b="1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b="1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onsolas"/>
                                        <a:cs typeface="Consolas"/>
                                        <a:sym typeface="Consola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1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onsolas"/>
                                        <a:cs typeface="Consolas"/>
                                        <a:sym typeface="Consolas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s-ES" sz="1600" b="1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onsolas"/>
                                        <a:cs typeface="Consolas"/>
                                        <a:sym typeface="Consolas"/>
                                      </a:rPr>
                                      <m:t>𝑴𝒊𝒔𝒔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1600" b="1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b="1" i="1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onsolas"/>
                                    <a:cs typeface="Consolas"/>
                                    <a:sym typeface="Consolas"/>
                                  </a:rPr>
                                  <m:t>𝑨𝑴𝑨𝑻</m:t>
                                </m:r>
                              </m:oMath>
                            </m:oMathPara>
                          </a14:m>
                          <a:endParaRPr sz="1600" b="1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522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600">
                              <a:latin typeface="Consolas"/>
                              <a:ea typeface="Consolas"/>
                              <a:cs typeface="Consolas"/>
                              <a:sym typeface="Consolas"/>
                            </a:rPr>
                            <a:t>90 %</a:t>
                          </a:r>
                          <a:endParaRPr sz="160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600">
                              <a:latin typeface="Consolas"/>
                              <a:ea typeface="Consolas"/>
                              <a:cs typeface="Consolas"/>
                              <a:sym typeface="Consolas"/>
                            </a:rPr>
                            <a:t>10 %</a:t>
                          </a:r>
                          <a:endParaRPr sz="160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600">
                              <a:latin typeface="Consolas"/>
                              <a:ea typeface="Consolas"/>
                              <a:cs typeface="Consolas"/>
                              <a:sym typeface="Consolas"/>
                            </a:rPr>
                            <a:t>1.0001 ms</a:t>
                          </a:r>
                          <a:endParaRPr sz="160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600">
                              <a:latin typeface="Consolas"/>
                              <a:ea typeface="Consolas"/>
                              <a:cs typeface="Consolas"/>
                              <a:sym typeface="Consolas"/>
                            </a:rPr>
                            <a:t>99.9 %</a:t>
                          </a:r>
                          <a:endParaRPr sz="160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600" dirty="0">
                              <a:latin typeface="Consolas"/>
                              <a:ea typeface="Consolas"/>
                              <a:cs typeface="Consolas"/>
                              <a:sym typeface="Consolas"/>
                            </a:rPr>
                            <a:t>0.1 %</a:t>
                          </a:r>
                          <a:endParaRPr sz="1600" dirty="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600">
                              <a:latin typeface="Consolas"/>
                              <a:ea typeface="Consolas"/>
                              <a:cs typeface="Consolas"/>
                              <a:sym typeface="Consolas"/>
                            </a:rPr>
                            <a:t>10.1 us</a:t>
                          </a:r>
                          <a:endParaRPr sz="160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600">
                              <a:latin typeface="Consolas"/>
                              <a:ea typeface="Consolas"/>
                              <a:cs typeface="Consolas"/>
                              <a:sym typeface="Consolas"/>
                            </a:rPr>
                            <a:t>100 %</a:t>
                          </a:r>
                          <a:endParaRPr sz="160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600">
                              <a:latin typeface="Consolas"/>
                              <a:ea typeface="Consolas"/>
                              <a:cs typeface="Consolas"/>
                              <a:sym typeface="Consolas"/>
                            </a:rPr>
                            <a:t>0 %</a:t>
                          </a:r>
                          <a:endParaRPr sz="160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600" dirty="0">
                              <a:latin typeface="Consolas"/>
                              <a:ea typeface="Consolas"/>
                              <a:cs typeface="Consolas"/>
                              <a:sym typeface="Consolas"/>
                            </a:rPr>
                            <a:t>100 ns</a:t>
                          </a:r>
                          <a:endParaRPr sz="1600" dirty="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12" name="Google Shape;412;p37"/>
              <p:cNvGraphicFramePr/>
              <p:nvPr>
                <p:extLst>
                  <p:ext uri="{D42A27DB-BD31-4B8C-83A1-F6EECF244321}">
                    <p14:modId xmlns:p14="http://schemas.microsoft.com/office/powerpoint/2010/main" val="2311610346"/>
                  </p:ext>
                </p:extLst>
              </p:nvPr>
            </p:nvGraphicFramePr>
            <p:xfrm>
              <a:off x="1189905" y="2519589"/>
              <a:ext cx="4000575" cy="1706760"/>
            </p:xfrm>
            <a:graphic>
              <a:graphicData uri="http://schemas.openxmlformats.org/drawingml/2006/table">
                <a:tbl>
                  <a:tblPr>
                    <a:noFill/>
                  </a:tblPr>
                  <a:tblGrid>
                    <a:gridCol w="133352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335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335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b="1" i="1" dirty="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onsolas"/>
                                        <a:cs typeface="Consolas"/>
                                        <a:sym typeface="Consola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1" i="1" dirty="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onsolas"/>
                                        <a:cs typeface="Consolas"/>
                                        <a:sym typeface="Consolas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s-ES" sz="1600" b="1" i="1" dirty="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onsolas"/>
                                        <a:cs typeface="Consolas"/>
                                        <a:sym typeface="Consolas"/>
                                      </a:rPr>
                                      <m:t>𝑯𝒊𝒕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1600" b="1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" sz="1600" b="1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onsolas"/>
                                        <a:cs typeface="Consolas"/>
                                        <a:sym typeface="Consola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600" b="1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onsolas"/>
                                        <a:cs typeface="Consolas"/>
                                        <a:sym typeface="Consolas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s-ES" sz="1600" b="1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onsolas"/>
                                        <a:cs typeface="Consolas"/>
                                        <a:sym typeface="Consolas"/>
                                      </a:rPr>
                                      <m:t>𝑴𝒊𝒔𝒔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1600" b="1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 xmlns:a14="http://schemas.microsoft.com/office/drawing/2010/main"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1600" b="1" i="1" dirty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Consolas"/>
                                    <a:cs typeface="Consolas"/>
                                    <a:sym typeface="Consolas"/>
                                  </a:rPr>
                                  <m:t>𝑨𝑴𝑨𝑻</m:t>
                                </m:r>
                              </m:oMath>
                            </m:oMathPara>
                          </a14:m>
                          <a:endParaRPr sz="1600" b="1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l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5225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600">
                              <a:latin typeface="Consolas"/>
                              <a:ea typeface="Consolas"/>
                              <a:cs typeface="Consolas"/>
                              <a:sym typeface="Consolas"/>
                            </a:rPr>
                            <a:t>90 %</a:t>
                          </a:r>
                          <a:endParaRPr sz="160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600">
                              <a:latin typeface="Consolas"/>
                              <a:ea typeface="Consolas"/>
                              <a:cs typeface="Consolas"/>
                              <a:sym typeface="Consolas"/>
                            </a:rPr>
                            <a:t>10 %</a:t>
                          </a:r>
                          <a:endParaRPr sz="160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600">
                              <a:latin typeface="Consolas"/>
                              <a:ea typeface="Consolas"/>
                              <a:cs typeface="Consolas"/>
                              <a:sym typeface="Consolas"/>
                            </a:rPr>
                            <a:t>1.0001 ms</a:t>
                          </a:r>
                          <a:endParaRPr sz="160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600">
                              <a:latin typeface="Consolas"/>
                              <a:ea typeface="Consolas"/>
                              <a:cs typeface="Consolas"/>
                              <a:sym typeface="Consolas"/>
                            </a:rPr>
                            <a:t>99.9 %</a:t>
                          </a:r>
                          <a:endParaRPr sz="160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600" dirty="0">
                              <a:latin typeface="Consolas"/>
                              <a:ea typeface="Consolas"/>
                              <a:cs typeface="Consolas"/>
                              <a:sym typeface="Consolas"/>
                            </a:rPr>
                            <a:t>0.1 %</a:t>
                          </a:r>
                          <a:endParaRPr sz="1600" dirty="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600">
                              <a:latin typeface="Consolas"/>
                              <a:ea typeface="Consolas"/>
                              <a:cs typeface="Consolas"/>
                              <a:sym typeface="Consolas"/>
                            </a:rPr>
                            <a:t>10.1 us</a:t>
                          </a:r>
                          <a:endParaRPr sz="160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600">
                              <a:latin typeface="Consolas"/>
                              <a:ea typeface="Consolas"/>
                              <a:cs typeface="Consolas"/>
                              <a:sym typeface="Consolas"/>
                            </a:rPr>
                            <a:t>100 %</a:t>
                          </a:r>
                          <a:endParaRPr sz="160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600">
                              <a:latin typeface="Consolas"/>
                              <a:ea typeface="Consolas"/>
                              <a:cs typeface="Consolas"/>
                              <a:sym typeface="Consolas"/>
                            </a:rPr>
                            <a:t>0 %</a:t>
                          </a:r>
                          <a:endParaRPr sz="160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s-ES" sz="1600" dirty="0">
                              <a:latin typeface="Consolas"/>
                              <a:ea typeface="Consolas"/>
                              <a:cs typeface="Consolas"/>
                              <a:sym typeface="Consolas"/>
                            </a:rPr>
                            <a:t>100 ns</a:t>
                          </a:r>
                          <a:endParaRPr sz="1600" dirty="0">
                            <a:latin typeface="Consolas"/>
                            <a:ea typeface="Consolas"/>
                            <a:cs typeface="Consolas"/>
                            <a:sym typeface="Consolas"/>
                          </a:endParaRPr>
                        </a:p>
                      </a:txBody>
                      <a:tcPr marL="91425" marR="91425" marT="91425" marB="91425" anchor="ctr">
                        <a:lnL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3" name="Google Shape;413;p37"/>
              <p:cNvSpPr txBox="1"/>
              <p:nvPr/>
            </p:nvSpPr>
            <p:spPr>
              <a:xfrm>
                <a:off x="530942" y="4731200"/>
                <a:ext cx="11254508" cy="1264418"/>
              </a:xfrm>
              <a:prstGeom prst="rect">
                <a:avLst/>
              </a:prstGeom>
              <a:solidFill>
                <a:srgbClr val="FFF2CC"/>
              </a:solidFill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457200" lvl="0" indent="-368300" algn="l" rtl="0">
                  <a:spcBef>
                    <a:spcPts val="48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Roboto"/>
                  <a:buChar char="●"/>
                </a:pPr>
                <a:r>
                  <a:rPr lang="es-ES" sz="2200" b="1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Conclusión</a:t>
                </a:r>
                <a:r>
                  <a:rPr lang="es-ES" sz="2200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: El costo debido al acceso al disco es tan alto, que aún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200" b="1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onsolas"/>
                            <a:cs typeface="Consolas"/>
                            <a:sym typeface="Consolas"/>
                          </a:rPr>
                        </m:ctrlPr>
                      </m:sSubPr>
                      <m:e>
                        <m:r>
                          <a:rPr lang="ar-AE" sz="2200" b="1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onsolas"/>
                            <a:cs typeface="Consolas"/>
                            <a:sym typeface="Consolas"/>
                          </a:rPr>
                          <m:t>𝑷</m:t>
                        </m:r>
                      </m:e>
                      <m:sub>
                        <m:r>
                          <a:rPr lang="ar-AE" sz="2200" b="1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onsolas"/>
                            <a:cs typeface="Consolas"/>
                            <a:sym typeface="Consolas"/>
                          </a:rPr>
                          <m:t>𝑴𝒊𝒔𝒔</m:t>
                        </m:r>
                      </m:sub>
                    </m:sSub>
                  </m:oMath>
                </a14:m>
                <a:r>
                  <a:rPr lang="es-ES" sz="2200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 pequeños dominan sobre el </a:t>
                </a:r>
                <a:r>
                  <a:rPr lang="es-ES" sz="2200" b="1" dirty="0">
                    <a:solidFill>
                      <a:schemeClr val="dk1"/>
                    </a:solidFill>
                    <a:ea typeface="Consolas"/>
                    <a:cs typeface="Consolas"/>
                    <a:sym typeface="Consolas"/>
                  </a:rPr>
                  <a:t>AMAT</a:t>
                </a:r>
                <a:r>
                  <a:rPr lang="es-ES" sz="2200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 de los programas en ejecución.</a:t>
                </a:r>
              </a:p>
              <a:p>
                <a:pPr marL="457200" lvl="0" indent="-3683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Roboto"/>
                  <a:buChar char="●"/>
                </a:pPr>
                <a:r>
                  <a:rPr lang="es-ES" sz="2200" b="1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Solución</a:t>
                </a:r>
                <a:r>
                  <a:rPr lang="es-ES" sz="2200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: Evitar tantos Miss como sea posible.</a:t>
                </a:r>
                <a:endParaRPr sz="2200" dirty="0">
                  <a:solidFill>
                    <a:schemeClr val="dk1"/>
                  </a:solidFill>
                  <a:ea typeface="Roboto"/>
                  <a:cs typeface="Roboto"/>
                  <a:sym typeface="Roboto"/>
                </a:endParaRPr>
              </a:p>
            </p:txBody>
          </p:sp>
        </mc:Choice>
        <mc:Fallback xmlns="">
          <p:sp>
            <p:nvSpPr>
              <p:cNvPr id="413" name="Google Shape;413;p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942" y="4731200"/>
                <a:ext cx="11254508" cy="1264418"/>
              </a:xfrm>
              <a:prstGeom prst="rect">
                <a:avLst/>
              </a:prstGeom>
              <a:blipFill>
                <a:blip r:embed="rId3"/>
                <a:stretch>
                  <a:fillRect b="-480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4" name="Google Shape;414;p37"/>
              <p:cNvSpPr txBox="1"/>
              <p:nvPr/>
            </p:nvSpPr>
            <p:spPr>
              <a:xfrm>
                <a:off x="6474541" y="3136498"/>
                <a:ext cx="4795417" cy="585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600" b="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𝐴𝑀𝐴𝑇</m:t>
                      </m:r>
                      <m:r>
                        <a:rPr lang="es-ES" sz="2600" b="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s-ES" sz="260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600" b="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ES" sz="2600" b="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s-ES" sz="2600" b="0" i="1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s-ES" sz="260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600" b="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ES" sz="2600" b="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𝑀𝐼𝑆𝑆</m:t>
                          </m:r>
                        </m:sub>
                      </m:sSub>
                      <m:r>
                        <a:rPr lang="es-ES" sz="2600" b="0" i="1" dirty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 ∗ </m:t>
                      </m:r>
                      <m:sSub>
                        <m:sSubPr>
                          <m:ctrlPr>
                            <a:rPr lang="es-ES" sz="260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600" b="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ES" sz="2600" b="0" i="1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sz="2600" dirty="0">
                  <a:solidFill>
                    <a:schemeClr val="dk1"/>
                  </a:solidFill>
                </a:endParaRPr>
              </a:p>
            </p:txBody>
          </p:sp>
        </mc:Choice>
        <mc:Fallback xmlns="">
          <p:sp>
            <p:nvSpPr>
              <p:cNvPr id="414" name="Google Shape;414;p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4541" y="3136498"/>
                <a:ext cx="4795417" cy="585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9"/>
          <p:cNvSpPr txBox="1">
            <a:spLocks noGrp="1"/>
          </p:cNvSpPr>
          <p:nvPr>
            <p:ph type="title"/>
          </p:nvPr>
        </p:nvSpPr>
        <p:spPr>
          <a:xfrm>
            <a:off x="471948" y="96038"/>
            <a:ext cx="8748702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Políticas</a:t>
            </a:r>
            <a:endParaRPr dirty="0">
              <a:latin typeface="+mj-lt"/>
            </a:endParaRPr>
          </a:p>
        </p:txBody>
      </p:sp>
      <p:sp>
        <p:nvSpPr>
          <p:cNvPr id="426" name="Google Shape;426;p39"/>
          <p:cNvSpPr txBox="1"/>
          <p:nvPr/>
        </p:nvSpPr>
        <p:spPr>
          <a:xfrm>
            <a:off x="471948" y="1045550"/>
            <a:ext cx="11066502" cy="3170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dirty="0">
                <a:ea typeface="Roboto"/>
                <a:cs typeface="Roboto"/>
                <a:sym typeface="Roboto"/>
              </a:rPr>
              <a:t>Introducción</a:t>
            </a:r>
            <a:endParaRPr sz="2600" b="1" dirty="0"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s-ES" sz="2400" dirty="0">
                <a:ea typeface="Roboto"/>
                <a:cs typeface="Roboto"/>
                <a:sym typeface="Roboto"/>
              </a:rPr>
              <a:t>Las políticas definen los criterios para seleccionar cuál página debe salir de memoria.</a:t>
            </a:r>
            <a:endParaRPr sz="2400" dirty="0"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s-ES" sz="2400" dirty="0">
                <a:ea typeface="Roboto"/>
                <a:cs typeface="Roboto"/>
                <a:sym typeface="Roboto"/>
              </a:rPr>
              <a:t>Algunas políticas que vamos a estudiar de enuncian a continuación:</a:t>
            </a:r>
            <a:endParaRPr sz="2400" dirty="0">
              <a:ea typeface="Roboto"/>
              <a:cs typeface="Roboto"/>
              <a:sym typeface="Roboto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s-ES" sz="2400" dirty="0">
                <a:ea typeface="Roboto"/>
                <a:cs typeface="Roboto"/>
                <a:sym typeface="Roboto"/>
              </a:rPr>
              <a:t>Política de reemplazo óptimo (Optimal Replacement Policy) .</a:t>
            </a:r>
            <a:endParaRPr sz="2400" dirty="0">
              <a:ea typeface="Roboto"/>
              <a:cs typeface="Roboto"/>
              <a:sym typeface="Roboto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Política de reemplazo FIFO.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AutoNum type="arabicPeriod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Política de reemplazo aleatoria.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AutoNum type="arabicPeriod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Política de reemplazo LRU (Least Recently Used).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1"/>
          <p:cNvSpPr txBox="1">
            <a:spLocks noGrp="1"/>
          </p:cNvSpPr>
          <p:nvPr>
            <p:ph type="title"/>
          </p:nvPr>
        </p:nvSpPr>
        <p:spPr>
          <a:xfrm>
            <a:off x="412955" y="96038"/>
            <a:ext cx="8807695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Política de reemplazo óptimo (OPT)</a:t>
            </a:r>
            <a:endParaRPr sz="3200" b="1" dirty="0">
              <a:solidFill>
                <a:srgbClr val="701E5C"/>
              </a:solidFill>
              <a:latin typeface="+mj-lt"/>
              <a:sym typeface="Roboto Slab"/>
            </a:endParaRPr>
          </a:p>
        </p:txBody>
      </p:sp>
      <p:sp>
        <p:nvSpPr>
          <p:cNvPr id="438" name="Google Shape;438;p41"/>
          <p:cNvSpPr txBox="1">
            <a:spLocks noGrp="1"/>
          </p:cNvSpPr>
          <p:nvPr>
            <p:ph type="body" idx="1"/>
          </p:nvPr>
        </p:nvSpPr>
        <p:spPr>
          <a:xfrm>
            <a:off x="530942" y="1045550"/>
            <a:ext cx="10832658" cy="256780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Propuesta por </a:t>
            </a:r>
            <a:r>
              <a:rPr lang="es-ES" sz="2400" u="sng" dirty="0" err="1">
                <a:solidFill>
                  <a:schemeClr val="hlink"/>
                </a:solidFill>
                <a:latin typeface="+mn-lt"/>
                <a:hlinkClick r:id="rId3"/>
              </a:rPr>
              <a:t>László</a:t>
            </a:r>
            <a:r>
              <a:rPr lang="es-ES" sz="2400" u="sng" dirty="0">
                <a:solidFill>
                  <a:schemeClr val="hlink"/>
                </a:solidFill>
                <a:latin typeface="+mn-lt"/>
                <a:hlinkClick r:id="rId3"/>
              </a:rPr>
              <a:t> Bélády</a:t>
            </a:r>
            <a:r>
              <a:rPr lang="es-ES" sz="2400" dirty="0">
                <a:latin typeface="+mn-lt"/>
              </a:rPr>
              <a:t> en 1966.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Se reemplaza la página que se accede más lejos en el </a:t>
            </a:r>
            <a:r>
              <a:rPr lang="es-ES" sz="2400" b="1" dirty="0">
                <a:solidFill>
                  <a:schemeClr val="accent5"/>
                </a:solidFill>
                <a:latin typeface="+mn-lt"/>
              </a:rPr>
              <a:t>futuro</a:t>
            </a:r>
            <a:r>
              <a:rPr lang="es-ES" sz="2400" dirty="0">
                <a:latin typeface="+mn-lt"/>
              </a:rPr>
              <a:t>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Asegura el </a:t>
            </a:r>
            <a:r>
              <a:rPr lang="es-ES" sz="2400" b="1" dirty="0">
                <a:solidFill>
                  <a:schemeClr val="accent5"/>
                </a:solidFill>
                <a:latin typeface="+mn-lt"/>
              </a:rPr>
              <a:t>menor número de </a:t>
            </a:r>
            <a:r>
              <a:rPr lang="es-ES" sz="2400" b="1" dirty="0" err="1">
                <a:solidFill>
                  <a:schemeClr val="accent5"/>
                </a:solidFill>
                <a:latin typeface="+mn-lt"/>
              </a:rPr>
              <a:t>misses</a:t>
            </a:r>
            <a:r>
              <a:rPr lang="es-ES" sz="2400" b="1" dirty="0">
                <a:solidFill>
                  <a:schemeClr val="accent5"/>
                </a:solidFill>
                <a:latin typeface="+mn-lt"/>
              </a:rPr>
              <a:t> (ausencias)</a:t>
            </a:r>
            <a:r>
              <a:rPr lang="es-ES" sz="2400" dirty="0">
                <a:latin typeface="+mn-lt"/>
              </a:rPr>
              <a:t>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solidFill>
                  <a:schemeClr val="accent6"/>
                </a:solidFill>
                <a:latin typeface="+mn-lt"/>
              </a:rPr>
              <a:t>Fácil de describir</a:t>
            </a:r>
            <a:r>
              <a:rPr lang="es-ES" sz="2400" dirty="0">
                <a:latin typeface="+mn-lt"/>
              </a:rPr>
              <a:t> - </a:t>
            </a:r>
            <a:r>
              <a:rPr lang="es-ES" sz="2400" b="1" dirty="0">
                <a:solidFill>
                  <a:srgbClr val="E46C0A"/>
                </a:solidFill>
                <a:latin typeface="+mn-lt"/>
              </a:rPr>
              <a:t>Imposible de implementar</a:t>
            </a:r>
            <a:r>
              <a:rPr lang="es-ES" sz="2400" dirty="0">
                <a:latin typeface="+mn-lt"/>
              </a:rPr>
              <a:t>.</a:t>
            </a:r>
            <a:endParaRPr sz="2400" dirty="0"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400" dirty="0">
                <a:latin typeface="+mn-lt"/>
              </a:rPr>
              <a:t>No es práctica, solo sirve para comparar (caso más ideal).</a:t>
            </a:r>
            <a:endParaRPr sz="24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400" dirty="0">
                <a:latin typeface="+mn-lt"/>
              </a:rPr>
              <a:t>Se requiere que el sistema tenga conocimientos de los eventos futuros.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pic>
        <p:nvPicPr>
          <p:cNvPr id="439" name="Google Shape;439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6513" y="4111555"/>
            <a:ext cx="1288975" cy="1700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51188" y="4141740"/>
            <a:ext cx="1288975" cy="164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2"/>
          <p:cNvSpPr txBox="1">
            <a:spLocks noGrp="1"/>
          </p:cNvSpPr>
          <p:nvPr>
            <p:ph type="title"/>
          </p:nvPr>
        </p:nvSpPr>
        <p:spPr>
          <a:xfrm>
            <a:off x="516194" y="96038"/>
            <a:ext cx="8704456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Política de reemplazo óptimo (OPT)</a:t>
            </a:r>
            <a:endParaRPr sz="3200" b="1" dirty="0">
              <a:solidFill>
                <a:srgbClr val="701E5C"/>
              </a:solidFill>
              <a:latin typeface="+mj-lt"/>
              <a:sym typeface="Roboto Slab"/>
            </a:endParaRPr>
          </a:p>
        </p:txBody>
      </p:sp>
      <p:sp>
        <p:nvSpPr>
          <p:cNvPr id="446" name="Google Shape;446;p42"/>
          <p:cNvSpPr txBox="1">
            <a:spLocks noGrp="1"/>
          </p:cNvSpPr>
          <p:nvPr>
            <p:ph type="body" idx="1"/>
          </p:nvPr>
        </p:nvSpPr>
        <p:spPr>
          <a:xfrm>
            <a:off x="516194" y="1045550"/>
            <a:ext cx="11292006" cy="551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Ejemplo</a:t>
            </a: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Asuma que un programa accede a diferentes páginas virtuales de acuerdo con el orden mostrado en la siguiente traza de memoria: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Asuma además que se tiene una memoria de tres </a:t>
            </a:r>
            <a:r>
              <a:rPr lang="es-ES" sz="2400" b="1" dirty="0">
                <a:latin typeface="+mn-lt"/>
              </a:rPr>
              <a:t>frames</a:t>
            </a:r>
            <a:r>
              <a:rPr lang="es-ES" sz="2400" dirty="0">
                <a:latin typeface="+mn-lt"/>
              </a:rPr>
              <a:t>: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200"/>
              <a:buChar char="●"/>
            </a:pPr>
            <a:r>
              <a:rPr lang="es-ES" sz="2200" b="1" dirty="0">
                <a:solidFill>
                  <a:srgbClr val="FF0000"/>
                </a:solidFill>
                <a:latin typeface="+mn-lt"/>
              </a:rPr>
              <a:t>¿Cual es la tasa de hits al aplicar la política de reemplazo óptima (OPT)?</a:t>
            </a:r>
            <a:endParaRPr sz="2200" b="1" dirty="0">
              <a:solidFill>
                <a:srgbClr val="FF0000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447" name="Google Shape;447;p42"/>
          <p:cNvGrpSpPr/>
          <p:nvPr/>
        </p:nvGrpSpPr>
        <p:grpSpPr>
          <a:xfrm>
            <a:off x="2957450" y="2477786"/>
            <a:ext cx="6436200" cy="954252"/>
            <a:chOff x="3436900" y="2060786"/>
            <a:chExt cx="6436200" cy="954252"/>
          </a:xfrm>
        </p:grpSpPr>
        <p:sp>
          <p:nvSpPr>
            <p:cNvPr id="448" name="Google Shape;448;p42"/>
            <p:cNvSpPr/>
            <p:nvPr/>
          </p:nvSpPr>
          <p:spPr>
            <a:xfrm>
              <a:off x="3436900" y="2316638"/>
              <a:ext cx="6436200" cy="6984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latin typeface="Consolas"/>
                  <a:ea typeface="Consolas"/>
                  <a:cs typeface="Consolas"/>
                  <a:sym typeface="Consolas"/>
                </a:rPr>
                <a:t>0   1   2   0   1   3   0   3   1   2   1</a:t>
              </a:r>
              <a:r>
                <a:rPr lang="es-ES" sz="1800"/>
                <a:t> </a:t>
              </a:r>
              <a:endParaRPr sz="1800"/>
            </a:p>
          </p:txBody>
        </p:sp>
        <p:sp>
          <p:nvSpPr>
            <p:cNvPr id="449" name="Google Shape;449;p42"/>
            <p:cNvSpPr txBox="1"/>
            <p:nvPr/>
          </p:nvSpPr>
          <p:spPr>
            <a:xfrm>
              <a:off x="3532648" y="2060786"/>
              <a:ext cx="1876863" cy="50318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Reference Row</a:t>
              </a:r>
              <a:endParaRPr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450" name="Google Shape;450;p42"/>
          <p:cNvGraphicFramePr/>
          <p:nvPr/>
        </p:nvGraphicFramePr>
        <p:xfrm>
          <a:off x="4915313" y="4461363"/>
          <a:ext cx="2361375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78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Frame →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3"/>
          <p:cNvSpPr txBox="1">
            <a:spLocks noGrp="1"/>
          </p:cNvSpPr>
          <p:nvPr>
            <p:ph type="title"/>
          </p:nvPr>
        </p:nvSpPr>
        <p:spPr>
          <a:xfrm>
            <a:off x="339213" y="174802"/>
            <a:ext cx="881335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Política de reemplazo óptimo (OPT)</a:t>
            </a:r>
            <a:endParaRPr dirty="0">
              <a:latin typeface="+mj-lt"/>
            </a:endParaRPr>
          </a:p>
        </p:txBody>
      </p:sp>
      <p:sp>
        <p:nvSpPr>
          <p:cNvPr id="456" name="Google Shape;456;p43"/>
          <p:cNvSpPr txBox="1">
            <a:spLocks noGrp="1"/>
          </p:cNvSpPr>
          <p:nvPr>
            <p:ph type="body" idx="1"/>
          </p:nvPr>
        </p:nvSpPr>
        <p:spPr>
          <a:xfrm>
            <a:off x="339213" y="1601224"/>
            <a:ext cx="2463881" cy="57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1"/>
                </a:solidFill>
                <a:latin typeface="+mn-lt"/>
              </a:rPr>
              <a:t>Solución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457" name="Google Shape;457;p43"/>
          <p:cNvGraphicFramePr/>
          <p:nvPr/>
        </p:nvGraphicFramePr>
        <p:xfrm>
          <a:off x="7694375" y="1205238"/>
          <a:ext cx="4001400" cy="46271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8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9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Access</a:t>
                      </a:r>
                      <a:endParaRPr sz="12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Hit/Miss?</a:t>
                      </a:r>
                      <a:endParaRPr sz="12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Evict</a:t>
                      </a:r>
                      <a:endParaRPr sz="12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Resulting Cache State</a:t>
                      </a:r>
                      <a:endParaRPr sz="12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458" name="Google Shape;458;p43"/>
          <p:cNvGraphicFramePr/>
          <p:nvPr>
            <p:extLst>
              <p:ext uri="{D42A27DB-BD31-4B8C-83A1-F6EECF244321}">
                <p14:modId xmlns:p14="http://schemas.microsoft.com/office/powerpoint/2010/main" val="894597038"/>
              </p:ext>
            </p:extLst>
          </p:nvPr>
        </p:nvGraphicFramePr>
        <p:xfrm>
          <a:off x="911983" y="3254274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59" name="Google Shape;459;p43"/>
          <p:cNvGraphicFramePr/>
          <p:nvPr>
            <p:extLst>
              <p:ext uri="{D42A27DB-BD31-4B8C-83A1-F6EECF244321}">
                <p14:modId xmlns:p14="http://schemas.microsoft.com/office/powerpoint/2010/main" val="1011360538"/>
              </p:ext>
            </p:extLst>
          </p:nvPr>
        </p:nvGraphicFramePr>
        <p:xfrm>
          <a:off x="842896" y="2653546"/>
          <a:ext cx="5965575" cy="4571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60" name="Google Shape;460;p43"/>
          <p:cNvGraphicFramePr/>
          <p:nvPr>
            <p:extLst>
              <p:ext uri="{D42A27DB-BD31-4B8C-83A1-F6EECF244321}">
                <p14:modId xmlns:p14="http://schemas.microsoft.com/office/powerpoint/2010/main" val="572303247"/>
              </p:ext>
            </p:extLst>
          </p:nvPr>
        </p:nvGraphicFramePr>
        <p:xfrm>
          <a:off x="1462546" y="3254286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61" name="Google Shape;461;p43"/>
          <p:cNvGraphicFramePr/>
          <p:nvPr>
            <p:extLst>
              <p:ext uri="{D42A27DB-BD31-4B8C-83A1-F6EECF244321}">
                <p14:modId xmlns:p14="http://schemas.microsoft.com/office/powerpoint/2010/main" val="2188497667"/>
              </p:ext>
            </p:extLst>
          </p:nvPr>
        </p:nvGraphicFramePr>
        <p:xfrm>
          <a:off x="2013133" y="3254286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62" name="Google Shape;462;p43"/>
          <p:cNvGraphicFramePr/>
          <p:nvPr>
            <p:extLst>
              <p:ext uri="{D42A27DB-BD31-4B8C-83A1-F6EECF244321}">
                <p14:modId xmlns:p14="http://schemas.microsoft.com/office/powerpoint/2010/main" val="1101815679"/>
              </p:ext>
            </p:extLst>
          </p:nvPr>
        </p:nvGraphicFramePr>
        <p:xfrm>
          <a:off x="2563696" y="3254286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63" name="Google Shape;463;p43"/>
          <p:cNvGraphicFramePr/>
          <p:nvPr>
            <p:extLst>
              <p:ext uri="{D42A27DB-BD31-4B8C-83A1-F6EECF244321}">
                <p14:modId xmlns:p14="http://schemas.microsoft.com/office/powerpoint/2010/main" val="1177553858"/>
              </p:ext>
            </p:extLst>
          </p:nvPr>
        </p:nvGraphicFramePr>
        <p:xfrm>
          <a:off x="3114283" y="3254286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64" name="Google Shape;464;p43"/>
          <p:cNvGraphicFramePr/>
          <p:nvPr>
            <p:extLst>
              <p:ext uri="{D42A27DB-BD31-4B8C-83A1-F6EECF244321}">
                <p14:modId xmlns:p14="http://schemas.microsoft.com/office/powerpoint/2010/main" val="947659150"/>
              </p:ext>
            </p:extLst>
          </p:nvPr>
        </p:nvGraphicFramePr>
        <p:xfrm>
          <a:off x="3634246" y="3254286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65" name="Google Shape;465;p43"/>
          <p:cNvGraphicFramePr/>
          <p:nvPr>
            <p:extLst>
              <p:ext uri="{D42A27DB-BD31-4B8C-83A1-F6EECF244321}">
                <p14:modId xmlns:p14="http://schemas.microsoft.com/office/powerpoint/2010/main" val="4053317832"/>
              </p:ext>
            </p:extLst>
          </p:nvPr>
        </p:nvGraphicFramePr>
        <p:xfrm>
          <a:off x="4184833" y="3254286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66" name="Google Shape;466;p43"/>
          <p:cNvGraphicFramePr/>
          <p:nvPr>
            <p:extLst>
              <p:ext uri="{D42A27DB-BD31-4B8C-83A1-F6EECF244321}">
                <p14:modId xmlns:p14="http://schemas.microsoft.com/office/powerpoint/2010/main" val="2515869847"/>
              </p:ext>
            </p:extLst>
          </p:nvPr>
        </p:nvGraphicFramePr>
        <p:xfrm>
          <a:off x="4735396" y="3254286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67" name="Google Shape;467;p43"/>
          <p:cNvGraphicFramePr/>
          <p:nvPr>
            <p:extLst>
              <p:ext uri="{D42A27DB-BD31-4B8C-83A1-F6EECF244321}">
                <p14:modId xmlns:p14="http://schemas.microsoft.com/office/powerpoint/2010/main" val="503842684"/>
              </p:ext>
            </p:extLst>
          </p:nvPr>
        </p:nvGraphicFramePr>
        <p:xfrm>
          <a:off x="5285983" y="3254286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68" name="Google Shape;468;p43"/>
          <p:cNvGraphicFramePr/>
          <p:nvPr>
            <p:extLst>
              <p:ext uri="{D42A27DB-BD31-4B8C-83A1-F6EECF244321}">
                <p14:modId xmlns:p14="http://schemas.microsoft.com/office/powerpoint/2010/main" val="2328025867"/>
              </p:ext>
            </p:extLst>
          </p:nvPr>
        </p:nvGraphicFramePr>
        <p:xfrm>
          <a:off x="5814096" y="3254286"/>
          <a:ext cx="37470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7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69" name="Google Shape;469;p43"/>
          <p:cNvGraphicFramePr/>
          <p:nvPr>
            <p:extLst>
              <p:ext uri="{D42A27DB-BD31-4B8C-83A1-F6EECF244321}">
                <p14:modId xmlns:p14="http://schemas.microsoft.com/office/powerpoint/2010/main" val="2267004615"/>
              </p:ext>
            </p:extLst>
          </p:nvPr>
        </p:nvGraphicFramePr>
        <p:xfrm>
          <a:off x="6356533" y="3254286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4"/>
          <p:cNvSpPr txBox="1">
            <a:spLocks noGrp="1"/>
          </p:cNvSpPr>
          <p:nvPr>
            <p:ph type="title"/>
          </p:nvPr>
        </p:nvSpPr>
        <p:spPr>
          <a:xfrm>
            <a:off x="471948" y="96038"/>
            <a:ext cx="8748702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Política de reemplazo óptimo (OPT)</a:t>
            </a:r>
            <a:endParaRPr dirty="0">
              <a:latin typeface="+mj-lt"/>
            </a:endParaRPr>
          </a:p>
        </p:txBody>
      </p:sp>
      <p:sp>
        <p:nvSpPr>
          <p:cNvPr id="475" name="Google Shape;475;p44"/>
          <p:cNvSpPr txBox="1">
            <a:spLocks noGrp="1"/>
          </p:cNvSpPr>
          <p:nvPr>
            <p:ph type="body" idx="1"/>
          </p:nvPr>
        </p:nvSpPr>
        <p:spPr>
          <a:xfrm>
            <a:off x="471948" y="1002236"/>
            <a:ext cx="2043586" cy="57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1"/>
                </a:solidFill>
                <a:latin typeface="+mn-lt"/>
              </a:rPr>
              <a:t>Solución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476" name="Google Shape;476;p44"/>
          <p:cNvGraphicFramePr/>
          <p:nvPr/>
        </p:nvGraphicFramePr>
        <p:xfrm>
          <a:off x="1799675" y="2761188"/>
          <a:ext cx="2361375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78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Frame →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Evict →</a:t>
                      </a:r>
                      <a:endParaRPr>
                        <a:solidFill>
                          <a:srgbClr val="0B6937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77" name="Google Shape;477;p44"/>
          <p:cNvGraphicFramePr/>
          <p:nvPr>
            <p:extLst>
              <p:ext uri="{D42A27DB-BD31-4B8C-83A1-F6EECF244321}">
                <p14:modId xmlns:p14="http://schemas.microsoft.com/office/powerpoint/2010/main" val="2816817794"/>
              </p:ext>
            </p:extLst>
          </p:nvPr>
        </p:nvGraphicFramePr>
        <p:xfrm>
          <a:off x="1775850" y="2109735"/>
          <a:ext cx="7902275" cy="7314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3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63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Reference row →</a:t>
                      </a:r>
                      <a:endParaRPr b="1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b="1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dirty="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8" name="Google Shape;478;p44"/>
          <p:cNvGraphicFramePr/>
          <p:nvPr/>
        </p:nvGraphicFramePr>
        <p:xfrm>
          <a:off x="4328763" y="2761200"/>
          <a:ext cx="382850" cy="18286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79" name="Google Shape;479;p44"/>
          <p:cNvGraphicFramePr/>
          <p:nvPr/>
        </p:nvGraphicFramePr>
        <p:xfrm>
          <a:off x="4879350" y="2761200"/>
          <a:ext cx="382850" cy="18286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80" name="Google Shape;480;p44"/>
          <p:cNvGraphicFramePr/>
          <p:nvPr/>
        </p:nvGraphicFramePr>
        <p:xfrm>
          <a:off x="5429913" y="2761200"/>
          <a:ext cx="382850" cy="18286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81" name="Google Shape;481;p44"/>
          <p:cNvGraphicFramePr/>
          <p:nvPr/>
        </p:nvGraphicFramePr>
        <p:xfrm>
          <a:off x="5980500" y="2761200"/>
          <a:ext cx="382850" cy="18286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82" name="Google Shape;482;p44"/>
          <p:cNvGraphicFramePr/>
          <p:nvPr/>
        </p:nvGraphicFramePr>
        <p:xfrm>
          <a:off x="6500463" y="2761200"/>
          <a:ext cx="38285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83" name="Google Shape;483;p44"/>
          <p:cNvGraphicFramePr/>
          <p:nvPr/>
        </p:nvGraphicFramePr>
        <p:xfrm>
          <a:off x="7051050" y="2761200"/>
          <a:ext cx="382850" cy="18286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84" name="Google Shape;484;p44"/>
          <p:cNvGraphicFramePr/>
          <p:nvPr/>
        </p:nvGraphicFramePr>
        <p:xfrm>
          <a:off x="7601613" y="2761200"/>
          <a:ext cx="382850" cy="18286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85" name="Google Shape;485;p44"/>
          <p:cNvGraphicFramePr/>
          <p:nvPr/>
        </p:nvGraphicFramePr>
        <p:xfrm>
          <a:off x="8152200" y="2761200"/>
          <a:ext cx="382850" cy="18286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86" name="Google Shape;486;p44"/>
          <p:cNvGraphicFramePr/>
          <p:nvPr/>
        </p:nvGraphicFramePr>
        <p:xfrm>
          <a:off x="8680313" y="2761200"/>
          <a:ext cx="37470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7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87" name="Google Shape;487;p44"/>
          <p:cNvGraphicFramePr/>
          <p:nvPr/>
        </p:nvGraphicFramePr>
        <p:xfrm>
          <a:off x="9222750" y="2761200"/>
          <a:ext cx="382850" cy="18286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5"/>
          <p:cNvSpPr txBox="1">
            <a:spLocks noGrp="1"/>
          </p:cNvSpPr>
          <p:nvPr>
            <p:ph type="title"/>
          </p:nvPr>
        </p:nvSpPr>
        <p:spPr>
          <a:xfrm>
            <a:off x="412955" y="96038"/>
            <a:ext cx="8807695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Política de reemplazo óptimo (OPT)</a:t>
            </a:r>
            <a:endParaRPr dirty="0">
              <a:latin typeface="+mj-lt"/>
            </a:endParaRPr>
          </a:p>
        </p:txBody>
      </p:sp>
      <p:sp>
        <p:nvSpPr>
          <p:cNvPr id="493" name="Google Shape;493;p45"/>
          <p:cNvSpPr txBox="1">
            <a:spLocks noGrp="1"/>
          </p:cNvSpPr>
          <p:nvPr>
            <p:ph type="body" idx="1"/>
          </p:nvPr>
        </p:nvSpPr>
        <p:spPr>
          <a:xfrm>
            <a:off x="412955" y="882900"/>
            <a:ext cx="2412295" cy="57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1"/>
                </a:solidFill>
                <a:latin typeface="+mn-lt"/>
              </a:rPr>
              <a:t>Solución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494" name="Google Shape;494;p45"/>
          <p:cNvGraphicFramePr/>
          <p:nvPr>
            <p:extLst>
              <p:ext uri="{D42A27DB-BD31-4B8C-83A1-F6EECF244321}">
                <p14:modId xmlns:p14="http://schemas.microsoft.com/office/powerpoint/2010/main" val="2515296288"/>
              </p:ext>
            </p:extLst>
          </p:nvPr>
        </p:nvGraphicFramePr>
        <p:xfrm>
          <a:off x="875574" y="1607157"/>
          <a:ext cx="5022100" cy="478728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7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8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9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Access</a:t>
                      </a:r>
                      <a:endParaRPr sz="14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Hit/Miss?</a:t>
                      </a:r>
                      <a:endParaRPr sz="14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Evict</a:t>
                      </a:r>
                      <a:endParaRPr sz="14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Resulting Cache State</a:t>
                      </a:r>
                      <a:endParaRPr sz="14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0, 1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0, 1, 2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0, 1, 2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0, 1, 2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0, 1, 3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0, 1, 3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0, 1, 3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0, 1, 3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0, 1, 2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0, 1, 2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95" name="Google Shape;495;p45"/>
              <p:cNvSpPr txBox="1"/>
              <p:nvPr/>
            </p:nvSpPr>
            <p:spPr>
              <a:xfrm>
                <a:off x="6294326" y="1045538"/>
                <a:ext cx="5438100" cy="41387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457200" lvl="0" indent="-368300" algn="l" rtl="0">
                  <a:spcBef>
                    <a:spcPts val="48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Roboto"/>
                  <a:buChar char="●"/>
                </a:pPr>
                <a:r>
                  <a:rPr lang="es-ES" sz="2200" b="1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Hits</a:t>
                </a:r>
                <a:r>
                  <a:rPr lang="es-ES" sz="2200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: 6</a:t>
                </a:r>
              </a:p>
              <a:p>
                <a:pPr marL="457200" lvl="0" indent="-3683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Roboto"/>
                  <a:buChar char="●"/>
                </a:pPr>
                <a:r>
                  <a:rPr lang="es-ES" sz="2200" b="1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Miss</a:t>
                </a:r>
                <a:r>
                  <a:rPr lang="es-ES" sz="2200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: 5</a:t>
                </a:r>
              </a:p>
              <a:p>
                <a:pPr marL="457200" lvl="0" indent="0" algn="l" rtl="0">
                  <a:spcBef>
                    <a:spcPts val="480"/>
                  </a:spcBef>
                  <a:spcAft>
                    <a:spcPts val="0"/>
                  </a:spcAft>
                  <a:buNone/>
                </a:pPr>
                <a:endParaRPr lang="es-ES" sz="2200" dirty="0">
                  <a:solidFill>
                    <a:schemeClr val="dk1"/>
                  </a:solidFill>
                  <a:ea typeface="Roboto"/>
                  <a:cs typeface="Roboto"/>
                  <a:sym typeface="Roboto"/>
                </a:endParaRPr>
              </a:p>
              <a:p>
                <a:pPr marL="457200" lvl="0" indent="-368300" algn="l" rtl="0">
                  <a:spcBef>
                    <a:spcPts val="48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Roboto"/>
                  <a:buChar char="●"/>
                </a:pPr>
                <a:r>
                  <a:rPr lang="es-ES" sz="2200" b="1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Hit Rate</a:t>
                </a:r>
                <a:r>
                  <a:rPr lang="es-ES" sz="2200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:</a:t>
                </a:r>
              </a:p>
              <a:p>
                <a:pPr marL="457200" lvl="0" indent="0" algn="l" rtl="0">
                  <a:spcBef>
                    <a:spcPts val="480"/>
                  </a:spcBef>
                  <a:spcAft>
                    <a:spcPts val="0"/>
                  </a:spcAft>
                  <a:buNone/>
                </a:pPr>
                <a:endParaRPr lang="es-ES" sz="2200" dirty="0">
                  <a:solidFill>
                    <a:schemeClr val="dk1"/>
                  </a:solidFill>
                  <a:ea typeface="Roboto"/>
                  <a:cs typeface="Roboto"/>
                  <a:sym typeface="Roboto"/>
                </a:endParaRPr>
              </a:p>
              <a:p>
                <a:pPr marL="0" lvl="0" indent="0" algn="ctr" rtl="0">
                  <a:spcBef>
                    <a:spcPts val="48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</m:ctrlPr>
                        </m:sSubPr>
                        <m:e>
                          <m: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𝑃</m:t>
                          </m:r>
                        </m:e>
                        <m:sub>
                          <m: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𝐻𝑖𝑡</m:t>
                          </m:r>
                        </m:sub>
                      </m:sSub>
                      <m:r>
                        <a:rPr lang="ar-AE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=</m:t>
                      </m:r>
                      <m:f>
                        <m:fPr>
                          <m:ctrlP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</m:ctrlPr>
                        </m:fPr>
                        <m:num>
                          <m: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𝐻𝑖𝑡𝑠</m:t>
                          </m:r>
                        </m:num>
                        <m:den>
                          <m: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𝐻𝑖𝑡𝑠</m:t>
                          </m:r>
                          <m: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 + </m:t>
                          </m:r>
                          <m: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𝑀𝑖𝑠𝑠</m:t>
                          </m:r>
                        </m:den>
                      </m:f>
                    </m:oMath>
                  </m:oMathPara>
                </a14:m>
                <a:endParaRPr lang="es-MX" sz="2000" dirty="0">
                  <a:solidFill>
                    <a:schemeClr val="dk1"/>
                  </a:solidFill>
                  <a:ea typeface="Consolas"/>
                  <a:cs typeface="Consolas"/>
                  <a:sym typeface="Consolas"/>
                </a:endParaRPr>
              </a:p>
              <a:p>
                <a:pPr marL="0" lvl="0" indent="0" algn="ctr" rtl="0">
                  <a:spcBef>
                    <a:spcPts val="480"/>
                  </a:spcBef>
                  <a:spcAft>
                    <a:spcPts val="0"/>
                  </a:spcAft>
                  <a:buNone/>
                </a:pPr>
                <a:endParaRPr lang="ar-AE" sz="2000" dirty="0">
                  <a:solidFill>
                    <a:schemeClr val="dk1"/>
                  </a:solidFill>
                  <a:ea typeface="Consolas"/>
                  <a:cs typeface="Consolas"/>
                  <a:sym typeface="Consolas"/>
                </a:endParaRPr>
              </a:p>
              <a:p>
                <a:pPr marL="0" lvl="0" indent="0" algn="ctr" rtl="0">
                  <a:spcBef>
                    <a:spcPts val="48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𝑃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_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𝐻𝑖𝑡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 = 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6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/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11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 = 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0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.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545</m:t>
                      </m:r>
                    </m:oMath>
                  </m:oMathPara>
                </a14:m>
                <a:endParaRPr lang="es-ES" sz="2000" dirty="0">
                  <a:solidFill>
                    <a:schemeClr val="dk1"/>
                  </a:solidFill>
                  <a:ea typeface="Consolas"/>
                  <a:cs typeface="Consolas"/>
                  <a:sym typeface="Consolas"/>
                </a:endParaRPr>
              </a:p>
              <a:p>
                <a:pPr marL="0" lvl="0" indent="0" algn="ctr" rtl="0">
                  <a:spcBef>
                    <a:spcPts val="48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lang="es-ES" sz="2000" dirty="0">
                  <a:solidFill>
                    <a:schemeClr val="dk1"/>
                  </a:solidFill>
                  <a:highlight>
                    <a:srgbClr val="FFF2CC"/>
                  </a:highlight>
                  <a:ea typeface="Consolas"/>
                  <a:cs typeface="Consolas"/>
                  <a:sym typeface="Consolas"/>
                </a:endParaRPr>
              </a:p>
              <a:p>
                <a:pPr marL="0" lvl="0" indent="0" algn="ctr" rtl="0">
                  <a:spcBef>
                    <a:spcPts val="48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000" i="1" dirty="0">
                              <a:solidFill>
                                <a:schemeClr val="dk1"/>
                              </a:solidFill>
                              <a:highlight>
                                <a:srgbClr val="FFF2CC"/>
                              </a:highlight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</m:ctrlPr>
                        </m:sSubPr>
                        <m:e>
                          <m:r>
                            <a:rPr lang="es-ES" sz="2000" i="1" dirty="0" smtClean="0">
                              <a:solidFill>
                                <a:schemeClr val="dk1"/>
                              </a:solidFill>
                              <a:highlight>
                                <a:srgbClr val="FFF2CC"/>
                              </a:highlight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𝑃</m:t>
                          </m:r>
                        </m:e>
                        <m:sub>
                          <m:r>
                            <a:rPr lang="es-ES" sz="2000" i="1" dirty="0">
                              <a:solidFill>
                                <a:schemeClr val="dk1"/>
                              </a:solidFill>
                              <a:highlight>
                                <a:srgbClr val="FFF2CC"/>
                              </a:highlight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𝐻𝑖𝑡</m:t>
                          </m:r>
                        </m:sub>
                      </m:sSub>
                      <m:r>
                        <a:rPr lang="es-ES" sz="2000" i="1" dirty="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 = </m:t>
                      </m:r>
                      <m:r>
                        <a:rPr lang="es-ES" sz="2000" i="1" dirty="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54</m:t>
                      </m:r>
                      <m:r>
                        <a:rPr lang="es-ES" sz="2000" i="1" dirty="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.</m:t>
                      </m:r>
                      <m:r>
                        <a:rPr lang="es-ES" sz="2000" i="1" dirty="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5</m:t>
                      </m:r>
                      <m:r>
                        <a:rPr lang="es-ES" sz="2000" i="1" dirty="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 %</m:t>
                      </m:r>
                    </m:oMath>
                  </m:oMathPara>
                </a14:m>
                <a:endParaRPr sz="2000" dirty="0">
                  <a:solidFill>
                    <a:schemeClr val="dk1"/>
                  </a:solidFill>
                  <a:highlight>
                    <a:srgbClr val="FFF2CC"/>
                  </a:highlight>
                  <a:ea typeface="Consolas"/>
                  <a:cs typeface="Consolas"/>
                  <a:sym typeface="Consolas"/>
                </a:endParaRPr>
              </a:p>
            </p:txBody>
          </p:sp>
        </mc:Choice>
        <mc:Fallback xmlns="">
          <p:sp>
            <p:nvSpPr>
              <p:cNvPr id="495" name="Google Shape;495;p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4326" y="1045538"/>
                <a:ext cx="5438100" cy="41387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6" name="Google Shape;496;p45"/>
          <p:cNvSpPr txBox="1"/>
          <p:nvPr/>
        </p:nvSpPr>
        <p:spPr>
          <a:xfrm>
            <a:off x="6294327" y="5356865"/>
            <a:ext cx="5438099" cy="1266983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Problema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 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Futuro no conocido.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Solución no real.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7"/>
          <p:cNvSpPr txBox="1">
            <a:spLocks noGrp="1"/>
          </p:cNvSpPr>
          <p:nvPr>
            <p:ph type="title"/>
          </p:nvPr>
        </p:nvSpPr>
        <p:spPr>
          <a:xfrm>
            <a:off x="398206" y="96038"/>
            <a:ext cx="876411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Política de reemplazo FIFO</a:t>
            </a:r>
            <a:endParaRPr dirty="0"/>
          </a:p>
        </p:txBody>
      </p:sp>
      <p:sp>
        <p:nvSpPr>
          <p:cNvPr id="508" name="Google Shape;508;p47"/>
          <p:cNvSpPr txBox="1">
            <a:spLocks noGrp="1"/>
          </p:cNvSpPr>
          <p:nvPr>
            <p:ph type="body" idx="1"/>
          </p:nvPr>
        </p:nvSpPr>
        <p:spPr>
          <a:xfrm>
            <a:off x="398206" y="1045550"/>
            <a:ext cx="10931619" cy="1690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/>
              <a:t>Reemplaza la página que ha entrado primero.</a:t>
            </a:r>
            <a:endParaRPr sz="2400"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/>
              <a:t>Las páginas entran a una cola cada que llegan a memoria.</a:t>
            </a:r>
            <a:endParaRPr sz="2400"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/>
              <a:t>Cuando se requiere un reemplazo, se selecciona la página al final de la cola (la primera que entró).</a:t>
            </a: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graphicFrame>
        <p:nvGraphicFramePr>
          <p:cNvPr id="509" name="Google Shape;509;p47"/>
          <p:cNvGraphicFramePr/>
          <p:nvPr>
            <p:extLst>
              <p:ext uri="{D42A27DB-BD31-4B8C-83A1-F6EECF244321}">
                <p14:modId xmlns:p14="http://schemas.microsoft.com/office/powerpoint/2010/main" val="1867784724"/>
              </p:ext>
            </p:extLst>
          </p:nvPr>
        </p:nvGraphicFramePr>
        <p:xfrm>
          <a:off x="904904" y="3237660"/>
          <a:ext cx="10382192" cy="100044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025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6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9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>
                          <a:solidFill>
                            <a:srgbClr val="FFFFFF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Ventajas</a:t>
                      </a:r>
                      <a:endParaRPr sz="2000" b="1" dirty="0">
                        <a:solidFill>
                          <a:srgbClr val="FFFFFF"/>
                        </a:solidFill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solidFill>
                            <a:srgbClr val="FFFFFF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Desventajas</a:t>
                      </a:r>
                      <a:endParaRPr sz="2000" b="1">
                        <a:solidFill>
                          <a:srgbClr val="FFFFFF"/>
                        </a:solidFill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457200" lvl="0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Roboto"/>
                        <a:buChar char="●"/>
                      </a:pPr>
                      <a:r>
                        <a:rPr lang="es-ES" sz="2000">
                          <a:latin typeface="+mn-lt"/>
                          <a:ea typeface="Roboto"/>
                          <a:cs typeface="Roboto"/>
                          <a:sym typeface="Roboto"/>
                        </a:rPr>
                        <a:t>Fácil de implementar</a:t>
                      </a:r>
                      <a:endParaRPr sz="20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Roboto"/>
                        <a:buChar char="●"/>
                      </a:pPr>
                      <a:r>
                        <a:rPr lang="es-ES" sz="20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No puede determinar la importancia de las páginas.</a:t>
                      </a:r>
                      <a:endParaRPr sz="20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8"/>
          <p:cNvSpPr txBox="1">
            <a:spLocks noGrp="1"/>
          </p:cNvSpPr>
          <p:nvPr>
            <p:ph type="title"/>
          </p:nvPr>
        </p:nvSpPr>
        <p:spPr>
          <a:xfrm>
            <a:off x="693174" y="96038"/>
            <a:ext cx="852747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Política de reemplazo FIFO</a:t>
            </a:r>
            <a:endParaRPr dirty="0"/>
          </a:p>
        </p:txBody>
      </p:sp>
      <p:sp>
        <p:nvSpPr>
          <p:cNvPr id="515" name="Google Shape;515;p48"/>
          <p:cNvSpPr txBox="1"/>
          <p:nvPr/>
        </p:nvSpPr>
        <p:spPr>
          <a:xfrm>
            <a:off x="1081450" y="1045550"/>
            <a:ext cx="9897600" cy="5663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6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Ejemplo</a:t>
            </a:r>
            <a:endParaRPr sz="26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Asuma que un programa accede a diferentes páginas virtuales de acuerdo con el orden mostrado en la siguiente traza de memoria: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Asuma además que se tiene una memoria de tres frames: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Roboto"/>
              <a:buChar char="●"/>
            </a:pPr>
            <a:r>
              <a:rPr lang="es-ES" sz="22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¿Cual es la tasa de hits al aplicar la política de reemplazo FIFO?</a:t>
            </a:r>
            <a:endParaRPr dirty="0"/>
          </a:p>
        </p:txBody>
      </p:sp>
      <p:graphicFrame>
        <p:nvGraphicFramePr>
          <p:cNvPr id="516" name="Google Shape;516;p48"/>
          <p:cNvGraphicFramePr/>
          <p:nvPr/>
        </p:nvGraphicFramePr>
        <p:xfrm>
          <a:off x="4915313" y="4461363"/>
          <a:ext cx="2361375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78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Frame →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17" name="Google Shape;517;p48"/>
          <p:cNvGrpSpPr/>
          <p:nvPr/>
        </p:nvGrpSpPr>
        <p:grpSpPr>
          <a:xfrm>
            <a:off x="2957450" y="2470304"/>
            <a:ext cx="6436200" cy="961734"/>
            <a:chOff x="3436900" y="2053304"/>
            <a:chExt cx="6436200" cy="961734"/>
          </a:xfrm>
        </p:grpSpPr>
        <p:sp>
          <p:nvSpPr>
            <p:cNvPr id="518" name="Google Shape;518;p48"/>
            <p:cNvSpPr/>
            <p:nvPr/>
          </p:nvSpPr>
          <p:spPr>
            <a:xfrm>
              <a:off x="3436900" y="2316638"/>
              <a:ext cx="6436200" cy="6984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latin typeface="Consolas"/>
                  <a:ea typeface="Consolas"/>
                  <a:cs typeface="Consolas"/>
                  <a:sym typeface="Consolas"/>
                </a:rPr>
                <a:t>0   1   2   0   1   3   0   3   1   2   1</a:t>
              </a:r>
              <a:r>
                <a:rPr lang="es-ES" sz="1800"/>
                <a:t> </a:t>
              </a:r>
              <a:endParaRPr sz="1800"/>
            </a:p>
          </p:txBody>
        </p:sp>
        <p:sp>
          <p:nvSpPr>
            <p:cNvPr id="519" name="Google Shape;519;p48"/>
            <p:cNvSpPr txBox="1"/>
            <p:nvPr/>
          </p:nvSpPr>
          <p:spPr>
            <a:xfrm>
              <a:off x="3517899" y="2053304"/>
              <a:ext cx="1876864" cy="50318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Reference Row</a:t>
              </a:r>
              <a:endParaRPr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49"/>
          <p:cNvSpPr txBox="1">
            <a:spLocks noGrp="1"/>
          </p:cNvSpPr>
          <p:nvPr>
            <p:ph type="title"/>
          </p:nvPr>
        </p:nvSpPr>
        <p:spPr>
          <a:xfrm>
            <a:off x="657138" y="167811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Política de reemplazo FIFO</a:t>
            </a:r>
            <a:endParaRPr dirty="0"/>
          </a:p>
        </p:txBody>
      </p:sp>
      <p:sp>
        <p:nvSpPr>
          <p:cNvPr id="525" name="Google Shape;525;p49"/>
          <p:cNvSpPr txBox="1">
            <a:spLocks noGrp="1"/>
          </p:cNvSpPr>
          <p:nvPr>
            <p:ph type="body" idx="1"/>
          </p:nvPr>
        </p:nvSpPr>
        <p:spPr>
          <a:xfrm>
            <a:off x="773413" y="1170588"/>
            <a:ext cx="1908600" cy="57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1"/>
                </a:solidFill>
              </a:rPr>
              <a:t>Solución</a:t>
            </a: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graphicFrame>
        <p:nvGraphicFramePr>
          <p:cNvPr id="526" name="Google Shape;526;p49"/>
          <p:cNvGraphicFramePr/>
          <p:nvPr/>
        </p:nvGraphicFramePr>
        <p:xfrm>
          <a:off x="7694375" y="1458288"/>
          <a:ext cx="4001400" cy="46271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8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9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Access</a:t>
                      </a:r>
                      <a:endParaRPr sz="12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Hit/Miss?</a:t>
                      </a:r>
                      <a:endParaRPr sz="12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Evict</a:t>
                      </a:r>
                      <a:endParaRPr sz="12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Resulting Cache State</a:t>
                      </a:r>
                      <a:endParaRPr sz="12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527" name="Google Shape;527;p49"/>
          <p:cNvGraphicFramePr/>
          <p:nvPr/>
        </p:nvGraphicFramePr>
        <p:xfrm>
          <a:off x="985725" y="3586088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28" name="Google Shape;528;p49"/>
          <p:cNvGraphicFramePr/>
          <p:nvPr/>
        </p:nvGraphicFramePr>
        <p:xfrm>
          <a:off x="916638" y="2985360"/>
          <a:ext cx="5965575" cy="4571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9" name="Google Shape;529;p49"/>
          <p:cNvGraphicFramePr/>
          <p:nvPr/>
        </p:nvGraphicFramePr>
        <p:xfrm>
          <a:off x="1536288" y="3586100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30" name="Google Shape;530;p49"/>
          <p:cNvGraphicFramePr/>
          <p:nvPr/>
        </p:nvGraphicFramePr>
        <p:xfrm>
          <a:off x="2086875" y="3586100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31" name="Google Shape;531;p49"/>
          <p:cNvGraphicFramePr/>
          <p:nvPr/>
        </p:nvGraphicFramePr>
        <p:xfrm>
          <a:off x="2637438" y="3586100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32" name="Google Shape;532;p49"/>
          <p:cNvGraphicFramePr/>
          <p:nvPr/>
        </p:nvGraphicFramePr>
        <p:xfrm>
          <a:off x="3188025" y="3586100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33" name="Google Shape;533;p49"/>
          <p:cNvGraphicFramePr/>
          <p:nvPr/>
        </p:nvGraphicFramePr>
        <p:xfrm>
          <a:off x="3707988" y="3586100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34" name="Google Shape;534;p49"/>
          <p:cNvGraphicFramePr/>
          <p:nvPr/>
        </p:nvGraphicFramePr>
        <p:xfrm>
          <a:off x="4258575" y="3586100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35" name="Google Shape;535;p49"/>
          <p:cNvGraphicFramePr/>
          <p:nvPr/>
        </p:nvGraphicFramePr>
        <p:xfrm>
          <a:off x="4809138" y="3586100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36" name="Google Shape;536;p49"/>
          <p:cNvGraphicFramePr/>
          <p:nvPr/>
        </p:nvGraphicFramePr>
        <p:xfrm>
          <a:off x="5359725" y="3586100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37" name="Google Shape;537;p49"/>
          <p:cNvGraphicFramePr/>
          <p:nvPr/>
        </p:nvGraphicFramePr>
        <p:xfrm>
          <a:off x="5887838" y="3586100"/>
          <a:ext cx="37470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7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38" name="Google Shape;538;p49"/>
          <p:cNvGraphicFramePr/>
          <p:nvPr/>
        </p:nvGraphicFramePr>
        <p:xfrm>
          <a:off x="6430275" y="3586100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50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Política de reemplazo FIFO</a:t>
            </a:r>
            <a:endParaRPr dirty="0"/>
          </a:p>
        </p:txBody>
      </p:sp>
      <p:sp>
        <p:nvSpPr>
          <p:cNvPr id="544" name="Google Shape;544;p50"/>
          <p:cNvSpPr txBox="1">
            <a:spLocks noGrp="1"/>
          </p:cNvSpPr>
          <p:nvPr>
            <p:ph type="body" idx="1"/>
          </p:nvPr>
        </p:nvSpPr>
        <p:spPr>
          <a:xfrm>
            <a:off x="848862" y="931259"/>
            <a:ext cx="2131500" cy="568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5"/>
                </a:solidFill>
              </a:rPr>
              <a:t>Solución</a:t>
            </a: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545" name="Google Shape;545;p50"/>
          <p:cNvGraphicFramePr/>
          <p:nvPr/>
        </p:nvGraphicFramePr>
        <p:xfrm>
          <a:off x="1799675" y="2761188"/>
          <a:ext cx="2361375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78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Frame →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Evict →</a:t>
                      </a:r>
                      <a:endParaRPr>
                        <a:solidFill>
                          <a:srgbClr val="0B6937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46" name="Google Shape;546;p50"/>
          <p:cNvGraphicFramePr/>
          <p:nvPr/>
        </p:nvGraphicFramePr>
        <p:xfrm>
          <a:off x="1775850" y="2109735"/>
          <a:ext cx="7902275" cy="7314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3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63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Reference row →</a:t>
                      </a:r>
                      <a:endParaRPr b="1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b="1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7" name="Google Shape;547;p50"/>
          <p:cNvGraphicFramePr/>
          <p:nvPr/>
        </p:nvGraphicFramePr>
        <p:xfrm>
          <a:off x="4328763" y="2761200"/>
          <a:ext cx="382850" cy="18286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48" name="Google Shape;548;p50"/>
          <p:cNvGraphicFramePr/>
          <p:nvPr/>
        </p:nvGraphicFramePr>
        <p:xfrm>
          <a:off x="4879350" y="2761200"/>
          <a:ext cx="382850" cy="18286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49" name="Google Shape;549;p50"/>
          <p:cNvGraphicFramePr/>
          <p:nvPr/>
        </p:nvGraphicFramePr>
        <p:xfrm>
          <a:off x="5429913" y="2761200"/>
          <a:ext cx="382850" cy="18286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50" name="Google Shape;550;p50"/>
          <p:cNvGraphicFramePr/>
          <p:nvPr/>
        </p:nvGraphicFramePr>
        <p:xfrm>
          <a:off x="5980500" y="2761200"/>
          <a:ext cx="382850" cy="18286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51" name="Google Shape;551;p50"/>
          <p:cNvGraphicFramePr/>
          <p:nvPr/>
        </p:nvGraphicFramePr>
        <p:xfrm>
          <a:off x="6500463" y="2761200"/>
          <a:ext cx="38285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52" name="Google Shape;552;p50"/>
          <p:cNvGraphicFramePr/>
          <p:nvPr/>
        </p:nvGraphicFramePr>
        <p:xfrm>
          <a:off x="7051050" y="2761200"/>
          <a:ext cx="38285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53" name="Google Shape;553;p50"/>
          <p:cNvGraphicFramePr/>
          <p:nvPr/>
        </p:nvGraphicFramePr>
        <p:xfrm>
          <a:off x="7601613" y="2761200"/>
          <a:ext cx="382850" cy="18286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54" name="Google Shape;554;p50"/>
          <p:cNvGraphicFramePr/>
          <p:nvPr/>
        </p:nvGraphicFramePr>
        <p:xfrm>
          <a:off x="8152200" y="2761200"/>
          <a:ext cx="38285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55" name="Google Shape;555;p50"/>
          <p:cNvGraphicFramePr/>
          <p:nvPr/>
        </p:nvGraphicFramePr>
        <p:xfrm>
          <a:off x="8680313" y="2761200"/>
          <a:ext cx="37470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7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22222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22222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56" name="Google Shape;556;p50"/>
          <p:cNvGraphicFramePr/>
          <p:nvPr/>
        </p:nvGraphicFramePr>
        <p:xfrm>
          <a:off x="9222750" y="2761200"/>
          <a:ext cx="382850" cy="18286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51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Política de reemplazo FIFO</a:t>
            </a:r>
            <a:endParaRPr dirty="0"/>
          </a:p>
        </p:txBody>
      </p:sp>
      <p:sp>
        <p:nvSpPr>
          <p:cNvPr id="562" name="Google Shape;562;p51"/>
          <p:cNvSpPr txBox="1">
            <a:spLocks noGrp="1"/>
          </p:cNvSpPr>
          <p:nvPr>
            <p:ph type="body" idx="1"/>
          </p:nvPr>
        </p:nvSpPr>
        <p:spPr>
          <a:xfrm>
            <a:off x="844600" y="856450"/>
            <a:ext cx="1738500" cy="65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5"/>
                </a:solidFill>
              </a:rPr>
              <a:t>Solución</a:t>
            </a: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563" name="Google Shape;563;p51"/>
          <p:cNvGraphicFramePr/>
          <p:nvPr>
            <p:extLst>
              <p:ext uri="{D42A27DB-BD31-4B8C-83A1-F6EECF244321}">
                <p14:modId xmlns:p14="http://schemas.microsoft.com/office/powerpoint/2010/main" val="2778175705"/>
              </p:ext>
            </p:extLst>
          </p:nvPr>
        </p:nvGraphicFramePr>
        <p:xfrm>
          <a:off x="844600" y="1653876"/>
          <a:ext cx="5022100" cy="478728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7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8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9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Access</a:t>
                      </a:r>
                      <a:endParaRPr sz="14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Hit/Miss?</a:t>
                      </a:r>
                      <a:endParaRPr sz="14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Evict</a:t>
                      </a:r>
                      <a:endParaRPr sz="14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Resulting Cache State</a:t>
                      </a:r>
                      <a:endParaRPr sz="14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First-in →         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First-in →      </a:t>
                      </a: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0, 1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First-in →   </a:t>
                      </a: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0, 1, 2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First-in →   </a:t>
                      </a: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0, 1, 2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First-in →   </a:t>
                      </a: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0, 1, 2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First-in →   </a:t>
                      </a: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1, 2, 3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First-in →   2, 3, 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First-in →   2, 3, 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First-in →   3, 0, 1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First-in →   0, 1, 2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First</a:t>
                      </a:r>
                      <a:r>
                        <a:rPr lang="es-ES" sz="14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-in →   0, 1, 2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64" name="Google Shape;564;p51"/>
              <p:cNvSpPr txBox="1"/>
              <p:nvPr/>
            </p:nvSpPr>
            <p:spPr>
              <a:xfrm>
                <a:off x="6208875" y="1513750"/>
                <a:ext cx="5438100" cy="4341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457200" lvl="0" indent="-368300" algn="l" rtl="0">
                  <a:spcBef>
                    <a:spcPts val="48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Roboto"/>
                  <a:buChar char="●"/>
                </a:pPr>
                <a:r>
                  <a:rPr lang="es-ES" sz="2200" b="1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Hits</a:t>
                </a:r>
                <a:r>
                  <a:rPr lang="es-ES" sz="2200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: 4</a:t>
                </a:r>
              </a:p>
              <a:p>
                <a:pPr marL="457200" lvl="0" indent="-3683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Roboto"/>
                  <a:buChar char="●"/>
                </a:pPr>
                <a:r>
                  <a:rPr lang="es-ES" sz="2200" b="1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Miss</a:t>
                </a:r>
                <a:r>
                  <a:rPr lang="es-ES" sz="2200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: 7</a:t>
                </a:r>
              </a:p>
              <a:p>
                <a:pPr marL="457200" lvl="0" indent="0" algn="l" rtl="0">
                  <a:spcBef>
                    <a:spcPts val="480"/>
                  </a:spcBef>
                  <a:spcAft>
                    <a:spcPts val="0"/>
                  </a:spcAft>
                  <a:buNone/>
                </a:pPr>
                <a:endParaRPr lang="es-ES" sz="2200" dirty="0">
                  <a:solidFill>
                    <a:schemeClr val="dk1"/>
                  </a:solidFill>
                  <a:ea typeface="Roboto"/>
                  <a:cs typeface="Roboto"/>
                  <a:sym typeface="Roboto"/>
                </a:endParaRPr>
              </a:p>
              <a:p>
                <a:pPr marL="457200" lvl="0" indent="-368300" algn="l" rtl="0">
                  <a:spcBef>
                    <a:spcPts val="48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Roboto"/>
                  <a:buChar char="●"/>
                </a:pPr>
                <a:r>
                  <a:rPr lang="es-ES" sz="2200" b="1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Hit Rate</a:t>
                </a:r>
                <a:r>
                  <a:rPr lang="es-ES" sz="2200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:</a:t>
                </a:r>
              </a:p>
              <a:p>
                <a:pPr marL="457200" lvl="0" indent="0" algn="l" rtl="0">
                  <a:spcBef>
                    <a:spcPts val="480"/>
                  </a:spcBef>
                  <a:spcAft>
                    <a:spcPts val="0"/>
                  </a:spcAft>
                  <a:buNone/>
                </a:pPr>
                <a:endParaRPr lang="es-ES" sz="2200" dirty="0">
                  <a:solidFill>
                    <a:schemeClr val="dk1"/>
                  </a:solidFill>
                  <a:ea typeface="Roboto"/>
                  <a:cs typeface="Roboto"/>
                  <a:sym typeface="Roboto"/>
                </a:endParaRPr>
              </a:p>
              <a:p>
                <a:pPr marL="0" lvl="0" indent="0" algn="ctr" rtl="0">
                  <a:spcBef>
                    <a:spcPts val="48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</m:ctrlPr>
                        </m:sSubPr>
                        <m:e>
                          <m: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𝑃</m:t>
                          </m:r>
                        </m:e>
                        <m:sub>
                          <m: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𝐻𝑖𝑡</m:t>
                          </m:r>
                        </m:sub>
                      </m:sSub>
                      <m:r>
                        <a:rPr lang="ar-AE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=</m:t>
                      </m:r>
                      <m:f>
                        <m:fPr>
                          <m:ctrlP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</m:ctrlPr>
                        </m:fPr>
                        <m:num>
                          <m: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𝐻𝑖𝑡𝑠</m:t>
                          </m:r>
                        </m:num>
                        <m:den>
                          <m: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𝐻𝑖𝑡𝑠</m:t>
                          </m:r>
                          <m: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 + </m:t>
                          </m:r>
                          <m: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𝑀𝑖𝑠𝑠</m:t>
                          </m:r>
                        </m:den>
                      </m:f>
                    </m:oMath>
                  </m:oMathPara>
                </a14:m>
                <a:endParaRPr lang="es-MX" sz="2000" dirty="0">
                  <a:solidFill>
                    <a:schemeClr val="dk1"/>
                  </a:solidFill>
                  <a:ea typeface="Consolas"/>
                  <a:cs typeface="Consolas"/>
                  <a:sym typeface="Consolas"/>
                </a:endParaRPr>
              </a:p>
              <a:p>
                <a:pPr marL="0" lvl="0" indent="0" algn="ctr" rtl="0">
                  <a:spcBef>
                    <a:spcPts val="480"/>
                  </a:spcBef>
                  <a:spcAft>
                    <a:spcPts val="0"/>
                  </a:spcAft>
                  <a:buNone/>
                </a:pPr>
                <a:endParaRPr lang="ar-AE" sz="2000" dirty="0">
                  <a:solidFill>
                    <a:schemeClr val="dk1"/>
                  </a:solidFill>
                  <a:ea typeface="Consolas"/>
                  <a:cs typeface="Consolas"/>
                  <a:sym typeface="Consolas"/>
                </a:endParaRPr>
              </a:p>
              <a:p>
                <a:pPr marL="0" lvl="0" indent="0" algn="ctr" rtl="0">
                  <a:spcBef>
                    <a:spcPts val="48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</m:ctrlPr>
                        </m:sSubPr>
                        <m:e>
                          <m:r>
                            <a:rPr lang="es-ES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𝑃</m:t>
                          </m:r>
                        </m:e>
                        <m:sub>
                          <m:r>
                            <a:rPr lang="es-ES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𝐻𝑖𝑡</m:t>
                          </m:r>
                        </m:sub>
                      </m:sSub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=</m:t>
                      </m:r>
                      <m:f>
                        <m:fPr>
                          <m:ctrlPr>
                            <a:rPr lang="es-ES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</m:ctrlPr>
                        </m:fPr>
                        <m:num>
                          <m:r>
                            <a:rPr lang="es-ES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4</m:t>
                          </m:r>
                        </m:num>
                        <m:den>
                          <m:r>
                            <a:rPr lang="es-ES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11</m:t>
                          </m:r>
                        </m:den>
                      </m:f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= 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0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.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364</m:t>
                      </m:r>
                    </m:oMath>
                  </m:oMathPara>
                </a14:m>
                <a:endParaRPr lang="es-ES" sz="2000" dirty="0">
                  <a:solidFill>
                    <a:schemeClr val="dk1"/>
                  </a:solidFill>
                  <a:ea typeface="Consolas"/>
                  <a:cs typeface="Consolas"/>
                  <a:sym typeface="Consolas"/>
                </a:endParaRPr>
              </a:p>
              <a:p>
                <a:pPr marL="0" lvl="0" indent="0" algn="ctr" rtl="0">
                  <a:spcBef>
                    <a:spcPts val="480"/>
                  </a:spcBef>
                  <a:spcAft>
                    <a:spcPts val="0"/>
                  </a:spcAft>
                  <a:buNone/>
                </a:pPr>
                <a:endParaRPr lang="es-ES" sz="2000" dirty="0">
                  <a:solidFill>
                    <a:schemeClr val="dk1"/>
                  </a:solidFill>
                  <a:ea typeface="Consolas"/>
                  <a:cs typeface="Consolas"/>
                  <a:sym typeface="Consolas"/>
                </a:endParaRPr>
              </a:p>
              <a:p>
                <a:pPr marL="0" lvl="0" indent="0" algn="ctr" rtl="0">
                  <a:spcBef>
                    <a:spcPts val="48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000" i="1" dirty="0" smtClean="0">
                              <a:solidFill>
                                <a:schemeClr val="dk1"/>
                              </a:solidFill>
                              <a:highlight>
                                <a:srgbClr val="FFF2CC"/>
                              </a:highlight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</m:ctrlPr>
                        </m:sSubPr>
                        <m:e>
                          <m:r>
                            <a:rPr lang="es-ES" sz="2000" i="1" dirty="0" smtClean="0">
                              <a:solidFill>
                                <a:schemeClr val="dk1"/>
                              </a:solidFill>
                              <a:highlight>
                                <a:srgbClr val="FFF2CC"/>
                              </a:highlight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𝑃</m:t>
                          </m:r>
                        </m:e>
                        <m:sub>
                          <m:r>
                            <a:rPr lang="es-ES" sz="2000" i="1" dirty="0" smtClean="0">
                              <a:solidFill>
                                <a:schemeClr val="dk1"/>
                              </a:solidFill>
                              <a:highlight>
                                <a:srgbClr val="FFF2CC"/>
                              </a:highlight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𝐻𝑖𝑡</m:t>
                          </m:r>
                        </m:sub>
                      </m:sSub>
                      <m:r>
                        <a:rPr lang="es-ES" sz="2000" i="1" dirty="0" smtClean="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= 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36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.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4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 %</m:t>
                      </m:r>
                    </m:oMath>
                  </m:oMathPara>
                </a14:m>
                <a:endParaRPr sz="2000" dirty="0">
                  <a:solidFill>
                    <a:schemeClr val="dk1"/>
                  </a:solidFill>
                  <a:highlight>
                    <a:srgbClr val="FFF2CC"/>
                  </a:highlight>
                  <a:ea typeface="Consolas"/>
                  <a:cs typeface="Consolas"/>
                  <a:sym typeface="Consolas"/>
                </a:endParaRPr>
              </a:p>
            </p:txBody>
          </p:sp>
        </mc:Choice>
        <mc:Fallback xmlns="">
          <p:sp>
            <p:nvSpPr>
              <p:cNvPr id="564" name="Google Shape;564;p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8875" y="1513750"/>
                <a:ext cx="5438100" cy="43419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52"/>
          <p:cNvSpPr txBox="1">
            <a:spLocks noGrp="1"/>
          </p:cNvSpPr>
          <p:nvPr>
            <p:ph type="title"/>
          </p:nvPr>
        </p:nvSpPr>
        <p:spPr>
          <a:xfrm>
            <a:off x="486697" y="96038"/>
            <a:ext cx="873395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Política de reemplazo FIFO</a:t>
            </a:r>
            <a:endParaRPr dirty="0"/>
          </a:p>
        </p:txBody>
      </p:sp>
      <p:sp>
        <p:nvSpPr>
          <p:cNvPr id="570" name="Google Shape;570;p52"/>
          <p:cNvSpPr txBox="1">
            <a:spLocks noGrp="1"/>
          </p:cNvSpPr>
          <p:nvPr>
            <p:ph type="body" idx="1"/>
          </p:nvPr>
        </p:nvSpPr>
        <p:spPr>
          <a:xfrm>
            <a:off x="486697" y="1042487"/>
            <a:ext cx="4797600" cy="210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u="sng" dirty="0">
                <a:solidFill>
                  <a:schemeClr val="hlink"/>
                </a:solidFill>
                <a:hlinkClick r:id="rId3"/>
              </a:rPr>
              <a:t>Anomalía de Bélády</a:t>
            </a:r>
            <a:endParaRPr b="1" dirty="0">
              <a:solidFill>
                <a:schemeClr val="accent5"/>
              </a:solidFill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/>
              <a:t>Se espera que el número de hits aumente cuando se aumenta la memoria.</a:t>
            </a:r>
            <a:endParaRPr sz="2200" dirty="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/>
              <a:t>FIFO a veces es peor!!!</a:t>
            </a: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571" name="Google Shape;571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3600" y="1303650"/>
            <a:ext cx="5791875" cy="3475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2" name="Google Shape;572;p52"/>
          <p:cNvGrpSpPr/>
          <p:nvPr/>
        </p:nvGrpSpPr>
        <p:grpSpPr>
          <a:xfrm>
            <a:off x="621685" y="3345762"/>
            <a:ext cx="5203024" cy="949992"/>
            <a:chOff x="3436900" y="2065046"/>
            <a:chExt cx="6436200" cy="949992"/>
          </a:xfrm>
        </p:grpSpPr>
        <p:sp>
          <p:nvSpPr>
            <p:cNvPr id="573" name="Google Shape;573;p52"/>
            <p:cNvSpPr/>
            <p:nvPr/>
          </p:nvSpPr>
          <p:spPr>
            <a:xfrm>
              <a:off x="3436900" y="2316638"/>
              <a:ext cx="6436200" cy="6984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latin typeface="Consolas"/>
                  <a:ea typeface="Consolas"/>
                  <a:cs typeface="Consolas"/>
                  <a:sym typeface="Consolas"/>
                </a:rPr>
                <a:t>1  2  3  4  1  2  5  1  2  3  4  5</a:t>
              </a:r>
              <a:r>
                <a:rPr lang="es-ES" sz="1800"/>
                <a:t> </a:t>
              </a:r>
              <a:endParaRPr sz="1800"/>
            </a:p>
          </p:txBody>
        </p:sp>
        <p:sp>
          <p:nvSpPr>
            <p:cNvPr id="574" name="Google Shape;574;p52"/>
            <p:cNvSpPr txBox="1"/>
            <p:nvPr/>
          </p:nvSpPr>
          <p:spPr>
            <a:xfrm>
              <a:off x="3668806" y="2065046"/>
              <a:ext cx="2319456" cy="50318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Reference Row</a:t>
              </a:r>
              <a:endParaRPr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pic>
        <p:nvPicPr>
          <p:cNvPr id="575" name="Google Shape;575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7700" y="4979650"/>
            <a:ext cx="5492150" cy="148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39119" y="5036875"/>
            <a:ext cx="5036356" cy="158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54"/>
          <p:cNvSpPr txBox="1">
            <a:spLocks noGrp="1"/>
          </p:cNvSpPr>
          <p:nvPr>
            <p:ph type="title"/>
          </p:nvPr>
        </p:nvSpPr>
        <p:spPr>
          <a:xfrm>
            <a:off x="604684" y="235738"/>
            <a:ext cx="860326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Política de reemplazo aleatoria</a:t>
            </a:r>
            <a:endParaRPr dirty="0">
              <a:latin typeface="+mj-lt"/>
            </a:endParaRPr>
          </a:p>
        </p:txBody>
      </p:sp>
      <p:sp>
        <p:nvSpPr>
          <p:cNvPr id="591" name="Google Shape;591;p54"/>
          <p:cNvSpPr txBox="1">
            <a:spLocks noGrp="1"/>
          </p:cNvSpPr>
          <p:nvPr>
            <p:ph type="body" idx="1"/>
          </p:nvPr>
        </p:nvSpPr>
        <p:spPr>
          <a:xfrm>
            <a:off x="604684" y="1185250"/>
            <a:ext cx="11331466" cy="167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00"/>
              <a:buChar char="●"/>
            </a:pPr>
            <a:r>
              <a:rPr lang="es-ES" sz="2400" b="1" dirty="0">
                <a:solidFill>
                  <a:schemeClr val="accent2"/>
                </a:solidFill>
                <a:latin typeface="+mn-lt"/>
              </a:rPr>
              <a:t>Selecciona de</a:t>
            </a:r>
            <a:r>
              <a:rPr lang="es-ES" sz="2400" dirty="0">
                <a:solidFill>
                  <a:schemeClr val="accent2"/>
                </a:solidFill>
                <a:latin typeface="+mn-lt"/>
              </a:rPr>
              <a:t> </a:t>
            </a:r>
            <a:r>
              <a:rPr lang="es-ES" sz="2400" b="1" dirty="0">
                <a:solidFill>
                  <a:schemeClr val="accent2"/>
                </a:solidFill>
                <a:latin typeface="+mn-lt"/>
              </a:rPr>
              <a:t>manera aleatoria</a:t>
            </a:r>
            <a:r>
              <a:rPr lang="es-ES" sz="2400" dirty="0">
                <a:solidFill>
                  <a:schemeClr val="accent2"/>
                </a:solidFill>
                <a:latin typeface="+mn-lt"/>
              </a:rPr>
              <a:t> </a:t>
            </a:r>
            <a:r>
              <a:rPr lang="es-ES" sz="2400" dirty="0">
                <a:latin typeface="+mn-lt"/>
              </a:rPr>
              <a:t>la página a reemplazar</a:t>
            </a:r>
            <a:endParaRPr sz="2400" dirty="0">
              <a:latin typeface="+mn-lt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ES" sz="2400" dirty="0">
                <a:latin typeface="+mn-lt"/>
              </a:rPr>
              <a:t>No tiene en cuenta qué bloque de datos se saca de memoria.</a:t>
            </a:r>
            <a:endParaRPr sz="2400" dirty="0">
              <a:latin typeface="+mn-lt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ES" sz="2400" dirty="0">
                <a:latin typeface="+mn-lt"/>
              </a:rPr>
              <a:t>Desempeño es </a:t>
            </a:r>
            <a:r>
              <a:rPr lang="es-ES" sz="2400" b="1" dirty="0">
                <a:latin typeface="+mn-lt"/>
              </a:rPr>
              <a:t>aleatorio </a:t>
            </a:r>
            <a:r>
              <a:rPr lang="es-ES" sz="2400" dirty="0">
                <a:latin typeface="+mn-lt"/>
              </a:rPr>
              <a:t>(Depende de la suerte cuando se elige la página a reemplazar).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pic>
        <p:nvPicPr>
          <p:cNvPr id="592" name="Google Shape;59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123" y="3718500"/>
            <a:ext cx="1324550" cy="132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55"/>
          <p:cNvSpPr txBox="1">
            <a:spLocks noGrp="1"/>
          </p:cNvSpPr>
          <p:nvPr>
            <p:ph type="title"/>
          </p:nvPr>
        </p:nvSpPr>
        <p:spPr>
          <a:xfrm>
            <a:off x="516194" y="96038"/>
            <a:ext cx="870445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Política de reemplazo aleatoria</a:t>
            </a:r>
            <a:endParaRPr dirty="0">
              <a:latin typeface="+mj-lt"/>
            </a:endParaRPr>
          </a:p>
        </p:txBody>
      </p:sp>
      <p:sp>
        <p:nvSpPr>
          <p:cNvPr id="598" name="Google Shape;598;p55"/>
          <p:cNvSpPr txBox="1">
            <a:spLocks noGrp="1"/>
          </p:cNvSpPr>
          <p:nvPr>
            <p:ph type="body" idx="1"/>
          </p:nvPr>
        </p:nvSpPr>
        <p:spPr>
          <a:xfrm>
            <a:off x="516194" y="1045550"/>
            <a:ext cx="11292006" cy="551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Ejemplo</a:t>
            </a: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Asuma que un programa accede a diferentes páginas virtuales de acuerdo con el orden mostrado en la siguiente traza de memoria: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Asuma además que se tiene una memoria de tres frames: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200"/>
              <a:buChar char="●"/>
            </a:pPr>
            <a:r>
              <a:rPr lang="es-ES" sz="2200" b="1" dirty="0">
                <a:solidFill>
                  <a:srgbClr val="FF0000"/>
                </a:solidFill>
                <a:latin typeface="+mn-lt"/>
              </a:rPr>
              <a:t>¿Cual es la tasa de hits al aplicar la política de reemplazo aleatoria?</a:t>
            </a:r>
            <a:endParaRPr sz="2200" b="1" dirty="0">
              <a:solidFill>
                <a:srgbClr val="FF0000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599" name="Google Shape;599;p55"/>
          <p:cNvGraphicFramePr/>
          <p:nvPr/>
        </p:nvGraphicFramePr>
        <p:xfrm>
          <a:off x="4915313" y="4461363"/>
          <a:ext cx="2361375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78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Frame →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00" name="Google Shape;600;p55"/>
          <p:cNvGrpSpPr/>
          <p:nvPr/>
        </p:nvGrpSpPr>
        <p:grpSpPr>
          <a:xfrm>
            <a:off x="2957450" y="2482034"/>
            <a:ext cx="6436200" cy="950004"/>
            <a:chOff x="3436900" y="2065034"/>
            <a:chExt cx="6436200" cy="950004"/>
          </a:xfrm>
        </p:grpSpPr>
        <p:sp>
          <p:nvSpPr>
            <p:cNvPr id="601" name="Google Shape;601;p55"/>
            <p:cNvSpPr/>
            <p:nvPr/>
          </p:nvSpPr>
          <p:spPr>
            <a:xfrm>
              <a:off x="3436900" y="2316638"/>
              <a:ext cx="6436200" cy="6984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latin typeface="Consolas"/>
                  <a:ea typeface="Consolas"/>
                  <a:cs typeface="Consolas"/>
                  <a:sym typeface="Consolas"/>
                </a:rPr>
                <a:t>0   1   2   0   1   3   0   3   1   2   1</a:t>
              </a:r>
              <a:r>
                <a:rPr lang="es-ES" sz="1800"/>
                <a:t> </a:t>
              </a:r>
              <a:endParaRPr sz="1800"/>
            </a:p>
          </p:txBody>
        </p:sp>
        <p:sp>
          <p:nvSpPr>
            <p:cNvPr id="602" name="Google Shape;602;p55"/>
            <p:cNvSpPr txBox="1"/>
            <p:nvPr/>
          </p:nvSpPr>
          <p:spPr>
            <a:xfrm>
              <a:off x="3517900" y="2065034"/>
              <a:ext cx="1876863" cy="50318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Reference Row</a:t>
              </a:r>
              <a:endParaRPr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pic>
        <p:nvPicPr>
          <p:cNvPr id="603" name="Google Shape;603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3424" y="5025744"/>
            <a:ext cx="624250" cy="62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56"/>
          <p:cNvSpPr txBox="1">
            <a:spLocks noGrp="1"/>
          </p:cNvSpPr>
          <p:nvPr>
            <p:ph type="title"/>
          </p:nvPr>
        </p:nvSpPr>
        <p:spPr>
          <a:xfrm>
            <a:off x="516194" y="96038"/>
            <a:ext cx="870445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Política de reemplazo aleatoria</a:t>
            </a:r>
            <a:endParaRPr dirty="0">
              <a:latin typeface="+mj-lt"/>
            </a:endParaRPr>
          </a:p>
        </p:txBody>
      </p:sp>
      <p:sp>
        <p:nvSpPr>
          <p:cNvPr id="609" name="Google Shape;609;p56"/>
          <p:cNvSpPr txBox="1">
            <a:spLocks noGrp="1"/>
          </p:cNvSpPr>
          <p:nvPr>
            <p:ph type="body" idx="1"/>
          </p:nvPr>
        </p:nvSpPr>
        <p:spPr>
          <a:xfrm>
            <a:off x="731675" y="3098410"/>
            <a:ext cx="2131500" cy="568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Solución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aphicFrame>
        <p:nvGraphicFramePr>
          <p:cNvPr id="610" name="Google Shape;610;p56"/>
          <p:cNvGraphicFramePr/>
          <p:nvPr/>
        </p:nvGraphicFramePr>
        <p:xfrm>
          <a:off x="2840325" y="1871888"/>
          <a:ext cx="2361375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78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Frame →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11" name="Google Shape;611;p56"/>
          <p:cNvGraphicFramePr/>
          <p:nvPr/>
        </p:nvGraphicFramePr>
        <p:xfrm>
          <a:off x="2607075" y="1137975"/>
          <a:ext cx="6977850" cy="4571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3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Reference row →</a:t>
                      </a:r>
                      <a:endParaRPr b="1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12" name="Google Shape;612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4951" y="2412775"/>
            <a:ext cx="558500" cy="558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13" name="Google Shape;613;p56"/>
          <p:cNvGraphicFramePr/>
          <p:nvPr/>
        </p:nvGraphicFramePr>
        <p:xfrm>
          <a:off x="1797425" y="4318363"/>
          <a:ext cx="2361375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78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Frame →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Evict →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14" name="Google Shape;614;p56"/>
          <p:cNvGraphicFramePr/>
          <p:nvPr/>
        </p:nvGraphicFramePr>
        <p:xfrm>
          <a:off x="1773600" y="3666910"/>
          <a:ext cx="7902275" cy="7314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3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63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Reference row →</a:t>
                      </a:r>
                      <a:endParaRPr b="1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5" name="Google Shape;615;p56"/>
          <p:cNvGraphicFramePr/>
          <p:nvPr/>
        </p:nvGraphicFramePr>
        <p:xfrm>
          <a:off x="4326513" y="4318375"/>
          <a:ext cx="38285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16" name="Google Shape;616;p56"/>
          <p:cNvGraphicFramePr/>
          <p:nvPr/>
        </p:nvGraphicFramePr>
        <p:xfrm>
          <a:off x="4877100" y="4318375"/>
          <a:ext cx="38285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17" name="Google Shape;617;p56"/>
          <p:cNvGraphicFramePr/>
          <p:nvPr/>
        </p:nvGraphicFramePr>
        <p:xfrm>
          <a:off x="5427663" y="4318375"/>
          <a:ext cx="38285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8BAB4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8BAB4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8BAB4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8BAB4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18" name="Google Shape;618;p56"/>
          <p:cNvGraphicFramePr/>
          <p:nvPr/>
        </p:nvGraphicFramePr>
        <p:xfrm>
          <a:off x="5978250" y="4318375"/>
          <a:ext cx="38285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8BAB4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8BAB4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70AD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19" name="Google Shape;619;p56"/>
          <p:cNvGraphicFramePr/>
          <p:nvPr/>
        </p:nvGraphicFramePr>
        <p:xfrm>
          <a:off x="6498213" y="4318375"/>
          <a:ext cx="38285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20" name="Google Shape;620;p56"/>
          <p:cNvGraphicFramePr/>
          <p:nvPr/>
        </p:nvGraphicFramePr>
        <p:xfrm>
          <a:off x="7048800" y="4318375"/>
          <a:ext cx="38285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21" name="Google Shape;621;p56"/>
          <p:cNvGraphicFramePr/>
          <p:nvPr/>
        </p:nvGraphicFramePr>
        <p:xfrm>
          <a:off x="7599363" y="4318375"/>
          <a:ext cx="38285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8BAB4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8BAB4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b="1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22" name="Google Shape;622;p56"/>
          <p:cNvGraphicFramePr/>
          <p:nvPr/>
        </p:nvGraphicFramePr>
        <p:xfrm>
          <a:off x="8149950" y="4318375"/>
          <a:ext cx="38285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23" name="Google Shape;623;p56"/>
          <p:cNvGraphicFramePr/>
          <p:nvPr/>
        </p:nvGraphicFramePr>
        <p:xfrm>
          <a:off x="8669913" y="4318375"/>
          <a:ext cx="38285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8BAB4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8BAB4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b="1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24" name="Google Shape;624;p56"/>
          <p:cNvGraphicFramePr/>
          <p:nvPr/>
        </p:nvGraphicFramePr>
        <p:xfrm>
          <a:off x="9220500" y="4318375"/>
          <a:ext cx="38285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8BAB4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8BAB4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70AD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25" name="Google Shape;625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8226" y="6299425"/>
            <a:ext cx="382850" cy="38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8801" y="6299425"/>
            <a:ext cx="382850" cy="38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8376" y="6299425"/>
            <a:ext cx="382850" cy="38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57"/>
          <p:cNvSpPr txBox="1">
            <a:spLocks noGrp="1"/>
          </p:cNvSpPr>
          <p:nvPr>
            <p:ph type="title"/>
          </p:nvPr>
        </p:nvSpPr>
        <p:spPr>
          <a:xfrm>
            <a:off x="545690" y="96038"/>
            <a:ext cx="867496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Política de reemplazo aleatoria</a:t>
            </a:r>
            <a:endParaRPr dirty="0">
              <a:latin typeface="+mj-lt"/>
            </a:endParaRPr>
          </a:p>
        </p:txBody>
      </p:sp>
      <p:sp>
        <p:nvSpPr>
          <p:cNvPr id="633" name="Google Shape;633;p57"/>
          <p:cNvSpPr txBox="1">
            <a:spLocks noGrp="1"/>
          </p:cNvSpPr>
          <p:nvPr>
            <p:ph type="body" idx="1"/>
          </p:nvPr>
        </p:nvSpPr>
        <p:spPr>
          <a:xfrm>
            <a:off x="648929" y="1045550"/>
            <a:ext cx="5596621" cy="562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5"/>
                </a:solidFill>
                <a:latin typeface="+mn-lt"/>
              </a:rPr>
              <a:t>Solución</a:t>
            </a: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aphicFrame>
        <p:nvGraphicFramePr>
          <p:cNvPr id="634" name="Google Shape;634;p57"/>
          <p:cNvGraphicFramePr/>
          <p:nvPr>
            <p:extLst>
              <p:ext uri="{D42A27DB-BD31-4B8C-83A1-F6EECF244321}">
                <p14:modId xmlns:p14="http://schemas.microsoft.com/office/powerpoint/2010/main" val="3972867569"/>
              </p:ext>
            </p:extLst>
          </p:nvPr>
        </p:nvGraphicFramePr>
        <p:xfrm>
          <a:off x="821112" y="1769908"/>
          <a:ext cx="5022100" cy="478728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7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8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9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Access</a:t>
                      </a:r>
                      <a:endParaRPr sz="14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Hit/Miss?</a:t>
                      </a:r>
                      <a:endParaRPr sz="1400" b="1" dirty="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Evict</a:t>
                      </a:r>
                      <a:endParaRPr sz="14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 err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Resulting</a:t>
                      </a:r>
                      <a:r>
                        <a:rPr lang="es-ES" sz="1400" b="1" dirty="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Cache </a:t>
                      </a:r>
                      <a:r>
                        <a:rPr lang="es-ES" sz="1400" b="1" dirty="0" err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State</a:t>
                      </a:r>
                      <a:endParaRPr sz="1400" b="1" dirty="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0, 1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0, 1, 2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0, 1, 2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0, 1, 2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1, 2, 3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2, 3, 0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2, 3, 0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2, 0, 1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2, 0, 1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2, 0, 1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35" name="Google Shape;635;p57"/>
              <p:cNvSpPr txBox="1"/>
              <p:nvPr/>
            </p:nvSpPr>
            <p:spPr>
              <a:xfrm>
                <a:off x="6348789" y="1254349"/>
                <a:ext cx="5438100" cy="39466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457200" lvl="0" indent="-368300" algn="l" rtl="0">
                  <a:spcBef>
                    <a:spcPts val="48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Roboto"/>
                  <a:buChar char="●"/>
                </a:pPr>
                <a:r>
                  <a:rPr lang="es-ES" sz="2200" b="1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Hits</a:t>
                </a:r>
                <a:r>
                  <a:rPr lang="es-ES" sz="2200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: 5</a:t>
                </a:r>
              </a:p>
              <a:p>
                <a:pPr marL="457200" lvl="0" indent="-3683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Roboto"/>
                  <a:buChar char="●"/>
                </a:pPr>
                <a:r>
                  <a:rPr lang="es-ES" sz="2200" b="1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Miss</a:t>
                </a:r>
                <a:r>
                  <a:rPr lang="es-ES" sz="2200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: 6</a:t>
                </a:r>
              </a:p>
              <a:p>
                <a:pPr marL="457200" lvl="0" indent="-368300" algn="l" rtl="0">
                  <a:spcBef>
                    <a:spcPts val="48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Roboto"/>
                  <a:buChar char="●"/>
                </a:pPr>
                <a:r>
                  <a:rPr lang="es-ES" sz="2200" b="1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Hit Rate</a:t>
                </a:r>
                <a:r>
                  <a:rPr lang="es-ES" sz="2200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:</a:t>
                </a:r>
              </a:p>
              <a:p>
                <a:pPr marL="457200" lvl="0" indent="0" algn="l" rtl="0">
                  <a:spcBef>
                    <a:spcPts val="480"/>
                  </a:spcBef>
                  <a:spcAft>
                    <a:spcPts val="0"/>
                  </a:spcAft>
                  <a:buNone/>
                </a:pPr>
                <a:endParaRPr lang="es-ES" sz="2200" dirty="0">
                  <a:solidFill>
                    <a:schemeClr val="dk1"/>
                  </a:solidFill>
                  <a:ea typeface="Roboto"/>
                  <a:cs typeface="Roboto"/>
                  <a:sym typeface="Roboto"/>
                </a:endParaRPr>
              </a:p>
              <a:p>
                <a:pPr marL="0" lvl="0" indent="0" algn="ctr" rtl="0">
                  <a:spcBef>
                    <a:spcPts val="48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</m:ctrlPr>
                        </m:sSubPr>
                        <m:e>
                          <m: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𝑃</m:t>
                          </m:r>
                        </m:e>
                        <m:sub>
                          <m: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𝐻𝑖𝑡</m:t>
                          </m:r>
                        </m:sub>
                      </m:sSub>
                      <m:r>
                        <a:rPr lang="ar-AE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=</m:t>
                      </m:r>
                      <m:f>
                        <m:fPr>
                          <m:ctrlP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</m:ctrlPr>
                        </m:fPr>
                        <m:num>
                          <m: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𝐻𝑖𝑡𝑠</m:t>
                          </m:r>
                        </m:num>
                        <m:den>
                          <m: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𝐻𝑖𝑡𝑠</m:t>
                          </m:r>
                          <m: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 + </m:t>
                          </m:r>
                          <m: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𝑀𝑖𝑠𝑠</m:t>
                          </m:r>
                        </m:den>
                      </m:f>
                    </m:oMath>
                  </m:oMathPara>
                </a14:m>
                <a:endParaRPr lang="es-MX" sz="2000" dirty="0">
                  <a:solidFill>
                    <a:schemeClr val="dk1"/>
                  </a:solidFill>
                  <a:ea typeface="Consolas"/>
                  <a:cs typeface="Consolas"/>
                  <a:sym typeface="Consolas"/>
                </a:endParaRPr>
              </a:p>
              <a:p>
                <a:pPr marL="0" lvl="0" indent="0" algn="ctr" rtl="0">
                  <a:spcBef>
                    <a:spcPts val="480"/>
                  </a:spcBef>
                  <a:spcAft>
                    <a:spcPts val="0"/>
                  </a:spcAft>
                  <a:buNone/>
                </a:pPr>
                <a:endParaRPr lang="ar-AE" sz="2000" dirty="0">
                  <a:solidFill>
                    <a:schemeClr val="dk1"/>
                  </a:solidFill>
                  <a:ea typeface="Consolas"/>
                  <a:cs typeface="Consolas"/>
                  <a:sym typeface="Consolas"/>
                </a:endParaRPr>
              </a:p>
              <a:p>
                <a:pPr marL="0" lvl="0" indent="0" algn="ctr" rtl="0">
                  <a:spcBef>
                    <a:spcPts val="48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</m:ctrlPr>
                        </m:sSubPr>
                        <m:e>
                          <m:r>
                            <a:rPr lang="es-ES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𝑃</m:t>
                          </m:r>
                        </m:e>
                        <m:sub>
                          <m:r>
                            <a:rPr lang="es-ES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𝐻𝑖𝑡</m:t>
                          </m:r>
                        </m:sub>
                      </m:sSub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=</m:t>
                      </m:r>
                      <m:f>
                        <m:fPr>
                          <m:ctrlPr>
                            <a:rPr lang="es-ES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</m:ctrlPr>
                        </m:fPr>
                        <m:num>
                          <m:r>
                            <a:rPr lang="es-ES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5</m:t>
                          </m:r>
                        </m:num>
                        <m:den>
                          <m:r>
                            <a:rPr lang="es-ES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11</m:t>
                          </m:r>
                        </m:den>
                      </m:f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= 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0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.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4545</m:t>
                      </m:r>
                    </m:oMath>
                  </m:oMathPara>
                </a14:m>
                <a:endParaRPr lang="es-MX" sz="2000" dirty="0">
                  <a:solidFill>
                    <a:schemeClr val="dk1"/>
                  </a:solidFill>
                  <a:ea typeface="Consolas"/>
                  <a:cs typeface="Consolas"/>
                  <a:sym typeface="Consolas"/>
                </a:endParaRPr>
              </a:p>
              <a:p>
                <a:pPr marL="0" lvl="0" indent="0" algn="ctr" rtl="0">
                  <a:spcBef>
                    <a:spcPts val="480"/>
                  </a:spcBef>
                  <a:spcAft>
                    <a:spcPts val="0"/>
                  </a:spcAft>
                  <a:buNone/>
                </a:pPr>
                <a:endParaRPr lang="es-ES" sz="2000" dirty="0">
                  <a:solidFill>
                    <a:schemeClr val="dk1"/>
                  </a:solidFill>
                  <a:ea typeface="Consolas"/>
                  <a:cs typeface="Consolas"/>
                  <a:sym typeface="Consolas"/>
                </a:endParaRPr>
              </a:p>
              <a:p>
                <a:pPr marL="0" lvl="0" indent="0" algn="ctr" rtl="0">
                  <a:spcBef>
                    <a:spcPts val="48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000" i="1" dirty="0" smtClean="0">
                              <a:solidFill>
                                <a:schemeClr val="dk1"/>
                              </a:solidFill>
                              <a:highlight>
                                <a:srgbClr val="FFF2CC"/>
                              </a:highlight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</m:ctrlPr>
                        </m:sSubPr>
                        <m:e>
                          <m:r>
                            <a:rPr lang="es-ES" sz="2000" i="1" dirty="0" smtClean="0">
                              <a:solidFill>
                                <a:schemeClr val="dk1"/>
                              </a:solidFill>
                              <a:highlight>
                                <a:srgbClr val="FFF2CC"/>
                              </a:highlight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𝑃</m:t>
                          </m:r>
                        </m:e>
                        <m:sub>
                          <m:r>
                            <a:rPr lang="es-ES" sz="2000" i="1" dirty="0" smtClean="0">
                              <a:solidFill>
                                <a:schemeClr val="dk1"/>
                              </a:solidFill>
                              <a:highlight>
                                <a:srgbClr val="FFF2CC"/>
                              </a:highlight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𝐻𝑖𝑡</m:t>
                          </m:r>
                        </m:sub>
                      </m:sSub>
                      <m:r>
                        <a:rPr lang="es-ES" sz="2000" i="1" dirty="0" smtClean="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= 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45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.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45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 %</m:t>
                      </m:r>
                    </m:oMath>
                  </m:oMathPara>
                </a14:m>
                <a:endParaRPr sz="2000" dirty="0">
                  <a:solidFill>
                    <a:schemeClr val="dk1"/>
                  </a:solidFill>
                  <a:highlight>
                    <a:srgbClr val="FFF2CC"/>
                  </a:highlight>
                  <a:ea typeface="Consolas"/>
                  <a:cs typeface="Consolas"/>
                  <a:sym typeface="Consolas"/>
                </a:endParaRPr>
              </a:p>
            </p:txBody>
          </p:sp>
        </mc:Choice>
        <mc:Fallback xmlns="">
          <p:sp>
            <p:nvSpPr>
              <p:cNvPr id="635" name="Google Shape;635;p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8789" y="1254349"/>
                <a:ext cx="5438100" cy="39466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6" name="Google Shape;636;p57"/>
          <p:cNvSpPr txBox="1"/>
          <p:nvPr/>
        </p:nvSpPr>
        <p:spPr>
          <a:xfrm>
            <a:off x="6245550" y="5603651"/>
            <a:ext cx="5219700" cy="925864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El desempeño depende de la suerte que se tenga al elegir los reemplazos.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58"/>
          <p:cNvSpPr txBox="1">
            <a:spLocks noGrp="1"/>
          </p:cNvSpPr>
          <p:nvPr>
            <p:ph type="title"/>
          </p:nvPr>
        </p:nvSpPr>
        <p:spPr>
          <a:xfrm>
            <a:off x="442452" y="96038"/>
            <a:ext cx="8778198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+mj-lt"/>
              </a:rPr>
              <a:t>Política de reemplazo aleatoria</a:t>
            </a:r>
            <a:endParaRPr>
              <a:latin typeface="+mj-lt"/>
            </a:endParaRPr>
          </a:p>
        </p:txBody>
      </p:sp>
      <p:sp>
        <p:nvSpPr>
          <p:cNvPr id="642" name="Google Shape;642;p58"/>
          <p:cNvSpPr txBox="1">
            <a:spLocks noGrp="1"/>
          </p:cNvSpPr>
          <p:nvPr>
            <p:ph type="body" idx="1"/>
          </p:nvPr>
        </p:nvSpPr>
        <p:spPr>
          <a:xfrm>
            <a:off x="442452" y="1045550"/>
            <a:ext cx="3838873" cy="612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Vuelva a intentarlo</a:t>
            </a: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aphicFrame>
        <p:nvGraphicFramePr>
          <p:cNvPr id="643" name="Google Shape;643;p58"/>
          <p:cNvGraphicFramePr/>
          <p:nvPr>
            <p:extLst>
              <p:ext uri="{D42A27DB-BD31-4B8C-83A1-F6EECF244321}">
                <p14:modId xmlns:p14="http://schemas.microsoft.com/office/powerpoint/2010/main" val="148315003"/>
              </p:ext>
            </p:extLst>
          </p:nvPr>
        </p:nvGraphicFramePr>
        <p:xfrm>
          <a:off x="2116050" y="2743245"/>
          <a:ext cx="2361375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78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Frame →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44" name="Google Shape;644;p58"/>
          <p:cNvGraphicFramePr/>
          <p:nvPr>
            <p:extLst>
              <p:ext uri="{D42A27DB-BD31-4B8C-83A1-F6EECF244321}">
                <p14:modId xmlns:p14="http://schemas.microsoft.com/office/powerpoint/2010/main" val="1607636465"/>
              </p:ext>
            </p:extLst>
          </p:nvPr>
        </p:nvGraphicFramePr>
        <p:xfrm>
          <a:off x="2092225" y="2091792"/>
          <a:ext cx="7902275" cy="7314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3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63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Reference row →</a:t>
                      </a:r>
                      <a:endParaRPr b="1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45" name="Google Shape;645;p58"/>
          <p:cNvGraphicFramePr/>
          <p:nvPr>
            <p:extLst>
              <p:ext uri="{D42A27DB-BD31-4B8C-83A1-F6EECF244321}">
                <p14:modId xmlns:p14="http://schemas.microsoft.com/office/powerpoint/2010/main" val="3113916255"/>
              </p:ext>
            </p:extLst>
          </p:nvPr>
        </p:nvGraphicFramePr>
        <p:xfrm>
          <a:off x="4645138" y="2743257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46" name="Google Shape;646;p58"/>
          <p:cNvGraphicFramePr/>
          <p:nvPr>
            <p:extLst>
              <p:ext uri="{D42A27DB-BD31-4B8C-83A1-F6EECF244321}">
                <p14:modId xmlns:p14="http://schemas.microsoft.com/office/powerpoint/2010/main" val="512782099"/>
              </p:ext>
            </p:extLst>
          </p:nvPr>
        </p:nvGraphicFramePr>
        <p:xfrm>
          <a:off x="5195725" y="2743257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47" name="Google Shape;647;p58"/>
          <p:cNvGraphicFramePr/>
          <p:nvPr>
            <p:extLst>
              <p:ext uri="{D42A27DB-BD31-4B8C-83A1-F6EECF244321}">
                <p14:modId xmlns:p14="http://schemas.microsoft.com/office/powerpoint/2010/main" val="1038731372"/>
              </p:ext>
            </p:extLst>
          </p:nvPr>
        </p:nvGraphicFramePr>
        <p:xfrm>
          <a:off x="5746288" y="2743257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8BAB4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48" name="Google Shape;648;p58"/>
          <p:cNvGraphicFramePr/>
          <p:nvPr>
            <p:extLst>
              <p:ext uri="{D42A27DB-BD31-4B8C-83A1-F6EECF244321}">
                <p14:modId xmlns:p14="http://schemas.microsoft.com/office/powerpoint/2010/main" val="913540806"/>
              </p:ext>
            </p:extLst>
          </p:nvPr>
        </p:nvGraphicFramePr>
        <p:xfrm>
          <a:off x="6296875" y="2743257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8BAB4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8BAB4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49" name="Google Shape;649;p58"/>
          <p:cNvGraphicFramePr/>
          <p:nvPr>
            <p:extLst>
              <p:ext uri="{D42A27DB-BD31-4B8C-83A1-F6EECF244321}">
                <p14:modId xmlns:p14="http://schemas.microsoft.com/office/powerpoint/2010/main" val="2796964730"/>
              </p:ext>
            </p:extLst>
          </p:nvPr>
        </p:nvGraphicFramePr>
        <p:xfrm>
          <a:off x="6816838" y="2743257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50" name="Google Shape;650;p58"/>
          <p:cNvGraphicFramePr/>
          <p:nvPr>
            <p:extLst>
              <p:ext uri="{D42A27DB-BD31-4B8C-83A1-F6EECF244321}">
                <p14:modId xmlns:p14="http://schemas.microsoft.com/office/powerpoint/2010/main" val="1715960709"/>
              </p:ext>
            </p:extLst>
          </p:nvPr>
        </p:nvGraphicFramePr>
        <p:xfrm>
          <a:off x="7367425" y="2743257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51" name="Google Shape;651;p58"/>
          <p:cNvGraphicFramePr/>
          <p:nvPr>
            <p:extLst>
              <p:ext uri="{D42A27DB-BD31-4B8C-83A1-F6EECF244321}">
                <p14:modId xmlns:p14="http://schemas.microsoft.com/office/powerpoint/2010/main" val="3234480889"/>
              </p:ext>
            </p:extLst>
          </p:nvPr>
        </p:nvGraphicFramePr>
        <p:xfrm>
          <a:off x="7917988" y="2743257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8BAB4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52" name="Google Shape;652;p58"/>
          <p:cNvGraphicFramePr/>
          <p:nvPr>
            <p:extLst>
              <p:ext uri="{D42A27DB-BD31-4B8C-83A1-F6EECF244321}">
                <p14:modId xmlns:p14="http://schemas.microsoft.com/office/powerpoint/2010/main" val="1155713187"/>
              </p:ext>
            </p:extLst>
          </p:nvPr>
        </p:nvGraphicFramePr>
        <p:xfrm>
          <a:off x="8468575" y="2743257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53" name="Google Shape;653;p58"/>
          <p:cNvGraphicFramePr/>
          <p:nvPr>
            <p:extLst>
              <p:ext uri="{D42A27DB-BD31-4B8C-83A1-F6EECF244321}">
                <p14:modId xmlns:p14="http://schemas.microsoft.com/office/powerpoint/2010/main" val="2876160640"/>
              </p:ext>
            </p:extLst>
          </p:nvPr>
        </p:nvGraphicFramePr>
        <p:xfrm>
          <a:off x="8988538" y="2743257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8BAB4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54" name="Google Shape;654;p58"/>
          <p:cNvGraphicFramePr/>
          <p:nvPr>
            <p:extLst>
              <p:ext uri="{D42A27DB-BD31-4B8C-83A1-F6EECF244321}">
                <p14:modId xmlns:p14="http://schemas.microsoft.com/office/powerpoint/2010/main" val="4135819810"/>
              </p:ext>
            </p:extLst>
          </p:nvPr>
        </p:nvGraphicFramePr>
        <p:xfrm>
          <a:off x="9539125" y="2743257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8BAB4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55" name="Google Shape;655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2276" y="3342582"/>
            <a:ext cx="382850" cy="3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58"/>
          <p:cNvSpPr txBox="1"/>
          <p:nvPr/>
        </p:nvSpPr>
        <p:spPr>
          <a:xfrm>
            <a:off x="440388" y="4766208"/>
            <a:ext cx="4587600" cy="587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¿Cual es la tasa de Hits?</a:t>
            </a:r>
            <a:endParaRPr sz="2200" b="1" dirty="0">
              <a:solidFill>
                <a:srgbClr val="FF0000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59"/>
          <p:cNvSpPr txBox="1">
            <a:spLocks noGrp="1"/>
          </p:cNvSpPr>
          <p:nvPr>
            <p:ph type="title"/>
          </p:nvPr>
        </p:nvSpPr>
        <p:spPr>
          <a:xfrm>
            <a:off x="309716" y="96038"/>
            <a:ext cx="891093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Comparación de las políticas vistas</a:t>
            </a:r>
            <a:endParaRPr dirty="0">
              <a:latin typeface="+mj-lt"/>
            </a:endParaRPr>
          </a:p>
        </p:txBody>
      </p:sp>
      <p:graphicFrame>
        <p:nvGraphicFramePr>
          <p:cNvPr id="662" name="Google Shape;662;p59"/>
          <p:cNvGraphicFramePr/>
          <p:nvPr>
            <p:extLst>
              <p:ext uri="{D42A27DB-BD31-4B8C-83A1-F6EECF244321}">
                <p14:modId xmlns:p14="http://schemas.microsoft.com/office/powerpoint/2010/main" val="1943207261"/>
              </p:ext>
            </p:extLst>
          </p:nvPr>
        </p:nvGraphicFramePr>
        <p:xfrm>
          <a:off x="1521225" y="3260077"/>
          <a:ext cx="2432250" cy="172549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34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9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Política</a:t>
                      </a:r>
                      <a:endParaRPr sz="16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 rate</a:t>
                      </a:r>
                      <a:endParaRPr sz="1600" b="1" dirty="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OPT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54.5 %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FIFO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36.4 %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RANDOM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45.45 %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63" name="Google Shape;663;p59"/>
          <p:cNvSpPr txBox="1"/>
          <p:nvPr/>
        </p:nvSpPr>
        <p:spPr>
          <a:xfrm>
            <a:off x="457200" y="1107175"/>
            <a:ext cx="11113450" cy="1218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19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Char char="●"/>
            </a:pPr>
            <a:r>
              <a:rPr lang="es-ES" sz="21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La política FIFO es la peor pues no puede determinar la importancia de los bloques accedidos.</a:t>
            </a:r>
            <a:endParaRPr sz="21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Char char="●"/>
            </a:pPr>
            <a:r>
              <a:rPr lang="es-ES" sz="21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El desempeño de la política RANDOM varía y depende de la suerte de la suerte que se tenga al elegir los reemplazos</a:t>
            </a:r>
            <a:endParaRPr sz="21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pic>
        <p:nvPicPr>
          <p:cNvPr id="664" name="Google Shape;664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9850" y="2576447"/>
            <a:ext cx="5450925" cy="352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61"/>
          <p:cNvSpPr txBox="1">
            <a:spLocks noGrp="1"/>
          </p:cNvSpPr>
          <p:nvPr>
            <p:ph type="title"/>
          </p:nvPr>
        </p:nvSpPr>
        <p:spPr>
          <a:xfrm>
            <a:off x="608400" y="96038"/>
            <a:ext cx="86122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Política LRU (Least Recently Used)</a:t>
            </a:r>
            <a:endParaRPr dirty="0">
              <a:latin typeface="+mj-lt"/>
            </a:endParaRPr>
          </a:p>
        </p:txBody>
      </p:sp>
      <p:sp>
        <p:nvSpPr>
          <p:cNvPr id="676" name="Google Shape;676;p61"/>
          <p:cNvSpPr txBox="1">
            <a:spLocks noGrp="1"/>
          </p:cNvSpPr>
          <p:nvPr>
            <p:ph type="body" idx="1"/>
          </p:nvPr>
        </p:nvSpPr>
        <p:spPr>
          <a:xfrm>
            <a:off x="608400" y="981575"/>
            <a:ext cx="10975200" cy="1462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Uso de la información del pasado</a:t>
            </a: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Si no puede ver el futuro... analice el pasado!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Dos tipos de información histórica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677" name="Google Shape;677;p61"/>
          <p:cNvGraphicFramePr/>
          <p:nvPr/>
        </p:nvGraphicFramePr>
        <p:xfrm>
          <a:off x="1463325" y="2957925"/>
          <a:ext cx="9497250" cy="221555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994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9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2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92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Información histórica</a:t>
                      </a:r>
                      <a:endParaRPr sz="18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Descripción</a:t>
                      </a:r>
                      <a:endParaRPr sz="1800" b="1" dirty="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Algoritmo</a:t>
                      </a:r>
                      <a:endParaRPr sz="18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Frequency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 una página ha sido accedida muchas veces, no debería ser reemplazada.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LFU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Recency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Una página que haya sido recientemente accedida, es muy probable que sea accedida de nuevo.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LRU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62"/>
          <p:cNvSpPr txBox="1">
            <a:spLocks noGrp="1"/>
          </p:cNvSpPr>
          <p:nvPr>
            <p:ph type="title"/>
          </p:nvPr>
        </p:nvSpPr>
        <p:spPr>
          <a:xfrm>
            <a:off x="471948" y="96038"/>
            <a:ext cx="8748702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Política LRU (Least Recently Used)</a:t>
            </a:r>
            <a:endParaRPr dirty="0">
              <a:latin typeface="+mj-lt"/>
            </a:endParaRPr>
          </a:p>
        </p:txBody>
      </p:sp>
      <p:sp>
        <p:nvSpPr>
          <p:cNvPr id="683" name="Google Shape;683;p62"/>
          <p:cNvSpPr txBox="1">
            <a:spLocks noGrp="1"/>
          </p:cNvSpPr>
          <p:nvPr>
            <p:ph type="body" idx="1"/>
          </p:nvPr>
        </p:nvSpPr>
        <p:spPr>
          <a:xfrm>
            <a:off x="471948" y="1101725"/>
            <a:ext cx="10828002" cy="1507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Reemplace la página menos recientemente usada.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Usa el pasado para predecir el futuro.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Cuando hay localidad la política LRU se aproxima al OPT.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63"/>
          <p:cNvSpPr txBox="1">
            <a:spLocks noGrp="1"/>
          </p:cNvSpPr>
          <p:nvPr>
            <p:ph type="title"/>
          </p:nvPr>
        </p:nvSpPr>
        <p:spPr>
          <a:xfrm>
            <a:off x="516194" y="96038"/>
            <a:ext cx="870445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Política LRU (Least Recently Used)</a:t>
            </a:r>
            <a:endParaRPr dirty="0">
              <a:latin typeface="+mj-lt"/>
            </a:endParaRPr>
          </a:p>
        </p:txBody>
      </p:sp>
      <p:sp>
        <p:nvSpPr>
          <p:cNvPr id="689" name="Google Shape;689;p63"/>
          <p:cNvSpPr txBox="1"/>
          <p:nvPr/>
        </p:nvSpPr>
        <p:spPr>
          <a:xfrm>
            <a:off x="516194" y="982175"/>
            <a:ext cx="10528606" cy="5663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6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Ejemplo</a:t>
            </a:r>
            <a:endParaRPr sz="26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Asuma que un programa accede a diferentes páginas virtuales de acuerdo con el orden mostrado en la siguiente traza de memoria: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Asuma además que se tiene una memoria de tres frames: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Roboto"/>
              <a:buChar char="●"/>
            </a:pPr>
            <a:r>
              <a:rPr lang="es-ES" sz="22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¿Cuál es la tasa de hits al aplicar la política de reemplazo LRU?</a:t>
            </a:r>
            <a:endParaRPr dirty="0"/>
          </a:p>
        </p:txBody>
      </p:sp>
      <p:grpSp>
        <p:nvGrpSpPr>
          <p:cNvPr id="690" name="Google Shape;690;p63"/>
          <p:cNvGrpSpPr/>
          <p:nvPr/>
        </p:nvGrpSpPr>
        <p:grpSpPr>
          <a:xfrm>
            <a:off x="2957450" y="2444787"/>
            <a:ext cx="6436200" cy="987251"/>
            <a:chOff x="3436900" y="2027787"/>
            <a:chExt cx="6436200" cy="987251"/>
          </a:xfrm>
        </p:grpSpPr>
        <p:sp>
          <p:nvSpPr>
            <p:cNvPr id="691" name="Google Shape;691;p63"/>
            <p:cNvSpPr/>
            <p:nvPr/>
          </p:nvSpPr>
          <p:spPr>
            <a:xfrm>
              <a:off x="3436900" y="2316638"/>
              <a:ext cx="6436200" cy="6984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latin typeface="Consolas"/>
                  <a:ea typeface="Consolas"/>
                  <a:cs typeface="Consolas"/>
                  <a:sym typeface="Consolas"/>
                </a:rPr>
                <a:t>0   1   2   0   1   3   0   3   1   2   1</a:t>
              </a:r>
              <a:r>
                <a:rPr lang="es-ES" sz="1800"/>
                <a:t> </a:t>
              </a:r>
              <a:endParaRPr sz="1800"/>
            </a:p>
          </p:txBody>
        </p:sp>
        <p:sp>
          <p:nvSpPr>
            <p:cNvPr id="692" name="Google Shape;692;p63"/>
            <p:cNvSpPr txBox="1"/>
            <p:nvPr/>
          </p:nvSpPr>
          <p:spPr>
            <a:xfrm>
              <a:off x="3517900" y="2027787"/>
              <a:ext cx="1876863" cy="50318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Reference Row</a:t>
              </a:r>
              <a:endParaRPr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693" name="Google Shape;693;p63"/>
          <p:cNvGraphicFramePr/>
          <p:nvPr/>
        </p:nvGraphicFramePr>
        <p:xfrm>
          <a:off x="4915313" y="4461363"/>
          <a:ext cx="2361375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78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Frame →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64"/>
          <p:cNvSpPr txBox="1">
            <a:spLocks noGrp="1"/>
          </p:cNvSpPr>
          <p:nvPr>
            <p:ph type="title"/>
          </p:nvPr>
        </p:nvSpPr>
        <p:spPr>
          <a:xfrm>
            <a:off x="471948" y="96038"/>
            <a:ext cx="8748702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Reemplazo</a:t>
            </a:r>
            <a:endParaRPr dirty="0">
              <a:latin typeface="+mj-lt"/>
            </a:endParaRPr>
          </a:p>
        </p:txBody>
      </p:sp>
      <p:sp>
        <p:nvSpPr>
          <p:cNvPr id="699" name="Google Shape;699;p64"/>
          <p:cNvSpPr txBox="1">
            <a:spLocks noGrp="1"/>
          </p:cNvSpPr>
          <p:nvPr>
            <p:ph type="body" idx="1"/>
          </p:nvPr>
        </p:nvSpPr>
        <p:spPr>
          <a:xfrm>
            <a:off x="581988" y="901396"/>
            <a:ext cx="1908600" cy="57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1"/>
                </a:solidFill>
                <a:latin typeface="+mn-lt"/>
              </a:rPr>
              <a:t>Solución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700" name="Google Shape;700;p64"/>
          <p:cNvGraphicFramePr/>
          <p:nvPr/>
        </p:nvGraphicFramePr>
        <p:xfrm>
          <a:off x="7694375" y="1458288"/>
          <a:ext cx="4001400" cy="46271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8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9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Access</a:t>
                      </a:r>
                      <a:endParaRPr sz="12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Hit/Miss?</a:t>
                      </a:r>
                      <a:endParaRPr sz="12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Evict</a:t>
                      </a:r>
                      <a:endParaRPr sz="12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Resulting Cache State</a:t>
                      </a:r>
                      <a:endParaRPr sz="12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701" name="Google Shape;701;p64"/>
          <p:cNvGraphicFramePr/>
          <p:nvPr/>
        </p:nvGraphicFramePr>
        <p:xfrm>
          <a:off x="985725" y="3586088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02" name="Google Shape;702;p64"/>
          <p:cNvGraphicFramePr/>
          <p:nvPr/>
        </p:nvGraphicFramePr>
        <p:xfrm>
          <a:off x="916638" y="2985360"/>
          <a:ext cx="5965575" cy="4571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03" name="Google Shape;703;p64"/>
          <p:cNvGraphicFramePr/>
          <p:nvPr/>
        </p:nvGraphicFramePr>
        <p:xfrm>
          <a:off x="1536288" y="3586100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04" name="Google Shape;704;p64"/>
          <p:cNvGraphicFramePr/>
          <p:nvPr/>
        </p:nvGraphicFramePr>
        <p:xfrm>
          <a:off x="2086875" y="3586100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05" name="Google Shape;705;p64"/>
          <p:cNvGraphicFramePr/>
          <p:nvPr/>
        </p:nvGraphicFramePr>
        <p:xfrm>
          <a:off x="2637438" y="3586100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06" name="Google Shape;706;p64"/>
          <p:cNvGraphicFramePr/>
          <p:nvPr/>
        </p:nvGraphicFramePr>
        <p:xfrm>
          <a:off x="3188025" y="3586100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07" name="Google Shape;707;p64"/>
          <p:cNvGraphicFramePr/>
          <p:nvPr/>
        </p:nvGraphicFramePr>
        <p:xfrm>
          <a:off x="3707988" y="3586100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08" name="Google Shape;708;p64"/>
          <p:cNvGraphicFramePr/>
          <p:nvPr/>
        </p:nvGraphicFramePr>
        <p:xfrm>
          <a:off x="4258575" y="3586100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09" name="Google Shape;709;p64"/>
          <p:cNvGraphicFramePr/>
          <p:nvPr/>
        </p:nvGraphicFramePr>
        <p:xfrm>
          <a:off x="4809138" y="3586100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10" name="Google Shape;710;p64"/>
          <p:cNvGraphicFramePr/>
          <p:nvPr/>
        </p:nvGraphicFramePr>
        <p:xfrm>
          <a:off x="5359725" y="3586100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11" name="Google Shape;711;p64"/>
          <p:cNvGraphicFramePr/>
          <p:nvPr/>
        </p:nvGraphicFramePr>
        <p:xfrm>
          <a:off x="5887838" y="3586100"/>
          <a:ext cx="37470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7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12" name="Google Shape;712;p64"/>
          <p:cNvGraphicFramePr/>
          <p:nvPr/>
        </p:nvGraphicFramePr>
        <p:xfrm>
          <a:off x="6430275" y="3586100"/>
          <a:ext cx="3828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65"/>
          <p:cNvSpPr txBox="1">
            <a:spLocks noGrp="1"/>
          </p:cNvSpPr>
          <p:nvPr>
            <p:ph type="title"/>
          </p:nvPr>
        </p:nvSpPr>
        <p:spPr>
          <a:xfrm>
            <a:off x="634181" y="96038"/>
            <a:ext cx="858646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Política LRU (Least Recently Used)</a:t>
            </a:r>
            <a:endParaRPr dirty="0">
              <a:latin typeface="+mj-lt"/>
            </a:endParaRPr>
          </a:p>
        </p:txBody>
      </p:sp>
      <p:sp>
        <p:nvSpPr>
          <p:cNvPr id="718" name="Google Shape;718;p65"/>
          <p:cNvSpPr txBox="1">
            <a:spLocks noGrp="1"/>
          </p:cNvSpPr>
          <p:nvPr>
            <p:ph type="body" idx="1"/>
          </p:nvPr>
        </p:nvSpPr>
        <p:spPr>
          <a:xfrm>
            <a:off x="634181" y="1034762"/>
            <a:ext cx="1908600" cy="57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1"/>
                </a:solidFill>
                <a:latin typeface="+mn-lt"/>
              </a:rPr>
              <a:t>Solución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719" name="Google Shape;719;p65"/>
          <p:cNvGraphicFramePr/>
          <p:nvPr/>
        </p:nvGraphicFramePr>
        <p:xfrm>
          <a:off x="1835450" y="2961988"/>
          <a:ext cx="2361375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78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Frame →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Evict →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20" name="Google Shape;720;p65"/>
          <p:cNvGraphicFramePr/>
          <p:nvPr/>
        </p:nvGraphicFramePr>
        <p:xfrm>
          <a:off x="1811625" y="2310535"/>
          <a:ext cx="7902275" cy="7314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3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63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Reference row →</a:t>
                      </a:r>
                      <a:endParaRPr b="1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dirty="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dirty="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21" name="Google Shape;721;p65"/>
          <p:cNvGraphicFramePr/>
          <p:nvPr/>
        </p:nvGraphicFramePr>
        <p:xfrm>
          <a:off x="4364538" y="2962000"/>
          <a:ext cx="38285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22" name="Google Shape;722;p65"/>
          <p:cNvGraphicFramePr/>
          <p:nvPr/>
        </p:nvGraphicFramePr>
        <p:xfrm>
          <a:off x="4915125" y="2962000"/>
          <a:ext cx="38285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23" name="Google Shape;723;p65"/>
          <p:cNvGraphicFramePr/>
          <p:nvPr/>
        </p:nvGraphicFramePr>
        <p:xfrm>
          <a:off x="5465688" y="2962000"/>
          <a:ext cx="38285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8BAB4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8BAB4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8BAB4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8BAB4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24" name="Google Shape;724;p65"/>
          <p:cNvGraphicFramePr/>
          <p:nvPr/>
        </p:nvGraphicFramePr>
        <p:xfrm>
          <a:off x="6016275" y="2962000"/>
          <a:ext cx="38285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8BAB4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8BAB4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70AD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25" name="Google Shape;725;p65"/>
          <p:cNvGraphicFramePr/>
          <p:nvPr/>
        </p:nvGraphicFramePr>
        <p:xfrm>
          <a:off x="6536238" y="2962000"/>
          <a:ext cx="38285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0000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26" name="Google Shape;726;p65"/>
          <p:cNvGraphicFramePr/>
          <p:nvPr/>
        </p:nvGraphicFramePr>
        <p:xfrm>
          <a:off x="7086825" y="2962000"/>
          <a:ext cx="38285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8BAB4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8BAB4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8BAB4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8BAB4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27" name="Google Shape;727;p65"/>
          <p:cNvGraphicFramePr/>
          <p:nvPr/>
        </p:nvGraphicFramePr>
        <p:xfrm>
          <a:off x="7637388" y="2962000"/>
          <a:ext cx="38285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8BAB4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8BAB4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28" name="Google Shape;728;p65"/>
          <p:cNvGraphicFramePr/>
          <p:nvPr/>
        </p:nvGraphicFramePr>
        <p:xfrm>
          <a:off x="8187975" y="2962000"/>
          <a:ext cx="38285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8BAB4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8BAB4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70AD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29" name="Google Shape;729;p65"/>
          <p:cNvGraphicFramePr/>
          <p:nvPr/>
        </p:nvGraphicFramePr>
        <p:xfrm>
          <a:off x="8707938" y="2962000"/>
          <a:ext cx="38285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30" name="Google Shape;730;p65"/>
          <p:cNvGraphicFramePr/>
          <p:nvPr/>
        </p:nvGraphicFramePr>
        <p:xfrm>
          <a:off x="9258525" y="2962000"/>
          <a:ext cx="38285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8BAB4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8BAB4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70AD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66"/>
          <p:cNvSpPr txBox="1">
            <a:spLocks noGrp="1"/>
          </p:cNvSpPr>
          <p:nvPr>
            <p:ph type="title"/>
          </p:nvPr>
        </p:nvSpPr>
        <p:spPr>
          <a:xfrm>
            <a:off x="516194" y="96038"/>
            <a:ext cx="968969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Política LRU (Least Recently Used)</a:t>
            </a:r>
            <a:endParaRPr dirty="0">
              <a:latin typeface="+mj-lt"/>
            </a:endParaRPr>
          </a:p>
        </p:txBody>
      </p:sp>
      <p:sp>
        <p:nvSpPr>
          <p:cNvPr id="736" name="Google Shape;736;p66"/>
          <p:cNvSpPr txBox="1">
            <a:spLocks noGrp="1"/>
          </p:cNvSpPr>
          <p:nvPr>
            <p:ph type="body" idx="1"/>
          </p:nvPr>
        </p:nvSpPr>
        <p:spPr>
          <a:xfrm>
            <a:off x="516194" y="894744"/>
            <a:ext cx="1908600" cy="57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1"/>
                </a:solidFill>
                <a:latin typeface="+mn-lt"/>
              </a:rPr>
              <a:t>Solución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737" name="Google Shape;737;p66"/>
          <p:cNvGraphicFramePr/>
          <p:nvPr/>
        </p:nvGraphicFramePr>
        <p:xfrm>
          <a:off x="1077200" y="1894750"/>
          <a:ext cx="4711275" cy="442633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8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9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Access</a:t>
                      </a:r>
                      <a:endParaRPr sz="12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Hit/Miss?</a:t>
                      </a:r>
                      <a:endParaRPr sz="12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Evict</a:t>
                      </a:r>
                      <a:endParaRPr sz="12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Resulting Cache State</a:t>
                      </a:r>
                      <a:endParaRPr sz="1200" b="1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LRU →           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LRU →        </a:t>
                      </a: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0, 1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LRU →     </a:t>
                      </a: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0, 1, 2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LRU →     </a:t>
                      </a: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1, 2, 0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LRU →     2, 1, 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LRU →     0, 1, 3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LRU →     1, 3, 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LRU →     1, 3, 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LRU →     0, 3, 1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LRU →     3, 1, 2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64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Hit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LRU →     3, 2, 1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38" name="Google Shape;738;p66"/>
              <p:cNvSpPr txBox="1"/>
              <p:nvPr/>
            </p:nvSpPr>
            <p:spPr>
              <a:xfrm>
                <a:off x="6245550" y="1843650"/>
                <a:ext cx="5438100" cy="39403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457200" lvl="0" indent="-368300" algn="l" rtl="0">
                  <a:spcBef>
                    <a:spcPts val="48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Roboto"/>
                  <a:buChar char="●"/>
                </a:pPr>
                <a:r>
                  <a:rPr lang="es-ES" sz="2200" b="1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Hits</a:t>
                </a:r>
                <a:r>
                  <a:rPr lang="es-ES" sz="2200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: 6</a:t>
                </a:r>
              </a:p>
              <a:p>
                <a:pPr marL="457200" lvl="0" indent="-3683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Roboto"/>
                  <a:buChar char="●"/>
                </a:pPr>
                <a:r>
                  <a:rPr lang="es-ES" sz="2200" b="1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Miss</a:t>
                </a:r>
                <a:r>
                  <a:rPr lang="es-ES" sz="2200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: 5</a:t>
                </a:r>
              </a:p>
              <a:p>
                <a:pPr marL="457200" lvl="0" indent="-368300" algn="l" rtl="0">
                  <a:spcBef>
                    <a:spcPts val="480"/>
                  </a:spcBef>
                  <a:spcAft>
                    <a:spcPts val="0"/>
                  </a:spcAft>
                  <a:buClr>
                    <a:schemeClr val="dk1"/>
                  </a:buClr>
                  <a:buSzPts val="2200"/>
                  <a:buFont typeface="Roboto"/>
                  <a:buChar char="●"/>
                </a:pPr>
                <a:r>
                  <a:rPr lang="es-ES" sz="2200" b="1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Hit Rate</a:t>
                </a:r>
                <a:r>
                  <a:rPr lang="es-ES" sz="2200" dirty="0">
                    <a:solidFill>
                      <a:schemeClr val="dk1"/>
                    </a:solidFill>
                    <a:ea typeface="Roboto"/>
                    <a:cs typeface="Roboto"/>
                    <a:sym typeface="Roboto"/>
                  </a:rPr>
                  <a:t>:</a:t>
                </a:r>
              </a:p>
              <a:p>
                <a:pPr marL="457200" lvl="0" indent="0" algn="l" rtl="0">
                  <a:spcBef>
                    <a:spcPts val="480"/>
                  </a:spcBef>
                  <a:spcAft>
                    <a:spcPts val="0"/>
                  </a:spcAft>
                  <a:buNone/>
                </a:pPr>
                <a:endParaRPr lang="es-ES" sz="2200" dirty="0">
                  <a:solidFill>
                    <a:schemeClr val="dk1"/>
                  </a:solidFill>
                  <a:ea typeface="Roboto"/>
                  <a:cs typeface="Roboto"/>
                  <a:sym typeface="Roboto"/>
                </a:endParaRPr>
              </a:p>
              <a:p>
                <a:pPr marL="0" lvl="0" indent="0" algn="ctr" rtl="0">
                  <a:spcBef>
                    <a:spcPts val="48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</m:ctrlPr>
                        </m:sSubPr>
                        <m:e>
                          <m: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𝑃</m:t>
                          </m:r>
                        </m:e>
                        <m:sub>
                          <m: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𝐻𝑖𝑡</m:t>
                          </m:r>
                        </m:sub>
                      </m:sSub>
                      <m:r>
                        <a:rPr lang="ar-AE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=</m:t>
                      </m:r>
                      <m:f>
                        <m:fPr>
                          <m:ctrlP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</m:ctrlPr>
                        </m:fPr>
                        <m:num>
                          <m: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𝐻𝑖𝑡𝑠</m:t>
                          </m:r>
                        </m:num>
                        <m:den>
                          <m: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𝐻𝑖𝑡𝑠</m:t>
                          </m:r>
                          <m: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 + </m:t>
                          </m:r>
                          <m:r>
                            <a:rPr lang="ar-AE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𝑀𝑖𝑠𝑠</m:t>
                          </m:r>
                        </m:den>
                      </m:f>
                    </m:oMath>
                  </m:oMathPara>
                </a14:m>
                <a:endParaRPr lang="es-MX" sz="2000" dirty="0">
                  <a:solidFill>
                    <a:schemeClr val="dk1"/>
                  </a:solidFill>
                  <a:ea typeface="Consolas"/>
                  <a:cs typeface="Consolas"/>
                  <a:sym typeface="Consolas"/>
                </a:endParaRPr>
              </a:p>
              <a:p>
                <a:pPr marL="0" lvl="0" indent="0" algn="ctr" rtl="0">
                  <a:spcBef>
                    <a:spcPts val="480"/>
                  </a:spcBef>
                  <a:spcAft>
                    <a:spcPts val="0"/>
                  </a:spcAft>
                  <a:buNone/>
                </a:pPr>
                <a:endParaRPr lang="ar-AE" sz="2000" dirty="0">
                  <a:solidFill>
                    <a:schemeClr val="dk1"/>
                  </a:solidFill>
                  <a:ea typeface="Consolas"/>
                  <a:cs typeface="Consolas"/>
                  <a:sym typeface="Consolas"/>
                </a:endParaRPr>
              </a:p>
              <a:p>
                <a:pPr marL="0" lvl="0" indent="0" algn="ctr" rtl="0">
                  <a:spcBef>
                    <a:spcPts val="48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</m:ctrlPr>
                        </m:sSubPr>
                        <m:e>
                          <m:r>
                            <a:rPr lang="es-ES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𝑃</m:t>
                          </m:r>
                        </m:e>
                        <m:sub>
                          <m:r>
                            <a:rPr lang="es-ES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𝐻𝑖𝑡</m:t>
                          </m:r>
                        </m:sub>
                      </m:sSub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=</m:t>
                      </m:r>
                      <m:f>
                        <m:fPr>
                          <m:ctrlPr>
                            <a:rPr lang="es-ES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</m:ctrlPr>
                        </m:fPr>
                        <m:num>
                          <m:r>
                            <a:rPr lang="es-ES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6</m:t>
                          </m:r>
                        </m:num>
                        <m:den>
                          <m:r>
                            <a:rPr lang="es-ES" sz="200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11</m:t>
                          </m:r>
                        </m:den>
                      </m:f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= 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0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.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545</m:t>
                      </m:r>
                    </m:oMath>
                  </m:oMathPara>
                </a14:m>
                <a:endParaRPr lang="es-MX" sz="2000" dirty="0">
                  <a:solidFill>
                    <a:schemeClr val="dk1"/>
                  </a:solidFill>
                  <a:ea typeface="Consolas"/>
                  <a:cs typeface="Consolas"/>
                  <a:sym typeface="Consolas"/>
                </a:endParaRPr>
              </a:p>
              <a:p>
                <a:pPr marL="0" lvl="0" indent="0" algn="ctr" rtl="0">
                  <a:spcBef>
                    <a:spcPts val="480"/>
                  </a:spcBef>
                  <a:spcAft>
                    <a:spcPts val="0"/>
                  </a:spcAft>
                  <a:buNone/>
                </a:pPr>
                <a:endParaRPr lang="es-ES" sz="2000" dirty="0">
                  <a:solidFill>
                    <a:schemeClr val="dk1"/>
                  </a:solidFill>
                  <a:ea typeface="Consolas"/>
                  <a:cs typeface="Consolas"/>
                  <a:sym typeface="Consolas"/>
                </a:endParaRPr>
              </a:p>
              <a:p>
                <a:pPr marL="0" lvl="0" indent="0" algn="ctr" rtl="0">
                  <a:spcBef>
                    <a:spcPts val="48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000" i="1" dirty="0" smtClean="0">
                              <a:solidFill>
                                <a:schemeClr val="dk1"/>
                              </a:solidFill>
                              <a:highlight>
                                <a:srgbClr val="FFF2CC"/>
                              </a:highlight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</m:ctrlPr>
                        </m:sSubPr>
                        <m:e>
                          <m:r>
                            <a:rPr lang="es-ES" sz="2000" i="1" dirty="0" smtClean="0">
                              <a:solidFill>
                                <a:schemeClr val="dk1"/>
                              </a:solidFill>
                              <a:highlight>
                                <a:srgbClr val="FFF2CC"/>
                              </a:highlight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𝑃</m:t>
                          </m:r>
                        </m:e>
                        <m:sub>
                          <m:r>
                            <a:rPr lang="es-ES" sz="2000" i="1" dirty="0" smtClean="0">
                              <a:solidFill>
                                <a:schemeClr val="dk1"/>
                              </a:solidFill>
                              <a:highlight>
                                <a:srgbClr val="FFF2CC"/>
                              </a:highlight>
                              <a:latin typeface="Cambria Math" panose="02040503050406030204" pitchFamily="18" charset="0"/>
                              <a:ea typeface="Consolas"/>
                              <a:cs typeface="Consolas"/>
                              <a:sym typeface="Consolas"/>
                            </a:rPr>
                            <m:t>𝐻𝑖𝑡</m:t>
                          </m:r>
                        </m:sub>
                      </m:sSub>
                      <m:r>
                        <a:rPr lang="es-ES" sz="2000" i="1" dirty="0" smtClean="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= 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54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.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5</m:t>
                      </m:r>
                      <m:r>
                        <a:rPr lang="es-ES" sz="2000" i="1" dirty="0" smtClean="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Cambria Math" panose="02040503050406030204" pitchFamily="18" charset="0"/>
                          <a:ea typeface="Consolas"/>
                          <a:cs typeface="Consolas"/>
                          <a:sym typeface="Consolas"/>
                        </a:rPr>
                        <m:t> %</m:t>
                      </m:r>
                    </m:oMath>
                  </m:oMathPara>
                </a14:m>
                <a:endParaRPr sz="2000" dirty="0">
                  <a:solidFill>
                    <a:schemeClr val="dk1"/>
                  </a:solidFill>
                  <a:highlight>
                    <a:srgbClr val="FFF2CC"/>
                  </a:highlight>
                  <a:ea typeface="Consolas"/>
                  <a:cs typeface="Consolas"/>
                  <a:sym typeface="Consolas"/>
                </a:endParaRPr>
              </a:p>
            </p:txBody>
          </p:sp>
        </mc:Choice>
        <mc:Fallback xmlns="">
          <p:sp>
            <p:nvSpPr>
              <p:cNvPr id="738" name="Google Shape;738;p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5550" y="1843650"/>
                <a:ext cx="5438100" cy="39403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9" name="Google Shape;739;p66"/>
          <p:cNvSpPr txBox="1"/>
          <p:nvPr/>
        </p:nvSpPr>
        <p:spPr>
          <a:xfrm>
            <a:off x="6245550" y="6058906"/>
            <a:ext cx="5219700" cy="58731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El desempeño depende del pasado.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8"/>
          <p:cNvSpPr txBox="1">
            <a:spLocks noGrp="1"/>
          </p:cNvSpPr>
          <p:nvPr>
            <p:ph type="title"/>
          </p:nvPr>
        </p:nvSpPr>
        <p:spPr>
          <a:xfrm>
            <a:off x="604684" y="96038"/>
            <a:ext cx="8615966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Workload - Ejemplos</a:t>
            </a:r>
            <a:endParaRPr sz="3200" b="1" dirty="0">
              <a:solidFill>
                <a:srgbClr val="701E5C"/>
              </a:solidFill>
              <a:latin typeface="+mj-lt"/>
              <a:sym typeface="Roboto Slab"/>
            </a:endParaRPr>
          </a:p>
        </p:txBody>
      </p:sp>
      <p:sp>
        <p:nvSpPr>
          <p:cNvPr id="751" name="Google Shape;751;p68"/>
          <p:cNvSpPr txBox="1">
            <a:spLocks noGrp="1"/>
          </p:cNvSpPr>
          <p:nvPr>
            <p:ph type="body" idx="1"/>
          </p:nvPr>
        </p:nvSpPr>
        <p:spPr>
          <a:xfrm>
            <a:off x="604684" y="1045550"/>
            <a:ext cx="11046542" cy="5175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A continuación se analizará cómo se comportan estas políticas cuando no se tienen pequeñas trazas sino, cuando se tienen </a:t>
            </a:r>
            <a:r>
              <a:rPr lang="es-ES" sz="2400" b="1" dirty="0">
                <a:solidFill>
                  <a:schemeClr val="accent6"/>
                </a:solidFill>
                <a:latin typeface="+mn-lt"/>
              </a:rPr>
              <a:t>cargas de trabajo (workload)</a:t>
            </a:r>
            <a:r>
              <a:rPr lang="es-ES" sz="2400" dirty="0">
                <a:latin typeface="+mn-lt"/>
              </a:rPr>
              <a:t> más complejas.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Casos a analizar:</a:t>
            </a:r>
            <a:endParaRPr sz="2400" dirty="0"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400" dirty="0">
                <a:latin typeface="+mn-lt"/>
              </a:rPr>
              <a:t>Workload sin localidad.</a:t>
            </a:r>
            <a:endParaRPr sz="2400" dirty="0"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400" dirty="0">
                <a:latin typeface="+mn-lt"/>
              </a:rPr>
              <a:t>Workload con localidad 80-20.</a:t>
            </a:r>
            <a:endParaRPr sz="2400" dirty="0"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400" dirty="0">
                <a:latin typeface="+mn-lt"/>
              </a:rPr>
              <a:t>Workload en ciclo secuencial.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9"/>
          <p:cNvSpPr txBox="1">
            <a:spLocks noGrp="1"/>
          </p:cNvSpPr>
          <p:nvPr>
            <p:ph type="title"/>
          </p:nvPr>
        </p:nvSpPr>
        <p:spPr>
          <a:xfrm>
            <a:off x="427703" y="96038"/>
            <a:ext cx="8792947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Workload: Sin localidad</a:t>
            </a:r>
            <a:endParaRPr sz="3200" b="1" dirty="0">
              <a:solidFill>
                <a:srgbClr val="701E5C"/>
              </a:solidFill>
              <a:latin typeface="+mj-lt"/>
              <a:sym typeface="Roboto Slab"/>
            </a:endParaRPr>
          </a:p>
        </p:txBody>
      </p:sp>
      <p:sp>
        <p:nvSpPr>
          <p:cNvPr id="757" name="Google Shape;757;p69"/>
          <p:cNvSpPr txBox="1">
            <a:spLocks noGrp="1"/>
          </p:cNvSpPr>
          <p:nvPr>
            <p:ph type="body" idx="1"/>
          </p:nvPr>
        </p:nvSpPr>
        <p:spPr>
          <a:xfrm>
            <a:off x="427703" y="1045550"/>
            <a:ext cx="11269797" cy="5417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Cada referencia es una página aleatoria dentro de un conjunto de páginas a las que se accede.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Experimento</a:t>
            </a:r>
            <a:r>
              <a:rPr lang="es-ES" sz="2400" dirty="0">
                <a:latin typeface="+mn-lt"/>
              </a:rPr>
              <a:t>: </a:t>
            </a:r>
            <a:endParaRPr sz="24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Se acceden a 100 páginas [0,99] únicas a lo largo del tiempo (sobre un total de 1000 referencias).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La próxima pagina a elegir se toma al azar.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El tamaño de la cache se pone a variar desde un tamaño muy pequeño de 1 hasta un tamaño de 100.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758" name="Google Shape;758;p69"/>
          <p:cNvGraphicFramePr/>
          <p:nvPr>
            <p:extLst>
              <p:ext uri="{D42A27DB-BD31-4B8C-83A1-F6EECF244321}">
                <p14:modId xmlns:p14="http://schemas.microsoft.com/office/powerpoint/2010/main" val="3056113701"/>
              </p:ext>
            </p:extLst>
          </p:nvPr>
        </p:nvGraphicFramePr>
        <p:xfrm>
          <a:off x="1854092" y="4163784"/>
          <a:ext cx="8579250" cy="9143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0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3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3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3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3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3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3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39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39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Traza</a:t>
                      </a:r>
                      <a:endParaRPr sz="18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99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5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Acceso (i)</a:t>
                      </a:r>
                      <a:endParaRPr sz="18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1000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70"/>
          <p:cNvSpPr txBox="1">
            <a:spLocks noGrp="1"/>
          </p:cNvSpPr>
          <p:nvPr>
            <p:ph type="title"/>
          </p:nvPr>
        </p:nvSpPr>
        <p:spPr>
          <a:xfrm>
            <a:off x="501445" y="96038"/>
            <a:ext cx="8719205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Workload: Sin localidad</a:t>
            </a:r>
            <a:endParaRPr sz="3200" b="1" dirty="0">
              <a:solidFill>
                <a:srgbClr val="701E5C"/>
              </a:solidFill>
              <a:latin typeface="+mj-lt"/>
              <a:sym typeface="Roboto Slab"/>
            </a:endParaRPr>
          </a:p>
        </p:txBody>
      </p:sp>
      <p:pic>
        <p:nvPicPr>
          <p:cNvPr id="764" name="Google Shape;764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6725" y="1182413"/>
            <a:ext cx="4917675" cy="3875850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70"/>
          <p:cNvSpPr txBox="1">
            <a:spLocks noGrp="1"/>
          </p:cNvSpPr>
          <p:nvPr>
            <p:ph type="body" idx="1"/>
          </p:nvPr>
        </p:nvSpPr>
        <p:spPr>
          <a:xfrm>
            <a:off x="501445" y="871850"/>
            <a:ext cx="5683830" cy="523398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5"/>
                </a:solidFill>
                <a:latin typeface="+mn-lt"/>
              </a:rPr>
              <a:t>Comportamiento</a:t>
            </a:r>
            <a:r>
              <a:rPr lang="es-ES" sz="2400" dirty="0">
                <a:solidFill>
                  <a:schemeClr val="accent5"/>
                </a:solidFill>
                <a:latin typeface="+mn-lt"/>
              </a:rPr>
              <a:t>:</a:t>
            </a:r>
            <a:endParaRPr sz="2400" dirty="0">
              <a:solidFill>
                <a:schemeClr val="accent5"/>
              </a:solidFill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No importa cual de las políticas implementables (FIFO, RANDOM o  LRU) se este usando, el desempeño (tasa de hits) es el mismo para todos los casos.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A medida que aumenta el tamaño de la cache el desempeño mejora.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Cuando la cache es lo suficientemente grande para ajustarse al Workload, no tiene sentido cuál política usar pues todas convergen al 100 % de hit rate cuando los bloques referenciados llenan la cache.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La política OPT se desempeña notablemente mejor que las políticas realistas pues el mirar a futuro hace que el trabajo de reemplazo sea mejor.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pic>
        <p:nvPicPr>
          <p:cNvPr id="766" name="Google Shape;766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89977" y="5142624"/>
            <a:ext cx="3615100" cy="115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71"/>
          <p:cNvSpPr txBox="1">
            <a:spLocks noGrp="1"/>
          </p:cNvSpPr>
          <p:nvPr>
            <p:ph type="title"/>
          </p:nvPr>
        </p:nvSpPr>
        <p:spPr>
          <a:xfrm>
            <a:off x="516194" y="96038"/>
            <a:ext cx="8704456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Workload: 80 - 20</a:t>
            </a:r>
            <a:endParaRPr sz="3200" b="1" dirty="0">
              <a:solidFill>
                <a:srgbClr val="701E5C"/>
              </a:solidFill>
              <a:latin typeface="+mj-lt"/>
              <a:sym typeface="Roboto Slab"/>
            </a:endParaRPr>
          </a:p>
        </p:txBody>
      </p:sp>
      <p:sp>
        <p:nvSpPr>
          <p:cNvPr id="772" name="Google Shape;772;p71"/>
          <p:cNvSpPr txBox="1">
            <a:spLocks noGrp="1"/>
          </p:cNvSpPr>
          <p:nvPr>
            <p:ph type="body" idx="1"/>
          </p:nvPr>
        </p:nvSpPr>
        <p:spPr>
          <a:xfrm>
            <a:off x="516194" y="1045550"/>
            <a:ext cx="11181306" cy="5417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latin typeface="+mn-lt"/>
              </a:rPr>
              <a:t>Localidad</a:t>
            </a:r>
            <a:r>
              <a:rPr lang="es-ES" sz="2400" dirty="0">
                <a:latin typeface="+mn-lt"/>
              </a:rPr>
              <a:t>: </a:t>
            </a:r>
            <a:endParaRPr sz="2400" dirty="0"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400" dirty="0">
                <a:latin typeface="+mn-lt"/>
              </a:rPr>
              <a:t>20% de las páginas reciben el 80% de las referencias.</a:t>
            </a:r>
            <a:endParaRPr sz="2400" dirty="0"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400" dirty="0">
                <a:latin typeface="+mn-lt"/>
              </a:rPr>
              <a:t>El 20% de referencias restantes se hacen al otro 80% de las páginas.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Experimento</a:t>
            </a:r>
            <a:r>
              <a:rPr lang="es-ES" sz="2400" dirty="0">
                <a:latin typeface="+mn-lt"/>
              </a:rPr>
              <a:t>: </a:t>
            </a:r>
            <a:endParaRPr sz="24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Se realizan 1000 accesos (80% - 20%) sobre un conjunto de 100 páginas.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El tamaño de la cache se pone a variar desde un tamaño muy pequeño de 1 hasta un tamaño de 100.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773" name="Google Shape;773;p71"/>
          <p:cNvGraphicFramePr/>
          <p:nvPr>
            <p:extLst>
              <p:ext uri="{D42A27DB-BD31-4B8C-83A1-F6EECF244321}">
                <p14:modId xmlns:p14="http://schemas.microsoft.com/office/powerpoint/2010/main" val="4014617653"/>
              </p:ext>
            </p:extLst>
          </p:nvPr>
        </p:nvGraphicFramePr>
        <p:xfrm>
          <a:off x="1229125" y="2723475"/>
          <a:ext cx="10087550" cy="14110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02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2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2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2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2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2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2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2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82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71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Pages</a:t>
                      </a:r>
                      <a:endParaRPr sz="18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 - 1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1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Porción</a:t>
                      </a:r>
                      <a:endParaRPr sz="18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20 %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80 %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7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Referencias (%)</a:t>
                      </a:r>
                      <a:endParaRPr sz="18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80 %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20 %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72"/>
          <p:cNvSpPr txBox="1">
            <a:spLocks noGrp="1"/>
          </p:cNvSpPr>
          <p:nvPr>
            <p:ph type="title"/>
          </p:nvPr>
        </p:nvSpPr>
        <p:spPr>
          <a:xfrm>
            <a:off x="373937" y="96038"/>
            <a:ext cx="8846713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Workload: 80 - 20</a:t>
            </a:r>
            <a:endParaRPr dirty="0">
              <a:latin typeface="+mj-lt"/>
            </a:endParaRPr>
          </a:p>
        </p:txBody>
      </p:sp>
      <p:pic>
        <p:nvPicPr>
          <p:cNvPr id="779" name="Google Shape;77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3094" y="955643"/>
            <a:ext cx="5264969" cy="4149575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72"/>
          <p:cNvSpPr txBox="1">
            <a:spLocks noGrp="1"/>
          </p:cNvSpPr>
          <p:nvPr>
            <p:ph type="body" idx="1"/>
          </p:nvPr>
        </p:nvSpPr>
        <p:spPr>
          <a:xfrm>
            <a:off x="373937" y="955650"/>
            <a:ext cx="5548213" cy="3734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5"/>
                </a:solidFill>
                <a:latin typeface="+mn-lt"/>
              </a:rPr>
              <a:t>Comportamiento: </a:t>
            </a:r>
            <a:endParaRPr sz="2400" b="1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Para este caso más cercano a la realidad. Se observa que:</a:t>
            </a:r>
            <a:endParaRPr sz="24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La política LRU tiene un mejor desempeño que las políticas FIFO y RAND gracias a la localidad.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La política OPT nuevamente es la mejor mostrando que, la información histórica de la LRU no es perfecta.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pic>
        <p:nvPicPr>
          <p:cNvPr id="781" name="Google Shape;781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91076" y="5195125"/>
            <a:ext cx="4601526" cy="107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73"/>
          <p:cNvSpPr txBox="1">
            <a:spLocks noGrp="1"/>
          </p:cNvSpPr>
          <p:nvPr>
            <p:ph type="title"/>
          </p:nvPr>
        </p:nvSpPr>
        <p:spPr>
          <a:xfrm>
            <a:off x="398206" y="96038"/>
            <a:ext cx="8822444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Workload: The looping sequential </a:t>
            </a:r>
            <a:endParaRPr sz="3200" b="1" dirty="0">
              <a:solidFill>
                <a:srgbClr val="701E5C"/>
              </a:solidFill>
              <a:latin typeface="+mj-lt"/>
              <a:sym typeface="Roboto Slab"/>
            </a:endParaRPr>
          </a:p>
        </p:txBody>
      </p:sp>
      <p:sp>
        <p:nvSpPr>
          <p:cNvPr id="787" name="Google Shape;787;p73"/>
          <p:cNvSpPr txBox="1">
            <a:spLocks noGrp="1"/>
          </p:cNvSpPr>
          <p:nvPr>
            <p:ph type="body" idx="1"/>
          </p:nvPr>
        </p:nvSpPr>
        <p:spPr>
          <a:xfrm>
            <a:off x="604684" y="1045550"/>
            <a:ext cx="11092816" cy="5417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Se hace referencia a 50 páginas (0, 1, 2,…, 49) de manera secuencial repitiendo estos accesos (0, 1, 2,…, 49, 0, 1, 2,…, 49,…) hasta alcanzar los 10000 accesos sobre estas 50 páginas.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74"/>
          <p:cNvSpPr txBox="1">
            <a:spLocks noGrp="1"/>
          </p:cNvSpPr>
          <p:nvPr>
            <p:ph type="title"/>
          </p:nvPr>
        </p:nvSpPr>
        <p:spPr>
          <a:xfrm>
            <a:off x="339213" y="96038"/>
            <a:ext cx="8881437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Workload: The looping sequential </a:t>
            </a:r>
            <a:endParaRPr dirty="0">
              <a:latin typeface="+mj-lt"/>
            </a:endParaRPr>
          </a:p>
        </p:txBody>
      </p:sp>
      <p:sp>
        <p:nvSpPr>
          <p:cNvPr id="793" name="Google Shape;793;p74"/>
          <p:cNvSpPr txBox="1">
            <a:spLocks noGrp="1"/>
          </p:cNvSpPr>
          <p:nvPr>
            <p:ph type="body" idx="1"/>
          </p:nvPr>
        </p:nvSpPr>
        <p:spPr>
          <a:xfrm>
            <a:off x="486697" y="1197950"/>
            <a:ext cx="5202353" cy="387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5"/>
                </a:solidFill>
                <a:latin typeface="+mn-lt"/>
              </a:rPr>
              <a:t>Comportamiento:</a:t>
            </a:r>
            <a:endParaRPr sz="2400" b="1" dirty="0">
              <a:solidFill>
                <a:schemeClr val="accent5"/>
              </a:solidFill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Cuando la cache es menor a 50 y el acceso es realizado de manera ordenada, se van a  tener siempre fallos de memoria.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>
                <a:latin typeface="+mn-lt"/>
              </a:rPr>
              <a:t>Las políticas LRU y FIFO tienen un desempeño de 0 % en la tasa de hits.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>
                <a:latin typeface="+mn-lt"/>
              </a:rPr>
              <a:t>La política RANDOM se comporta un poco mejor pues puede cambiar de manera aleatoria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pic>
        <p:nvPicPr>
          <p:cNvPr id="794" name="Google Shape;794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2150" y="1197938"/>
            <a:ext cx="5965049" cy="47013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76"/>
          <p:cNvSpPr txBox="1">
            <a:spLocks noGrp="1"/>
          </p:cNvSpPr>
          <p:nvPr>
            <p:ph type="title"/>
          </p:nvPr>
        </p:nvSpPr>
        <p:spPr>
          <a:xfrm>
            <a:off x="516194" y="96038"/>
            <a:ext cx="1061883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rgbClr val="C00000"/>
                </a:solidFill>
              </a:rPr>
              <a:t>Implementación de algoritmos históricos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806" name="Google Shape;806;p76"/>
          <p:cNvSpPr txBox="1">
            <a:spLocks noGrp="1"/>
          </p:cNvSpPr>
          <p:nvPr>
            <p:ph type="body" idx="1"/>
          </p:nvPr>
        </p:nvSpPr>
        <p:spPr>
          <a:xfrm>
            <a:off x="858325" y="1045550"/>
            <a:ext cx="10471500" cy="68001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/>
              <a:t>Disculpas...</a:t>
            </a: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pic>
        <p:nvPicPr>
          <p:cNvPr id="807" name="Google Shape;807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9877" y="1913274"/>
            <a:ext cx="4877710" cy="4325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77"/>
          <p:cNvSpPr txBox="1">
            <a:spLocks noGrp="1"/>
          </p:cNvSpPr>
          <p:nvPr>
            <p:ph type="title"/>
          </p:nvPr>
        </p:nvSpPr>
        <p:spPr>
          <a:xfrm>
            <a:off x="501445" y="96038"/>
            <a:ext cx="8719205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Referencias</a:t>
            </a:r>
            <a:endParaRPr dirty="0">
              <a:latin typeface="+mj-lt"/>
            </a:endParaRPr>
          </a:p>
        </p:txBody>
      </p:sp>
      <p:sp>
        <p:nvSpPr>
          <p:cNvPr id="813" name="Google Shape;813;p77"/>
          <p:cNvSpPr txBox="1">
            <a:spLocks noGrp="1"/>
          </p:cNvSpPr>
          <p:nvPr>
            <p:ph type="body" idx="1"/>
          </p:nvPr>
        </p:nvSpPr>
        <p:spPr>
          <a:xfrm>
            <a:off x="501445" y="885660"/>
            <a:ext cx="11437755" cy="5655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dirty="0">
                <a:latin typeface="+mn-lt"/>
              </a:rPr>
              <a:t>Página de </a:t>
            </a:r>
            <a:r>
              <a:rPr lang="es-ES" sz="2000" dirty="0" err="1">
                <a:latin typeface="+mn-lt"/>
              </a:rPr>
              <a:t>Remzi</a:t>
            </a:r>
            <a:r>
              <a:rPr lang="es-ES" sz="2000" dirty="0">
                <a:latin typeface="+mn-lt"/>
              </a:rPr>
              <a:t> H. </a:t>
            </a:r>
            <a:r>
              <a:rPr lang="es-ES" sz="2000" dirty="0" err="1">
                <a:latin typeface="+mn-lt"/>
              </a:rPr>
              <a:t>Arpaci-Dusseau</a:t>
            </a:r>
            <a:r>
              <a:rPr lang="es-ES" sz="2000" dirty="0">
                <a:latin typeface="+mn-lt"/>
              </a:rPr>
              <a:t> (</a:t>
            </a:r>
            <a:r>
              <a:rPr lang="es-ES" sz="2000" u="sng" dirty="0">
                <a:solidFill>
                  <a:schemeClr val="hlink"/>
                </a:solidFill>
                <a:latin typeface="+mn-lt"/>
                <a:hlinkClick r:id="rId3"/>
              </a:rPr>
              <a:t>link</a:t>
            </a:r>
            <a:r>
              <a:rPr lang="es-ES" sz="2000" dirty="0">
                <a:latin typeface="+mn-lt"/>
              </a:rPr>
              <a:t>)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dirty="0" err="1">
                <a:latin typeface="+mn-lt"/>
              </a:rPr>
              <a:t>Operating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System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Concepts</a:t>
            </a:r>
            <a:r>
              <a:rPr lang="es-ES" sz="2000" dirty="0">
                <a:latin typeface="+mn-lt"/>
              </a:rPr>
              <a:t> - </a:t>
            </a:r>
            <a:r>
              <a:rPr lang="es-ES" sz="2000" dirty="0" err="1">
                <a:latin typeface="+mn-lt"/>
              </a:rPr>
              <a:t>Tenth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Edition</a:t>
            </a:r>
            <a:r>
              <a:rPr lang="es-ES" sz="2000" dirty="0">
                <a:latin typeface="+mn-lt"/>
              </a:rPr>
              <a:t> (</a:t>
            </a:r>
            <a:r>
              <a:rPr lang="es-ES" sz="2000" u="sng" dirty="0" err="1">
                <a:solidFill>
                  <a:schemeClr val="hlink"/>
                </a:solidFill>
                <a:latin typeface="+mn-lt"/>
                <a:hlinkClick r:id="rId4"/>
              </a:rPr>
              <a:t>website</a:t>
            </a:r>
            <a:r>
              <a:rPr lang="es-ES" sz="2000" dirty="0">
                <a:latin typeface="+mn-lt"/>
              </a:rPr>
              <a:t>)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dirty="0" err="1">
                <a:latin typeface="+mn-lt"/>
              </a:rPr>
              <a:t>Operating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Systems</a:t>
            </a:r>
            <a:r>
              <a:rPr lang="es-ES" sz="2000" dirty="0">
                <a:latin typeface="+mn-lt"/>
              </a:rPr>
              <a:t> Notes (</a:t>
            </a:r>
            <a:r>
              <a:rPr lang="es-ES" sz="2000" u="sng" dirty="0">
                <a:solidFill>
                  <a:schemeClr val="hlink"/>
                </a:solidFill>
                <a:latin typeface="+mn-lt"/>
                <a:hlinkClick r:id="rId5"/>
              </a:rPr>
              <a:t>link</a:t>
            </a:r>
            <a:r>
              <a:rPr lang="es-ES" sz="2000" dirty="0">
                <a:latin typeface="+mn-lt"/>
              </a:rPr>
              <a:t>)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6"/>
              </a:rPr>
              <a:t>http://web.eecs.utk.edu/~mbeck/classes/cs560/560/oldtests/t2/2003/Answers.html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7"/>
              </a:rPr>
              <a:t>https://github.com/Aniruddha-Tapas/Operating-Systems-Notes/blob/master/1-Overview.md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8"/>
              </a:rPr>
              <a:t>https://myaut.github.io/dtrace-stap-book/kernel/proc.html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9"/>
              </a:rPr>
              <a:t>https://myaut.github.io/dtrace-stap-book/index.html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0"/>
              </a:rPr>
              <a:t>https://www.technologyuk.net/computing/computer-software/operating-systems/operating-system-utilities.shtml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1"/>
              </a:rPr>
              <a:t>http://www.it.uu.se/education/course/homepage/os/vt18/module-4/simple-threads/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2"/>
              </a:rPr>
              <a:t>https://courses.cs.duke.edu/spring19/compsci590.1/slides/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3"/>
              </a:rPr>
              <a:t>http://csl.snu.ac.kr/courses/4190.307/2020-1/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4"/>
              </a:rPr>
              <a:t>http://pages.cs.wisc.edu/~bart/537/lecturenotes/titlepage.html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5"/>
              </a:rPr>
              <a:t>https://www.scs.stanford.edu/22wi-cs212/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6"/>
              </a:rPr>
              <a:t>https://flint.cs.yale.edu/cs421/papers/x86-asm/asm.html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7"/>
              </a:rPr>
              <a:t>https://github.com/Aniruddha-Tapas/Operating-Systems-Notes/blob/master/5-Memory-Management.md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8"/>
              </a:rPr>
              <a:t>https://applied-programming.github.io/Operating-Systems-Notes/5-Memory-Management/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 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000" dirty="0">
              <a:latin typeface="+mn-lt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78"/>
          <p:cNvSpPr txBox="1">
            <a:spLocks noGrp="1"/>
          </p:cNvSpPr>
          <p:nvPr>
            <p:ph type="title"/>
          </p:nvPr>
        </p:nvSpPr>
        <p:spPr>
          <a:xfrm>
            <a:off x="252800" y="96038"/>
            <a:ext cx="89678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Referencias</a:t>
            </a:r>
            <a:endParaRPr dirty="0">
              <a:latin typeface="+mj-lt"/>
            </a:endParaRPr>
          </a:p>
        </p:txBody>
      </p:sp>
      <p:sp>
        <p:nvSpPr>
          <p:cNvPr id="819" name="Google Shape;819;p78"/>
          <p:cNvSpPr txBox="1">
            <a:spLocks noGrp="1"/>
          </p:cNvSpPr>
          <p:nvPr>
            <p:ph type="body" idx="1"/>
          </p:nvPr>
        </p:nvSpPr>
        <p:spPr>
          <a:xfrm>
            <a:off x="398206" y="885250"/>
            <a:ext cx="11540994" cy="531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j-lt"/>
                <a:hlinkClick r:id="rId3"/>
              </a:rPr>
              <a:t>https://csapp.cs.cmu.edu/</a:t>
            </a:r>
            <a:r>
              <a:rPr lang="es-ES" sz="2000" dirty="0">
                <a:latin typeface="+mj-lt"/>
              </a:rPr>
              <a:t> </a:t>
            </a:r>
            <a:endParaRPr sz="2000" dirty="0">
              <a:latin typeface="+mj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j-lt"/>
                <a:hlinkClick r:id="rId4"/>
              </a:rPr>
              <a:t>https://applied-programming.github.io/Operating-Systems-Notes/5-Memory-Management/</a:t>
            </a:r>
            <a:r>
              <a:rPr lang="es-ES" sz="2000" dirty="0">
                <a:latin typeface="+mj-lt"/>
              </a:rPr>
              <a:t> </a:t>
            </a:r>
            <a:endParaRPr sz="2000" dirty="0">
              <a:latin typeface="+mj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j-lt"/>
                <a:hlinkClick r:id="rId5"/>
              </a:rPr>
              <a:t>http://www.cs.cmu.edu/~213/</a:t>
            </a:r>
            <a:endParaRPr sz="2000" dirty="0">
              <a:latin typeface="+mj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j-lt"/>
                <a:hlinkClick r:id="rId6"/>
              </a:rPr>
              <a:t>https://web.eecs.umich.edu/~akamil/teaching/sp04/</a:t>
            </a:r>
            <a:r>
              <a:rPr lang="es-ES" sz="2000" dirty="0">
                <a:latin typeface="+mj-lt"/>
              </a:rPr>
              <a:t> </a:t>
            </a:r>
            <a:endParaRPr sz="2000" dirty="0">
              <a:latin typeface="+mj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j-lt"/>
                <a:hlinkClick r:id="rId7"/>
              </a:rPr>
              <a:t>https://courses.engr.illinois.edu/cs241/sp2014/</a:t>
            </a:r>
            <a:endParaRPr sz="2000" dirty="0">
              <a:latin typeface="+mj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j-lt"/>
                <a:hlinkClick r:id="rId8"/>
              </a:rPr>
              <a:t>https://emeryberger.com/teaching/grad-systems/</a:t>
            </a:r>
            <a:endParaRPr sz="2000" dirty="0">
              <a:latin typeface="+mj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j-lt"/>
                <a:hlinkClick r:id="rId9"/>
              </a:rPr>
              <a:t>https://oslab.kaist.ac.kr/courseware/</a:t>
            </a:r>
            <a:r>
              <a:rPr lang="es-ES" sz="2000" dirty="0">
                <a:latin typeface="+mj-lt"/>
              </a:rPr>
              <a:t> </a:t>
            </a:r>
            <a:endParaRPr sz="2000" dirty="0">
              <a:latin typeface="+mj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j-lt"/>
                <a:hlinkClick r:id="rId10"/>
              </a:rPr>
              <a:t>https://oslab.kaist.ac.kr/ee488-fall-2020/</a:t>
            </a:r>
            <a:r>
              <a:rPr lang="es-ES" sz="2000" dirty="0">
                <a:latin typeface="+mj-lt"/>
              </a:rPr>
              <a:t> </a:t>
            </a:r>
            <a:endParaRPr sz="2000" dirty="0">
              <a:latin typeface="+mj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000" dirty="0">
              <a:latin typeface="+mj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400" dirty="0">
                <a:latin typeface="+mj-lt"/>
              </a:rPr>
              <a:t> </a:t>
            </a:r>
            <a:endParaRPr sz="2400" dirty="0">
              <a:latin typeface="+mj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400" dirty="0">
              <a:latin typeface="+mj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000" dirty="0">
              <a:latin typeface="+mj-lt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j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j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273</TotalTime>
  <Words>4129</Words>
  <Application>Microsoft Office PowerPoint</Application>
  <PresentationFormat>Panorámica</PresentationFormat>
  <Paragraphs>1491</Paragraphs>
  <Slides>54</Slides>
  <Notes>54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54</vt:i4>
      </vt:variant>
    </vt:vector>
  </HeadingPairs>
  <TitlesOfParts>
    <vt:vector size="63" baseType="lpstr">
      <vt:lpstr>Consolas</vt:lpstr>
      <vt:lpstr>Calibri</vt:lpstr>
      <vt:lpstr>Arial</vt:lpstr>
      <vt:lpstr>Roboto</vt:lpstr>
      <vt:lpstr>Calibri Light</vt:lpstr>
      <vt:lpstr>Times New Roman</vt:lpstr>
      <vt:lpstr>Cambria Math</vt:lpstr>
      <vt:lpstr>Roboto Slab</vt:lpstr>
      <vt:lpstr>Tema de Office</vt:lpstr>
      <vt:lpstr>Sistemas Operativos</vt:lpstr>
      <vt:lpstr>Jerarquía de memoria</vt:lpstr>
      <vt:lpstr>Jerarquía de memoria</vt:lpstr>
      <vt:lpstr>Punto de partida - Problema: No se tiene suficiente memoria física</vt:lpstr>
      <vt:lpstr>¿Qué se hace cuando la memoria física se queda corta?</vt:lpstr>
      <vt:lpstr>Espacio swap</vt:lpstr>
      <vt:lpstr>Intercambio por paginación</vt:lpstr>
      <vt:lpstr>Representación y notación</vt:lpstr>
      <vt:lpstr>Traducción de direcciones</vt:lpstr>
      <vt:lpstr>Contextualización</vt:lpstr>
      <vt:lpstr>Contextualización</vt:lpstr>
      <vt:lpstr>Contextualización</vt:lpstr>
      <vt:lpstr>Contextualización</vt:lpstr>
      <vt:lpstr>Contextualización</vt:lpstr>
      <vt:lpstr>Contextualización</vt:lpstr>
      <vt:lpstr>Contextualización</vt:lpstr>
      <vt:lpstr>Contextualización</vt:lpstr>
      <vt:lpstr>Contextualización</vt:lpstr>
      <vt:lpstr>Contextualización</vt:lpstr>
      <vt:lpstr>Contextualización</vt:lpstr>
      <vt:lpstr>Políticas</vt:lpstr>
      <vt:lpstr>Política de reemplazo óptimo (OPT)</vt:lpstr>
      <vt:lpstr>Política de reemplazo óptimo (OPT)</vt:lpstr>
      <vt:lpstr>Política de reemplazo óptimo (OPT)</vt:lpstr>
      <vt:lpstr>Política de reemplazo óptimo (OPT)</vt:lpstr>
      <vt:lpstr>Política de reemplazo óptimo (OPT)</vt:lpstr>
      <vt:lpstr>Política de reemplazo FIFO</vt:lpstr>
      <vt:lpstr>Política de reemplazo FIFO</vt:lpstr>
      <vt:lpstr>Política de reemplazo FIFO</vt:lpstr>
      <vt:lpstr>Política de reemplazo FIFO</vt:lpstr>
      <vt:lpstr>Política de reemplazo FIFO</vt:lpstr>
      <vt:lpstr>Política de reemplazo FIFO</vt:lpstr>
      <vt:lpstr>Política de reemplazo aleatoria</vt:lpstr>
      <vt:lpstr>Política de reemplazo aleatoria</vt:lpstr>
      <vt:lpstr>Política de reemplazo aleatoria</vt:lpstr>
      <vt:lpstr>Política de reemplazo aleatoria</vt:lpstr>
      <vt:lpstr>Política de reemplazo aleatoria</vt:lpstr>
      <vt:lpstr>Comparación de las políticas vistas</vt:lpstr>
      <vt:lpstr>Política LRU (Least Recently Used)</vt:lpstr>
      <vt:lpstr>Política LRU (Least Recently Used)</vt:lpstr>
      <vt:lpstr>Política LRU (Least Recently Used)</vt:lpstr>
      <vt:lpstr>Reemplazo</vt:lpstr>
      <vt:lpstr>Política LRU (Least Recently Used)</vt:lpstr>
      <vt:lpstr>Política LRU (Least Recently Used)</vt:lpstr>
      <vt:lpstr>Workload - Ejemplos</vt:lpstr>
      <vt:lpstr>Workload: Sin localidad</vt:lpstr>
      <vt:lpstr>Workload: Sin localidad</vt:lpstr>
      <vt:lpstr>Workload: 80 - 20</vt:lpstr>
      <vt:lpstr>Workload: 80 - 20</vt:lpstr>
      <vt:lpstr>Workload: The looping sequential </vt:lpstr>
      <vt:lpstr>Workload: The looping sequential </vt:lpstr>
      <vt:lpstr>Implementación de algoritmos históricos</vt:lpstr>
      <vt:lpstr>Referencias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Operativos</dc:title>
  <cp:lastModifiedBy>HENRY ALBERTO ARCILA RAMIREZ</cp:lastModifiedBy>
  <cp:revision>28</cp:revision>
  <dcterms:modified xsi:type="dcterms:W3CDTF">2026-04-28T11:07:23Z</dcterms:modified>
</cp:coreProperties>
</file>