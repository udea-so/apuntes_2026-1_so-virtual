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89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406" r:id="rId14"/>
    <p:sldId id="407" r:id="rId15"/>
    <p:sldId id="409" r:id="rId16"/>
    <p:sldId id="410" r:id="rId17"/>
    <p:sldId id="411" r:id="rId18"/>
    <p:sldId id="412" r:id="rId19"/>
    <p:sldId id="277" r:id="rId20"/>
    <p:sldId id="413" r:id="rId21"/>
    <p:sldId id="279" r:id="rId22"/>
    <p:sldId id="414" r:id="rId23"/>
    <p:sldId id="415" r:id="rId24"/>
    <p:sldId id="416" r:id="rId25"/>
    <p:sldId id="417" r:id="rId26"/>
    <p:sldId id="418" r:id="rId27"/>
    <p:sldId id="285" r:id="rId28"/>
    <p:sldId id="419" r:id="rId29"/>
    <p:sldId id="421" r:id="rId30"/>
    <p:sldId id="422" r:id="rId31"/>
    <p:sldId id="423" r:id="rId32"/>
    <p:sldId id="424" r:id="rId33"/>
    <p:sldId id="292" r:id="rId34"/>
    <p:sldId id="425" r:id="rId35"/>
    <p:sldId id="426" r:id="rId36"/>
    <p:sldId id="427" r:id="rId37"/>
    <p:sldId id="428" r:id="rId38"/>
    <p:sldId id="429" r:id="rId39"/>
    <p:sldId id="430" r:id="rId40"/>
    <p:sldId id="299" r:id="rId41"/>
    <p:sldId id="431" r:id="rId42"/>
    <p:sldId id="433" r:id="rId43"/>
    <p:sldId id="434" r:id="rId44"/>
    <p:sldId id="435" r:id="rId45"/>
    <p:sldId id="436" r:id="rId46"/>
    <p:sldId id="306" r:id="rId47"/>
    <p:sldId id="437" r:id="rId48"/>
    <p:sldId id="438" r:id="rId49"/>
    <p:sldId id="440" r:id="rId50"/>
    <p:sldId id="441" r:id="rId51"/>
    <p:sldId id="442" r:id="rId52"/>
    <p:sldId id="443" r:id="rId53"/>
    <p:sldId id="314" r:id="rId54"/>
    <p:sldId id="444" r:id="rId55"/>
    <p:sldId id="445" r:id="rId56"/>
    <p:sldId id="446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1" r:id="rId80"/>
    <p:sldId id="342" r:id="rId81"/>
    <p:sldId id="343" r:id="rId82"/>
    <p:sldId id="344" r:id="rId83"/>
    <p:sldId id="345" r:id="rId84"/>
    <p:sldId id="346" r:id="rId85"/>
    <p:sldId id="347" r:id="rId86"/>
    <p:sldId id="348" r:id="rId87"/>
    <p:sldId id="447" r:id="rId88"/>
  </p:sldIdLst>
  <p:sldSz cx="12192000" cy="6858000"/>
  <p:notesSz cx="6858000" cy="9144000"/>
  <p:embeddedFontLst>
    <p:embeddedFont>
      <p:font typeface="Calibri" panose="020F0502020204030204" pitchFamily="34" charset="0"/>
      <p:regular r:id="rId90"/>
      <p:bold r:id="rId91"/>
      <p:italic r:id="rId92"/>
      <p:boldItalic r:id="rId93"/>
    </p:embeddedFont>
    <p:embeddedFont>
      <p:font typeface="Calibri Light" panose="020F0302020204030204" pitchFamily="34" charset="0"/>
      <p:regular r:id="rId94"/>
      <p:italic r:id="rId95"/>
    </p:embeddedFont>
    <p:embeddedFont>
      <p:font typeface="Consolas" panose="020B0609020204030204" pitchFamily="49" charset="0"/>
      <p:regular r:id="rId96"/>
      <p:bold r:id="rId97"/>
      <p:italic r:id="rId98"/>
      <p:boldItalic r:id="rId99"/>
    </p:embeddedFont>
    <p:embeddedFont>
      <p:font typeface="Roboto" panose="02000000000000000000" pitchFamily="2" charset="0"/>
      <p:regular r:id="rId100"/>
      <p:bold r:id="rId101"/>
      <p:italic r:id="rId102"/>
      <p:boldItalic r:id="rId103"/>
    </p:embeddedFont>
    <p:embeddedFont>
      <p:font typeface="Roboto Slab" panose="020B0604020202020204" charset="0"/>
      <p:regular r:id="rId104"/>
      <p:bold r:id="rId105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6A2E93-5121-40D1-B61B-F19DAAD5E98B}">
  <a:tblStyle styleId="{F66A2E93-5121-40D1-B61B-F19DAAD5E9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F8EA-094C-4022-B5A3-1638E5F4CCC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13.fntdata"/><Relationship Id="rId5" Type="http://schemas.openxmlformats.org/officeDocument/2006/relationships/slide" Target="slides/slide4.xml"/><Relationship Id="rId90" Type="http://schemas.openxmlformats.org/officeDocument/2006/relationships/font" Target="fonts/font1.fntdata"/><Relationship Id="rId95" Type="http://schemas.openxmlformats.org/officeDocument/2006/relationships/font" Target="fonts/font6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4.fntdata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font" Target="fonts/font2.fntdata"/><Relationship Id="rId9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5.fntdata"/><Relationship Id="rId99" Type="http://schemas.openxmlformats.org/officeDocument/2006/relationships/font" Target="fonts/font10.fntdata"/><Relationship Id="rId10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8.fntdata"/><Relationship Id="rId104" Type="http://schemas.openxmlformats.org/officeDocument/2006/relationships/font" Target="fonts/font15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1.fntdata"/><Relationship Id="rId105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4.fntdata"/><Relationship Id="rId98" Type="http://schemas.openxmlformats.org/officeDocument/2006/relationships/font" Target="fonts/font9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48dd72d00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48dd72d00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17ac81a7f7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17ac81a7f7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17ac81a7f7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17ac81a7f7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17ac81a7f7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17ac81a7f7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17ac81a7f7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17ac81a7f7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17ac81a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17ac81a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17ac81a7f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17ac81a7f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17ac81a7f7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17ac81a7f7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17ac81a7f7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17ac81a7f7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17ac81a7f7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17ac81a7f7_0_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17ac81a7f7_0_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17ac81a7f7_0_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17ac81a7f7_0_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17ac81a7f7_0_6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17ac81a7f7_0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17ac81a7f7_0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117ac81a7f7_0_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g117ac81a7f7_0_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117ac81a7f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g117ac81a7f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117ac81a7f7_0_8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g117ac81a7f7_0_8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117ac81a7f7_0_8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g117ac81a7f7_0_8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1140d1be25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g1140d1be25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17ac81a7f7_0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g117ac81a7f7_0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117ac81a7f7_0_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g117ac81a7f7_0_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17ac81a7f7_0_8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g117ac81a7f7_0_8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17ac81a7f7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Google Shape;741;g117ac81a7f7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117ac81a7f7_0_8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g117ac81a7f7_0_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17ac81a7f7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g117ac81a7f7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17ac81a7f7_0_8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4" name="Google Shape;764;g117ac81a7f7_0_8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17ac81a7f7_0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g117ac81a7f7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1140d1be259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1140d1be259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1140d1be259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1140d1be259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1140d1be259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1140d1be259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1140d1be259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1140d1be259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140d1be259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1140d1be259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1140d1be259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1140d1be259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1140d1be259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1140d1be259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1140d1be259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1140d1be259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1140d1be259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1140d1be259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1140d1be259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1140d1be259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1140d1be259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1140d1be259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1140d1be259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1140d1be259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6" name="Google Shape;1056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1172ea73a71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8" name="Google Shape;1108;g1172ea73a71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11829e52e6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7" name="Google Shape;1117;g11829e52e6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1172ea73a71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6" name="Google Shape;1166;g1172ea73a71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11829e52e61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4" name="Google Shape;1174;g11829e52e61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11829e52e61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3" name="Google Shape;1183;g11829e52e61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11829e52e6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2" name="Google Shape;1192;g11829e52e6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11829e52e61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11829e52e61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11829e52e61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11829e52e61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11359daf871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11359daf871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114975471eb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114975471eb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114975471e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114975471e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11829e52e61_0_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11829e52e61_0_5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11829e52e61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11829e52e61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11829e52e61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11829e52e61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11829e52e61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11829e52e61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11829e52e61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11829e52e61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11829e52e61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11829e52e61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11829e52e61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11829e52e61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11829e52e61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11829e52e61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11829e52e61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11829e52e61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11829e52e61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6" name="Google Shape;1526;g11829e52e61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114975471eb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114975471eb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114975471eb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114975471eb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11829e52e61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11829e52e61_0_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11829e52e61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11829e52e61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11829e52e61_0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6" name="Google Shape;1586;g11829e52e61_0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2d49810672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6" name="Google Shape;1606;g2d49810672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2d49810672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7" name="Google Shape;1617;g2d49810672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2d498106725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1" name="Google Shape;1631;g2d49810672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2d498106725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9" name="Google Shape;1659;g2d498106725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2d498106725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1" name="Google Shape;1671;g2d49810672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g2d498106725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1" name="Google Shape;1711;g2d498106725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2d498106725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1" name="Google Shape;1751;g2d498106725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2d498106725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3" name="Google Shape;1793;g2d498106725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2d498106725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4" name="Google Shape;1834;g2d498106725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g2d498106725_0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9" name="Google Shape;1849;g2d498106725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2d498106725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3" name="Google Shape;1863;g2d498106725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2d498106725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5" name="Google Shape;1875;g2d498106725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2d498106725_0_4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8" name="Google Shape;1888;g2d498106725_0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g2d498106725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1" name="Google Shape;1901;g2d498106725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15c7f9ec68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15c7f9ec68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114ae551f2c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7" name="Google Shape;1917;g114ae551f2c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g117ac81a7f7_0_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3" name="Google Shape;1923;g117ac81a7f7_0_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g117b835d7e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9" name="Google Shape;1929;g117b835d7e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4EFC6-2F92-4E13-B961-A63A46079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6F2C6D-CAFB-44D8-9D3D-F5A367BA1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F026EC-B5D6-4D83-A457-01DAE0EA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91B12-6E98-4529-8DFE-C63E15B2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0FC392-DBA9-4D32-93B1-DF4E5BB1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810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FF4AE-CAC7-4BBF-AE34-C379EC15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3AA2B-92AE-42A5-BCF6-E98BDE35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082BFE-1D32-4479-83ED-A1108304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F20778-84C0-4301-A4E0-10F9266D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9CCB08-11A5-48C7-93D0-9383D622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474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4BA23-0AB4-4AC3-93DC-F5388101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9929E9-AF43-4475-9794-9B572F85C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50D247-5A16-4ED9-905C-B541C172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C9789-EE70-48D0-BC42-A6F6D7E3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D6E942-C7E5-4333-BDF7-15CF95F1A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420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38B16-3F67-406F-8896-C5A869B8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60E17A-AD41-4672-9C99-944730E37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8A3F05-AEEE-48F9-8760-BA226C2B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40793A-4279-4444-93A4-9043D37A4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03B0D4-543E-46DA-BE81-54D2A4EA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875236-A285-4F7E-B2AA-02F956A1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09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C3896-951A-4DB9-8E22-DACD3A71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2C3865-E925-430F-BBFE-7CCF8668A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5588A4-4D2B-4258-A424-4AB644D24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518C85-5630-41BD-B5C7-0BE9B5CE9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DF6C0B-3AF4-431B-8284-6CE72DCB1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BDE952-7D99-4D51-B797-4DF6129D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B417C5-DA3D-446E-B651-152F4B98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B7A783-CBCE-4D23-82A1-495BE8FA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423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2725F-C606-4002-81BA-57D4D40E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311ACD-59CB-473D-A95A-770B983B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0A660C-36A3-45CD-8C5C-1ED4EEA5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7ED5B6-B4E1-43CC-9237-973602CE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359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2DC51D-11D6-4E6C-A274-1502ED2A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48D94D-B572-4A3F-A07D-B3E7CA38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3177E2-88CE-4061-A1E2-64D4BF5B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68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4E2D6-30D3-4D7C-92E0-7BD982CE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2F63FE-F153-44EC-8B3F-9AB705E80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53B2D7-2EBB-4DF4-85BE-E6F6C8A1D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675FD-5EDC-4BA5-89E6-5527FDA7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DDFFFF-DED3-443F-AF70-AE862266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51918A-4D8E-49A8-AED4-7E4D1103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2096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07736-A43F-4823-A3D8-27A558EB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95A70B-4C45-4A90-927B-891E93A1B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81C756-EC01-425F-81C9-E0CCFAD04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8AC5BF-EEBA-470C-9C6F-522C81E9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E409BB-9B3B-4F69-8C28-47570F12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0C99D3-07A0-4E76-9435-F682D02A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74294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8ACD2-83F5-4E65-9816-AB21E7D4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8C3005-8107-477C-A680-E897E310A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CBF435-23E7-497A-9ADC-36BE5932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11B139-777A-4BC1-9C85-71598B28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7BD15A-E716-4D55-B413-340CDF05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06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0A9933-DFFE-4FED-9733-EBC96A6A1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F4986F-5D3E-4A01-A65E-23B40E95A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D6847E-AC2C-4D4E-8FD1-1B163A98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50FCC-0956-4A29-BB7C-AC033763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575AB2-90A3-4094-85A8-397A869C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2437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9040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9309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22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95C28F-71F9-496E-A52E-B0A9C891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44CEF-7090-4EF7-ABC2-01FDE598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C934C1-DE25-48B2-9A9C-F22C17470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29388-65E5-4496-A9AF-B22A7AC84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A2886E-44BF-4964-9363-44A3C2C64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183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web/updates/2018/09/inside-browser-part1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evelopers.google.com/web/updates/images/inside-browser/part1/tabs.svg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izardzines.com/comics/mutexes/" TargetMode="External"/><Relationship Id="rId4" Type="http://schemas.openxmlformats.org/officeDocument/2006/relationships/image" Target="../media/image57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hyperlink" Target="https://myaut.github.io/dtrace-stap-book/kernel/proc.html" TargetMode="External"/><Relationship Id="rId13" Type="http://schemas.openxmlformats.org/officeDocument/2006/relationships/hyperlink" Target="http://csl.snu.ac.kr/courses/4190.307/2020-1/" TargetMode="External"/><Relationship Id="rId18" Type="http://schemas.openxmlformats.org/officeDocument/2006/relationships/hyperlink" Target="https://applied-programming.github.io/Operating-Systems-Notes/5-Memory-Management/" TargetMode="External"/><Relationship Id="rId3" Type="http://schemas.openxmlformats.org/officeDocument/2006/relationships/hyperlink" Target="http://pages.cs.wisc.edu/~remzi/" TargetMode="External"/><Relationship Id="rId7" Type="http://schemas.openxmlformats.org/officeDocument/2006/relationships/hyperlink" Target="https://github.com/Aniruddha-Tapas/Operating-Systems-Notes/blob/master/1-Overview.md" TargetMode="External"/><Relationship Id="rId12" Type="http://schemas.openxmlformats.org/officeDocument/2006/relationships/hyperlink" Target="https://courses.cs.duke.edu/spring19/compsci590.1/slides/" TargetMode="External"/><Relationship Id="rId17" Type="http://schemas.openxmlformats.org/officeDocument/2006/relationships/hyperlink" Target="https://github.com/Aniruddha-Tapas/Operating-Systems-Notes/blob/master/5-Memory-Management.md" TargetMode="External"/><Relationship Id="rId2" Type="http://schemas.openxmlformats.org/officeDocument/2006/relationships/notesSlide" Target="../notesSlides/notesSlide84.xml"/><Relationship Id="rId16" Type="http://schemas.openxmlformats.org/officeDocument/2006/relationships/hyperlink" Target="https://flint.cs.yale.edu/cs421/papers/x86-asm/asm.html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web.eecs.utk.edu/~mbeck/classes/cs560/560/oldtests/t2/2003/Answers.html" TargetMode="External"/><Relationship Id="rId11" Type="http://schemas.openxmlformats.org/officeDocument/2006/relationships/hyperlink" Target="http://www.it.uu.se/education/course/homepage/os/vt18/module-4/simple-threads/" TargetMode="External"/><Relationship Id="rId5" Type="http://schemas.openxmlformats.org/officeDocument/2006/relationships/hyperlink" Target="https://applied-programming.github.io/Operating-Systems-Notes/" TargetMode="External"/><Relationship Id="rId15" Type="http://schemas.openxmlformats.org/officeDocument/2006/relationships/hyperlink" Target="https://www.scs.stanford.edu/22wi-cs212/" TargetMode="External"/><Relationship Id="rId10" Type="http://schemas.openxmlformats.org/officeDocument/2006/relationships/hyperlink" Target="https://www.technologyuk.net/computing/computer-software/operating-systems/operating-system-utilities.shtml" TargetMode="External"/><Relationship Id="rId4" Type="http://schemas.openxmlformats.org/officeDocument/2006/relationships/hyperlink" Target="https://www.os-book.com/OS10/index.html" TargetMode="External"/><Relationship Id="rId9" Type="http://schemas.openxmlformats.org/officeDocument/2006/relationships/hyperlink" Target="https://myaut.github.io/dtrace-stap-book/index.html" TargetMode="External"/><Relationship Id="rId14" Type="http://schemas.openxmlformats.org/officeDocument/2006/relationships/hyperlink" Target="http://pages.cs.wisc.edu/~bart/537/lecturenotes/titlepage.html" TargetMode="Externa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hyperlink" Target="https://emeryberger.com/teaching/grad-systems/" TargetMode="External"/><Relationship Id="rId13" Type="http://schemas.openxmlformats.org/officeDocument/2006/relationships/hyperlink" Target="https://oslab.kaist.ac.kr/ee415-spring-2022/" TargetMode="External"/><Relationship Id="rId18" Type="http://schemas.openxmlformats.org/officeDocument/2006/relationships/hyperlink" Target="https://realpython.com/python-concurrency/" TargetMode="External"/><Relationship Id="rId3" Type="http://schemas.openxmlformats.org/officeDocument/2006/relationships/hyperlink" Target="https://csapp.cs.cmu.edu/" TargetMode="External"/><Relationship Id="rId7" Type="http://schemas.openxmlformats.org/officeDocument/2006/relationships/hyperlink" Target="https://courses.engr.illinois.edu/cs241/sp2014/" TargetMode="External"/><Relationship Id="rId12" Type="http://schemas.openxmlformats.org/officeDocument/2006/relationships/hyperlink" Target="http://www.cs.toronto.edu/~ylzhang/csc258/" TargetMode="External"/><Relationship Id="rId17" Type="http://schemas.openxmlformats.org/officeDocument/2006/relationships/hyperlink" Target="https://cpentalk.com/986/examples-applications-benefit-directly-ability-throughput" TargetMode="External"/><Relationship Id="rId2" Type="http://schemas.openxmlformats.org/officeDocument/2006/relationships/notesSlide" Target="../notesSlides/notesSlide85.xml"/><Relationship Id="rId16" Type="http://schemas.openxmlformats.org/officeDocument/2006/relationships/hyperlink" Target="https://www.quora.com/What-are-some-best-examples-of-multithreaded-applications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eb.eecs.umich.edu/~akamil/teaching/sp04/" TargetMode="External"/><Relationship Id="rId11" Type="http://schemas.openxmlformats.org/officeDocument/2006/relationships/hyperlink" Target="https://github.com/JoeCameron1/CSC369-OperatingSystems-Assignments/tree/master/Assignment2" TargetMode="External"/><Relationship Id="rId5" Type="http://schemas.openxmlformats.org/officeDocument/2006/relationships/hyperlink" Target="http://www.cs.cmu.edu/~213/" TargetMode="External"/><Relationship Id="rId15" Type="http://schemas.openxmlformats.org/officeDocument/2006/relationships/hyperlink" Target="https://www.iitk.ac.in/esc101/05Aug/tutorial/essential/threads/definition.html" TargetMode="External"/><Relationship Id="rId10" Type="http://schemas.openxmlformats.org/officeDocument/2006/relationships/hyperlink" Target="https://oslab.kaist.ac.kr/ee488-fall-2020/" TargetMode="External"/><Relationship Id="rId4" Type="http://schemas.openxmlformats.org/officeDocument/2006/relationships/hyperlink" Target="https://applied-programming.github.io/Operating-Systems-Notes/5-Memory-Management/" TargetMode="External"/><Relationship Id="rId9" Type="http://schemas.openxmlformats.org/officeDocument/2006/relationships/hyperlink" Target="https://oslab.kaist.ac.kr/courseware/" TargetMode="External"/><Relationship Id="rId14" Type="http://schemas.openxmlformats.org/officeDocument/2006/relationships/hyperlink" Target="https://prepinsta.com/operating-systems/multiprocessor-operating-systems/" TargetMode="Externa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hyperlink" Target="https://realpython.com/intro-to-python-threading/" TargetMode="External"/><Relationship Id="rId13" Type="http://schemas.openxmlformats.org/officeDocument/2006/relationships/hyperlink" Target="https://applied-programming.github.io/Operating-Systems-Notes/6-Inter-Process-Communication/" TargetMode="External"/><Relationship Id="rId18" Type="http://schemas.openxmlformats.org/officeDocument/2006/relationships/hyperlink" Target="http://www.cs.fsu.edu/~baker/realtime/restricted/notes/philos.html" TargetMode="External"/><Relationship Id="rId3" Type="http://schemas.openxmlformats.org/officeDocument/2006/relationships/hyperlink" Target="https://developers.google.com/web/updates/2018/09/inside-browser-part1" TargetMode="External"/><Relationship Id="rId21" Type="http://schemas.openxmlformats.org/officeDocument/2006/relationships/hyperlink" Target="http://people.cs.aau.dk/~ask/Undervisning/MVP/html/deadlock.pdf" TargetMode="External"/><Relationship Id="rId7" Type="http://schemas.openxmlformats.org/officeDocument/2006/relationships/hyperlink" Target="https://realpython.com/python-sockets/" TargetMode="External"/><Relationship Id="rId12" Type="http://schemas.openxmlformats.org/officeDocument/2006/relationships/hyperlink" Target="https://prepinsta.com/operating-systems/inter-process-communication/" TargetMode="External"/><Relationship Id="rId17" Type="http://schemas.openxmlformats.org/officeDocument/2006/relationships/hyperlink" Target="http://web.mit.edu/java_v1.0.2/www/tutorial/java/threads/deadlock.html" TargetMode="External"/><Relationship Id="rId2" Type="http://schemas.openxmlformats.org/officeDocument/2006/relationships/notesSlide" Target="../notesSlides/notesSlide86.xml"/><Relationship Id="rId16" Type="http://schemas.openxmlformats.org/officeDocument/2006/relationships/hyperlink" Target="https://singa.apache.org/" TargetMode="External"/><Relationship Id="rId20" Type="http://schemas.openxmlformats.org/officeDocument/2006/relationships/hyperlink" Target="https://www.kalasim.org/examples/dining_philosophers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cs.uic.edu/~jbell/CourseNotes/OperatingSystems/4_Threads.html" TargetMode="External"/><Relationship Id="rId11" Type="http://schemas.openxmlformats.org/officeDocument/2006/relationships/hyperlink" Target="https://eecs485staff.github.io/p4-mapreduce/threads-sockets.html" TargetMode="External"/><Relationship Id="rId5" Type="http://schemas.openxmlformats.org/officeDocument/2006/relationships/hyperlink" Target="https://www.informit.com/articles/article.aspx?p=25075&amp;seqNum=3" TargetMode="External"/><Relationship Id="rId15" Type="http://schemas.openxmlformats.org/officeDocument/2006/relationships/hyperlink" Target="https://www.iitk.ac.in/esc101/05Aug/tutorial/essential/threads/definition.html" TargetMode="External"/><Relationship Id="rId10" Type="http://schemas.openxmlformats.org/officeDocument/2006/relationships/hyperlink" Target="https://www.geeksforgeeks.org/socket-programming-multi-threading-python/" TargetMode="External"/><Relationship Id="rId19" Type="http://schemas.openxmlformats.org/officeDocument/2006/relationships/hyperlink" Target="https://www2.seas.gwu.edu/~mfeldman/papers/portable-diners.html" TargetMode="External"/><Relationship Id="rId4" Type="http://schemas.openxmlformats.org/officeDocument/2006/relationships/hyperlink" Target="https://developers.google.com/web/updates/2018/09/inside-browser-part2" TargetMode="External"/><Relationship Id="rId9" Type="http://schemas.openxmlformats.org/officeDocument/2006/relationships/hyperlink" Target="https://realpython.com/python-concurrency/" TargetMode="External"/><Relationship Id="rId14" Type="http://schemas.openxmlformats.org/officeDocument/2006/relationships/hyperlink" Target="https://applied-programming.github.io/Operating-Systems-Notes/3-Threads-and-Concurrency/" TargetMode="Externa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as.upenn.edu/~cse39904/" TargetMode="External"/><Relationship Id="rId13" Type="http://schemas.openxmlformats.org/officeDocument/2006/relationships/hyperlink" Target="https://github.com/ZzCalvinzZ/dining_philosophers_web_workers" TargetMode="External"/><Relationship Id="rId18" Type="http://schemas.openxmlformats.org/officeDocument/2006/relationships/hyperlink" Target="https://ruslanspivak.com/lsbaws-part1/" TargetMode="External"/><Relationship Id="rId3" Type="http://schemas.openxmlformats.org/officeDocument/2006/relationships/hyperlink" Target="https://github.com/fab327/JavaFX_DiningPhilosophers" TargetMode="External"/><Relationship Id="rId7" Type="http://schemas.openxmlformats.org/officeDocument/2006/relationships/hyperlink" Target="https://www.seas.upenn.edu/~cse39904/homework/hw06.pdf" TargetMode="External"/><Relationship Id="rId12" Type="http://schemas.openxmlformats.org/officeDocument/2006/relationships/hyperlink" Target="https://jnafolayan.github.io/dining-philosopher/" TargetMode="External"/><Relationship Id="rId17" Type="http://schemas.openxmlformats.org/officeDocument/2006/relationships/hyperlink" Target="https://adit.io/posts/2013-05-11-The-Dining-Philosophers-Problem-With-Ron-Swanson.html" TargetMode="External"/><Relationship Id="rId2" Type="http://schemas.openxmlformats.org/officeDocument/2006/relationships/notesSlide" Target="../notesSlides/notesSlide87.xml"/><Relationship Id="rId16" Type="http://schemas.openxmlformats.org/officeDocument/2006/relationships/hyperlink" Target="https://www.wikiwand.com/en/Dining_philosophers_problem" TargetMode="External"/><Relationship Id="rId20" Type="http://schemas.openxmlformats.org/officeDocument/2006/relationships/hyperlink" Target="https://ruslanspivak.com/lsbaws-part3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rosettacode.org/wiki/Dining_philosophers" TargetMode="External"/><Relationship Id="rId11" Type="http://schemas.openxmlformats.org/officeDocument/2006/relationships/hyperlink" Target="https://github.com/jnafolayan/dining-philosopher" TargetMode="External"/><Relationship Id="rId5" Type="http://schemas.openxmlformats.org/officeDocument/2006/relationships/hyperlink" Target="https://www.geeksforgeeks.org/dining-philosopher-problem-using-semaphores/" TargetMode="External"/><Relationship Id="rId15" Type="http://schemas.openxmlformats.org/officeDocument/2006/relationships/hyperlink" Target="https://github.com/lievi/dining_philosophers" TargetMode="External"/><Relationship Id="rId10" Type="http://schemas.openxmlformats.org/officeDocument/2006/relationships/hyperlink" Target="https://github.com/smonn/hungrythinkers" TargetMode="External"/><Relationship Id="rId19" Type="http://schemas.openxmlformats.org/officeDocument/2006/relationships/hyperlink" Target="https://ruslanspivak.com/lsbaws-part2/" TargetMode="External"/><Relationship Id="rId4" Type="http://schemas.openxmlformats.org/officeDocument/2006/relationships/hyperlink" Target="https://github.com/djunderw/dining-philosophers" TargetMode="External"/><Relationship Id="rId9" Type="http://schemas.openxmlformats.org/officeDocument/2006/relationships/hyperlink" Target="https://www.seas.upenn.edu/~cse39904/notes.html" TargetMode="External"/><Relationship Id="rId14" Type="http://schemas.openxmlformats.org/officeDocument/2006/relationships/hyperlink" Target="https://dev.to/vunderkind/the-dining-philosophers-problem-or-your-introduction-to-thinking-in-computer-science-8i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330991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Sistemas Operativos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200" b="1" dirty="0"/>
              <a:t>Clase</a:t>
            </a:r>
            <a:r>
              <a:rPr lang="es-ES" sz="3200" b="1" dirty="0">
                <a:ea typeface="Roboto"/>
                <a:cs typeface="Roboto"/>
                <a:sym typeface="Roboto"/>
              </a:rPr>
              <a:t> 14 – Threads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/>
              <a:t>30/04/2026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1"/>
          </p:nvPr>
        </p:nvSpPr>
        <p:spPr>
          <a:xfrm>
            <a:off x="678426" y="973975"/>
            <a:ext cx="11157924" cy="64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Virtualización de CPU</a:t>
            </a:r>
            <a:endParaRPr sz="22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3945662" y="2071775"/>
            <a:ext cx="5715525" cy="3305162"/>
            <a:chOff x="1396400" y="2931450"/>
            <a:chExt cx="5715525" cy="3305162"/>
          </a:xfrm>
        </p:grpSpPr>
        <p:pic>
          <p:nvPicPr>
            <p:cNvPr id="160" name="Google Shape;160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96400" y="2931450"/>
              <a:ext cx="5715525" cy="1931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20763" y="5169813"/>
              <a:ext cx="1066800" cy="10668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62" name="Google Shape;162;p20"/>
          <p:cNvCxnSpPr/>
          <p:nvPr/>
        </p:nvCxnSpPr>
        <p:spPr>
          <a:xfrm rot="10800000" flipH="1">
            <a:off x="2807750" y="4058050"/>
            <a:ext cx="6862500" cy="3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" name="Google Shape;163;p20"/>
          <p:cNvSpPr txBox="1"/>
          <p:nvPr/>
        </p:nvSpPr>
        <p:spPr>
          <a:xfrm>
            <a:off x="2410875" y="4646125"/>
            <a:ext cx="15777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9900"/>
                </a:solidFill>
              </a:rPr>
              <a:t>Recurso</a:t>
            </a:r>
            <a:endParaRPr sz="2000" b="1">
              <a:solidFill>
                <a:srgbClr val="FF9900"/>
              </a:solidFill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2367950" y="2947675"/>
            <a:ext cx="1577700" cy="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9900"/>
                </a:solidFill>
              </a:rPr>
              <a:t>Ilusión</a:t>
            </a:r>
            <a:endParaRPr sz="20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575187" y="96038"/>
            <a:ext cx="864546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170" name="Google Shape;170;p21"/>
          <p:cNvSpPr txBox="1">
            <a:spLocks noGrp="1"/>
          </p:cNvSpPr>
          <p:nvPr>
            <p:ph type="body" idx="1"/>
          </p:nvPr>
        </p:nvSpPr>
        <p:spPr>
          <a:xfrm>
            <a:off x="575187" y="973975"/>
            <a:ext cx="11261163" cy="57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Virtualización de CPU - </a:t>
            </a:r>
            <a:r>
              <a:rPr lang="es-ES" sz="2800" b="1" dirty="0">
                <a:solidFill>
                  <a:srgbClr val="FF9900"/>
                </a:solidFill>
              </a:rPr>
              <a:t>Abstracción: Procesos</a:t>
            </a:r>
            <a:endParaRPr sz="2800" b="1" dirty="0">
              <a:solidFill>
                <a:srgbClr val="FF99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225" y="3247555"/>
            <a:ext cx="1940759" cy="157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21"/>
          <p:cNvGrpSpPr/>
          <p:nvPr/>
        </p:nvGrpSpPr>
        <p:grpSpPr>
          <a:xfrm>
            <a:off x="6849600" y="1790200"/>
            <a:ext cx="4549500" cy="4393500"/>
            <a:chOff x="5458950" y="1790200"/>
            <a:chExt cx="4549500" cy="4393500"/>
          </a:xfrm>
        </p:grpSpPr>
        <p:sp>
          <p:nvSpPr>
            <p:cNvPr id="173" name="Google Shape;173;p21"/>
            <p:cNvSpPr/>
            <p:nvPr/>
          </p:nvSpPr>
          <p:spPr>
            <a:xfrm>
              <a:off x="5458950" y="1790200"/>
              <a:ext cx="4549500" cy="4393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" name="Google Shape;174;p21"/>
            <p:cNvGrpSpPr/>
            <p:nvPr/>
          </p:nvGrpSpPr>
          <p:grpSpPr>
            <a:xfrm>
              <a:off x="6072275" y="2608725"/>
              <a:ext cx="1368600" cy="2104675"/>
              <a:chOff x="6161500" y="2642175"/>
              <a:chExt cx="1368600" cy="2104675"/>
            </a:xfrm>
          </p:grpSpPr>
          <p:sp>
            <p:nvSpPr>
              <p:cNvPr id="175" name="Google Shape;175;p21"/>
              <p:cNvSpPr txBox="1"/>
              <p:nvPr/>
            </p:nvSpPr>
            <p:spPr>
              <a:xfrm>
                <a:off x="6295300" y="264217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CPU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176" name="Google Shape;176;p21"/>
              <p:cNvGrpSpPr/>
              <p:nvPr/>
            </p:nvGrpSpPr>
            <p:grpSpPr>
              <a:xfrm>
                <a:off x="6161500" y="3042363"/>
                <a:ext cx="1338300" cy="1401900"/>
                <a:chOff x="6161500" y="3042363"/>
                <a:chExt cx="1338300" cy="1401900"/>
              </a:xfrm>
            </p:grpSpPr>
            <p:sp>
              <p:nvSpPr>
                <p:cNvPr id="177" name="Google Shape;177;p21"/>
                <p:cNvSpPr/>
                <p:nvPr/>
              </p:nvSpPr>
              <p:spPr>
                <a:xfrm>
                  <a:off x="6161500" y="3042363"/>
                  <a:ext cx="1338300" cy="1401900"/>
                </a:xfrm>
                <a:prstGeom prst="rect">
                  <a:avLst/>
                </a:prstGeom>
                <a:solidFill>
                  <a:srgbClr val="FFE599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78" name="Google Shape;178;p21"/>
                <p:cNvGrpSpPr/>
                <p:nvPr/>
              </p:nvGrpSpPr>
              <p:grpSpPr>
                <a:xfrm>
                  <a:off x="6213550" y="3096950"/>
                  <a:ext cx="1096575" cy="400200"/>
                  <a:chOff x="6213550" y="3096950"/>
                  <a:chExt cx="1096575" cy="400200"/>
                </a:xfrm>
              </p:grpSpPr>
              <p:sp>
                <p:nvSpPr>
                  <p:cNvPr id="179" name="Google Shape;179;p21"/>
                  <p:cNvSpPr/>
                  <p:nvPr/>
                </p:nvSpPr>
                <p:spPr>
                  <a:xfrm>
                    <a:off x="6618625" y="3212150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" name="Google Shape;180;p21"/>
                  <p:cNvSpPr txBox="1"/>
                  <p:nvPr/>
                </p:nvSpPr>
                <p:spPr>
                  <a:xfrm>
                    <a:off x="6213550" y="3096950"/>
                    <a:ext cx="427500" cy="400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PC</a:t>
                    </a:r>
                    <a:endParaRPr b="1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</p:grpSp>
            <p:grpSp>
              <p:nvGrpSpPr>
                <p:cNvPr id="181" name="Google Shape;181;p21"/>
                <p:cNvGrpSpPr/>
                <p:nvPr/>
              </p:nvGrpSpPr>
              <p:grpSpPr>
                <a:xfrm>
                  <a:off x="6213550" y="3412550"/>
                  <a:ext cx="1096575" cy="400200"/>
                  <a:chOff x="6213550" y="3412550"/>
                  <a:chExt cx="1096575" cy="400200"/>
                </a:xfrm>
              </p:grpSpPr>
              <p:sp>
                <p:nvSpPr>
                  <p:cNvPr id="182" name="Google Shape;182;p21"/>
                  <p:cNvSpPr txBox="1"/>
                  <p:nvPr/>
                </p:nvSpPr>
                <p:spPr>
                  <a:xfrm>
                    <a:off x="6213550" y="3412550"/>
                    <a:ext cx="427500" cy="400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SP</a:t>
                    </a:r>
                    <a:endParaRPr b="1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183" name="Google Shape;183;p21"/>
                  <p:cNvSpPr/>
                  <p:nvPr/>
                </p:nvSpPr>
                <p:spPr>
                  <a:xfrm>
                    <a:off x="6618625" y="3520825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84" name="Google Shape;184;p21"/>
                <p:cNvSpPr txBox="1"/>
                <p:nvPr/>
              </p:nvSpPr>
              <p:spPr>
                <a:xfrm>
                  <a:off x="6566050" y="3744900"/>
                  <a:ext cx="529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...</a:t>
                  </a:r>
                  <a:endParaRPr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185" name="Google Shape;185;p21"/>
              <p:cNvSpPr txBox="1"/>
              <p:nvPr/>
            </p:nvSpPr>
            <p:spPr>
              <a:xfrm>
                <a:off x="6161500" y="4392850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Registros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86" name="Google Shape;186;p21"/>
            <p:cNvSpPr/>
            <p:nvPr/>
          </p:nvSpPr>
          <p:spPr>
            <a:xfrm>
              <a:off x="7948250" y="2813125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87;p21"/>
            <p:cNvGrpSpPr/>
            <p:nvPr/>
          </p:nvGrpSpPr>
          <p:grpSpPr>
            <a:xfrm>
              <a:off x="7805450" y="2441425"/>
              <a:ext cx="1368600" cy="2457250"/>
              <a:chOff x="7805450" y="2441425"/>
              <a:chExt cx="1368600" cy="2457250"/>
            </a:xfrm>
          </p:grpSpPr>
          <p:grpSp>
            <p:nvGrpSpPr>
              <p:cNvPr id="188" name="Google Shape;188;p21"/>
              <p:cNvGrpSpPr/>
              <p:nvPr/>
            </p:nvGrpSpPr>
            <p:grpSpPr>
              <a:xfrm>
                <a:off x="7948250" y="2813125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89" name="Google Shape;189;p21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90" name="Google Shape;190;p21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191" name="Google Shape;191;p21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192" name="Google Shape;192;p21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193" name="Google Shape;193;p21"/>
                <p:cNvCxnSpPr>
                  <a:stCxn id="191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4" name="Google Shape;194;p21"/>
                <p:cNvCxnSpPr>
                  <a:stCxn id="192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195" name="Google Shape;195;p21"/>
              <p:cNvSpPr txBox="1"/>
              <p:nvPr/>
            </p:nvSpPr>
            <p:spPr>
              <a:xfrm>
                <a:off x="8001200" y="244142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MM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96" name="Google Shape;196;p21"/>
              <p:cNvSpPr txBox="1"/>
              <p:nvPr/>
            </p:nvSpPr>
            <p:spPr>
              <a:xfrm>
                <a:off x="7805450" y="4544675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 dirty="0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Address </a:t>
                </a:r>
                <a:r>
                  <a:rPr lang="es-ES" sz="1100" b="1" dirty="0" err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Space</a:t>
                </a:r>
                <a:endParaRPr sz="1100" b="1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97" name="Google Shape;197;p21"/>
            <p:cNvSpPr/>
            <p:nvPr/>
          </p:nvSpPr>
          <p:spPr>
            <a:xfrm>
              <a:off x="6930600" y="5055800"/>
              <a:ext cx="1446900" cy="4683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I/O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198" name="Google Shape;198;p21"/>
          <p:cNvCxnSpPr>
            <a:stCxn id="171" idx="3"/>
          </p:cNvCxnSpPr>
          <p:nvPr/>
        </p:nvCxnSpPr>
        <p:spPr>
          <a:xfrm rot="10800000" flipH="1">
            <a:off x="4153984" y="3710567"/>
            <a:ext cx="2035200" cy="324000"/>
          </a:xfrm>
          <a:prstGeom prst="straightConnector1">
            <a:avLst/>
          </a:prstGeom>
          <a:noFill/>
          <a:ln w="38100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99" name="Google Shape;19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78075" y="4034575"/>
            <a:ext cx="787000" cy="7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916650" y="5069875"/>
            <a:ext cx="5562600" cy="507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>
                <a:latin typeface="Courier New"/>
                <a:ea typeface="Courier New"/>
                <a:cs typeface="Courier New"/>
                <a:sym typeface="Courier New"/>
              </a:rPr>
              <a:t>Proceso = CPU + Memory + I/O </a:t>
            </a:r>
            <a:r>
              <a:rPr lang="es-ES" sz="2100" b="1" dirty="0" err="1"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endParaRPr sz="2100"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206" name="Google Shape;206;p22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10919700" cy="56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Virtualización de CPU - </a:t>
            </a:r>
            <a:r>
              <a:rPr lang="es-ES" sz="2800" b="1" dirty="0">
                <a:solidFill>
                  <a:srgbClr val="E46C0A"/>
                </a:solidFill>
              </a:rPr>
              <a:t>Mecanismos: LDE </a:t>
            </a:r>
            <a:endParaRPr sz="2200" b="1" dirty="0">
              <a:solidFill>
                <a:srgbClr val="E46C0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7" name="Google Shape;207;p22"/>
          <p:cNvSpPr txBox="1"/>
          <p:nvPr/>
        </p:nvSpPr>
        <p:spPr>
          <a:xfrm>
            <a:off x="1241775" y="2256575"/>
            <a:ext cx="2454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s-ES" sz="40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imited</a:t>
            </a:r>
            <a:endParaRPr sz="400"/>
          </a:p>
        </p:txBody>
      </p:sp>
      <p:sp>
        <p:nvSpPr>
          <p:cNvPr id="208" name="Google Shape;208;p22"/>
          <p:cNvSpPr txBox="1"/>
          <p:nvPr/>
        </p:nvSpPr>
        <p:spPr>
          <a:xfrm>
            <a:off x="765575" y="4712725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s-ES" sz="40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irect</a:t>
            </a:r>
            <a:r>
              <a:rPr lang="es-ES" sz="40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4000" b="1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s-ES" sz="40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xecution</a:t>
            </a:r>
            <a:endParaRPr sz="4000" b="1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09" name="Google Shape;209;p22"/>
          <p:cNvGrpSpPr/>
          <p:nvPr/>
        </p:nvGrpSpPr>
        <p:grpSpPr>
          <a:xfrm>
            <a:off x="4859787" y="4636525"/>
            <a:ext cx="4071387" cy="2104725"/>
            <a:chOff x="6078988" y="4636525"/>
            <a:chExt cx="4071387" cy="2104725"/>
          </a:xfrm>
        </p:grpSpPr>
        <p:pic>
          <p:nvPicPr>
            <p:cNvPr id="210" name="Google Shape;210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21725" y="5112600"/>
              <a:ext cx="1628650" cy="1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22"/>
            <p:cNvSpPr/>
            <p:nvPr/>
          </p:nvSpPr>
          <p:spPr>
            <a:xfrm>
              <a:off x="6101388" y="4712736"/>
              <a:ext cx="675000" cy="6729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rgbClr val="44546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600">
                <a:solidFill>
                  <a:srgbClr val="44546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6078988" y="5839750"/>
              <a:ext cx="699000" cy="6729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P2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13" name="Google Shape;21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00012" y="4636525"/>
              <a:ext cx="952287" cy="949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4" name="Google Shape;214;p22"/>
            <p:cNvGrpSpPr/>
            <p:nvPr/>
          </p:nvGrpSpPr>
          <p:grpSpPr>
            <a:xfrm>
              <a:off x="6887900" y="5260475"/>
              <a:ext cx="1523925" cy="672900"/>
              <a:chOff x="5897300" y="5184275"/>
              <a:chExt cx="1523925" cy="672900"/>
            </a:xfrm>
          </p:grpSpPr>
          <p:cxnSp>
            <p:nvCxnSpPr>
              <p:cNvPr id="215" name="Google Shape;215;p22"/>
              <p:cNvCxnSpPr/>
              <p:nvPr/>
            </p:nvCxnSpPr>
            <p:spPr>
              <a:xfrm>
                <a:off x="5897300" y="5184275"/>
                <a:ext cx="543600" cy="67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88888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16" name="Google Shape;216;p22"/>
              <p:cNvCxnSpPr/>
              <p:nvPr/>
            </p:nvCxnSpPr>
            <p:spPr>
              <a:xfrm>
                <a:off x="6449225" y="5827413"/>
                <a:ext cx="972000" cy="45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44546A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17" name="Google Shape;217;p22"/>
            <p:cNvSpPr/>
            <p:nvPr/>
          </p:nvSpPr>
          <p:spPr>
            <a:xfrm>
              <a:off x="8998538" y="5590486"/>
              <a:ext cx="675000" cy="6729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7045838" y="5260475"/>
              <a:ext cx="1206462" cy="495300"/>
            </a:xfrm>
            <a:custGeom>
              <a:avLst/>
              <a:gdLst/>
              <a:ahLst/>
              <a:cxnLst/>
              <a:rect l="l" t="t" r="r" b="b"/>
              <a:pathLst>
                <a:path w="41656" h="19812" extrusionOk="0">
                  <a:moveTo>
                    <a:pt x="0" y="0"/>
                  </a:moveTo>
                  <a:cubicBezTo>
                    <a:pt x="1947" y="2201"/>
                    <a:pt x="7705" y="10075"/>
                    <a:pt x="11684" y="13208"/>
                  </a:cubicBezTo>
                  <a:cubicBezTo>
                    <a:pt x="15663" y="16341"/>
                    <a:pt x="18881" y="17695"/>
                    <a:pt x="23876" y="18796"/>
                  </a:cubicBezTo>
                  <a:cubicBezTo>
                    <a:pt x="28871" y="19897"/>
                    <a:pt x="38693" y="19643"/>
                    <a:pt x="41656" y="19812"/>
                  </a:cubicBezTo>
                </a:path>
              </a:pathLst>
            </a:custGeom>
            <a:noFill/>
            <a:ln w="38100" cap="flat" cmpd="sng">
              <a:solidFill>
                <a:srgbClr val="70AD47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19" name="Google Shape;219;p22"/>
          <p:cNvGrpSpPr/>
          <p:nvPr/>
        </p:nvGrpSpPr>
        <p:grpSpPr>
          <a:xfrm>
            <a:off x="3807175" y="2256563"/>
            <a:ext cx="5905400" cy="2132413"/>
            <a:chOff x="4721575" y="2256563"/>
            <a:chExt cx="5905400" cy="2132413"/>
          </a:xfrm>
        </p:grpSpPr>
        <p:cxnSp>
          <p:nvCxnSpPr>
            <p:cNvPr id="220" name="Google Shape;220;p22"/>
            <p:cNvCxnSpPr/>
            <p:nvPr/>
          </p:nvCxnSpPr>
          <p:spPr>
            <a:xfrm>
              <a:off x="5756100" y="2622113"/>
              <a:ext cx="1061100" cy="4500"/>
            </a:xfrm>
            <a:prstGeom prst="straightConnector1">
              <a:avLst/>
            </a:prstGeom>
            <a:noFill/>
            <a:ln w="38100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1" name="Google Shape;221;p22"/>
            <p:cNvSpPr/>
            <p:nvPr/>
          </p:nvSpPr>
          <p:spPr>
            <a:xfrm>
              <a:off x="4721575" y="3248975"/>
              <a:ext cx="5880000" cy="11400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2" name="Google Shape;222;p22"/>
            <p:cNvCxnSpPr/>
            <p:nvPr/>
          </p:nvCxnSpPr>
          <p:spPr>
            <a:xfrm rot="10800000" flipH="1">
              <a:off x="7074225" y="3864188"/>
              <a:ext cx="1054500" cy="5100"/>
            </a:xfrm>
            <a:prstGeom prst="straightConnector1">
              <a:avLst/>
            </a:prstGeom>
            <a:noFill/>
            <a:ln w="38100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3" name="Google Shape;223;p22"/>
            <p:cNvCxnSpPr/>
            <p:nvPr/>
          </p:nvCxnSpPr>
          <p:spPr>
            <a:xfrm>
              <a:off x="6817200" y="2607825"/>
              <a:ext cx="247200" cy="1317900"/>
            </a:xfrm>
            <a:prstGeom prst="straightConnector1">
              <a:avLst/>
            </a:prstGeom>
            <a:noFill/>
            <a:ln w="38100" cap="flat" cmpd="sng">
              <a:solidFill>
                <a:srgbClr val="ED7D3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4" name="Google Shape;224;p22"/>
            <p:cNvCxnSpPr/>
            <p:nvPr/>
          </p:nvCxnSpPr>
          <p:spPr>
            <a:xfrm rot="10800000" flipH="1">
              <a:off x="8128725" y="2570263"/>
              <a:ext cx="247200" cy="1317900"/>
            </a:xfrm>
            <a:prstGeom prst="straightConnector1">
              <a:avLst/>
            </a:prstGeom>
            <a:noFill/>
            <a:ln w="19050" cap="flat" cmpd="sng">
              <a:solidFill>
                <a:srgbClr val="3A81B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5" name="Google Shape;225;p22"/>
            <p:cNvCxnSpPr/>
            <p:nvPr/>
          </p:nvCxnSpPr>
          <p:spPr>
            <a:xfrm>
              <a:off x="8375925" y="2617463"/>
              <a:ext cx="992100" cy="9300"/>
            </a:xfrm>
            <a:prstGeom prst="straightConnector1">
              <a:avLst/>
            </a:prstGeom>
            <a:noFill/>
            <a:ln w="38100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6" name="Google Shape;226;p22"/>
            <p:cNvSpPr/>
            <p:nvPr/>
          </p:nvSpPr>
          <p:spPr>
            <a:xfrm>
              <a:off x="4973450" y="3501200"/>
              <a:ext cx="731100" cy="7311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SO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27" name="Google Shape;227;p22"/>
            <p:cNvSpPr/>
            <p:nvPr/>
          </p:nvSpPr>
          <p:spPr>
            <a:xfrm>
              <a:off x="4973438" y="2256563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28" name="Google Shape;228;p22"/>
            <p:cNvCxnSpPr/>
            <p:nvPr/>
          </p:nvCxnSpPr>
          <p:spPr>
            <a:xfrm rot="10800000" flipH="1">
              <a:off x="4746975" y="3236175"/>
              <a:ext cx="5880000" cy="25500"/>
            </a:xfrm>
            <a:prstGeom prst="straightConnector1">
              <a:avLst/>
            </a:prstGeom>
            <a:noFill/>
            <a:ln w="19050" cap="flat" cmpd="sng">
              <a:solidFill>
                <a:srgbClr val="44546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29" name="Google Shape;229;p22"/>
            <p:cNvSpPr txBox="1"/>
            <p:nvPr/>
          </p:nvSpPr>
          <p:spPr>
            <a:xfrm>
              <a:off x="9339525" y="2763175"/>
              <a:ext cx="120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Usuario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0" name="Google Shape;230;p22"/>
            <p:cNvSpPr txBox="1"/>
            <p:nvPr/>
          </p:nvSpPr>
          <p:spPr>
            <a:xfrm>
              <a:off x="9364050" y="3289650"/>
              <a:ext cx="120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urier New"/>
                  <a:ea typeface="Courier New"/>
                  <a:cs typeface="Courier New"/>
                  <a:sym typeface="Courier New"/>
                </a:rPr>
                <a:t>Kernel</a:t>
              </a:r>
              <a:endParaRPr sz="16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231" name="Google Shape;231;p22"/>
          <p:cNvSpPr txBox="1"/>
          <p:nvPr/>
        </p:nvSpPr>
        <p:spPr>
          <a:xfrm>
            <a:off x="9823975" y="3044975"/>
            <a:ext cx="21111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Eventos:</a:t>
            </a:r>
            <a:endParaRPr sz="16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Excepción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Syscall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Interrupción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991575" y="2256575"/>
            <a:ext cx="457218" cy="409752"/>
          </a:xfrm>
          <a:prstGeom prst="irregularSeal2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3" name="Google Shape;233;p22"/>
          <p:cNvCxnSpPr/>
          <p:nvPr/>
        </p:nvCxnSpPr>
        <p:spPr>
          <a:xfrm>
            <a:off x="6588325" y="2448875"/>
            <a:ext cx="3784800" cy="635100"/>
          </a:xfrm>
          <a:prstGeom prst="bentConnector3">
            <a:avLst>
              <a:gd name="adj1" fmla="val 99999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239" name="Google Shape;239;p23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10919700" cy="56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1"/>
                </a:solidFill>
              </a:rPr>
              <a:t>Virtualización de CPU - </a:t>
            </a:r>
            <a:r>
              <a:rPr lang="es-ES" sz="2800" b="1">
                <a:solidFill>
                  <a:srgbClr val="E46C0A"/>
                </a:solidFill>
              </a:rPr>
              <a:t>Políticas </a:t>
            </a:r>
            <a:endParaRPr sz="2200" b="1">
              <a:solidFill>
                <a:srgbClr val="E46C0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838200" y="1804900"/>
            <a:ext cx="10690500" cy="48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6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41" name="Google Shape;241;p23"/>
          <p:cNvGraphicFramePr/>
          <p:nvPr/>
        </p:nvGraphicFramePr>
        <p:xfrm>
          <a:off x="7950100" y="3271838"/>
          <a:ext cx="3025625" cy="8562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2" name="Google Shape;242;p23"/>
          <p:cNvCxnSpPr/>
          <p:nvPr/>
        </p:nvCxnSpPr>
        <p:spPr>
          <a:xfrm>
            <a:off x="7947325" y="3021200"/>
            <a:ext cx="4005300" cy="1117500"/>
          </a:xfrm>
          <a:prstGeom prst="bentConnector3">
            <a:avLst>
              <a:gd name="adj1" fmla="val 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3" name="Google Shape;243;p23"/>
          <p:cNvSpPr txBox="1"/>
          <p:nvPr/>
        </p:nvSpPr>
        <p:spPr>
          <a:xfrm>
            <a:off x="7074575" y="3392013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11321975" y="3665575"/>
            <a:ext cx="76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1018825" y="2347275"/>
            <a:ext cx="1066800" cy="297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9E9E9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8399200" y="2857674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47" name="Google Shape;247;p23"/>
          <p:cNvSpPr/>
          <p:nvPr/>
        </p:nvSpPr>
        <p:spPr>
          <a:xfrm>
            <a:off x="8981125" y="2847399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48" name="Google Shape;248;p23"/>
          <p:cNvSpPr/>
          <p:nvPr/>
        </p:nvSpPr>
        <p:spPr>
          <a:xfrm>
            <a:off x="9563050" y="2837924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49" name="Google Shape;249;p23"/>
          <p:cNvSpPr txBox="1"/>
          <p:nvPr/>
        </p:nvSpPr>
        <p:spPr>
          <a:xfrm>
            <a:off x="8337825" y="252832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rgbClr val="ED7D3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8919375" y="25069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rgbClr val="ED7D3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9483400" y="25069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rgbClr val="ED7D3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1186675" y="2672175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1193800" y="3712213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54" name="Google Shape;2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3900" y="3120200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5213" y="2443122"/>
            <a:ext cx="1213362" cy="1209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23"/>
          <p:cNvCxnSpPr/>
          <p:nvPr/>
        </p:nvCxnSpPr>
        <p:spPr>
          <a:xfrm>
            <a:off x="2168875" y="3121975"/>
            <a:ext cx="863100" cy="619800"/>
          </a:xfrm>
          <a:prstGeom prst="straightConnector1">
            <a:avLst/>
          </a:prstGeom>
          <a:noFill/>
          <a:ln w="28575" cap="flat" cmpd="sng">
            <a:solidFill>
              <a:srgbClr val="888888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7" name="Google Shape;257;p23"/>
          <p:cNvCxnSpPr/>
          <p:nvPr/>
        </p:nvCxnSpPr>
        <p:spPr>
          <a:xfrm>
            <a:off x="3040075" y="3712213"/>
            <a:ext cx="1816800" cy="0"/>
          </a:xfrm>
          <a:prstGeom prst="straightConnector1">
            <a:avLst/>
          </a:prstGeom>
          <a:noFill/>
          <a:ln w="38100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8" name="Google Shape;258;p23"/>
          <p:cNvSpPr/>
          <p:nvPr/>
        </p:nvSpPr>
        <p:spPr>
          <a:xfrm>
            <a:off x="2707878" y="3207625"/>
            <a:ext cx="258350" cy="891975"/>
          </a:xfrm>
          <a:custGeom>
            <a:avLst/>
            <a:gdLst/>
            <a:ahLst/>
            <a:cxnLst/>
            <a:rect l="l" t="t" r="r" b="b"/>
            <a:pathLst>
              <a:path w="10334" h="35679" extrusionOk="0">
                <a:moveTo>
                  <a:pt x="10334" y="0"/>
                </a:moveTo>
                <a:cubicBezTo>
                  <a:pt x="8872" y="1852"/>
                  <a:pt x="3120" y="7116"/>
                  <a:pt x="1560" y="11113"/>
                </a:cubicBezTo>
                <a:cubicBezTo>
                  <a:pt x="0" y="15110"/>
                  <a:pt x="-487" y="19887"/>
                  <a:pt x="975" y="23981"/>
                </a:cubicBezTo>
                <a:cubicBezTo>
                  <a:pt x="2437" y="28075"/>
                  <a:pt x="8774" y="33729"/>
                  <a:pt x="10334" y="35679"/>
                </a:cubicBezTo>
              </a:path>
            </a:pathLst>
          </a:custGeom>
          <a:noFill/>
          <a:ln w="28575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59" name="Google Shape;259;p23"/>
          <p:cNvSpPr txBox="1"/>
          <p:nvPr/>
        </p:nvSpPr>
        <p:spPr>
          <a:xfrm>
            <a:off x="2208600" y="3418500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 b="1">
              <a:solidFill>
                <a:srgbClr val="ED7D3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 flipH="1">
            <a:off x="3007299" y="2045275"/>
            <a:ext cx="142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Scheduler</a:t>
            </a:r>
            <a:endParaRPr sz="1800" b="1" dirty="0">
              <a:solidFill>
                <a:srgbClr val="0B693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1190275" y="4637975"/>
            <a:ext cx="72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 flipH="1">
            <a:off x="2707875" y="4917475"/>
            <a:ext cx="156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Workload</a:t>
            </a:r>
            <a:endParaRPr sz="18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63" name="Google Shape;263;p23"/>
          <p:cNvCxnSpPr>
            <a:stCxn id="262" idx="3"/>
          </p:cNvCxnSpPr>
          <p:nvPr/>
        </p:nvCxnSpPr>
        <p:spPr>
          <a:xfrm rot="10800000">
            <a:off x="2194275" y="5001625"/>
            <a:ext cx="513600" cy="146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64" name="Google Shape;26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9675" y="4591266"/>
            <a:ext cx="1429200" cy="1114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270" name="Google Shape;270;p24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10919700" cy="56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Virtualización de CPU - </a:t>
            </a:r>
            <a:r>
              <a:rPr lang="es-ES" sz="2800" b="1" dirty="0">
                <a:solidFill>
                  <a:srgbClr val="E46C0A"/>
                </a:solidFill>
              </a:rPr>
              <a:t>Políticas </a:t>
            </a:r>
            <a:endParaRPr sz="2200" b="1" dirty="0">
              <a:solidFill>
                <a:srgbClr val="E46C0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71" name="Google Shape;2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742" y="4149947"/>
            <a:ext cx="1616025" cy="161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5852" y="3288308"/>
            <a:ext cx="731100" cy="64608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/>
          <p:nvPr/>
        </p:nvSpPr>
        <p:spPr>
          <a:xfrm>
            <a:off x="2749750" y="2116852"/>
            <a:ext cx="258300" cy="2832300"/>
          </a:xfrm>
          <a:prstGeom prst="leftBrace">
            <a:avLst>
              <a:gd name="adj1" fmla="val 39904"/>
              <a:gd name="adj2" fmla="val 4985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3008050" y="2258488"/>
            <a:ext cx="10668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FCFS</a:t>
            </a:r>
            <a:r>
              <a:rPr lang="es-ES" sz="26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3021375" y="2964463"/>
            <a:ext cx="10668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SJF</a:t>
            </a:r>
            <a:r>
              <a:rPr lang="es-ES" sz="26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3021375" y="3670438"/>
            <a:ext cx="10668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STCF</a:t>
            </a:r>
            <a:r>
              <a:rPr lang="es-ES" sz="26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3008050" y="4376413"/>
            <a:ext cx="10668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RR</a:t>
            </a:r>
            <a:r>
              <a:rPr lang="es-ES" sz="26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78" name="Google Shape;278;p24"/>
          <p:cNvGrpSpPr/>
          <p:nvPr/>
        </p:nvGrpSpPr>
        <p:grpSpPr>
          <a:xfrm>
            <a:off x="8448450" y="2713923"/>
            <a:ext cx="2980850" cy="2344150"/>
            <a:chOff x="8761000" y="1591973"/>
            <a:chExt cx="2980850" cy="2344150"/>
          </a:xfrm>
        </p:grpSpPr>
        <p:grpSp>
          <p:nvGrpSpPr>
            <p:cNvPr id="279" name="Google Shape;279;p24"/>
            <p:cNvGrpSpPr/>
            <p:nvPr/>
          </p:nvGrpSpPr>
          <p:grpSpPr>
            <a:xfrm>
              <a:off x="8761000" y="1612288"/>
              <a:ext cx="749400" cy="2281950"/>
              <a:chOff x="8520500" y="1282075"/>
              <a:chExt cx="749400" cy="2281950"/>
            </a:xfrm>
          </p:grpSpPr>
          <p:sp>
            <p:nvSpPr>
              <p:cNvPr id="280" name="Google Shape;280;p24"/>
              <p:cNvSpPr txBox="1"/>
              <p:nvPr/>
            </p:nvSpPr>
            <p:spPr>
              <a:xfrm>
                <a:off x="8582450" y="1282075"/>
                <a:ext cx="6255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latin typeface="Courier New"/>
                    <a:ea typeface="Courier New"/>
                    <a:cs typeface="Courier New"/>
                    <a:sym typeface="Courier New"/>
                  </a:rPr>
                  <a:t>Q3</a:t>
                </a:r>
                <a:endParaRPr sz="24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81" name="Google Shape;281;p24"/>
              <p:cNvSpPr txBox="1"/>
              <p:nvPr/>
            </p:nvSpPr>
            <p:spPr>
              <a:xfrm>
                <a:off x="8520500" y="1875775"/>
                <a:ext cx="7494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latin typeface="Courier New"/>
                    <a:ea typeface="Courier New"/>
                    <a:cs typeface="Courier New"/>
                    <a:sym typeface="Courier New"/>
                  </a:rPr>
                  <a:t>Q2</a:t>
                </a:r>
                <a:endParaRPr sz="24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82" name="Google Shape;282;p24"/>
              <p:cNvSpPr txBox="1"/>
              <p:nvPr/>
            </p:nvSpPr>
            <p:spPr>
              <a:xfrm>
                <a:off x="8520500" y="2442850"/>
                <a:ext cx="7494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latin typeface="Courier New"/>
                    <a:ea typeface="Courier New"/>
                    <a:cs typeface="Courier New"/>
                    <a:sym typeface="Courier New"/>
                  </a:rPr>
                  <a:t>Q1</a:t>
                </a:r>
                <a:endParaRPr sz="24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83" name="Google Shape;283;p24"/>
              <p:cNvSpPr txBox="1"/>
              <p:nvPr/>
            </p:nvSpPr>
            <p:spPr>
              <a:xfrm>
                <a:off x="8520500" y="3009925"/>
                <a:ext cx="7494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latin typeface="Courier New"/>
                    <a:ea typeface="Courier New"/>
                    <a:cs typeface="Courier New"/>
                    <a:sym typeface="Courier New"/>
                  </a:rPr>
                  <a:t>Q0</a:t>
                </a:r>
                <a:endParaRPr sz="24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284" name="Google Shape;284;p24"/>
            <p:cNvSpPr/>
            <p:nvPr/>
          </p:nvSpPr>
          <p:spPr>
            <a:xfrm>
              <a:off x="9974638" y="1591973"/>
              <a:ext cx="608400" cy="5973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10000050" y="2240273"/>
              <a:ext cx="608400" cy="597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10000050" y="3338823"/>
              <a:ext cx="608400" cy="597300"/>
            </a:xfrm>
            <a:prstGeom prst="ellipse">
              <a:avLst/>
            </a:prstGeom>
            <a:solidFill>
              <a:srgbClr val="F9CB9C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C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11133450" y="3338823"/>
              <a:ext cx="608400" cy="5973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D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88" name="Google Shape;288;p24"/>
            <p:cNvCxnSpPr/>
            <p:nvPr/>
          </p:nvCxnSpPr>
          <p:spPr>
            <a:xfrm rot="10800000" flipH="1">
              <a:off x="9449638" y="1890023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9" name="Google Shape;289;p24"/>
            <p:cNvCxnSpPr/>
            <p:nvPr/>
          </p:nvCxnSpPr>
          <p:spPr>
            <a:xfrm rot="10800000" flipH="1">
              <a:off x="9449638" y="3648148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0" name="Google Shape;290;p24"/>
            <p:cNvCxnSpPr/>
            <p:nvPr/>
          </p:nvCxnSpPr>
          <p:spPr>
            <a:xfrm rot="10800000" flipH="1">
              <a:off x="10608438" y="3636873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1" name="Google Shape;291;p24"/>
            <p:cNvCxnSpPr/>
            <p:nvPr/>
          </p:nvCxnSpPr>
          <p:spPr>
            <a:xfrm rot="10800000" flipH="1">
              <a:off x="9475038" y="2538323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92" name="Google Shape;292;p24"/>
          <p:cNvSpPr/>
          <p:nvPr/>
        </p:nvSpPr>
        <p:spPr>
          <a:xfrm>
            <a:off x="9405475" y="2001888"/>
            <a:ext cx="1066800" cy="4311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rgbClr val="ED7D31"/>
                </a:solidFill>
                <a:latin typeface="Courier New"/>
                <a:ea typeface="Courier New"/>
                <a:cs typeface="Courier New"/>
                <a:sym typeface="Courier New"/>
              </a:rPr>
              <a:t>MLFQ</a:t>
            </a:r>
            <a:r>
              <a:rPr lang="es-ES" sz="26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93" name="Google Shape;293;p24"/>
          <p:cNvGrpSpPr/>
          <p:nvPr/>
        </p:nvGrpSpPr>
        <p:grpSpPr>
          <a:xfrm>
            <a:off x="4522600" y="2377850"/>
            <a:ext cx="3478100" cy="1266363"/>
            <a:chOff x="4356950" y="5236400"/>
            <a:chExt cx="3478100" cy="1266363"/>
          </a:xfrm>
        </p:grpSpPr>
        <p:grpSp>
          <p:nvGrpSpPr>
            <p:cNvPr id="294" name="Google Shape;294;p24"/>
            <p:cNvGrpSpPr/>
            <p:nvPr/>
          </p:nvGrpSpPr>
          <p:grpSpPr>
            <a:xfrm>
              <a:off x="4356950" y="5236400"/>
              <a:ext cx="3478100" cy="648900"/>
              <a:chOff x="5818900" y="4196550"/>
              <a:chExt cx="3478100" cy="648900"/>
            </a:xfrm>
          </p:grpSpPr>
          <p:sp>
            <p:nvSpPr>
              <p:cNvPr id="295" name="Google Shape;295;p24"/>
              <p:cNvSpPr/>
              <p:nvPr/>
            </p:nvSpPr>
            <p:spPr>
              <a:xfrm>
                <a:off x="58189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296" name="Google Shape;296;p24"/>
              <p:cNvSpPr/>
              <p:nvPr/>
            </p:nvSpPr>
            <p:spPr>
              <a:xfrm>
                <a:off x="653257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297" name="Google Shape;297;p24"/>
              <p:cNvSpPr/>
              <p:nvPr/>
            </p:nvSpPr>
            <p:spPr>
              <a:xfrm>
                <a:off x="724625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298" name="Google Shape;298;p24"/>
              <p:cNvSpPr/>
              <p:nvPr/>
            </p:nvSpPr>
            <p:spPr>
              <a:xfrm>
                <a:off x="795992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299" name="Google Shape;299;p24"/>
              <p:cNvSpPr/>
              <p:nvPr/>
            </p:nvSpPr>
            <p:spPr>
              <a:xfrm>
                <a:off x="86736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300" name="Google Shape;300;p24"/>
            <p:cNvGrpSpPr/>
            <p:nvPr/>
          </p:nvGrpSpPr>
          <p:grpSpPr>
            <a:xfrm>
              <a:off x="4447000" y="6064350"/>
              <a:ext cx="3357275" cy="438413"/>
              <a:chOff x="4447000" y="6064350"/>
              <a:chExt cx="3357275" cy="438413"/>
            </a:xfrm>
          </p:grpSpPr>
          <p:pic>
            <p:nvPicPr>
              <p:cNvPr id="301" name="Google Shape;301;p2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47000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2" name="Google Shape;302;p2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160700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3" name="Google Shape;303;p2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874388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4" name="Google Shape;304;p2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617725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5" name="Google Shape;305;p2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361050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306" name="Google Shape;306;p24"/>
          <p:cNvCxnSpPr/>
          <p:nvPr/>
        </p:nvCxnSpPr>
        <p:spPr>
          <a:xfrm>
            <a:off x="4455000" y="3886000"/>
            <a:ext cx="3545700" cy="0"/>
          </a:xfrm>
          <a:prstGeom prst="straightConnector1">
            <a:avLst/>
          </a:prstGeom>
          <a:noFill/>
          <a:ln w="38100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312" name="Google Shape;312;p25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10919700" cy="546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Virtualización de memoria</a:t>
            </a:r>
            <a:endParaRPr sz="22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3" name="Google Shape;313;p25"/>
          <p:cNvSpPr txBox="1"/>
          <p:nvPr/>
        </p:nvSpPr>
        <p:spPr>
          <a:xfrm>
            <a:off x="9395250" y="5304513"/>
            <a:ext cx="22707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9900"/>
                </a:solidFill>
              </a:rPr>
              <a:t>Recurso</a:t>
            </a:r>
            <a:endParaRPr sz="2800" b="1">
              <a:solidFill>
                <a:srgbClr val="FF9900"/>
              </a:solidFill>
            </a:endParaRPr>
          </a:p>
        </p:txBody>
      </p:sp>
      <p:sp>
        <p:nvSpPr>
          <p:cNvPr id="314" name="Google Shape;314;p25"/>
          <p:cNvSpPr txBox="1"/>
          <p:nvPr/>
        </p:nvSpPr>
        <p:spPr>
          <a:xfrm>
            <a:off x="10046575" y="2326450"/>
            <a:ext cx="15777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9900"/>
                </a:solidFill>
              </a:rPr>
              <a:t>Ilusión</a:t>
            </a:r>
            <a:endParaRPr sz="2800" b="1">
              <a:solidFill>
                <a:srgbClr val="FF9900"/>
              </a:solidFill>
            </a:endParaRPr>
          </a:p>
        </p:txBody>
      </p:sp>
      <p:pic>
        <p:nvPicPr>
          <p:cNvPr id="315" name="Google Shape;3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517" y="4660725"/>
            <a:ext cx="1503075" cy="150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6763" y="3831400"/>
            <a:ext cx="2947038" cy="30084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p25"/>
          <p:cNvCxnSpPr/>
          <p:nvPr/>
        </p:nvCxnSpPr>
        <p:spPr>
          <a:xfrm>
            <a:off x="3180175" y="3831388"/>
            <a:ext cx="8444100" cy="117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8" name="Google Shape;31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2363" y="3116300"/>
            <a:ext cx="418425" cy="4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89800" y="3107775"/>
            <a:ext cx="509450" cy="460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5"/>
          <p:cNvSpPr txBox="1"/>
          <p:nvPr/>
        </p:nvSpPr>
        <p:spPr>
          <a:xfrm>
            <a:off x="6787225" y="3099600"/>
            <a:ext cx="970200" cy="477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>
                <a:latin typeface="Courier New"/>
                <a:ea typeface="Courier New"/>
                <a:cs typeface="Courier New"/>
                <a:sym typeface="Courier New"/>
              </a:rPr>
              <a:t>P0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1" name="Google Shape;321;p25"/>
          <p:cNvSpPr txBox="1"/>
          <p:nvPr/>
        </p:nvSpPr>
        <p:spPr>
          <a:xfrm>
            <a:off x="9165400" y="3099613"/>
            <a:ext cx="970200" cy="4770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22" name="Google Shape;322;p25"/>
          <p:cNvGrpSpPr/>
          <p:nvPr/>
        </p:nvGrpSpPr>
        <p:grpSpPr>
          <a:xfrm>
            <a:off x="1425225" y="3241875"/>
            <a:ext cx="1076100" cy="1739700"/>
            <a:chOff x="1775100" y="4022850"/>
            <a:chExt cx="1076100" cy="1739700"/>
          </a:xfrm>
        </p:grpSpPr>
        <p:sp>
          <p:nvSpPr>
            <p:cNvPr id="323" name="Google Shape;323;p25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4" name="Google Shape;324;p25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325" name="Google Shape;325;p25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26" name="Google Shape;326;p25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327" name="Google Shape;327;p25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/>
              </a:p>
            </p:txBody>
          </p:sp>
          <p:sp>
            <p:nvSpPr>
              <p:cNvPr id="328" name="Google Shape;328;p25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/>
              </a:p>
            </p:txBody>
          </p:sp>
          <p:cxnSp>
            <p:nvCxnSpPr>
              <p:cNvPr id="329" name="Google Shape;329;p25"/>
              <p:cNvCxnSpPr>
                <a:stCxn id="327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30" name="Google Shape;330;p25"/>
              <p:cNvCxnSpPr>
                <a:stCxn id="328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331" name="Google Shape;331;p25"/>
          <p:cNvGrpSpPr/>
          <p:nvPr/>
        </p:nvGrpSpPr>
        <p:grpSpPr>
          <a:xfrm>
            <a:off x="6864154" y="1567018"/>
            <a:ext cx="806322" cy="1163511"/>
            <a:chOff x="1775100" y="4022850"/>
            <a:chExt cx="1076100" cy="1739700"/>
          </a:xfrm>
        </p:grpSpPr>
        <p:sp>
          <p:nvSpPr>
            <p:cNvPr id="332" name="Google Shape;332;p25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3" name="Google Shape;333;p25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334" name="Google Shape;334;p25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35" name="Google Shape;335;p25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336" name="Google Shape;336;p25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/>
              </a:p>
            </p:txBody>
          </p:sp>
          <p:sp>
            <p:nvSpPr>
              <p:cNvPr id="337" name="Google Shape;337;p25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/>
              </a:p>
            </p:txBody>
          </p:sp>
          <p:cxnSp>
            <p:nvCxnSpPr>
              <p:cNvPr id="338" name="Google Shape;338;p25"/>
              <p:cNvCxnSpPr>
                <a:stCxn id="336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39" name="Google Shape;339;p25"/>
              <p:cNvCxnSpPr>
                <a:stCxn id="337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340" name="Google Shape;340;p25"/>
          <p:cNvGrpSpPr/>
          <p:nvPr/>
        </p:nvGrpSpPr>
        <p:grpSpPr>
          <a:xfrm>
            <a:off x="9247342" y="1567018"/>
            <a:ext cx="806322" cy="1163511"/>
            <a:chOff x="1775100" y="4022850"/>
            <a:chExt cx="1076100" cy="1739700"/>
          </a:xfrm>
        </p:grpSpPr>
        <p:sp>
          <p:nvSpPr>
            <p:cNvPr id="341" name="Google Shape;341;p25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2" name="Google Shape;342;p25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343" name="Google Shape;343;p25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44" name="Google Shape;344;p25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345" name="Google Shape;345;p25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/>
              </a:p>
            </p:txBody>
          </p:sp>
          <p:sp>
            <p:nvSpPr>
              <p:cNvPr id="346" name="Google Shape;346;p25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/>
              </a:p>
            </p:txBody>
          </p:sp>
          <p:cxnSp>
            <p:nvCxnSpPr>
              <p:cNvPr id="347" name="Google Shape;347;p25"/>
              <p:cNvCxnSpPr>
                <a:stCxn id="345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48" name="Google Shape;348;p25"/>
              <p:cNvCxnSpPr>
                <a:stCxn id="346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354" name="Google Shape;354;p26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10919700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Virtualización de memoria</a:t>
            </a:r>
            <a:endParaRPr sz="22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55" name="Google Shape;3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0509" y="5750794"/>
            <a:ext cx="676475" cy="676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26"/>
          <p:cNvGrpSpPr/>
          <p:nvPr/>
        </p:nvGrpSpPr>
        <p:grpSpPr>
          <a:xfrm>
            <a:off x="1687313" y="4692500"/>
            <a:ext cx="9378375" cy="1156800"/>
            <a:chOff x="1094825" y="3951525"/>
            <a:chExt cx="9378375" cy="1156800"/>
          </a:xfrm>
        </p:grpSpPr>
        <p:grpSp>
          <p:nvGrpSpPr>
            <p:cNvPr id="357" name="Google Shape;357;p26"/>
            <p:cNvGrpSpPr/>
            <p:nvPr/>
          </p:nvGrpSpPr>
          <p:grpSpPr>
            <a:xfrm>
              <a:off x="3591725" y="3951525"/>
              <a:ext cx="4103700" cy="1156800"/>
              <a:chOff x="3401900" y="3904875"/>
              <a:chExt cx="4103700" cy="1156800"/>
            </a:xfrm>
          </p:grpSpPr>
          <p:sp>
            <p:nvSpPr>
              <p:cNvPr id="358" name="Google Shape;358;p26"/>
              <p:cNvSpPr/>
              <p:nvPr/>
            </p:nvSpPr>
            <p:spPr>
              <a:xfrm>
                <a:off x="4883000" y="3904875"/>
                <a:ext cx="1141500" cy="1156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59" name="Google Shape;359;p26"/>
              <p:cNvCxnSpPr/>
              <p:nvPr/>
            </p:nvCxnSpPr>
            <p:spPr>
              <a:xfrm>
                <a:off x="34019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4546A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60" name="Google Shape;360;p26"/>
              <p:cNvCxnSpPr/>
              <p:nvPr/>
            </p:nvCxnSpPr>
            <p:spPr>
              <a:xfrm>
                <a:off x="60245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44546A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361" name="Google Shape;361;p26"/>
            <p:cNvSpPr txBox="1"/>
            <p:nvPr/>
          </p:nvSpPr>
          <p:spPr>
            <a:xfrm>
              <a:off x="1094825" y="4129725"/>
              <a:ext cx="24969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Virtual Address</a:t>
              </a:r>
              <a:endParaRPr sz="2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2" name="Google Shape;362;p26"/>
            <p:cNvSpPr txBox="1"/>
            <p:nvPr/>
          </p:nvSpPr>
          <p:spPr>
            <a:xfrm>
              <a:off x="7793900" y="4129725"/>
              <a:ext cx="2679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sz="2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63" name="Google Shape;363;p26"/>
          <p:cNvGrpSpPr/>
          <p:nvPr/>
        </p:nvGrpSpPr>
        <p:grpSpPr>
          <a:xfrm>
            <a:off x="1733050" y="2309564"/>
            <a:ext cx="2514286" cy="1890706"/>
            <a:chOff x="1378950" y="2483639"/>
            <a:chExt cx="2514286" cy="1890706"/>
          </a:xfrm>
        </p:grpSpPr>
        <p:grpSp>
          <p:nvGrpSpPr>
            <p:cNvPr id="364" name="Google Shape;364;p26"/>
            <p:cNvGrpSpPr/>
            <p:nvPr/>
          </p:nvGrpSpPr>
          <p:grpSpPr>
            <a:xfrm>
              <a:off x="2957029" y="2483639"/>
              <a:ext cx="936207" cy="1890706"/>
              <a:chOff x="1775100" y="4022850"/>
              <a:chExt cx="1076100" cy="1739700"/>
            </a:xfrm>
          </p:grpSpPr>
          <p:sp>
            <p:nvSpPr>
              <p:cNvPr id="365" name="Google Shape;365;p26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66" name="Google Shape;366;p26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367" name="Google Shape;367;p26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368" name="Google Shape;368;p26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369" name="Google Shape;369;p26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370" name="Google Shape;370;p26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371" name="Google Shape;371;p26"/>
                <p:cNvCxnSpPr>
                  <a:stCxn id="369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72" name="Google Shape;372;p26"/>
                <p:cNvCxnSpPr>
                  <a:stCxn id="370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373" name="Google Shape;373;p26"/>
            <p:cNvSpPr/>
            <p:nvPr/>
          </p:nvSpPr>
          <p:spPr>
            <a:xfrm>
              <a:off x="1378950" y="3063450"/>
              <a:ext cx="731100" cy="7311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374" name="Google Shape;374;p26"/>
            <p:cNvCxnSpPr/>
            <p:nvPr/>
          </p:nvCxnSpPr>
          <p:spPr>
            <a:xfrm rot="10800000" flipH="1">
              <a:off x="1781475" y="2484825"/>
              <a:ext cx="1145100" cy="533400"/>
            </a:xfrm>
            <a:prstGeom prst="straightConnector1">
              <a:avLst/>
            </a:prstGeom>
            <a:noFill/>
            <a:ln w="19050" cap="flat" cmpd="sng">
              <a:solidFill>
                <a:srgbClr val="ED7D3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26"/>
            <p:cNvCxnSpPr/>
            <p:nvPr/>
          </p:nvCxnSpPr>
          <p:spPr>
            <a:xfrm>
              <a:off x="1779250" y="3833075"/>
              <a:ext cx="1138500" cy="535800"/>
            </a:xfrm>
            <a:prstGeom prst="straightConnector1">
              <a:avLst/>
            </a:prstGeom>
            <a:noFill/>
            <a:ln w="19050" cap="flat" cmpd="sng">
              <a:solidFill>
                <a:srgbClr val="ED7D3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376" name="Google Shape;376;p26"/>
          <p:cNvSpPr txBox="1"/>
          <p:nvPr/>
        </p:nvSpPr>
        <p:spPr>
          <a:xfrm>
            <a:off x="2216588" y="1730050"/>
            <a:ext cx="197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Mapa de memoria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77" name="Google Shape;377;p26"/>
          <p:cNvGrpSpPr/>
          <p:nvPr/>
        </p:nvGrpSpPr>
        <p:grpSpPr>
          <a:xfrm>
            <a:off x="9357600" y="1810400"/>
            <a:ext cx="822300" cy="2750411"/>
            <a:chOff x="8636788" y="1783150"/>
            <a:chExt cx="822300" cy="2750411"/>
          </a:xfrm>
        </p:grpSpPr>
        <p:sp>
          <p:nvSpPr>
            <p:cNvPr id="378" name="Google Shape;378;p26"/>
            <p:cNvSpPr/>
            <p:nvPr/>
          </p:nvSpPr>
          <p:spPr>
            <a:xfrm>
              <a:off x="8636788" y="1783161"/>
              <a:ext cx="822300" cy="27504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9" name="Google Shape;379;p26"/>
            <p:cNvGrpSpPr/>
            <p:nvPr/>
          </p:nvGrpSpPr>
          <p:grpSpPr>
            <a:xfrm>
              <a:off x="8644770" y="2674080"/>
              <a:ext cx="806322" cy="1056346"/>
              <a:chOff x="1775100" y="4022850"/>
              <a:chExt cx="1076100" cy="1739700"/>
            </a:xfrm>
          </p:grpSpPr>
          <p:sp>
            <p:nvSpPr>
              <p:cNvPr id="380" name="Google Shape;380;p26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1" name="Google Shape;381;p26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382" name="Google Shape;382;p26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383" name="Google Shape;383;p26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 sz="1600"/>
                </a:p>
              </p:txBody>
            </p:sp>
            <p:sp>
              <p:nvSpPr>
                <p:cNvPr id="384" name="Google Shape;384;p26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1600"/>
                </a:p>
              </p:txBody>
            </p:sp>
            <p:sp>
              <p:nvSpPr>
                <p:cNvPr id="385" name="Google Shape;385;p26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1600"/>
                </a:p>
              </p:txBody>
            </p:sp>
            <p:cxnSp>
              <p:nvCxnSpPr>
                <p:cNvPr id="386" name="Google Shape;386;p26"/>
                <p:cNvCxnSpPr>
                  <a:stCxn id="38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87" name="Google Shape;387;p26"/>
                <p:cNvCxnSpPr>
                  <a:stCxn id="38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388" name="Google Shape;388;p26"/>
            <p:cNvSpPr/>
            <p:nvPr/>
          </p:nvSpPr>
          <p:spPr>
            <a:xfrm>
              <a:off x="8636788" y="1783150"/>
              <a:ext cx="822300" cy="5541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OS</a:t>
              </a:r>
              <a:endParaRPr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389" name="Google Shape;389;p26"/>
          <p:cNvCxnSpPr/>
          <p:nvPr/>
        </p:nvCxnSpPr>
        <p:spPr>
          <a:xfrm>
            <a:off x="4319488" y="2315675"/>
            <a:ext cx="4982700" cy="375000"/>
          </a:xfrm>
          <a:prstGeom prst="straightConnector1">
            <a:avLst/>
          </a:prstGeom>
          <a:noFill/>
          <a:ln w="19050" cap="flat" cmpd="sng">
            <a:solidFill>
              <a:srgbClr val="5B9BD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90" name="Google Shape;390;p26"/>
          <p:cNvCxnSpPr/>
          <p:nvPr/>
        </p:nvCxnSpPr>
        <p:spPr>
          <a:xfrm rot="10800000" flipH="1">
            <a:off x="4319488" y="3762300"/>
            <a:ext cx="4982700" cy="455400"/>
          </a:xfrm>
          <a:prstGeom prst="straightConnector1">
            <a:avLst/>
          </a:prstGeom>
          <a:noFill/>
          <a:ln w="19050" cap="flat" cmpd="sng">
            <a:solidFill>
              <a:srgbClr val="5B9BD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1" name="Google Shape;391;p26"/>
          <p:cNvSpPr txBox="1"/>
          <p:nvPr/>
        </p:nvSpPr>
        <p:spPr>
          <a:xfrm>
            <a:off x="2741113" y="2654975"/>
            <a:ext cx="34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</a:t>
            </a:r>
            <a:endParaRPr sz="80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cxnSp>
        <p:nvCxnSpPr>
          <p:cNvPr id="392" name="Google Shape;392;p26"/>
          <p:cNvCxnSpPr>
            <a:stCxn id="368" idx="1"/>
          </p:cNvCxnSpPr>
          <p:nvPr/>
        </p:nvCxnSpPr>
        <p:spPr>
          <a:xfrm flipH="1">
            <a:off x="3085217" y="2807372"/>
            <a:ext cx="228000" cy="3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393" name="Google Shape;393;p26"/>
          <p:cNvSpPr txBox="1"/>
          <p:nvPr/>
        </p:nvSpPr>
        <p:spPr>
          <a:xfrm>
            <a:off x="8785513" y="2807375"/>
            <a:ext cx="34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70AD4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</a:t>
            </a:r>
            <a:endParaRPr sz="800">
              <a:solidFill>
                <a:srgbClr val="70AD47"/>
              </a:solidFill>
              <a:highlight>
                <a:srgbClr val="FFFFFF"/>
              </a:highlight>
            </a:endParaRPr>
          </a:p>
        </p:txBody>
      </p:sp>
      <p:cxnSp>
        <p:nvCxnSpPr>
          <p:cNvPr id="394" name="Google Shape;394;p26"/>
          <p:cNvCxnSpPr/>
          <p:nvPr/>
        </p:nvCxnSpPr>
        <p:spPr>
          <a:xfrm flipH="1">
            <a:off x="9129617" y="2959772"/>
            <a:ext cx="228000" cy="3000"/>
          </a:xfrm>
          <a:prstGeom prst="straightConnector1">
            <a:avLst/>
          </a:prstGeom>
          <a:noFill/>
          <a:ln w="19050" cap="flat" cmpd="sng">
            <a:solidFill>
              <a:srgbClr val="70AD47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95" name="Google Shape;395;p26"/>
          <p:cNvCxnSpPr/>
          <p:nvPr/>
        </p:nvCxnSpPr>
        <p:spPr>
          <a:xfrm>
            <a:off x="4247338" y="2817200"/>
            <a:ext cx="4538700" cy="153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10919700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Virtualización de memoria - Abstracción: Address </a:t>
            </a:r>
            <a:r>
              <a:rPr lang="es-ES" sz="2800" b="1" dirty="0" err="1">
                <a:solidFill>
                  <a:schemeClr val="accent1"/>
                </a:solidFill>
              </a:rPr>
              <a:t>Space</a:t>
            </a:r>
            <a:endParaRPr sz="22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02" name="Google Shape;402;p27"/>
          <p:cNvGrpSpPr/>
          <p:nvPr/>
        </p:nvGrpSpPr>
        <p:grpSpPr>
          <a:xfrm>
            <a:off x="1736019" y="2670424"/>
            <a:ext cx="1122056" cy="2086969"/>
            <a:chOff x="1775100" y="4022829"/>
            <a:chExt cx="1076106" cy="1739721"/>
          </a:xfrm>
        </p:grpSpPr>
        <p:sp>
          <p:nvSpPr>
            <p:cNvPr id="403" name="Google Shape;403;p27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4" name="Google Shape;404;p27"/>
            <p:cNvGrpSpPr/>
            <p:nvPr/>
          </p:nvGrpSpPr>
          <p:grpSpPr>
            <a:xfrm>
              <a:off x="1775100" y="4022829"/>
              <a:ext cx="1076106" cy="1739696"/>
              <a:chOff x="7948250" y="2813104"/>
              <a:chExt cx="1076106" cy="1739696"/>
            </a:xfrm>
          </p:grpSpPr>
          <p:sp>
            <p:nvSpPr>
              <p:cNvPr id="405" name="Google Shape;405;p27"/>
              <p:cNvSpPr/>
              <p:nvPr/>
            </p:nvSpPr>
            <p:spPr>
              <a:xfrm>
                <a:off x="7948256" y="2813104"/>
                <a:ext cx="1076100" cy="592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06" name="Google Shape;406;p27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/>
              </a:p>
            </p:txBody>
          </p:sp>
          <p:sp>
            <p:nvSpPr>
              <p:cNvPr id="407" name="Google Shape;407;p27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/>
              </a:p>
            </p:txBody>
          </p:sp>
          <p:cxnSp>
            <p:nvCxnSpPr>
              <p:cNvPr id="408" name="Google Shape;408;p27"/>
              <p:cNvCxnSpPr>
                <a:stCxn id="406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09" name="Google Shape;409;p27"/>
              <p:cNvCxnSpPr>
                <a:stCxn id="407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10" name="Google Shape;410;p27"/>
          <p:cNvGrpSpPr/>
          <p:nvPr/>
        </p:nvGrpSpPr>
        <p:grpSpPr>
          <a:xfrm>
            <a:off x="6040404" y="2812868"/>
            <a:ext cx="806322" cy="1163511"/>
            <a:chOff x="1775100" y="4022850"/>
            <a:chExt cx="1076100" cy="1739700"/>
          </a:xfrm>
        </p:grpSpPr>
        <p:sp>
          <p:nvSpPr>
            <p:cNvPr id="411" name="Google Shape;411;p27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2" name="Google Shape;412;p27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13" name="Google Shape;413;p27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14" name="Google Shape;414;p27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415" name="Google Shape;415;p27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/>
              </a:p>
            </p:txBody>
          </p:sp>
          <p:sp>
            <p:nvSpPr>
              <p:cNvPr id="416" name="Google Shape;416;p27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/>
              </a:p>
            </p:txBody>
          </p:sp>
          <p:cxnSp>
            <p:nvCxnSpPr>
              <p:cNvPr id="417" name="Google Shape;417;p27"/>
              <p:cNvCxnSpPr>
                <a:stCxn id="415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18" name="Google Shape;418;p27"/>
              <p:cNvCxnSpPr>
                <a:stCxn id="416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19" name="Google Shape;419;p27"/>
          <p:cNvGrpSpPr/>
          <p:nvPr/>
        </p:nvGrpSpPr>
        <p:grpSpPr>
          <a:xfrm>
            <a:off x="6040392" y="4419243"/>
            <a:ext cx="806322" cy="1163511"/>
            <a:chOff x="1775100" y="4022850"/>
            <a:chExt cx="1076100" cy="1739700"/>
          </a:xfrm>
        </p:grpSpPr>
        <p:sp>
          <p:nvSpPr>
            <p:cNvPr id="420" name="Google Shape;420;p27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1" name="Google Shape;421;p27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22" name="Google Shape;422;p27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23" name="Google Shape;423;p27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424" name="Google Shape;424;p27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/>
              </a:p>
            </p:txBody>
          </p:sp>
          <p:sp>
            <p:nvSpPr>
              <p:cNvPr id="425" name="Google Shape;425;p27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/>
              </a:p>
            </p:txBody>
          </p:sp>
          <p:cxnSp>
            <p:nvCxnSpPr>
              <p:cNvPr id="426" name="Google Shape;426;p27"/>
              <p:cNvCxnSpPr>
                <a:stCxn id="424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27" name="Google Shape;427;p27"/>
              <p:cNvCxnSpPr>
                <a:stCxn id="425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28" name="Google Shape;428;p27"/>
          <p:cNvGrpSpPr/>
          <p:nvPr/>
        </p:nvGrpSpPr>
        <p:grpSpPr>
          <a:xfrm>
            <a:off x="8985875" y="1761450"/>
            <a:ext cx="822300" cy="4218300"/>
            <a:chOff x="6401200" y="2198400"/>
            <a:chExt cx="822300" cy="4218300"/>
          </a:xfrm>
        </p:grpSpPr>
        <p:sp>
          <p:nvSpPr>
            <p:cNvPr id="429" name="Google Shape;429;p27"/>
            <p:cNvSpPr/>
            <p:nvPr/>
          </p:nvSpPr>
          <p:spPr>
            <a:xfrm>
              <a:off x="6401200" y="2198400"/>
              <a:ext cx="822300" cy="4218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27"/>
            <p:cNvGrpSpPr/>
            <p:nvPr/>
          </p:nvGrpSpPr>
          <p:grpSpPr>
            <a:xfrm>
              <a:off x="6409192" y="3112418"/>
              <a:ext cx="806322" cy="1163511"/>
              <a:chOff x="1775100" y="4022850"/>
              <a:chExt cx="1076100" cy="1739700"/>
            </a:xfrm>
          </p:grpSpPr>
          <p:sp>
            <p:nvSpPr>
              <p:cNvPr id="431" name="Google Shape;431;p27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2" name="Google Shape;432;p27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433" name="Google Shape;433;p27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34" name="Google Shape;434;p27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435" name="Google Shape;435;p27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436" name="Google Shape;436;p27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437" name="Google Shape;437;p27"/>
                <p:cNvCxnSpPr>
                  <a:stCxn id="435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38" name="Google Shape;438;p27"/>
                <p:cNvCxnSpPr>
                  <a:stCxn id="436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439" name="Google Shape;439;p27"/>
            <p:cNvGrpSpPr/>
            <p:nvPr/>
          </p:nvGrpSpPr>
          <p:grpSpPr>
            <a:xfrm>
              <a:off x="6409192" y="4826918"/>
              <a:ext cx="806322" cy="1163511"/>
              <a:chOff x="1775100" y="4022850"/>
              <a:chExt cx="1076100" cy="1739700"/>
            </a:xfrm>
          </p:grpSpPr>
          <p:sp>
            <p:nvSpPr>
              <p:cNvPr id="440" name="Google Shape;440;p27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1" name="Google Shape;441;p27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442" name="Google Shape;442;p27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43" name="Google Shape;443;p27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444" name="Google Shape;444;p27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445" name="Google Shape;445;p27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446" name="Google Shape;446;p27"/>
                <p:cNvCxnSpPr>
                  <a:stCxn id="44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47" name="Google Shape;447;p27"/>
                <p:cNvCxnSpPr>
                  <a:stCxn id="44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sp>
        <p:nvSpPr>
          <p:cNvPr id="448" name="Google Shape;448;p27"/>
          <p:cNvSpPr/>
          <p:nvPr/>
        </p:nvSpPr>
        <p:spPr>
          <a:xfrm>
            <a:off x="4314975" y="2909900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9" name="Google Shape;449;p27"/>
          <p:cNvSpPr/>
          <p:nvPr/>
        </p:nvSpPr>
        <p:spPr>
          <a:xfrm>
            <a:off x="4309163" y="4536225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50" name="Google Shape;450;p27"/>
          <p:cNvCxnSpPr/>
          <p:nvPr/>
        </p:nvCxnSpPr>
        <p:spPr>
          <a:xfrm rot="10800000" flipH="1">
            <a:off x="6856525" y="2670425"/>
            <a:ext cx="2125500" cy="137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27"/>
          <p:cNvCxnSpPr/>
          <p:nvPr/>
        </p:nvCxnSpPr>
        <p:spPr>
          <a:xfrm rot="10800000" flipH="1">
            <a:off x="6856525" y="3843475"/>
            <a:ext cx="2128500" cy="140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2" name="Google Shape;452;p27"/>
          <p:cNvCxnSpPr/>
          <p:nvPr/>
        </p:nvCxnSpPr>
        <p:spPr>
          <a:xfrm rot="10800000" flipH="1">
            <a:off x="6856525" y="4388725"/>
            <a:ext cx="2128500" cy="264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3" name="Google Shape;453;p27"/>
          <p:cNvCxnSpPr/>
          <p:nvPr/>
        </p:nvCxnSpPr>
        <p:spPr>
          <a:xfrm rot="10800000" flipH="1">
            <a:off x="6850700" y="5562000"/>
            <a:ext cx="2134500" cy="24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54" name="Google Shape;454;p27"/>
          <p:cNvSpPr txBox="1"/>
          <p:nvPr/>
        </p:nvSpPr>
        <p:spPr>
          <a:xfrm>
            <a:off x="5009675" y="3154775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455" name="Google Shape;455;p27"/>
          <p:cNvSpPr txBox="1"/>
          <p:nvPr/>
        </p:nvSpPr>
        <p:spPr>
          <a:xfrm>
            <a:off x="4997950" y="4743350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cxnSp>
        <p:nvCxnSpPr>
          <p:cNvPr id="456" name="Google Shape;456;p27"/>
          <p:cNvCxnSpPr/>
          <p:nvPr/>
        </p:nvCxnSpPr>
        <p:spPr>
          <a:xfrm rot="10800000" flipH="1">
            <a:off x="5676625" y="4900400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7" name="Google Shape;457;p27"/>
          <p:cNvCxnSpPr/>
          <p:nvPr/>
        </p:nvCxnSpPr>
        <p:spPr>
          <a:xfrm rot="10800000" flipH="1">
            <a:off x="5688275" y="3307300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8" name="Google Shape;458;p27"/>
          <p:cNvCxnSpPr>
            <a:stCxn id="415" idx="3"/>
            <a:endCxn id="435" idx="1"/>
          </p:cNvCxnSpPr>
          <p:nvPr/>
        </p:nvCxnSpPr>
        <p:spPr>
          <a:xfrm rot="10800000" flipH="1">
            <a:off x="6846726" y="3167120"/>
            <a:ext cx="2147100" cy="137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9" name="Google Shape;459;p27"/>
          <p:cNvCxnSpPr>
            <a:stCxn id="424" idx="3"/>
            <a:endCxn id="444" idx="1"/>
          </p:cNvCxnSpPr>
          <p:nvPr/>
        </p:nvCxnSpPr>
        <p:spPr>
          <a:xfrm rot="10800000" flipH="1">
            <a:off x="6846713" y="4881495"/>
            <a:ext cx="2147100" cy="29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60" name="Google Shape;460;p27"/>
          <p:cNvGrpSpPr/>
          <p:nvPr/>
        </p:nvGrpSpPr>
        <p:grpSpPr>
          <a:xfrm>
            <a:off x="5740775" y="5996325"/>
            <a:ext cx="4426050" cy="615600"/>
            <a:chOff x="7439250" y="5328100"/>
            <a:chExt cx="4426050" cy="615600"/>
          </a:xfrm>
        </p:grpSpPr>
        <p:sp>
          <p:nvSpPr>
            <p:cNvPr id="461" name="Google Shape;461;p27"/>
            <p:cNvSpPr txBox="1"/>
            <p:nvPr/>
          </p:nvSpPr>
          <p:spPr>
            <a:xfrm>
              <a:off x="7439250" y="5328100"/>
              <a:ext cx="1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70AD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Virtual</a:t>
              </a:r>
              <a:endParaRPr b="1">
                <a:solidFill>
                  <a:srgbClr val="70AD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62" name="Google Shape;462;p27"/>
            <p:cNvSpPr txBox="1"/>
            <p:nvPr/>
          </p:nvSpPr>
          <p:spPr>
            <a:xfrm>
              <a:off x="10325700" y="5328100"/>
              <a:ext cx="1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70AD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Física</a:t>
              </a:r>
              <a:endParaRPr b="1">
                <a:solidFill>
                  <a:srgbClr val="70AD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463" name="Google Shape;463;p27"/>
            <p:cNvGrpSpPr/>
            <p:nvPr/>
          </p:nvGrpSpPr>
          <p:grpSpPr>
            <a:xfrm>
              <a:off x="9023475" y="5328100"/>
              <a:ext cx="1353000" cy="615600"/>
              <a:chOff x="9023475" y="5328100"/>
              <a:chExt cx="1353000" cy="615600"/>
            </a:xfrm>
          </p:grpSpPr>
          <p:sp>
            <p:nvSpPr>
              <p:cNvPr id="464" name="Google Shape;464;p27"/>
              <p:cNvSpPr/>
              <p:nvPr/>
            </p:nvSpPr>
            <p:spPr>
              <a:xfrm>
                <a:off x="9023475" y="5328100"/>
                <a:ext cx="1353000" cy="6156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EA9999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7"/>
              <p:cNvSpPr txBox="1"/>
              <p:nvPr/>
            </p:nvSpPr>
            <p:spPr>
              <a:xfrm>
                <a:off x="9170324" y="5404300"/>
                <a:ext cx="9639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700" b="1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Mapeo</a:t>
                </a:r>
                <a:endParaRPr sz="1700" b="1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466" name="Google Shape;466;p27"/>
          <p:cNvSpPr/>
          <p:nvPr/>
        </p:nvSpPr>
        <p:spPr>
          <a:xfrm>
            <a:off x="8986350" y="1772550"/>
            <a:ext cx="822300" cy="554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b="1">
                <a:latin typeface="Courier New"/>
                <a:ea typeface="Courier New"/>
                <a:cs typeface="Courier New"/>
                <a:sym typeface="Courier New"/>
              </a:rPr>
              <a:t>Operating system</a:t>
            </a:r>
            <a:endParaRPr sz="9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10919700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Virtualización de memoria - Address Translation</a:t>
            </a:r>
            <a:endParaRPr sz="22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73" name="Google Shape;473;p28"/>
          <p:cNvGrpSpPr/>
          <p:nvPr/>
        </p:nvGrpSpPr>
        <p:grpSpPr>
          <a:xfrm>
            <a:off x="1840275" y="2723263"/>
            <a:ext cx="8795150" cy="2828538"/>
            <a:chOff x="1840275" y="3466888"/>
            <a:chExt cx="8795150" cy="2828538"/>
          </a:xfrm>
        </p:grpSpPr>
        <p:grpSp>
          <p:nvGrpSpPr>
            <p:cNvPr id="474" name="Google Shape;474;p28"/>
            <p:cNvGrpSpPr/>
            <p:nvPr/>
          </p:nvGrpSpPr>
          <p:grpSpPr>
            <a:xfrm>
              <a:off x="1840275" y="4054268"/>
              <a:ext cx="8795150" cy="2241157"/>
              <a:chOff x="916650" y="3920743"/>
              <a:chExt cx="8795150" cy="2241157"/>
            </a:xfrm>
          </p:grpSpPr>
          <p:grpSp>
            <p:nvGrpSpPr>
              <p:cNvPr id="475" name="Google Shape;475;p28"/>
              <p:cNvGrpSpPr/>
              <p:nvPr/>
            </p:nvGrpSpPr>
            <p:grpSpPr>
              <a:xfrm>
                <a:off x="916650" y="3920743"/>
                <a:ext cx="8795150" cy="2241157"/>
                <a:chOff x="916650" y="3920743"/>
                <a:chExt cx="8795150" cy="2241157"/>
              </a:xfrm>
            </p:grpSpPr>
            <p:sp>
              <p:nvSpPr>
                <p:cNvPr id="476" name="Google Shape;476;p28"/>
                <p:cNvSpPr/>
                <p:nvPr/>
              </p:nvSpPr>
              <p:spPr>
                <a:xfrm>
                  <a:off x="5633025" y="4896725"/>
                  <a:ext cx="1085100" cy="8808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77" name="Google Shape;477;p28"/>
                <p:cNvSpPr/>
                <p:nvPr/>
              </p:nvSpPr>
              <p:spPr>
                <a:xfrm>
                  <a:off x="916650" y="4896725"/>
                  <a:ext cx="1085100" cy="8808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/>
                      <a:ea typeface="Consolas"/>
                      <a:cs typeface="Consolas"/>
                      <a:sym typeface="Consolas"/>
                    </a:rPr>
                    <a:t>CPU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478" name="Google Shape;478;p28"/>
                <p:cNvGrpSpPr/>
                <p:nvPr/>
              </p:nvGrpSpPr>
              <p:grpSpPr>
                <a:xfrm>
                  <a:off x="4051592" y="3920743"/>
                  <a:ext cx="806322" cy="1163511"/>
                  <a:chOff x="1775100" y="4022850"/>
                  <a:chExt cx="1076100" cy="1739700"/>
                </a:xfrm>
              </p:grpSpPr>
              <p:sp>
                <p:nvSpPr>
                  <p:cNvPr id="479" name="Google Shape;479;p28"/>
                  <p:cNvSpPr/>
                  <p:nvPr/>
                </p:nvSpPr>
                <p:spPr>
                  <a:xfrm>
                    <a:off x="1775100" y="4022850"/>
                    <a:ext cx="1076100" cy="1739700"/>
                  </a:xfrm>
                  <a:prstGeom prst="rect">
                    <a:avLst/>
                  </a:prstGeom>
                  <a:solidFill>
                    <a:srgbClr val="EFEFEF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480" name="Google Shape;480;p28"/>
                  <p:cNvGrpSpPr/>
                  <p:nvPr/>
                </p:nvGrpSpPr>
                <p:grpSpPr>
                  <a:xfrm>
                    <a:off x="1775100" y="4022850"/>
                    <a:ext cx="1076100" cy="1739675"/>
                    <a:chOff x="7948250" y="2813125"/>
                    <a:chExt cx="1076100" cy="1739675"/>
                  </a:xfrm>
                </p:grpSpPr>
                <p:sp>
                  <p:nvSpPr>
                    <p:cNvPr id="481" name="Google Shape;481;p28"/>
                    <p:cNvSpPr/>
                    <p:nvPr/>
                  </p:nvSpPr>
                  <p:spPr>
                    <a:xfrm>
                      <a:off x="7948250" y="2813125"/>
                      <a:ext cx="1076100" cy="2844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82" name="Google Shape;482;p28"/>
                    <p:cNvSpPr/>
                    <p:nvPr/>
                  </p:nvSpPr>
                  <p:spPr>
                    <a:xfrm>
                      <a:off x="7950650" y="3085775"/>
                      <a:ext cx="1073100" cy="370800"/>
                    </a:xfrm>
                    <a:prstGeom prst="rect">
                      <a:avLst/>
                    </a:prstGeom>
                    <a:solidFill>
                      <a:srgbClr val="FFE599"/>
                    </a:solidFill>
                    <a:ln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83" name="Google Shape;483;p28"/>
                    <p:cNvSpPr/>
                    <p:nvPr/>
                  </p:nvSpPr>
                  <p:spPr>
                    <a:xfrm>
                      <a:off x="7948250" y="3406050"/>
                      <a:ext cx="1076100" cy="284400"/>
                    </a:xfrm>
                    <a:prstGeom prst="rect">
                      <a:avLst/>
                    </a:prstGeom>
                    <a:solidFill>
                      <a:srgbClr val="CFE2F3"/>
                    </a:solidFill>
                    <a:ln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84" name="Google Shape;484;p28"/>
                    <p:cNvSpPr/>
                    <p:nvPr/>
                  </p:nvSpPr>
                  <p:spPr>
                    <a:xfrm>
                      <a:off x="7948250" y="4268400"/>
                      <a:ext cx="1076100" cy="284400"/>
                    </a:xfrm>
                    <a:prstGeom prst="rect">
                      <a:avLst/>
                    </a:prstGeom>
                    <a:solidFill>
                      <a:srgbClr val="CFE2F3"/>
                    </a:solidFill>
                    <a:ln w="9525" cap="flat" cmpd="sng">
                      <a:solidFill>
                        <a:srgbClr val="22222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cxnSp>
                  <p:nvCxnSpPr>
                    <p:cNvPr id="485" name="Google Shape;485;p28"/>
                    <p:cNvCxnSpPr>
                      <a:stCxn id="483" idx="2"/>
                    </p:cNvCxnSpPr>
                    <p:nvPr/>
                  </p:nvCxnSpPr>
                  <p:spPr>
                    <a:xfrm>
                      <a:off x="8486300" y="3690450"/>
                      <a:ext cx="6900" cy="2613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>
                  </p:spPr>
                </p:cxnSp>
                <p:cxnSp>
                  <p:nvCxnSpPr>
                    <p:cNvPr id="486" name="Google Shape;486;p28"/>
                    <p:cNvCxnSpPr>
                      <a:stCxn id="484" idx="0"/>
                    </p:cNvCxnSpPr>
                    <p:nvPr/>
                  </p:nvCxnSpPr>
                  <p:spPr>
                    <a:xfrm rot="10800000" flipH="1">
                      <a:off x="8486300" y="4035600"/>
                      <a:ext cx="4200" cy="23280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>
                  </p:spPr>
                </p:cxnSp>
              </p:grpSp>
            </p:grpSp>
            <p:grpSp>
              <p:nvGrpSpPr>
                <p:cNvPr id="487" name="Google Shape;487;p28"/>
                <p:cNvGrpSpPr/>
                <p:nvPr/>
              </p:nvGrpSpPr>
              <p:grpSpPr>
                <a:xfrm>
                  <a:off x="8889500" y="4045700"/>
                  <a:ext cx="822300" cy="2116200"/>
                  <a:chOff x="10751325" y="1410900"/>
                  <a:chExt cx="822300" cy="2116200"/>
                </a:xfrm>
              </p:grpSpPr>
              <p:sp>
                <p:nvSpPr>
                  <p:cNvPr id="488" name="Google Shape;488;p28"/>
                  <p:cNvSpPr/>
                  <p:nvPr/>
                </p:nvSpPr>
                <p:spPr>
                  <a:xfrm>
                    <a:off x="10751325" y="1410900"/>
                    <a:ext cx="822300" cy="21162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489" name="Google Shape;489;p28"/>
                  <p:cNvGrpSpPr/>
                  <p:nvPr/>
                </p:nvGrpSpPr>
                <p:grpSpPr>
                  <a:xfrm>
                    <a:off x="10759317" y="1913468"/>
                    <a:ext cx="806322" cy="1163511"/>
                    <a:chOff x="1775100" y="4022850"/>
                    <a:chExt cx="1076100" cy="1739700"/>
                  </a:xfrm>
                </p:grpSpPr>
                <p:sp>
                  <p:nvSpPr>
                    <p:cNvPr id="490" name="Google Shape;490;p28"/>
                    <p:cNvSpPr/>
                    <p:nvPr/>
                  </p:nvSpPr>
                  <p:spPr>
                    <a:xfrm>
                      <a:off x="1775100" y="4022850"/>
                      <a:ext cx="1076100" cy="1739700"/>
                    </a:xfrm>
                    <a:prstGeom prst="rect">
                      <a:avLst/>
                    </a:prstGeom>
                    <a:solidFill>
                      <a:srgbClr val="EFEFEF"/>
                    </a:solidFill>
                    <a:ln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491" name="Google Shape;491;p28"/>
                    <p:cNvGrpSpPr/>
                    <p:nvPr/>
                  </p:nvGrpSpPr>
                  <p:grpSpPr>
                    <a:xfrm>
                      <a:off x="1775100" y="4022850"/>
                      <a:ext cx="1076100" cy="1739675"/>
                      <a:chOff x="7948250" y="2813125"/>
                      <a:chExt cx="1076100" cy="1739675"/>
                    </a:xfrm>
                  </p:grpSpPr>
                  <p:sp>
                    <p:nvSpPr>
                      <p:cNvPr id="492" name="Google Shape;492;p28"/>
                      <p:cNvSpPr/>
                      <p:nvPr/>
                    </p:nvSpPr>
                    <p:spPr>
                      <a:xfrm>
                        <a:off x="7948250" y="2813125"/>
                        <a:ext cx="1076100" cy="284400"/>
                      </a:xfrm>
                      <a:prstGeom prst="rect">
                        <a:avLst/>
                      </a:prstGeom>
                      <a:solidFill>
                        <a:srgbClr val="F4CCCC"/>
                      </a:solidFill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800" b="1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Code</a:t>
                        </a:r>
                        <a:endParaRPr sz="800" b="1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p:txBody>
                  </p:sp>
                  <p:sp>
                    <p:nvSpPr>
                      <p:cNvPr id="493" name="Google Shape;493;p28"/>
                      <p:cNvSpPr/>
                      <p:nvPr/>
                    </p:nvSpPr>
                    <p:spPr>
                      <a:xfrm>
                        <a:off x="7950650" y="3085775"/>
                        <a:ext cx="1073100" cy="370800"/>
                      </a:xfrm>
                      <a:prstGeom prst="rect">
                        <a:avLst/>
                      </a:prstGeom>
                      <a:solidFill>
                        <a:srgbClr val="FFE599"/>
                      </a:solidFill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800" b="1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Data</a:t>
                        </a:r>
                        <a:endParaRPr/>
                      </a:p>
                    </p:txBody>
                  </p:sp>
                  <p:sp>
                    <p:nvSpPr>
                      <p:cNvPr id="494" name="Google Shape;494;p28"/>
                      <p:cNvSpPr/>
                      <p:nvPr/>
                    </p:nvSpPr>
                    <p:spPr>
                      <a:xfrm>
                        <a:off x="7948250" y="3406050"/>
                        <a:ext cx="1076100" cy="284400"/>
                      </a:xfrm>
                      <a:prstGeom prst="rect">
                        <a:avLst/>
                      </a:prstGeom>
                      <a:solidFill>
                        <a:srgbClr val="CFE2F3"/>
                      </a:solidFill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800" b="1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heap</a:t>
                        </a:r>
                        <a:endParaRPr/>
                      </a:p>
                    </p:txBody>
                  </p:sp>
                  <p:sp>
                    <p:nvSpPr>
                      <p:cNvPr id="495" name="Google Shape;495;p28"/>
                      <p:cNvSpPr/>
                      <p:nvPr/>
                    </p:nvSpPr>
                    <p:spPr>
                      <a:xfrm>
                        <a:off x="7948250" y="4268400"/>
                        <a:ext cx="1076100" cy="284400"/>
                      </a:xfrm>
                      <a:prstGeom prst="rect">
                        <a:avLst/>
                      </a:prstGeom>
                      <a:solidFill>
                        <a:srgbClr val="CFE2F3"/>
                      </a:solidFill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800" b="1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stack</a:t>
                        </a:r>
                        <a:endParaRPr/>
                      </a:p>
                    </p:txBody>
                  </p:sp>
                  <p:cxnSp>
                    <p:nvCxnSpPr>
                      <p:cNvPr id="496" name="Google Shape;496;p28"/>
                      <p:cNvCxnSpPr>
                        <a:stCxn id="494" idx="2"/>
                      </p:cNvCxnSpPr>
                      <p:nvPr/>
                    </p:nvCxnSpPr>
                    <p:spPr>
                      <a:xfrm>
                        <a:off x="8486300" y="3690450"/>
                        <a:ext cx="6900" cy="2613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triangle" w="med" len="med"/>
                      </a:ln>
                    </p:spPr>
                  </p:cxnSp>
                  <p:cxnSp>
                    <p:nvCxnSpPr>
                      <p:cNvPr id="497" name="Google Shape;497;p28"/>
                      <p:cNvCxnSpPr>
                        <a:stCxn id="495" idx="0"/>
                      </p:cNvCxnSpPr>
                      <p:nvPr/>
                    </p:nvCxnSpPr>
                    <p:spPr>
                      <a:xfrm rot="10800000" flipH="1">
                        <a:off x="8486300" y="4035600"/>
                        <a:ext cx="4200" cy="232800"/>
                      </a:xfrm>
                      <a:prstGeom prst="straightConnector1">
                        <a:avLst/>
                      </a:prstGeom>
                      <a:noFill/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triangle" w="med" len="med"/>
                      </a:ln>
                    </p:spPr>
                  </p:cxnSp>
                </p:grpSp>
              </p:grpSp>
            </p:grpSp>
            <p:cxnSp>
              <p:nvCxnSpPr>
                <p:cNvPr id="498" name="Google Shape;498;p28"/>
                <p:cNvCxnSpPr>
                  <a:stCxn id="477" idx="3"/>
                  <a:endCxn id="483" idx="1"/>
                </p:cNvCxnSpPr>
                <p:nvPr/>
              </p:nvCxnSpPr>
              <p:spPr>
                <a:xfrm rot="10800000" flipH="1">
                  <a:off x="2001750" y="4412525"/>
                  <a:ext cx="2049900" cy="924600"/>
                </a:xfrm>
                <a:prstGeom prst="bentConnector3">
                  <a:avLst>
                    <a:gd name="adj1" fmla="val 49999"/>
                  </a:avLst>
                </a:prstGeom>
                <a:noFill/>
                <a:ln w="1905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99" name="Google Shape;499;p28"/>
                <p:cNvCxnSpPr>
                  <a:stCxn id="483" idx="3"/>
                  <a:endCxn id="476" idx="1"/>
                </p:cNvCxnSpPr>
                <p:nvPr/>
              </p:nvCxnSpPr>
              <p:spPr>
                <a:xfrm>
                  <a:off x="4857913" y="4412395"/>
                  <a:ext cx="775200" cy="924600"/>
                </a:xfrm>
                <a:prstGeom prst="bentConnector3">
                  <a:avLst>
                    <a:gd name="adj1" fmla="val 49994"/>
                  </a:avLst>
                </a:prstGeom>
                <a:noFill/>
                <a:ln w="1905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00" name="Google Shape;500;p28"/>
                <p:cNvCxnSpPr>
                  <a:stCxn id="476" idx="3"/>
                  <a:endCxn id="494" idx="1"/>
                </p:cNvCxnSpPr>
                <p:nvPr/>
              </p:nvCxnSpPr>
              <p:spPr>
                <a:xfrm rot="10800000" flipH="1">
                  <a:off x="6718125" y="5039825"/>
                  <a:ext cx="2179500" cy="297300"/>
                </a:xfrm>
                <a:prstGeom prst="bentConnector3">
                  <a:avLst>
                    <a:gd name="adj1" fmla="val 49997"/>
                  </a:avLst>
                </a:prstGeom>
                <a:noFill/>
                <a:ln w="19050" cap="flat" cmpd="sng">
                  <a:solidFill>
                    <a:srgbClr val="70AD47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501" name="Google Shape;501;p28"/>
              <p:cNvSpPr txBox="1"/>
              <p:nvPr/>
            </p:nvSpPr>
            <p:spPr>
              <a:xfrm>
                <a:off x="2111450" y="4894030"/>
                <a:ext cx="7752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Virtual </a:t>
                </a:r>
                <a:endParaRPr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Address</a:t>
                </a:r>
                <a:endParaRPr sz="1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02" name="Google Shape;502;p28"/>
              <p:cNvSpPr txBox="1"/>
              <p:nvPr/>
            </p:nvSpPr>
            <p:spPr>
              <a:xfrm>
                <a:off x="7654317" y="4608176"/>
                <a:ext cx="10200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Physical</a:t>
                </a:r>
                <a:endParaRPr sz="1000" dirty="0">
                  <a:solidFill>
                    <a:srgbClr val="70AD47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Address</a:t>
                </a:r>
                <a:endParaRPr sz="1000" dirty="0">
                  <a:solidFill>
                    <a:srgbClr val="70AD47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503" name="Google Shape;503;p28"/>
            <p:cNvSpPr txBox="1"/>
            <p:nvPr/>
          </p:nvSpPr>
          <p:spPr>
            <a:xfrm>
              <a:off x="5008175" y="3466888"/>
              <a:ext cx="775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Address </a:t>
              </a:r>
              <a:r>
                <a:rPr lang="es-ES" sz="1200" dirty="0" err="1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Space</a:t>
              </a:r>
              <a:endParaRPr sz="1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04" name="Google Shape;504;p28"/>
            <p:cNvSpPr txBox="1"/>
            <p:nvPr/>
          </p:nvSpPr>
          <p:spPr>
            <a:xfrm>
              <a:off x="9860225" y="3543088"/>
              <a:ext cx="775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 err="1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2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 Memory</a:t>
              </a:r>
              <a:endParaRPr sz="1200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9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510" name="Google Shape;510;p29"/>
          <p:cNvSpPr txBox="1">
            <a:spLocks noGrp="1"/>
          </p:cNvSpPr>
          <p:nvPr>
            <p:ph type="body" idx="1"/>
          </p:nvPr>
        </p:nvSpPr>
        <p:spPr>
          <a:xfrm>
            <a:off x="663677" y="973975"/>
            <a:ext cx="11172673" cy="490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Virtualización de memoria - Address Translation</a:t>
            </a:r>
            <a:endParaRPr sz="22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Dynamic </a:t>
            </a:r>
            <a:r>
              <a:rPr lang="es-ES" sz="2400" dirty="0" err="1"/>
              <a:t>Reallocation</a:t>
            </a:r>
            <a:r>
              <a:rPr lang="es-ES" sz="2400" dirty="0"/>
              <a:t> (Base &amp; </a:t>
            </a:r>
            <a:r>
              <a:rPr lang="es-ES" sz="2400" dirty="0" err="1"/>
              <a:t>Bound</a:t>
            </a:r>
            <a:r>
              <a:rPr lang="es-ES" sz="2400" dirty="0"/>
              <a:t>)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 err="1"/>
              <a:t>Segmentation</a:t>
            </a:r>
            <a:r>
              <a:rPr lang="es-ES" sz="2400" dirty="0"/>
              <a:t> (General Base &amp; </a:t>
            </a:r>
            <a:r>
              <a:rPr lang="es-ES" sz="2400" dirty="0" err="1"/>
              <a:t>Bound</a:t>
            </a:r>
            <a:r>
              <a:rPr lang="es-ES" sz="2400" dirty="0"/>
              <a:t>)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 err="1"/>
              <a:t>Paging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Translation </a:t>
            </a:r>
            <a:r>
              <a:rPr lang="es-ES" sz="2400" dirty="0" err="1"/>
              <a:t>Lookaside</a:t>
            </a:r>
            <a:r>
              <a:rPr lang="es-ES" sz="2400" dirty="0"/>
              <a:t> Buffers (TLB)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 err="1"/>
              <a:t>Advanced</a:t>
            </a:r>
            <a:r>
              <a:rPr lang="es-ES" sz="2400" dirty="0"/>
              <a:t> Page Tables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516" name="Google Shape;516;p30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109197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Virtualización de memoria - Virtual memory</a:t>
            </a:r>
            <a:endParaRPr sz="22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17" name="Google Shape;5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4700" y="1834300"/>
            <a:ext cx="6304375" cy="4775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8" name="Google Shape;518;p30"/>
          <p:cNvGrpSpPr/>
          <p:nvPr/>
        </p:nvGrpSpPr>
        <p:grpSpPr>
          <a:xfrm>
            <a:off x="822717" y="1695422"/>
            <a:ext cx="5066854" cy="5053578"/>
            <a:chOff x="364542" y="1658822"/>
            <a:chExt cx="5066854" cy="5053578"/>
          </a:xfrm>
        </p:grpSpPr>
        <p:grpSp>
          <p:nvGrpSpPr>
            <p:cNvPr id="519" name="Google Shape;519;p30"/>
            <p:cNvGrpSpPr/>
            <p:nvPr/>
          </p:nvGrpSpPr>
          <p:grpSpPr>
            <a:xfrm>
              <a:off x="2529417" y="1658822"/>
              <a:ext cx="872091" cy="949515"/>
              <a:chOff x="9436950" y="1528650"/>
              <a:chExt cx="1049700" cy="1050000"/>
            </a:xfrm>
          </p:grpSpPr>
          <p:sp>
            <p:nvSpPr>
              <p:cNvPr id="520" name="Google Shape;520;p30"/>
              <p:cNvSpPr/>
              <p:nvPr/>
            </p:nvSpPr>
            <p:spPr>
              <a:xfrm>
                <a:off x="9436950" y="1528650"/>
                <a:ext cx="1049700" cy="10500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6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grpSp>
            <p:nvGrpSpPr>
              <p:cNvPr id="521" name="Google Shape;521;p30"/>
              <p:cNvGrpSpPr/>
              <p:nvPr/>
            </p:nvGrpSpPr>
            <p:grpSpPr>
              <a:xfrm>
                <a:off x="9632650" y="1910875"/>
                <a:ext cx="653850" cy="483000"/>
                <a:chOff x="9281900" y="3440875"/>
                <a:chExt cx="653850" cy="483000"/>
              </a:xfrm>
            </p:grpSpPr>
            <p:sp>
              <p:nvSpPr>
                <p:cNvPr id="522" name="Google Shape;522;p30"/>
                <p:cNvSpPr/>
                <p:nvPr/>
              </p:nvSpPr>
              <p:spPr>
                <a:xfrm>
                  <a:off x="9285200" y="3440875"/>
                  <a:ext cx="648900" cy="4830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23" name="Google Shape;523;p30"/>
                <p:cNvCxnSpPr/>
                <p:nvPr/>
              </p:nvCxnSpPr>
              <p:spPr>
                <a:xfrm>
                  <a:off x="9281900" y="3535800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4" name="Google Shape;524;p30"/>
                <p:cNvCxnSpPr/>
                <p:nvPr/>
              </p:nvCxnSpPr>
              <p:spPr>
                <a:xfrm>
                  <a:off x="9283550" y="3627775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5" name="Google Shape;525;p30"/>
                <p:cNvCxnSpPr/>
                <p:nvPr/>
              </p:nvCxnSpPr>
              <p:spPr>
                <a:xfrm>
                  <a:off x="9283550" y="3729300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6" name="Google Shape;526;p30"/>
                <p:cNvCxnSpPr/>
                <p:nvPr/>
              </p:nvCxnSpPr>
              <p:spPr>
                <a:xfrm>
                  <a:off x="9283550" y="3827625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27" name="Google Shape;527;p30"/>
            <p:cNvGrpSpPr/>
            <p:nvPr/>
          </p:nvGrpSpPr>
          <p:grpSpPr>
            <a:xfrm>
              <a:off x="1956651" y="2986998"/>
              <a:ext cx="1883550" cy="884004"/>
              <a:chOff x="8880000" y="3399000"/>
              <a:chExt cx="2745300" cy="1357500"/>
            </a:xfrm>
          </p:grpSpPr>
          <p:sp>
            <p:nvSpPr>
              <p:cNvPr id="528" name="Google Shape;528;p30"/>
              <p:cNvSpPr/>
              <p:nvPr/>
            </p:nvSpPr>
            <p:spPr>
              <a:xfrm>
                <a:off x="8880000" y="3399000"/>
                <a:ext cx="2745300" cy="1357500"/>
              </a:xfrm>
              <a:prstGeom prst="rect">
                <a:avLst/>
              </a:prstGeom>
              <a:solidFill>
                <a:srgbClr val="F3F3F3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 err="1">
                    <a:latin typeface="Consolas"/>
                    <a:ea typeface="Consolas"/>
                    <a:cs typeface="Consolas"/>
                    <a:sym typeface="Consolas"/>
                  </a:rPr>
                  <a:t>Main</a:t>
                </a: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 Memory</a:t>
                </a:r>
                <a:endParaRPr sz="16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29" name="Google Shape;529;p30"/>
              <p:cNvSpPr/>
              <p:nvPr/>
            </p:nvSpPr>
            <p:spPr>
              <a:xfrm>
                <a:off x="9145200" y="3967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0"/>
              <p:cNvSpPr/>
              <p:nvPr/>
            </p:nvSpPr>
            <p:spPr>
              <a:xfrm>
                <a:off x="9526650" y="43490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0"/>
              <p:cNvSpPr/>
              <p:nvPr/>
            </p:nvSpPr>
            <p:spPr>
              <a:xfrm>
                <a:off x="9892000" y="41072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0"/>
              <p:cNvSpPr/>
              <p:nvPr/>
            </p:nvSpPr>
            <p:spPr>
              <a:xfrm>
                <a:off x="10257350" y="43490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0"/>
              <p:cNvSpPr/>
              <p:nvPr/>
            </p:nvSpPr>
            <p:spPr>
              <a:xfrm>
                <a:off x="10620038" y="3967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0"/>
              <p:cNvSpPr/>
              <p:nvPr/>
            </p:nvSpPr>
            <p:spPr>
              <a:xfrm>
                <a:off x="11166875" y="4043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5" name="Google Shape;535;p30"/>
            <p:cNvSpPr/>
            <p:nvPr/>
          </p:nvSpPr>
          <p:spPr>
            <a:xfrm>
              <a:off x="1467563" y="4300675"/>
              <a:ext cx="2995800" cy="7227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SSD (Solid State Drive)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536" name="Google Shape;536;p30"/>
            <p:cNvGrpSpPr/>
            <p:nvPr/>
          </p:nvGrpSpPr>
          <p:grpSpPr>
            <a:xfrm>
              <a:off x="2433113" y="5453050"/>
              <a:ext cx="1064725" cy="1259350"/>
              <a:chOff x="1243875" y="5299700"/>
              <a:chExt cx="1064725" cy="1259350"/>
            </a:xfrm>
          </p:grpSpPr>
          <p:sp>
            <p:nvSpPr>
              <p:cNvPr id="537" name="Google Shape;537;p30"/>
              <p:cNvSpPr/>
              <p:nvPr/>
            </p:nvSpPr>
            <p:spPr>
              <a:xfrm>
                <a:off x="1243875" y="6126450"/>
                <a:ext cx="1064700" cy="432600"/>
              </a:xfrm>
              <a:prstGeom prst="ellipse">
                <a:avLst/>
              </a:prstGeom>
              <a:solidFill>
                <a:srgbClr val="D9D2E9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30"/>
              <p:cNvSpPr/>
              <p:nvPr/>
            </p:nvSpPr>
            <p:spPr>
              <a:xfrm>
                <a:off x="1243875" y="5532525"/>
                <a:ext cx="1064700" cy="827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Hard 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Drive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39" name="Google Shape;539;p30"/>
              <p:cNvSpPr/>
              <p:nvPr/>
            </p:nvSpPr>
            <p:spPr>
              <a:xfrm>
                <a:off x="1243900" y="5299700"/>
                <a:ext cx="1064700" cy="432600"/>
              </a:xfrm>
              <a:prstGeom prst="ellipse">
                <a:avLst/>
              </a:prstGeom>
              <a:solidFill>
                <a:srgbClr val="D9D2E9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0" name="Google Shape;540;p30"/>
              <p:cNvCxnSpPr/>
              <p:nvPr/>
            </p:nvCxnSpPr>
            <p:spPr>
              <a:xfrm>
                <a:off x="1254550" y="6368200"/>
                <a:ext cx="10434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D9D2E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41" name="Google Shape;541;p30"/>
            <p:cNvSpPr/>
            <p:nvPr/>
          </p:nvSpPr>
          <p:spPr>
            <a:xfrm rot="-8989418">
              <a:off x="2328436" y="2145360"/>
              <a:ext cx="185095" cy="978845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2" name="Google Shape;542;p30"/>
            <p:cNvSpPr/>
            <p:nvPr/>
          </p:nvSpPr>
          <p:spPr>
            <a:xfrm rot="-575579">
              <a:off x="3374070" y="2154245"/>
              <a:ext cx="300204" cy="1058447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3" name="Google Shape;543;p30"/>
            <p:cNvSpPr/>
            <p:nvPr/>
          </p:nvSpPr>
          <p:spPr>
            <a:xfrm rot="-9075647">
              <a:off x="1960223" y="3627871"/>
              <a:ext cx="320091" cy="717564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4" name="Google Shape;544;p30"/>
            <p:cNvSpPr/>
            <p:nvPr/>
          </p:nvSpPr>
          <p:spPr>
            <a:xfrm rot="949901">
              <a:off x="3384982" y="3681062"/>
              <a:ext cx="331632" cy="69937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5" name="Google Shape;545;p30"/>
            <p:cNvSpPr/>
            <p:nvPr/>
          </p:nvSpPr>
          <p:spPr>
            <a:xfrm rot="-9075561">
              <a:off x="726758" y="3710336"/>
              <a:ext cx="2472347" cy="214002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6" name="Google Shape;546;p30"/>
            <p:cNvSpPr/>
            <p:nvPr/>
          </p:nvSpPr>
          <p:spPr>
            <a:xfrm rot="9075561" flipH="1">
              <a:off x="2596833" y="3786386"/>
              <a:ext cx="2472347" cy="214002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552" name="Google Shape;552;p31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109197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Virtualización de memoria - Virtual memory: Address Translation</a:t>
            </a:r>
            <a:endParaRPr sz="22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53" name="Google Shape;55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6724" y="1734150"/>
            <a:ext cx="5993452" cy="468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2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Resumen virtualización</a:t>
            </a:r>
            <a:endParaRPr/>
          </a:p>
        </p:txBody>
      </p:sp>
      <p:sp>
        <p:nvSpPr>
          <p:cNvPr id="559" name="Google Shape;559;p32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1091970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Virtualización de memoria - Virtual memory - Políticas</a:t>
            </a:r>
            <a:endParaRPr sz="22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60" name="Google Shape;560;p32"/>
          <p:cNvGrpSpPr/>
          <p:nvPr/>
        </p:nvGrpSpPr>
        <p:grpSpPr>
          <a:xfrm>
            <a:off x="3840738" y="2909375"/>
            <a:ext cx="1380400" cy="1229250"/>
            <a:chOff x="8242400" y="4329675"/>
            <a:chExt cx="1380400" cy="1229250"/>
          </a:xfrm>
        </p:grpSpPr>
        <p:pic>
          <p:nvPicPr>
            <p:cNvPr id="561" name="Google Shape;56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42400" y="4329675"/>
              <a:ext cx="1380400" cy="1229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32"/>
            <p:cNvSpPr/>
            <p:nvPr/>
          </p:nvSpPr>
          <p:spPr>
            <a:xfrm>
              <a:off x="8824438" y="4949150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563" name="Google Shape;563;p32"/>
          <p:cNvGraphicFramePr/>
          <p:nvPr/>
        </p:nvGraphicFramePr>
        <p:xfrm>
          <a:off x="1567750" y="2825063"/>
          <a:ext cx="1380375" cy="18286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8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6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64" name="Google Shape;564;p32"/>
          <p:cNvSpPr/>
          <p:nvPr/>
        </p:nvSpPr>
        <p:spPr>
          <a:xfrm rot="-5257287" flipH="1">
            <a:off x="3344337" y="2583668"/>
            <a:ext cx="437083" cy="1696435"/>
          </a:xfrm>
          <a:custGeom>
            <a:avLst/>
            <a:gdLst/>
            <a:ahLst/>
            <a:cxnLst/>
            <a:rect l="l" t="t" r="r" b="b"/>
            <a:pathLst>
              <a:path w="17484" h="49276" extrusionOk="0">
                <a:moveTo>
                  <a:pt x="17484" y="0"/>
                </a:moveTo>
                <a:cubicBezTo>
                  <a:pt x="16214" y="677"/>
                  <a:pt x="12150" y="2201"/>
                  <a:pt x="9864" y="4064"/>
                </a:cubicBezTo>
                <a:cubicBezTo>
                  <a:pt x="7578" y="5927"/>
                  <a:pt x="5377" y="8721"/>
                  <a:pt x="3768" y="11176"/>
                </a:cubicBezTo>
                <a:cubicBezTo>
                  <a:pt x="2159" y="13631"/>
                  <a:pt x="635" y="16425"/>
                  <a:pt x="212" y="18796"/>
                </a:cubicBezTo>
                <a:cubicBezTo>
                  <a:pt x="-211" y="21167"/>
                  <a:pt x="466" y="23199"/>
                  <a:pt x="1228" y="25400"/>
                </a:cubicBezTo>
                <a:cubicBezTo>
                  <a:pt x="1990" y="27601"/>
                  <a:pt x="3091" y="29295"/>
                  <a:pt x="4784" y="32004"/>
                </a:cubicBezTo>
                <a:cubicBezTo>
                  <a:pt x="6477" y="34713"/>
                  <a:pt x="9525" y="38777"/>
                  <a:pt x="11388" y="41656"/>
                </a:cubicBezTo>
                <a:cubicBezTo>
                  <a:pt x="13251" y="44535"/>
                  <a:pt x="15198" y="48006"/>
                  <a:pt x="15960" y="4927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65" name="Google Shape;565;p32"/>
          <p:cNvSpPr txBox="1"/>
          <p:nvPr/>
        </p:nvSpPr>
        <p:spPr>
          <a:xfrm>
            <a:off x="2948125" y="2825075"/>
            <a:ext cx="100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Page out</a:t>
            </a:r>
            <a:endParaRPr sz="4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66" name="Google Shape;56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1116499" y="3349163"/>
            <a:ext cx="349676" cy="349676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2"/>
          <p:cNvSpPr txBox="1">
            <a:spLocks noGrp="1"/>
          </p:cNvSpPr>
          <p:nvPr>
            <p:ph type="body" idx="1"/>
          </p:nvPr>
        </p:nvSpPr>
        <p:spPr>
          <a:xfrm>
            <a:off x="5859250" y="2410200"/>
            <a:ext cx="5726100" cy="2037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/>
              <a:t>Políticas de reemplazo</a:t>
            </a:r>
            <a:endParaRPr sz="2200" b="1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/>
              <a:t>Optimal (OPT)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/>
              <a:t>FIFO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/>
              <a:t>RANDOM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/>
              <a:t>Least Recently Used (LRU)</a:t>
            </a: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  <a:cs typeface="Segoe UI" panose="020B0502040204020203" pitchFamily="34" charset="0"/>
              </a:rPr>
              <a:t>Contextualización</a:t>
            </a:r>
            <a:endParaRPr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582" name="Google Shape;582;p34"/>
          <p:cNvSpPr txBox="1">
            <a:spLocks noGrp="1"/>
          </p:cNvSpPr>
          <p:nvPr>
            <p:ph type="body" idx="1"/>
          </p:nvPr>
        </p:nvSpPr>
        <p:spPr>
          <a:xfrm>
            <a:off x="839400" y="835600"/>
            <a:ext cx="45588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Procesos y virtualización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583" name="Google Shape;583;p34"/>
          <p:cNvGrpSpPr/>
          <p:nvPr/>
        </p:nvGrpSpPr>
        <p:grpSpPr>
          <a:xfrm>
            <a:off x="5106900" y="1502075"/>
            <a:ext cx="1368600" cy="2104675"/>
            <a:chOff x="6161500" y="2642175"/>
            <a:chExt cx="1368600" cy="2104675"/>
          </a:xfrm>
        </p:grpSpPr>
        <p:sp>
          <p:nvSpPr>
            <p:cNvPr id="584" name="Google Shape;584;p34"/>
            <p:cNvSpPr txBox="1"/>
            <p:nvPr/>
          </p:nvSpPr>
          <p:spPr>
            <a:xfrm>
              <a:off x="6295300" y="2642175"/>
              <a:ext cx="970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585" name="Google Shape;585;p34"/>
            <p:cNvGrpSpPr/>
            <p:nvPr/>
          </p:nvGrpSpPr>
          <p:grpSpPr>
            <a:xfrm>
              <a:off x="6161500" y="3042363"/>
              <a:ext cx="1338300" cy="1401900"/>
              <a:chOff x="6161500" y="3042363"/>
              <a:chExt cx="1338300" cy="1401900"/>
            </a:xfrm>
          </p:grpSpPr>
          <p:sp>
            <p:nvSpPr>
              <p:cNvPr id="586" name="Google Shape;586;p34"/>
              <p:cNvSpPr/>
              <p:nvPr/>
            </p:nvSpPr>
            <p:spPr>
              <a:xfrm>
                <a:off x="6161500" y="3042363"/>
                <a:ext cx="1338300" cy="14019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7" name="Google Shape;587;p34"/>
              <p:cNvGrpSpPr/>
              <p:nvPr/>
            </p:nvGrpSpPr>
            <p:grpSpPr>
              <a:xfrm>
                <a:off x="6213550" y="3096950"/>
                <a:ext cx="1096575" cy="400200"/>
                <a:chOff x="6213550" y="3096950"/>
                <a:chExt cx="1096575" cy="400200"/>
              </a:xfrm>
            </p:grpSpPr>
            <p:sp>
              <p:nvSpPr>
                <p:cNvPr id="588" name="Google Shape;588;p34"/>
                <p:cNvSpPr/>
                <p:nvPr/>
              </p:nvSpPr>
              <p:spPr>
                <a:xfrm>
                  <a:off x="6618625" y="3212150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34"/>
                <p:cNvSpPr txBox="1"/>
                <p:nvPr/>
              </p:nvSpPr>
              <p:spPr>
                <a:xfrm>
                  <a:off x="6213550" y="3096950"/>
                  <a:ext cx="4275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PC</a:t>
                  </a:r>
                  <a:endParaRPr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grpSp>
            <p:nvGrpSpPr>
              <p:cNvPr id="590" name="Google Shape;590;p34"/>
              <p:cNvGrpSpPr/>
              <p:nvPr/>
            </p:nvGrpSpPr>
            <p:grpSpPr>
              <a:xfrm>
                <a:off x="6213550" y="3412550"/>
                <a:ext cx="1096575" cy="400200"/>
                <a:chOff x="6213550" y="3412550"/>
                <a:chExt cx="1096575" cy="400200"/>
              </a:xfrm>
            </p:grpSpPr>
            <p:sp>
              <p:nvSpPr>
                <p:cNvPr id="591" name="Google Shape;591;p34"/>
                <p:cNvSpPr txBox="1"/>
                <p:nvPr/>
              </p:nvSpPr>
              <p:spPr>
                <a:xfrm>
                  <a:off x="6213550" y="3412550"/>
                  <a:ext cx="4275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SP</a:t>
                  </a:r>
                  <a:endParaRPr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92" name="Google Shape;592;p34"/>
                <p:cNvSpPr/>
                <p:nvPr/>
              </p:nvSpPr>
              <p:spPr>
                <a:xfrm>
                  <a:off x="6618625" y="3520825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93" name="Google Shape;593;p34"/>
              <p:cNvSpPr txBox="1"/>
              <p:nvPr/>
            </p:nvSpPr>
            <p:spPr>
              <a:xfrm>
                <a:off x="6566050" y="3744900"/>
                <a:ext cx="529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urier New"/>
                    <a:ea typeface="Courier New"/>
                    <a:cs typeface="Courier New"/>
                    <a:sym typeface="Courier New"/>
                  </a:rPr>
                  <a:t>...</a:t>
                </a:r>
                <a:endParaRPr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594" name="Google Shape;594;p34"/>
            <p:cNvSpPr txBox="1"/>
            <p:nvPr/>
          </p:nvSpPr>
          <p:spPr>
            <a:xfrm>
              <a:off x="6161500" y="4392850"/>
              <a:ext cx="13686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Registros</a:t>
              </a:r>
              <a:endParaRPr sz="11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95" name="Google Shape;595;p34"/>
          <p:cNvGrpSpPr/>
          <p:nvPr/>
        </p:nvGrpSpPr>
        <p:grpSpPr>
          <a:xfrm>
            <a:off x="5106900" y="4063275"/>
            <a:ext cx="1368600" cy="2457250"/>
            <a:chOff x="6864325" y="3684375"/>
            <a:chExt cx="1368600" cy="2457250"/>
          </a:xfrm>
        </p:grpSpPr>
        <p:sp>
          <p:nvSpPr>
            <p:cNvPr id="596" name="Google Shape;596;p34"/>
            <p:cNvSpPr/>
            <p:nvPr/>
          </p:nvSpPr>
          <p:spPr>
            <a:xfrm>
              <a:off x="7007125" y="4056075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7" name="Google Shape;597;p34"/>
            <p:cNvGrpSpPr/>
            <p:nvPr/>
          </p:nvGrpSpPr>
          <p:grpSpPr>
            <a:xfrm>
              <a:off x="6864325" y="3684375"/>
              <a:ext cx="1368600" cy="2457250"/>
              <a:chOff x="7805450" y="2441425"/>
              <a:chExt cx="1368600" cy="2457250"/>
            </a:xfrm>
          </p:grpSpPr>
          <p:grpSp>
            <p:nvGrpSpPr>
              <p:cNvPr id="598" name="Google Shape;598;p34"/>
              <p:cNvGrpSpPr/>
              <p:nvPr/>
            </p:nvGrpSpPr>
            <p:grpSpPr>
              <a:xfrm>
                <a:off x="7948250" y="2813125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599" name="Google Shape;599;p34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600" name="Google Shape;600;p34"/>
                <p:cNvSpPr/>
                <p:nvPr/>
              </p:nvSpPr>
              <p:spPr>
                <a:xfrm>
                  <a:off x="7948250" y="31012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601" name="Google Shape;601;p34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602" name="Google Shape;602;p34"/>
                <p:cNvCxnSpPr>
                  <a:stCxn id="600" idx="2"/>
                </p:cNvCxnSpPr>
                <p:nvPr/>
              </p:nvCxnSpPr>
              <p:spPr>
                <a:xfrm>
                  <a:off x="8486300" y="33856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03" name="Google Shape;603;p34"/>
                <p:cNvCxnSpPr>
                  <a:stCxn id="601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604" name="Google Shape;604;p34"/>
              <p:cNvSpPr txBox="1"/>
              <p:nvPr/>
            </p:nvSpPr>
            <p:spPr>
              <a:xfrm>
                <a:off x="8001200" y="244142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VM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05" name="Google Shape;605;p34"/>
              <p:cNvSpPr txBox="1"/>
              <p:nvPr/>
            </p:nvSpPr>
            <p:spPr>
              <a:xfrm>
                <a:off x="7805450" y="4544675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 dirty="0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Address </a:t>
                </a:r>
                <a:r>
                  <a:rPr lang="es-ES" sz="1100" b="1" dirty="0" err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Space</a:t>
                </a:r>
                <a:endParaRPr sz="1100" b="1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606" name="Google Shape;606;p34"/>
          <p:cNvGrpSpPr/>
          <p:nvPr/>
        </p:nvGrpSpPr>
        <p:grpSpPr>
          <a:xfrm>
            <a:off x="872000" y="2433475"/>
            <a:ext cx="2510400" cy="2580600"/>
            <a:chOff x="1246925" y="2012725"/>
            <a:chExt cx="2510400" cy="2580600"/>
          </a:xfrm>
        </p:grpSpPr>
        <p:sp>
          <p:nvSpPr>
            <p:cNvPr id="607" name="Google Shape;607;p34"/>
            <p:cNvSpPr/>
            <p:nvPr/>
          </p:nvSpPr>
          <p:spPr>
            <a:xfrm>
              <a:off x="1246925" y="2012725"/>
              <a:ext cx="2510400" cy="25806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4"/>
            <p:cNvSpPr/>
            <p:nvPr/>
          </p:nvSpPr>
          <p:spPr>
            <a:xfrm>
              <a:off x="1658025" y="3603150"/>
              <a:ext cx="827700" cy="4683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I/O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09" name="Google Shape;609;p34"/>
            <p:cNvSpPr/>
            <p:nvPr/>
          </p:nvSpPr>
          <p:spPr>
            <a:xfrm>
              <a:off x="1738125" y="2549275"/>
              <a:ext cx="667500" cy="722700"/>
            </a:xfrm>
            <a:prstGeom prst="rect">
              <a:avLst/>
            </a:prstGeom>
            <a:solidFill>
              <a:srgbClr val="FFE5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610" name="Google Shape;610;p34"/>
            <p:cNvGrpSpPr/>
            <p:nvPr/>
          </p:nvGrpSpPr>
          <p:grpSpPr>
            <a:xfrm>
              <a:off x="2734937" y="2991777"/>
              <a:ext cx="587563" cy="949455"/>
              <a:chOff x="3483150" y="2820050"/>
              <a:chExt cx="1080675" cy="1170000"/>
            </a:xfrm>
          </p:grpSpPr>
          <p:sp>
            <p:nvSpPr>
              <p:cNvPr id="611" name="Google Shape;611;p34"/>
              <p:cNvSpPr/>
              <p:nvPr/>
            </p:nvSpPr>
            <p:spPr>
              <a:xfrm>
                <a:off x="3485100" y="2820050"/>
                <a:ext cx="1076100" cy="11700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12" name="Google Shape;612;p34"/>
              <p:cNvCxnSpPr/>
              <p:nvPr/>
            </p:nvCxnSpPr>
            <p:spPr>
              <a:xfrm>
                <a:off x="3483825" y="2962875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3" name="Google Shape;613;p34"/>
              <p:cNvCxnSpPr/>
              <p:nvPr/>
            </p:nvCxnSpPr>
            <p:spPr>
              <a:xfrm>
                <a:off x="3483150" y="3111750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4" name="Google Shape;614;p34"/>
              <p:cNvCxnSpPr/>
              <p:nvPr/>
            </p:nvCxnSpPr>
            <p:spPr>
              <a:xfrm>
                <a:off x="3483825" y="3257125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5" name="Google Shape;615;p34"/>
              <p:cNvCxnSpPr/>
              <p:nvPr/>
            </p:nvCxnSpPr>
            <p:spPr>
              <a:xfrm>
                <a:off x="3483150" y="3844275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6" name="Google Shape;616;p34"/>
            <p:cNvSpPr txBox="1"/>
            <p:nvPr/>
          </p:nvSpPr>
          <p:spPr>
            <a:xfrm>
              <a:off x="2832663" y="2682475"/>
              <a:ext cx="44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AS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617" name="Google Shape;617;p34"/>
          <p:cNvCxnSpPr/>
          <p:nvPr/>
        </p:nvCxnSpPr>
        <p:spPr>
          <a:xfrm rot="10800000" flipH="1">
            <a:off x="2120175" y="2054850"/>
            <a:ext cx="2818800" cy="771300"/>
          </a:xfrm>
          <a:prstGeom prst="straightConnector1">
            <a:avLst/>
          </a:prstGeom>
          <a:noFill/>
          <a:ln w="28575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8" name="Google Shape;618;p34"/>
          <p:cNvCxnSpPr/>
          <p:nvPr/>
        </p:nvCxnSpPr>
        <p:spPr>
          <a:xfrm>
            <a:off x="3115925" y="3906025"/>
            <a:ext cx="2019600" cy="883500"/>
          </a:xfrm>
          <a:prstGeom prst="straightConnector1">
            <a:avLst/>
          </a:prstGeom>
          <a:noFill/>
          <a:ln w="28575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9" name="Google Shape;619;p34"/>
          <p:cNvSpPr txBox="1"/>
          <p:nvPr/>
        </p:nvSpPr>
        <p:spPr>
          <a:xfrm>
            <a:off x="2695125" y="1703375"/>
            <a:ext cx="1668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rgbClr val="E46C0A"/>
                </a:solidFill>
                <a:latin typeface="Courier New"/>
                <a:ea typeface="Courier New"/>
                <a:cs typeface="Courier New"/>
                <a:sym typeface="Courier New"/>
              </a:rPr>
              <a:t>Virtualización de la CPU</a:t>
            </a:r>
            <a:endParaRPr sz="1300">
              <a:solidFill>
                <a:srgbClr val="E46C0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0" name="Google Shape;620;p34"/>
          <p:cNvSpPr txBox="1"/>
          <p:nvPr/>
        </p:nvSpPr>
        <p:spPr>
          <a:xfrm>
            <a:off x="3606775" y="3695300"/>
            <a:ext cx="1668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rgbClr val="E46C0A"/>
                </a:solidFill>
                <a:latin typeface="Courier New"/>
                <a:ea typeface="Courier New"/>
                <a:cs typeface="Courier New"/>
                <a:sym typeface="Courier New"/>
              </a:rPr>
              <a:t>Virtualización de memoria</a:t>
            </a:r>
            <a:endParaRPr sz="1300">
              <a:solidFill>
                <a:srgbClr val="E46C0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1" name="Google Shape;621;p34"/>
          <p:cNvSpPr txBox="1">
            <a:spLocks noGrp="1"/>
          </p:cNvSpPr>
          <p:nvPr>
            <p:ph type="body" idx="1"/>
          </p:nvPr>
        </p:nvSpPr>
        <p:spPr>
          <a:xfrm>
            <a:off x="6704475" y="1026150"/>
            <a:ext cx="5341500" cy="18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46C0A"/>
                </a:solidFill>
                <a:latin typeface="+mn-lt"/>
              </a:rPr>
              <a:t>Un proceso incluye:</a:t>
            </a:r>
            <a:endParaRPr sz="2000" b="1" dirty="0">
              <a:solidFill>
                <a:srgbClr val="E46C0A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b="1" dirty="0">
                <a:latin typeface="+mn-lt"/>
              </a:rPr>
              <a:t>CPU </a:t>
            </a:r>
            <a:r>
              <a:rPr lang="es-ES" sz="2000" b="1" dirty="0" err="1">
                <a:latin typeface="+mn-lt"/>
              </a:rPr>
              <a:t>context</a:t>
            </a:r>
            <a:r>
              <a:rPr lang="es-ES" sz="2000" dirty="0">
                <a:latin typeface="+mn-lt"/>
              </a:rPr>
              <a:t> (</a:t>
            </a:r>
            <a:r>
              <a:rPr lang="es-ES" sz="2000" dirty="0" err="1">
                <a:latin typeface="+mn-lt"/>
              </a:rPr>
              <a:t>Registers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b="1" dirty="0">
                <a:latin typeface="+mn-lt"/>
              </a:rPr>
              <a:t>OS </a:t>
            </a:r>
            <a:r>
              <a:rPr lang="es-ES" sz="2000" b="1" dirty="0" err="1">
                <a:latin typeface="+mn-lt"/>
              </a:rPr>
              <a:t>Resources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dirty="0">
                <a:latin typeface="+mn-lt"/>
              </a:rPr>
              <a:t>(Address </a:t>
            </a:r>
            <a:r>
              <a:rPr lang="es-ES" sz="2000" dirty="0" err="1">
                <a:latin typeface="+mn-lt"/>
              </a:rPr>
              <a:t>Space</a:t>
            </a:r>
            <a:r>
              <a:rPr lang="es-ES" sz="2000" dirty="0">
                <a:latin typeface="+mn-lt"/>
              </a:rPr>
              <a:t>, Open files, </a:t>
            </a:r>
            <a:r>
              <a:rPr lang="es-ES" sz="2000" dirty="0" err="1">
                <a:latin typeface="+mn-lt"/>
              </a:rPr>
              <a:t>etc</a:t>
            </a:r>
            <a:r>
              <a:rPr lang="es-ES" sz="2000" dirty="0">
                <a:latin typeface="+mn-lt"/>
              </a:rPr>
              <a:t>).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b="1" dirty="0">
                <a:latin typeface="+mn-lt"/>
              </a:rPr>
              <a:t>Otra información </a:t>
            </a:r>
            <a:r>
              <a:rPr lang="es-ES" sz="2000" dirty="0">
                <a:latin typeface="+mn-lt"/>
              </a:rPr>
              <a:t>(PID, </a:t>
            </a:r>
            <a:r>
              <a:rPr lang="es-ES" sz="2000" dirty="0" err="1">
                <a:latin typeface="+mn-lt"/>
              </a:rPr>
              <a:t>state</a:t>
            </a:r>
            <a:r>
              <a:rPr lang="es-ES" sz="2000" dirty="0">
                <a:latin typeface="+mn-lt"/>
              </a:rPr>
              <a:t>, </a:t>
            </a:r>
            <a:r>
              <a:rPr lang="es-ES" sz="2000" dirty="0" err="1">
                <a:latin typeface="+mn-lt"/>
              </a:rPr>
              <a:t>owner</a:t>
            </a:r>
            <a:r>
              <a:rPr lang="es-ES" sz="2000" dirty="0">
                <a:latin typeface="+mn-lt"/>
              </a:rPr>
              <a:t>, </a:t>
            </a:r>
            <a:r>
              <a:rPr lang="es-ES" sz="2000" dirty="0" err="1">
                <a:latin typeface="+mn-lt"/>
              </a:rPr>
              <a:t>etc</a:t>
            </a:r>
            <a:r>
              <a:rPr lang="es-ES" sz="2000" dirty="0">
                <a:latin typeface="+mn-lt"/>
              </a:rPr>
              <a:t>).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622" name="Google Shape;62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9187" y="3003700"/>
            <a:ext cx="1792075" cy="2911174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4"/>
          <p:cNvSpPr txBox="1"/>
          <p:nvPr/>
        </p:nvSpPr>
        <p:spPr>
          <a:xfrm>
            <a:off x="9016575" y="5914875"/>
            <a:ext cx="71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PCB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629" name="Google Shape;629;p35"/>
          <p:cNvSpPr txBox="1">
            <a:spLocks noGrp="1"/>
          </p:cNvSpPr>
          <p:nvPr>
            <p:ph type="body" idx="1"/>
          </p:nvPr>
        </p:nvSpPr>
        <p:spPr>
          <a:xfrm>
            <a:off x="916650" y="835600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Procesos e hilos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630" name="Google Shape;630;p35"/>
          <p:cNvGrpSpPr/>
          <p:nvPr/>
        </p:nvGrpSpPr>
        <p:grpSpPr>
          <a:xfrm>
            <a:off x="2446650" y="2057588"/>
            <a:ext cx="2548275" cy="853200"/>
            <a:chOff x="1589500" y="3672000"/>
            <a:chExt cx="2548275" cy="853200"/>
          </a:xfrm>
        </p:grpSpPr>
        <p:sp>
          <p:nvSpPr>
            <p:cNvPr id="631" name="Google Shape;631;p35"/>
            <p:cNvSpPr/>
            <p:nvPr/>
          </p:nvSpPr>
          <p:spPr>
            <a:xfrm>
              <a:off x="1589500" y="3672000"/>
              <a:ext cx="869400" cy="8532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5"/>
            <p:cNvSpPr txBox="1"/>
            <p:nvPr/>
          </p:nvSpPr>
          <p:spPr>
            <a:xfrm>
              <a:off x="2560075" y="3913500"/>
              <a:ext cx="15777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 dirty="0">
                  <a:latin typeface="Roboto"/>
                  <a:ea typeface="Roboto"/>
                  <a:cs typeface="Roboto"/>
                  <a:sym typeface="Roboto"/>
                </a:rPr>
                <a:t>Proceso</a:t>
              </a:r>
              <a:endParaRPr sz="2200" b="1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3" name="Google Shape;633;p35"/>
          <p:cNvGrpSpPr/>
          <p:nvPr/>
        </p:nvGrpSpPr>
        <p:grpSpPr>
          <a:xfrm>
            <a:off x="2671985" y="5031738"/>
            <a:ext cx="2142465" cy="763575"/>
            <a:chOff x="2367185" y="4955538"/>
            <a:chExt cx="2142465" cy="763575"/>
          </a:xfrm>
        </p:grpSpPr>
        <p:pic>
          <p:nvPicPr>
            <p:cNvPr id="634" name="Google Shape;63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67185" y="4955538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35"/>
            <p:cNvSpPr txBox="1"/>
            <p:nvPr/>
          </p:nvSpPr>
          <p:spPr>
            <a:xfrm>
              <a:off x="2931950" y="5152213"/>
              <a:ext cx="15777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latin typeface="Roboto"/>
                  <a:ea typeface="Roboto"/>
                  <a:cs typeface="Roboto"/>
                  <a:sym typeface="Roboto"/>
                </a:rPr>
                <a:t>Hilo</a:t>
              </a:r>
              <a:endParaRPr sz="22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36" name="Google Shape;636;p35"/>
          <p:cNvSpPr/>
          <p:nvPr/>
        </p:nvSpPr>
        <p:spPr>
          <a:xfrm>
            <a:off x="6081163" y="3446188"/>
            <a:ext cx="1366500" cy="1312500"/>
          </a:xfrm>
          <a:prstGeom prst="ellipse">
            <a:avLst/>
          </a:prstGeom>
          <a:solidFill>
            <a:srgbClr val="000000">
              <a:alpha val="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7" name="Google Shape;63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2772" y="3720650"/>
            <a:ext cx="363275" cy="76357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35"/>
          <p:cNvSpPr/>
          <p:nvPr/>
        </p:nvSpPr>
        <p:spPr>
          <a:xfrm>
            <a:off x="9727063" y="3350238"/>
            <a:ext cx="1425000" cy="1376700"/>
          </a:xfrm>
          <a:prstGeom prst="ellipse">
            <a:avLst/>
          </a:prstGeom>
          <a:solidFill>
            <a:srgbClr val="000000">
              <a:alpha val="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9" name="Google Shape;63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7922" y="3656800"/>
            <a:ext cx="363275" cy="76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4647" y="3656813"/>
            <a:ext cx="363275" cy="76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21197" y="3656813"/>
            <a:ext cx="363275" cy="763575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35"/>
          <p:cNvSpPr txBox="1"/>
          <p:nvPr/>
        </p:nvSpPr>
        <p:spPr>
          <a:xfrm>
            <a:off x="5975575" y="4885966"/>
            <a:ext cx="15777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Un</a:t>
            </a:r>
            <a:r>
              <a:rPr lang="es-ES" sz="2000">
                <a:latin typeface="Roboto"/>
                <a:ea typeface="Roboto"/>
                <a:cs typeface="Roboto"/>
                <a:sym typeface="Roboto"/>
              </a:rPr>
              <a:t> hilo de ejecución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35"/>
          <p:cNvSpPr txBox="1"/>
          <p:nvPr/>
        </p:nvSpPr>
        <p:spPr>
          <a:xfrm>
            <a:off x="9727075" y="4885977"/>
            <a:ext cx="1577700" cy="10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Múltiples</a:t>
            </a:r>
            <a:r>
              <a:rPr lang="es-ES" sz="2000">
                <a:latin typeface="Roboto"/>
                <a:ea typeface="Roboto"/>
                <a:cs typeface="Roboto"/>
                <a:sym typeface="Roboto"/>
              </a:rPr>
              <a:t> hilos de ejecución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4" name="Google Shape;644;p35"/>
          <p:cNvCxnSpPr/>
          <p:nvPr/>
        </p:nvCxnSpPr>
        <p:spPr>
          <a:xfrm>
            <a:off x="7861300" y="4149725"/>
            <a:ext cx="1487100" cy="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45" name="Google Shape;64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3921" y="1852000"/>
            <a:ext cx="1300991" cy="13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82706" y="2380525"/>
            <a:ext cx="940143" cy="53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45856" y="2380537"/>
            <a:ext cx="940143" cy="53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09006" y="2380525"/>
            <a:ext cx="940143" cy="53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646" y="1852000"/>
            <a:ext cx="1300991" cy="13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93575" y="4582099"/>
            <a:ext cx="794825" cy="164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6"/>
          <p:cNvSpPr txBox="1">
            <a:spLocks noGrp="1"/>
          </p:cNvSpPr>
          <p:nvPr>
            <p:ph type="title"/>
          </p:nvPr>
        </p:nvSpPr>
        <p:spPr>
          <a:xfrm>
            <a:off x="707923" y="96050"/>
            <a:ext cx="851265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656" name="Google Shape;656;p36"/>
          <p:cNvSpPr txBox="1">
            <a:spLocks noGrp="1"/>
          </p:cNvSpPr>
          <p:nvPr>
            <p:ph type="body" idx="1"/>
          </p:nvPr>
        </p:nvSpPr>
        <p:spPr>
          <a:xfrm>
            <a:off x="707923" y="1107925"/>
            <a:ext cx="5083052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Proceso con un solo hilo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657" name="Google Shape;6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9750" y="1893025"/>
            <a:ext cx="3268575" cy="449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6"/>
          <p:cNvSpPr/>
          <p:nvPr/>
        </p:nvSpPr>
        <p:spPr>
          <a:xfrm>
            <a:off x="1358163" y="3791363"/>
            <a:ext cx="1366500" cy="1312500"/>
          </a:xfrm>
          <a:prstGeom prst="ellipse">
            <a:avLst/>
          </a:prstGeom>
          <a:solidFill>
            <a:srgbClr val="000000">
              <a:alpha val="0"/>
            </a:srgb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9" name="Google Shape;65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9785" y="4065838"/>
            <a:ext cx="363275" cy="763575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36"/>
          <p:cNvSpPr txBox="1"/>
          <p:nvPr/>
        </p:nvSpPr>
        <p:spPr>
          <a:xfrm>
            <a:off x="1176363" y="5174766"/>
            <a:ext cx="15777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</a:rPr>
              <a:t>Un</a:t>
            </a:r>
            <a:r>
              <a:rPr lang="es-ES" sz="2000"/>
              <a:t> hilo de ejecución</a:t>
            </a:r>
            <a:endParaRPr sz="2000"/>
          </a:p>
        </p:txBody>
      </p:sp>
      <p:pic>
        <p:nvPicPr>
          <p:cNvPr id="661" name="Google Shape;66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4734" y="2020300"/>
            <a:ext cx="1300991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36"/>
          <p:cNvSpPr txBox="1">
            <a:spLocks noGrp="1"/>
          </p:cNvSpPr>
          <p:nvPr>
            <p:ph type="body" idx="1"/>
          </p:nvPr>
        </p:nvSpPr>
        <p:spPr>
          <a:xfrm>
            <a:off x="7163000" y="2020300"/>
            <a:ext cx="4728600" cy="347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b="1" dirty="0">
                <a:latin typeface="+mn-lt"/>
              </a:rPr>
              <a:t>Un proceso con un solo hilo se caracteriza por que:</a:t>
            </a:r>
            <a:endParaRPr sz="2200" b="1" dirty="0">
              <a:latin typeface="+mn-lt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>
                <a:latin typeface="+mn-lt"/>
              </a:rPr>
              <a:t>Tiene un único hilo de ejecución (a cuyo estado se asocian los registros de la CPU: PC, SP, </a:t>
            </a:r>
            <a:r>
              <a:rPr lang="es-ES" sz="2100" dirty="0" err="1">
                <a:latin typeface="+mn-lt"/>
              </a:rPr>
              <a:t>PGs</a:t>
            </a:r>
            <a:r>
              <a:rPr lang="es-ES" sz="2100" dirty="0">
                <a:latin typeface="+mn-lt"/>
              </a:rPr>
              <a:t>, etc.).</a:t>
            </a:r>
            <a:endParaRPr sz="2100" dirty="0">
              <a:latin typeface="+mn-lt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>
                <a:latin typeface="+mn-lt"/>
              </a:rPr>
              <a:t>Un espacio de direcciones único (</a:t>
            </a:r>
            <a:r>
              <a:rPr lang="es-ES" sz="2100" dirty="0" err="1">
                <a:latin typeface="+mn-lt"/>
              </a:rPr>
              <a:t>code</a:t>
            </a:r>
            <a:r>
              <a:rPr lang="es-ES" sz="2100" dirty="0">
                <a:latin typeface="+mn-lt"/>
              </a:rPr>
              <a:t>, </a:t>
            </a:r>
            <a:r>
              <a:rPr lang="es-ES" sz="2100" dirty="0" err="1">
                <a:latin typeface="+mn-lt"/>
              </a:rPr>
              <a:t>stack</a:t>
            </a:r>
            <a:r>
              <a:rPr lang="es-ES" sz="2100" dirty="0">
                <a:latin typeface="+mn-lt"/>
              </a:rPr>
              <a:t> y </a:t>
            </a:r>
            <a:r>
              <a:rPr lang="es-ES" sz="2100" dirty="0" err="1">
                <a:latin typeface="+mn-lt"/>
              </a:rPr>
              <a:t>heap</a:t>
            </a:r>
            <a:r>
              <a:rPr lang="es-ES" sz="2100" dirty="0">
                <a:latin typeface="+mn-lt"/>
              </a:rPr>
              <a:t>).</a:t>
            </a:r>
            <a:endParaRPr sz="21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668" name="Google Shape;668;p37"/>
          <p:cNvSpPr txBox="1">
            <a:spLocks noGrp="1"/>
          </p:cNvSpPr>
          <p:nvPr>
            <p:ph type="body" idx="1"/>
          </p:nvPr>
        </p:nvSpPr>
        <p:spPr>
          <a:xfrm>
            <a:off x="1075950" y="835600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Proceso multihilo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669" name="Google Shape;669;p37"/>
          <p:cNvGrpSpPr/>
          <p:nvPr/>
        </p:nvGrpSpPr>
        <p:grpSpPr>
          <a:xfrm>
            <a:off x="1212913" y="3343688"/>
            <a:ext cx="1425000" cy="1376700"/>
            <a:chOff x="8812663" y="3274038"/>
            <a:chExt cx="1425000" cy="1376700"/>
          </a:xfrm>
        </p:grpSpPr>
        <p:sp>
          <p:nvSpPr>
            <p:cNvPr id="670" name="Google Shape;670;p37"/>
            <p:cNvSpPr/>
            <p:nvPr/>
          </p:nvSpPr>
          <p:spPr>
            <a:xfrm>
              <a:off x="8812663" y="3274038"/>
              <a:ext cx="1425000" cy="13767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71" name="Google Shape;67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343522" y="3580600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2" name="Google Shape;672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80247" y="3580613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3" name="Google Shape;67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706797" y="3580613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4" name="Google Shape;674;p37"/>
          <p:cNvSpPr txBox="1"/>
          <p:nvPr/>
        </p:nvSpPr>
        <p:spPr>
          <a:xfrm>
            <a:off x="1212925" y="4837802"/>
            <a:ext cx="1577700" cy="10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38761D"/>
                </a:solidFill>
              </a:rPr>
              <a:t>Múltiples</a:t>
            </a:r>
            <a:r>
              <a:rPr lang="es-ES" sz="2000"/>
              <a:t> hilos de ejecución</a:t>
            </a:r>
            <a:endParaRPr sz="2000"/>
          </a:p>
        </p:txBody>
      </p:sp>
      <p:pic>
        <p:nvPicPr>
          <p:cNvPr id="675" name="Google Shape;67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5725" y="2010500"/>
            <a:ext cx="3955775" cy="43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4424" y="2010501"/>
            <a:ext cx="1819075" cy="102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37"/>
          <p:cNvSpPr txBox="1">
            <a:spLocks noGrp="1"/>
          </p:cNvSpPr>
          <p:nvPr>
            <p:ph type="body" idx="1"/>
          </p:nvPr>
        </p:nvSpPr>
        <p:spPr>
          <a:xfrm>
            <a:off x="7219100" y="1431250"/>
            <a:ext cx="4728600" cy="300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b="1" dirty="0">
                <a:latin typeface="+mn-lt"/>
              </a:rPr>
              <a:t>Un proceso con varios hilos se caracteriza por:</a:t>
            </a:r>
            <a:endParaRPr sz="2200" b="1" dirty="0">
              <a:latin typeface="+mn-lt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>
                <a:latin typeface="+mn-lt"/>
              </a:rPr>
              <a:t>Múltiples puntos de ejecución.</a:t>
            </a:r>
            <a:endParaRPr sz="2100" dirty="0">
              <a:latin typeface="+mn-lt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>
                <a:latin typeface="+mn-lt"/>
              </a:rPr>
              <a:t>Múltiples PC (</a:t>
            </a:r>
            <a:r>
              <a:rPr lang="es-ES" sz="2100" dirty="0" err="1">
                <a:latin typeface="+mn-lt"/>
              </a:rPr>
              <a:t>Program</a:t>
            </a:r>
            <a:r>
              <a:rPr lang="es-ES" sz="2100" dirty="0">
                <a:latin typeface="+mn-lt"/>
              </a:rPr>
              <a:t> Counter)</a:t>
            </a:r>
            <a:endParaRPr sz="2100" dirty="0">
              <a:latin typeface="+mn-lt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>
                <a:latin typeface="+mn-lt"/>
              </a:rPr>
              <a:t>Compartir el mismo espacio de direccionamiento entre hilos.</a:t>
            </a:r>
            <a:endParaRPr sz="21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8"/>
          <p:cNvSpPr txBox="1">
            <a:spLocks noGrp="1"/>
          </p:cNvSpPr>
          <p:nvPr>
            <p:ph type="title"/>
          </p:nvPr>
        </p:nvSpPr>
        <p:spPr>
          <a:xfrm>
            <a:off x="560439" y="96038"/>
            <a:ext cx="866021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683" name="Google Shape;683;p38"/>
          <p:cNvSpPr txBox="1">
            <a:spLocks noGrp="1"/>
          </p:cNvSpPr>
          <p:nvPr>
            <p:ph type="body" idx="1"/>
          </p:nvPr>
        </p:nvSpPr>
        <p:spPr>
          <a:xfrm>
            <a:off x="560439" y="835600"/>
            <a:ext cx="8540211" cy="588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j-lt"/>
              </a:rPr>
              <a:t>Tendencias de CPUs</a:t>
            </a:r>
            <a:endParaRPr sz="2800" b="1" dirty="0">
              <a:solidFill>
                <a:schemeClr val="accent1"/>
              </a:solidFill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j-lt"/>
              </a:rPr>
              <a:t>Tendencia: </a:t>
            </a:r>
            <a:endParaRPr sz="2200" b="1" dirty="0">
              <a:latin typeface="+mj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dirty="0">
                <a:latin typeface="+mj-lt"/>
              </a:rPr>
              <a:t>Igual velocidad.</a:t>
            </a:r>
            <a:endParaRPr dirty="0">
              <a:latin typeface="+mj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dirty="0">
                <a:latin typeface="+mj-lt"/>
              </a:rPr>
              <a:t>Más núcleos.</a:t>
            </a:r>
            <a:endParaRPr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j-lt"/>
              </a:rPr>
              <a:t>Programas más rápidos → Ejecución concurrente.</a:t>
            </a:r>
            <a:endParaRPr sz="2200" dirty="0"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j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j-lt"/>
              </a:rPr>
              <a:t>Objetivo</a:t>
            </a:r>
            <a:r>
              <a:rPr lang="es-ES" sz="2200" dirty="0">
                <a:latin typeface="+mj-lt"/>
              </a:rPr>
              <a:t>: Escribir aplicaciones que utilicen varias CPUs → </a:t>
            </a:r>
            <a:r>
              <a:rPr lang="es-ES" sz="2200" b="1" dirty="0">
                <a:solidFill>
                  <a:srgbClr val="FF0000"/>
                </a:solidFill>
                <a:latin typeface="+mj-lt"/>
              </a:rPr>
              <a:t>¿Oh y ahora quién podrá ayudarme?</a:t>
            </a:r>
            <a:endParaRPr sz="2200" b="1" dirty="0">
              <a:solidFill>
                <a:srgbClr val="FF0000"/>
              </a:solidFill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j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j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j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j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j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</p:txBody>
      </p:sp>
      <p:grpSp>
        <p:nvGrpSpPr>
          <p:cNvPr id="684" name="Google Shape;684;p38"/>
          <p:cNvGrpSpPr/>
          <p:nvPr/>
        </p:nvGrpSpPr>
        <p:grpSpPr>
          <a:xfrm>
            <a:off x="3852375" y="1858450"/>
            <a:ext cx="5157900" cy="1628750"/>
            <a:chOff x="5636325" y="2545650"/>
            <a:chExt cx="5157900" cy="1628750"/>
          </a:xfrm>
        </p:grpSpPr>
        <p:sp>
          <p:nvSpPr>
            <p:cNvPr id="685" name="Google Shape;685;p38"/>
            <p:cNvSpPr/>
            <p:nvPr/>
          </p:nvSpPr>
          <p:spPr>
            <a:xfrm>
              <a:off x="5636600" y="2545650"/>
              <a:ext cx="1122000" cy="10938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CPU1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86" name="Google Shape;686;p38"/>
            <p:cNvSpPr/>
            <p:nvPr/>
          </p:nvSpPr>
          <p:spPr>
            <a:xfrm>
              <a:off x="7654275" y="2545650"/>
              <a:ext cx="1122000" cy="10938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CPU2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87" name="Google Shape;687;p38"/>
            <p:cNvSpPr/>
            <p:nvPr/>
          </p:nvSpPr>
          <p:spPr>
            <a:xfrm>
              <a:off x="9671950" y="2545650"/>
              <a:ext cx="1122000" cy="1093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RAM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688" name="Google Shape;688;p38"/>
            <p:cNvCxnSpPr/>
            <p:nvPr/>
          </p:nvCxnSpPr>
          <p:spPr>
            <a:xfrm>
              <a:off x="5636325" y="4174400"/>
              <a:ext cx="51579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9" name="Google Shape;689;p38"/>
            <p:cNvCxnSpPr/>
            <p:nvPr/>
          </p:nvCxnSpPr>
          <p:spPr>
            <a:xfrm>
              <a:off x="6197600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0" name="Google Shape;690;p38"/>
            <p:cNvCxnSpPr/>
            <p:nvPr/>
          </p:nvCxnSpPr>
          <p:spPr>
            <a:xfrm>
              <a:off x="8213925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1" name="Google Shape;691;p38"/>
            <p:cNvCxnSpPr/>
            <p:nvPr/>
          </p:nvCxnSpPr>
          <p:spPr>
            <a:xfrm>
              <a:off x="10230250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692" name="Google Shape;69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0275" y="3974175"/>
            <a:ext cx="1963977" cy="27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9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698" name="Google Shape;698;p39"/>
          <p:cNvSpPr txBox="1">
            <a:spLocks noGrp="1"/>
          </p:cNvSpPr>
          <p:nvPr>
            <p:ph type="body" idx="1"/>
          </p:nvPr>
        </p:nvSpPr>
        <p:spPr>
          <a:xfrm>
            <a:off x="952500" y="961825"/>
            <a:ext cx="10717500" cy="65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Desarrollo de aplicaciones concurrentes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99" name="Google Shape;699;p39"/>
          <p:cNvGraphicFramePr/>
          <p:nvPr>
            <p:extLst>
              <p:ext uri="{D42A27DB-BD31-4B8C-83A1-F6EECF244321}">
                <p14:modId xmlns:p14="http://schemas.microsoft.com/office/powerpoint/2010/main" val="231861902"/>
              </p:ext>
            </p:extLst>
          </p:nvPr>
        </p:nvGraphicFramePr>
        <p:xfrm>
          <a:off x="952500" y="1709600"/>
          <a:ext cx="10994000" cy="47548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5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Aproximación 1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Aproximación 2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50">
                <a:tc>
                  <a:txBody>
                    <a:bodyPr/>
                    <a:lstStyle/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Roboto"/>
                        <a:buChar char="●"/>
                      </a:pP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Construir aplicaciones a partir de procesos que se comunican entre sí.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Roboto"/>
                        <a:buChar char="●"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Ejemplo</a:t>
                      </a: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: Pestañas de un navegador.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Roboto"/>
                        <a:buChar char="●"/>
                      </a:pP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Usando una nueva abstracción conocida como thread (hilo - hebra - proceso ligero - miniproceso).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Roboto"/>
                        <a:buChar char="●"/>
                      </a:pP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Los hilos son como los procesos excepto que, múltiples hilos de un mismo proceso comparten el mismo espacio de direcciones (AS).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Roboto"/>
                        <a:buChar char="●"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Ejemplo</a:t>
                      </a: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: Procesador de Texto.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00" name="Google Shape;700;p39"/>
          <p:cNvGrpSpPr/>
          <p:nvPr/>
        </p:nvGrpSpPr>
        <p:grpSpPr>
          <a:xfrm>
            <a:off x="8699120" y="4192225"/>
            <a:ext cx="1425000" cy="1376700"/>
            <a:chOff x="8812663" y="3274038"/>
            <a:chExt cx="1425000" cy="1376700"/>
          </a:xfrm>
        </p:grpSpPr>
        <p:sp>
          <p:nvSpPr>
            <p:cNvPr id="701" name="Google Shape;701;p39"/>
            <p:cNvSpPr/>
            <p:nvPr/>
          </p:nvSpPr>
          <p:spPr>
            <a:xfrm>
              <a:off x="8812663" y="3274038"/>
              <a:ext cx="1425000" cy="13767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02" name="Google Shape;70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343522" y="3580600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3" name="Google Shape;70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80247" y="3580613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4" name="Google Shape;70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706797" y="3580613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5" name="Google Shape;705;p39"/>
          <p:cNvGrpSpPr/>
          <p:nvPr/>
        </p:nvGrpSpPr>
        <p:grpSpPr>
          <a:xfrm>
            <a:off x="1409175" y="3354463"/>
            <a:ext cx="4578505" cy="2214463"/>
            <a:chOff x="1332975" y="3202063"/>
            <a:chExt cx="4578505" cy="2214463"/>
          </a:xfrm>
        </p:grpSpPr>
        <p:pic>
          <p:nvPicPr>
            <p:cNvPr id="706" name="Google Shape;70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32975" y="4039825"/>
              <a:ext cx="4578505" cy="1376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7" name="Google Shape;707;p39"/>
            <p:cNvGrpSpPr/>
            <p:nvPr/>
          </p:nvGrpSpPr>
          <p:grpSpPr>
            <a:xfrm>
              <a:off x="1516525" y="3202063"/>
              <a:ext cx="659100" cy="658200"/>
              <a:chOff x="1474450" y="3202063"/>
              <a:chExt cx="659100" cy="658200"/>
            </a:xfrm>
          </p:grpSpPr>
          <p:sp>
            <p:nvSpPr>
              <p:cNvPr id="708" name="Google Shape;708;p39"/>
              <p:cNvSpPr/>
              <p:nvPr/>
            </p:nvSpPr>
            <p:spPr>
              <a:xfrm>
                <a:off x="1474450" y="3202063"/>
                <a:ext cx="659100" cy="6582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09" name="Google Shape;709;p3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693003" y="3297846"/>
                <a:ext cx="221999" cy="466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10" name="Google Shape;710;p39"/>
            <p:cNvGrpSpPr/>
            <p:nvPr/>
          </p:nvGrpSpPr>
          <p:grpSpPr>
            <a:xfrm>
              <a:off x="5048825" y="3202063"/>
              <a:ext cx="659100" cy="658200"/>
              <a:chOff x="1474450" y="3202063"/>
              <a:chExt cx="659100" cy="658200"/>
            </a:xfrm>
          </p:grpSpPr>
          <p:sp>
            <p:nvSpPr>
              <p:cNvPr id="711" name="Google Shape;711;p39"/>
              <p:cNvSpPr/>
              <p:nvPr/>
            </p:nvSpPr>
            <p:spPr>
              <a:xfrm>
                <a:off x="1474450" y="3202063"/>
                <a:ext cx="659100" cy="6582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712" name="Google Shape;712;p3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693003" y="3297846"/>
                <a:ext cx="221999" cy="466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718" name="Google Shape;718;p40"/>
          <p:cNvSpPr txBox="1">
            <a:spLocks noGrp="1"/>
          </p:cNvSpPr>
          <p:nvPr>
            <p:ph type="body" idx="1"/>
          </p:nvPr>
        </p:nvSpPr>
        <p:spPr>
          <a:xfrm>
            <a:off x="1075950" y="835600"/>
            <a:ext cx="10760400" cy="1822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Ejemplos - Browser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Un browser es una aplicación que permite desplegar el contenido de un sitio web.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Muchos navegadores modernos permiten navegar a través de diferentes páginas usando pestañas.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Cada una de las pestañas del navegador representa un proceso separado.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19" name="Google Shape;71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825" y="2927087"/>
            <a:ext cx="8226351" cy="135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40"/>
          <p:cNvSpPr txBox="1">
            <a:spLocks noGrp="1"/>
          </p:cNvSpPr>
          <p:nvPr>
            <p:ph type="body" idx="1"/>
          </p:nvPr>
        </p:nvSpPr>
        <p:spPr>
          <a:xfrm>
            <a:off x="916650" y="4550225"/>
            <a:ext cx="10760400" cy="216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lang="es-ES" sz="2000" b="1" dirty="0">
                <a:solidFill>
                  <a:srgbClr val="FF0000"/>
                </a:solidFill>
                <a:latin typeface="+mn-lt"/>
              </a:rPr>
              <a:t>Problema</a:t>
            </a:r>
            <a:r>
              <a:rPr lang="es-ES" sz="2000" dirty="0">
                <a:solidFill>
                  <a:srgbClr val="FF0000"/>
                </a:solidFill>
                <a:latin typeface="+mn-lt"/>
              </a:rPr>
              <a:t>:</a:t>
            </a:r>
            <a:endParaRPr sz="2000" dirty="0">
              <a:solidFill>
                <a:srgbClr val="FF0000"/>
              </a:solidFill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Cuando el contenido dinámico (aplicaciones hechas en </a:t>
            </a:r>
            <a:r>
              <a:rPr lang="es-ES" sz="2000" dirty="0" err="1">
                <a:latin typeface="+mn-lt"/>
              </a:rPr>
              <a:t>javascript</a:t>
            </a:r>
            <a:r>
              <a:rPr lang="es-ES" sz="2000" dirty="0">
                <a:latin typeface="+mn-lt"/>
              </a:rPr>
              <a:t>, flash, </a:t>
            </a:r>
            <a:r>
              <a:rPr lang="es-ES" sz="2000" dirty="0" err="1">
                <a:latin typeface="+mn-lt"/>
              </a:rPr>
              <a:t>html</a:t>
            </a:r>
            <a:r>
              <a:rPr lang="es-ES" sz="2000" dirty="0">
                <a:latin typeface="+mn-lt"/>
              </a:rPr>
              <a:t> 5) de un </a:t>
            </a:r>
            <a:r>
              <a:rPr lang="es-ES" sz="2000" dirty="0" err="1">
                <a:latin typeface="+mn-lt"/>
              </a:rPr>
              <a:t>website</a:t>
            </a:r>
            <a:r>
              <a:rPr lang="es-ES" sz="2000" dirty="0">
                <a:latin typeface="+mn-lt"/>
              </a:rPr>
              <a:t> tiene bugs, este puede hacer ralentizar o incluso bloquear el browser.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Cuando una aplicación web bloquea una pestaña, el proceso entero (incluyendo todos los sitios webs desplegados en las </a:t>
            </a:r>
            <a:r>
              <a:rPr lang="es-ES" sz="2000" dirty="0" err="1">
                <a:latin typeface="+mn-lt"/>
              </a:rPr>
              <a:t>demas</a:t>
            </a:r>
            <a:r>
              <a:rPr lang="es-ES" sz="2000" dirty="0">
                <a:latin typeface="+mn-lt"/>
              </a:rPr>
              <a:t> pestañas) </a:t>
            </a:r>
            <a:r>
              <a:rPr lang="es-ES" sz="2000" dirty="0" err="1">
                <a:latin typeface="+mn-lt"/>
              </a:rPr>
              <a:t>tambien</a:t>
            </a:r>
            <a:r>
              <a:rPr lang="es-ES" sz="2000" dirty="0">
                <a:latin typeface="+mn-lt"/>
              </a:rPr>
              <a:t> se pueden bloquear.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726" name="Google Shape;726;p41"/>
          <p:cNvSpPr txBox="1">
            <a:spLocks noGrp="1"/>
          </p:cNvSpPr>
          <p:nvPr>
            <p:ph type="body" idx="1"/>
          </p:nvPr>
        </p:nvSpPr>
        <p:spPr>
          <a:xfrm>
            <a:off x="1075950" y="835600"/>
            <a:ext cx="6131400" cy="216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Browser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727" name="Google Shape;727;p41"/>
          <p:cNvSpPr txBox="1">
            <a:spLocks noGrp="1"/>
          </p:cNvSpPr>
          <p:nvPr>
            <p:ph type="body" idx="1"/>
          </p:nvPr>
        </p:nvSpPr>
        <p:spPr>
          <a:xfrm>
            <a:off x="916650" y="4550225"/>
            <a:ext cx="10760400" cy="216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b="1" dirty="0">
                <a:solidFill>
                  <a:srgbClr val="0B6937"/>
                </a:solidFill>
                <a:latin typeface="+mn-lt"/>
              </a:rPr>
              <a:t>Solución:</a:t>
            </a:r>
            <a:r>
              <a:rPr lang="es-ES" sz="2000" dirty="0">
                <a:latin typeface="+mn-lt"/>
              </a:rPr>
              <a:t> Arquitectura multiproceso de </a:t>
            </a:r>
            <a:r>
              <a:rPr lang="es-ES" sz="2000" dirty="0" err="1">
                <a:latin typeface="+mn-lt"/>
              </a:rPr>
              <a:t>google</a:t>
            </a:r>
            <a:r>
              <a:rPr lang="es-ES" sz="2000" dirty="0">
                <a:latin typeface="+mn-lt"/>
              </a:rPr>
              <a:t> donde se identifican tres tipos de procesos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3"/>
              </a:rPr>
              <a:t>link</a:t>
            </a:r>
            <a:r>
              <a:rPr lang="es-ES" sz="2000" dirty="0">
                <a:latin typeface="+mn-lt"/>
              </a:rPr>
              <a:t>):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Browser: Encargado de la interfaz de usuario, el disco y los datos de red.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Render: Contiene la lógica para renderizar las páginas web (</a:t>
            </a:r>
            <a:r>
              <a:rPr lang="es-ES" sz="2000" dirty="0" err="1">
                <a:latin typeface="+mn-lt"/>
              </a:rPr>
              <a:t>html</a:t>
            </a:r>
            <a:r>
              <a:rPr lang="es-ES" sz="2000" dirty="0">
                <a:latin typeface="+mn-lt"/>
              </a:rPr>
              <a:t>, </a:t>
            </a:r>
            <a:r>
              <a:rPr lang="es-ES" sz="2000" dirty="0" err="1">
                <a:latin typeface="+mn-lt"/>
              </a:rPr>
              <a:t>javascript</a:t>
            </a:r>
            <a:r>
              <a:rPr lang="es-ES" sz="2000" dirty="0">
                <a:latin typeface="+mn-lt"/>
              </a:rPr>
              <a:t>, imágenes, </a:t>
            </a:r>
            <a:r>
              <a:rPr lang="es-ES" sz="2000" dirty="0" err="1">
                <a:latin typeface="+mn-lt"/>
              </a:rPr>
              <a:t>etc</a:t>
            </a:r>
            <a:r>
              <a:rPr lang="es-ES" sz="2000" dirty="0">
                <a:latin typeface="+mn-lt"/>
              </a:rPr>
              <a:t>).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Plug-in: Proceso creado para cada tipo de </a:t>
            </a:r>
            <a:r>
              <a:rPr lang="es-ES" sz="2000" dirty="0" err="1">
                <a:latin typeface="+mn-lt"/>
              </a:rPr>
              <a:t>pluging</a:t>
            </a:r>
            <a:r>
              <a:rPr lang="es-ES" sz="2000" dirty="0">
                <a:latin typeface="+mn-lt"/>
              </a:rPr>
              <a:t> (flash, </a:t>
            </a:r>
            <a:r>
              <a:rPr lang="es-ES" sz="2000" dirty="0" err="1">
                <a:latin typeface="+mn-lt"/>
              </a:rPr>
              <a:t>quicktime</a:t>
            </a:r>
            <a:r>
              <a:rPr lang="es-ES" sz="2000" dirty="0">
                <a:latin typeface="+mn-lt"/>
              </a:rPr>
              <a:t> )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28" name="Google Shape;72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1125" y="1545900"/>
            <a:ext cx="5185926" cy="2637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4363" y="1456538"/>
            <a:ext cx="4697426" cy="26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41"/>
          <p:cNvSpPr txBox="1"/>
          <p:nvPr/>
        </p:nvSpPr>
        <p:spPr>
          <a:xfrm>
            <a:off x="2705488" y="4183275"/>
            <a:ext cx="1795200" cy="525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6"/>
              </a:rPr>
              <a:t>Link animación</a:t>
            </a:r>
            <a:endParaRPr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2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736" name="Google Shape;736;p42"/>
          <p:cNvSpPr txBox="1">
            <a:spLocks noGrp="1"/>
          </p:cNvSpPr>
          <p:nvPr>
            <p:ph type="body" idx="1"/>
          </p:nvPr>
        </p:nvSpPr>
        <p:spPr>
          <a:xfrm>
            <a:off x="916650" y="919750"/>
            <a:ext cx="5780700" cy="553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Ejemplo - Procesador de texto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Un procesador de texto es un programa que muestra un documento en pantalla exactamente como aparecerá cuando se imprima.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Puede ser concebido como un proceso con varios hilos, por ejemplo suponiendo tres hilos:</a:t>
            </a:r>
            <a:endParaRPr sz="2000" dirty="0">
              <a:latin typeface="+mn-l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sz="1800" b="1" dirty="0">
                <a:latin typeface="+mn-lt"/>
              </a:rPr>
              <a:t>Hilo 1</a:t>
            </a:r>
            <a:r>
              <a:rPr lang="es-ES" sz="1800" dirty="0">
                <a:latin typeface="+mn-lt"/>
              </a:rPr>
              <a:t>: Encargado de la interacción con el usuario.</a:t>
            </a:r>
            <a:endParaRPr sz="1800" dirty="0">
              <a:latin typeface="+mn-l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sz="1800" b="1" dirty="0">
                <a:latin typeface="+mn-lt"/>
              </a:rPr>
              <a:t>Hilo 2</a:t>
            </a:r>
            <a:r>
              <a:rPr lang="es-ES" sz="1800" dirty="0">
                <a:latin typeface="+mn-lt"/>
              </a:rPr>
              <a:t>: Encargado de dar el formato al documento cuando se le indica.</a:t>
            </a:r>
            <a:endParaRPr sz="1800" dirty="0">
              <a:latin typeface="+mn-l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sz="1800" b="1" dirty="0">
                <a:latin typeface="+mn-lt"/>
              </a:rPr>
              <a:t>Hilo 3</a:t>
            </a:r>
            <a:r>
              <a:rPr lang="es-ES" sz="1800" dirty="0">
                <a:latin typeface="+mn-lt"/>
              </a:rPr>
              <a:t>: Encargado de escribir periódicamente el contenido de la RAM al disco duro.</a:t>
            </a:r>
            <a:endParaRPr sz="18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Los tres hilos operan sobre el documento (memoria común compartida por los procesos).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37" name="Google Shape;73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2750" y="1205600"/>
            <a:ext cx="3135600" cy="24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7025" y="3848000"/>
            <a:ext cx="4834850" cy="2358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744" name="Google Shape;744;p43"/>
          <p:cNvSpPr txBox="1">
            <a:spLocks noGrp="1"/>
          </p:cNvSpPr>
          <p:nvPr>
            <p:ph type="body" idx="1"/>
          </p:nvPr>
        </p:nvSpPr>
        <p:spPr>
          <a:xfrm>
            <a:off x="1075950" y="961825"/>
            <a:ext cx="5121600" cy="548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Ejemplo - Servidor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Un servidor acepta y atiende peticiones hechas por clientes: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b="1" dirty="0">
                <a:latin typeface="+mn-lt"/>
              </a:rPr>
              <a:t>Servidor como solo proceso</a:t>
            </a:r>
            <a:r>
              <a:rPr lang="es-ES" sz="2000" dirty="0">
                <a:latin typeface="+mn-lt"/>
              </a:rPr>
              <a:t>: </a:t>
            </a:r>
            <a:endParaRPr sz="2000" dirty="0">
              <a:latin typeface="+mn-lt"/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-ES" sz="1900" dirty="0">
                <a:latin typeface="+mn-lt"/>
              </a:rPr>
              <a:t>Solo puede atender a un cliente a la vez.</a:t>
            </a:r>
            <a:endParaRPr sz="1900" dirty="0">
              <a:latin typeface="+mn-lt"/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-ES" sz="1900" dirty="0">
                <a:latin typeface="+mn-lt"/>
              </a:rPr>
              <a:t>Ineficiente ya que los demás clientes tiene que esperar para ser atendidos.</a:t>
            </a:r>
            <a:endParaRPr sz="19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b="1" dirty="0">
                <a:latin typeface="+mn-lt"/>
              </a:rPr>
              <a:t>Servidor de varios procesos</a:t>
            </a:r>
            <a:r>
              <a:rPr lang="es-ES" sz="2000" dirty="0">
                <a:latin typeface="+mn-lt"/>
              </a:rPr>
              <a:t>:</a:t>
            </a:r>
            <a:endParaRPr sz="2000" dirty="0">
              <a:latin typeface="+mn-lt"/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-ES" sz="1900" dirty="0">
                <a:latin typeface="+mn-lt"/>
              </a:rPr>
              <a:t>El servidor se ejecuta como un único proceso, el cual cada vez que recibe una petición, crea un proceso nuevo para atender dicha petición.</a:t>
            </a:r>
            <a:endParaRPr sz="1900" dirty="0">
              <a:latin typeface="+mn-lt"/>
            </a:endParaRPr>
          </a:p>
          <a:p>
            <a:pPr marL="914400" lvl="1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s-ES" sz="1900" dirty="0">
                <a:latin typeface="+mn-lt"/>
              </a:rPr>
              <a:t>La creación de procesos consume tiempo y es costosa.</a:t>
            </a: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45" name="Google Shape;74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0096" y="1514500"/>
            <a:ext cx="5374825" cy="3564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751" name="Google Shape;751;p44"/>
          <p:cNvSpPr txBox="1">
            <a:spLocks noGrp="1"/>
          </p:cNvSpPr>
          <p:nvPr>
            <p:ph type="body" idx="1"/>
          </p:nvPr>
        </p:nvSpPr>
        <p:spPr>
          <a:xfrm>
            <a:off x="1075950" y="1116125"/>
            <a:ext cx="10324800" cy="264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1"/>
                </a:solidFill>
                <a:latin typeface="+mn-lt"/>
              </a:rPr>
              <a:t>Ejemplo - Servidor</a:t>
            </a:r>
            <a:endParaRPr sz="2800" b="1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 startAt="3"/>
            </a:pPr>
            <a:r>
              <a:rPr lang="es-ES" sz="2000" b="1">
                <a:latin typeface="+mn-lt"/>
              </a:rPr>
              <a:t>Servidor Multihilo</a:t>
            </a:r>
            <a:r>
              <a:rPr lang="es-ES" sz="2000">
                <a:latin typeface="+mn-lt"/>
              </a:rPr>
              <a:t>: </a:t>
            </a:r>
            <a:endParaRPr sz="200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>
                <a:latin typeface="+mn-lt"/>
              </a:rPr>
              <a:t>El servidor se implementa usando un proceso con múltiples hilos. Para ello:</a:t>
            </a:r>
            <a:endParaRPr sz="2000">
              <a:latin typeface="+mn-lt"/>
            </a:endParaRPr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s-ES" sz="2000">
                <a:latin typeface="+mn-lt"/>
              </a:rPr>
              <a:t>El servidor crea un hilo separado que escucha por las peticiones de los clientes. </a:t>
            </a:r>
            <a:endParaRPr sz="2000">
              <a:latin typeface="+mn-lt"/>
            </a:endParaRPr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s-ES" sz="2000">
                <a:latin typeface="+mn-lt"/>
              </a:rPr>
              <a:t>Cuando una petición es recibida, el servidor crea un nuevo hilo para atender dicha petición y continúa pendiente de más peticiones.</a:t>
            </a:r>
            <a:endParaRPr sz="2000">
              <a:latin typeface="+mn-lt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+mn-lt"/>
            </a:endParaRPr>
          </a:p>
        </p:txBody>
      </p:sp>
      <p:pic>
        <p:nvPicPr>
          <p:cNvPr id="752" name="Google Shape;75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950" y="4178200"/>
            <a:ext cx="6457073" cy="230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04300" y="4110825"/>
            <a:ext cx="2854800" cy="257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Contextualización</a:t>
            </a:r>
            <a:endParaRPr>
              <a:latin typeface="+mj-lt"/>
            </a:endParaRPr>
          </a:p>
        </p:txBody>
      </p:sp>
      <p:sp>
        <p:nvSpPr>
          <p:cNvPr id="759" name="Google Shape;759;p45"/>
          <p:cNvSpPr txBox="1">
            <a:spLocks noGrp="1"/>
          </p:cNvSpPr>
          <p:nvPr>
            <p:ph type="body" idx="1"/>
          </p:nvPr>
        </p:nvSpPr>
        <p:spPr>
          <a:xfrm>
            <a:off x="457200" y="975875"/>
            <a:ext cx="11434200" cy="190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Ejemplo - Sistemas operativos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Muchos sistemas operativos también son multihilo.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En los sistemas Linux, durante el tiempo de </a:t>
            </a:r>
            <a:r>
              <a:rPr lang="es-ES" sz="2000" dirty="0" err="1">
                <a:latin typeface="+mn-lt"/>
              </a:rPr>
              <a:t>booteo</a:t>
            </a:r>
            <a:r>
              <a:rPr lang="es-ES" sz="2000" dirty="0">
                <a:latin typeface="+mn-lt"/>
              </a:rPr>
              <a:t>, varios hilos del </a:t>
            </a:r>
            <a:r>
              <a:rPr lang="es-ES" sz="2000" dirty="0" err="1">
                <a:latin typeface="+mn-lt"/>
              </a:rPr>
              <a:t>kernel</a:t>
            </a:r>
            <a:r>
              <a:rPr lang="es-ES" sz="2000" dirty="0">
                <a:latin typeface="+mn-lt"/>
              </a:rPr>
              <a:t> son creados para realizar una tarea específica (administrar dispositivos, gestionar memoria, manejar interrupciones, </a:t>
            </a:r>
            <a:r>
              <a:rPr lang="es-ES" sz="2000" dirty="0" err="1">
                <a:latin typeface="+mn-lt"/>
              </a:rPr>
              <a:t>etc</a:t>
            </a:r>
            <a:r>
              <a:rPr lang="es-ES" sz="2000" dirty="0">
                <a:latin typeface="+mn-lt"/>
              </a:rPr>
              <a:t>).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60" name="Google Shape;76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7700" y="3215800"/>
            <a:ext cx="5413499" cy="307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1400" y="3131650"/>
            <a:ext cx="4111225" cy="32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767" name="Google Shape;767;p46"/>
          <p:cNvSpPr txBox="1">
            <a:spLocks noGrp="1"/>
          </p:cNvSpPr>
          <p:nvPr>
            <p:ph type="body" idx="1"/>
          </p:nvPr>
        </p:nvSpPr>
        <p:spPr>
          <a:xfrm>
            <a:off x="1075950" y="891700"/>
            <a:ext cx="48618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Ejemplo - Otras aplicaciones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68" name="Google Shape;76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1399" y="2629800"/>
            <a:ext cx="2466260" cy="380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4285" y="2629800"/>
            <a:ext cx="2212490" cy="412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2850" y="1316100"/>
            <a:ext cx="2335450" cy="1313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6825" y="2517601"/>
            <a:ext cx="5737800" cy="423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14352" y="1744774"/>
            <a:ext cx="2049551" cy="45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77550" y="1665775"/>
            <a:ext cx="2045972" cy="61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779" name="Google Shape;779;p47"/>
          <p:cNvSpPr txBox="1">
            <a:spLocks noGrp="1"/>
          </p:cNvSpPr>
          <p:nvPr>
            <p:ph type="body" idx="1"/>
          </p:nvPr>
        </p:nvSpPr>
        <p:spPr>
          <a:xfrm>
            <a:off x="1075950" y="891700"/>
            <a:ext cx="10380900" cy="413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Algoritmos y aplicaciones que hacen uso intensivo de la CPU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800"/>
              <a:buChar char="●"/>
            </a:pPr>
            <a:r>
              <a:rPr lang="es-ES" sz="2800" dirty="0" err="1">
                <a:latin typeface="+mn-lt"/>
              </a:rPr>
              <a:t>basic</a:t>
            </a:r>
            <a:r>
              <a:rPr lang="es-ES" sz="2800" dirty="0">
                <a:latin typeface="+mn-lt"/>
              </a:rPr>
              <a:t> </a:t>
            </a:r>
            <a:r>
              <a:rPr lang="es-ES" sz="2800" dirty="0" err="1">
                <a:latin typeface="+mn-lt"/>
              </a:rPr>
              <a:t>sorting</a:t>
            </a:r>
            <a:endParaRPr sz="2800" dirty="0">
              <a:latin typeface="+mn-l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ES" sz="2800" dirty="0" err="1">
                <a:latin typeface="+mn-lt"/>
              </a:rPr>
              <a:t>Trees</a:t>
            </a:r>
            <a:endParaRPr sz="2800" dirty="0">
              <a:latin typeface="+mn-l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ES" sz="2800" dirty="0" err="1">
                <a:latin typeface="+mn-lt"/>
              </a:rPr>
              <a:t>Graph</a:t>
            </a:r>
            <a:r>
              <a:rPr lang="es-ES" sz="2800" dirty="0">
                <a:latin typeface="+mn-lt"/>
              </a:rPr>
              <a:t> </a:t>
            </a:r>
            <a:r>
              <a:rPr lang="es-ES" sz="2800" dirty="0" err="1">
                <a:latin typeface="+mn-lt"/>
              </a:rPr>
              <a:t>algorithms</a:t>
            </a:r>
            <a:endParaRPr sz="2800" dirty="0">
              <a:latin typeface="+mn-l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ES" sz="2800" dirty="0" err="1">
                <a:latin typeface="+mn-lt"/>
              </a:rPr>
              <a:t>Simulations</a:t>
            </a:r>
            <a:endParaRPr sz="2800" dirty="0">
              <a:latin typeface="+mn-l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ES" sz="2800" dirty="0">
                <a:latin typeface="+mn-lt"/>
              </a:rPr>
              <a:t>Data </a:t>
            </a:r>
            <a:r>
              <a:rPr lang="es-ES" sz="2800" dirty="0" err="1">
                <a:latin typeface="+mn-lt"/>
              </a:rPr>
              <a:t>mining</a:t>
            </a:r>
            <a:r>
              <a:rPr lang="es-ES" sz="2800" dirty="0">
                <a:latin typeface="+mn-lt"/>
              </a:rPr>
              <a:t>.</a:t>
            </a:r>
            <a:endParaRPr sz="2800" dirty="0">
              <a:latin typeface="+mn-l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ES" sz="2800" dirty="0">
                <a:latin typeface="+mn-lt"/>
              </a:rPr>
              <a:t>Artificial </a:t>
            </a:r>
            <a:r>
              <a:rPr lang="es-ES" sz="2800" dirty="0" err="1">
                <a:latin typeface="+mn-lt"/>
              </a:rPr>
              <a:t>intelligence</a:t>
            </a:r>
            <a:r>
              <a:rPr lang="es-ES" sz="2800" dirty="0">
                <a:latin typeface="+mn-lt"/>
              </a:rPr>
              <a:t>.</a:t>
            </a:r>
            <a:endParaRPr sz="2800" dirty="0">
              <a:latin typeface="+mn-l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ES" sz="2800" dirty="0">
                <a:latin typeface="+mn-lt"/>
              </a:rPr>
              <a:t>Machine </a:t>
            </a:r>
            <a:r>
              <a:rPr lang="es-ES" sz="2800" dirty="0" err="1">
                <a:latin typeface="+mn-lt"/>
              </a:rPr>
              <a:t>learning</a:t>
            </a:r>
            <a:r>
              <a:rPr lang="es-ES" sz="2800" dirty="0">
                <a:latin typeface="+mn-lt"/>
              </a:rPr>
              <a:t>.</a:t>
            </a:r>
            <a:endParaRPr sz="2800" dirty="0">
              <a:latin typeface="+mn-lt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s-ES" sz="2800" dirty="0" err="1">
                <a:latin typeface="+mn-lt"/>
              </a:rPr>
              <a:t>Graphics</a:t>
            </a:r>
            <a:r>
              <a:rPr lang="es-ES" sz="2800" dirty="0">
                <a:latin typeface="+mn-lt"/>
              </a:rPr>
              <a:t>.</a:t>
            </a:r>
            <a:endParaRPr sz="28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80" name="Google Shape;78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1125" y="1648075"/>
            <a:ext cx="5260725" cy="42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49"/>
          <p:cNvSpPr txBox="1">
            <a:spLocks noGrp="1"/>
          </p:cNvSpPr>
          <p:nvPr>
            <p:ph type="title"/>
          </p:nvPr>
        </p:nvSpPr>
        <p:spPr>
          <a:xfrm>
            <a:off x="575187" y="96038"/>
            <a:ext cx="864546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Hilos</a:t>
            </a:r>
            <a:endParaRPr dirty="0">
              <a:latin typeface="+mj-lt"/>
            </a:endParaRPr>
          </a:p>
        </p:txBody>
      </p:sp>
      <p:sp>
        <p:nvSpPr>
          <p:cNvPr id="792" name="Google Shape;792;p49"/>
          <p:cNvSpPr txBox="1"/>
          <p:nvPr/>
        </p:nvSpPr>
        <p:spPr>
          <a:xfrm>
            <a:off x="575187" y="781459"/>
            <a:ext cx="10838763" cy="3108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As</a:t>
            </a: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pectos importantes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dirty="0">
                <a:ea typeface="Roboto"/>
                <a:cs typeface="Roboto"/>
                <a:sym typeface="Roboto"/>
              </a:rPr>
              <a:t>Un hilo de control hace referencia a una secuencia de instrucciones que están siendo ejecutadas en un programa.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dirty="0">
                <a:ea typeface="Roboto"/>
                <a:cs typeface="Roboto"/>
                <a:sym typeface="Roboto"/>
              </a:rPr>
              <a:t>Cada hilo (thread) tiene: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1800" dirty="0">
                <a:ea typeface="Roboto"/>
                <a:cs typeface="Roboto"/>
                <a:sym typeface="Roboto"/>
              </a:rPr>
              <a:t>Un Thread ID (TID)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1800" dirty="0">
                <a:ea typeface="Roboto"/>
                <a:cs typeface="Roboto"/>
                <a:sym typeface="Roboto"/>
              </a:rPr>
              <a:t>Un conjunto de registros asociados, incluidos el PC y el SP.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1800" dirty="0" err="1">
                <a:ea typeface="Roboto"/>
                <a:cs typeface="Roboto"/>
                <a:sym typeface="Roboto"/>
              </a:rPr>
              <a:t>Stack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dirty="0">
                <a:ea typeface="Roboto"/>
                <a:cs typeface="Roboto"/>
                <a:sym typeface="Roboto"/>
              </a:rPr>
              <a:t>Cada hilo comparte (con otros los demás hilos si el proceso es multihilo):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1800" dirty="0" err="1">
                <a:ea typeface="Roboto"/>
                <a:cs typeface="Roboto"/>
                <a:sym typeface="Roboto"/>
              </a:rPr>
              <a:t>Code</a:t>
            </a:r>
            <a:r>
              <a:rPr lang="es-ES" sz="1800" dirty="0">
                <a:ea typeface="Roboto"/>
                <a:cs typeface="Roboto"/>
                <a:sym typeface="Roboto"/>
              </a:rPr>
              <a:t>. (Data + Text).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1800" dirty="0" err="1">
                <a:ea typeface="Roboto"/>
                <a:cs typeface="Roboto"/>
                <a:sym typeface="Roboto"/>
              </a:rPr>
              <a:t>Heap</a:t>
            </a:r>
            <a:r>
              <a:rPr lang="es-ES" sz="1800" dirty="0">
                <a:ea typeface="Roboto"/>
                <a:cs typeface="Roboto"/>
                <a:sym typeface="Roboto"/>
              </a:rPr>
              <a:t>.</a:t>
            </a:r>
            <a:endParaRPr sz="1800" dirty="0">
              <a:ea typeface="Roboto"/>
              <a:cs typeface="Roboto"/>
              <a:sym typeface="Roboto"/>
            </a:endParaRPr>
          </a:p>
        </p:txBody>
      </p:sp>
      <p:grpSp>
        <p:nvGrpSpPr>
          <p:cNvPr id="793" name="Google Shape;793;p49"/>
          <p:cNvGrpSpPr/>
          <p:nvPr/>
        </p:nvGrpSpPr>
        <p:grpSpPr>
          <a:xfrm>
            <a:off x="2252175" y="4460050"/>
            <a:ext cx="1430700" cy="1487100"/>
            <a:chOff x="4944875" y="4628350"/>
            <a:chExt cx="1430700" cy="1487100"/>
          </a:xfrm>
        </p:grpSpPr>
        <p:sp>
          <p:nvSpPr>
            <p:cNvPr id="794" name="Google Shape;794;p49"/>
            <p:cNvSpPr/>
            <p:nvPr/>
          </p:nvSpPr>
          <p:spPr>
            <a:xfrm>
              <a:off x="4944875" y="4628350"/>
              <a:ext cx="1430700" cy="14871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5" name="Google Shape;795;p49"/>
            <p:cNvGrpSpPr/>
            <p:nvPr/>
          </p:nvGrpSpPr>
          <p:grpSpPr>
            <a:xfrm>
              <a:off x="5827575" y="4966100"/>
              <a:ext cx="345307" cy="685359"/>
              <a:chOff x="5908225" y="4969600"/>
              <a:chExt cx="345307" cy="685359"/>
            </a:xfrm>
          </p:grpSpPr>
          <p:grpSp>
            <p:nvGrpSpPr>
              <p:cNvPr id="796" name="Google Shape;796;p49"/>
              <p:cNvGrpSpPr/>
              <p:nvPr/>
            </p:nvGrpSpPr>
            <p:grpSpPr>
              <a:xfrm>
                <a:off x="5908237" y="5236912"/>
                <a:ext cx="345294" cy="418047"/>
                <a:chOff x="3483121" y="2820042"/>
                <a:chExt cx="1080733" cy="714000"/>
              </a:xfrm>
            </p:grpSpPr>
            <p:sp>
              <p:nvSpPr>
                <p:cNvPr id="797" name="Google Shape;797;p49"/>
                <p:cNvSpPr/>
                <p:nvPr/>
              </p:nvSpPr>
              <p:spPr>
                <a:xfrm>
                  <a:off x="3485102" y="2820042"/>
                  <a:ext cx="1076100" cy="7140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798" name="Google Shape;798;p49"/>
                <p:cNvCxnSpPr/>
                <p:nvPr/>
              </p:nvCxnSpPr>
              <p:spPr>
                <a:xfrm>
                  <a:off x="3483825" y="2911027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9" name="Google Shape;799;p49"/>
                <p:cNvCxnSpPr/>
                <p:nvPr/>
              </p:nvCxnSpPr>
              <p:spPr>
                <a:xfrm>
                  <a:off x="3483854" y="3008053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0" name="Google Shape;800;p49"/>
                <p:cNvCxnSpPr/>
                <p:nvPr/>
              </p:nvCxnSpPr>
              <p:spPr>
                <a:xfrm>
                  <a:off x="3483121" y="3108635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1" name="Google Shape;801;p49"/>
                <p:cNvCxnSpPr/>
                <p:nvPr/>
              </p:nvCxnSpPr>
              <p:spPr>
                <a:xfrm>
                  <a:off x="3483150" y="3213468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02" name="Google Shape;802;p49"/>
              <p:cNvSpPr txBox="1"/>
              <p:nvPr/>
            </p:nvSpPr>
            <p:spPr>
              <a:xfrm>
                <a:off x="5908225" y="4969600"/>
                <a:ext cx="3453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latin typeface="Courier New"/>
                    <a:ea typeface="Courier New"/>
                    <a:cs typeface="Courier New"/>
                    <a:sym typeface="Courier New"/>
                  </a:rPr>
                  <a:t>AS</a:t>
                </a:r>
                <a:endParaRPr sz="10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03" name="Google Shape;803;p49"/>
            <p:cNvGrpSpPr/>
            <p:nvPr/>
          </p:nvGrpSpPr>
          <p:grpSpPr>
            <a:xfrm>
              <a:off x="5124375" y="5104400"/>
              <a:ext cx="345300" cy="532700"/>
              <a:chOff x="5126325" y="5016725"/>
              <a:chExt cx="345300" cy="532700"/>
            </a:xfrm>
          </p:grpSpPr>
          <p:pic>
            <p:nvPicPr>
              <p:cNvPr id="804" name="Google Shape;804;p4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168375" y="5105866"/>
                <a:ext cx="211025" cy="44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5" name="Google Shape;805;p49"/>
              <p:cNvSpPr/>
              <p:nvPr/>
            </p:nvSpPr>
            <p:spPr>
              <a:xfrm>
                <a:off x="5126325" y="5016725"/>
                <a:ext cx="345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900">
                    <a:latin typeface="Consolas"/>
                    <a:ea typeface="Consolas"/>
                    <a:cs typeface="Consolas"/>
                    <a:sym typeface="Consolas"/>
                  </a:rPr>
                  <a:t>T1</a:t>
                </a:r>
                <a:endParaRPr sz="9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806" name="Google Shape;806;p49"/>
            <p:cNvGrpSpPr/>
            <p:nvPr/>
          </p:nvGrpSpPr>
          <p:grpSpPr>
            <a:xfrm>
              <a:off x="5340313" y="5357525"/>
              <a:ext cx="345300" cy="526875"/>
              <a:chOff x="5357863" y="5389075"/>
              <a:chExt cx="345300" cy="526875"/>
            </a:xfrm>
          </p:grpSpPr>
          <p:pic>
            <p:nvPicPr>
              <p:cNvPr id="807" name="Google Shape;807;p4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400450" y="5472391"/>
                <a:ext cx="211025" cy="44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8" name="Google Shape;808;p49"/>
              <p:cNvSpPr/>
              <p:nvPr/>
            </p:nvSpPr>
            <p:spPr>
              <a:xfrm>
                <a:off x="5357863" y="5389075"/>
                <a:ext cx="345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900">
                    <a:latin typeface="Consolas"/>
                    <a:ea typeface="Consolas"/>
                    <a:cs typeface="Consolas"/>
                    <a:sym typeface="Consolas"/>
                  </a:rPr>
                  <a:t>T2</a:t>
                </a:r>
                <a:endParaRPr sz="9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809" name="Google Shape;809;p49"/>
            <p:cNvGrpSpPr/>
            <p:nvPr/>
          </p:nvGrpSpPr>
          <p:grpSpPr>
            <a:xfrm>
              <a:off x="5516300" y="5148950"/>
              <a:ext cx="345300" cy="526938"/>
              <a:chOff x="5565375" y="4994713"/>
              <a:chExt cx="345300" cy="526938"/>
            </a:xfrm>
          </p:grpSpPr>
          <p:pic>
            <p:nvPicPr>
              <p:cNvPr id="810" name="Google Shape;810;p4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632525" y="5078091"/>
                <a:ext cx="211025" cy="44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1" name="Google Shape;811;p49"/>
              <p:cNvSpPr/>
              <p:nvPr/>
            </p:nvSpPr>
            <p:spPr>
              <a:xfrm>
                <a:off x="5565375" y="4994713"/>
                <a:ext cx="345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900">
                    <a:latin typeface="Consolas"/>
                    <a:ea typeface="Consolas"/>
                    <a:cs typeface="Consolas"/>
                    <a:sym typeface="Consolas"/>
                  </a:rPr>
                  <a:t>T3</a:t>
                </a:r>
                <a:endParaRPr sz="9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pic>
        <p:nvPicPr>
          <p:cNvPr id="812" name="Google Shape;81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3575" y="3343713"/>
            <a:ext cx="5511625" cy="3366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0"/>
          <p:cNvSpPr txBox="1">
            <a:spLocks noGrp="1"/>
          </p:cNvSpPr>
          <p:nvPr>
            <p:ph type="title"/>
          </p:nvPr>
        </p:nvSpPr>
        <p:spPr>
          <a:xfrm>
            <a:off x="530942" y="96038"/>
            <a:ext cx="868970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Hilos</a:t>
            </a:r>
            <a:endParaRPr dirty="0">
              <a:latin typeface="+mj-lt"/>
            </a:endParaRPr>
          </a:p>
        </p:txBody>
      </p:sp>
      <p:sp>
        <p:nvSpPr>
          <p:cNvPr id="818" name="Google Shape;818;p50"/>
          <p:cNvSpPr txBox="1"/>
          <p:nvPr/>
        </p:nvSpPr>
        <p:spPr>
          <a:xfrm>
            <a:off x="530942" y="821150"/>
            <a:ext cx="11130116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Hilos y espacios de direcciones - Address </a:t>
            </a:r>
            <a:r>
              <a:rPr lang="es-ES" sz="24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Space</a:t>
            </a:r>
            <a:r>
              <a:rPr lang="es-ES" sz="24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4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multi-stack</a:t>
            </a:r>
            <a:endParaRPr sz="24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Todos los hilos comparten los segmentos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code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heap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del espacio de direcciones.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Cada hilo tiene su propio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stack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819" name="Google Shape;81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9350" y="2182775"/>
            <a:ext cx="3025431" cy="45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0700" y="2112650"/>
            <a:ext cx="4586521" cy="45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1"/>
          <p:cNvSpPr txBox="1">
            <a:spLocks noGrp="1"/>
          </p:cNvSpPr>
          <p:nvPr>
            <p:ph type="title"/>
          </p:nvPr>
        </p:nvSpPr>
        <p:spPr>
          <a:xfrm>
            <a:off x="482850" y="96038"/>
            <a:ext cx="8737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Hilos</a:t>
            </a:r>
            <a:endParaRPr>
              <a:latin typeface="+mj-lt"/>
            </a:endParaRPr>
          </a:p>
        </p:txBody>
      </p:sp>
      <p:sp>
        <p:nvSpPr>
          <p:cNvPr id="826" name="Google Shape;826;p51"/>
          <p:cNvSpPr txBox="1"/>
          <p:nvPr/>
        </p:nvSpPr>
        <p:spPr>
          <a:xfrm>
            <a:off x="442452" y="821150"/>
            <a:ext cx="11266698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Thread control block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Estructura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que almacena 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estado de cada hilo.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827" name="Google Shape;827;p51"/>
          <p:cNvGrpSpPr/>
          <p:nvPr/>
        </p:nvGrpSpPr>
        <p:grpSpPr>
          <a:xfrm>
            <a:off x="2898550" y="3110375"/>
            <a:ext cx="590700" cy="628800"/>
            <a:chOff x="2019475" y="2346963"/>
            <a:chExt cx="590700" cy="628800"/>
          </a:xfrm>
        </p:grpSpPr>
        <p:sp>
          <p:nvSpPr>
            <p:cNvPr id="828" name="Google Shape;828;p51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CFE2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1"/>
            <p:cNvSpPr/>
            <p:nvPr/>
          </p:nvSpPr>
          <p:spPr>
            <a:xfrm>
              <a:off x="216468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30" name="Google Shape;830;p51"/>
            <p:cNvSpPr/>
            <p:nvPr/>
          </p:nvSpPr>
          <p:spPr>
            <a:xfrm>
              <a:off x="233613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831" name="Google Shape;831;p51"/>
          <p:cNvSpPr/>
          <p:nvPr/>
        </p:nvSpPr>
        <p:spPr>
          <a:xfrm>
            <a:off x="2898538" y="4239163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2" name="Google Shape;832;p51"/>
          <p:cNvSpPr/>
          <p:nvPr/>
        </p:nvSpPr>
        <p:spPr>
          <a:xfrm>
            <a:off x="2898538" y="4877338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33" name="Google Shape;833;p51"/>
          <p:cNvSpPr/>
          <p:nvPr/>
        </p:nvSpPr>
        <p:spPr>
          <a:xfrm>
            <a:off x="3022450" y="4277300"/>
            <a:ext cx="4668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4" name="Google Shape;834;p51"/>
          <p:cNvSpPr/>
          <p:nvPr/>
        </p:nvSpPr>
        <p:spPr>
          <a:xfrm>
            <a:off x="3022450" y="4877325"/>
            <a:ext cx="4668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35" name="Google Shape;835;p51"/>
          <p:cNvGraphicFramePr/>
          <p:nvPr/>
        </p:nvGraphicFramePr>
        <p:xfrm>
          <a:off x="5396275" y="2707925"/>
          <a:ext cx="814575" cy="12190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1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state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register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36" name="Google Shape;836;p51"/>
          <p:cNvGraphicFramePr/>
          <p:nvPr/>
        </p:nvGraphicFramePr>
        <p:xfrm>
          <a:off x="5396263" y="4474875"/>
          <a:ext cx="814575" cy="12190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1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state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register</a:t>
                      </a:r>
                      <a:endParaRPr sz="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37" name="Google Shape;837;p51"/>
          <p:cNvSpPr/>
          <p:nvPr/>
        </p:nvSpPr>
        <p:spPr>
          <a:xfrm>
            <a:off x="5360763" y="2160055"/>
            <a:ext cx="885600" cy="471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T1 PCB</a:t>
            </a:r>
            <a:endParaRPr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8" name="Google Shape;838;p51"/>
          <p:cNvSpPr/>
          <p:nvPr/>
        </p:nvSpPr>
        <p:spPr>
          <a:xfrm>
            <a:off x="5396275" y="4003192"/>
            <a:ext cx="885600" cy="395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T2 PCB</a:t>
            </a:r>
            <a:endParaRPr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39" name="Google Shape;839;p51"/>
          <p:cNvGraphicFramePr/>
          <p:nvPr/>
        </p:nvGraphicFramePr>
        <p:xfrm>
          <a:off x="7495975" y="2489425"/>
          <a:ext cx="1267200" cy="3561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 T1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9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 T2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40" name="Google Shape;840;p51"/>
          <p:cNvSpPr/>
          <p:nvPr/>
        </p:nvSpPr>
        <p:spPr>
          <a:xfrm>
            <a:off x="5360738" y="2255969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41" name="Google Shape;841;p51"/>
          <p:cNvSpPr/>
          <p:nvPr/>
        </p:nvSpPr>
        <p:spPr>
          <a:xfrm>
            <a:off x="5360738" y="4099106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842" name="Google Shape;842;p51"/>
          <p:cNvCxnSpPr/>
          <p:nvPr/>
        </p:nvCxnSpPr>
        <p:spPr>
          <a:xfrm flipH="1">
            <a:off x="8117875" y="3406625"/>
            <a:ext cx="6900" cy="28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3" name="Google Shape;843;p51"/>
          <p:cNvCxnSpPr/>
          <p:nvPr/>
        </p:nvCxnSpPr>
        <p:spPr>
          <a:xfrm flipH="1">
            <a:off x="8126125" y="3996738"/>
            <a:ext cx="6900" cy="28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44" name="Google Shape;844;p51"/>
          <p:cNvCxnSpPr/>
          <p:nvPr/>
        </p:nvCxnSpPr>
        <p:spPr>
          <a:xfrm flipH="1">
            <a:off x="8126125" y="5302613"/>
            <a:ext cx="6900" cy="28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845" name="Google Shape;845;p51"/>
          <p:cNvCxnSpPr/>
          <p:nvPr/>
        </p:nvCxnSpPr>
        <p:spPr>
          <a:xfrm rot="10800000" flipH="1">
            <a:off x="6239650" y="2587725"/>
            <a:ext cx="1234200" cy="2805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6" name="Google Shape;846;p51"/>
          <p:cNvCxnSpPr/>
          <p:nvPr/>
        </p:nvCxnSpPr>
        <p:spPr>
          <a:xfrm rot="10800000" flipH="1">
            <a:off x="6267700" y="2728050"/>
            <a:ext cx="1206000" cy="1935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7" name="Google Shape;847;p51"/>
          <p:cNvCxnSpPr/>
          <p:nvPr/>
        </p:nvCxnSpPr>
        <p:spPr>
          <a:xfrm>
            <a:off x="6295750" y="3190775"/>
            <a:ext cx="1107900" cy="13464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8" name="Google Shape;848;p51"/>
          <p:cNvCxnSpPr/>
          <p:nvPr/>
        </p:nvCxnSpPr>
        <p:spPr>
          <a:xfrm>
            <a:off x="6281725" y="4957875"/>
            <a:ext cx="1122000" cy="827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2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Hilos</a:t>
            </a:r>
            <a:endParaRPr>
              <a:latin typeface="+mj-lt"/>
            </a:endParaRPr>
          </a:p>
        </p:txBody>
      </p:sp>
      <p:sp>
        <p:nvSpPr>
          <p:cNvPr id="854" name="Google Shape;854;p52"/>
          <p:cNvSpPr txBox="1"/>
          <p:nvPr/>
        </p:nvSpPr>
        <p:spPr>
          <a:xfrm>
            <a:off x="804425" y="771225"/>
            <a:ext cx="107925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Cambio de contexto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cambio de contexto entre hilos es similar al de los procesos. Sin embargo, a diferencia del caso para los procesos, en el cambio de contexto entre hilos, el espacio de direcciones no cambia.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855" name="Google Shape;855;p52"/>
          <p:cNvGrpSpPr/>
          <p:nvPr/>
        </p:nvGrpSpPr>
        <p:grpSpPr>
          <a:xfrm>
            <a:off x="1017020" y="3244336"/>
            <a:ext cx="1069049" cy="1100714"/>
            <a:chOff x="2019475" y="2346963"/>
            <a:chExt cx="590700" cy="628800"/>
          </a:xfrm>
        </p:grpSpPr>
        <p:sp>
          <p:nvSpPr>
            <p:cNvPr id="856" name="Google Shape;856;p52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FF2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52"/>
            <p:cNvSpPr/>
            <p:nvPr/>
          </p:nvSpPr>
          <p:spPr>
            <a:xfrm>
              <a:off x="216468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8" name="Google Shape;858;p52"/>
            <p:cNvSpPr/>
            <p:nvPr/>
          </p:nvSpPr>
          <p:spPr>
            <a:xfrm>
              <a:off x="233613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859" name="Google Shape;859;p52"/>
          <p:cNvSpPr/>
          <p:nvPr/>
        </p:nvSpPr>
        <p:spPr>
          <a:xfrm>
            <a:off x="1256188" y="4766700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60" name="Google Shape;860;p52"/>
          <p:cNvSpPr/>
          <p:nvPr/>
        </p:nvSpPr>
        <p:spPr>
          <a:xfrm>
            <a:off x="1185213" y="5309763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61" name="Google Shape;861;p52"/>
          <p:cNvSpPr/>
          <p:nvPr/>
        </p:nvSpPr>
        <p:spPr>
          <a:xfrm>
            <a:off x="1380100" y="4804838"/>
            <a:ext cx="4668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2" name="Google Shape;862;p52"/>
          <p:cNvSpPr/>
          <p:nvPr/>
        </p:nvSpPr>
        <p:spPr>
          <a:xfrm>
            <a:off x="1309125" y="5309750"/>
            <a:ext cx="4668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863" name="Google Shape;863;p52"/>
          <p:cNvGrpSpPr/>
          <p:nvPr/>
        </p:nvGrpSpPr>
        <p:grpSpPr>
          <a:xfrm>
            <a:off x="2871425" y="2797575"/>
            <a:ext cx="1430400" cy="1713775"/>
            <a:chOff x="3490825" y="3157175"/>
            <a:chExt cx="1430400" cy="1713775"/>
          </a:xfrm>
        </p:grpSpPr>
        <p:sp>
          <p:nvSpPr>
            <p:cNvPr id="864" name="Google Shape;864;p52"/>
            <p:cNvSpPr/>
            <p:nvPr/>
          </p:nvSpPr>
          <p:spPr>
            <a:xfrm>
              <a:off x="3490825" y="3513150"/>
              <a:ext cx="1430400" cy="1357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5" name="Google Shape;865;p52"/>
            <p:cNvGrpSpPr/>
            <p:nvPr/>
          </p:nvGrpSpPr>
          <p:grpSpPr>
            <a:xfrm>
              <a:off x="3669122" y="4044450"/>
              <a:ext cx="1140003" cy="295200"/>
              <a:chOff x="3669122" y="4044450"/>
              <a:chExt cx="1140003" cy="295200"/>
            </a:xfrm>
          </p:grpSpPr>
          <p:sp>
            <p:nvSpPr>
              <p:cNvPr id="866" name="Google Shape;866;p52"/>
              <p:cNvSpPr/>
              <p:nvPr/>
            </p:nvSpPr>
            <p:spPr>
              <a:xfrm>
                <a:off x="4135925" y="4044450"/>
                <a:ext cx="673200" cy="2952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52"/>
              <p:cNvSpPr/>
              <p:nvPr/>
            </p:nvSpPr>
            <p:spPr>
              <a:xfrm>
                <a:off x="3669122" y="4044450"/>
                <a:ext cx="4668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>
                    <a:latin typeface="Consolas"/>
                    <a:ea typeface="Consolas"/>
                    <a:cs typeface="Consolas"/>
                    <a:sym typeface="Consolas"/>
                  </a:rPr>
                  <a:t>PC</a:t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868" name="Google Shape;868;p52"/>
            <p:cNvGrpSpPr/>
            <p:nvPr/>
          </p:nvGrpSpPr>
          <p:grpSpPr>
            <a:xfrm>
              <a:off x="3669122" y="4435275"/>
              <a:ext cx="1140003" cy="295200"/>
              <a:chOff x="3669122" y="4435275"/>
              <a:chExt cx="1140003" cy="295200"/>
            </a:xfrm>
          </p:grpSpPr>
          <p:sp>
            <p:nvSpPr>
              <p:cNvPr id="869" name="Google Shape;869;p52"/>
              <p:cNvSpPr/>
              <p:nvPr/>
            </p:nvSpPr>
            <p:spPr>
              <a:xfrm>
                <a:off x="4135925" y="4435275"/>
                <a:ext cx="673200" cy="2952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52"/>
              <p:cNvSpPr/>
              <p:nvPr/>
            </p:nvSpPr>
            <p:spPr>
              <a:xfrm>
                <a:off x="3669122" y="4435275"/>
                <a:ext cx="4668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>
                    <a:latin typeface="Consolas"/>
                    <a:ea typeface="Consolas"/>
                    <a:cs typeface="Consolas"/>
                    <a:sym typeface="Consolas"/>
                  </a:rPr>
                  <a:t>SP</a:t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871" name="Google Shape;871;p52"/>
            <p:cNvSpPr/>
            <p:nvPr/>
          </p:nvSpPr>
          <p:spPr>
            <a:xfrm>
              <a:off x="3972626" y="3157175"/>
              <a:ext cx="6120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872" name="Google Shape;872;p52"/>
          <p:cNvGraphicFramePr/>
          <p:nvPr/>
        </p:nvGraphicFramePr>
        <p:xfrm>
          <a:off x="5083625" y="2524763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3" name="Google Shape;873;p52"/>
          <p:cNvGraphicFramePr/>
          <p:nvPr/>
        </p:nvGraphicFramePr>
        <p:xfrm>
          <a:off x="5083625" y="4450413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74" name="Google Shape;874;p52"/>
          <p:cNvSpPr/>
          <p:nvPr/>
        </p:nvSpPr>
        <p:spPr>
          <a:xfrm>
            <a:off x="4746444" y="2656175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75" name="Google Shape;875;p52"/>
          <p:cNvSpPr/>
          <p:nvPr/>
        </p:nvSpPr>
        <p:spPr>
          <a:xfrm>
            <a:off x="4746444" y="4511350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76" name="Google Shape;876;p52"/>
          <p:cNvSpPr txBox="1"/>
          <p:nvPr/>
        </p:nvSpPr>
        <p:spPr>
          <a:xfrm>
            <a:off x="6828675" y="2098300"/>
            <a:ext cx="5076900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ea typeface="Roboto"/>
                <a:cs typeface="Roboto"/>
                <a:sym typeface="Roboto"/>
              </a:rPr>
              <a:t>Cambio de contexto entre hilos T1 a T2</a:t>
            </a:r>
            <a:r>
              <a:rPr lang="es-ES" sz="1800" dirty="0">
                <a:ea typeface="Roboto"/>
                <a:cs typeface="Roboto"/>
                <a:sym typeface="Roboto"/>
              </a:rPr>
              <a:t>: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dirty="0">
                <a:ea typeface="Roboto"/>
                <a:cs typeface="Roboto"/>
                <a:sym typeface="Roboto"/>
              </a:rPr>
              <a:t>Se almacenan los valores de los registros de T1.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dirty="0">
                <a:ea typeface="Roboto"/>
                <a:cs typeface="Roboto"/>
                <a:sym typeface="Roboto"/>
              </a:rPr>
              <a:t>Se cargan los valores de los registros T2.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dirty="0">
                <a:ea typeface="Roboto"/>
                <a:cs typeface="Roboto"/>
                <a:sym typeface="Roboto"/>
              </a:rPr>
              <a:t>Se mantiene el mismo espacio de direccionamiento.</a:t>
            </a:r>
            <a:endParaRPr dirty="0">
              <a:ea typeface="Roboto"/>
              <a:cs typeface="Roboto"/>
              <a:sym typeface="Roboto"/>
            </a:endParaRPr>
          </a:p>
        </p:txBody>
      </p:sp>
      <p:sp>
        <p:nvSpPr>
          <p:cNvPr id="877" name="Google Shape;877;p52"/>
          <p:cNvSpPr/>
          <p:nvPr/>
        </p:nvSpPr>
        <p:spPr>
          <a:xfrm>
            <a:off x="7344051" y="4511352"/>
            <a:ext cx="164194" cy="51687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78" name="Google Shape;878;p52"/>
          <p:cNvSpPr/>
          <p:nvPr/>
        </p:nvSpPr>
        <p:spPr>
          <a:xfrm>
            <a:off x="10951916" y="5320114"/>
            <a:ext cx="164194" cy="51687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879" name="Google Shape;879;p52"/>
          <p:cNvCxnSpPr/>
          <p:nvPr/>
        </p:nvCxnSpPr>
        <p:spPr>
          <a:xfrm rot="10800000" flipH="1">
            <a:off x="7487850" y="5182175"/>
            <a:ext cx="3548100" cy="14100"/>
          </a:xfrm>
          <a:prstGeom prst="straightConnector1">
            <a:avLst/>
          </a:prstGeom>
          <a:noFill/>
          <a:ln w="19050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0" name="Google Shape;880;p52"/>
          <p:cNvSpPr/>
          <p:nvPr/>
        </p:nvSpPr>
        <p:spPr>
          <a:xfrm>
            <a:off x="7192750" y="4049857"/>
            <a:ext cx="4668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sz="18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1" name="Google Shape;881;p52"/>
          <p:cNvSpPr/>
          <p:nvPr/>
        </p:nvSpPr>
        <p:spPr>
          <a:xfrm>
            <a:off x="10800600" y="4049857"/>
            <a:ext cx="4668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2" name="Google Shape;882;p52"/>
          <p:cNvSpPr/>
          <p:nvPr/>
        </p:nvSpPr>
        <p:spPr>
          <a:xfrm>
            <a:off x="8731550" y="4766738"/>
            <a:ext cx="1173000" cy="29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 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3" name="Google Shape;883;p52"/>
          <p:cNvSpPr/>
          <p:nvPr/>
        </p:nvSpPr>
        <p:spPr>
          <a:xfrm>
            <a:off x="7487850" y="5320099"/>
            <a:ext cx="3172900" cy="122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AutoNum type="arabicPeriod"/>
            </a:pPr>
            <a:r>
              <a:rPr lang="es-ES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Save T1: 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CPU → TCB(T1)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AutoNum type="arabicPeriod"/>
            </a:pPr>
            <a:r>
              <a:rPr lang="es-ES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Load T2: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TCB(T2) → CPU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Hilos</a:t>
            </a:r>
            <a:endParaRPr dirty="0">
              <a:latin typeface="+mj-lt"/>
            </a:endParaRPr>
          </a:p>
        </p:txBody>
      </p:sp>
      <p:sp>
        <p:nvSpPr>
          <p:cNvPr id="889" name="Google Shape;889;p53"/>
          <p:cNvSpPr txBox="1"/>
          <p:nvPr/>
        </p:nvSpPr>
        <p:spPr>
          <a:xfrm>
            <a:off x="916650" y="921275"/>
            <a:ext cx="47058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Cambio de contexto - Ejemplo</a:t>
            </a:r>
            <a:endParaRPr sz="2200" b="1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890" name="Google Shape;890;p53"/>
          <p:cNvGrpSpPr/>
          <p:nvPr/>
        </p:nvGrpSpPr>
        <p:grpSpPr>
          <a:xfrm>
            <a:off x="1835770" y="3810598"/>
            <a:ext cx="1069049" cy="1100714"/>
            <a:chOff x="2019475" y="2346963"/>
            <a:chExt cx="590700" cy="628800"/>
          </a:xfrm>
        </p:grpSpPr>
        <p:sp>
          <p:nvSpPr>
            <p:cNvPr id="891" name="Google Shape;891;p53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FF2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53"/>
            <p:cNvSpPr/>
            <p:nvPr/>
          </p:nvSpPr>
          <p:spPr>
            <a:xfrm>
              <a:off x="216468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3" name="Google Shape;893;p53"/>
            <p:cNvSpPr/>
            <p:nvPr/>
          </p:nvSpPr>
          <p:spPr>
            <a:xfrm>
              <a:off x="233613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894" name="Google Shape;894;p53"/>
          <p:cNvGrpSpPr/>
          <p:nvPr/>
        </p:nvGrpSpPr>
        <p:grpSpPr>
          <a:xfrm>
            <a:off x="2074938" y="5181000"/>
            <a:ext cx="590713" cy="295275"/>
            <a:chOff x="1155813" y="3869125"/>
            <a:chExt cx="590713" cy="295275"/>
          </a:xfrm>
        </p:grpSpPr>
        <p:sp>
          <p:nvSpPr>
            <p:cNvPr id="895" name="Google Shape;895;p53"/>
            <p:cNvSpPr/>
            <p:nvPr/>
          </p:nvSpPr>
          <p:spPr>
            <a:xfrm>
              <a:off x="1155813" y="3869125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6" name="Google Shape;896;p53"/>
            <p:cNvSpPr/>
            <p:nvPr/>
          </p:nvSpPr>
          <p:spPr>
            <a:xfrm>
              <a:off x="1279725" y="3907263"/>
              <a:ext cx="4668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97" name="Google Shape;897;p53"/>
          <p:cNvGrpSpPr/>
          <p:nvPr/>
        </p:nvGrpSpPr>
        <p:grpSpPr>
          <a:xfrm>
            <a:off x="2083363" y="5653925"/>
            <a:ext cx="590713" cy="295288"/>
            <a:chOff x="1084838" y="4412175"/>
            <a:chExt cx="590713" cy="295288"/>
          </a:xfrm>
        </p:grpSpPr>
        <p:sp>
          <p:nvSpPr>
            <p:cNvPr id="898" name="Google Shape;898;p53"/>
            <p:cNvSpPr/>
            <p:nvPr/>
          </p:nvSpPr>
          <p:spPr>
            <a:xfrm>
              <a:off x="1084838" y="4412188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99" name="Google Shape;899;p53"/>
            <p:cNvSpPr/>
            <p:nvPr/>
          </p:nvSpPr>
          <p:spPr>
            <a:xfrm>
              <a:off x="1208750" y="4412175"/>
              <a:ext cx="4668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900" name="Google Shape;900;p53"/>
          <p:cNvGraphicFramePr/>
          <p:nvPr>
            <p:extLst>
              <p:ext uri="{D42A27DB-BD31-4B8C-83A1-F6EECF244321}">
                <p14:modId xmlns:p14="http://schemas.microsoft.com/office/powerpoint/2010/main" val="3054776383"/>
              </p:ext>
            </p:extLst>
          </p:nvPr>
        </p:nvGraphicFramePr>
        <p:xfrm>
          <a:off x="3502013" y="1923213"/>
          <a:ext cx="1337550" cy="12191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0x02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01" name="Google Shape;901;p53"/>
          <p:cNvGraphicFramePr/>
          <p:nvPr>
            <p:extLst>
              <p:ext uri="{D42A27DB-BD31-4B8C-83A1-F6EECF244321}">
                <p14:modId xmlns:p14="http://schemas.microsoft.com/office/powerpoint/2010/main" val="439805762"/>
              </p:ext>
            </p:extLst>
          </p:nvPr>
        </p:nvGraphicFramePr>
        <p:xfrm>
          <a:off x="3502013" y="4161188"/>
          <a:ext cx="1337550" cy="12191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2" name="Google Shape;902;p53"/>
          <p:cNvSpPr/>
          <p:nvPr/>
        </p:nvSpPr>
        <p:spPr>
          <a:xfrm>
            <a:off x="5136244" y="2073275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03" name="Google Shape;903;p53"/>
          <p:cNvSpPr/>
          <p:nvPr/>
        </p:nvSpPr>
        <p:spPr>
          <a:xfrm>
            <a:off x="5025781" y="4161200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04" name="Google Shape;904;p53"/>
          <p:cNvSpPr/>
          <p:nvPr/>
        </p:nvSpPr>
        <p:spPr>
          <a:xfrm>
            <a:off x="7237451" y="4089827"/>
            <a:ext cx="164194" cy="51687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05" name="Google Shape;905;p53"/>
          <p:cNvSpPr/>
          <p:nvPr/>
        </p:nvSpPr>
        <p:spPr>
          <a:xfrm>
            <a:off x="10845316" y="4898589"/>
            <a:ext cx="164194" cy="51687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906" name="Google Shape;906;p53"/>
          <p:cNvCxnSpPr/>
          <p:nvPr/>
        </p:nvCxnSpPr>
        <p:spPr>
          <a:xfrm rot="10800000" flipH="1">
            <a:off x="7381250" y="4760650"/>
            <a:ext cx="3548100" cy="14100"/>
          </a:xfrm>
          <a:prstGeom prst="straightConnector1">
            <a:avLst/>
          </a:prstGeom>
          <a:noFill/>
          <a:ln w="19050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7" name="Google Shape;907;p53"/>
          <p:cNvSpPr/>
          <p:nvPr/>
        </p:nvSpPr>
        <p:spPr>
          <a:xfrm>
            <a:off x="7086150" y="3628332"/>
            <a:ext cx="4668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sz="18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8" name="Google Shape;908;p53"/>
          <p:cNvSpPr/>
          <p:nvPr/>
        </p:nvSpPr>
        <p:spPr>
          <a:xfrm>
            <a:off x="10694000" y="3628332"/>
            <a:ext cx="4668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9" name="Google Shape;909;p53"/>
          <p:cNvSpPr/>
          <p:nvPr/>
        </p:nvSpPr>
        <p:spPr>
          <a:xfrm>
            <a:off x="6821025" y="2007138"/>
            <a:ext cx="39234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Cambio de contexto:</a:t>
            </a:r>
            <a:r>
              <a:rPr lang="es-E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T1 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0" name="Google Shape;910;p53"/>
          <p:cNvSpPr/>
          <p:nvPr/>
        </p:nvSpPr>
        <p:spPr>
          <a:xfrm>
            <a:off x="7552950" y="4898575"/>
            <a:ext cx="3001200" cy="1163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AutoNum type="arabicPeriod"/>
            </a:pPr>
            <a:r>
              <a:rPr lang="es-ES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Save T1: 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CPU → TCB(T1)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AutoNum type="arabicPeriod"/>
            </a:pPr>
            <a:r>
              <a:rPr lang="es-ES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Load T2: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TCB(T2) → CPU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911" name="Google Shape;911;p53"/>
          <p:cNvGraphicFramePr/>
          <p:nvPr>
            <p:extLst>
              <p:ext uri="{D42A27DB-BD31-4B8C-83A1-F6EECF244321}">
                <p14:modId xmlns:p14="http://schemas.microsoft.com/office/powerpoint/2010/main" val="1145256112"/>
              </p:ext>
            </p:extLst>
          </p:nvPr>
        </p:nvGraphicFramePr>
        <p:xfrm>
          <a:off x="1617875" y="1923213"/>
          <a:ext cx="1337550" cy="12191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2" name="Google Shape;912;p53"/>
          <p:cNvSpPr txBox="1"/>
          <p:nvPr/>
        </p:nvSpPr>
        <p:spPr>
          <a:xfrm>
            <a:off x="6650700" y="2919038"/>
            <a:ext cx="1337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PC(T1) = 0x02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SP(T1) = 0x40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3" name="Google Shape;913;p53"/>
          <p:cNvSpPr txBox="1"/>
          <p:nvPr/>
        </p:nvSpPr>
        <p:spPr>
          <a:xfrm>
            <a:off x="10183025" y="2919038"/>
            <a:ext cx="1337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PC(T1) = 0x02</a:t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SP(T1) = 0x40</a:t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4" name="Google Shape;914;p53"/>
          <p:cNvSpPr txBox="1"/>
          <p:nvPr/>
        </p:nvSpPr>
        <p:spPr>
          <a:xfrm>
            <a:off x="5856375" y="4603688"/>
            <a:ext cx="1337700" cy="369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PC(T1) = 0x08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5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Hilos</a:t>
            </a:r>
            <a:endParaRPr dirty="0">
              <a:latin typeface="+mj-lt"/>
            </a:endParaRPr>
          </a:p>
        </p:txBody>
      </p:sp>
      <p:sp>
        <p:nvSpPr>
          <p:cNvPr id="920" name="Google Shape;920;p54"/>
          <p:cNvSpPr txBox="1"/>
          <p:nvPr/>
        </p:nvSpPr>
        <p:spPr>
          <a:xfrm>
            <a:off x="916650" y="921275"/>
            <a:ext cx="64647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Cambio de contexto - Ejemplo (Solución)</a:t>
            </a:r>
            <a:endParaRPr sz="2200" b="1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921" name="Google Shape;921;p54"/>
          <p:cNvGraphicFramePr/>
          <p:nvPr>
            <p:extLst>
              <p:ext uri="{D42A27DB-BD31-4B8C-83A1-F6EECF244321}">
                <p14:modId xmlns:p14="http://schemas.microsoft.com/office/powerpoint/2010/main" val="2934330762"/>
              </p:ext>
            </p:extLst>
          </p:nvPr>
        </p:nvGraphicFramePr>
        <p:xfrm>
          <a:off x="3502013" y="1923213"/>
          <a:ext cx="1337550" cy="16458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0x02</a:t>
                      </a:r>
                      <a:endParaRPr sz="1600" strike="sngStrike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endParaRPr sz="1600"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0x08</a:t>
                      </a:r>
                      <a:endParaRPr sz="160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endParaRPr sz="1600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2" name="Google Shape;922;p54"/>
          <p:cNvGraphicFramePr/>
          <p:nvPr>
            <p:extLst>
              <p:ext uri="{D42A27DB-BD31-4B8C-83A1-F6EECF244321}">
                <p14:modId xmlns:p14="http://schemas.microsoft.com/office/powerpoint/2010/main" val="2329112994"/>
              </p:ext>
            </p:extLst>
          </p:nvPr>
        </p:nvGraphicFramePr>
        <p:xfrm>
          <a:off x="3502013" y="4161188"/>
          <a:ext cx="1337550" cy="12191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0x02</a:t>
                      </a:r>
                      <a:endParaRPr sz="16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endParaRPr sz="16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23" name="Google Shape;923;p54"/>
          <p:cNvSpPr/>
          <p:nvPr/>
        </p:nvSpPr>
        <p:spPr>
          <a:xfrm>
            <a:off x="5136244" y="2073275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4" name="Google Shape;924;p54"/>
          <p:cNvSpPr/>
          <p:nvPr/>
        </p:nvSpPr>
        <p:spPr>
          <a:xfrm>
            <a:off x="5025781" y="4161200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5" name="Google Shape;925;p54"/>
          <p:cNvSpPr/>
          <p:nvPr/>
        </p:nvSpPr>
        <p:spPr>
          <a:xfrm>
            <a:off x="7237451" y="4089827"/>
            <a:ext cx="164194" cy="51687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6" name="Google Shape;926;p54"/>
          <p:cNvSpPr/>
          <p:nvPr/>
        </p:nvSpPr>
        <p:spPr>
          <a:xfrm>
            <a:off x="10845316" y="4898589"/>
            <a:ext cx="164194" cy="516879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927" name="Google Shape;927;p54"/>
          <p:cNvCxnSpPr/>
          <p:nvPr/>
        </p:nvCxnSpPr>
        <p:spPr>
          <a:xfrm rot="10800000" flipH="1">
            <a:off x="7381250" y="4760650"/>
            <a:ext cx="3548100" cy="14100"/>
          </a:xfrm>
          <a:prstGeom prst="straightConnector1">
            <a:avLst/>
          </a:prstGeom>
          <a:noFill/>
          <a:ln w="19050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8" name="Google Shape;928;p54"/>
          <p:cNvSpPr/>
          <p:nvPr/>
        </p:nvSpPr>
        <p:spPr>
          <a:xfrm>
            <a:off x="7086150" y="3628332"/>
            <a:ext cx="4668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sz="18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9" name="Google Shape;929;p54"/>
          <p:cNvSpPr/>
          <p:nvPr/>
        </p:nvSpPr>
        <p:spPr>
          <a:xfrm>
            <a:off x="10694000" y="3628332"/>
            <a:ext cx="4668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0" name="Google Shape;930;p54"/>
          <p:cNvSpPr/>
          <p:nvPr/>
        </p:nvSpPr>
        <p:spPr>
          <a:xfrm>
            <a:off x="6821025" y="2007138"/>
            <a:ext cx="39234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Cambio de contexto:</a:t>
            </a:r>
            <a:r>
              <a:rPr lang="es-E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T1 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18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1" name="Google Shape;931;p54"/>
          <p:cNvSpPr/>
          <p:nvPr/>
        </p:nvSpPr>
        <p:spPr>
          <a:xfrm>
            <a:off x="7552950" y="4898574"/>
            <a:ext cx="3001200" cy="121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AutoNum type="arabicPeriod"/>
            </a:pPr>
            <a:r>
              <a:rPr lang="es-ES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Save T1: 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CPU → TCB(T1)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nsolas"/>
              <a:buAutoNum type="arabicPeriod"/>
            </a:pPr>
            <a:r>
              <a:rPr lang="es-ES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Load T2: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TCB(T2) → CPU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932" name="Google Shape;932;p54"/>
          <p:cNvGraphicFramePr/>
          <p:nvPr>
            <p:extLst>
              <p:ext uri="{D42A27DB-BD31-4B8C-83A1-F6EECF244321}">
                <p14:modId xmlns:p14="http://schemas.microsoft.com/office/powerpoint/2010/main" val="587109488"/>
              </p:ext>
            </p:extLst>
          </p:nvPr>
        </p:nvGraphicFramePr>
        <p:xfrm>
          <a:off x="1567275" y="2556813"/>
          <a:ext cx="1337550" cy="24991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600"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600"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0x02</a:t>
                      </a:r>
                      <a:endParaRPr sz="1600"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endParaRPr sz="1600"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0x08</a:t>
                      </a:r>
                      <a:endParaRPr sz="1600" strike="sngStrike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endParaRPr sz="16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0x02</a:t>
                      </a:r>
                      <a:endParaRPr sz="16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33" name="Google Shape;933;p54"/>
          <p:cNvSpPr txBox="1"/>
          <p:nvPr/>
        </p:nvSpPr>
        <p:spPr>
          <a:xfrm>
            <a:off x="6650700" y="2919038"/>
            <a:ext cx="1337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PC(T1) = 0x02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SP(T1) = 0x40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4" name="Google Shape;934;p54"/>
          <p:cNvSpPr txBox="1"/>
          <p:nvPr/>
        </p:nvSpPr>
        <p:spPr>
          <a:xfrm>
            <a:off x="10183025" y="2919038"/>
            <a:ext cx="1337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PC(T1) = 0x02</a:t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SP(T1) = 0x40</a:t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5" name="Google Shape;935;p54"/>
          <p:cNvSpPr txBox="1"/>
          <p:nvPr/>
        </p:nvSpPr>
        <p:spPr>
          <a:xfrm>
            <a:off x="5856375" y="4603688"/>
            <a:ext cx="1337700" cy="369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PC(T1) = 0x08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Hilos</a:t>
            </a:r>
            <a:endParaRPr dirty="0">
              <a:latin typeface="+mj-lt"/>
            </a:endParaRPr>
          </a:p>
        </p:txBody>
      </p:sp>
      <p:sp>
        <p:nvSpPr>
          <p:cNvPr id="941" name="Google Shape;941;p55"/>
          <p:cNvSpPr txBox="1"/>
          <p:nvPr/>
        </p:nvSpPr>
        <p:spPr>
          <a:xfrm>
            <a:off x="916650" y="921275"/>
            <a:ext cx="10694400" cy="53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Concurrencia .vs. Paralelismo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aprovechamiento de los sistemas multicore o multiprocesador  impone nuevos retos a los programadores los cuales incluyen: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División de actividades.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Balance de carga.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Segmentación de datos.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Dependencia de datos.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Testeo y depuración.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942" name="Google Shape;942;p55"/>
          <p:cNvGrpSpPr/>
          <p:nvPr/>
        </p:nvGrpSpPr>
        <p:grpSpPr>
          <a:xfrm>
            <a:off x="3852375" y="1858450"/>
            <a:ext cx="5157900" cy="1628750"/>
            <a:chOff x="5636325" y="2545650"/>
            <a:chExt cx="5157900" cy="1628750"/>
          </a:xfrm>
        </p:grpSpPr>
        <p:sp>
          <p:nvSpPr>
            <p:cNvPr id="943" name="Google Shape;943;p55"/>
            <p:cNvSpPr/>
            <p:nvPr/>
          </p:nvSpPr>
          <p:spPr>
            <a:xfrm>
              <a:off x="5636600" y="2545650"/>
              <a:ext cx="1122000" cy="10938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CPU1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44" name="Google Shape;944;p55"/>
            <p:cNvSpPr/>
            <p:nvPr/>
          </p:nvSpPr>
          <p:spPr>
            <a:xfrm>
              <a:off x="7654275" y="2545650"/>
              <a:ext cx="1122000" cy="10938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CPU2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45" name="Google Shape;945;p55"/>
            <p:cNvSpPr/>
            <p:nvPr/>
          </p:nvSpPr>
          <p:spPr>
            <a:xfrm>
              <a:off x="9671950" y="2545650"/>
              <a:ext cx="1122000" cy="1093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RAM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946" name="Google Shape;946;p55"/>
            <p:cNvCxnSpPr/>
            <p:nvPr/>
          </p:nvCxnSpPr>
          <p:spPr>
            <a:xfrm>
              <a:off x="5636325" y="4174400"/>
              <a:ext cx="51579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7" name="Google Shape;947;p55"/>
            <p:cNvCxnSpPr/>
            <p:nvPr/>
          </p:nvCxnSpPr>
          <p:spPr>
            <a:xfrm>
              <a:off x="6197600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8" name="Google Shape;948;p55"/>
            <p:cNvCxnSpPr/>
            <p:nvPr/>
          </p:nvCxnSpPr>
          <p:spPr>
            <a:xfrm>
              <a:off x="8213925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9" name="Google Shape;949;p55"/>
            <p:cNvCxnSpPr/>
            <p:nvPr/>
          </p:nvCxnSpPr>
          <p:spPr>
            <a:xfrm>
              <a:off x="10230250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Hilos</a:t>
            </a:r>
            <a:endParaRPr dirty="0">
              <a:latin typeface="+mj-lt"/>
            </a:endParaRPr>
          </a:p>
        </p:txBody>
      </p:sp>
      <p:sp>
        <p:nvSpPr>
          <p:cNvPr id="955" name="Google Shape;955;p56"/>
          <p:cNvSpPr txBox="1"/>
          <p:nvPr/>
        </p:nvSpPr>
        <p:spPr>
          <a:xfrm>
            <a:off x="916650" y="781025"/>
            <a:ext cx="10694400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Concurrencia .vs. Paralelismo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Concurrencia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○"/>
            </a:pPr>
            <a:r>
              <a:rPr lang="es-ES" sz="21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Permite la ejecución de más de una tarea conforme transcurre el tiempo.</a:t>
            </a:r>
            <a:endParaRPr sz="21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○"/>
            </a:pPr>
            <a:r>
              <a:rPr lang="es-ES" sz="21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En un sistema con un solo procesador, el scheduler proporciona la concurrencia. 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56"/>
          <p:cNvSpPr txBox="1"/>
          <p:nvPr/>
        </p:nvSpPr>
        <p:spPr>
          <a:xfrm>
            <a:off x="916650" y="3297288"/>
            <a:ext cx="100842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Paralelismo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Implica que un sistema puede hacer de manera simultánea (a la vez) más de una tarea.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Propio de sistemas multicore o multiprocesador.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957" name="Google Shape;95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3025" y="2374450"/>
            <a:ext cx="8043525" cy="8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625" y="4841100"/>
            <a:ext cx="4947550" cy="17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5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Hilos</a:t>
            </a:r>
            <a:endParaRPr dirty="0">
              <a:latin typeface="+mj-lt"/>
            </a:endParaRPr>
          </a:p>
        </p:txBody>
      </p:sp>
      <p:sp>
        <p:nvSpPr>
          <p:cNvPr id="964" name="Google Shape;964;p57"/>
          <p:cNvSpPr txBox="1"/>
          <p:nvPr/>
        </p:nvSpPr>
        <p:spPr>
          <a:xfrm>
            <a:off x="860550" y="1160150"/>
            <a:ext cx="5112600" cy="2277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Tipos de paralelismo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Paralelismo de datos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Divide los datos en subconjuntos los cuales son procesados por diferentes cores realizando el mismo conjunto de operaciones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57"/>
          <p:cNvSpPr txBox="1"/>
          <p:nvPr/>
        </p:nvSpPr>
        <p:spPr>
          <a:xfrm>
            <a:off x="790425" y="3552650"/>
            <a:ext cx="5112600" cy="153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Paralelismo de tareas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 Distribuye hilos a través de los núcleos de tal manera que cada hilo realiza una única operación.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966" name="Google Shape;96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3175" y="1440788"/>
            <a:ext cx="5654203" cy="171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2062" y="3552654"/>
            <a:ext cx="5716425" cy="1865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8"/>
          <p:cNvSpPr txBox="1">
            <a:spLocks noGrp="1"/>
          </p:cNvSpPr>
          <p:nvPr>
            <p:ph type="title"/>
          </p:nvPr>
        </p:nvSpPr>
        <p:spPr>
          <a:xfrm>
            <a:off x="1159950" y="96050"/>
            <a:ext cx="8060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Hilos</a:t>
            </a:r>
            <a:endParaRPr>
              <a:latin typeface="+mj-lt"/>
            </a:endParaRPr>
          </a:p>
        </p:txBody>
      </p:sp>
      <p:sp>
        <p:nvSpPr>
          <p:cNvPr id="973" name="Google Shape;973;p58"/>
          <p:cNvSpPr txBox="1"/>
          <p:nvPr/>
        </p:nvSpPr>
        <p:spPr>
          <a:xfrm>
            <a:off x="1000800" y="905300"/>
            <a:ext cx="104559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¿Por qué se usan los hilos? - </a:t>
            </a:r>
            <a:r>
              <a:rPr lang="es-ES" sz="26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Paralelizar</a:t>
            </a:r>
            <a:endParaRPr sz="2600" b="1" dirty="0">
              <a:solidFill>
                <a:srgbClr val="E46C0A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Suponga que se desean sumar dos arreglos muy grandes (A y B) y llevar el resultado a un tercero. ¿Como se podría mejorar el desempeño de la aplicación?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974" name="Google Shape;974;p58"/>
          <p:cNvSpPr/>
          <p:nvPr/>
        </p:nvSpPr>
        <p:spPr>
          <a:xfrm>
            <a:off x="1159950" y="4593050"/>
            <a:ext cx="1447500" cy="1332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975" name="Google Shape;975;p58"/>
          <p:cNvGraphicFramePr/>
          <p:nvPr/>
        </p:nvGraphicFramePr>
        <p:xfrm>
          <a:off x="4235900" y="4591350"/>
          <a:ext cx="2297100" cy="274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76" name="Google Shape;976;p58"/>
          <p:cNvGraphicFramePr/>
          <p:nvPr/>
        </p:nvGraphicFramePr>
        <p:xfrm>
          <a:off x="4235900" y="4996200"/>
          <a:ext cx="2297100" cy="274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77" name="Google Shape;977;p58"/>
          <p:cNvGraphicFramePr/>
          <p:nvPr/>
        </p:nvGraphicFramePr>
        <p:xfrm>
          <a:off x="4235900" y="5540850"/>
          <a:ext cx="2297100" cy="274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78" name="Google Shape;978;p58"/>
          <p:cNvSpPr/>
          <p:nvPr/>
        </p:nvSpPr>
        <p:spPr>
          <a:xfrm>
            <a:off x="3713375" y="4591400"/>
            <a:ext cx="392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9" name="Google Shape;979;p58"/>
          <p:cNvSpPr/>
          <p:nvPr/>
        </p:nvSpPr>
        <p:spPr>
          <a:xfrm>
            <a:off x="3713375" y="4996250"/>
            <a:ext cx="392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0" name="Google Shape;980;p58"/>
          <p:cNvSpPr/>
          <p:nvPr/>
        </p:nvSpPr>
        <p:spPr>
          <a:xfrm>
            <a:off x="2658600" y="5540900"/>
            <a:ext cx="1447500" cy="27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C =  A +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81" name="Google Shape;981;p58"/>
          <p:cNvCxnSpPr/>
          <p:nvPr/>
        </p:nvCxnSpPr>
        <p:spPr>
          <a:xfrm rot="10800000" flipH="1">
            <a:off x="2887800" y="5370100"/>
            <a:ext cx="3645300" cy="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82" name="Google Shape;982;p58"/>
          <p:cNvGrpSpPr/>
          <p:nvPr/>
        </p:nvGrpSpPr>
        <p:grpSpPr>
          <a:xfrm>
            <a:off x="1293070" y="3233273"/>
            <a:ext cx="1069049" cy="1100714"/>
            <a:chOff x="2019475" y="2346963"/>
            <a:chExt cx="590700" cy="628800"/>
          </a:xfrm>
        </p:grpSpPr>
        <p:sp>
          <p:nvSpPr>
            <p:cNvPr id="983" name="Google Shape;983;p58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58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985" name="Google Shape;985;p58"/>
          <p:cNvSpPr/>
          <p:nvPr/>
        </p:nvSpPr>
        <p:spPr>
          <a:xfrm>
            <a:off x="7325375" y="4145538"/>
            <a:ext cx="392703" cy="1165923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6" name="Google Shape;986;p58"/>
          <p:cNvSpPr txBox="1"/>
          <p:nvPr/>
        </p:nvSpPr>
        <p:spPr>
          <a:xfrm>
            <a:off x="1000800" y="2314875"/>
            <a:ext cx="4375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Una sola CPU</a:t>
            </a:r>
            <a:r>
              <a:rPr lang="es-ES" sz="22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987" name="Google Shape;987;p58"/>
          <p:cNvSpPr txBox="1"/>
          <p:nvPr/>
        </p:nvSpPr>
        <p:spPr>
          <a:xfrm>
            <a:off x="8287250" y="4497650"/>
            <a:ext cx="2691000" cy="461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C[i] = A[i] + B[i]</a:t>
            </a:r>
            <a:endParaRPr sz="1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9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Hilos</a:t>
            </a:r>
            <a:endParaRPr>
              <a:latin typeface="+mj-lt"/>
            </a:endParaRPr>
          </a:p>
        </p:txBody>
      </p:sp>
      <p:sp>
        <p:nvSpPr>
          <p:cNvPr id="993" name="Google Shape;993;p59"/>
          <p:cNvSpPr txBox="1"/>
          <p:nvPr/>
        </p:nvSpPr>
        <p:spPr>
          <a:xfrm>
            <a:off x="1000800" y="845075"/>
            <a:ext cx="104559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¿Por qué se usan los hilos? - </a:t>
            </a:r>
            <a:r>
              <a:rPr lang="es-ES" sz="26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Paralelizar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Suponga que se desean sumar dos arreglos muy grandes (A y B) y llevar el resultado a un tercero. ¿Como se podría mejorar el desempeño de la aplicación?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994" name="Google Shape;994;p59"/>
          <p:cNvGraphicFramePr/>
          <p:nvPr/>
        </p:nvGraphicFramePr>
        <p:xfrm>
          <a:off x="6699650" y="2517325"/>
          <a:ext cx="2297100" cy="274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95" name="Google Shape;995;p59"/>
          <p:cNvGraphicFramePr/>
          <p:nvPr/>
        </p:nvGraphicFramePr>
        <p:xfrm>
          <a:off x="6699650" y="2922175"/>
          <a:ext cx="2297100" cy="274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96" name="Google Shape;996;p59"/>
          <p:cNvGraphicFramePr/>
          <p:nvPr/>
        </p:nvGraphicFramePr>
        <p:xfrm>
          <a:off x="6699650" y="3466825"/>
          <a:ext cx="2297100" cy="2743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97" name="Google Shape;997;p59"/>
          <p:cNvSpPr/>
          <p:nvPr/>
        </p:nvSpPr>
        <p:spPr>
          <a:xfrm>
            <a:off x="6177125" y="2517375"/>
            <a:ext cx="392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A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8" name="Google Shape;998;p59"/>
          <p:cNvSpPr/>
          <p:nvPr/>
        </p:nvSpPr>
        <p:spPr>
          <a:xfrm>
            <a:off x="6177125" y="2922225"/>
            <a:ext cx="392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B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9" name="Google Shape;999;p59"/>
          <p:cNvSpPr/>
          <p:nvPr/>
        </p:nvSpPr>
        <p:spPr>
          <a:xfrm>
            <a:off x="5295450" y="3466875"/>
            <a:ext cx="1274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C =  A + B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00" name="Google Shape;1000;p59"/>
          <p:cNvCxnSpPr/>
          <p:nvPr/>
        </p:nvCxnSpPr>
        <p:spPr>
          <a:xfrm rot="10800000" flipH="1">
            <a:off x="5351550" y="3296075"/>
            <a:ext cx="3645300" cy="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1" name="Google Shape;1001;p59"/>
          <p:cNvSpPr/>
          <p:nvPr/>
        </p:nvSpPr>
        <p:spPr>
          <a:xfrm>
            <a:off x="7167150" y="4011475"/>
            <a:ext cx="203396" cy="59577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02" name="Google Shape;1002;p59"/>
          <p:cNvSpPr txBox="1"/>
          <p:nvPr/>
        </p:nvSpPr>
        <p:spPr>
          <a:xfrm>
            <a:off x="1000800" y="2314875"/>
            <a:ext cx="4375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Varias CPUs</a:t>
            </a:r>
            <a:r>
              <a:rPr lang="es-ES" sz="22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003" name="Google Shape;1003;p59"/>
          <p:cNvSpPr txBox="1"/>
          <p:nvPr/>
        </p:nvSpPr>
        <p:spPr>
          <a:xfrm>
            <a:off x="4938600" y="4107400"/>
            <a:ext cx="2010000" cy="40007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C[i] = A[i] + B[i]</a:t>
            </a:r>
            <a:endParaRPr sz="4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004" name="Google Shape;1004;p59"/>
          <p:cNvGrpSpPr/>
          <p:nvPr/>
        </p:nvGrpSpPr>
        <p:grpSpPr>
          <a:xfrm>
            <a:off x="1825995" y="3249523"/>
            <a:ext cx="1069049" cy="1100714"/>
            <a:chOff x="1293070" y="3233273"/>
            <a:chExt cx="1069049" cy="1100714"/>
          </a:xfrm>
        </p:grpSpPr>
        <p:sp>
          <p:nvSpPr>
            <p:cNvPr id="1005" name="Google Shape;1005;p59"/>
            <p:cNvSpPr/>
            <p:nvPr/>
          </p:nvSpPr>
          <p:spPr>
            <a:xfrm>
              <a:off x="1293070" y="3233273"/>
              <a:ext cx="1069049" cy="1100714"/>
            </a:xfrm>
            <a:prstGeom prst="ellipse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59"/>
            <p:cNvSpPr/>
            <p:nvPr/>
          </p:nvSpPr>
          <p:spPr>
            <a:xfrm>
              <a:off x="1885751" y="3525189"/>
              <a:ext cx="164194" cy="516879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07" name="Google Shape;1007;p59"/>
            <p:cNvSpPr/>
            <p:nvPr/>
          </p:nvSpPr>
          <p:spPr>
            <a:xfrm>
              <a:off x="1561301" y="3525202"/>
              <a:ext cx="164194" cy="516879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08" name="Google Shape;1008;p59"/>
          <p:cNvGrpSpPr/>
          <p:nvPr/>
        </p:nvGrpSpPr>
        <p:grpSpPr>
          <a:xfrm>
            <a:off x="1000800" y="4761675"/>
            <a:ext cx="2319300" cy="1165875"/>
            <a:chOff x="840200" y="4591400"/>
            <a:chExt cx="2319300" cy="1165875"/>
          </a:xfrm>
        </p:grpSpPr>
        <p:sp>
          <p:nvSpPr>
            <p:cNvPr id="1009" name="Google Shape;1009;p59"/>
            <p:cNvSpPr/>
            <p:nvPr/>
          </p:nvSpPr>
          <p:spPr>
            <a:xfrm>
              <a:off x="1000800" y="4591400"/>
              <a:ext cx="872400" cy="8415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CPU1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10" name="Google Shape;1010;p59"/>
            <p:cNvSpPr/>
            <p:nvPr/>
          </p:nvSpPr>
          <p:spPr>
            <a:xfrm>
              <a:off x="2148950" y="4591400"/>
              <a:ext cx="872400" cy="8415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CPU2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11" name="Google Shape;1011;p59"/>
            <p:cNvCxnSpPr/>
            <p:nvPr/>
          </p:nvCxnSpPr>
          <p:spPr>
            <a:xfrm rot="10800000" flipH="1">
              <a:off x="840200" y="5746475"/>
              <a:ext cx="2319300" cy="108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2" name="Google Shape;1012;p59"/>
            <p:cNvCxnSpPr>
              <a:stCxn id="1009" idx="2"/>
            </p:cNvCxnSpPr>
            <p:nvPr/>
          </p:nvCxnSpPr>
          <p:spPr>
            <a:xfrm>
              <a:off x="1437000" y="5432900"/>
              <a:ext cx="6300" cy="3105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3" name="Google Shape;1013;p59"/>
            <p:cNvCxnSpPr/>
            <p:nvPr/>
          </p:nvCxnSpPr>
          <p:spPr>
            <a:xfrm>
              <a:off x="2582000" y="5432900"/>
              <a:ext cx="6300" cy="3105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014" name="Google Shape;1014;p59"/>
          <p:cNvCxnSpPr/>
          <p:nvPr/>
        </p:nvCxnSpPr>
        <p:spPr>
          <a:xfrm>
            <a:off x="7854350" y="2279175"/>
            <a:ext cx="14100" cy="3702600"/>
          </a:xfrm>
          <a:prstGeom prst="straightConnector1">
            <a:avLst/>
          </a:prstGeom>
          <a:noFill/>
          <a:ln w="19050" cap="flat" cmpd="sng">
            <a:solidFill>
              <a:srgbClr val="F8A02B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15" name="Google Shape;1015;p59"/>
          <p:cNvSpPr/>
          <p:nvPr/>
        </p:nvSpPr>
        <p:spPr>
          <a:xfrm>
            <a:off x="8338150" y="4011475"/>
            <a:ext cx="203396" cy="59577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16" name="Google Shape;1016;p59"/>
          <p:cNvSpPr txBox="1"/>
          <p:nvPr/>
        </p:nvSpPr>
        <p:spPr>
          <a:xfrm>
            <a:off x="9025350" y="4107400"/>
            <a:ext cx="2010000" cy="40007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C[i] = A[i] + B[i]</a:t>
            </a:r>
            <a:endParaRPr sz="4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7" name="Google Shape;1017;p59"/>
          <p:cNvSpPr/>
          <p:nvPr/>
        </p:nvSpPr>
        <p:spPr>
          <a:xfrm>
            <a:off x="6832650" y="4877600"/>
            <a:ext cx="872400" cy="841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CPU1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8" name="Google Shape;1018;p59"/>
          <p:cNvSpPr/>
          <p:nvPr/>
        </p:nvSpPr>
        <p:spPr>
          <a:xfrm>
            <a:off x="8054225" y="4891625"/>
            <a:ext cx="872400" cy="841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CPU2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9" name="Google Shape;1019;p59"/>
          <p:cNvSpPr txBox="1"/>
          <p:nvPr/>
        </p:nvSpPr>
        <p:spPr>
          <a:xfrm>
            <a:off x="6569850" y="6089100"/>
            <a:ext cx="265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usa un hilo por CPU</a:t>
            </a:r>
            <a:endParaRPr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6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n-lt"/>
              </a:rPr>
              <a:t>Hilos</a:t>
            </a:r>
            <a:endParaRPr dirty="0">
              <a:latin typeface="+mn-lt"/>
            </a:endParaRPr>
          </a:p>
        </p:txBody>
      </p:sp>
      <p:sp>
        <p:nvSpPr>
          <p:cNvPr id="1025" name="Google Shape;1025;p60"/>
          <p:cNvSpPr txBox="1"/>
          <p:nvPr/>
        </p:nvSpPr>
        <p:spPr>
          <a:xfrm>
            <a:off x="1000800" y="845075"/>
            <a:ext cx="104559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¿Por qué se usan los hilos? - </a:t>
            </a:r>
            <a:r>
              <a:rPr lang="es-ES" sz="26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Paralelizar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Paralelizar consiste en transformar un programa estándar de un solo hilo a 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varios hilos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 ejecución.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1026" name="Google Shape;1026;p60"/>
          <p:cNvGrpSpPr/>
          <p:nvPr/>
        </p:nvGrpSpPr>
        <p:grpSpPr>
          <a:xfrm>
            <a:off x="8111745" y="2528186"/>
            <a:ext cx="1068900" cy="1100700"/>
            <a:chOff x="1293070" y="3233273"/>
            <a:chExt cx="1068900" cy="1100700"/>
          </a:xfrm>
        </p:grpSpPr>
        <p:sp>
          <p:nvSpPr>
            <p:cNvPr id="1027" name="Google Shape;1027;p60"/>
            <p:cNvSpPr/>
            <p:nvPr/>
          </p:nvSpPr>
          <p:spPr>
            <a:xfrm>
              <a:off x="1293070" y="3233273"/>
              <a:ext cx="1068900" cy="1100700"/>
            </a:xfrm>
            <a:prstGeom prst="ellipse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60"/>
            <p:cNvSpPr/>
            <p:nvPr/>
          </p:nvSpPr>
          <p:spPr>
            <a:xfrm>
              <a:off x="1885751" y="3525189"/>
              <a:ext cx="164194" cy="516879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9" name="Google Shape;1029;p60"/>
            <p:cNvSpPr/>
            <p:nvPr/>
          </p:nvSpPr>
          <p:spPr>
            <a:xfrm>
              <a:off x="1561301" y="3525202"/>
              <a:ext cx="164194" cy="516879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30" name="Google Shape;1030;p60"/>
          <p:cNvGrpSpPr/>
          <p:nvPr/>
        </p:nvGrpSpPr>
        <p:grpSpPr>
          <a:xfrm>
            <a:off x="3719345" y="2590361"/>
            <a:ext cx="1069049" cy="1100714"/>
            <a:chOff x="2019475" y="2346963"/>
            <a:chExt cx="590700" cy="628800"/>
          </a:xfrm>
        </p:grpSpPr>
        <p:sp>
          <p:nvSpPr>
            <p:cNvPr id="1031" name="Google Shape;1031;p60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60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033" name="Google Shape;1033;p60"/>
          <p:cNvSpPr/>
          <p:nvPr/>
        </p:nvSpPr>
        <p:spPr>
          <a:xfrm>
            <a:off x="5103675" y="2699925"/>
            <a:ext cx="2692800" cy="7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Paralelizar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4" name="Google Shape;1034;p60"/>
          <p:cNvSpPr/>
          <p:nvPr/>
        </p:nvSpPr>
        <p:spPr>
          <a:xfrm>
            <a:off x="3812725" y="4512950"/>
            <a:ext cx="882300" cy="82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035" name="Google Shape;1035;p60"/>
          <p:cNvGrpSpPr/>
          <p:nvPr/>
        </p:nvGrpSpPr>
        <p:grpSpPr>
          <a:xfrm>
            <a:off x="7486550" y="4479913"/>
            <a:ext cx="2319300" cy="1165875"/>
            <a:chOff x="840200" y="4591400"/>
            <a:chExt cx="2319300" cy="1165875"/>
          </a:xfrm>
        </p:grpSpPr>
        <p:sp>
          <p:nvSpPr>
            <p:cNvPr id="1036" name="Google Shape;1036;p60"/>
            <p:cNvSpPr/>
            <p:nvPr/>
          </p:nvSpPr>
          <p:spPr>
            <a:xfrm>
              <a:off x="1000800" y="4591400"/>
              <a:ext cx="872400" cy="8415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CPU1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37" name="Google Shape;1037;p60"/>
            <p:cNvSpPr/>
            <p:nvPr/>
          </p:nvSpPr>
          <p:spPr>
            <a:xfrm>
              <a:off x="2148950" y="4591400"/>
              <a:ext cx="872400" cy="8415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CPU2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038" name="Google Shape;1038;p60"/>
            <p:cNvCxnSpPr/>
            <p:nvPr/>
          </p:nvCxnSpPr>
          <p:spPr>
            <a:xfrm rot="10800000" flipH="1">
              <a:off x="840200" y="5746475"/>
              <a:ext cx="2319300" cy="108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9" name="Google Shape;1039;p60"/>
            <p:cNvCxnSpPr>
              <a:stCxn id="1036" idx="2"/>
            </p:cNvCxnSpPr>
            <p:nvPr/>
          </p:nvCxnSpPr>
          <p:spPr>
            <a:xfrm>
              <a:off x="1437000" y="5432900"/>
              <a:ext cx="6300" cy="3105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0" name="Google Shape;1040;p60"/>
            <p:cNvCxnSpPr/>
            <p:nvPr/>
          </p:nvCxnSpPr>
          <p:spPr>
            <a:xfrm>
              <a:off x="2582000" y="5432900"/>
              <a:ext cx="6300" cy="3105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61"/>
          <p:cNvSpPr txBox="1">
            <a:spLocks noGrp="1"/>
          </p:cNvSpPr>
          <p:nvPr>
            <p:ph type="title"/>
          </p:nvPr>
        </p:nvSpPr>
        <p:spPr>
          <a:xfrm>
            <a:off x="972750" y="166175"/>
            <a:ext cx="8029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Hilos</a:t>
            </a:r>
            <a:endParaRPr dirty="0">
              <a:latin typeface="+mj-lt"/>
            </a:endParaRPr>
          </a:p>
        </p:txBody>
      </p:sp>
      <p:sp>
        <p:nvSpPr>
          <p:cNvPr id="1046" name="Google Shape;1046;p61"/>
          <p:cNvSpPr txBox="1"/>
          <p:nvPr/>
        </p:nvSpPr>
        <p:spPr>
          <a:xfrm>
            <a:off x="972750" y="1603825"/>
            <a:ext cx="5886000" cy="363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¿Por qué se usan los hilos? - </a:t>
            </a:r>
            <a:r>
              <a:rPr lang="es-ES" sz="2600" b="1" dirty="0" err="1">
                <a:solidFill>
                  <a:srgbClr val="E46C0A"/>
                </a:solidFill>
                <a:ea typeface="Roboto"/>
                <a:cs typeface="Roboto"/>
                <a:sym typeface="Roboto"/>
              </a:rPr>
              <a:t>Overlap</a:t>
            </a:r>
            <a:endParaRPr sz="26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Evitar bloquear el progreso de un programa debido a una operación I/O más lenta pues al usar hilos: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No se hace necesario que un programa tenga que esperar que una operación I/O (la cual es muy lenta) se complete de modo que es posible que la CPU realice otras tareas.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Casos típicos: Aplicaciones tipo cliente - servidor (web server, DBMS, </a:t>
            </a:r>
            <a:r>
              <a:rPr lang="es-ES" sz="22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etc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1047" name="Google Shape;104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7525" y="1493825"/>
            <a:ext cx="4534325" cy="37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6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Creación de hilos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1059" name="Google Shape;1059;p63"/>
          <p:cNvSpPr txBox="1">
            <a:spLocks noGrp="1"/>
          </p:cNvSpPr>
          <p:nvPr>
            <p:ph type="body" idx="1"/>
          </p:nvPr>
        </p:nvSpPr>
        <p:spPr>
          <a:xfrm>
            <a:off x="987500" y="1045550"/>
            <a:ext cx="10376100" cy="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Existen similitudes en la gestión de hilos y procesos.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060" name="Google Shape;1060;p63"/>
          <p:cNvGrpSpPr/>
          <p:nvPr/>
        </p:nvGrpSpPr>
        <p:grpSpPr>
          <a:xfrm>
            <a:off x="2198693" y="3770696"/>
            <a:ext cx="612969" cy="600504"/>
            <a:chOff x="2019475" y="2346963"/>
            <a:chExt cx="590700" cy="628800"/>
          </a:xfrm>
        </p:grpSpPr>
        <p:sp>
          <p:nvSpPr>
            <p:cNvPr id="1061" name="Google Shape;1061;p63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9CB9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63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63" name="Google Shape;1063;p63"/>
          <p:cNvGrpSpPr/>
          <p:nvPr/>
        </p:nvGrpSpPr>
        <p:grpSpPr>
          <a:xfrm>
            <a:off x="9840703" y="3135737"/>
            <a:ext cx="700372" cy="3071100"/>
            <a:chOff x="3674128" y="2910437"/>
            <a:chExt cx="700372" cy="3071100"/>
          </a:xfrm>
        </p:grpSpPr>
        <p:cxnSp>
          <p:nvCxnSpPr>
            <p:cNvPr id="1064" name="Google Shape;1064;p63"/>
            <p:cNvCxnSpPr/>
            <p:nvPr/>
          </p:nvCxnSpPr>
          <p:spPr>
            <a:xfrm flipH="1">
              <a:off x="3674128" y="2910437"/>
              <a:ext cx="2100" cy="307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65" name="Google Shape;1065;p63"/>
            <p:cNvCxnSpPr/>
            <p:nvPr/>
          </p:nvCxnSpPr>
          <p:spPr>
            <a:xfrm>
              <a:off x="3687200" y="3373100"/>
              <a:ext cx="687300" cy="57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63"/>
            <p:cNvCxnSpPr/>
            <p:nvPr/>
          </p:nvCxnSpPr>
          <p:spPr>
            <a:xfrm>
              <a:off x="4360375" y="3948100"/>
              <a:ext cx="0" cy="1107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7" name="Google Shape;1067;p63"/>
            <p:cNvCxnSpPr/>
            <p:nvPr/>
          </p:nvCxnSpPr>
          <p:spPr>
            <a:xfrm rot="10800000" flipH="1">
              <a:off x="3687200" y="5084075"/>
              <a:ext cx="687300" cy="448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</p:grpSp>
      <p:grpSp>
        <p:nvGrpSpPr>
          <p:cNvPr id="1068" name="Google Shape;1068;p63"/>
          <p:cNvGrpSpPr/>
          <p:nvPr/>
        </p:nvGrpSpPr>
        <p:grpSpPr>
          <a:xfrm>
            <a:off x="1851606" y="2853733"/>
            <a:ext cx="612969" cy="600504"/>
            <a:chOff x="2019475" y="2346963"/>
            <a:chExt cx="590700" cy="628800"/>
          </a:xfrm>
        </p:grpSpPr>
        <p:sp>
          <p:nvSpPr>
            <p:cNvPr id="1069" name="Google Shape;1069;p63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63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71" name="Google Shape;1071;p63"/>
          <p:cNvGrpSpPr/>
          <p:nvPr/>
        </p:nvGrpSpPr>
        <p:grpSpPr>
          <a:xfrm>
            <a:off x="3872803" y="3135737"/>
            <a:ext cx="700372" cy="3071100"/>
            <a:chOff x="3674128" y="2910437"/>
            <a:chExt cx="700372" cy="3071100"/>
          </a:xfrm>
        </p:grpSpPr>
        <p:cxnSp>
          <p:nvCxnSpPr>
            <p:cNvPr id="1072" name="Google Shape;1072;p63"/>
            <p:cNvCxnSpPr/>
            <p:nvPr/>
          </p:nvCxnSpPr>
          <p:spPr>
            <a:xfrm flipH="1">
              <a:off x="3674128" y="2910437"/>
              <a:ext cx="2100" cy="307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73" name="Google Shape;1073;p63"/>
            <p:cNvCxnSpPr/>
            <p:nvPr/>
          </p:nvCxnSpPr>
          <p:spPr>
            <a:xfrm>
              <a:off x="3687200" y="3373100"/>
              <a:ext cx="687300" cy="57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4" name="Google Shape;1074;p63"/>
            <p:cNvCxnSpPr/>
            <p:nvPr/>
          </p:nvCxnSpPr>
          <p:spPr>
            <a:xfrm>
              <a:off x="4360375" y="3948100"/>
              <a:ext cx="0" cy="1107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5" name="Google Shape;1075;p63"/>
            <p:cNvCxnSpPr/>
            <p:nvPr/>
          </p:nvCxnSpPr>
          <p:spPr>
            <a:xfrm rot="10800000" flipH="1">
              <a:off x="3687200" y="5084075"/>
              <a:ext cx="687300" cy="448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</p:grpSp>
      <p:sp>
        <p:nvSpPr>
          <p:cNvPr id="1076" name="Google Shape;1076;p63"/>
          <p:cNvSpPr/>
          <p:nvPr/>
        </p:nvSpPr>
        <p:spPr>
          <a:xfrm>
            <a:off x="3102375" y="3405900"/>
            <a:ext cx="700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fork</a:t>
            </a:r>
            <a:endParaRPr sz="1600" b="1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7" name="Google Shape;1077;p63"/>
          <p:cNvSpPr/>
          <p:nvPr/>
        </p:nvSpPr>
        <p:spPr>
          <a:xfrm>
            <a:off x="2722671" y="5530450"/>
            <a:ext cx="1109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waitpid</a:t>
            </a:r>
            <a:endParaRPr sz="16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8" name="Google Shape;1078;p63"/>
          <p:cNvSpPr/>
          <p:nvPr/>
        </p:nvSpPr>
        <p:spPr>
          <a:xfrm>
            <a:off x="4672275" y="5165650"/>
            <a:ext cx="1767004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600" b="1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s-ES" sz="1600" b="1" dirty="0" err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exit</a:t>
            </a:r>
            <a:endParaRPr sz="1600" b="1" dirty="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9" name="Google Shape;1079;p63"/>
          <p:cNvSpPr/>
          <p:nvPr/>
        </p:nvSpPr>
        <p:spPr>
          <a:xfrm>
            <a:off x="7960475" y="3405900"/>
            <a:ext cx="1820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pthread_create</a:t>
            </a:r>
            <a:endParaRPr sz="1600" b="1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0" name="Google Shape;1080;p63"/>
          <p:cNvSpPr/>
          <p:nvPr/>
        </p:nvSpPr>
        <p:spPr>
          <a:xfrm>
            <a:off x="10636450" y="5107675"/>
            <a:ext cx="13752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endParaRPr sz="1600" b="1" dirty="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1" name="Google Shape;1081;p63"/>
          <p:cNvSpPr/>
          <p:nvPr/>
        </p:nvSpPr>
        <p:spPr>
          <a:xfrm>
            <a:off x="8119518" y="5583952"/>
            <a:ext cx="1637122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pthread_join</a:t>
            </a:r>
            <a:endParaRPr sz="16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82" name="Google Shape;1082;p63"/>
          <p:cNvCxnSpPr/>
          <p:nvPr/>
        </p:nvCxnSpPr>
        <p:spPr>
          <a:xfrm rot="10800000">
            <a:off x="1205150" y="3588300"/>
            <a:ext cx="15987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083" name="Google Shape;1083;p63"/>
          <p:cNvGrpSpPr/>
          <p:nvPr/>
        </p:nvGrpSpPr>
        <p:grpSpPr>
          <a:xfrm>
            <a:off x="7222181" y="2853733"/>
            <a:ext cx="612969" cy="600504"/>
            <a:chOff x="2019475" y="2346963"/>
            <a:chExt cx="590700" cy="628800"/>
          </a:xfrm>
        </p:grpSpPr>
        <p:sp>
          <p:nvSpPr>
            <p:cNvPr id="1084" name="Google Shape;1084;p63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63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86" name="Google Shape;1086;p63"/>
          <p:cNvGrpSpPr/>
          <p:nvPr/>
        </p:nvGrpSpPr>
        <p:grpSpPr>
          <a:xfrm>
            <a:off x="7222181" y="3770708"/>
            <a:ext cx="612969" cy="600504"/>
            <a:chOff x="6778856" y="5262408"/>
            <a:chExt cx="612969" cy="600504"/>
          </a:xfrm>
        </p:grpSpPr>
        <p:sp>
          <p:nvSpPr>
            <p:cNvPr id="1087" name="Google Shape;1087;p63"/>
            <p:cNvSpPr/>
            <p:nvPr/>
          </p:nvSpPr>
          <p:spPr>
            <a:xfrm>
              <a:off x="6778856" y="5262408"/>
              <a:ext cx="612969" cy="600504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63"/>
            <p:cNvSpPr/>
            <p:nvPr/>
          </p:nvSpPr>
          <p:spPr>
            <a:xfrm>
              <a:off x="6940106" y="5421650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89" name="Google Shape;1089;p63"/>
            <p:cNvSpPr/>
            <p:nvPr/>
          </p:nvSpPr>
          <p:spPr>
            <a:xfrm>
              <a:off x="7114470" y="5421653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90" name="Google Shape;1090;p63"/>
          <p:cNvGrpSpPr/>
          <p:nvPr/>
        </p:nvGrpSpPr>
        <p:grpSpPr>
          <a:xfrm>
            <a:off x="1359481" y="3754058"/>
            <a:ext cx="612969" cy="600504"/>
            <a:chOff x="2019475" y="2346963"/>
            <a:chExt cx="590700" cy="628800"/>
          </a:xfrm>
        </p:grpSpPr>
        <p:sp>
          <p:nvSpPr>
            <p:cNvPr id="1091" name="Google Shape;1091;p63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63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1093" name="Google Shape;1093;p63"/>
          <p:cNvCxnSpPr/>
          <p:nvPr/>
        </p:nvCxnSpPr>
        <p:spPr>
          <a:xfrm rot="10800000">
            <a:off x="6422831" y="3598400"/>
            <a:ext cx="15987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94" name="Google Shape;1094;p63"/>
          <p:cNvCxnSpPr/>
          <p:nvPr/>
        </p:nvCxnSpPr>
        <p:spPr>
          <a:xfrm rot="10800000">
            <a:off x="1302638" y="5712850"/>
            <a:ext cx="15987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095" name="Google Shape;1095;p63"/>
          <p:cNvGrpSpPr/>
          <p:nvPr/>
        </p:nvGrpSpPr>
        <p:grpSpPr>
          <a:xfrm>
            <a:off x="1851606" y="5895258"/>
            <a:ext cx="612969" cy="600504"/>
            <a:chOff x="2019475" y="2346963"/>
            <a:chExt cx="590700" cy="628800"/>
          </a:xfrm>
        </p:grpSpPr>
        <p:sp>
          <p:nvSpPr>
            <p:cNvPr id="1096" name="Google Shape;1096;p63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63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1098" name="Google Shape;1098;p63"/>
          <p:cNvCxnSpPr/>
          <p:nvPr/>
        </p:nvCxnSpPr>
        <p:spPr>
          <a:xfrm rot="10800000">
            <a:off x="6631150" y="5781100"/>
            <a:ext cx="15987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099" name="Google Shape;1099;p63"/>
          <p:cNvGrpSpPr/>
          <p:nvPr/>
        </p:nvGrpSpPr>
        <p:grpSpPr>
          <a:xfrm>
            <a:off x="7347506" y="5895258"/>
            <a:ext cx="612969" cy="600504"/>
            <a:chOff x="2019475" y="2346963"/>
            <a:chExt cx="590700" cy="628800"/>
          </a:xfrm>
        </p:grpSpPr>
        <p:sp>
          <p:nvSpPr>
            <p:cNvPr id="1100" name="Google Shape;1100;p63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63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102" name="Google Shape;1102;p63"/>
          <p:cNvSpPr/>
          <p:nvPr/>
        </p:nvSpPr>
        <p:spPr>
          <a:xfrm>
            <a:off x="3102375" y="2573325"/>
            <a:ext cx="13752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Procesos</a:t>
            </a:r>
            <a:endParaRPr sz="2000" b="1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3" name="Google Shape;1103;p63"/>
          <p:cNvSpPr/>
          <p:nvPr/>
        </p:nvSpPr>
        <p:spPr>
          <a:xfrm>
            <a:off x="9134213" y="2573325"/>
            <a:ext cx="13752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Hilos</a:t>
            </a:r>
            <a:endParaRPr sz="2000" b="1">
              <a:solidFill>
                <a:srgbClr val="E46C0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04" name="Google Shape;110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9649" y="1837599"/>
            <a:ext cx="733551" cy="7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82287" y="1977811"/>
            <a:ext cx="879074" cy="4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64"/>
          <p:cNvSpPr txBox="1">
            <a:spLocks noGrp="1"/>
          </p:cNvSpPr>
          <p:nvPr>
            <p:ph type="title"/>
          </p:nvPr>
        </p:nvSpPr>
        <p:spPr>
          <a:xfrm>
            <a:off x="442452" y="96038"/>
            <a:ext cx="877819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Creación de hilos</a:t>
            </a:r>
            <a:endParaRPr dirty="0">
              <a:latin typeface="+mj-lt"/>
            </a:endParaRPr>
          </a:p>
        </p:txBody>
      </p:sp>
      <p:sp>
        <p:nvSpPr>
          <p:cNvPr id="1111" name="Google Shape;1111;p64"/>
          <p:cNvSpPr txBox="1">
            <a:spLocks noGrp="1"/>
          </p:cNvSpPr>
          <p:nvPr>
            <p:ph type="body" idx="1"/>
          </p:nvPr>
        </p:nvSpPr>
        <p:spPr>
          <a:xfrm>
            <a:off x="442452" y="877250"/>
            <a:ext cx="11441948" cy="1794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Ejemplo -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Orden de ejecución</a:t>
            </a:r>
            <a:endParaRPr b="1" dirty="0">
              <a:solidFill>
                <a:srgbClr val="E06666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200" dirty="0">
                <a:latin typeface="+mn-lt"/>
              </a:rPr>
              <a:t>El siguiente programa crea dos hilos independientes (</a:t>
            </a:r>
            <a:r>
              <a:rPr lang="es-ES" sz="2200" b="1" dirty="0">
                <a:latin typeface="+mn-lt"/>
              </a:rPr>
              <a:t>p1</a:t>
            </a:r>
            <a:r>
              <a:rPr lang="es-ES" sz="2200" dirty="0">
                <a:latin typeface="+mn-lt"/>
              </a:rPr>
              <a:t> y </a:t>
            </a:r>
            <a:r>
              <a:rPr lang="es-ES" sz="2200" b="1" dirty="0">
                <a:latin typeface="+mn-lt"/>
              </a:rPr>
              <a:t>p2</a:t>
            </a:r>
            <a:r>
              <a:rPr lang="es-ES" sz="2200" dirty="0">
                <a:latin typeface="+mn-lt"/>
              </a:rPr>
              <a:t>) que ejecutan una tarea (</a:t>
            </a:r>
            <a:r>
              <a:rPr lang="es-ES" sz="2200" dirty="0" err="1">
                <a:latin typeface="+mn-lt"/>
              </a:rPr>
              <a:t>mythread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solidFill>
                  <a:srgbClr val="FF0000"/>
                </a:solidFill>
                <a:latin typeface="+mn-lt"/>
              </a:rPr>
              <a:t>Pregunta</a:t>
            </a:r>
            <a:r>
              <a:rPr lang="es-ES" sz="2200" dirty="0">
                <a:solidFill>
                  <a:srgbClr val="FF0000"/>
                </a:solidFill>
                <a:latin typeface="+mn-lt"/>
              </a:rPr>
              <a:t>:</a:t>
            </a:r>
            <a:r>
              <a:rPr lang="es-ES" sz="2200" dirty="0">
                <a:latin typeface="+mn-lt"/>
              </a:rPr>
              <a:t> ¿Cuál es el orden de ejecución de los hilos?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112" name="Google Shape;1112;p64"/>
          <p:cNvGrpSpPr/>
          <p:nvPr/>
        </p:nvGrpSpPr>
        <p:grpSpPr>
          <a:xfrm>
            <a:off x="442452" y="2983672"/>
            <a:ext cx="10595135" cy="3140100"/>
            <a:chOff x="1323532" y="998300"/>
            <a:chExt cx="9424600" cy="3140100"/>
          </a:xfrm>
        </p:grpSpPr>
        <p:sp>
          <p:nvSpPr>
            <p:cNvPr id="1113" name="Google Shape;1113;p64"/>
            <p:cNvSpPr txBox="1"/>
            <p:nvPr/>
          </p:nvSpPr>
          <p:spPr>
            <a:xfrm>
              <a:off x="2050532" y="998300"/>
              <a:ext cx="8697600" cy="3140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&lt;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stdio.h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&gt;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&lt;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stdlib.h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&gt;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&lt;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&gt;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common.h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"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common_threads.h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"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mythread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("%s\n",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char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*)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NULL;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14" name="Google Shape;1114;p64"/>
            <p:cNvSpPr txBox="1"/>
            <p:nvPr/>
          </p:nvSpPr>
          <p:spPr>
            <a:xfrm>
              <a:off x="1323532" y="998300"/>
              <a:ext cx="641700" cy="314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>
                <a:latin typeface="+mj-lt"/>
              </a:rPr>
              <a:t>Creación de hilos</a:t>
            </a:r>
            <a:endParaRPr dirty="0">
              <a:latin typeface="+mj-lt"/>
            </a:endParaRPr>
          </a:p>
        </p:txBody>
      </p:sp>
      <p:sp>
        <p:nvSpPr>
          <p:cNvPr id="1120" name="Google Shape;1120;p65"/>
          <p:cNvSpPr txBox="1">
            <a:spLocks noGrp="1"/>
          </p:cNvSpPr>
          <p:nvPr>
            <p:ph type="body" idx="1"/>
          </p:nvPr>
        </p:nvSpPr>
        <p:spPr>
          <a:xfrm>
            <a:off x="987500" y="1045550"/>
            <a:ext cx="10820700" cy="51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Ejemplo -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Orden de ejecución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121" name="Google Shape;1121;p65"/>
          <p:cNvGrpSpPr/>
          <p:nvPr/>
        </p:nvGrpSpPr>
        <p:grpSpPr>
          <a:xfrm>
            <a:off x="518492" y="1806100"/>
            <a:ext cx="5982620" cy="4125000"/>
            <a:chOff x="1090957" y="998300"/>
            <a:chExt cx="9657175" cy="4125000"/>
          </a:xfrm>
        </p:grpSpPr>
        <p:sp>
          <p:nvSpPr>
            <p:cNvPr id="1122" name="Google Shape;1122;p65"/>
            <p:cNvSpPr txBox="1"/>
            <p:nvPr/>
          </p:nvSpPr>
          <p:spPr>
            <a:xfrm>
              <a:off x="2050532" y="998300"/>
              <a:ext cx="8697600" cy="41250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argc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char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argv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[]) {                   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argc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!= 1) {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stderr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usage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exit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(1);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p1, p2;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begin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(&amp;p1, NULL,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mythread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"A");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(&amp;p2, NULL,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mythread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"B");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//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join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waits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the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threads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to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finish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(p1, NULL);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(p2, NULL);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end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\n");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0;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23" name="Google Shape;1123;p65"/>
            <p:cNvSpPr txBox="1"/>
            <p:nvPr/>
          </p:nvSpPr>
          <p:spPr>
            <a:xfrm>
              <a:off x="1090957" y="998300"/>
              <a:ext cx="874200" cy="412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124" name="Google Shape;1124;p65"/>
          <p:cNvGrpSpPr/>
          <p:nvPr/>
        </p:nvGrpSpPr>
        <p:grpSpPr>
          <a:xfrm>
            <a:off x="7168838" y="1887525"/>
            <a:ext cx="4078193" cy="4449350"/>
            <a:chOff x="7168838" y="1887525"/>
            <a:chExt cx="4078193" cy="4449350"/>
          </a:xfrm>
        </p:grpSpPr>
        <p:grpSp>
          <p:nvGrpSpPr>
            <p:cNvPr id="1125" name="Google Shape;1125;p65"/>
            <p:cNvGrpSpPr/>
            <p:nvPr/>
          </p:nvGrpSpPr>
          <p:grpSpPr>
            <a:xfrm>
              <a:off x="9835838" y="2382275"/>
              <a:ext cx="705238" cy="3954600"/>
              <a:chOff x="3669263" y="2842775"/>
              <a:chExt cx="705238" cy="3954600"/>
            </a:xfrm>
          </p:grpSpPr>
          <p:cxnSp>
            <p:nvCxnSpPr>
              <p:cNvPr id="1126" name="Google Shape;1126;p65"/>
              <p:cNvCxnSpPr/>
              <p:nvPr/>
            </p:nvCxnSpPr>
            <p:spPr>
              <a:xfrm>
                <a:off x="3669263" y="2842775"/>
                <a:ext cx="18900" cy="3954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27" name="Google Shape;1127;p65"/>
              <p:cNvCxnSpPr/>
              <p:nvPr/>
            </p:nvCxnSpPr>
            <p:spPr>
              <a:xfrm>
                <a:off x="3691400" y="4100075"/>
                <a:ext cx="683100" cy="229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8" name="Google Shape;1128;p65"/>
              <p:cNvCxnSpPr/>
              <p:nvPr/>
            </p:nvCxnSpPr>
            <p:spPr>
              <a:xfrm>
                <a:off x="4360375" y="4329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9" name="Google Shape;1129;p65"/>
              <p:cNvCxnSpPr/>
              <p:nvPr/>
            </p:nvCxnSpPr>
            <p:spPr>
              <a:xfrm rot="10800000" flipH="1">
                <a:off x="3687200" y="5465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130" name="Google Shape;1130;p65"/>
            <p:cNvSpPr/>
            <p:nvPr/>
          </p:nvSpPr>
          <p:spPr>
            <a:xfrm>
              <a:off x="8036150" y="25758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31" name="Google Shape;1131;p65"/>
            <p:cNvSpPr/>
            <p:nvPr/>
          </p:nvSpPr>
          <p:spPr>
            <a:xfrm>
              <a:off x="8036150" y="4863038"/>
              <a:ext cx="174775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6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132" name="Google Shape;1132;p65"/>
            <p:cNvGrpSpPr/>
            <p:nvPr/>
          </p:nvGrpSpPr>
          <p:grpSpPr>
            <a:xfrm>
              <a:off x="7239668" y="2252333"/>
              <a:ext cx="612969" cy="600504"/>
              <a:chOff x="2019475" y="2346963"/>
              <a:chExt cx="590700" cy="628800"/>
            </a:xfrm>
          </p:grpSpPr>
          <p:sp>
            <p:nvSpPr>
              <p:cNvPr id="1133" name="Google Shape;1133;p65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65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135" name="Google Shape;1135;p65"/>
            <p:cNvGrpSpPr/>
            <p:nvPr/>
          </p:nvGrpSpPr>
          <p:grpSpPr>
            <a:xfrm>
              <a:off x="7239706" y="2963133"/>
              <a:ext cx="612900" cy="600600"/>
              <a:chOff x="6778856" y="5262408"/>
              <a:chExt cx="612900" cy="600600"/>
            </a:xfrm>
          </p:grpSpPr>
          <p:sp>
            <p:nvSpPr>
              <p:cNvPr id="1136" name="Google Shape;1136;p65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65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38" name="Google Shape;1138;p65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1139" name="Google Shape;1139;p65"/>
            <p:cNvCxnSpPr/>
            <p:nvPr/>
          </p:nvCxnSpPr>
          <p:spPr>
            <a:xfrm rot="10800000">
              <a:off x="7168838" y="29177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140" name="Google Shape;1140;p65"/>
            <p:cNvCxnSpPr/>
            <p:nvPr/>
          </p:nvCxnSpPr>
          <p:spPr>
            <a:xfrm flipH="1">
              <a:off x="7221250" y="5460100"/>
              <a:ext cx="2608500" cy="2700"/>
            </a:xfrm>
            <a:prstGeom prst="straightConnector1">
              <a:avLst/>
            </a:prstGeom>
            <a:noFill/>
            <a:ln w="19050" cap="flat" cmpd="sng">
              <a:solidFill>
                <a:srgbClr val="E46C0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141" name="Google Shape;1141;p65"/>
            <p:cNvGrpSpPr/>
            <p:nvPr/>
          </p:nvGrpSpPr>
          <p:grpSpPr>
            <a:xfrm>
              <a:off x="7319456" y="5560058"/>
              <a:ext cx="612969" cy="600504"/>
              <a:chOff x="2019475" y="2346963"/>
              <a:chExt cx="590700" cy="628800"/>
            </a:xfrm>
          </p:grpSpPr>
          <p:sp>
            <p:nvSpPr>
              <p:cNvPr id="1142" name="Google Shape;1142;p65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65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144" name="Google Shape;1144;p65"/>
            <p:cNvSpPr/>
            <p:nvPr/>
          </p:nvSpPr>
          <p:spPr>
            <a:xfrm>
              <a:off x="9134213" y="18875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145" name="Google Shape;1145;p65"/>
            <p:cNvGrpSpPr/>
            <p:nvPr/>
          </p:nvGrpSpPr>
          <p:grpSpPr>
            <a:xfrm>
              <a:off x="9829750" y="2924320"/>
              <a:ext cx="1417281" cy="2566677"/>
              <a:chOff x="3687200" y="3373100"/>
              <a:chExt cx="687300" cy="2159775"/>
            </a:xfrm>
          </p:grpSpPr>
          <p:cxnSp>
            <p:nvCxnSpPr>
              <p:cNvPr id="1146" name="Google Shape;1146;p65"/>
              <p:cNvCxnSpPr/>
              <p:nvPr/>
            </p:nvCxnSpPr>
            <p:spPr>
              <a:xfrm>
                <a:off x="3687200" y="3373100"/>
                <a:ext cx="687300" cy="57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7" name="Google Shape;1147;p65"/>
              <p:cNvCxnSpPr/>
              <p:nvPr/>
            </p:nvCxnSpPr>
            <p:spPr>
              <a:xfrm>
                <a:off x="4360375" y="3948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8" name="Google Shape;1148;p65"/>
              <p:cNvCxnSpPr/>
              <p:nvPr/>
            </p:nvCxnSpPr>
            <p:spPr>
              <a:xfrm rot="10800000" flipH="1">
                <a:off x="3687200" y="5084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149" name="Google Shape;1149;p65"/>
            <p:cNvSpPr/>
            <p:nvPr/>
          </p:nvSpPr>
          <p:spPr>
            <a:xfrm>
              <a:off x="8036150" y="3260913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150" name="Google Shape;1150;p65"/>
            <p:cNvCxnSpPr/>
            <p:nvPr/>
          </p:nvCxnSpPr>
          <p:spPr>
            <a:xfrm rot="10800000">
              <a:off x="7186563" y="3622425"/>
              <a:ext cx="2570100" cy="3300"/>
            </a:xfrm>
            <a:prstGeom prst="straightConnector1">
              <a:avLst/>
            </a:prstGeom>
            <a:noFill/>
            <a:ln w="19050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151" name="Google Shape;1151;p65"/>
            <p:cNvGrpSpPr/>
            <p:nvPr/>
          </p:nvGrpSpPr>
          <p:grpSpPr>
            <a:xfrm>
              <a:off x="7255356" y="3684433"/>
              <a:ext cx="612900" cy="600600"/>
              <a:chOff x="7290431" y="4001983"/>
              <a:chExt cx="612900" cy="600600"/>
            </a:xfrm>
          </p:grpSpPr>
          <p:sp>
            <p:nvSpPr>
              <p:cNvPr id="1152" name="Google Shape;1152;p65"/>
              <p:cNvSpPr/>
              <p:nvPr/>
            </p:nvSpPr>
            <p:spPr>
              <a:xfrm>
                <a:off x="7290431" y="4001983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65"/>
              <p:cNvSpPr/>
              <p:nvPr/>
            </p:nvSpPr>
            <p:spPr>
              <a:xfrm>
                <a:off x="7385081" y="4164725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54" name="Google Shape;1154;p65"/>
              <p:cNvSpPr/>
              <p:nvPr/>
            </p:nvSpPr>
            <p:spPr>
              <a:xfrm>
                <a:off x="7534895" y="4161228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55" name="Google Shape;1155;p65"/>
              <p:cNvSpPr/>
              <p:nvPr/>
            </p:nvSpPr>
            <p:spPr>
              <a:xfrm>
                <a:off x="7676795" y="41628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B6937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156" name="Google Shape;1156;p65"/>
            <p:cNvSpPr/>
            <p:nvPr/>
          </p:nvSpPr>
          <p:spPr>
            <a:xfrm>
              <a:off x="8170606" y="5095300"/>
              <a:ext cx="1613294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6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57" name="Google Shape;1157;p65"/>
            <p:cNvSpPr/>
            <p:nvPr/>
          </p:nvSpPr>
          <p:spPr>
            <a:xfrm>
              <a:off x="9651707" y="22714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58" name="Google Shape;1158;p65"/>
            <p:cNvSpPr/>
            <p:nvPr/>
          </p:nvSpPr>
          <p:spPr>
            <a:xfrm>
              <a:off x="11023495" y="36257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59" name="Google Shape;1159;p65"/>
            <p:cNvSpPr/>
            <p:nvPr/>
          </p:nvSpPr>
          <p:spPr>
            <a:xfrm>
              <a:off x="10339570" y="39556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60" name="Google Shape;1160;p65"/>
            <p:cNvSpPr txBox="1"/>
            <p:nvPr/>
          </p:nvSpPr>
          <p:spPr>
            <a:xfrm>
              <a:off x="9079300" y="22430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  <p:sp>
          <p:nvSpPr>
            <p:cNvPr id="1161" name="Google Shape;1161;p65"/>
            <p:cNvSpPr txBox="1"/>
            <p:nvPr/>
          </p:nvSpPr>
          <p:spPr>
            <a:xfrm>
              <a:off x="10451100" y="35973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200">
                <a:solidFill>
                  <a:srgbClr val="0000FF"/>
                </a:solidFill>
              </a:endParaRPr>
            </a:p>
          </p:txBody>
        </p:sp>
        <p:sp>
          <p:nvSpPr>
            <p:cNvPr id="1162" name="Google Shape;1162;p65"/>
            <p:cNvSpPr txBox="1"/>
            <p:nvPr/>
          </p:nvSpPr>
          <p:spPr>
            <a:xfrm>
              <a:off x="9756675" y="39272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200">
                <a:solidFill>
                  <a:srgbClr val="0B6937"/>
                </a:solidFill>
              </a:endParaRPr>
            </a:p>
          </p:txBody>
        </p:sp>
      </p:grpSp>
      <p:pic>
        <p:nvPicPr>
          <p:cNvPr id="1163" name="Google Shape;116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6799" y="2138950"/>
            <a:ext cx="702250" cy="70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6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Creación de hilos</a:t>
            </a:r>
            <a:endParaRPr dirty="0">
              <a:latin typeface="+mj-lt"/>
            </a:endParaRPr>
          </a:p>
        </p:txBody>
      </p:sp>
      <p:sp>
        <p:nvSpPr>
          <p:cNvPr id="1169" name="Google Shape;1169;p66"/>
          <p:cNvSpPr txBox="1">
            <a:spLocks noGrp="1"/>
          </p:cNvSpPr>
          <p:nvPr>
            <p:ph type="body" idx="1"/>
          </p:nvPr>
        </p:nvSpPr>
        <p:spPr>
          <a:xfrm>
            <a:off x="916650" y="882900"/>
            <a:ext cx="10904700" cy="208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Ejemplo -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Orden de ejecución</a:t>
            </a:r>
            <a:endParaRPr b="1" dirty="0">
              <a:solidFill>
                <a:srgbClr val="E06666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Pregunta</a:t>
            </a:r>
            <a:r>
              <a:rPr lang="es-ES" sz="2400" dirty="0">
                <a:solidFill>
                  <a:srgbClr val="FF0000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¿Cual hilo se ejecuta primero?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400"/>
              <a:buChar char="●"/>
            </a:pPr>
            <a:r>
              <a:rPr lang="es-ES" sz="2400" b="1" dirty="0">
                <a:solidFill>
                  <a:srgbClr val="0B6937"/>
                </a:solidFill>
                <a:latin typeface="+mn-lt"/>
              </a:rPr>
              <a:t>Respuesta</a:t>
            </a:r>
            <a:r>
              <a:rPr lang="es-ES" sz="2400" dirty="0">
                <a:solidFill>
                  <a:srgbClr val="0B6937"/>
                </a:solidFill>
                <a:latin typeface="+mn-lt"/>
              </a:rPr>
              <a:t>:</a:t>
            </a:r>
            <a:endParaRPr sz="2400" dirty="0">
              <a:solidFill>
                <a:srgbClr val="0B6937"/>
              </a:solidFill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El orden es indeterminado (aleatorio).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Depende del scheduler.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170" name="Google Shape;1170;p66"/>
          <p:cNvSpPr/>
          <p:nvPr/>
        </p:nvSpPr>
        <p:spPr>
          <a:xfrm>
            <a:off x="2807325" y="3681625"/>
            <a:ext cx="6773700" cy="54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ea typeface="Roboto"/>
                <a:cs typeface="Roboto"/>
                <a:sym typeface="Roboto"/>
              </a:rPr>
              <a:t>La salida es </a:t>
            </a:r>
            <a:r>
              <a:rPr lang="es-ES" sz="2400" b="1">
                <a:solidFill>
                  <a:srgbClr val="E46C0A"/>
                </a:solidFill>
                <a:ea typeface="Roboto"/>
                <a:cs typeface="Roboto"/>
                <a:sym typeface="Roboto"/>
              </a:rPr>
              <a:t>no determinista (Aleatoria)</a:t>
            </a:r>
            <a:endParaRPr sz="2400" b="1">
              <a:solidFill>
                <a:srgbClr val="E46C0A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1171" name="Google Shape;117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6148" y="4714250"/>
            <a:ext cx="1324550" cy="13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6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Creación de hilos</a:t>
            </a:r>
            <a:endParaRPr dirty="0">
              <a:latin typeface="+mj-lt"/>
            </a:endParaRPr>
          </a:p>
        </p:txBody>
      </p:sp>
      <p:sp>
        <p:nvSpPr>
          <p:cNvPr id="1177" name="Google Shape;1177;p67"/>
          <p:cNvSpPr txBox="1">
            <a:spLocks noGrp="1"/>
          </p:cNvSpPr>
          <p:nvPr>
            <p:ph type="body" idx="1"/>
          </p:nvPr>
        </p:nvSpPr>
        <p:spPr>
          <a:xfrm>
            <a:off x="916650" y="882900"/>
            <a:ext cx="109047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Ejemplo -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Orden de ejecución - Traza 1</a:t>
            </a: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178" name="Google Shape;1178;p67"/>
          <p:cNvGraphicFramePr/>
          <p:nvPr/>
        </p:nvGraphicFramePr>
        <p:xfrm>
          <a:off x="1050650" y="1620075"/>
          <a:ext cx="5182725" cy="50897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2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1</a:t>
                      </a:r>
                      <a:endParaRPr sz="12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Thread2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starts running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“main: begin”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 1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 2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waits for T1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“A”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waits for T2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“B”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returns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“main: end”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367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Thread Trace (1)</a:t>
                      </a:r>
                      <a:endParaRPr sz="12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179" name="Google Shape;1179;p67"/>
          <p:cNvGraphicFramePr/>
          <p:nvPr/>
        </p:nvGraphicFramePr>
        <p:xfrm>
          <a:off x="7746100" y="2831175"/>
          <a:ext cx="2797875" cy="2133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9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main: begin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main: end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Salida traza 1</a:t>
                      </a:r>
                      <a:endParaRPr sz="16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80" name="Google Shape;118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4752" y="1753038"/>
            <a:ext cx="818800" cy="8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68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Creación de hilos</a:t>
            </a:r>
            <a:endParaRPr dirty="0">
              <a:latin typeface="+mj-lt"/>
            </a:endParaRPr>
          </a:p>
        </p:txBody>
      </p:sp>
      <p:sp>
        <p:nvSpPr>
          <p:cNvPr id="1186" name="Google Shape;1186;p68"/>
          <p:cNvSpPr txBox="1">
            <a:spLocks noGrp="1"/>
          </p:cNvSpPr>
          <p:nvPr>
            <p:ph type="body" idx="1"/>
          </p:nvPr>
        </p:nvSpPr>
        <p:spPr>
          <a:xfrm>
            <a:off x="7367325" y="882900"/>
            <a:ext cx="4454400" cy="108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Ejemplo -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Orden de ejecución - Traza 2</a:t>
            </a: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187" name="Google Shape;1187;p68"/>
          <p:cNvGraphicFramePr/>
          <p:nvPr/>
        </p:nvGraphicFramePr>
        <p:xfrm>
          <a:off x="916650" y="961400"/>
          <a:ext cx="6450675" cy="57164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6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1</a:t>
                      </a:r>
                      <a:endParaRPr sz="12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Thread2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starts running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“main: begin” 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</a:t>
                      </a:r>
                      <a:r>
                        <a:rPr lang="es-ES" sz="9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 1</a:t>
                      </a:r>
                      <a:endParaRPr sz="9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runs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“A”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returns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</a:t>
                      </a:r>
                      <a:r>
                        <a:rPr lang="es-ES" sz="9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 2</a:t>
                      </a:r>
                      <a:endParaRPr sz="9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runs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“B”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returns 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waits for T1 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i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returns immediately; T1 is done</a:t>
                      </a:r>
                      <a:endParaRPr sz="900" i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waits for T2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i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returns immediately; T2 is done </a:t>
                      </a:r>
                      <a:endParaRPr sz="900" i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“main: end” </a:t>
                      </a: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927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Thread Trace (2)</a:t>
                      </a:r>
                      <a:endParaRPr sz="12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1188" name="Google Shape;1188;p68"/>
          <p:cNvGraphicFramePr/>
          <p:nvPr/>
        </p:nvGraphicFramePr>
        <p:xfrm>
          <a:off x="8068675" y="2928000"/>
          <a:ext cx="2797875" cy="2133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9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main: begin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main: end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Salida traza 2</a:t>
                      </a:r>
                      <a:endParaRPr sz="16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89" name="Google Shape;118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8214" y="1967463"/>
            <a:ext cx="818800" cy="8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69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>
                <a:latin typeface="+mj-lt"/>
              </a:rPr>
              <a:t>Creación de hilos</a:t>
            </a:r>
            <a:endParaRPr>
              <a:latin typeface="+mj-lt"/>
            </a:endParaRPr>
          </a:p>
        </p:txBody>
      </p:sp>
      <p:sp>
        <p:nvSpPr>
          <p:cNvPr id="1195" name="Google Shape;1195;p69"/>
          <p:cNvSpPr txBox="1">
            <a:spLocks noGrp="1"/>
          </p:cNvSpPr>
          <p:nvPr>
            <p:ph type="body" idx="1"/>
          </p:nvPr>
        </p:nvSpPr>
        <p:spPr>
          <a:xfrm>
            <a:off x="7746100" y="882900"/>
            <a:ext cx="4075500" cy="108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Ejemplo -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Orden de ejecución - Traza 3</a:t>
            </a: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196" name="Google Shape;1196;p69"/>
          <p:cNvGraphicFramePr/>
          <p:nvPr/>
        </p:nvGraphicFramePr>
        <p:xfrm>
          <a:off x="916650" y="961400"/>
          <a:ext cx="6450675" cy="55975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6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1</a:t>
                      </a:r>
                      <a:endParaRPr sz="12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Thread2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starts running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“main: begin”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 1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Thread 2</a:t>
                      </a:r>
                      <a:endParaRPr sz="1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“B”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returns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waits for T2 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“A”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waits for T2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i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s-ES" sz="1000" i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returns immediately; T2 is done</a:t>
                      </a:r>
                      <a:endParaRPr sz="1000" i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8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 “main: end”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927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Thread Trace (3)</a:t>
                      </a:r>
                      <a:endParaRPr sz="12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197" name="Google Shape;1197;p69"/>
          <p:cNvGraphicFramePr/>
          <p:nvPr/>
        </p:nvGraphicFramePr>
        <p:xfrm>
          <a:off x="8279050" y="2803125"/>
          <a:ext cx="2797875" cy="2133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9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main: begin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main: end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Salida traza 3</a:t>
                      </a:r>
                      <a:endParaRPr sz="16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98" name="Google Shape;119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0652" y="1849338"/>
            <a:ext cx="818800" cy="8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71"/>
          <p:cNvSpPr txBox="1">
            <a:spLocks noGrp="1"/>
          </p:cNvSpPr>
          <p:nvPr>
            <p:ph type="title"/>
          </p:nvPr>
        </p:nvSpPr>
        <p:spPr>
          <a:xfrm>
            <a:off x="85832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210" name="Google Shape;1210;p71"/>
          <p:cNvSpPr txBox="1">
            <a:spLocks noGrp="1"/>
          </p:cNvSpPr>
          <p:nvPr>
            <p:ph type="body" idx="1"/>
          </p:nvPr>
        </p:nvSpPr>
        <p:spPr>
          <a:xfrm>
            <a:off x="1007600" y="905300"/>
            <a:ext cx="10820700" cy="222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Ejemplo - </a:t>
            </a:r>
            <a:r>
              <a:rPr lang="es-ES" b="1" dirty="0">
                <a:solidFill>
                  <a:srgbClr val="E06666"/>
                </a:solidFill>
              </a:rPr>
              <a:t>Datos compartidos</a:t>
            </a:r>
            <a:endParaRPr b="1" dirty="0">
              <a:solidFill>
                <a:srgbClr val="E06666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200" dirty="0"/>
              <a:t>El programa crea dos hilos independientes (</a:t>
            </a:r>
            <a:r>
              <a:rPr lang="es-ES" sz="2200" b="1" dirty="0"/>
              <a:t>p1</a:t>
            </a:r>
            <a:r>
              <a:rPr lang="es-ES" sz="2200" dirty="0"/>
              <a:t> y </a:t>
            </a:r>
            <a:r>
              <a:rPr lang="es-ES" sz="2200" b="1" dirty="0"/>
              <a:t>p2</a:t>
            </a:r>
            <a:r>
              <a:rPr lang="es-ES" sz="2200" dirty="0"/>
              <a:t>) que ejecutan una tarea (</a:t>
            </a:r>
            <a:r>
              <a:rPr lang="es-ES" sz="2200" b="1" dirty="0" err="1">
                <a:solidFill>
                  <a:schemeClr val="accent5"/>
                </a:solidFill>
              </a:rPr>
              <a:t>mythread</a:t>
            </a:r>
            <a:r>
              <a:rPr lang="es-ES" sz="2200" dirty="0"/>
              <a:t>)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Ambos hilos intentan actualizar una variable global (</a:t>
            </a:r>
            <a:r>
              <a:rPr lang="es-ES" sz="2200" b="1" dirty="0">
                <a:solidFill>
                  <a:srgbClr val="E46C0A"/>
                </a:solidFill>
              </a:rPr>
              <a:t>counter</a:t>
            </a:r>
            <a:r>
              <a:rPr lang="es-ES" sz="2200" dirty="0"/>
              <a:t>)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solidFill>
                  <a:srgbClr val="FF0000"/>
                </a:solidFill>
              </a:rPr>
              <a:t>Pregunta</a:t>
            </a:r>
            <a:r>
              <a:rPr lang="es-ES" sz="2200" dirty="0">
                <a:solidFill>
                  <a:srgbClr val="FF0000"/>
                </a:solidFill>
              </a:rPr>
              <a:t>:</a:t>
            </a:r>
            <a:r>
              <a:rPr lang="es-ES" sz="2200" dirty="0"/>
              <a:t> ¿Qué implicaciones trae esto?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pSp>
        <p:nvGrpSpPr>
          <p:cNvPr id="1211" name="Google Shape;1211;p71"/>
          <p:cNvGrpSpPr/>
          <p:nvPr/>
        </p:nvGrpSpPr>
        <p:grpSpPr>
          <a:xfrm>
            <a:off x="1233155" y="3024300"/>
            <a:ext cx="10595135" cy="2647500"/>
            <a:chOff x="1323532" y="998300"/>
            <a:chExt cx="9424600" cy="2647500"/>
          </a:xfrm>
        </p:grpSpPr>
        <p:sp>
          <p:nvSpPr>
            <p:cNvPr id="1212" name="Google Shape;1212;p71"/>
            <p:cNvSpPr txBox="1"/>
            <p:nvPr/>
          </p:nvSpPr>
          <p:spPr>
            <a:xfrm>
              <a:off x="2050532" y="998300"/>
              <a:ext cx="8697600" cy="26475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&lt;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stdio.h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&gt;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&lt;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stdlib.h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&gt;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&lt;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&gt;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common.h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"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#include 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common_threads.h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"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max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volatile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counter = 0; //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shared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global variable</a:t>
              </a:r>
              <a:endParaRPr sz="16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13" name="Google Shape;1213;p71"/>
            <p:cNvSpPr txBox="1"/>
            <p:nvPr/>
          </p:nvSpPr>
          <p:spPr>
            <a:xfrm>
              <a:off x="1323532" y="998300"/>
              <a:ext cx="641700" cy="264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72"/>
          <p:cNvSpPr txBox="1">
            <a:spLocks noGrp="1"/>
          </p:cNvSpPr>
          <p:nvPr>
            <p:ph type="title"/>
          </p:nvPr>
        </p:nvSpPr>
        <p:spPr>
          <a:xfrm>
            <a:off x="85832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219" name="Google Shape;1219;p72"/>
          <p:cNvSpPr txBox="1">
            <a:spLocks noGrp="1"/>
          </p:cNvSpPr>
          <p:nvPr>
            <p:ph type="body" idx="1"/>
          </p:nvPr>
        </p:nvSpPr>
        <p:spPr>
          <a:xfrm>
            <a:off x="1007600" y="905300"/>
            <a:ext cx="10820700" cy="53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Ejemplo - </a:t>
            </a:r>
            <a:r>
              <a:rPr lang="es-ES" b="1" dirty="0">
                <a:solidFill>
                  <a:srgbClr val="E06666"/>
                </a:solidFill>
              </a:rPr>
              <a:t>Datos compartidos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pSp>
        <p:nvGrpSpPr>
          <p:cNvPr id="1220" name="Google Shape;1220;p72"/>
          <p:cNvGrpSpPr/>
          <p:nvPr/>
        </p:nvGrpSpPr>
        <p:grpSpPr>
          <a:xfrm>
            <a:off x="1156955" y="1805100"/>
            <a:ext cx="10595135" cy="2893800"/>
            <a:chOff x="1323532" y="-68500"/>
            <a:chExt cx="9424600" cy="2893800"/>
          </a:xfrm>
        </p:grpSpPr>
        <p:sp>
          <p:nvSpPr>
            <p:cNvPr id="1221" name="Google Shape;1221;p72"/>
            <p:cNvSpPr txBox="1"/>
            <p:nvPr/>
          </p:nvSpPr>
          <p:spPr>
            <a:xfrm>
              <a:off x="2050532" y="-68500"/>
              <a:ext cx="8697600" cy="28938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mythread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char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letter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i; //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stack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private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per thread)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("%s: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begin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[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of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i: %p]\n",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letter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&amp;i);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(i = 0; i &lt;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max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; i++) {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counter = counter + 1; //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shared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only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one</a:t>
              </a:r>
              <a:endParaRPr sz="16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("%s: done\n",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letter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NULL;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22" name="Google Shape;1222;p72"/>
            <p:cNvSpPr txBox="1"/>
            <p:nvPr/>
          </p:nvSpPr>
          <p:spPr>
            <a:xfrm>
              <a:off x="1323532" y="-68500"/>
              <a:ext cx="641700" cy="289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73"/>
          <p:cNvSpPr txBox="1">
            <a:spLocks noGrp="1"/>
          </p:cNvSpPr>
          <p:nvPr>
            <p:ph type="title"/>
          </p:nvPr>
        </p:nvSpPr>
        <p:spPr>
          <a:xfrm>
            <a:off x="85832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228" name="Google Shape;1228;p73"/>
          <p:cNvSpPr txBox="1">
            <a:spLocks noGrp="1"/>
          </p:cNvSpPr>
          <p:nvPr>
            <p:ph type="body" idx="1"/>
          </p:nvPr>
        </p:nvSpPr>
        <p:spPr>
          <a:xfrm>
            <a:off x="1007600" y="905300"/>
            <a:ext cx="10820700" cy="53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Ejemplo - </a:t>
            </a:r>
            <a:r>
              <a:rPr lang="es-ES" b="1" dirty="0">
                <a:solidFill>
                  <a:srgbClr val="E06666"/>
                </a:solidFill>
              </a:rPr>
              <a:t>Datos compartidos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pSp>
        <p:nvGrpSpPr>
          <p:cNvPr id="1229" name="Google Shape;1229;p73"/>
          <p:cNvGrpSpPr/>
          <p:nvPr/>
        </p:nvGrpSpPr>
        <p:grpSpPr>
          <a:xfrm>
            <a:off x="775900" y="1500300"/>
            <a:ext cx="6908211" cy="4863900"/>
            <a:chOff x="853209" y="-373300"/>
            <a:chExt cx="8527603" cy="4863900"/>
          </a:xfrm>
        </p:grpSpPr>
        <p:sp>
          <p:nvSpPr>
            <p:cNvPr id="1230" name="Google Shape;1230;p73"/>
            <p:cNvSpPr txBox="1"/>
            <p:nvPr/>
          </p:nvSpPr>
          <p:spPr>
            <a:xfrm>
              <a:off x="1533712" y="-373300"/>
              <a:ext cx="7847100" cy="48639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argc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char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argv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[]) {                   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argc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!= 2) {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stderr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usage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main-first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&lt;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loopcount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&gt;\n");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exit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(1);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max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atoi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argv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[1]);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p1, p2;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begin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[counter = %d] [%x]\n", counter,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 	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unsigned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&amp;counter);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(&amp;p1, NULL,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mythread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"A");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(&amp;p2, NULL,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mythread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"B");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//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join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waits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the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threads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to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finish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(p1, NULL);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(p2, NULL);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: done\n [counter: %d]\n [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should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: %d]\n",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     counter,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max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*2);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0;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31" name="Google Shape;1231;p73"/>
            <p:cNvSpPr txBox="1"/>
            <p:nvPr/>
          </p:nvSpPr>
          <p:spPr>
            <a:xfrm>
              <a:off x="853209" y="-373300"/>
              <a:ext cx="600900" cy="486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32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33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34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35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36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37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38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39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40</a:t>
              </a:r>
              <a:endParaRPr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232" name="Google Shape;1232;p73"/>
          <p:cNvGrpSpPr/>
          <p:nvPr/>
        </p:nvGrpSpPr>
        <p:grpSpPr>
          <a:xfrm>
            <a:off x="8007038" y="1658925"/>
            <a:ext cx="4078193" cy="4449350"/>
            <a:chOff x="7168838" y="1887525"/>
            <a:chExt cx="4078193" cy="4449350"/>
          </a:xfrm>
        </p:grpSpPr>
        <p:grpSp>
          <p:nvGrpSpPr>
            <p:cNvPr id="1233" name="Google Shape;1233;p73"/>
            <p:cNvGrpSpPr/>
            <p:nvPr/>
          </p:nvGrpSpPr>
          <p:grpSpPr>
            <a:xfrm>
              <a:off x="9835838" y="2382275"/>
              <a:ext cx="705238" cy="3954600"/>
              <a:chOff x="3669263" y="2842775"/>
              <a:chExt cx="705238" cy="3954600"/>
            </a:xfrm>
          </p:grpSpPr>
          <p:cxnSp>
            <p:nvCxnSpPr>
              <p:cNvPr id="1234" name="Google Shape;1234;p73"/>
              <p:cNvCxnSpPr/>
              <p:nvPr/>
            </p:nvCxnSpPr>
            <p:spPr>
              <a:xfrm>
                <a:off x="3669263" y="2842775"/>
                <a:ext cx="18900" cy="3954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235" name="Google Shape;1235;p73"/>
              <p:cNvCxnSpPr/>
              <p:nvPr/>
            </p:nvCxnSpPr>
            <p:spPr>
              <a:xfrm>
                <a:off x="3691400" y="4100075"/>
                <a:ext cx="683100" cy="229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6" name="Google Shape;1236;p73"/>
              <p:cNvCxnSpPr/>
              <p:nvPr/>
            </p:nvCxnSpPr>
            <p:spPr>
              <a:xfrm>
                <a:off x="4360375" y="4329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7" name="Google Shape;1237;p73"/>
              <p:cNvCxnSpPr/>
              <p:nvPr/>
            </p:nvCxnSpPr>
            <p:spPr>
              <a:xfrm rot="10800000" flipH="1">
                <a:off x="3687200" y="5465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238" name="Google Shape;1238;p73"/>
            <p:cNvSpPr/>
            <p:nvPr/>
          </p:nvSpPr>
          <p:spPr>
            <a:xfrm>
              <a:off x="8036150" y="25758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39" name="Google Shape;1239;p73"/>
            <p:cNvSpPr/>
            <p:nvPr/>
          </p:nvSpPr>
          <p:spPr>
            <a:xfrm>
              <a:off x="8225613" y="4912900"/>
              <a:ext cx="1558287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6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240" name="Google Shape;1240;p73"/>
            <p:cNvGrpSpPr/>
            <p:nvPr/>
          </p:nvGrpSpPr>
          <p:grpSpPr>
            <a:xfrm>
              <a:off x="7239668" y="2252333"/>
              <a:ext cx="612969" cy="600504"/>
              <a:chOff x="2019475" y="2346963"/>
              <a:chExt cx="590700" cy="628800"/>
            </a:xfrm>
          </p:grpSpPr>
          <p:sp>
            <p:nvSpPr>
              <p:cNvPr id="1241" name="Google Shape;1241;p73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73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243" name="Google Shape;1243;p73"/>
            <p:cNvGrpSpPr/>
            <p:nvPr/>
          </p:nvGrpSpPr>
          <p:grpSpPr>
            <a:xfrm>
              <a:off x="7239706" y="2963133"/>
              <a:ext cx="612900" cy="600600"/>
              <a:chOff x="6778856" y="5262408"/>
              <a:chExt cx="612900" cy="600600"/>
            </a:xfrm>
          </p:grpSpPr>
          <p:sp>
            <p:nvSpPr>
              <p:cNvPr id="1244" name="Google Shape;1244;p73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73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46" name="Google Shape;1246;p73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1247" name="Google Shape;1247;p73"/>
            <p:cNvCxnSpPr/>
            <p:nvPr/>
          </p:nvCxnSpPr>
          <p:spPr>
            <a:xfrm rot="10800000">
              <a:off x="7168838" y="29177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248" name="Google Shape;1248;p73"/>
            <p:cNvCxnSpPr/>
            <p:nvPr/>
          </p:nvCxnSpPr>
          <p:spPr>
            <a:xfrm flipH="1">
              <a:off x="7221250" y="5460100"/>
              <a:ext cx="2608500" cy="2700"/>
            </a:xfrm>
            <a:prstGeom prst="straightConnector1">
              <a:avLst/>
            </a:prstGeom>
            <a:noFill/>
            <a:ln w="19050" cap="flat" cmpd="sng">
              <a:solidFill>
                <a:srgbClr val="E46C0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249" name="Google Shape;1249;p73"/>
            <p:cNvGrpSpPr/>
            <p:nvPr/>
          </p:nvGrpSpPr>
          <p:grpSpPr>
            <a:xfrm>
              <a:off x="7319456" y="5560058"/>
              <a:ext cx="612969" cy="600504"/>
              <a:chOff x="2019475" y="2346963"/>
              <a:chExt cx="590700" cy="628800"/>
            </a:xfrm>
          </p:grpSpPr>
          <p:sp>
            <p:nvSpPr>
              <p:cNvPr id="1250" name="Google Shape;1250;p73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73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252" name="Google Shape;1252;p73"/>
            <p:cNvSpPr/>
            <p:nvPr/>
          </p:nvSpPr>
          <p:spPr>
            <a:xfrm>
              <a:off x="9134213" y="18875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253" name="Google Shape;1253;p73"/>
            <p:cNvGrpSpPr/>
            <p:nvPr/>
          </p:nvGrpSpPr>
          <p:grpSpPr>
            <a:xfrm>
              <a:off x="9829750" y="2924320"/>
              <a:ext cx="1417281" cy="2566677"/>
              <a:chOff x="3687200" y="3373100"/>
              <a:chExt cx="687300" cy="2159775"/>
            </a:xfrm>
          </p:grpSpPr>
          <p:cxnSp>
            <p:nvCxnSpPr>
              <p:cNvPr id="1254" name="Google Shape;1254;p73"/>
              <p:cNvCxnSpPr/>
              <p:nvPr/>
            </p:nvCxnSpPr>
            <p:spPr>
              <a:xfrm>
                <a:off x="3687200" y="3373100"/>
                <a:ext cx="687300" cy="57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5" name="Google Shape;1255;p73"/>
              <p:cNvCxnSpPr/>
              <p:nvPr/>
            </p:nvCxnSpPr>
            <p:spPr>
              <a:xfrm>
                <a:off x="4360375" y="3948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6" name="Google Shape;1256;p73"/>
              <p:cNvCxnSpPr/>
              <p:nvPr/>
            </p:nvCxnSpPr>
            <p:spPr>
              <a:xfrm rot="10800000" flipH="1">
                <a:off x="3687200" y="5084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257" name="Google Shape;1257;p73"/>
            <p:cNvSpPr/>
            <p:nvPr/>
          </p:nvSpPr>
          <p:spPr>
            <a:xfrm>
              <a:off x="8036150" y="3260913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258" name="Google Shape;1258;p73"/>
            <p:cNvCxnSpPr/>
            <p:nvPr/>
          </p:nvCxnSpPr>
          <p:spPr>
            <a:xfrm rot="10800000">
              <a:off x="7186563" y="3622425"/>
              <a:ext cx="2570100" cy="3300"/>
            </a:xfrm>
            <a:prstGeom prst="straightConnector1">
              <a:avLst/>
            </a:prstGeom>
            <a:noFill/>
            <a:ln w="19050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259" name="Google Shape;1259;p73"/>
            <p:cNvGrpSpPr/>
            <p:nvPr/>
          </p:nvGrpSpPr>
          <p:grpSpPr>
            <a:xfrm>
              <a:off x="7255356" y="3684433"/>
              <a:ext cx="612900" cy="600600"/>
              <a:chOff x="7290431" y="4001983"/>
              <a:chExt cx="612900" cy="600600"/>
            </a:xfrm>
          </p:grpSpPr>
          <p:sp>
            <p:nvSpPr>
              <p:cNvPr id="1260" name="Google Shape;1260;p73"/>
              <p:cNvSpPr/>
              <p:nvPr/>
            </p:nvSpPr>
            <p:spPr>
              <a:xfrm>
                <a:off x="7290431" y="4001983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73"/>
              <p:cNvSpPr/>
              <p:nvPr/>
            </p:nvSpPr>
            <p:spPr>
              <a:xfrm>
                <a:off x="7385081" y="4164725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62" name="Google Shape;1262;p73"/>
              <p:cNvSpPr/>
              <p:nvPr/>
            </p:nvSpPr>
            <p:spPr>
              <a:xfrm>
                <a:off x="7534895" y="4161228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63" name="Google Shape;1263;p73"/>
              <p:cNvSpPr/>
              <p:nvPr/>
            </p:nvSpPr>
            <p:spPr>
              <a:xfrm>
                <a:off x="7676795" y="41628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B6937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264" name="Google Shape;1264;p73"/>
            <p:cNvSpPr/>
            <p:nvPr/>
          </p:nvSpPr>
          <p:spPr>
            <a:xfrm>
              <a:off x="8219525" y="5139544"/>
              <a:ext cx="1564375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6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65" name="Google Shape;1265;p73"/>
            <p:cNvSpPr/>
            <p:nvPr/>
          </p:nvSpPr>
          <p:spPr>
            <a:xfrm>
              <a:off x="9651707" y="22714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66" name="Google Shape;1266;p73"/>
            <p:cNvSpPr/>
            <p:nvPr/>
          </p:nvSpPr>
          <p:spPr>
            <a:xfrm>
              <a:off x="11023495" y="36257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67" name="Google Shape;1267;p73"/>
            <p:cNvSpPr/>
            <p:nvPr/>
          </p:nvSpPr>
          <p:spPr>
            <a:xfrm>
              <a:off x="10339570" y="39556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68" name="Google Shape;1268;p73"/>
            <p:cNvSpPr txBox="1"/>
            <p:nvPr/>
          </p:nvSpPr>
          <p:spPr>
            <a:xfrm>
              <a:off x="9079300" y="22430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  <p:sp>
          <p:nvSpPr>
            <p:cNvPr id="1269" name="Google Shape;1269;p73"/>
            <p:cNvSpPr txBox="1"/>
            <p:nvPr/>
          </p:nvSpPr>
          <p:spPr>
            <a:xfrm>
              <a:off x="10451100" y="35973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200">
                <a:solidFill>
                  <a:srgbClr val="0000FF"/>
                </a:solidFill>
              </a:endParaRPr>
            </a:p>
          </p:txBody>
        </p:sp>
        <p:sp>
          <p:nvSpPr>
            <p:cNvPr id="1270" name="Google Shape;1270;p73"/>
            <p:cNvSpPr txBox="1"/>
            <p:nvPr/>
          </p:nvSpPr>
          <p:spPr>
            <a:xfrm>
              <a:off x="9756675" y="39272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200">
                <a:solidFill>
                  <a:srgbClr val="0B6937"/>
                </a:solidFill>
              </a:endParaRPr>
            </a:p>
          </p:txBody>
        </p:sp>
      </p:grpSp>
      <p:pic>
        <p:nvPicPr>
          <p:cNvPr id="1271" name="Google Shape;127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0550" y="1500302"/>
            <a:ext cx="657275" cy="6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7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277" name="Google Shape;1277;p74"/>
          <p:cNvSpPr txBox="1"/>
          <p:nvPr/>
        </p:nvSpPr>
        <p:spPr>
          <a:xfrm>
            <a:off x="916650" y="834175"/>
            <a:ext cx="9897600" cy="648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Posibles resultados</a:t>
            </a:r>
            <a:endParaRPr dirty="0"/>
          </a:p>
        </p:txBody>
      </p:sp>
      <p:sp>
        <p:nvSpPr>
          <p:cNvPr id="1278" name="Google Shape;1278;p74"/>
          <p:cNvSpPr txBox="1"/>
          <p:nvPr/>
        </p:nvSpPr>
        <p:spPr>
          <a:xfrm>
            <a:off x="4293375" y="3305725"/>
            <a:ext cx="5004600" cy="1477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prompt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&gt; ./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(counter = 0) 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A: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B: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A: done 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B: done 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: done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both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(counter = </a:t>
            </a:r>
            <a:r>
              <a:rPr lang="es-ES" sz="1200" dirty="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19345221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9" name="Google Shape;1279;p74"/>
          <p:cNvSpPr txBox="1"/>
          <p:nvPr/>
        </p:nvSpPr>
        <p:spPr>
          <a:xfrm>
            <a:off x="4293375" y="5121125"/>
            <a:ext cx="5004600" cy="1477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prompt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&gt; ./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(counter = 0)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A: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B: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A: done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B: done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: done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both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(counter = </a:t>
            </a:r>
            <a:r>
              <a:rPr lang="es-ES" sz="1200" dirty="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19221041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0" name="Google Shape;1280;p74"/>
          <p:cNvSpPr txBox="1"/>
          <p:nvPr/>
        </p:nvSpPr>
        <p:spPr>
          <a:xfrm>
            <a:off x="4293375" y="1490325"/>
            <a:ext cx="5004600" cy="1477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prompt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gcc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-o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main.c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-Wall -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pthread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 ./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(counter = 0)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A: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B: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A: done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B: done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: done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with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both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(counter = </a:t>
            </a:r>
            <a:r>
              <a:rPr lang="es-ES" sz="1200" dirty="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20000000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81" name="Google Shape;128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3350" y="1867075"/>
            <a:ext cx="685862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70975" y="3751974"/>
            <a:ext cx="590576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70975" y="5636874"/>
            <a:ext cx="59057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74"/>
          <p:cNvSpPr txBox="1"/>
          <p:nvPr/>
        </p:nvSpPr>
        <p:spPr>
          <a:xfrm>
            <a:off x="916650" y="1944025"/>
            <a:ext cx="317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ea typeface="Roboto"/>
                <a:cs typeface="Roboto"/>
                <a:sym typeface="Roboto"/>
              </a:rPr>
              <a:t>Ejecución 1 - Salida </a:t>
            </a:r>
            <a:endParaRPr sz="2000" b="1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85" name="Google Shape;1285;p74"/>
          <p:cNvSpPr txBox="1"/>
          <p:nvPr/>
        </p:nvSpPr>
        <p:spPr>
          <a:xfrm>
            <a:off x="984925" y="3798175"/>
            <a:ext cx="317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ea typeface="Roboto"/>
                <a:cs typeface="Roboto"/>
                <a:sym typeface="Roboto"/>
              </a:rPr>
              <a:t>Ejecución 2 - Salida </a:t>
            </a:r>
            <a:endParaRPr sz="2000" b="1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86" name="Google Shape;1286;p74"/>
          <p:cNvSpPr txBox="1"/>
          <p:nvPr/>
        </p:nvSpPr>
        <p:spPr>
          <a:xfrm>
            <a:off x="984925" y="5613575"/>
            <a:ext cx="317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ea typeface="Roboto"/>
                <a:cs typeface="Roboto"/>
                <a:sym typeface="Roboto"/>
              </a:rPr>
              <a:t>Ejecución 3 - Salida </a:t>
            </a:r>
            <a:endParaRPr sz="2000" b="1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7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292" name="Google Shape;1292;p75"/>
          <p:cNvSpPr txBox="1">
            <a:spLocks noGrp="1"/>
          </p:cNvSpPr>
          <p:nvPr>
            <p:ph type="body" idx="1"/>
          </p:nvPr>
        </p:nvSpPr>
        <p:spPr>
          <a:xfrm>
            <a:off x="916650" y="840825"/>
            <a:ext cx="10708500" cy="171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1"/>
                </a:solidFill>
              </a:rPr>
              <a:t>¿Por que estos resultados tan raros?</a:t>
            </a:r>
            <a:endParaRPr b="1" dirty="0">
              <a:solidFill>
                <a:schemeClr val="accent1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Salida </a:t>
            </a:r>
            <a:r>
              <a:rPr lang="es-ES" sz="2200" b="1" dirty="0">
                <a:solidFill>
                  <a:srgbClr val="FF0000"/>
                </a:solidFill>
              </a:rPr>
              <a:t>no determinista</a:t>
            </a:r>
            <a:r>
              <a:rPr lang="es-ES" sz="2200" dirty="0"/>
              <a:t>:</a:t>
            </a:r>
            <a:endParaRPr sz="22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dirty="0"/>
              <a:t>Diferente orden de ejecución para cada caso.</a:t>
            </a:r>
            <a:endParaRPr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dirty="0"/>
              <a:t>Diferentes valores desplegados en la variable </a:t>
            </a:r>
            <a:r>
              <a:rPr lang="es-ES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lang="es-ES" dirty="0"/>
              <a:t>.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pSp>
        <p:nvGrpSpPr>
          <p:cNvPr id="1293" name="Google Shape;1293;p75"/>
          <p:cNvGrpSpPr/>
          <p:nvPr/>
        </p:nvGrpSpPr>
        <p:grpSpPr>
          <a:xfrm>
            <a:off x="2360377" y="2776275"/>
            <a:ext cx="8597676" cy="2708403"/>
            <a:chOff x="1064977" y="2700075"/>
            <a:chExt cx="8597676" cy="2708403"/>
          </a:xfrm>
        </p:grpSpPr>
        <p:sp>
          <p:nvSpPr>
            <p:cNvPr id="1294" name="Google Shape;1294;p75"/>
            <p:cNvSpPr txBox="1"/>
            <p:nvPr/>
          </p:nvSpPr>
          <p:spPr>
            <a:xfrm>
              <a:off x="2272925" y="2700075"/>
              <a:ext cx="7389728" cy="2708403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mythread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char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letter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arg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i; //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stack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private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per thread)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("%s: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begin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[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of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i: %p]\n",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letter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&amp;i);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(i = 0; i &lt;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max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; i++) {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counter = counter + 1; //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shared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: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only</a:t>
              </a:r>
              <a:r>
                <a:rPr lang="es-ES" sz="1600" dirty="0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one</a:t>
              </a:r>
              <a:endParaRPr sz="16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printf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("%s: done\n",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letter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NULL;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295" name="Google Shape;1295;p75"/>
            <p:cNvGrpSpPr/>
            <p:nvPr/>
          </p:nvGrpSpPr>
          <p:grpSpPr>
            <a:xfrm>
              <a:off x="1064977" y="3285447"/>
              <a:ext cx="518548" cy="1533453"/>
              <a:chOff x="1064977" y="3285447"/>
              <a:chExt cx="518548" cy="1533453"/>
            </a:xfrm>
          </p:grpSpPr>
          <p:sp>
            <p:nvSpPr>
              <p:cNvPr id="1296" name="Google Shape;1296;p75"/>
              <p:cNvSpPr/>
              <p:nvPr/>
            </p:nvSpPr>
            <p:spPr>
              <a:xfrm>
                <a:off x="1064977" y="3285447"/>
                <a:ext cx="326562" cy="949481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97" name="Google Shape;1297;p75"/>
              <p:cNvSpPr txBox="1"/>
              <p:nvPr/>
            </p:nvSpPr>
            <p:spPr>
              <a:xfrm>
                <a:off x="1149125" y="4387800"/>
                <a:ext cx="4344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p1</a:t>
                </a:r>
                <a:endParaRPr sz="1600" b="1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298" name="Google Shape;1298;p75"/>
            <p:cNvGrpSpPr/>
            <p:nvPr/>
          </p:nvGrpSpPr>
          <p:grpSpPr>
            <a:xfrm>
              <a:off x="1669792" y="3285458"/>
              <a:ext cx="475633" cy="1533442"/>
              <a:chOff x="1669792" y="3285458"/>
              <a:chExt cx="475633" cy="1533442"/>
            </a:xfrm>
          </p:grpSpPr>
          <p:sp>
            <p:nvSpPr>
              <p:cNvPr id="1299" name="Google Shape;1299;p75"/>
              <p:cNvSpPr/>
              <p:nvPr/>
            </p:nvSpPr>
            <p:spPr>
              <a:xfrm>
                <a:off x="1669792" y="3285458"/>
                <a:ext cx="326562" cy="949481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00" name="Google Shape;1300;p75"/>
              <p:cNvSpPr txBox="1"/>
              <p:nvPr/>
            </p:nvSpPr>
            <p:spPr>
              <a:xfrm>
                <a:off x="1711025" y="4387800"/>
                <a:ext cx="4344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0000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p2</a:t>
                </a:r>
                <a:endParaRPr sz="1600" b="1">
                  <a:solidFill>
                    <a:srgbClr val="0000FF"/>
                  </a:solidFill>
                </a:endParaRPr>
              </a:p>
            </p:txBody>
          </p:sp>
        </p:grpSp>
      </p:grpSp>
      <p:sp>
        <p:nvSpPr>
          <p:cNvPr id="1301" name="Google Shape;1301;p75"/>
          <p:cNvSpPr txBox="1"/>
          <p:nvPr/>
        </p:nvSpPr>
        <p:spPr>
          <a:xfrm>
            <a:off x="1796100" y="5929803"/>
            <a:ext cx="2957100" cy="43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600" dirty="0"/>
          </a:p>
        </p:txBody>
      </p:sp>
      <p:grpSp>
        <p:nvGrpSpPr>
          <p:cNvPr id="1302" name="Google Shape;1302;p75"/>
          <p:cNvGrpSpPr/>
          <p:nvPr/>
        </p:nvGrpSpPr>
        <p:grpSpPr>
          <a:xfrm>
            <a:off x="6555111" y="5683653"/>
            <a:ext cx="4010092" cy="923400"/>
            <a:chOff x="3715281" y="2736425"/>
            <a:chExt cx="4777901" cy="923400"/>
          </a:xfrm>
        </p:grpSpPr>
        <p:sp>
          <p:nvSpPr>
            <p:cNvPr id="1303" name="Google Shape;1303;p75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04" name="Google Shape;1304;p75"/>
            <p:cNvSpPr txBox="1"/>
            <p:nvPr/>
          </p:nvSpPr>
          <p:spPr>
            <a:xfrm>
              <a:off x="3715281" y="2736425"/>
              <a:ext cx="641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305" name="Google Shape;1305;p75"/>
          <p:cNvSpPr/>
          <p:nvPr/>
        </p:nvSpPr>
        <p:spPr>
          <a:xfrm>
            <a:off x="5398175" y="5977053"/>
            <a:ext cx="79950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7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311" name="Google Shape;1311;p76"/>
          <p:cNvSpPr txBox="1">
            <a:spLocks noGrp="1"/>
          </p:cNvSpPr>
          <p:nvPr>
            <p:ph type="body" idx="1"/>
          </p:nvPr>
        </p:nvSpPr>
        <p:spPr>
          <a:xfrm>
            <a:off x="916650" y="975425"/>
            <a:ext cx="10596300" cy="11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Análisis</a:t>
            </a:r>
            <a:endParaRPr b="1" dirty="0">
              <a:solidFill>
                <a:schemeClr val="accent5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Supongamos el siguiente estado inicial: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12" name="Google Shape;1312;p76"/>
          <p:cNvGrpSpPr/>
          <p:nvPr/>
        </p:nvGrpSpPr>
        <p:grpSpPr>
          <a:xfrm>
            <a:off x="1366036" y="2346225"/>
            <a:ext cx="4010092" cy="923400"/>
            <a:chOff x="3715281" y="2736425"/>
            <a:chExt cx="4777901" cy="923400"/>
          </a:xfrm>
        </p:grpSpPr>
        <p:sp>
          <p:nvSpPr>
            <p:cNvPr id="1313" name="Google Shape;1313;p76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14" name="Google Shape;1314;p76"/>
            <p:cNvSpPr txBox="1"/>
            <p:nvPr/>
          </p:nvSpPr>
          <p:spPr>
            <a:xfrm>
              <a:off x="3715281" y="2736425"/>
              <a:ext cx="641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315" name="Google Shape;1315;p76"/>
          <p:cNvGraphicFramePr/>
          <p:nvPr>
            <p:extLst>
              <p:ext uri="{D42A27DB-BD31-4B8C-83A1-F6EECF244321}">
                <p14:modId xmlns:p14="http://schemas.microsoft.com/office/powerpoint/2010/main" val="2048703679"/>
              </p:ext>
            </p:extLst>
          </p:nvPr>
        </p:nvGraphicFramePr>
        <p:xfrm>
          <a:off x="6231950" y="2338853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16" name="Google Shape;1316;p76"/>
          <p:cNvGraphicFramePr/>
          <p:nvPr>
            <p:extLst>
              <p:ext uri="{D42A27DB-BD31-4B8C-83A1-F6EECF244321}">
                <p14:modId xmlns:p14="http://schemas.microsoft.com/office/powerpoint/2010/main" val="191872145"/>
              </p:ext>
            </p:extLst>
          </p:nvPr>
        </p:nvGraphicFramePr>
        <p:xfrm>
          <a:off x="8467900" y="2328153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$aex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17" name="Google Shape;1317;p76"/>
          <p:cNvGraphicFramePr/>
          <p:nvPr>
            <p:extLst>
              <p:ext uri="{D42A27DB-BD31-4B8C-83A1-F6EECF244321}">
                <p14:modId xmlns:p14="http://schemas.microsoft.com/office/powerpoint/2010/main" val="3092547644"/>
              </p:ext>
            </p:extLst>
          </p:nvPr>
        </p:nvGraphicFramePr>
        <p:xfrm>
          <a:off x="10205075" y="2328153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18" name="Google Shape;1318;p76"/>
          <p:cNvSpPr txBox="1">
            <a:spLocks noGrp="1"/>
          </p:cNvSpPr>
          <p:nvPr>
            <p:ph type="body" idx="1"/>
          </p:nvPr>
        </p:nvSpPr>
        <p:spPr>
          <a:xfrm>
            <a:off x="916650" y="4270925"/>
            <a:ext cx="10596300" cy="1231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Supongamos que se lleva a cabo la siguiente secuencia de ejecución: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2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200" b="1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200" b="1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200" b="1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2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dirty="0"/>
          </a:p>
        </p:txBody>
      </p:sp>
      <p:grpSp>
        <p:nvGrpSpPr>
          <p:cNvPr id="1319" name="Google Shape;1319;p76"/>
          <p:cNvGrpSpPr/>
          <p:nvPr/>
        </p:nvGrpSpPr>
        <p:grpSpPr>
          <a:xfrm>
            <a:off x="1443348" y="3417500"/>
            <a:ext cx="4085649" cy="431100"/>
            <a:chOff x="2998267" y="2736425"/>
            <a:chExt cx="5495156" cy="431100"/>
          </a:xfrm>
        </p:grpSpPr>
        <p:sp>
          <p:nvSpPr>
            <p:cNvPr id="1320" name="Google Shape;1320;p76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21" name="Google Shape;1321;p76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7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327" name="Google Shape;1327;p77"/>
          <p:cNvSpPr txBox="1">
            <a:spLocks noGrp="1"/>
          </p:cNvSpPr>
          <p:nvPr>
            <p:ph type="body" idx="1"/>
          </p:nvPr>
        </p:nvSpPr>
        <p:spPr>
          <a:xfrm>
            <a:off x="916650" y="975425"/>
            <a:ext cx="10596300" cy="55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accent5"/>
                </a:solidFill>
              </a:rPr>
              <a:t>Análisis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8" name="Google Shape;1328;p77"/>
          <p:cNvGrpSpPr/>
          <p:nvPr/>
        </p:nvGrpSpPr>
        <p:grpSpPr>
          <a:xfrm>
            <a:off x="1366036" y="2803425"/>
            <a:ext cx="4010092" cy="923400"/>
            <a:chOff x="3715281" y="2736425"/>
            <a:chExt cx="4777901" cy="923400"/>
          </a:xfrm>
        </p:grpSpPr>
        <p:sp>
          <p:nvSpPr>
            <p:cNvPr id="1329" name="Google Shape;1329;p77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30" name="Google Shape;1330;p77"/>
            <p:cNvSpPr txBox="1"/>
            <p:nvPr/>
          </p:nvSpPr>
          <p:spPr>
            <a:xfrm>
              <a:off x="3715281" y="2736425"/>
              <a:ext cx="641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331" name="Google Shape;1331;p77"/>
          <p:cNvGraphicFramePr/>
          <p:nvPr>
            <p:extLst>
              <p:ext uri="{D42A27DB-BD31-4B8C-83A1-F6EECF244321}">
                <p14:modId xmlns:p14="http://schemas.microsoft.com/office/powerpoint/2010/main" val="1539007390"/>
              </p:ext>
            </p:extLst>
          </p:nvPr>
        </p:nvGraphicFramePr>
        <p:xfrm>
          <a:off x="6231950" y="2810799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32" name="Google Shape;1332;p77"/>
          <p:cNvGraphicFramePr/>
          <p:nvPr>
            <p:extLst>
              <p:ext uri="{D42A27DB-BD31-4B8C-83A1-F6EECF244321}">
                <p14:modId xmlns:p14="http://schemas.microsoft.com/office/powerpoint/2010/main" val="1782953468"/>
              </p:ext>
            </p:extLst>
          </p:nvPr>
        </p:nvGraphicFramePr>
        <p:xfrm>
          <a:off x="8467900" y="2800099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33" name="Google Shape;1333;p77"/>
          <p:cNvGraphicFramePr/>
          <p:nvPr>
            <p:extLst>
              <p:ext uri="{D42A27DB-BD31-4B8C-83A1-F6EECF244321}">
                <p14:modId xmlns:p14="http://schemas.microsoft.com/office/powerpoint/2010/main" val="71866068"/>
              </p:ext>
            </p:extLst>
          </p:nvPr>
        </p:nvGraphicFramePr>
        <p:xfrm>
          <a:off x="10205075" y="2800099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34" name="Google Shape;1334;p77"/>
          <p:cNvSpPr txBox="1">
            <a:spLocks noGrp="1"/>
          </p:cNvSpPr>
          <p:nvPr>
            <p:ph type="body" idx="1"/>
          </p:nvPr>
        </p:nvSpPr>
        <p:spPr>
          <a:xfrm>
            <a:off x="2279873" y="1797438"/>
            <a:ext cx="8115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335" name="Google Shape;1335;p77"/>
          <p:cNvGrpSpPr/>
          <p:nvPr/>
        </p:nvGrpSpPr>
        <p:grpSpPr>
          <a:xfrm>
            <a:off x="1443348" y="3874700"/>
            <a:ext cx="4085649" cy="431100"/>
            <a:chOff x="2998267" y="2736425"/>
            <a:chExt cx="5495156" cy="431100"/>
          </a:xfrm>
        </p:grpSpPr>
        <p:sp>
          <p:nvSpPr>
            <p:cNvPr id="1336" name="Google Shape;1336;p77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37" name="Google Shape;1337;p77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78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343" name="Google Shape;1343;p78"/>
          <p:cNvSpPr txBox="1">
            <a:spLocks noGrp="1"/>
          </p:cNvSpPr>
          <p:nvPr>
            <p:ph type="body" idx="1"/>
          </p:nvPr>
        </p:nvSpPr>
        <p:spPr>
          <a:xfrm>
            <a:off x="916650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accent5"/>
                </a:solidFill>
              </a:rPr>
              <a:t>Análisis - Solución paso a paso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4" name="Google Shape;1344;p78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345" name="Google Shape;1345;p78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46" name="Google Shape;1346;p78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347" name="Google Shape;1347;p78"/>
          <p:cNvGraphicFramePr/>
          <p:nvPr>
            <p:extLst>
              <p:ext uri="{D42A27DB-BD31-4B8C-83A1-F6EECF244321}">
                <p14:modId xmlns:p14="http://schemas.microsoft.com/office/powerpoint/2010/main" val="66813358"/>
              </p:ext>
            </p:extLst>
          </p:nvPr>
        </p:nvGraphicFramePr>
        <p:xfrm>
          <a:off x="9001300" y="3210598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48" name="Google Shape;1348;p78"/>
          <p:cNvGraphicFramePr/>
          <p:nvPr>
            <p:extLst>
              <p:ext uri="{D42A27DB-BD31-4B8C-83A1-F6EECF244321}">
                <p14:modId xmlns:p14="http://schemas.microsoft.com/office/powerpoint/2010/main" val="748260636"/>
              </p:ext>
            </p:extLst>
          </p:nvPr>
        </p:nvGraphicFramePr>
        <p:xfrm>
          <a:off x="10738475" y="3210598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49" name="Google Shape;1349;p78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350" name="Google Shape;1350;p78"/>
          <p:cNvGrpSpPr/>
          <p:nvPr/>
        </p:nvGrpSpPr>
        <p:grpSpPr>
          <a:xfrm>
            <a:off x="1976748" y="4255700"/>
            <a:ext cx="4085649" cy="431100"/>
            <a:chOff x="2998267" y="2736425"/>
            <a:chExt cx="5495156" cy="431100"/>
          </a:xfrm>
        </p:grpSpPr>
        <p:sp>
          <p:nvSpPr>
            <p:cNvPr id="1351" name="Google Shape;1351;p78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52" name="Google Shape;1352;p78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353" name="Google Shape;135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175" y="1564025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4" name="Google Shape;1354;p78"/>
          <p:cNvGrpSpPr/>
          <p:nvPr/>
        </p:nvGrpSpPr>
        <p:grpSpPr>
          <a:xfrm>
            <a:off x="1394675" y="3025575"/>
            <a:ext cx="588600" cy="494550"/>
            <a:chOff x="1394675" y="3025575"/>
            <a:chExt cx="588600" cy="494550"/>
          </a:xfrm>
        </p:grpSpPr>
        <p:sp>
          <p:nvSpPr>
            <p:cNvPr id="1355" name="Google Shape;1355;p78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356" name="Google Shape;1356;p78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7" name="Google Shape;1357;p78"/>
          <p:cNvGrpSpPr/>
          <p:nvPr/>
        </p:nvGrpSpPr>
        <p:grpSpPr>
          <a:xfrm>
            <a:off x="806075" y="3025575"/>
            <a:ext cx="588600" cy="494550"/>
            <a:chOff x="1394675" y="3025575"/>
            <a:chExt cx="588600" cy="494550"/>
          </a:xfrm>
        </p:grpSpPr>
        <p:sp>
          <p:nvSpPr>
            <p:cNvPr id="1358" name="Google Shape;1358;p78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359" name="Google Shape;1359;p78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360" name="Google Shape;1360;p78"/>
          <p:cNvGraphicFramePr/>
          <p:nvPr>
            <p:extLst>
              <p:ext uri="{D42A27DB-BD31-4B8C-83A1-F6EECF244321}">
                <p14:modId xmlns:p14="http://schemas.microsoft.com/office/powerpoint/2010/main" val="3046025401"/>
              </p:ext>
            </p:extLst>
          </p:nvPr>
        </p:nvGraphicFramePr>
        <p:xfrm>
          <a:off x="6765350" y="3221298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79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366" name="Google Shape;1366;p79"/>
          <p:cNvSpPr txBox="1">
            <a:spLocks noGrp="1"/>
          </p:cNvSpPr>
          <p:nvPr>
            <p:ph type="body" idx="1"/>
          </p:nvPr>
        </p:nvSpPr>
        <p:spPr>
          <a:xfrm>
            <a:off x="916650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>
                <a:solidFill>
                  <a:schemeClr val="accent5"/>
                </a:solidFill>
              </a:rPr>
              <a:t>Análisis - Solución paso a paso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7" name="Google Shape;1367;p79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368" name="Google Shape;1368;p79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69" name="Google Shape;1369;p79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370" name="Google Shape;1370;p79"/>
          <p:cNvGraphicFramePr/>
          <p:nvPr>
            <p:extLst>
              <p:ext uri="{D42A27DB-BD31-4B8C-83A1-F6EECF244321}">
                <p14:modId xmlns:p14="http://schemas.microsoft.com/office/powerpoint/2010/main" val="2273553072"/>
              </p:ext>
            </p:extLst>
          </p:nvPr>
        </p:nvGraphicFramePr>
        <p:xfrm>
          <a:off x="9001300" y="3210597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71" name="Google Shape;1371;p79"/>
          <p:cNvGraphicFramePr/>
          <p:nvPr>
            <p:extLst>
              <p:ext uri="{D42A27DB-BD31-4B8C-83A1-F6EECF244321}">
                <p14:modId xmlns:p14="http://schemas.microsoft.com/office/powerpoint/2010/main" val="3646591751"/>
              </p:ext>
            </p:extLst>
          </p:nvPr>
        </p:nvGraphicFramePr>
        <p:xfrm>
          <a:off x="10738475" y="3210597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2" name="Google Shape;1372;p79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373" name="Google Shape;1373;p79"/>
          <p:cNvGrpSpPr/>
          <p:nvPr/>
        </p:nvGrpSpPr>
        <p:grpSpPr>
          <a:xfrm>
            <a:off x="1976748" y="4255700"/>
            <a:ext cx="4085649" cy="431100"/>
            <a:chOff x="2998267" y="2736425"/>
            <a:chExt cx="5495156" cy="431100"/>
          </a:xfrm>
        </p:grpSpPr>
        <p:sp>
          <p:nvSpPr>
            <p:cNvPr id="1374" name="Google Shape;1374;p79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75" name="Google Shape;1375;p79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376" name="Google Shape;137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350" y="1582150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7" name="Google Shape;1377;p79"/>
          <p:cNvGrpSpPr/>
          <p:nvPr/>
        </p:nvGrpSpPr>
        <p:grpSpPr>
          <a:xfrm>
            <a:off x="1394675" y="3261550"/>
            <a:ext cx="588600" cy="494550"/>
            <a:chOff x="1394675" y="3025575"/>
            <a:chExt cx="588600" cy="494550"/>
          </a:xfrm>
        </p:grpSpPr>
        <p:sp>
          <p:nvSpPr>
            <p:cNvPr id="1378" name="Google Shape;1378;p79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379" name="Google Shape;1379;p79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0" name="Google Shape;1380;p79"/>
          <p:cNvGrpSpPr/>
          <p:nvPr/>
        </p:nvGrpSpPr>
        <p:grpSpPr>
          <a:xfrm>
            <a:off x="806075" y="3025575"/>
            <a:ext cx="588600" cy="494550"/>
            <a:chOff x="1394675" y="3025575"/>
            <a:chExt cx="588600" cy="494550"/>
          </a:xfrm>
        </p:grpSpPr>
        <p:sp>
          <p:nvSpPr>
            <p:cNvPr id="1381" name="Google Shape;1381;p79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382" name="Google Shape;1382;p79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383" name="Google Shape;1383;p79"/>
          <p:cNvGraphicFramePr/>
          <p:nvPr>
            <p:extLst>
              <p:ext uri="{D42A27DB-BD31-4B8C-83A1-F6EECF244321}">
                <p14:modId xmlns:p14="http://schemas.microsoft.com/office/powerpoint/2010/main" val="863329916"/>
              </p:ext>
            </p:extLst>
          </p:nvPr>
        </p:nvGraphicFramePr>
        <p:xfrm>
          <a:off x="6765350" y="3221297"/>
          <a:ext cx="1337550" cy="18591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8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389" name="Google Shape;1389;p80"/>
          <p:cNvSpPr txBox="1">
            <a:spLocks noGrp="1"/>
          </p:cNvSpPr>
          <p:nvPr>
            <p:ph type="body" idx="1"/>
          </p:nvPr>
        </p:nvSpPr>
        <p:spPr>
          <a:xfrm>
            <a:off x="916650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>
                <a:solidFill>
                  <a:schemeClr val="accent5"/>
                </a:solidFill>
              </a:rPr>
              <a:t>Análisis - Solución paso a paso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0" name="Google Shape;1390;p80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391" name="Google Shape;1391;p80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92" name="Google Shape;1392;p80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393" name="Google Shape;1393;p80"/>
          <p:cNvGraphicFramePr/>
          <p:nvPr>
            <p:extLst>
              <p:ext uri="{D42A27DB-BD31-4B8C-83A1-F6EECF244321}">
                <p14:modId xmlns:p14="http://schemas.microsoft.com/office/powerpoint/2010/main" val="64803016"/>
              </p:ext>
            </p:extLst>
          </p:nvPr>
        </p:nvGraphicFramePr>
        <p:xfrm>
          <a:off x="9001300" y="3195851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4" name="Google Shape;1394;p80"/>
          <p:cNvGraphicFramePr/>
          <p:nvPr>
            <p:extLst>
              <p:ext uri="{D42A27DB-BD31-4B8C-83A1-F6EECF244321}">
                <p14:modId xmlns:p14="http://schemas.microsoft.com/office/powerpoint/2010/main" val="986548872"/>
              </p:ext>
            </p:extLst>
          </p:nvPr>
        </p:nvGraphicFramePr>
        <p:xfrm>
          <a:off x="10738475" y="3195851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95" name="Google Shape;1395;p80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396" name="Google Shape;1396;p80"/>
          <p:cNvGrpSpPr/>
          <p:nvPr/>
        </p:nvGrpSpPr>
        <p:grpSpPr>
          <a:xfrm>
            <a:off x="1976748" y="4255700"/>
            <a:ext cx="4085649" cy="431100"/>
            <a:chOff x="2998267" y="2736425"/>
            <a:chExt cx="5495156" cy="431100"/>
          </a:xfrm>
        </p:grpSpPr>
        <p:sp>
          <p:nvSpPr>
            <p:cNvPr id="1397" name="Google Shape;1397;p80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98" name="Google Shape;1398;p80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399" name="Google Shape;139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0925" y="1564025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0" name="Google Shape;1400;p80"/>
          <p:cNvGrpSpPr/>
          <p:nvPr/>
        </p:nvGrpSpPr>
        <p:grpSpPr>
          <a:xfrm>
            <a:off x="1394675" y="3520125"/>
            <a:ext cx="588600" cy="494550"/>
            <a:chOff x="1394675" y="3025575"/>
            <a:chExt cx="588600" cy="494550"/>
          </a:xfrm>
        </p:grpSpPr>
        <p:sp>
          <p:nvSpPr>
            <p:cNvPr id="1401" name="Google Shape;1401;p80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402" name="Google Shape;1402;p80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3" name="Google Shape;1403;p80"/>
          <p:cNvGrpSpPr/>
          <p:nvPr/>
        </p:nvGrpSpPr>
        <p:grpSpPr>
          <a:xfrm>
            <a:off x="806075" y="3025575"/>
            <a:ext cx="588600" cy="494550"/>
            <a:chOff x="1394675" y="3025575"/>
            <a:chExt cx="588600" cy="494550"/>
          </a:xfrm>
        </p:grpSpPr>
        <p:sp>
          <p:nvSpPr>
            <p:cNvPr id="1404" name="Google Shape;1404;p80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405" name="Google Shape;1405;p80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406" name="Google Shape;1406;p80"/>
          <p:cNvGraphicFramePr/>
          <p:nvPr>
            <p:extLst>
              <p:ext uri="{D42A27DB-BD31-4B8C-83A1-F6EECF244321}">
                <p14:modId xmlns:p14="http://schemas.microsoft.com/office/powerpoint/2010/main" val="2374558745"/>
              </p:ext>
            </p:extLst>
          </p:nvPr>
        </p:nvGraphicFramePr>
        <p:xfrm>
          <a:off x="6765350" y="3206551"/>
          <a:ext cx="1337550" cy="2133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8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Política de reemplazo FIFO</a:t>
            </a:r>
            <a:endParaRPr/>
          </a:p>
        </p:txBody>
      </p:sp>
      <p:sp>
        <p:nvSpPr>
          <p:cNvPr id="1412" name="Google Shape;1412;p81"/>
          <p:cNvSpPr txBox="1">
            <a:spLocks noGrp="1"/>
          </p:cNvSpPr>
          <p:nvPr>
            <p:ph type="body" idx="1"/>
          </p:nvPr>
        </p:nvSpPr>
        <p:spPr>
          <a:xfrm>
            <a:off x="916650" y="975425"/>
            <a:ext cx="49929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>
                <a:solidFill>
                  <a:schemeClr val="accent5"/>
                </a:solidFill>
              </a:rPr>
              <a:t>Análisis - Solución paso a paso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13" name="Google Shape;1413;p81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414" name="Google Shape;1414;p81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15" name="Google Shape;1415;p81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416" name="Google Shape;1416;p81"/>
          <p:cNvGraphicFramePr/>
          <p:nvPr>
            <p:extLst>
              <p:ext uri="{D42A27DB-BD31-4B8C-83A1-F6EECF244321}">
                <p14:modId xmlns:p14="http://schemas.microsoft.com/office/powerpoint/2010/main" val="1540374518"/>
              </p:ext>
            </p:extLst>
          </p:nvPr>
        </p:nvGraphicFramePr>
        <p:xfrm>
          <a:off x="9001300" y="3195849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17" name="Google Shape;1417;p81"/>
          <p:cNvGraphicFramePr/>
          <p:nvPr>
            <p:extLst>
              <p:ext uri="{D42A27DB-BD31-4B8C-83A1-F6EECF244321}">
                <p14:modId xmlns:p14="http://schemas.microsoft.com/office/powerpoint/2010/main" val="4233735601"/>
              </p:ext>
            </p:extLst>
          </p:nvPr>
        </p:nvGraphicFramePr>
        <p:xfrm>
          <a:off x="10738475" y="3195849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18" name="Google Shape;1418;p81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419" name="Google Shape;1419;p81"/>
          <p:cNvGrpSpPr/>
          <p:nvPr/>
        </p:nvGrpSpPr>
        <p:grpSpPr>
          <a:xfrm>
            <a:off x="1976748" y="4255700"/>
            <a:ext cx="4085649" cy="431100"/>
            <a:chOff x="2998267" y="2736425"/>
            <a:chExt cx="5495156" cy="431100"/>
          </a:xfrm>
        </p:grpSpPr>
        <p:sp>
          <p:nvSpPr>
            <p:cNvPr id="1420" name="Google Shape;1420;p81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21" name="Google Shape;1421;p81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422" name="Google Shape;142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7075" y="1549400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3" name="Google Shape;1423;p81"/>
          <p:cNvGrpSpPr/>
          <p:nvPr/>
        </p:nvGrpSpPr>
        <p:grpSpPr>
          <a:xfrm>
            <a:off x="1394675" y="3520125"/>
            <a:ext cx="588600" cy="494550"/>
            <a:chOff x="1394675" y="3025575"/>
            <a:chExt cx="588600" cy="494550"/>
          </a:xfrm>
        </p:grpSpPr>
        <p:sp>
          <p:nvSpPr>
            <p:cNvPr id="1424" name="Google Shape;1424;p81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425" name="Google Shape;1425;p81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6" name="Google Shape;1426;p81"/>
          <p:cNvGrpSpPr/>
          <p:nvPr/>
        </p:nvGrpSpPr>
        <p:grpSpPr>
          <a:xfrm>
            <a:off x="806075" y="3025575"/>
            <a:ext cx="588600" cy="494550"/>
            <a:chOff x="1394675" y="3025575"/>
            <a:chExt cx="588600" cy="494550"/>
          </a:xfrm>
        </p:grpSpPr>
        <p:sp>
          <p:nvSpPr>
            <p:cNvPr id="1427" name="Google Shape;1427;p81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428" name="Google Shape;1428;p81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429" name="Google Shape;1429;p81"/>
          <p:cNvGraphicFramePr/>
          <p:nvPr>
            <p:extLst>
              <p:ext uri="{D42A27DB-BD31-4B8C-83A1-F6EECF244321}">
                <p14:modId xmlns:p14="http://schemas.microsoft.com/office/powerpoint/2010/main" val="2524671535"/>
              </p:ext>
            </p:extLst>
          </p:nvPr>
        </p:nvGraphicFramePr>
        <p:xfrm>
          <a:off x="6765350" y="3206549"/>
          <a:ext cx="1337550" cy="24078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30" name="Google Shape;143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1700" y="909925"/>
            <a:ext cx="588600" cy="58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82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436" name="Google Shape;1436;p82"/>
          <p:cNvSpPr txBox="1">
            <a:spLocks noGrp="1"/>
          </p:cNvSpPr>
          <p:nvPr>
            <p:ph type="body" idx="1"/>
          </p:nvPr>
        </p:nvSpPr>
        <p:spPr>
          <a:xfrm>
            <a:off x="916650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>
                <a:solidFill>
                  <a:schemeClr val="accent5"/>
                </a:solidFill>
              </a:rPr>
              <a:t>Análisis - Solución paso a paso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7" name="Google Shape;1437;p82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438" name="Google Shape;1438;p82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39" name="Google Shape;1439;p82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440" name="Google Shape;1440;p82"/>
          <p:cNvGraphicFramePr/>
          <p:nvPr>
            <p:extLst>
              <p:ext uri="{D42A27DB-BD31-4B8C-83A1-F6EECF244321}">
                <p14:modId xmlns:p14="http://schemas.microsoft.com/office/powerpoint/2010/main" val="1182137982"/>
              </p:ext>
            </p:extLst>
          </p:nvPr>
        </p:nvGraphicFramePr>
        <p:xfrm>
          <a:off x="9001300" y="3166352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41" name="Google Shape;1441;p82"/>
          <p:cNvGraphicFramePr/>
          <p:nvPr>
            <p:extLst>
              <p:ext uri="{D42A27DB-BD31-4B8C-83A1-F6EECF244321}">
                <p14:modId xmlns:p14="http://schemas.microsoft.com/office/powerpoint/2010/main" val="1988245308"/>
              </p:ext>
            </p:extLst>
          </p:nvPr>
        </p:nvGraphicFramePr>
        <p:xfrm>
          <a:off x="10738475" y="3166352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42" name="Google Shape;1442;p82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443" name="Google Shape;1443;p82"/>
          <p:cNvGrpSpPr/>
          <p:nvPr/>
        </p:nvGrpSpPr>
        <p:grpSpPr>
          <a:xfrm>
            <a:off x="1976748" y="4255700"/>
            <a:ext cx="4085649" cy="431100"/>
            <a:chOff x="2998267" y="2736425"/>
            <a:chExt cx="5495156" cy="431100"/>
          </a:xfrm>
        </p:grpSpPr>
        <p:sp>
          <p:nvSpPr>
            <p:cNvPr id="1444" name="Google Shape;1444;p82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45" name="Google Shape;1445;p82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446" name="Google Shape;144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3500" y="1564025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7" name="Google Shape;1447;p82"/>
          <p:cNvGrpSpPr/>
          <p:nvPr/>
        </p:nvGrpSpPr>
        <p:grpSpPr>
          <a:xfrm>
            <a:off x="1394675" y="3520125"/>
            <a:ext cx="588600" cy="494550"/>
            <a:chOff x="1394675" y="3025575"/>
            <a:chExt cx="588600" cy="494550"/>
          </a:xfrm>
        </p:grpSpPr>
        <p:sp>
          <p:nvSpPr>
            <p:cNvPr id="1448" name="Google Shape;1448;p82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449" name="Google Shape;1449;p82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0" name="Google Shape;1450;p82"/>
          <p:cNvGrpSpPr/>
          <p:nvPr/>
        </p:nvGrpSpPr>
        <p:grpSpPr>
          <a:xfrm>
            <a:off x="820700" y="3221850"/>
            <a:ext cx="588600" cy="494550"/>
            <a:chOff x="1394675" y="3025575"/>
            <a:chExt cx="588600" cy="494550"/>
          </a:xfrm>
        </p:grpSpPr>
        <p:sp>
          <p:nvSpPr>
            <p:cNvPr id="1451" name="Google Shape;1451;p82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452" name="Google Shape;1452;p82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453" name="Google Shape;1453;p82"/>
          <p:cNvGraphicFramePr/>
          <p:nvPr>
            <p:extLst>
              <p:ext uri="{D42A27DB-BD31-4B8C-83A1-F6EECF244321}">
                <p14:modId xmlns:p14="http://schemas.microsoft.com/office/powerpoint/2010/main" val="2380024365"/>
              </p:ext>
            </p:extLst>
          </p:nvPr>
        </p:nvGraphicFramePr>
        <p:xfrm>
          <a:off x="6765350" y="3177052"/>
          <a:ext cx="1337550" cy="26821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8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459" name="Google Shape;1459;p83"/>
          <p:cNvSpPr txBox="1">
            <a:spLocks noGrp="1"/>
          </p:cNvSpPr>
          <p:nvPr>
            <p:ph type="body" idx="1"/>
          </p:nvPr>
        </p:nvSpPr>
        <p:spPr>
          <a:xfrm>
            <a:off x="916650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>
                <a:solidFill>
                  <a:schemeClr val="accent5"/>
                </a:solidFill>
              </a:rPr>
              <a:t>Análisis - Solución paso a paso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0" name="Google Shape;1460;p83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461" name="Google Shape;1461;p83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62" name="Google Shape;1462;p83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463" name="Google Shape;1463;p83"/>
          <p:cNvGraphicFramePr/>
          <p:nvPr>
            <p:extLst>
              <p:ext uri="{D42A27DB-BD31-4B8C-83A1-F6EECF244321}">
                <p14:modId xmlns:p14="http://schemas.microsoft.com/office/powerpoint/2010/main" val="190122614"/>
              </p:ext>
            </p:extLst>
          </p:nvPr>
        </p:nvGraphicFramePr>
        <p:xfrm>
          <a:off x="9001300" y="3210599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64" name="Google Shape;1464;p83"/>
          <p:cNvGraphicFramePr/>
          <p:nvPr>
            <p:extLst>
              <p:ext uri="{D42A27DB-BD31-4B8C-83A1-F6EECF244321}">
                <p14:modId xmlns:p14="http://schemas.microsoft.com/office/powerpoint/2010/main" val="4081571808"/>
              </p:ext>
            </p:extLst>
          </p:nvPr>
        </p:nvGraphicFramePr>
        <p:xfrm>
          <a:off x="10738475" y="3210599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65" name="Google Shape;1465;p83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466" name="Google Shape;1466;p83"/>
          <p:cNvGrpSpPr/>
          <p:nvPr/>
        </p:nvGrpSpPr>
        <p:grpSpPr>
          <a:xfrm>
            <a:off x="1976748" y="4255700"/>
            <a:ext cx="4085649" cy="431100"/>
            <a:chOff x="2998267" y="2736425"/>
            <a:chExt cx="5495156" cy="431100"/>
          </a:xfrm>
        </p:grpSpPr>
        <p:sp>
          <p:nvSpPr>
            <p:cNvPr id="1467" name="Google Shape;1467;p83"/>
            <p:cNvSpPr txBox="1"/>
            <p:nvPr/>
          </p:nvSpPr>
          <p:spPr>
            <a:xfrm>
              <a:off x="5035323" y="2736425"/>
              <a:ext cx="3458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68" name="Google Shape;1468;p83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469" name="Google Shape;146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0100" y="1582150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0" name="Google Shape;1470;p83"/>
          <p:cNvGrpSpPr/>
          <p:nvPr/>
        </p:nvGrpSpPr>
        <p:grpSpPr>
          <a:xfrm>
            <a:off x="1394675" y="3520125"/>
            <a:ext cx="588600" cy="494550"/>
            <a:chOff x="1394675" y="3025575"/>
            <a:chExt cx="588600" cy="494550"/>
          </a:xfrm>
        </p:grpSpPr>
        <p:sp>
          <p:nvSpPr>
            <p:cNvPr id="1471" name="Google Shape;1471;p83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472" name="Google Shape;1472;p83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3" name="Google Shape;1473;p83"/>
          <p:cNvGrpSpPr/>
          <p:nvPr/>
        </p:nvGrpSpPr>
        <p:grpSpPr>
          <a:xfrm>
            <a:off x="820700" y="3526650"/>
            <a:ext cx="588600" cy="494550"/>
            <a:chOff x="1394675" y="3025575"/>
            <a:chExt cx="588600" cy="494550"/>
          </a:xfrm>
        </p:grpSpPr>
        <p:sp>
          <p:nvSpPr>
            <p:cNvPr id="1474" name="Google Shape;1474;p83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475" name="Google Shape;1475;p83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476" name="Google Shape;1476;p83"/>
          <p:cNvGraphicFramePr/>
          <p:nvPr>
            <p:extLst>
              <p:ext uri="{D42A27DB-BD31-4B8C-83A1-F6EECF244321}">
                <p14:modId xmlns:p14="http://schemas.microsoft.com/office/powerpoint/2010/main" val="605100892"/>
              </p:ext>
            </p:extLst>
          </p:nvPr>
        </p:nvGraphicFramePr>
        <p:xfrm>
          <a:off x="6765350" y="3221299"/>
          <a:ext cx="1337550" cy="29564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8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482" name="Google Shape;1482;p84"/>
          <p:cNvSpPr txBox="1">
            <a:spLocks noGrp="1"/>
          </p:cNvSpPr>
          <p:nvPr>
            <p:ph type="body" idx="1"/>
          </p:nvPr>
        </p:nvSpPr>
        <p:spPr>
          <a:xfrm>
            <a:off x="916650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>
                <a:solidFill>
                  <a:schemeClr val="accent5"/>
                </a:solidFill>
              </a:rPr>
              <a:t>Análisis - Solución paso a paso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3" name="Google Shape;1483;p84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484" name="Google Shape;1484;p84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85" name="Google Shape;1485;p84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486" name="Google Shape;1486;p84"/>
          <p:cNvGraphicFramePr/>
          <p:nvPr>
            <p:extLst>
              <p:ext uri="{D42A27DB-BD31-4B8C-83A1-F6EECF244321}">
                <p14:modId xmlns:p14="http://schemas.microsoft.com/office/powerpoint/2010/main" val="1713427736"/>
              </p:ext>
            </p:extLst>
          </p:nvPr>
        </p:nvGraphicFramePr>
        <p:xfrm>
          <a:off x="9001300" y="3181101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87" name="Google Shape;1487;p84"/>
          <p:cNvGraphicFramePr/>
          <p:nvPr>
            <p:extLst>
              <p:ext uri="{D42A27DB-BD31-4B8C-83A1-F6EECF244321}">
                <p14:modId xmlns:p14="http://schemas.microsoft.com/office/powerpoint/2010/main" val="98546678"/>
              </p:ext>
            </p:extLst>
          </p:nvPr>
        </p:nvGraphicFramePr>
        <p:xfrm>
          <a:off x="10738475" y="3181101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88" name="Google Shape;1488;p84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489" name="Google Shape;1489;p84"/>
          <p:cNvGrpSpPr/>
          <p:nvPr/>
        </p:nvGrpSpPr>
        <p:grpSpPr>
          <a:xfrm>
            <a:off x="1976748" y="4255700"/>
            <a:ext cx="4085649" cy="677100"/>
            <a:chOff x="2998267" y="2736425"/>
            <a:chExt cx="5495156" cy="677100"/>
          </a:xfrm>
        </p:grpSpPr>
        <p:sp>
          <p:nvSpPr>
            <p:cNvPr id="1490" name="Google Shape;1490;p84"/>
            <p:cNvSpPr txBox="1"/>
            <p:nvPr/>
          </p:nvSpPr>
          <p:spPr>
            <a:xfrm>
              <a:off x="5035323" y="2736425"/>
              <a:ext cx="3458100" cy="677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strike="sngStrike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 strike="sngStrike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51</a:t>
              </a:r>
              <a:endParaRPr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91" name="Google Shape;1491;p84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492" name="Google Shape;149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9800" y="1582150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3" name="Google Shape;1493;p84"/>
          <p:cNvGrpSpPr/>
          <p:nvPr/>
        </p:nvGrpSpPr>
        <p:grpSpPr>
          <a:xfrm>
            <a:off x="1394675" y="3520125"/>
            <a:ext cx="588600" cy="494550"/>
            <a:chOff x="1394675" y="3025575"/>
            <a:chExt cx="588600" cy="494550"/>
          </a:xfrm>
        </p:grpSpPr>
        <p:sp>
          <p:nvSpPr>
            <p:cNvPr id="1494" name="Google Shape;1494;p84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495" name="Google Shape;1495;p84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6" name="Google Shape;1496;p84"/>
          <p:cNvGrpSpPr/>
          <p:nvPr/>
        </p:nvGrpSpPr>
        <p:grpSpPr>
          <a:xfrm>
            <a:off x="806075" y="3703650"/>
            <a:ext cx="588600" cy="494550"/>
            <a:chOff x="1394675" y="3025575"/>
            <a:chExt cx="588600" cy="494550"/>
          </a:xfrm>
        </p:grpSpPr>
        <p:sp>
          <p:nvSpPr>
            <p:cNvPr id="1497" name="Google Shape;1497;p84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498" name="Google Shape;1498;p84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499" name="Google Shape;1499;p84"/>
          <p:cNvGraphicFramePr/>
          <p:nvPr>
            <p:extLst>
              <p:ext uri="{D42A27DB-BD31-4B8C-83A1-F6EECF244321}">
                <p14:modId xmlns:p14="http://schemas.microsoft.com/office/powerpoint/2010/main" val="1187636278"/>
              </p:ext>
            </p:extLst>
          </p:nvPr>
        </p:nvGraphicFramePr>
        <p:xfrm>
          <a:off x="6765350" y="3191801"/>
          <a:ext cx="1337550" cy="32307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8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505" name="Google Shape;1505;p85"/>
          <p:cNvSpPr txBox="1">
            <a:spLocks noGrp="1"/>
          </p:cNvSpPr>
          <p:nvPr>
            <p:ph type="body" idx="1"/>
          </p:nvPr>
        </p:nvSpPr>
        <p:spPr>
          <a:xfrm>
            <a:off x="916650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>
                <a:solidFill>
                  <a:schemeClr val="accent5"/>
                </a:solidFill>
              </a:rPr>
              <a:t>Análisis - Solución paso a paso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06" name="Google Shape;1506;p85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507" name="Google Shape;1507;p85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508" name="Google Shape;1508;p85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509" name="Google Shape;1509;p85"/>
          <p:cNvGraphicFramePr/>
          <p:nvPr>
            <p:extLst>
              <p:ext uri="{D42A27DB-BD31-4B8C-83A1-F6EECF244321}">
                <p14:modId xmlns:p14="http://schemas.microsoft.com/office/powerpoint/2010/main" val="873831032"/>
              </p:ext>
            </p:extLst>
          </p:nvPr>
        </p:nvGraphicFramePr>
        <p:xfrm>
          <a:off x="9001300" y="3151606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10" name="Google Shape;1510;p85"/>
          <p:cNvGraphicFramePr/>
          <p:nvPr>
            <p:extLst>
              <p:ext uri="{D42A27DB-BD31-4B8C-83A1-F6EECF244321}">
                <p14:modId xmlns:p14="http://schemas.microsoft.com/office/powerpoint/2010/main" val="128978981"/>
              </p:ext>
            </p:extLst>
          </p:nvPr>
        </p:nvGraphicFramePr>
        <p:xfrm>
          <a:off x="10738475" y="3151606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11" name="Google Shape;1511;p85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512" name="Google Shape;1512;p85"/>
          <p:cNvGrpSpPr/>
          <p:nvPr/>
        </p:nvGrpSpPr>
        <p:grpSpPr>
          <a:xfrm>
            <a:off x="1976748" y="4255700"/>
            <a:ext cx="4085649" cy="677100"/>
            <a:chOff x="2998267" y="2736425"/>
            <a:chExt cx="5495156" cy="677100"/>
          </a:xfrm>
        </p:grpSpPr>
        <p:sp>
          <p:nvSpPr>
            <p:cNvPr id="1513" name="Google Shape;1513;p85"/>
            <p:cNvSpPr txBox="1"/>
            <p:nvPr/>
          </p:nvSpPr>
          <p:spPr>
            <a:xfrm>
              <a:off x="5035323" y="2736425"/>
              <a:ext cx="3458100" cy="677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strike="sngStrike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 strike="sngStrike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51</a:t>
              </a:r>
              <a:endParaRPr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514" name="Google Shape;1514;p85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515" name="Google Shape;151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1600" y="1564025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6" name="Google Shape;1516;p85"/>
          <p:cNvGrpSpPr/>
          <p:nvPr/>
        </p:nvGrpSpPr>
        <p:grpSpPr>
          <a:xfrm>
            <a:off x="1394675" y="3520125"/>
            <a:ext cx="588600" cy="494550"/>
            <a:chOff x="1394675" y="3025575"/>
            <a:chExt cx="588600" cy="494550"/>
          </a:xfrm>
        </p:grpSpPr>
        <p:sp>
          <p:nvSpPr>
            <p:cNvPr id="1517" name="Google Shape;1517;p85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518" name="Google Shape;1518;p85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9" name="Google Shape;1519;p85"/>
          <p:cNvGrpSpPr/>
          <p:nvPr/>
        </p:nvGrpSpPr>
        <p:grpSpPr>
          <a:xfrm>
            <a:off x="806075" y="3703650"/>
            <a:ext cx="588600" cy="494550"/>
            <a:chOff x="1394675" y="3025575"/>
            <a:chExt cx="588600" cy="494550"/>
          </a:xfrm>
        </p:grpSpPr>
        <p:sp>
          <p:nvSpPr>
            <p:cNvPr id="1520" name="Google Shape;1520;p85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521" name="Google Shape;1521;p85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522" name="Google Shape;1522;p85"/>
          <p:cNvGraphicFramePr/>
          <p:nvPr>
            <p:extLst>
              <p:ext uri="{D42A27DB-BD31-4B8C-83A1-F6EECF244321}">
                <p14:modId xmlns:p14="http://schemas.microsoft.com/office/powerpoint/2010/main" val="3118460643"/>
              </p:ext>
            </p:extLst>
          </p:nvPr>
        </p:nvGraphicFramePr>
        <p:xfrm>
          <a:off x="6765350" y="3162306"/>
          <a:ext cx="1337550" cy="35051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523" name="Google Shape;1523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1600" y="939175"/>
            <a:ext cx="588600" cy="58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8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 compartidos</a:t>
            </a:r>
            <a:endParaRPr/>
          </a:p>
        </p:txBody>
      </p:sp>
      <p:sp>
        <p:nvSpPr>
          <p:cNvPr id="1529" name="Google Shape;1529;p86"/>
          <p:cNvSpPr txBox="1">
            <a:spLocks noGrp="1"/>
          </p:cNvSpPr>
          <p:nvPr>
            <p:ph type="body" idx="1"/>
          </p:nvPr>
        </p:nvSpPr>
        <p:spPr>
          <a:xfrm>
            <a:off x="916650" y="975425"/>
            <a:ext cx="10596300" cy="5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>
                <a:solidFill>
                  <a:schemeClr val="accent5"/>
                </a:solidFill>
              </a:rPr>
              <a:t>Análisis - Solución paso a paso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0" name="Google Shape;1530;p86"/>
          <p:cNvGrpSpPr/>
          <p:nvPr/>
        </p:nvGrpSpPr>
        <p:grpSpPr>
          <a:xfrm>
            <a:off x="1899436" y="3184425"/>
            <a:ext cx="4010092" cy="1169700"/>
            <a:chOff x="3715281" y="2736425"/>
            <a:chExt cx="4777901" cy="1169700"/>
          </a:xfrm>
        </p:grpSpPr>
        <p:sp>
          <p:nvSpPr>
            <p:cNvPr id="1531" name="Google Shape;1531;p86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532" name="Google Shape;1532;p86"/>
            <p:cNvSpPr txBox="1"/>
            <p:nvPr/>
          </p:nvSpPr>
          <p:spPr>
            <a:xfrm>
              <a:off x="3715281" y="2736425"/>
              <a:ext cx="6417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533" name="Google Shape;1533;p86"/>
          <p:cNvGraphicFramePr/>
          <p:nvPr>
            <p:extLst>
              <p:ext uri="{D42A27DB-BD31-4B8C-83A1-F6EECF244321}">
                <p14:modId xmlns:p14="http://schemas.microsoft.com/office/powerpoint/2010/main" val="1543427826"/>
              </p:ext>
            </p:extLst>
          </p:nvPr>
        </p:nvGraphicFramePr>
        <p:xfrm>
          <a:off x="8924511" y="2976840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34" name="Google Shape;1534;p86"/>
          <p:cNvGraphicFramePr/>
          <p:nvPr>
            <p:extLst>
              <p:ext uri="{D42A27DB-BD31-4B8C-83A1-F6EECF244321}">
                <p14:modId xmlns:p14="http://schemas.microsoft.com/office/powerpoint/2010/main" val="4281588997"/>
              </p:ext>
            </p:extLst>
          </p:nvPr>
        </p:nvGraphicFramePr>
        <p:xfrm>
          <a:off x="10657375" y="2969466"/>
          <a:ext cx="1337550" cy="1584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35" name="Google Shape;1535;p86"/>
          <p:cNvSpPr txBox="1">
            <a:spLocks noGrp="1"/>
          </p:cNvSpPr>
          <p:nvPr>
            <p:ph type="body" idx="1"/>
          </p:nvPr>
        </p:nvSpPr>
        <p:spPr>
          <a:xfrm>
            <a:off x="3613550" y="2188863"/>
            <a:ext cx="63876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→ </a:t>
            </a:r>
            <a:r>
              <a:rPr lang="es-ES" sz="28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r>
              <a:rPr lang="es-ES" sz="2800" b="1"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grpSp>
        <p:nvGrpSpPr>
          <p:cNvPr id="1536" name="Google Shape;1536;p86"/>
          <p:cNvGrpSpPr/>
          <p:nvPr/>
        </p:nvGrpSpPr>
        <p:grpSpPr>
          <a:xfrm>
            <a:off x="2181448" y="4354125"/>
            <a:ext cx="4085649" cy="923400"/>
            <a:chOff x="2998267" y="2736425"/>
            <a:chExt cx="5495156" cy="923400"/>
          </a:xfrm>
        </p:grpSpPr>
        <p:sp>
          <p:nvSpPr>
            <p:cNvPr id="1537" name="Google Shape;1537;p86"/>
            <p:cNvSpPr txBox="1"/>
            <p:nvPr/>
          </p:nvSpPr>
          <p:spPr>
            <a:xfrm>
              <a:off x="5035323" y="2736425"/>
              <a:ext cx="34581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strike="sngStrike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 strike="sngStrike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strike="sngStrike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51</a:t>
              </a:r>
              <a:endParaRPr sz="1600" strike="sng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51</a:t>
              </a:r>
              <a:endParaRPr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538" name="Google Shape;1538;p86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539" name="Google Shape;153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0650" y="1564025"/>
            <a:ext cx="588600" cy="58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0" name="Google Shape;1540;p86"/>
          <p:cNvGrpSpPr/>
          <p:nvPr/>
        </p:nvGrpSpPr>
        <p:grpSpPr>
          <a:xfrm>
            <a:off x="1394675" y="3703650"/>
            <a:ext cx="588600" cy="494550"/>
            <a:chOff x="1394675" y="3025575"/>
            <a:chExt cx="588600" cy="494550"/>
          </a:xfrm>
        </p:grpSpPr>
        <p:sp>
          <p:nvSpPr>
            <p:cNvPr id="1541" name="Google Shape;1541;p86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00"/>
            </a:p>
          </p:txBody>
        </p:sp>
        <p:sp>
          <p:nvSpPr>
            <p:cNvPr id="1542" name="Google Shape;1542;p86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3" name="Google Shape;1543;p86"/>
          <p:cNvGrpSpPr/>
          <p:nvPr/>
        </p:nvGrpSpPr>
        <p:grpSpPr>
          <a:xfrm>
            <a:off x="806075" y="3703650"/>
            <a:ext cx="588600" cy="494550"/>
            <a:chOff x="1394675" y="3025575"/>
            <a:chExt cx="588600" cy="494550"/>
          </a:xfrm>
        </p:grpSpPr>
        <p:sp>
          <p:nvSpPr>
            <p:cNvPr id="1544" name="Google Shape;1544;p86"/>
            <p:cNvSpPr txBox="1"/>
            <p:nvPr/>
          </p:nvSpPr>
          <p:spPr>
            <a:xfrm>
              <a:off x="1394675" y="3025575"/>
              <a:ext cx="588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5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00">
                <a:solidFill>
                  <a:srgbClr val="0000FF"/>
                </a:solidFill>
              </a:endParaRPr>
            </a:p>
          </p:txBody>
        </p:sp>
        <p:sp>
          <p:nvSpPr>
            <p:cNvPr id="1545" name="Google Shape;1545;p86"/>
            <p:cNvSpPr/>
            <p:nvPr/>
          </p:nvSpPr>
          <p:spPr>
            <a:xfrm>
              <a:off x="1534625" y="3309825"/>
              <a:ext cx="364800" cy="2103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546" name="Google Shape;1546;p86"/>
          <p:cNvGraphicFramePr/>
          <p:nvPr>
            <p:extLst>
              <p:ext uri="{D42A27DB-BD31-4B8C-83A1-F6EECF244321}">
                <p14:modId xmlns:p14="http://schemas.microsoft.com/office/powerpoint/2010/main" val="3404914951"/>
              </p:ext>
            </p:extLst>
          </p:nvPr>
        </p:nvGraphicFramePr>
        <p:xfrm>
          <a:off x="6732376" y="2989906"/>
          <a:ext cx="1337550" cy="37794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trike="sngStrike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trike="sngStrike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trike="sngStrike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trike="sngStrike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trike="sngStrike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trike="sngStrike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8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graphicFrame>
        <p:nvGraphicFramePr>
          <p:cNvPr id="1552" name="Google Shape;1552;p87"/>
          <p:cNvGraphicFramePr/>
          <p:nvPr/>
        </p:nvGraphicFramePr>
        <p:xfrm>
          <a:off x="916650" y="840860"/>
          <a:ext cx="10000175" cy="5714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9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(after instruction)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OS</a:t>
                      </a:r>
                      <a:endParaRPr sz="13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1</a:t>
                      </a:r>
                      <a:endParaRPr sz="13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2</a:t>
                      </a:r>
                      <a:endParaRPr sz="13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PC </a:t>
                      </a:r>
                      <a:endParaRPr sz="13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eax </a:t>
                      </a:r>
                      <a:endParaRPr sz="13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</a:t>
                      </a:r>
                      <a:endParaRPr sz="13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i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before critical section</a:t>
                      </a:r>
                      <a:endParaRPr sz="1300" i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 8049a1c,%eax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 $0x1,%eax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</a:t>
                      </a:r>
                      <a:endParaRPr sz="13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i="1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save</a:t>
                      </a:r>
                      <a:r>
                        <a:rPr lang="es-ES" sz="1300" i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T1 </a:t>
                      </a:r>
                      <a:endParaRPr sz="1300" i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i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restore T2</a:t>
                      </a:r>
                      <a:endParaRPr sz="1300" i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3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3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 8049a1c,%eax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3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 $0x1,%eax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3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 %eax,8049a1c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3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</a:t>
                      </a:r>
                      <a:endParaRPr sz="13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i="1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save</a:t>
                      </a:r>
                      <a:r>
                        <a:rPr lang="es-ES" sz="1300" i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T2</a:t>
                      </a:r>
                      <a:endParaRPr sz="1300" i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i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restore T1</a:t>
                      </a:r>
                      <a:endParaRPr sz="1300" i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 %eax,8049a1c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300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553" name="Google Shape;155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5400" y="6240900"/>
            <a:ext cx="258425" cy="2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88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559" name="Google Shape;1559;p88"/>
          <p:cNvSpPr txBox="1">
            <a:spLocks noGrp="1"/>
          </p:cNvSpPr>
          <p:nvPr>
            <p:ph type="body" idx="1"/>
          </p:nvPr>
        </p:nvSpPr>
        <p:spPr>
          <a:xfrm>
            <a:off x="916650" y="1045550"/>
            <a:ext cx="10648500" cy="4811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Conclusiones del análisis</a:t>
            </a:r>
            <a:endParaRPr b="1" dirty="0">
              <a:solidFill>
                <a:schemeClr val="accent5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En el ejemplo con los dos hilos se analizó la instrucción: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counter = counter + 1</a:t>
            </a:r>
            <a:endParaRPr sz="2200" b="1" dirty="0">
              <a:solidFill>
                <a:srgbClr val="E46C0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Se asumió que la variable counter tenía un valor de </a:t>
            </a:r>
            <a:r>
              <a:rPr lang="es-ES" sz="22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es-ES" sz="2200" dirty="0"/>
              <a:t> (por defecto).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Tras la ejecución de esta instrucción por parte de ambos hilos se espera valor final de </a:t>
            </a:r>
            <a:r>
              <a:rPr lang="es-ES" sz="22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52</a:t>
            </a:r>
            <a:r>
              <a:rPr lang="es-ES" sz="2200" dirty="0"/>
              <a:t>, </a:t>
            </a:r>
            <a:r>
              <a:rPr lang="es-ES" sz="2200" dirty="0">
                <a:solidFill>
                  <a:srgbClr val="FF0000"/>
                </a:solidFill>
              </a:rPr>
              <a:t>pero el resultado fue de </a:t>
            </a: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51</a:t>
            </a:r>
            <a:endParaRPr sz="2200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FF0000"/>
                </a:solidFill>
              </a:rPr>
              <a:t>¿Que paso entonces?</a:t>
            </a:r>
            <a:endParaRPr b="1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89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565" name="Google Shape;1565;p89"/>
          <p:cNvSpPr txBox="1">
            <a:spLocks noGrp="1"/>
          </p:cNvSpPr>
          <p:nvPr>
            <p:ph type="body" idx="1"/>
          </p:nvPr>
        </p:nvSpPr>
        <p:spPr>
          <a:xfrm>
            <a:off x="998850" y="840050"/>
            <a:ext cx="10648500" cy="63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Condición de carrera (Race condition - Data </a:t>
            </a:r>
            <a:r>
              <a:rPr lang="es-ES" b="1" dirty="0" err="1">
                <a:solidFill>
                  <a:schemeClr val="accent5"/>
                </a:solidFill>
              </a:rPr>
              <a:t>race</a:t>
            </a:r>
            <a:r>
              <a:rPr lang="es-ES" b="1" dirty="0">
                <a:solidFill>
                  <a:schemeClr val="accent5"/>
                </a:solidFill>
              </a:rPr>
              <a:t>)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6" name="Google Shape;1566;p89"/>
          <p:cNvSpPr txBox="1">
            <a:spLocks noGrp="1"/>
          </p:cNvSpPr>
          <p:nvPr>
            <p:ph type="body" idx="1"/>
          </p:nvPr>
        </p:nvSpPr>
        <p:spPr>
          <a:xfrm>
            <a:off x="998850" y="2804975"/>
            <a:ext cx="4064700" cy="49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Sección crítica</a:t>
            </a:r>
            <a:endParaRPr dirty="0"/>
          </a:p>
        </p:txBody>
      </p:sp>
      <p:pic>
        <p:nvPicPr>
          <p:cNvPr id="1567" name="Google Shape;156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1598" y="4843135"/>
            <a:ext cx="2031325" cy="192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2125" y="1625725"/>
            <a:ext cx="5489199" cy="446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9" name="Google Shape;1569;p89"/>
          <p:cNvSpPr txBox="1">
            <a:spLocks noGrp="1"/>
          </p:cNvSpPr>
          <p:nvPr>
            <p:ph type="body" idx="1"/>
          </p:nvPr>
        </p:nvSpPr>
        <p:spPr>
          <a:xfrm>
            <a:off x="916650" y="1358075"/>
            <a:ext cx="5331000" cy="144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Los dos hilos compiten modificando variables compartidas.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Resultados no deterministas (por eso no dio lo que esperamos).</a:t>
            </a:r>
            <a:endParaRPr dirty="0"/>
          </a:p>
        </p:txBody>
      </p:sp>
      <p:sp>
        <p:nvSpPr>
          <p:cNvPr id="1570" name="Google Shape;1570;p89"/>
          <p:cNvSpPr txBox="1">
            <a:spLocks noGrp="1"/>
          </p:cNvSpPr>
          <p:nvPr>
            <p:ph type="body" idx="1"/>
          </p:nvPr>
        </p:nvSpPr>
        <p:spPr>
          <a:xfrm>
            <a:off x="998850" y="3297575"/>
            <a:ext cx="5331000" cy="144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Los dos hilos compiten modificando variables compartidas.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Resultados no deterministas (por eso no dio lo que esperamos).</a:t>
            </a:r>
            <a:endParaRPr dirty="0"/>
          </a:p>
        </p:txBody>
      </p:sp>
      <p:sp>
        <p:nvSpPr>
          <p:cNvPr id="1571" name="Google Shape;1571;p89"/>
          <p:cNvSpPr txBox="1">
            <a:spLocks noGrp="1"/>
          </p:cNvSpPr>
          <p:nvPr>
            <p:ph type="body" idx="1"/>
          </p:nvPr>
        </p:nvSpPr>
        <p:spPr>
          <a:xfrm>
            <a:off x="6527275" y="5950950"/>
            <a:ext cx="1545900" cy="27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u="sng">
                <a:solidFill>
                  <a:schemeClr val="hlink"/>
                </a:solidFill>
                <a:hlinkClick r:id="rId5"/>
              </a:rPr>
              <a:t>link</a:t>
            </a:r>
            <a:endParaRPr sz="16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9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577" name="Google Shape;1577;p90"/>
          <p:cNvSpPr txBox="1">
            <a:spLocks noGrp="1"/>
          </p:cNvSpPr>
          <p:nvPr>
            <p:ph type="body" idx="1"/>
          </p:nvPr>
        </p:nvSpPr>
        <p:spPr>
          <a:xfrm>
            <a:off x="1025175" y="913950"/>
            <a:ext cx="10648500" cy="1038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Sección crítica</a:t>
            </a: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6"/>
                </a:solidFill>
              </a:rPr>
              <a:t>Porción de código</a:t>
            </a:r>
            <a:r>
              <a:rPr lang="es-ES" sz="2200" dirty="0"/>
              <a:t> donde se accede a una variable compartida.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8" name="Google Shape;1578;p90"/>
          <p:cNvSpPr txBox="1"/>
          <p:nvPr/>
        </p:nvSpPr>
        <p:spPr>
          <a:xfrm>
            <a:off x="1796100" y="2099725"/>
            <a:ext cx="8736300" cy="264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letter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i; //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stack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per thread) 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("%s: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addr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i: %p]\n",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letter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, &amp;i);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6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counter = counter + 1; // sección critica</a:t>
            </a:r>
            <a:endParaRPr sz="1600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("%s: done\n",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letter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NULL;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9" name="Google Shape;1579;p90"/>
          <p:cNvSpPr txBox="1"/>
          <p:nvPr/>
        </p:nvSpPr>
        <p:spPr>
          <a:xfrm>
            <a:off x="1796100" y="5280875"/>
            <a:ext cx="2957100" cy="43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600" dirty="0"/>
          </a:p>
        </p:txBody>
      </p:sp>
      <p:grpSp>
        <p:nvGrpSpPr>
          <p:cNvPr id="1580" name="Google Shape;1580;p90"/>
          <p:cNvGrpSpPr/>
          <p:nvPr/>
        </p:nvGrpSpPr>
        <p:grpSpPr>
          <a:xfrm>
            <a:off x="6555111" y="5034725"/>
            <a:ext cx="4010092" cy="923400"/>
            <a:chOff x="3715281" y="2736425"/>
            <a:chExt cx="4777901" cy="923400"/>
          </a:xfrm>
        </p:grpSpPr>
        <p:sp>
          <p:nvSpPr>
            <p:cNvPr id="1581" name="Google Shape;1581;p90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0x8049a1c,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add $0x1, %eax 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mov %eax, 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582" name="Google Shape;1582;p90"/>
            <p:cNvSpPr txBox="1"/>
            <p:nvPr/>
          </p:nvSpPr>
          <p:spPr>
            <a:xfrm>
              <a:off x="3715281" y="2736425"/>
              <a:ext cx="641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583" name="Google Shape;1583;p90"/>
          <p:cNvSpPr/>
          <p:nvPr/>
        </p:nvSpPr>
        <p:spPr>
          <a:xfrm>
            <a:off x="5398175" y="5328125"/>
            <a:ext cx="79950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9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Datos compartidos</a:t>
            </a:r>
            <a:endParaRPr dirty="0"/>
          </a:p>
        </p:txBody>
      </p:sp>
      <p:sp>
        <p:nvSpPr>
          <p:cNvPr id="1589" name="Google Shape;1589;p91"/>
          <p:cNvSpPr txBox="1">
            <a:spLocks noGrp="1"/>
          </p:cNvSpPr>
          <p:nvPr>
            <p:ph type="body" idx="1"/>
          </p:nvPr>
        </p:nvSpPr>
        <p:spPr>
          <a:xfrm>
            <a:off x="1025175" y="913950"/>
            <a:ext cx="10648500" cy="3290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</a:rPr>
              <a:t>Sección crítica</a:t>
            </a:r>
            <a:endParaRPr sz="2800" b="1" dirty="0">
              <a:solidFill>
                <a:schemeClr val="accent5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No debería ser accedida de manera concurrente:</a:t>
            </a:r>
            <a:endParaRPr sz="24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/>
              <a:t>Múltiples hilos ejecutando una región crítica pueden generar un </a:t>
            </a:r>
            <a:r>
              <a:rPr lang="es-ES" sz="2400" b="1" dirty="0" err="1">
                <a:solidFill>
                  <a:srgbClr val="FF0000"/>
                </a:solidFill>
              </a:rPr>
              <a:t>race</a:t>
            </a:r>
            <a:r>
              <a:rPr lang="es-ES" sz="2400" b="1" dirty="0">
                <a:solidFill>
                  <a:srgbClr val="FF0000"/>
                </a:solidFill>
              </a:rPr>
              <a:t> condition</a:t>
            </a:r>
            <a:r>
              <a:rPr lang="es-ES" sz="2400" dirty="0"/>
              <a:t>.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Se requiere el </a:t>
            </a:r>
            <a:r>
              <a:rPr lang="es-ES" sz="2400" b="1" dirty="0"/>
              <a:t>soporte de </a:t>
            </a:r>
            <a:r>
              <a:rPr lang="es-ES" sz="2400" b="1" dirty="0">
                <a:solidFill>
                  <a:srgbClr val="E46C0A"/>
                </a:solidFill>
              </a:rPr>
              <a:t>atomicidad</a:t>
            </a:r>
            <a:r>
              <a:rPr lang="es-ES" sz="2400" dirty="0"/>
              <a:t> (instrucciones especiales que no pueden ser interrumpidas) para las regiones críticas</a:t>
            </a:r>
            <a:endParaRPr sz="24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Char char="○"/>
            </a:pPr>
            <a:r>
              <a:rPr lang="es-ES" sz="2400" b="1" dirty="0">
                <a:solidFill>
                  <a:schemeClr val="accent5"/>
                </a:solidFill>
              </a:rPr>
              <a:t>Exclusión </a:t>
            </a:r>
            <a:r>
              <a:rPr lang="es-ES" sz="2400" b="1" dirty="0" err="1">
                <a:solidFill>
                  <a:schemeClr val="accent5"/>
                </a:solidFill>
              </a:rPr>
              <a:t>mútua</a:t>
            </a:r>
            <a:r>
              <a:rPr lang="es-ES" sz="2400" dirty="0">
                <a:solidFill>
                  <a:schemeClr val="accent5"/>
                </a:solidFill>
              </a:rPr>
              <a:t>: </a:t>
            </a:r>
            <a:r>
              <a:rPr lang="es-ES" sz="2400" dirty="0"/>
              <a:t>Propiedad que garantiza que un solo hilo se encuentre ejecutando el código de la región crítica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1" dirty="0">
              <a:solidFill>
                <a:schemeClr val="accent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0" name="Google Shape;1590;p91"/>
          <p:cNvSpPr txBox="1"/>
          <p:nvPr/>
        </p:nvSpPr>
        <p:spPr>
          <a:xfrm>
            <a:off x="7542750" y="5163875"/>
            <a:ext cx="3715200" cy="43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0B693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memory-add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0x8049a1c, $0x1</a:t>
            </a:r>
            <a:endParaRPr sz="1600"/>
          </a:p>
        </p:txBody>
      </p:sp>
      <p:sp>
        <p:nvSpPr>
          <p:cNvPr id="1591" name="Google Shape;1591;p91"/>
          <p:cNvSpPr txBox="1"/>
          <p:nvPr/>
        </p:nvSpPr>
        <p:spPr>
          <a:xfrm>
            <a:off x="1854574" y="4917725"/>
            <a:ext cx="3715200" cy="923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mov 0x8049a1c, %eax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add $0x1, %eax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mov %eax, 0x8049a1c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2" name="Google Shape;1592;p91"/>
          <p:cNvSpPr/>
          <p:nvPr/>
        </p:nvSpPr>
        <p:spPr>
          <a:xfrm>
            <a:off x="6216850" y="5211125"/>
            <a:ext cx="79950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91"/>
          <p:cNvSpPr txBox="1"/>
          <p:nvPr/>
        </p:nvSpPr>
        <p:spPr>
          <a:xfrm>
            <a:off x="2038725" y="4283838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No hay atomicidad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94" name="Google Shape;1594;p91"/>
          <p:cNvSpPr txBox="1"/>
          <p:nvPr/>
        </p:nvSpPr>
        <p:spPr>
          <a:xfrm>
            <a:off x="7806200" y="44069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0B6937"/>
                </a:solidFill>
                <a:latin typeface="Roboto"/>
                <a:ea typeface="Roboto"/>
                <a:cs typeface="Roboto"/>
                <a:sym typeface="Roboto"/>
              </a:rPr>
              <a:t>Instrucción atómica</a:t>
            </a:r>
            <a:endParaRPr>
              <a:solidFill>
                <a:srgbClr val="0B6937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93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93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93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p9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Creación de hilos</a:t>
            </a:r>
            <a:endParaRPr dirty="0">
              <a:latin typeface="+mj-lt"/>
            </a:endParaRPr>
          </a:p>
        </p:txBody>
      </p:sp>
      <p:sp>
        <p:nvSpPr>
          <p:cNvPr id="1612" name="Google Shape;1612;p93"/>
          <p:cNvSpPr txBox="1">
            <a:spLocks noGrp="1"/>
          </p:cNvSpPr>
          <p:nvPr>
            <p:ph type="body" idx="1"/>
          </p:nvPr>
        </p:nvSpPr>
        <p:spPr>
          <a:xfrm>
            <a:off x="1083600" y="3809238"/>
            <a:ext cx="10721700" cy="26755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06666"/>
                </a:solidFill>
                <a:latin typeface="+mj-lt"/>
              </a:rPr>
              <a:t>Donde:</a:t>
            </a:r>
            <a:endParaRPr sz="2400" b="1" dirty="0">
              <a:solidFill>
                <a:srgbClr val="E06666"/>
              </a:solidFill>
              <a:latin typeface="+mj-lt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rgbClr val="3A81BA"/>
                </a:solidFill>
                <a:latin typeface="+mj-lt"/>
                <a:ea typeface="Consolas"/>
                <a:cs typeface="Consolas"/>
                <a:sym typeface="Consolas"/>
              </a:rPr>
              <a:t>thread</a:t>
            </a:r>
            <a:r>
              <a:rPr lang="es-ES" sz="2400" dirty="0">
                <a:solidFill>
                  <a:srgbClr val="3A81BA"/>
                </a:solidFill>
                <a:latin typeface="+mj-lt"/>
              </a:rPr>
              <a:t>:</a:t>
            </a:r>
            <a:r>
              <a:rPr lang="es-ES" sz="2400" dirty="0">
                <a:latin typeface="+mj-lt"/>
              </a:rPr>
              <a:t> permite manejar del hilo (</a:t>
            </a:r>
            <a:r>
              <a:rPr lang="es-ES" sz="2400" b="1" i="1" dirty="0" err="1">
                <a:latin typeface="+mj-lt"/>
                <a:ea typeface="Consolas"/>
                <a:cs typeface="Consolas"/>
                <a:sym typeface="Consolas"/>
              </a:rPr>
              <a:t>handler</a:t>
            </a:r>
            <a:r>
              <a:rPr lang="es-ES" sz="2400" dirty="0">
                <a:latin typeface="+mj-lt"/>
              </a:rPr>
              <a:t>).</a:t>
            </a:r>
            <a:endParaRPr sz="2400" dirty="0">
              <a:latin typeface="+mj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 err="1">
                <a:solidFill>
                  <a:srgbClr val="3A81BA"/>
                </a:solidFill>
                <a:latin typeface="+mj-lt"/>
                <a:ea typeface="Consolas"/>
                <a:cs typeface="Consolas"/>
                <a:sym typeface="Consolas"/>
              </a:rPr>
              <a:t>attr</a:t>
            </a:r>
            <a:r>
              <a:rPr lang="es-ES" sz="2400" dirty="0">
                <a:solidFill>
                  <a:srgbClr val="3A81BA"/>
                </a:solidFill>
                <a:latin typeface="+mj-lt"/>
              </a:rPr>
              <a:t>:</a:t>
            </a:r>
            <a:r>
              <a:rPr lang="es-ES" sz="2400" dirty="0">
                <a:latin typeface="+mj-lt"/>
              </a:rPr>
              <a:t> permite crear atributos al hilo.</a:t>
            </a:r>
            <a:endParaRPr sz="2400" dirty="0">
              <a:latin typeface="+mj-lt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j-lt"/>
              </a:rPr>
              <a:t>Tamaño del </a:t>
            </a:r>
            <a:r>
              <a:rPr lang="es-ES" sz="2400" dirty="0" err="1">
                <a:latin typeface="+mj-lt"/>
              </a:rPr>
              <a:t>stack</a:t>
            </a:r>
            <a:r>
              <a:rPr lang="es-ES" sz="2400" dirty="0">
                <a:latin typeface="+mj-lt"/>
              </a:rPr>
              <a:t>, prioridad en el planificador, ...</a:t>
            </a:r>
            <a:endParaRPr sz="2400" dirty="0">
              <a:latin typeface="+mj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 err="1">
                <a:solidFill>
                  <a:srgbClr val="3A81BA"/>
                </a:solidFill>
                <a:latin typeface="+mj-lt"/>
                <a:ea typeface="Consolas"/>
                <a:cs typeface="Consolas"/>
                <a:sym typeface="Consolas"/>
              </a:rPr>
              <a:t>start_routine</a:t>
            </a:r>
            <a:r>
              <a:rPr lang="es-ES" sz="2400" dirty="0">
                <a:solidFill>
                  <a:srgbClr val="3A81BA"/>
                </a:solidFill>
                <a:latin typeface="+mj-lt"/>
              </a:rPr>
              <a:t>:</a:t>
            </a:r>
            <a:r>
              <a:rPr lang="es-ES" sz="2400" dirty="0">
                <a:latin typeface="+mj-lt"/>
              </a:rPr>
              <a:t> función que inicia ejecutando este hilo.</a:t>
            </a:r>
            <a:endParaRPr sz="2400" dirty="0">
              <a:latin typeface="+mj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 err="1">
                <a:solidFill>
                  <a:srgbClr val="3A81BA"/>
                </a:solidFill>
                <a:latin typeface="+mj-lt"/>
                <a:ea typeface="Consolas"/>
                <a:cs typeface="Consolas"/>
                <a:sym typeface="Consolas"/>
              </a:rPr>
              <a:t>arg</a:t>
            </a:r>
            <a:r>
              <a:rPr lang="es-ES" sz="2400" dirty="0">
                <a:solidFill>
                  <a:srgbClr val="3A81BA"/>
                </a:solidFill>
                <a:latin typeface="+mj-lt"/>
              </a:rPr>
              <a:t>:</a:t>
            </a:r>
            <a:r>
              <a:rPr lang="es-ES" sz="2400" dirty="0">
                <a:latin typeface="+mj-lt"/>
              </a:rPr>
              <a:t> argumento pasado a la función (</a:t>
            </a:r>
            <a:r>
              <a:rPr lang="es-ES" sz="2400" b="1" dirty="0" err="1">
                <a:latin typeface="+mj-lt"/>
                <a:ea typeface="Consolas"/>
                <a:cs typeface="Consolas"/>
                <a:sym typeface="Consolas"/>
              </a:rPr>
              <a:t>start_routine</a:t>
            </a:r>
            <a:r>
              <a:rPr lang="es-ES" sz="2400" dirty="0">
                <a:latin typeface="+mj-lt"/>
              </a:rPr>
              <a:t>)</a:t>
            </a:r>
            <a:endParaRPr sz="2400" dirty="0">
              <a:latin typeface="+mj-lt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j-lt"/>
              </a:rPr>
              <a:t>Un </a:t>
            </a:r>
            <a:r>
              <a:rPr lang="es-ES" sz="2400" b="1" i="1" dirty="0">
                <a:latin typeface="+mj-lt"/>
              </a:rPr>
              <a:t>apuntador</a:t>
            </a:r>
            <a:r>
              <a:rPr lang="es-ES" sz="2400" dirty="0">
                <a:latin typeface="+mj-lt"/>
              </a:rPr>
              <a:t> a </a:t>
            </a:r>
            <a:r>
              <a:rPr lang="es-ES" sz="2400" b="1" dirty="0" err="1">
                <a:latin typeface="+mj-lt"/>
                <a:ea typeface="Consolas"/>
                <a:cs typeface="Consolas"/>
                <a:sym typeface="Consolas"/>
              </a:rPr>
              <a:t>void</a:t>
            </a:r>
            <a:r>
              <a:rPr lang="es-ES" sz="2400" dirty="0">
                <a:latin typeface="+mj-lt"/>
              </a:rPr>
              <a:t> permite pasar argumentos de </a:t>
            </a:r>
            <a:r>
              <a:rPr lang="es-ES" sz="2400" b="1" i="1" dirty="0">
                <a:latin typeface="+mj-lt"/>
              </a:rPr>
              <a:t>cualquier tipo</a:t>
            </a:r>
            <a:r>
              <a:rPr lang="es-ES" sz="2400" dirty="0">
                <a:latin typeface="+mj-lt"/>
              </a:rPr>
              <a:t>.</a:t>
            </a:r>
            <a:endParaRPr sz="2400" dirty="0">
              <a:latin typeface="+mj-lt"/>
            </a:endParaRPr>
          </a:p>
        </p:txBody>
      </p:sp>
      <p:sp>
        <p:nvSpPr>
          <p:cNvPr id="1613" name="Google Shape;1613;p93"/>
          <p:cNvSpPr txBox="1">
            <a:spLocks noGrp="1"/>
          </p:cNvSpPr>
          <p:nvPr>
            <p:ph type="body" idx="1"/>
          </p:nvPr>
        </p:nvSpPr>
        <p:spPr>
          <a:xfrm>
            <a:off x="970175" y="860300"/>
            <a:ext cx="10596300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¿Como crear hilos?</a:t>
            </a:r>
            <a:endParaRPr sz="2800" dirty="0">
              <a:latin typeface="+mn-lt"/>
            </a:endParaRPr>
          </a:p>
        </p:txBody>
      </p:sp>
      <p:sp>
        <p:nvSpPr>
          <p:cNvPr id="1614" name="Google Shape;1614;p93"/>
          <p:cNvSpPr txBox="1">
            <a:spLocks noGrp="1"/>
          </p:cNvSpPr>
          <p:nvPr>
            <p:ph type="body" idx="1"/>
          </p:nvPr>
        </p:nvSpPr>
        <p:spPr>
          <a:xfrm>
            <a:off x="1083600" y="1451975"/>
            <a:ext cx="10721700" cy="2247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#include &lt;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pthread.h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* thread, 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s-ES" sz="20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pthread_attr_t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attr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s-ES" sz="20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* (*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start_routine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)(</a:t>
            </a:r>
            <a:r>
              <a:rPr lang="es-ES" sz="2000" dirty="0" err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*), 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s-ES" sz="2000" dirty="0" err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94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94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94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9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n-lt"/>
              </a:rPr>
              <a:t>Creación de hilos</a:t>
            </a:r>
            <a:endParaRPr dirty="0">
              <a:latin typeface="+mn-lt"/>
            </a:endParaRPr>
          </a:p>
        </p:txBody>
      </p:sp>
      <p:sp>
        <p:nvSpPr>
          <p:cNvPr id="1623" name="Google Shape;1623;p94"/>
          <p:cNvSpPr txBox="1">
            <a:spLocks noGrp="1"/>
          </p:cNvSpPr>
          <p:nvPr>
            <p:ph type="body" idx="1"/>
          </p:nvPr>
        </p:nvSpPr>
        <p:spPr>
          <a:xfrm>
            <a:off x="970175" y="860300"/>
            <a:ext cx="10596300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¿Como crear hilos?</a:t>
            </a:r>
            <a:endParaRPr sz="2800" dirty="0">
              <a:latin typeface="+mn-lt"/>
            </a:endParaRPr>
          </a:p>
        </p:txBody>
      </p:sp>
      <p:sp>
        <p:nvSpPr>
          <p:cNvPr id="1624" name="Google Shape;1624;p94"/>
          <p:cNvSpPr txBox="1">
            <a:spLocks noGrp="1"/>
          </p:cNvSpPr>
          <p:nvPr>
            <p:ph type="body" idx="1"/>
          </p:nvPr>
        </p:nvSpPr>
        <p:spPr>
          <a:xfrm>
            <a:off x="2220075" y="3012425"/>
            <a:ext cx="9306000" cy="1139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pthread_create(...,</a:t>
            </a: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// first two args are the same</a:t>
            </a:r>
            <a:endParaRPr sz="2000">
              <a:solidFill>
                <a:srgbClr val="3A81B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                 void* 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(*start_routine)(</a:t>
            </a:r>
            <a:r>
              <a:rPr lang="es-ES" sz="2000">
                <a:solidFill>
                  <a:srgbClr val="ED7D3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200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s-ES" sz="2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arg);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5" name="Google Shape;1625;p94"/>
          <p:cNvSpPr txBox="1">
            <a:spLocks noGrp="1"/>
          </p:cNvSpPr>
          <p:nvPr>
            <p:ph type="body" idx="1"/>
          </p:nvPr>
        </p:nvSpPr>
        <p:spPr>
          <a:xfrm>
            <a:off x="1083600" y="1539688"/>
            <a:ext cx="10721700" cy="8853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Si </a:t>
            </a:r>
            <a:r>
              <a:rPr lang="es-ES" sz="2400" b="1" dirty="0" err="1">
                <a:latin typeface="+mn-lt"/>
                <a:ea typeface="Consolas"/>
                <a:cs typeface="Consolas"/>
                <a:sym typeface="Consolas"/>
              </a:rPr>
              <a:t>start_routine</a:t>
            </a:r>
            <a:r>
              <a:rPr lang="es-ES" sz="2400" dirty="0">
                <a:latin typeface="+mn-lt"/>
              </a:rPr>
              <a:t> requiere argumentos de diferente tipo, la declaración sería como se muestra a continuación:</a:t>
            </a:r>
            <a:endParaRPr sz="2400" dirty="0">
              <a:latin typeface="+mn-lt"/>
            </a:endParaRPr>
          </a:p>
        </p:txBody>
      </p:sp>
      <p:sp>
        <p:nvSpPr>
          <p:cNvPr id="1626" name="Google Shape;1626;p94"/>
          <p:cNvSpPr txBox="1">
            <a:spLocks noGrp="1"/>
          </p:cNvSpPr>
          <p:nvPr>
            <p:ph type="body" idx="1"/>
          </p:nvPr>
        </p:nvSpPr>
        <p:spPr>
          <a:xfrm>
            <a:off x="1203125" y="2296888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Un </a:t>
            </a:r>
            <a:r>
              <a:rPr lang="es-ES" sz="2400" b="1" i="1" dirty="0">
                <a:latin typeface="+mn-lt"/>
              </a:rPr>
              <a:t>argumento</a:t>
            </a:r>
            <a:r>
              <a:rPr lang="es-ES" sz="2400" dirty="0">
                <a:latin typeface="+mn-lt"/>
              </a:rPr>
              <a:t> tipo entero (</a:t>
            </a:r>
            <a:r>
              <a:rPr lang="es-ES" sz="2400" b="1" dirty="0" err="1">
                <a:solidFill>
                  <a:srgbClr val="FF9900"/>
                </a:solidFill>
                <a:latin typeface="+mn-lt"/>
                <a:ea typeface="Consolas"/>
                <a:cs typeface="Consolas"/>
                <a:sym typeface="Consolas"/>
              </a:rPr>
              <a:t>int</a:t>
            </a:r>
            <a:r>
              <a:rPr lang="es-ES" sz="2400" dirty="0">
                <a:latin typeface="+mn-lt"/>
              </a:rPr>
              <a:t>)</a:t>
            </a:r>
            <a:endParaRPr sz="2400" dirty="0">
              <a:latin typeface="+mn-lt"/>
            </a:endParaRPr>
          </a:p>
        </p:txBody>
      </p:sp>
      <p:sp>
        <p:nvSpPr>
          <p:cNvPr id="1627" name="Google Shape;1627;p94"/>
          <p:cNvSpPr txBox="1">
            <a:spLocks noGrp="1"/>
          </p:cNvSpPr>
          <p:nvPr>
            <p:ph type="body" idx="1"/>
          </p:nvPr>
        </p:nvSpPr>
        <p:spPr>
          <a:xfrm>
            <a:off x="1512225" y="4442238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s-ES" sz="2400">
                <a:latin typeface="+mn-lt"/>
              </a:rPr>
              <a:t>Un </a:t>
            </a:r>
            <a:r>
              <a:rPr lang="es-ES" sz="2400" b="1" i="1">
                <a:latin typeface="+mn-lt"/>
              </a:rPr>
              <a:t>retorno</a:t>
            </a:r>
            <a:r>
              <a:rPr lang="es-ES" sz="2400">
                <a:latin typeface="+mn-lt"/>
              </a:rPr>
              <a:t> tipo entero (</a:t>
            </a:r>
            <a:r>
              <a:rPr lang="es-ES" sz="2400" b="1">
                <a:solidFill>
                  <a:schemeClr val="accent2"/>
                </a:solidFill>
                <a:latin typeface="+mn-lt"/>
                <a:ea typeface="Consolas"/>
                <a:cs typeface="Consolas"/>
                <a:sym typeface="Consolas"/>
              </a:rPr>
              <a:t>int</a:t>
            </a:r>
            <a:r>
              <a:rPr lang="es-ES" sz="2400">
                <a:latin typeface="+mn-lt"/>
              </a:rPr>
              <a:t>)</a:t>
            </a:r>
            <a:endParaRPr sz="2400">
              <a:latin typeface="+mn-lt"/>
            </a:endParaRPr>
          </a:p>
        </p:txBody>
      </p:sp>
      <p:sp>
        <p:nvSpPr>
          <p:cNvPr id="1628" name="Google Shape;1628;p94"/>
          <p:cNvSpPr txBox="1">
            <a:spLocks noGrp="1"/>
          </p:cNvSpPr>
          <p:nvPr>
            <p:ph type="body" idx="1"/>
          </p:nvPr>
        </p:nvSpPr>
        <p:spPr>
          <a:xfrm>
            <a:off x="2220075" y="5057150"/>
            <a:ext cx="9306000" cy="1139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pthread_create(...,</a:t>
            </a: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// first two args are the same</a:t>
            </a:r>
            <a:endParaRPr sz="2000">
              <a:solidFill>
                <a:srgbClr val="3A81B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s-ES" sz="2000">
                <a:solidFill>
                  <a:srgbClr val="ED7D3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(*start_routine)(</a:t>
            </a: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void*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                 void* 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arg);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95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95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95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9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n-lt"/>
              </a:rPr>
              <a:t>Creación de hilos</a:t>
            </a:r>
            <a:endParaRPr dirty="0">
              <a:latin typeface="+mn-lt"/>
            </a:endParaRPr>
          </a:p>
        </p:txBody>
      </p:sp>
      <p:sp>
        <p:nvSpPr>
          <p:cNvPr id="1637" name="Google Shape;1637;p95"/>
          <p:cNvSpPr txBox="1">
            <a:spLocks noGrp="1"/>
          </p:cNvSpPr>
          <p:nvPr>
            <p:ph type="body" idx="1"/>
          </p:nvPr>
        </p:nvSpPr>
        <p:spPr>
          <a:xfrm>
            <a:off x="916650" y="761625"/>
            <a:ext cx="10596300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Ejemplo - Creando un hilo</a:t>
            </a:r>
            <a:endParaRPr sz="2800" dirty="0">
              <a:latin typeface="+mn-lt"/>
            </a:endParaRPr>
          </a:p>
        </p:txBody>
      </p:sp>
      <p:sp>
        <p:nvSpPr>
          <p:cNvPr id="1638" name="Google Shape;1638;p95"/>
          <p:cNvSpPr txBox="1">
            <a:spLocks noGrp="1"/>
          </p:cNvSpPr>
          <p:nvPr>
            <p:ph type="body" idx="1"/>
          </p:nvPr>
        </p:nvSpPr>
        <p:spPr>
          <a:xfrm>
            <a:off x="1057400" y="1284825"/>
            <a:ext cx="5646900" cy="544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#include &lt;pthread.h&gt;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__myarg_t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a;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b;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} myarg_t;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*mythread(void *arg)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myarg_t *m = (myarg_t *) arg;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printf(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“%d %d\n”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, m-&gt;a, m-&gt;b);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return 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main(int argc, char *argv[])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pthread_t p;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rc;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myarg_t args;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args.a = 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args.b = 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rc = pthread_create(&amp;p, </a:t>
            </a:r>
            <a:r>
              <a:rPr lang="es-ES" sz="120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ES" sz="12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mythread, &amp;args);</a:t>
            </a:r>
            <a:endParaRPr sz="1200"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639" name="Google Shape;1639;p95"/>
          <p:cNvGrpSpPr/>
          <p:nvPr/>
        </p:nvGrpSpPr>
        <p:grpSpPr>
          <a:xfrm>
            <a:off x="7626038" y="1613188"/>
            <a:ext cx="4078194" cy="4449350"/>
            <a:chOff x="7626038" y="1658925"/>
            <a:chExt cx="4078194" cy="4449350"/>
          </a:xfrm>
        </p:grpSpPr>
        <p:sp>
          <p:nvSpPr>
            <p:cNvPr id="1640" name="Google Shape;1640;p95"/>
            <p:cNvSpPr/>
            <p:nvPr/>
          </p:nvSpPr>
          <p:spPr>
            <a:xfrm>
              <a:off x="8493350" y="23472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641" name="Google Shape;1641;p95"/>
            <p:cNvGrpSpPr/>
            <p:nvPr/>
          </p:nvGrpSpPr>
          <p:grpSpPr>
            <a:xfrm>
              <a:off x="7696868" y="2023733"/>
              <a:ext cx="612969" cy="600504"/>
              <a:chOff x="2019475" y="2346963"/>
              <a:chExt cx="590700" cy="628800"/>
            </a:xfrm>
          </p:grpSpPr>
          <p:sp>
            <p:nvSpPr>
              <p:cNvPr id="1642" name="Google Shape;1642;p95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95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644" name="Google Shape;1644;p95"/>
            <p:cNvGrpSpPr/>
            <p:nvPr/>
          </p:nvGrpSpPr>
          <p:grpSpPr>
            <a:xfrm>
              <a:off x="7696906" y="2734533"/>
              <a:ext cx="612900" cy="600600"/>
              <a:chOff x="6778856" y="5262408"/>
              <a:chExt cx="612900" cy="600600"/>
            </a:xfrm>
          </p:grpSpPr>
          <p:sp>
            <p:nvSpPr>
              <p:cNvPr id="1645" name="Google Shape;1645;p95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95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47" name="Google Shape;1647;p95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1648" name="Google Shape;1648;p95"/>
            <p:cNvCxnSpPr/>
            <p:nvPr/>
          </p:nvCxnSpPr>
          <p:spPr>
            <a:xfrm>
              <a:off x="10293038" y="2153675"/>
              <a:ext cx="18900" cy="3954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49" name="Google Shape;1649;p95"/>
            <p:cNvCxnSpPr/>
            <p:nvPr/>
          </p:nvCxnSpPr>
          <p:spPr>
            <a:xfrm rot="10800000">
              <a:off x="7626038" y="26891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650" name="Google Shape;1650;p95"/>
            <p:cNvSpPr/>
            <p:nvPr/>
          </p:nvSpPr>
          <p:spPr>
            <a:xfrm>
              <a:off x="9591413" y="16589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651" name="Google Shape;1651;p95"/>
            <p:cNvCxnSpPr/>
            <p:nvPr/>
          </p:nvCxnSpPr>
          <p:spPr>
            <a:xfrm>
              <a:off x="10286950" y="2695720"/>
              <a:ext cx="1417281" cy="68344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2" name="Google Shape;1652;p95"/>
            <p:cNvCxnSpPr/>
            <p:nvPr/>
          </p:nvCxnSpPr>
          <p:spPr>
            <a:xfrm flipH="1">
              <a:off x="11657325" y="3380225"/>
              <a:ext cx="33900" cy="1581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53" name="Google Shape;1653;p95"/>
            <p:cNvSpPr/>
            <p:nvPr/>
          </p:nvSpPr>
          <p:spPr>
            <a:xfrm>
              <a:off x="10108907" y="20428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54" name="Google Shape;1654;p95"/>
            <p:cNvSpPr/>
            <p:nvPr/>
          </p:nvSpPr>
          <p:spPr>
            <a:xfrm>
              <a:off x="11480695" y="33971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55" name="Google Shape;1655;p95"/>
            <p:cNvSpPr txBox="1"/>
            <p:nvPr/>
          </p:nvSpPr>
          <p:spPr>
            <a:xfrm>
              <a:off x="9536500" y="20144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  <p:sp>
          <p:nvSpPr>
            <p:cNvPr id="1656" name="Google Shape;1656;p95"/>
            <p:cNvSpPr txBox="1"/>
            <p:nvPr/>
          </p:nvSpPr>
          <p:spPr>
            <a:xfrm>
              <a:off x="10908300" y="33687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</a:t>
              </a:r>
              <a:endParaRPr sz="120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96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96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96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96"/>
          <p:cNvSpPr txBox="1">
            <a:spLocks noGrp="1"/>
          </p:cNvSpPr>
          <p:nvPr>
            <p:ph type="title"/>
          </p:nvPr>
        </p:nvSpPr>
        <p:spPr>
          <a:xfrm>
            <a:off x="625525" y="96038"/>
            <a:ext cx="859512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Esperar hasta que se complete el hilo</a:t>
            </a:r>
            <a:endParaRPr dirty="0">
              <a:latin typeface="+mj-lt"/>
            </a:endParaRPr>
          </a:p>
        </p:txBody>
      </p:sp>
      <p:sp>
        <p:nvSpPr>
          <p:cNvPr id="1665" name="Google Shape;1665;p96"/>
          <p:cNvSpPr txBox="1">
            <a:spLocks noGrp="1"/>
          </p:cNvSpPr>
          <p:nvPr>
            <p:ph type="body" idx="1"/>
          </p:nvPr>
        </p:nvSpPr>
        <p:spPr>
          <a:xfrm>
            <a:off x="353961" y="860300"/>
            <a:ext cx="11212514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¿Como crear hilos?</a:t>
            </a:r>
            <a:endParaRPr sz="2800" dirty="0">
              <a:latin typeface="+mn-lt"/>
            </a:endParaRPr>
          </a:p>
        </p:txBody>
      </p:sp>
      <p:sp>
        <p:nvSpPr>
          <p:cNvPr id="1666" name="Google Shape;1666;p96"/>
          <p:cNvSpPr txBox="1">
            <a:spLocks noGrp="1"/>
          </p:cNvSpPr>
          <p:nvPr>
            <p:ph type="body" idx="1"/>
          </p:nvPr>
        </p:nvSpPr>
        <p:spPr>
          <a:xfrm>
            <a:off x="1816850" y="2602988"/>
            <a:ext cx="9306000" cy="400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pthread_join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thread, </a:t>
            </a:r>
            <a:r>
              <a:rPr lang="es-ES" sz="20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**</a:t>
            </a:r>
            <a:r>
              <a:rPr lang="es-ES" sz="2000" dirty="0" err="1">
                <a:latin typeface="Consolas"/>
                <a:ea typeface="Consolas"/>
                <a:cs typeface="Consolas"/>
                <a:sym typeface="Consolas"/>
              </a:rPr>
              <a:t>value_ptr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7" name="Google Shape;1667;p96"/>
          <p:cNvSpPr txBox="1">
            <a:spLocks noGrp="1"/>
          </p:cNvSpPr>
          <p:nvPr>
            <p:ph type="body" idx="1"/>
          </p:nvPr>
        </p:nvSpPr>
        <p:spPr>
          <a:xfrm>
            <a:off x="353961" y="1458813"/>
            <a:ext cx="11476739" cy="8853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Para esperar hacer que un hilo espere la terminación de otro para acabar se emplea </a:t>
            </a:r>
            <a:r>
              <a:rPr lang="es-ES" sz="2400" b="1" dirty="0">
                <a:latin typeface="+mn-lt"/>
                <a:ea typeface="Consolas"/>
                <a:cs typeface="Consolas"/>
                <a:sym typeface="Consolas"/>
              </a:rPr>
              <a:t>pthread_join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</p:txBody>
      </p:sp>
      <p:sp>
        <p:nvSpPr>
          <p:cNvPr id="1668" name="Google Shape;1668;p96"/>
          <p:cNvSpPr txBox="1">
            <a:spLocks noGrp="1"/>
          </p:cNvSpPr>
          <p:nvPr>
            <p:ph type="body" idx="1"/>
          </p:nvPr>
        </p:nvSpPr>
        <p:spPr>
          <a:xfrm>
            <a:off x="353961" y="3529838"/>
            <a:ext cx="11476739" cy="201076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Donde:</a:t>
            </a:r>
            <a:endParaRPr sz="2400" b="1" dirty="0">
              <a:solidFill>
                <a:srgbClr val="E06666"/>
              </a:solidFill>
              <a:latin typeface="+mn-lt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rgbClr val="3A81BA"/>
                </a:solidFill>
                <a:latin typeface="+mn-lt"/>
                <a:ea typeface="Consolas"/>
                <a:cs typeface="Consolas"/>
                <a:sym typeface="Consolas"/>
              </a:rPr>
              <a:t>thread</a:t>
            </a:r>
            <a:r>
              <a:rPr lang="es-ES" sz="2400" dirty="0">
                <a:solidFill>
                  <a:srgbClr val="3A81BA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Especifica el hilo por el cual se va a esperar.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 err="1">
                <a:solidFill>
                  <a:srgbClr val="3A81BA"/>
                </a:solidFill>
                <a:latin typeface="+mn-lt"/>
                <a:ea typeface="Consolas"/>
                <a:cs typeface="Consolas"/>
                <a:sym typeface="Consolas"/>
              </a:rPr>
              <a:t>value_ptr</a:t>
            </a:r>
            <a:r>
              <a:rPr lang="es-ES" sz="2400" dirty="0">
                <a:solidFill>
                  <a:srgbClr val="3A81BA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un apuntador al valor de retorno.</a:t>
            </a:r>
            <a:endParaRPr sz="2400" dirty="0">
              <a:latin typeface="+mn-lt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Como </a:t>
            </a:r>
            <a:r>
              <a:rPr lang="es-ES" sz="2400" b="1" dirty="0" err="1">
                <a:latin typeface="+mn-lt"/>
                <a:ea typeface="Consolas"/>
                <a:cs typeface="Consolas"/>
                <a:sym typeface="Consolas"/>
              </a:rPr>
              <a:t>pthread_join</a:t>
            </a:r>
            <a:r>
              <a:rPr lang="es-ES" sz="2400" dirty="0">
                <a:latin typeface="+mn-lt"/>
              </a:rPr>
              <a:t> cambia (internamente) el valor de retorno, se debe </a:t>
            </a:r>
            <a:r>
              <a:rPr lang="es-ES" sz="2400" b="1" i="1" dirty="0">
                <a:latin typeface="+mn-lt"/>
              </a:rPr>
              <a:t>pasar un apuntador</a:t>
            </a:r>
            <a:r>
              <a:rPr lang="es-ES" sz="2400" dirty="0">
                <a:latin typeface="+mn-lt"/>
              </a:rPr>
              <a:t> a ese valor.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97"/>
          <p:cNvSpPr txBox="1">
            <a:spLocks noGrp="1"/>
          </p:cNvSpPr>
          <p:nvPr>
            <p:ph type="title"/>
          </p:nvPr>
        </p:nvSpPr>
        <p:spPr>
          <a:xfrm>
            <a:off x="250723" y="96038"/>
            <a:ext cx="896992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Esperar hasta que se complete el hilo</a:t>
            </a:r>
            <a:endParaRPr dirty="0">
              <a:latin typeface="+mj-lt"/>
            </a:endParaRPr>
          </a:p>
        </p:txBody>
      </p:sp>
      <p:sp>
        <p:nvSpPr>
          <p:cNvPr id="1674" name="Google Shape;1674;p97"/>
          <p:cNvSpPr txBox="1">
            <a:spLocks noGrp="1"/>
          </p:cNvSpPr>
          <p:nvPr>
            <p:ph type="body" idx="1"/>
          </p:nvPr>
        </p:nvSpPr>
        <p:spPr>
          <a:xfrm>
            <a:off x="250723" y="761625"/>
            <a:ext cx="11262227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Ejemplo - Esperando a que un hilo se complete</a:t>
            </a:r>
            <a:endParaRPr sz="2800" dirty="0">
              <a:latin typeface="+mn-lt"/>
            </a:endParaRPr>
          </a:p>
        </p:txBody>
      </p:sp>
      <p:sp>
        <p:nvSpPr>
          <p:cNvPr id="1675" name="Google Shape;1675;p97"/>
          <p:cNvSpPr txBox="1">
            <a:spLocks noGrp="1"/>
          </p:cNvSpPr>
          <p:nvPr>
            <p:ph type="body" idx="1"/>
          </p:nvPr>
        </p:nvSpPr>
        <p:spPr>
          <a:xfrm>
            <a:off x="1111050" y="1458000"/>
            <a:ext cx="5646900" cy="5202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#include &lt;pthread.h&gt;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__myarg_t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a;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b;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} myarg_t;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__myret_t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x;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y;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} myret_t;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*mythread(void *arg)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myarg_t *m = (myarg_t *) arg;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printf(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“%d %d\n”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, m-&gt;a, m-&gt;b);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myret_t *r = malloc(</a:t>
            </a:r>
            <a:r>
              <a:rPr lang="es-ES" sz="1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sizeof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(myret_t));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r-&gt;x = 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r-&gt;y = 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*) r;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6" name="Google Shape;1676;p97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97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97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9" name="Google Shape;1679;p97"/>
          <p:cNvGrpSpPr/>
          <p:nvPr/>
        </p:nvGrpSpPr>
        <p:grpSpPr>
          <a:xfrm>
            <a:off x="7321238" y="1658925"/>
            <a:ext cx="4078194" cy="4449350"/>
            <a:chOff x="8007038" y="1658925"/>
            <a:chExt cx="4078194" cy="4449350"/>
          </a:xfrm>
        </p:grpSpPr>
        <p:cxnSp>
          <p:nvCxnSpPr>
            <p:cNvPr id="1680" name="Google Shape;1680;p97"/>
            <p:cNvCxnSpPr/>
            <p:nvPr/>
          </p:nvCxnSpPr>
          <p:spPr>
            <a:xfrm>
              <a:off x="10674038" y="2153675"/>
              <a:ext cx="18900" cy="3954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81" name="Google Shape;1681;p97"/>
            <p:cNvSpPr/>
            <p:nvPr/>
          </p:nvSpPr>
          <p:spPr>
            <a:xfrm>
              <a:off x="8874350" y="23472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682" name="Google Shape;1682;p97"/>
            <p:cNvGrpSpPr/>
            <p:nvPr/>
          </p:nvGrpSpPr>
          <p:grpSpPr>
            <a:xfrm>
              <a:off x="8077868" y="2023733"/>
              <a:ext cx="612969" cy="600504"/>
              <a:chOff x="2019475" y="2346963"/>
              <a:chExt cx="590700" cy="628800"/>
            </a:xfrm>
          </p:grpSpPr>
          <p:sp>
            <p:nvSpPr>
              <p:cNvPr id="1683" name="Google Shape;1683;p97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97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685" name="Google Shape;1685;p97"/>
            <p:cNvGrpSpPr/>
            <p:nvPr/>
          </p:nvGrpSpPr>
          <p:grpSpPr>
            <a:xfrm>
              <a:off x="8077906" y="2734533"/>
              <a:ext cx="612900" cy="600600"/>
              <a:chOff x="6778856" y="5262408"/>
              <a:chExt cx="612900" cy="600600"/>
            </a:xfrm>
          </p:grpSpPr>
          <p:sp>
            <p:nvSpPr>
              <p:cNvPr id="1686" name="Google Shape;1686;p97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97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688" name="Google Shape;1688;p97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1689" name="Google Shape;1689;p97"/>
            <p:cNvCxnSpPr/>
            <p:nvPr/>
          </p:nvCxnSpPr>
          <p:spPr>
            <a:xfrm rot="10800000">
              <a:off x="8007038" y="26891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690" name="Google Shape;1690;p97"/>
            <p:cNvCxnSpPr/>
            <p:nvPr/>
          </p:nvCxnSpPr>
          <p:spPr>
            <a:xfrm flipH="1">
              <a:off x="8059450" y="5231500"/>
              <a:ext cx="2608500" cy="2700"/>
            </a:xfrm>
            <a:prstGeom prst="straightConnector1">
              <a:avLst/>
            </a:prstGeom>
            <a:noFill/>
            <a:ln w="19050" cap="flat" cmpd="sng">
              <a:solidFill>
                <a:srgbClr val="E46C0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691" name="Google Shape;1691;p97"/>
            <p:cNvGrpSpPr/>
            <p:nvPr/>
          </p:nvGrpSpPr>
          <p:grpSpPr>
            <a:xfrm>
              <a:off x="8157656" y="5331458"/>
              <a:ext cx="612969" cy="600504"/>
              <a:chOff x="2019475" y="2346963"/>
              <a:chExt cx="590700" cy="628800"/>
            </a:xfrm>
          </p:grpSpPr>
          <p:sp>
            <p:nvSpPr>
              <p:cNvPr id="1692" name="Google Shape;1692;p97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97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694" name="Google Shape;1694;p97"/>
            <p:cNvSpPr/>
            <p:nvPr/>
          </p:nvSpPr>
          <p:spPr>
            <a:xfrm>
              <a:off x="9972413" y="16589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695" name="Google Shape;1695;p97"/>
            <p:cNvGrpSpPr/>
            <p:nvPr/>
          </p:nvGrpSpPr>
          <p:grpSpPr>
            <a:xfrm>
              <a:off x="10667950" y="2695720"/>
              <a:ext cx="1417281" cy="2566677"/>
              <a:chOff x="3687200" y="3373100"/>
              <a:chExt cx="687300" cy="2159775"/>
            </a:xfrm>
          </p:grpSpPr>
          <p:cxnSp>
            <p:nvCxnSpPr>
              <p:cNvPr id="1696" name="Google Shape;1696;p97"/>
              <p:cNvCxnSpPr/>
              <p:nvPr/>
            </p:nvCxnSpPr>
            <p:spPr>
              <a:xfrm>
                <a:off x="3687200" y="3373100"/>
                <a:ext cx="687300" cy="57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97" name="Google Shape;1697;p97"/>
              <p:cNvCxnSpPr/>
              <p:nvPr/>
            </p:nvCxnSpPr>
            <p:spPr>
              <a:xfrm>
                <a:off x="4360375" y="3948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98" name="Google Shape;1698;p97"/>
              <p:cNvCxnSpPr/>
              <p:nvPr/>
            </p:nvCxnSpPr>
            <p:spPr>
              <a:xfrm rot="10800000" flipH="1">
                <a:off x="3687200" y="5084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699" name="Google Shape;1699;p97"/>
            <p:cNvSpPr/>
            <p:nvPr/>
          </p:nvSpPr>
          <p:spPr>
            <a:xfrm>
              <a:off x="9317750" y="27515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4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00" name="Google Shape;1700;p97"/>
            <p:cNvSpPr/>
            <p:nvPr/>
          </p:nvSpPr>
          <p:spPr>
            <a:xfrm>
              <a:off x="10489907" y="20428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01" name="Google Shape;1701;p97"/>
            <p:cNvSpPr/>
            <p:nvPr/>
          </p:nvSpPr>
          <p:spPr>
            <a:xfrm>
              <a:off x="11861695" y="33971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02" name="Google Shape;1702;p97"/>
            <p:cNvSpPr txBox="1"/>
            <p:nvPr/>
          </p:nvSpPr>
          <p:spPr>
            <a:xfrm>
              <a:off x="9917500" y="20144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  <p:sp>
          <p:nvSpPr>
            <p:cNvPr id="1703" name="Google Shape;1703;p97"/>
            <p:cNvSpPr txBox="1"/>
            <p:nvPr/>
          </p:nvSpPr>
          <p:spPr>
            <a:xfrm>
              <a:off x="11289300" y="33687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</a:t>
              </a:r>
              <a:endParaRPr sz="1200">
                <a:solidFill>
                  <a:srgbClr val="0000FF"/>
                </a:solidFill>
              </a:endParaRPr>
            </a:p>
          </p:txBody>
        </p:sp>
        <p:pic>
          <p:nvPicPr>
            <p:cNvPr id="1704" name="Google Shape;1704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165825" y="2860025"/>
              <a:ext cx="186825" cy="186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5" name="Google Shape;1705;p97"/>
            <p:cNvSpPr/>
            <p:nvPr/>
          </p:nvSpPr>
          <p:spPr>
            <a:xfrm>
              <a:off x="10444932" y="3221203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06" name="Google Shape;1706;p97"/>
            <p:cNvSpPr txBox="1"/>
            <p:nvPr/>
          </p:nvSpPr>
          <p:spPr>
            <a:xfrm>
              <a:off x="9825964" y="3107713"/>
              <a:ext cx="612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 </a:t>
              </a:r>
              <a:endParaRPr sz="1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(zzz)</a:t>
              </a:r>
              <a:endParaRPr sz="1200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707" name="Google Shape;1707;p97"/>
            <p:cNvSpPr/>
            <p:nvPr/>
          </p:nvSpPr>
          <p:spPr>
            <a:xfrm>
              <a:off x="10468632" y="5359816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08" name="Google Shape;1708;p97"/>
            <p:cNvSpPr txBox="1"/>
            <p:nvPr/>
          </p:nvSpPr>
          <p:spPr>
            <a:xfrm>
              <a:off x="9896225" y="5331450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98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98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98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98"/>
          <p:cNvSpPr txBox="1">
            <a:spLocks noGrp="1"/>
          </p:cNvSpPr>
          <p:nvPr>
            <p:ph type="title"/>
          </p:nvPr>
        </p:nvSpPr>
        <p:spPr>
          <a:xfrm>
            <a:off x="427703" y="96038"/>
            <a:ext cx="879294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Esperar hasta que se complete el hilo</a:t>
            </a:r>
            <a:endParaRPr dirty="0">
              <a:latin typeface="+mj-lt"/>
            </a:endParaRPr>
          </a:p>
        </p:txBody>
      </p:sp>
      <p:sp>
        <p:nvSpPr>
          <p:cNvPr id="1717" name="Google Shape;1717;p98"/>
          <p:cNvSpPr txBox="1">
            <a:spLocks noGrp="1"/>
          </p:cNvSpPr>
          <p:nvPr>
            <p:ph type="body" idx="1"/>
          </p:nvPr>
        </p:nvSpPr>
        <p:spPr>
          <a:xfrm>
            <a:off x="427703" y="761625"/>
            <a:ext cx="11085247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5"/>
                </a:solidFill>
                <a:latin typeface="+mn-lt"/>
              </a:rPr>
              <a:t>Ejemplo - Esperando a que un hilo se complete</a:t>
            </a:r>
            <a:endParaRPr sz="2800">
              <a:latin typeface="+mn-lt"/>
            </a:endParaRPr>
          </a:p>
        </p:txBody>
      </p:sp>
      <p:sp>
        <p:nvSpPr>
          <p:cNvPr id="1718" name="Google Shape;1718;p98"/>
          <p:cNvSpPr txBox="1">
            <a:spLocks noGrp="1"/>
          </p:cNvSpPr>
          <p:nvPr>
            <p:ph type="body" idx="1"/>
          </p:nvPr>
        </p:nvSpPr>
        <p:spPr>
          <a:xfrm>
            <a:off x="1057400" y="1737850"/>
            <a:ext cx="5304000" cy="397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[]) {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rc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p;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myret_t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*m;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myarg_t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args.a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args.b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12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(&amp;p, NULL, </a:t>
            </a:r>
            <a:r>
              <a:rPr lang="es-ES" sz="1200" dirty="0" err="1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2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, &amp;</a:t>
            </a:r>
            <a:r>
              <a:rPr lang="es-ES" sz="1200" dirty="0" err="1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s-ES" sz="1200" dirty="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 dirty="0"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pthread_join</a:t>
            </a:r>
            <a:r>
              <a:rPr lang="es-ES" sz="1200" dirty="0"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(p, (</a:t>
            </a:r>
            <a:r>
              <a:rPr lang="es-ES" sz="1200" dirty="0" err="1">
                <a:solidFill>
                  <a:srgbClr val="70AD47"/>
                </a:solidFill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200" dirty="0"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 **) &amp;m); </a:t>
            </a: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 thread has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been</a:t>
            </a:r>
            <a:endParaRPr sz="1200" dirty="0">
              <a:solidFill>
                <a:srgbClr val="5B9BD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//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waiting</a:t>
            </a: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inside</a:t>
            </a: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endParaRPr sz="1200" dirty="0">
              <a:solidFill>
                <a:srgbClr val="5B9BD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//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pthread_join</a:t>
            </a: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() </a:t>
            </a:r>
            <a:r>
              <a:rPr lang="es-ES" sz="1200" dirty="0" err="1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routine</a:t>
            </a:r>
            <a:r>
              <a:rPr lang="es-ES" sz="1200" dirty="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200" dirty="0">
              <a:solidFill>
                <a:srgbClr val="5B9BD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s-ES" sz="12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returned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%d %d\n”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, m-&gt;x, m-&gt;y);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200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719" name="Google Shape;1719;p98"/>
          <p:cNvGrpSpPr/>
          <p:nvPr/>
        </p:nvGrpSpPr>
        <p:grpSpPr>
          <a:xfrm>
            <a:off x="7168838" y="1582725"/>
            <a:ext cx="4078194" cy="4449350"/>
            <a:chOff x="8007038" y="1658925"/>
            <a:chExt cx="4078194" cy="4449350"/>
          </a:xfrm>
        </p:grpSpPr>
        <p:cxnSp>
          <p:nvCxnSpPr>
            <p:cNvPr id="1720" name="Google Shape;1720;p98"/>
            <p:cNvCxnSpPr/>
            <p:nvPr/>
          </p:nvCxnSpPr>
          <p:spPr>
            <a:xfrm>
              <a:off x="10674038" y="2153675"/>
              <a:ext cx="18900" cy="3954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21" name="Google Shape;1721;p98"/>
            <p:cNvSpPr/>
            <p:nvPr/>
          </p:nvSpPr>
          <p:spPr>
            <a:xfrm>
              <a:off x="8874350" y="23472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722" name="Google Shape;1722;p98"/>
            <p:cNvGrpSpPr/>
            <p:nvPr/>
          </p:nvGrpSpPr>
          <p:grpSpPr>
            <a:xfrm>
              <a:off x="8077868" y="2023733"/>
              <a:ext cx="612969" cy="600504"/>
              <a:chOff x="2019475" y="2346963"/>
              <a:chExt cx="590700" cy="628800"/>
            </a:xfrm>
          </p:grpSpPr>
          <p:sp>
            <p:nvSpPr>
              <p:cNvPr id="1723" name="Google Shape;1723;p98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98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725" name="Google Shape;1725;p98"/>
            <p:cNvGrpSpPr/>
            <p:nvPr/>
          </p:nvGrpSpPr>
          <p:grpSpPr>
            <a:xfrm>
              <a:off x="8077906" y="2734533"/>
              <a:ext cx="612900" cy="600600"/>
              <a:chOff x="6778856" y="5262408"/>
              <a:chExt cx="612900" cy="600600"/>
            </a:xfrm>
          </p:grpSpPr>
          <p:sp>
            <p:nvSpPr>
              <p:cNvPr id="1726" name="Google Shape;1726;p98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98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28" name="Google Shape;1728;p98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1729" name="Google Shape;1729;p98"/>
            <p:cNvCxnSpPr/>
            <p:nvPr/>
          </p:nvCxnSpPr>
          <p:spPr>
            <a:xfrm rot="10800000">
              <a:off x="8007038" y="26891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730" name="Google Shape;1730;p98"/>
            <p:cNvCxnSpPr/>
            <p:nvPr/>
          </p:nvCxnSpPr>
          <p:spPr>
            <a:xfrm flipH="1">
              <a:off x="8059450" y="5231500"/>
              <a:ext cx="2608500" cy="2700"/>
            </a:xfrm>
            <a:prstGeom prst="straightConnector1">
              <a:avLst/>
            </a:prstGeom>
            <a:noFill/>
            <a:ln w="19050" cap="flat" cmpd="sng">
              <a:solidFill>
                <a:srgbClr val="E46C0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731" name="Google Shape;1731;p98"/>
            <p:cNvGrpSpPr/>
            <p:nvPr/>
          </p:nvGrpSpPr>
          <p:grpSpPr>
            <a:xfrm>
              <a:off x="8157656" y="5331458"/>
              <a:ext cx="612969" cy="600504"/>
              <a:chOff x="2019475" y="2346963"/>
              <a:chExt cx="590700" cy="628800"/>
            </a:xfrm>
          </p:grpSpPr>
          <p:sp>
            <p:nvSpPr>
              <p:cNvPr id="1732" name="Google Shape;1732;p98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98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734" name="Google Shape;1734;p98"/>
            <p:cNvSpPr/>
            <p:nvPr/>
          </p:nvSpPr>
          <p:spPr>
            <a:xfrm>
              <a:off x="9972413" y="16589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735" name="Google Shape;1735;p98"/>
            <p:cNvGrpSpPr/>
            <p:nvPr/>
          </p:nvGrpSpPr>
          <p:grpSpPr>
            <a:xfrm>
              <a:off x="10667950" y="2695720"/>
              <a:ext cx="1417281" cy="2566677"/>
              <a:chOff x="3687200" y="3373100"/>
              <a:chExt cx="687300" cy="2159775"/>
            </a:xfrm>
          </p:grpSpPr>
          <p:cxnSp>
            <p:nvCxnSpPr>
              <p:cNvPr id="1736" name="Google Shape;1736;p98"/>
              <p:cNvCxnSpPr/>
              <p:nvPr/>
            </p:nvCxnSpPr>
            <p:spPr>
              <a:xfrm>
                <a:off x="3687200" y="3373100"/>
                <a:ext cx="687300" cy="57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7" name="Google Shape;1737;p98"/>
              <p:cNvCxnSpPr/>
              <p:nvPr/>
            </p:nvCxnSpPr>
            <p:spPr>
              <a:xfrm>
                <a:off x="4360375" y="3948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38" name="Google Shape;1738;p98"/>
              <p:cNvCxnSpPr/>
              <p:nvPr/>
            </p:nvCxnSpPr>
            <p:spPr>
              <a:xfrm rot="10800000" flipH="1">
                <a:off x="3687200" y="5084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739" name="Google Shape;1739;p98"/>
            <p:cNvSpPr/>
            <p:nvPr/>
          </p:nvSpPr>
          <p:spPr>
            <a:xfrm>
              <a:off x="9317750" y="27515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4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40" name="Google Shape;1740;p98"/>
            <p:cNvSpPr/>
            <p:nvPr/>
          </p:nvSpPr>
          <p:spPr>
            <a:xfrm>
              <a:off x="10489907" y="20428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1" name="Google Shape;1741;p98"/>
            <p:cNvSpPr/>
            <p:nvPr/>
          </p:nvSpPr>
          <p:spPr>
            <a:xfrm>
              <a:off x="11861695" y="33971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2" name="Google Shape;1742;p98"/>
            <p:cNvSpPr txBox="1"/>
            <p:nvPr/>
          </p:nvSpPr>
          <p:spPr>
            <a:xfrm>
              <a:off x="9917500" y="20144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  <p:sp>
          <p:nvSpPr>
            <p:cNvPr id="1743" name="Google Shape;1743;p98"/>
            <p:cNvSpPr txBox="1"/>
            <p:nvPr/>
          </p:nvSpPr>
          <p:spPr>
            <a:xfrm>
              <a:off x="11289300" y="33687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</a:t>
              </a:r>
              <a:endParaRPr sz="1200">
                <a:solidFill>
                  <a:srgbClr val="0000FF"/>
                </a:solidFill>
              </a:endParaRPr>
            </a:p>
          </p:txBody>
        </p:sp>
        <p:pic>
          <p:nvPicPr>
            <p:cNvPr id="1744" name="Google Shape;1744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165825" y="2860025"/>
              <a:ext cx="186825" cy="186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5" name="Google Shape;1745;p98"/>
            <p:cNvSpPr/>
            <p:nvPr/>
          </p:nvSpPr>
          <p:spPr>
            <a:xfrm>
              <a:off x="10444932" y="3221203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6" name="Google Shape;1746;p98"/>
            <p:cNvSpPr txBox="1"/>
            <p:nvPr/>
          </p:nvSpPr>
          <p:spPr>
            <a:xfrm>
              <a:off x="9825964" y="3107713"/>
              <a:ext cx="612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 </a:t>
              </a:r>
              <a:endParaRPr sz="1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(zzz)</a:t>
              </a:r>
              <a:endParaRPr sz="1200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747" name="Google Shape;1747;p98"/>
            <p:cNvSpPr/>
            <p:nvPr/>
          </p:nvSpPr>
          <p:spPr>
            <a:xfrm>
              <a:off x="10468632" y="5359816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8" name="Google Shape;1748;p98"/>
            <p:cNvSpPr txBox="1"/>
            <p:nvPr/>
          </p:nvSpPr>
          <p:spPr>
            <a:xfrm>
              <a:off x="9896225" y="5331450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99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99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99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p99"/>
          <p:cNvSpPr txBox="1">
            <a:spLocks noGrp="1"/>
          </p:cNvSpPr>
          <p:nvPr>
            <p:ph type="title"/>
          </p:nvPr>
        </p:nvSpPr>
        <p:spPr>
          <a:xfrm>
            <a:off x="560439" y="96038"/>
            <a:ext cx="866021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Esperar hasta que se complete el hilo</a:t>
            </a:r>
            <a:endParaRPr dirty="0">
              <a:latin typeface="+mj-lt"/>
            </a:endParaRPr>
          </a:p>
        </p:txBody>
      </p:sp>
      <p:sp>
        <p:nvSpPr>
          <p:cNvPr id="1757" name="Google Shape;1757;p99"/>
          <p:cNvSpPr txBox="1">
            <a:spLocks noGrp="1"/>
          </p:cNvSpPr>
          <p:nvPr>
            <p:ph type="body" idx="1"/>
          </p:nvPr>
        </p:nvSpPr>
        <p:spPr>
          <a:xfrm>
            <a:off x="560439" y="778950"/>
            <a:ext cx="10952511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Ejemplo - Esperando a que un hilo se complete</a:t>
            </a:r>
            <a:endParaRPr sz="2800" dirty="0">
              <a:latin typeface="+mn-lt"/>
            </a:endParaRPr>
          </a:p>
        </p:txBody>
      </p:sp>
      <p:sp>
        <p:nvSpPr>
          <p:cNvPr id="1758" name="Google Shape;1758;p99"/>
          <p:cNvSpPr txBox="1">
            <a:spLocks noGrp="1"/>
          </p:cNvSpPr>
          <p:nvPr>
            <p:ph type="body" idx="1"/>
          </p:nvPr>
        </p:nvSpPr>
        <p:spPr>
          <a:xfrm>
            <a:off x="1451900" y="2662650"/>
            <a:ext cx="4690500" cy="224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*mythread(</a:t>
            </a:r>
            <a:r>
              <a:rPr lang="es-ES" sz="14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*arg)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 myarg_t *m = (myarg_t *) arg;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 printf(</a:t>
            </a:r>
            <a:r>
              <a:rPr lang="es-E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“%d %d\n”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, m-&gt;a, m-&gt;b);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myret_t r; </a:t>
            </a:r>
            <a:r>
              <a:rPr lang="es-ES" sz="1400">
                <a:solidFill>
                  <a:srgbClr val="3A81BA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// ALLOCATED ON STACK: BAD!</a:t>
            </a:r>
            <a:endParaRPr sz="1400">
              <a:solidFill>
                <a:srgbClr val="3A81BA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 r.x = </a:t>
            </a:r>
            <a:r>
              <a:rPr lang="es-E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 r.y = </a:t>
            </a:r>
            <a:r>
              <a:rPr lang="es-E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*) &amp;r;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9" name="Google Shape;1759;p99"/>
          <p:cNvSpPr txBox="1">
            <a:spLocks noGrp="1"/>
          </p:cNvSpPr>
          <p:nvPr>
            <p:ph type="body" idx="1"/>
          </p:nvPr>
        </p:nvSpPr>
        <p:spPr>
          <a:xfrm>
            <a:off x="560439" y="1346972"/>
            <a:ext cx="8726174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Tenga cuidado con </a:t>
            </a:r>
            <a:r>
              <a:rPr lang="es-ES" sz="2400" b="1" i="1" dirty="0">
                <a:latin typeface="+mn-lt"/>
              </a:rPr>
              <a:t>cómo se devuelven</a:t>
            </a:r>
            <a:r>
              <a:rPr lang="es-ES" sz="2400" dirty="0">
                <a:latin typeface="+mn-lt"/>
              </a:rPr>
              <a:t> los valores desde un hilo.</a:t>
            </a:r>
            <a:endParaRPr sz="2400" dirty="0">
              <a:latin typeface="+mn-lt"/>
            </a:endParaRPr>
          </a:p>
        </p:txBody>
      </p:sp>
      <p:sp>
        <p:nvSpPr>
          <p:cNvPr id="1760" name="Google Shape;1760;p99"/>
          <p:cNvSpPr txBox="1">
            <a:spLocks noGrp="1"/>
          </p:cNvSpPr>
          <p:nvPr>
            <p:ph type="body" idx="1"/>
          </p:nvPr>
        </p:nvSpPr>
        <p:spPr>
          <a:xfrm>
            <a:off x="560439" y="5209288"/>
            <a:ext cx="6423161" cy="8853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>
                <a:latin typeface="+mn-lt"/>
              </a:rPr>
              <a:t>Cuando la variable </a:t>
            </a:r>
            <a:r>
              <a:rPr lang="es-ES" sz="2400" b="1">
                <a:latin typeface="+mn-lt"/>
                <a:ea typeface="Consolas"/>
                <a:cs typeface="Consolas"/>
                <a:sym typeface="Consolas"/>
              </a:rPr>
              <a:t>r</a:t>
            </a:r>
            <a:r>
              <a:rPr lang="es-ES" sz="2400">
                <a:latin typeface="+mn-lt"/>
              </a:rPr>
              <a:t> retorna, la memoria es </a:t>
            </a:r>
            <a:r>
              <a:rPr lang="es-ES" sz="2400" b="1">
                <a:solidFill>
                  <a:srgbClr val="FF0000"/>
                </a:solidFill>
                <a:latin typeface="+mn-lt"/>
              </a:rPr>
              <a:t>liberada</a:t>
            </a:r>
            <a:r>
              <a:rPr lang="es-ES" sz="2400">
                <a:latin typeface="+mn-lt"/>
              </a:rPr>
              <a:t> </a:t>
            </a:r>
            <a:r>
              <a:rPr lang="es-ES" sz="2400" b="1">
                <a:latin typeface="+mn-lt"/>
              </a:rPr>
              <a:t>automáticamente</a:t>
            </a:r>
            <a:r>
              <a:rPr lang="es-ES" sz="2400">
                <a:latin typeface="+mn-lt"/>
              </a:rPr>
              <a:t>.</a:t>
            </a:r>
            <a:endParaRPr sz="2400">
              <a:latin typeface="+mn-lt"/>
            </a:endParaRPr>
          </a:p>
        </p:txBody>
      </p:sp>
      <p:grpSp>
        <p:nvGrpSpPr>
          <p:cNvPr id="1761" name="Google Shape;1761;p99"/>
          <p:cNvGrpSpPr/>
          <p:nvPr/>
        </p:nvGrpSpPr>
        <p:grpSpPr>
          <a:xfrm>
            <a:off x="7321238" y="1658925"/>
            <a:ext cx="4078194" cy="4449350"/>
            <a:chOff x="8007038" y="1658925"/>
            <a:chExt cx="4078194" cy="4449350"/>
          </a:xfrm>
        </p:grpSpPr>
        <p:cxnSp>
          <p:nvCxnSpPr>
            <p:cNvPr id="1762" name="Google Shape;1762;p99"/>
            <p:cNvCxnSpPr/>
            <p:nvPr/>
          </p:nvCxnSpPr>
          <p:spPr>
            <a:xfrm>
              <a:off x="10674038" y="2153675"/>
              <a:ext cx="18900" cy="3954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63" name="Google Shape;1763;p99"/>
            <p:cNvSpPr/>
            <p:nvPr/>
          </p:nvSpPr>
          <p:spPr>
            <a:xfrm>
              <a:off x="8874350" y="23472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764" name="Google Shape;1764;p99"/>
            <p:cNvGrpSpPr/>
            <p:nvPr/>
          </p:nvGrpSpPr>
          <p:grpSpPr>
            <a:xfrm>
              <a:off x="8077868" y="2023733"/>
              <a:ext cx="612969" cy="600504"/>
              <a:chOff x="2019475" y="2346963"/>
              <a:chExt cx="590700" cy="628800"/>
            </a:xfrm>
          </p:grpSpPr>
          <p:sp>
            <p:nvSpPr>
              <p:cNvPr id="1765" name="Google Shape;1765;p99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99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767" name="Google Shape;1767;p99"/>
            <p:cNvGrpSpPr/>
            <p:nvPr/>
          </p:nvGrpSpPr>
          <p:grpSpPr>
            <a:xfrm>
              <a:off x="8077906" y="2734533"/>
              <a:ext cx="612900" cy="600600"/>
              <a:chOff x="6778856" y="5262408"/>
              <a:chExt cx="612900" cy="600600"/>
            </a:xfrm>
          </p:grpSpPr>
          <p:sp>
            <p:nvSpPr>
              <p:cNvPr id="1768" name="Google Shape;1768;p99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99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70" name="Google Shape;1770;p99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1771" name="Google Shape;1771;p99"/>
            <p:cNvCxnSpPr/>
            <p:nvPr/>
          </p:nvCxnSpPr>
          <p:spPr>
            <a:xfrm rot="10800000">
              <a:off x="8007038" y="26891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772" name="Google Shape;1772;p99"/>
            <p:cNvCxnSpPr/>
            <p:nvPr/>
          </p:nvCxnSpPr>
          <p:spPr>
            <a:xfrm flipH="1">
              <a:off x="8059450" y="5231500"/>
              <a:ext cx="2608500" cy="2700"/>
            </a:xfrm>
            <a:prstGeom prst="straightConnector1">
              <a:avLst/>
            </a:prstGeom>
            <a:noFill/>
            <a:ln w="19050" cap="flat" cmpd="sng">
              <a:solidFill>
                <a:srgbClr val="E46C0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773" name="Google Shape;1773;p99"/>
            <p:cNvGrpSpPr/>
            <p:nvPr/>
          </p:nvGrpSpPr>
          <p:grpSpPr>
            <a:xfrm>
              <a:off x="8157656" y="5331458"/>
              <a:ext cx="612969" cy="600504"/>
              <a:chOff x="2019475" y="2346963"/>
              <a:chExt cx="590700" cy="628800"/>
            </a:xfrm>
          </p:grpSpPr>
          <p:sp>
            <p:nvSpPr>
              <p:cNvPr id="1774" name="Google Shape;1774;p99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99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776" name="Google Shape;1776;p99"/>
            <p:cNvSpPr/>
            <p:nvPr/>
          </p:nvSpPr>
          <p:spPr>
            <a:xfrm>
              <a:off x="9972413" y="16589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777" name="Google Shape;1777;p99"/>
            <p:cNvGrpSpPr/>
            <p:nvPr/>
          </p:nvGrpSpPr>
          <p:grpSpPr>
            <a:xfrm>
              <a:off x="10667950" y="2695720"/>
              <a:ext cx="1417281" cy="2566677"/>
              <a:chOff x="3687200" y="3373100"/>
              <a:chExt cx="687300" cy="2159775"/>
            </a:xfrm>
          </p:grpSpPr>
          <p:cxnSp>
            <p:nvCxnSpPr>
              <p:cNvPr id="1778" name="Google Shape;1778;p99"/>
              <p:cNvCxnSpPr/>
              <p:nvPr/>
            </p:nvCxnSpPr>
            <p:spPr>
              <a:xfrm>
                <a:off x="3687200" y="3373100"/>
                <a:ext cx="687300" cy="57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9" name="Google Shape;1779;p99"/>
              <p:cNvCxnSpPr/>
              <p:nvPr/>
            </p:nvCxnSpPr>
            <p:spPr>
              <a:xfrm>
                <a:off x="4360375" y="3948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80" name="Google Shape;1780;p99"/>
              <p:cNvCxnSpPr/>
              <p:nvPr/>
            </p:nvCxnSpPr>
            <p:spPr>
              <a:xfrm rot="10800000" flipH="1">
                <a:off x="3687200" y="5084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781" name="Google Shape;1781;p99"/>
            <p:cNvSpPr/>
            <p:nvPr/>
          </p:nvSpPr>
          <p:spPr>
            <a:xfrm>
              <a:off x="9317750" y="27515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4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82" name="Google Shape;1782;p99"/>
            <p:cNvSpPr/>
            <p:nvPr/>
          </p:nvSpPr>
          <p:spPr>
            <a:xfrm>
              <a:off x="10489907" y="20428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83" name="Google Shape;1783;p99"/>
            <p:cNvSpPr/>
            <p:nvPr/>
          </p:nvSpPr>
          <p:spPr>
            <a:xfrm>
              <a:off x="11861695" y="33971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84" name="Google Shape;1784;p99"/>
            <p:cNvSpPr txBox="1"/>
            <p:nvPr/>
          </p:nvSpPr>
          <p:spPr>
            <a:xfrm>
              <a:off x="9917500" y="20144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  <p:sp>
          <p:nvSpPr>
            <p:cNvPr id="1785" name="Google Shape;1785;p99"/>
            <p:cNvSpPr txBox="1"/>
            <p:nvPr/>
          </p:nvSpPr>
          <p:spPr>
            <a:xfrm>
              <a:off x="11289300" y="33687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</a:t>
              </a:r>
              <a:endParaRPr sz="1200">
                <a:solidFill>
                  <a:srgbClr val="0000FF"/>
                </a:solidFill>
              </a:endParaRPr>
            </a:p>
          </p:txBody>
        </p:sp>
        <p:pic>
          <p:nvPicPr>
            <p:cNvPr id="1786" name="Google Shape;1786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165825" y="2860025"/>
              <a:ext cx="186825" cy="186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7" name="Google Shape;1787;p99"/>
            <p:cNvSpPr/>
            <p:nvPr/>
          </p:nvSpPr>
          <p:spPr>
            <a:xfrm>
              <a:off x="10444932" y="3221203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88" name="Google Shape;1788;p99"/>
            <p:cNvSpPr txBox="1"/>
            <p:nvPr/>
          </p:nvSpPr>
          <p:spPr>
            <a:xfrm>
              <a:off x="9825964" y="3107713"/>
              <a:ext cx="612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 </a:t>
              </a:r>
              <a:endParaRPr sz="1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(zzz)</a:t>
              </a:r>
              <a:endParaRPr sz="1200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789" name="Google Shape;1789;p99"/>
            <p:cNvSpPr/>
            <p:nvPr/>
          </p:nvSpPr>
          <p:spPr>
            <a:xfrm>
              <a:off x="10468632" y="5359816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90" name="Google Shape;1790;p99"/>
            <p:cNvSpPr txBox="1"/>
            <p:nvPr/>
          </p:nvSpPr>
          <p:spPr>
            <a:xfrm>
              <a:off x="9896225" y="5331450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100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100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100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100"/>
          <p:cNvSpPr txBox="1">
            <a:spLocks noGrp="1"/>
          </p:cNvSpPr>
          <p:nvPr>
            <p:ph type="title"/>
          </p:nvPr>
        </p:nvSpPr>
        <p:spPr>
          <a:xfrm>
            <a:off x="398206" y="96038"/>
            <a:ext cx="882244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Trabajando con hilos</a:t>
            </a:r>
            <a:endParaRPr dirty="0">
              <a:latin typeface="+mj-lt"/>
            </a:endParaRPr>
          </a:p>
        </p:txBody>
      </p:sp>
      <p:sp>
        <p:nvSpPr>
          <p:cNvPr id="1799" name="Google Shape;1799;p100"/>
          <p:cNvSpPr txBox="1">
            <a:spLocks noGrp="1"/>
          </p:cNvSpPr>
          <p:nvPr>
            <p:ph type="body" idx="1"/>
          </p:nvPr>
        </p:nvSpPr>
        <p:spPr>
          <a:xfrm>
            <a:off x="398206" y="778950"/>
            <a:ext cx="11114744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Ejemplo - Pasando un valor simple a un hilo</a:t>
            </a:r>
            <a:endParaRPr sz="2800" dirty="0">
              <a:latin typeface="+mn-lt"/>
            </a:endParaRPr>
          </a:p>
        </p:txBody>
      </p:sp>
      <p:sp>
        <p:nvSpPr>
          <p:cNvPr id="1800" name="Google Shape;1800;p100"/>
          <p:cNvSpPr txBox="1">
            <a:spLocks noGrp="1"/>
          </p:cNvSpPr>
          <p:nvPr>
            <p:ph type="body" idx="1"/>
          </p:nvPr>
        </p:nvSpPr>
        <p:spPr>
          <a:xfrm>
            <a:off x="611676" y="2014475"/>
            <a:ext cx="5353800" cy="3909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*mythread(</a:t>
            </a:r>
            <a:r>
              <a:rPr lang="es-ES" sz="14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*arg)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m = (</a:t>
            </a:r>
            <a:r>
              <a:rPr lang="es-ES" sz="14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) arg;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 printf(</a:t>
            </a:r>
            <a:r>
              <a:rPr lang="es-E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“%d\n”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, m);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*) (arg + </a:t>
            </a:r>
            <a:r>
              <a:rPr lang="es-E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int main(</a:t>
            </a:r>
            <a:r>
              <a:rPr lang="es-ES" sz="14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argc, </a:t>
            </a:r>
            <a:r>
              <a:rPr lang="es-ES" sz="14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*argv[])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 pthread_t p;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rc, m;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 pthread_create(&amp;p, </a:t>
            </a:r>
            <a:r>
              <a:rPr lang="es-E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, mythread, (</a:t>
            </a:r>
            <a:r>
              <a:rPr lang="es-ES" sz="14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*) </a:t>
            </a:r>
            <a:r>
              <a:rPr lang="es-E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 pthread_join(p, (</a:t>
            </a:r>
            <a:r>
              <a:rPr lang="es-ES" sz="14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**) &amp;m);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 printf(</a:t>
            </a:r>
            <a:r>
              <a:rPr lang="es-E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“returned %d\n”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, m);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>
                <a:solidFill>
                  <a:srgbClr val="ED7D3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1" name="Google Shape;1801;p100"/>
          <p:cNvSpPr txBox="1">
            <a:spLocks noGrp="1"/>
          </p:cNvSpPr>
          <p:nvPr>
            <p:ph type="body" idx="1"/>
          </p:nvPr>
        </p:nvSpPr>
        <p:spPr>
          <a:xfrm>
            <a:off x="398206" y="1437388"/>
            <a:ext cx="6585394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Simplemente pasando un único valor.</a:t>
            </a:r>
            <a:endParaRPr sz="2400" dirty="0">
              <a:latin typeface="+mn-lt"/>
            </a:endParaRPr>
          </a:p>
        </p:txBody>
      </p:sp>
      <p:grpSp>
        <p:nvGrpSpPr>
          <p:cNvPr id="1802" name="Google Shape;1802;p100"/>
          <p:cNvGrpSpPr/>
          <p:nvPr/>
        </p:nvGrpSpPr>
        <p:grpSpPr>
          <a:xfrm>
            <a:off x="7321238" y="1658925"/>
            <a:ext cx="4078194" cy="4449350"/>
            <a:chOff x="8007038" y="1658925"/>
            <a:chExt cx="4078194" cy="4449350"/>
          </a:xfrm>
        </p:grpSpPr>
        <p:cxnSp>
          <p:nvCxnSpPr>
            <p:cNvPr id="1803" name="Google Shape;1803;p100"/>
            <p:cNvCxnSpPr/>
            <p:nvPr/>
          </p:nvCxnSpPr>
          <p:spPr>
            <a:xfrm>
              <a:off x="10674038" y="2153675"/>
              <a:ext cx="18900" cy="3954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04" name="Google Shape;1804;p100"/>
            <p:cNvSpPr/>
            <p:nvPr/>
          </p:nvSpPr>
          <p:spPr>
            <a:xfrm>
              <a:off x="8874350" y="23472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805" name="Google Shape;1805;p100"/>
            <p:cNvGrpSpPr/>
            <p:nvPr/>
          </p:nvGrpSpPr>
          <p:grpSpPr>
            <a:xfrm>
              <a:off x="8077868" y="2023733"/>
              <a:ext cx="612969" cy="600504"/>
              <a:chOff x="2019475" y="2346963"/>
              <a:chExt cx="590700" cy="628800"/>
            </a:xfrm>
          </p:grpSpPr>
          <p:sp>
            <p:nvSpPr>
              <p:cNvPr id="1806" name="Google Shape;1806;p100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100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808" name="Google Shape;1808;p100"/>
            <p:cNvGrpSpPr/>
            <p:nvPr/>
          </p:nvGrpSpPr>
          <p:grpSpPr>
            <a:xfrm>
              <a:off x="8077906" y="2734533"/>
              <a:ext cx="612900" cy="600600"/>
              <a:chOff x="6778856" y="5262408"/>
              <a:chExt cx="612900" cy="600600"/>
            </a:xfrm>
          </p:grpSpPr>
          <p:sp>
            <p:nvSpPr>
              <p:cNvPr id="1809" name="Google Shape;1809;p100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100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811" name="Google Shape;1811;p100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1812" name="Google Shape;1812;p100"/>
            <p:cNvCxnSpPr/>
            <p:nvPr/>
          </p:nvCxnSpPr>
          <p:spPr>
            <a:xfrm rot="10800000">
              <a:off x="8007038" y="26891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813" name="Google Shape;1813;p100"/>
            <p:cNvCxnSpPr/>
            <p:nvPr/>
          </p:nvCxnSpPr>
          <p:spPr>
            <a:xfrm flipH="1">
              <a:off x="8059450" y="5231500"/>
              <a:ext cx="2608500" cy="2700"/>
            </a:xfrm>
            <a:prstGeom prst="straightConnector1">
              <a:avLst/>
            </a:prstGeom>
            <a:noFill/>
            <a:ln w="19050" cap="flat" cmpd="sng">
              <a:solidFill>
                <a:srgbClr val="E46C0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814" name="Google Shape;1814;p100"/>
            <p:cNvGrpSpPr/>
            <p:nvPr/>
          </p:nvGrpSpPr>
          <p:grpSpPr>
            <a:xfrm>
              <a:off x="8157656" y="5331458"/>
              <a:ext cx="612969" cy="600504"/>
              <a:chOff x="2019475" y="2346963"/>
              <a:chExt cx="590700" cy="628800"/>
            </a:xfrm>
          </p:grpSpPr>
          <p:sp>
            <p:nvSpPr>
              <p:cNvPr id="1815" name="Google Shape;1815;p100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100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817" name="Google Shape;1817;p100"/>
            <p:cNvSpPr/>
            <p:nvPr/>
          </p:nvSpPr>
          <p:spPr>
            <a:xfrm>
              <a:off x="9972413" y="16589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818" name="Google Shape;1818;p100"/>
            <p:cNvGrpSpPr/>
            <p:nvPr/>
          </p:nvGrpSpPr>
          <p:grpSpPr>
            <a:xfrm>
              <a:off x="10667950" y="2695720"/>
              <a:ext cx="1417281" cy="2566677"/>
              <a:chOff x="3687200" y="3373100"/>
              <a:chExt cx="687300" cy="2159775"/>
            </a:xfrm>
          </p:grpSpPr>
          <p:cxnSp>
            <p:nvCxnSpPr>
              <p:cNvPr id="1819" name="Google Shape;1819;p100"/>
              <p:cNvCxnSpPr/>
              <p:nvPr/>
            </p:nvCxnSpPr>
            <p:spPr>
              <a:xfrm>
                <a:off x="3687200" y="3373100"/>
                <a:ext cx="687300" cy="57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0" name="Google Shape;1820;p100"/>
              <p:cNvCxnSpPr/>
              <p:nvPr/>
            </p:nvCxnSpPr>
            <p:spPr>
              <a:xfrm>
                <a:off x="4360375" y="3948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21" name="Google Shape;1821;p100"/>
              <p:cNvCxnSpPr/>
              <p:nvPr/>
            </p:nvCxnSpPr>
            <p:spPr>
              <a:xfrm rot="10800000" flipH="1">
                <a:off x="3687200" y="5084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1822" name="Google Shape;1822;p100"/>
            <p:cNvSpPr/>
            <p:nvPr/>
          </p:nvSpPr>
          <p:spPr>
            <a:xfrm>
              <a:off x="9317750" y="27515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4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823" name="Google Shape;1823;p100"/>
            <p:cNvSpPr/>
            <p:nvPr/>
          </p:nvSpPr>
          <p:spPr>
            <a:xfrm>
              <a:off x="10489907" y="20428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24" name="Google Shape;1824;p100"/>
            <p:cNvSpPr/>
            <p:nvPr/>
          </p:nvSpPr>
          <p:spPr>
            <a:xfrm>
              <a:off x="11861695" y="33971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25" name="Google Shape;1825;p100"/>
            <p:cNvSpPr txBox="1"/>
            <p:nvPr/>
          </p:nvSpPr>
          <p:spPr>
            <a:xfrm>
              <a:off x="9917500" y="20144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  <p:sp>
          <p:nvSpPr>
            <p:cNvPr id="1826" name="Google Shape;1826;p100"/>
            <p:cNvSpPr txBox="1"/>
            <p:nvPr/>
          </p:nvSpPr>
          <p:spPr>
            <a:xfrm>
              <a:off x="11289300" y="33687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</a:t>
              </a:r>
              <a:endParaRPr sz="1200">
                <a:solidFill>
                  <a:srgbClr val="0000FF"/>
                </a:solidFill>
              </a:endParaRPr>
            </a:p>
          </p:txBody>
        </p:sp>
        <p:pic>
          <p:nvPicPr>
            <p:cNvPr id="1827" name="Google Shape;1827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165825" y="2860025"/>
              <a:ext cx="186825" cy="186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8" name="Google Shape;1828;p100"/>
            <p:cNvSpPr/>
            <p:nvPr/>
          </p:nvSpPr>
          <p:spPr>
            <a:xfrm>
              <a:off x="10444932" y="3221203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29" name="Google Shape;1829;p100"/>
            <p:cNvSpPr txBox="1"/>
            <p:nvPr/>
          </p:nvSpPr>
          <p:spPr>
            <a:xfrm>
              <a:off x="9825964" y="3107713"/>
              <a:ext cx="612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 </a:t>
              </a:r>
              <a:endParaRPr sz="1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(zzz)</a:t>
              </a:r>
              <a:endParaRPr sz="1200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830" name="Google Shape;1830;p100"/>
            <p:cNvSpPr/>
            <p:nvPr/>
          </p:nvSpPr>
          <p:spPr>
            <a:xfrm>
              <a:off x="10468632" y="5359816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31" name="Google Shape;1831;p100"/>
            <p:cNvSpPr txBox="1"/>
            <p:nvPr/>
          </p:nvSpPr>
          <p:spPr>
            <a:xfrm>
              <a:off x="9896225" y="5331450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01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101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101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101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>
                <a:latin typeface="+mj-lt"/>
              </a:rPr>
              <a:t>Locks</a:t>
            </a:r>
            <a:endParaRPr dirty="0">
              <a:latin typeface="+mj-lt"/>
            </a:endParaRPr>
          </a:p>
        </p:txBody>
      </p:sp>
      <p:sp>
        <p:nvSpPr>
          <p:cNvPr id="1840" name="Google Shape;1840;p101"/>
          <p:cNvSpPr txBox="1">
            <a:spLocks noGrp="1"/>
          </p:cNvSpPr>
          <p:nvPr>
            <p:ph type="body" idx="1"/>
          </p:nvPr>
        </p:nvSpPr>
        <p:spPr>
          <a:xfrm>
            <a:off x="1231625" y="5474500"/>
            <a:ext cx="10397700" cy="121772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Si 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no hay hilos bloqueando al </a:t>
            </a:r>
            <a:r>
              <a:rPr lang="es-ES" sz="2400" b="1" dirty="0" err="1">
                <a:solidFill>
                  <a:srgbClr val="70AD47"/>
                </a:solidFill>
                <a:latin typeface="+mn-lt"/>
              </a:rPr>
              <a:t>lock</a:t>
            </a:r>
            <a:r>
              <a:rPr lang="es-ES" sz="2400" dirty="0">
                <a:latin typeface="+mn-lt"/>
              </a:rPr>
              <a:t> → 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acceda a la región crítica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Si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hay un hilo bloqueando el </a:t>
            </a:r>
            <a:r>
              <a:rPr lang="es-ES" sz="2400" b="1" dirty="0" err="1">
                <a:solidFill>
                  <a:srgbClr val="FF0000"/>
                </a:solidFill>
                <a:latin typeface="+mn-lt"/>
              </a:rPr>
              <a:t>lock</a:t>
            </a:r>
            <a:r>
              <a:rPr lang="es-ES" sz="2400" dirty="0">
                <a:latin typeface="+mn-lt"/>
              </a:rPr>
              <a:t> → el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hilo no retorna del llamado</a:t>
            </a:r>
            <a:r>
              <a:rPr lang="es-ES" sz="2400" dirty="0">
                <a:latin typeface="+mn-lt"/>
              </a:rPr>
              <a:t> hasta que pueda bloquear (adquirir) el </a:t>
            </a:r>
            <a:r>
              <a:rPr lang="es-ES" sz="2400" dirty="0" err="1">
                <a:latin typeface="+mn-lt"/>
              </a:rPr>
              <a:t>lock</a:t>
            </a:r>
            <a:endParaRPr sz="2400" dirty="0">
              <a:latin typeface="+mn-lt"/>
            </a:endParaRPr>
          </a:p>
        </p:txBody>
      </p:sp>
      <p:sp>
        <p:nvSpPr>
          <p:cNvPr id="1841" name="Google Shape;1841;p101"/>
          <p:cNvSpPr txBox="1">
            <a:spLocks noGrp="1"/>
          </p:cNvSpPr>
          <p:nvPr>
            <p:ph type="body" idx="1"/>
          </p:nvPr>
        </p:nvSpPr>
        <p:spPr>
          <a:xfrm>
            <a:off x="516194" y="860300"/>
            <a:ext cx="11050281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¿Para qué sirven?</a:t>
            </a:r>
            <a:endParaRPr sz="2800" dirty="0">
              <a:latin typeface="+mn-lt"/>
            </a:endParaRPr>
          </a:p>
        </p:txBody>
      </p:sp>
      <p:sp>
        <p:nvSpPr>
          <p:cNvPr id="1842" name="Google Shape;1842;p101"/>
          <p:cNvSpPr txBox="1">
            <a:spLocks noGrp="1"/>
          </p:cNvSpPr>
          <p:nvPr>
            <p:ph type="body" idx="1"/>
          </p:nvPr>
        </p:nvSpPr>
        <p:spPr>
          <a:xfrm>
            <a:off x="1740725" y="2361250"/>
            <a:ext cx="9785400" cy="769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 pthread_mutex_lock(pthread_mutex_t *mutex);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 pthread_mutex_unlock(pthread_mutex_t *mutex);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43" name="Google Shape;1843;p101"/>
          <p:cNvSpPr txBox="1">
            <a:spLocks noGrp="1"/>
          </p:cNvSpPr>
          <p:nvPr>
            <p:ph type="body" idx="1"/>
          </p:nvPr>
        </p:nvSpPr>
        <p:spPr>
          <a:xfrm>
            <a:off x="625525" y="1404650"/>
            <a:ext cx="104166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Proporciona </a:t>
            </a:r>
            <a:r>
              <a:rPr lang="es-ES" sz="2400" b="1" dirty="0">
                <a:solidFill>
                  <a:srgbClr val="E06666"/>
                </a:solidFill>
                <a:latin typeface="+mn-lt"/>
              </a:rPr>
              <a:t>exclusión mutua</a:t>
            </a:r>
            <a:r>
              <a:rPr lang="es-ES" sz="2400" dirty="0">
                <a:latin typeface="+mn-lt"/>
              </a:rPr>
              <a:t> a una </a:t>
            </a:r>
            <a:r>
              <a:rPr lang="es-ES" sz="2400" b="1" dirty="0">
                <a:latin typeface="+mn-lt"/>
              </a:rPr>
              <a:t>región crítica</a:t>
            </a:r>
            <a:endParaRPr sz="2400" b="1" dirty="0">
              <a:latin typeface="+mn-lt"/>
            </a:endParaRPr>
          </a:p>
        </p:txBody>
      </p:sp>
      <p:sp>
        <p:nvSpPr>
          <p:cNvPr id="1844" name="Google Shape;1844;p101"/>
          <p:cNvSpPr txBox="1">
            <a:spLocks noGrp="1"/>
          </p:cNvSpPr>
          <p:nvPr>
            <p:ph type="body" idx="1"/>
          </p:nvPr>
        </p:nvSpPr>
        <p:spPr>
          <a:xfrm>
            <a:off x="1165825" y="1850588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Interfaz</a:t>
            </a:r>
            <a:endParaRPr sz="2400" dirty="0">
              <a:latin typeface="+mn-lt"/>
            </a:endParaRPr>
          </a:p>
        </p:txBody>
      </p:sp>
      <p:sp>
        <p:nvSpPr>
          <p:cNvPr id="1845" name="Google Shape;1845;p101"/>
          <p:cNvSpPr txBox="1">
            <a:spLocks noGrp="1"/>
          </p:cNvSpPr>
          <p:nvPr>
            <p:ph type="body" idx="1"/>
          </p:nvPr>
        </p:nvSpPr>
        <p:spPr>
          <a:xfrm>
            <a:off x="1165825" y="3216588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Uso </a:t>
            </a:r>
            <a:r>
              <a:rPr lang="es-ES" sz="2400" dirty="0">
                <a:latin typeface="+mn-lt"/>
              </a:rPr>
              <a:t>(sin inicialización , ni chequeo de errores)</a:t>
            </a:r>
            <a:endParaRPr sz="2400" dirty="0">
              <a:latin typeface="+mn-lt"/>
            </a:endParaRPr>
          </a:p>
        </p:txBody>
      </p:sp>
      <p:sp>
        <p:nvSpPr>
          <p:cNvPr id="1846" name="Google Shape;1846;p101"/>
          <p:cNvSpPr txBox="1">
            <a:spLocks noGrp="1"/>
          </p:cNvSpPr>
          <p:nvPr>
            <p:ph type="body" idx="1"/>
          </p:nvPr>
        </p:nvSpPr>
        <p:spPr>
          <a:xfrm>
            <a:off x="1740725" y="3723150"/>
            <a:ext cx="9785400" cy="1508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pthread_mutex_t lock;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pthread_mutex_lock(&amp;lock);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x = x + </a:t>
            </a:r>
            <a:r>
              <a:rPr lang="es-E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ES" sz="2000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// or whatever your critical section is</a:t>
            </a:r>
            <a:endParaRPr sz="2000">
              <a:solidFill>
                <a:srgbClr val="5B9BD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pthread_mutex_unlock(&amp;lock);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102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102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102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102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>
                <a:latin typeface="+mj-lt"/>
              </a:rPr>
              <a:t>Locks</a:t>
            </a:r>
            <a:endParaRPr dirty="0">
              <a:latin typeface="+mj-lt"/>
            </a:endParaRPr>
          </a:p>
        </p:txBody>
      </p:sp>
      <p:sp>
        <p:nvSpPr>
          <p:cNvPr id="1855" name="Google Shape;1855;p102"/>
          <p:cNvSpPr txBox="1">
            <a:spLocks noGrp="1"/>
          </p:cNvSpPr>
          <p:nvPr>
            <p:ph type="body" idx="1"/>
          </p:nvPr>
        </p:nvSpPr>
        <p:spPr>
          <a:xfrm>
            <a:off x="970175" y="860300"/>
            <a:ext cx="10596300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Inicialización</a:t>
            </a:r>
            <a:endParaRPr sz="2800" dirty="0">
              <a:latin typeface="+mn-lt"/>
            </a:endParaRPr>
          </a:p>
        </p:txBody>
      </p:sp>
      <p:sp>
        <p:nvSpPr>
          <p:cNvPr id="1856" name="Google Shape;1856;p102"/>
          <p:cNvSpPr txBox="1">
            <a:spLocks noGrp="1"/>
          </p:cNvSpPr>
          <p:nvPr>
            <p:ph type="body" idx="1"/>
          </p:nvPr>
        </p:nvSpPr>
        <p:spPr>
          <a:xfrm>
            <a:off x="1740725" y="2742250"/>
            <a:ext cx="9785400" cy="400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pthread_mutex_t </a:t>
            </a:r>
            <a:r>
              <a:rPr lang="es-ES" sz="2000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200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PTHREAD_MUTEX_INITIALIZER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57" name="Google Shape;1857;p102"/>
          <p:cNvSpPr txBox="1">
            <a:spLocks noGrp="1"/>
          </p:cNvSpPr>
          <p:nvPr>
            <p:ph type="body" idx="1"/>
          </p:nvPr>
        </p:nvSpPr>
        <p:spPr>
          <a:xfrm>
            <a:off x="1165825" y="1404650"/>
            <a:ext cx="98763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Todos los </a:t>
            </a:r>
            <a:r>
              <a:rPr lang="es-ES" sz="2400" b="1" dirty="0" err="1">
                <a:latin typeface="+mn-lt"/>
              </a:rPr>
              <a:t>locks</a:t>
            </a:r>
            <a:r>
              <a:rPr lang="es-ES" sz="2400" dirty="0">
                <a:latin typeface="+mn-lt"/>
              </a:rPr>
              <a:t> debe ser 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adecuadamente inicializados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</p:txBody>
      </p:sp>
      <p:sp>
        <p:nvSpPr>
          <p:cNvPr id="1858" name="Google Shape;1858;p102"/>
          <p:cNvSpPr txBox="1">
            <a:spLocks noGrp="1"/>
          </p:cNvSpPr>
          <p:nvPr>
            <p:ph type="body" idx="1"/>
          </p:nvPr>
        </p:nvSpPr>
        <p:spPr>
          <a:xfrm>
            <a:off x="1165825" y="2155388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Una manera</a:t>
            </a:r>
            <a:r>
              <a:rPr lang="es-ES" sz="2400" dirty="0">
                <a:solidFill>
                  <a:srgbClr val="E06666"/>
                </a:solidFill>
                <a:latin typeface="+mn-lt"/>
              </a:rPr>
              <a:t>:</a:t>
            </a:r>
            <a:r>
              <a:rPr lang="es-ES" sz="2400" b="1" dirty="0">
                <a:solidFill>
                  <a:srgbClr val="E06666"/>
                </a:solidFill>
                <a:latin typeface="+mn-lt"/>
              </a:rPr>
              <a:t> </a:t>
            </a:r>
            <a:r>
              <a:rPr lang="es-ES" sz="2400" dirty="0">
                <a:latin typeface="+mn-lt"/>
              </a:rPr>
              <a:t>Usando </a:t>
            </a:r>
            <a:r>
              <a:rPr lang="es-ES" sz="2400" b="1" dirty="0">
                <a:solidFill>
                  <a:srgbClr val="3A81BA"/>
                </a:solidFill>
                <a:latin typeface="+mn-lt"/>
                <a:ea typeface="Consolas"/>
                <a:cs typeface="Consolas"/>
                <a:sym typeface="Consolas"/>
              </a:rPr>
              <a:t>PTHREAD_MUTEX_INITIALIZER</a:t>
            </a:r>
            <a:endParaRPr sz="2400" b="1" dirty="0">
              <a:solidFill>
                <a:srgbClr val="3A81BA"/>
              </a:solidFill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859" name="Google Shape;1859;p102"/>
          <p:cNvSpPr txBox="1">
            <a:spLocks noGrp="1"/>
          </p:cNvSpPr>
          <p:nvPr>
            <p:ph type="body" idx="1"/>
          </p:nvPr>
        </p:nvSpPr>
        <p:spPr>
          <a:xfrm>
            <a:off x="1165825" y="3561013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Forma dinámica: </a:t>
            </a:r>
            <a:r>
              <a:rPr lang="es-ES" sz="2400" dirty="0">
                <a:latin typeface="+mn-lt"/>
              </a:rPr>
              <a:t>usando la función </a:t>
            </a:r>
            <a:r>
              <a:rPr lang="es-ES" sz="2400" b="1" dirty="0" err="1">
                <a:latin typeface="+mn-lt"/>
                <a:ea typeface="Consolas"/>
                <a:cs typeface="Consolas"/>
                <a:sym typeface="Consolas"/>
              </a:rPr>
              <a:t>pthread_mutex_init</a:t>
            </a:r>
            <a:r>
              <a:rPr lang="es-ES" sz="2400" b="1" dirty="0">
                <a:latin typeface="+mn-lt"/>
                <a:ea typeface="Consolas"/>
                <a:cs typeface="Consolas"/>
                <a:sym typeface="Consolas"/>
              </a:rPr>
              <a:t>()</a:t>
            </a:r>
            <a:endParaRPr sz="2400" b="1" dirty="0"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860" name="Google Shape;1860;p102"/>
          <p:cNvSpPr txBox="1">
            <a:spLocks noGrp="1"/>
          </p:cNvSpPr>
          <p:nvPr>
            <p:ph type="body" idx="1"/>
          </p:nvPr>
        </p:nvSpPr>
        <p:spPr>
          <a:xfrm>
            <a:off x="1740725" y="4175800"/>
            <a:ext cx="9785400" cy="7695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int rc = pthread_mutex_init(&amp;</a:t>
            </a:r>
            <a:r>
              <a:rPr lang="es-ES" sz="2000">
                <a:solidFill>
                  <a:srgbClr val="E06666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, NULL);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assert(rc == </a:t>
            </a:r>
            <a:r>
              <a:rPr lang="es-E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); </a:t>
            </a:r>
            <a:r>
              <a:rPr lang="es-ES" sz="200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// always check success!</a:t>
            </a:r>
            <a:endParaRPr sz="2000">
              <a:solidFill>
                <a:srgbClr val="3A81B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103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6" name="Google Shape;1866;p103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103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10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Locks</a:t>
            </a:r>
            <a:endParaRPr>
              <a:latin typeface="+mj-lt"/>
            </a:endParaRPr>
          </a:p>
        </p:txBody>
      </p:sp>
      <p:sp>
        <p:nvSpPr>
          <p:cNvPr id="1869" name="Google Shape;1869;p103"/>
          <p:cNvSpPr txBox="1">
            <a:spLocks noGrp="1"/>
          </p:cNvSpPr>
          <p:nvPr>
            <p:ph type="body" idx="1"/>
          </p:nvPr>
        </p:nvSpPr>
        <p:spPr>
          <a:xfrm>
            <a:off x="970175" y="860300"/>
            <a:ext cx="10596300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Verificación de errores</a:t>
            </a:r>
            <a:endParaRPr sz="2800" dirty="0">
              <a:latin typeface="+mn-lt"/>
            </a:endParaRPr>
          </a:p>
        </p:txBody>
      </p:sp>
      <p:sp>
        <p:nvSpPr>
          <p:cNvPr id="1870" name="Google Shape;1870;p103"/>
          <p:cNvSpPr txBox="1">
            <a:spLocks noGrp="1"/>
          </p:cNvSpPr>
          <p:nvPr>
            <p:ph type="body" idx="1"/>
          </p:nvPr>
        </p:nvSpPr>
        <p:spPr>
          <a:xfrm>
            <a:off x="1723075" y="2855950"/>
            <a:ext cx="9607200" cy="2247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// Use this to keep your code clean but check for failures</a:t>
            </a:r>
            <a:endParaRPr sz="2000">
              <a:solidFill>
                <a:srgbClr val="3A81B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// Only use if exiting program is OK upon failure</a:t>
            </a:r>
            <a:endParaRPr sz="2000">
              <a:solidFill>
                <a:srgbClr val="3A81B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 Pthread_mutex_lock(pthread_mutex_t *mutex) 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20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 rc = pthread_mutex_lock(mutex);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  assert(rc == </a:t>
            </a:r>
            <a:r>
              <a:rPr lang="es-E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1" name="Google Shape;1871;p103"/>
          <p:cNvSpPr txBox="1">
            <a:spLocks noGrp="1"/>
          </p:cNvSpPr>
          <p:nvPr>
            <p:ph type="body" idx="1"/>
          </p:nvPr>
        </p:nvSpPr>
        <p:spPr>
          <a:xfrm>
            <a:off x="1038350" y="1383500"/>
            <a:ext cx="98763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Chequeo de errores cuando se llame </a:t>
            </a:r>
            <a:r>
              <a:rPr lang="es-ES" sz="2400" b="1" dirty="0" err="1">
                <a:latin typeface="+mn-lt"/>
                <a:ea typeface="Consolas"/>
                <a:cs typeface="Consolas"/>
                <a:sym typeface="Consolas"/>
              </a:rPr>
              <a:t>lock</a:t>
            </a:r>
            <a:r>
              <a:rPr lang="es-ES" sz="2400" dirty="0">
                <a:latin typeface="+mn-lt"/>
              </a:rPr>
              <a:t> y </a:t>
            </a:r>
            <a:r>
              <a:rPr lang="es-ES" sz="2400" b="1" dirty="0" err="1">
                <a:latin typeface="+mn-lt"/>
                <a:ea typeface="Consolas"/>
                <a:cs typeface="Consolas"/>
                <a:sym typeface="Consolas"/>
              </a:rPr>
              <a:t>unlock</a:t>
            </a:r>
            <a:endParaRPr sz="2400" b="1" dirty="0"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872" name="Google Shape;1872;p103"/>
          <p:cNvSpPr txBox="1">
            <a:spLocks noGrp="1"/>
          </p:cNvSpPr>
          <p:nvPr>
            <p:ph type="body" idx="1"/>
          </p:nvPr>
        </p:nvSpPr>
        <p:spPr>
          <a:xfrm>
            <a:off x="1165825" y="2119713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Ejemplo usando una función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 </a:t>
            </a:r>
            <a:r>
              <a:rPr lang="es-ES" sz="2400" b="1" i="1" dirty="0" err="1">
                <a:solidFill>
                  <a:srgbClr val="70AD47"/>
                </a:solidFill>
                <a:latin typeface="+mn-lt"/>
              </a:rPr>
              <a:t>wrapper</a:t>
            </a:r>
            <a:endParaRPr sz="2400" b="1" i="1" dirty="0">
              <a:solidFill>
                <a:srgbClr val="70AD47"/>
              </a:solidFill>
              <a:latin typeface="+mn-lt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104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104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104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10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>
                <a:latin typeface="+mj-lt"/>
              </a:rPr>
              <a:t>Locks</a:t>
            </a:r>
            <a:endParaRPr dirty="0">
              <a:latin typeface="+mj-lt"/>
            </a:endParaRPr>
          </a:p>
        </p:txBody>
      </p:sp>
      <p:sp>
        <p:nvSpPr>
          <p:cNvPr id="1881" name="Google Shape;1881;p104"/>
          <p:cNvSpPr txBox="1">
            <a:spLocks noGrp="1"/>
          </p:cNvSpPr>
          <p:nvPr>
            <p:ph type="body" idx="1"/>
          </p:nvPr>
        </p:nvSpPr>
        <p:spPr>
          <a:xfrm>
            <a:off x="970175" y="860300"/>
            <a:ext cx="10596300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Verificación de errores</a:t>
            </a:r>
            <a:endParaRPr sz="2800" dirty="0">
              <a:latin typeface="+mn-lt"/>
            </a:endParaRPr>
          </a:p>
        </p:txBody>
      </p:sp>
      <p:sp>
        <p:nvSpPr>
          <p:cNvPr id="1882" name="Google Shape;1882;p104"/>
          <p:cNvSpPr txBox="1">
            <a:spLocks noGrp="1"/>
          </p:cNvSpPr>
          <p:nvPr>
            <p:ph type="body" idx="1"/>
          </p:nvPr>
        </p:nvSpPr>
        <p:spPr>
          <a:xfrm>
            <a:off x="1038350" y="1383500"/>
            <a:ext cx="98763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Chequeo de errores cuando se llame </a:t>
            </a:r>
            <a:r>
              <a:rPr lang="es-ES" sz="2400" b="1" dirty="0" err="1">
                <a:latin typeface="+mn-lt"/>
                <a:ea typeface="Consolas"/>
                <a:cs typeface="Consolas"/>
                <a:sym typeface="Consolas"/>
              </a:rPr>
              <a:t>lock</a:t>
            </a:r>
            <a:r>
              <a:rPr lang="es-ES" sz="2400" dirty="0">
                <a:latin typeface="+mn-lt"/>
              </a:rPr>
              <a:t> y </a:t>
            </a:r>
            <a:r>
              <a:rPr lang="es-ES" sz="2400" b="1" dirty="0" err="1">
                <a:latin typeface="+mn-lt"/>
                <a:ea typeface="Consolas"/>
                <a:cs typeface="Consolas"/>
                <a:sym typeface="Consolas"/>
              </a:rPr>
              <a:t>unlock</a:t>
            </a:r>
            <a:endParaRPr sz="2400" b="1" dirty="0"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883" name="Google Shape;1883;p104"/>
          <p:cNvSpPr txBox="1">
            <a:spLocks noGrp="1"/>
          </p:cNvSpPr>
          <p:nvPr>
            <p:ph type="body" idx="1"/>
          </p:nvPr>
        </p:nvSpPr>
        <p:spPr>
          <a:xfrm>
            <a:off x="1094375" y="1900688"/>
            <a:ext cx="107217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Otras funciones: </a:t>
            </a:r>
            <a:r>
              <a:rPr lang="es-ES" sz="2400" dirty="0">
                <a:latin typeface="+mn-lt"/>
              </a:rPr>
              <a:t>Las siguientes dos funciones se usan en la adquisición de </a:t>
            </a:r>
            <a:r>
              <a:rPr lang="es-ES" sz="2400" dirty="0" err="1">
                <a:latin typeface="+mn-lt"/>
              </a:rPr>
              <a:t>locks</a:t>
            </a:r>
            <a:endParaRPr sz="2400" b="1" dirty="0"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884" name="Google Shape;1884;p104"/>
          <p:cNvSpPr txBox="1">
            <a:spLocks noGrp="1"/>
          </p:cNvSpPr>
          <p:nvPr>
            <p:ph type="body" idx="1"/>
          </p:nvPr>
        </p:nvSpPr>
        <p:spPr>
          <a:xfrm>
            <a:off x="1661200" y="2874925"/>
            <a:ext cx="9785400" cy="1508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int pthread_mutex_trylock(pthread_mutex_t *mutex);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int pthread_mutex_timelock(pthread_mutex_t *mutex,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                           struct timespec *abs_timeout);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5" name="Google Shape;1885;p104"/>
          <p:cNvSpPr txBox="1">
            <a:spLocks noGrp="1"/>
          </p:cNvSpPr>
          <p:nvPr>
            <p:ph type="body" idx="1"/>
          </p:nvPr>
        </p:nvSpPr>
        <p:spPr>
          <a:xfrm>
            <a:off x="1094375" y="4748350"/>
            <a:ext cx="10352225" cy="8853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 err="1">
                <a:solidFill>
                  <a:srgbClr val="E06666"/>
                </a:solidFill>
                <a:latin typeface="+mn-lt"/>
                <a:ea typeface="Consolas"/>
                <a:cs typeface="Consolas"/>
                <a:sym typeface="Consolas"/>
              </a:rPr>
              <a:t>trylock</a:t>
            </a:r>
            <a:r>
              <a:rPr lang="es-ES" sz="2400" b="1" dirty="0">
                <a:solidFill>
                  <a:srgbClr val="E06666"/>
                </a:solidFill>
                <a:latin typeface="+mn-lt"/>
              </a:rPr>
              <a:t>: </a:t>
            </a:r>
            <a:r>
              <a:rPr lang="es-ES" sz="2400" dirty="0">
                <a:latin typeface="+mn-lt"/>
              </a:rPr>
              <a:t>Error de retorno si el </a:t>
            </a:r>
            <a:r>
              <a:rPr lang="es-ES" sz="2400" dirty="0" err="1">
                <a:latin typeface="+mn-lt"/>
              </a:rPr>
              <a:t>lock</a:t>
            </a:r>
            <a:r>
              <a:rPr lang="es-ES" sz="2400" dirty="0">
                <a:latin typeface="+mn-lt"/>
              </a:rPr>
              <a:t> está adquirido (tomado).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2400"/>
              <a:buChar char="●"/>
            </a:pPr>
            <a:r>
              <a:rPr lang="es-ES" sz="2400" b="1" dirty="0" err="1">
                <a:solidFill>
                  <a:srgbClr val="E06666"/>
                </a:solidFill>
                <a:latin typeface="+mn-lt"/>
                <a:ea typeface="Consolas"/>
                <a:cs typeface="Consolas"/>
                <a:sym typeface="Consolas"/>
              </a:rPr>
              <a:t>timelock</a:t>
            </a:r>
            <a:r>
              <a:rPr lang="es-ES" sz="2400" b="1" dirty="0">
                <a:solidFill>
                  <a:srgbClr val="E06666"/>
                </a:solidFill>
                <a:latin typeface="+mn-lt"/>
              </a:rPr>
              <a:t>: </a:t>
            </a:r>
            <a:r>
              <a:rPr lang="es-ES" sz="2400" dirty="0">
                <a:latin typeface="+mn-lt"/>
              </a:rPr>
              <a:t>Retorna después de que se alcanza un tiempo.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105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105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105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10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Compilación y ejecución</a:t>
            </a:r>
            <a:endParaRPr dirty="0">
              <a:latin typeface="+mj-lt"/>
            </a:endParaRPr>
          </a:p>
        </p:txBody>
      </p:sp>
      <p:sp>
        <p:nvSpPr>
          <p:cNvPr id="1894" name="Google Shape;1894;p105"/>
          <p:cNvSpPr txBox="1">
            <a:spLocks noGrp="1"/>
          </p:cNvSpPr>
          <p:nvPr>
            <p:ph type="body" idx="1"/>
          </p:nvPr>
        </p:nvSpPr>
        <p:spPr>
          <a:xfrm>
            <a:off x="970175" y="860300"/>
            <a:ext cx="10596300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Compilando aplicaciones con hilos</a:t>
            </a:r>
            <a:endParaRPr sz="2800" dirty="0">
              <a:latin typeface="+mn-lt"/>
            </a:endParaRPr>
          </a:p>
        </p:txBody>
      </p:sp>
      <p:sp>
        <p:nvSpPr>
          <p:cNvPr id="1895" name="Google Shape;1895;p105"/>
          <p:cNvSpPr txBox="1">
            <a:spLocks noGrp="1"/>
          </p:cNvSpPr>
          <p:nvPr>
            <p:ph type="body" idx="1"/>
          </p:nvPr>
        </p:nvSpPr>
        <p:spPr>
          <a:xfrm>
            <a:off x="1038350" y="1531525"/>
            <a:ext cx="9876300" cy="5529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>
                <a:latin typeface="+mn-lt"/>
              </a:rPr>
              <a:t>Para compilar se debe incluir explícitamente la librería </a:t>
            </a:r>
            <a:r>
              <a:rPr lang="es-ES" sz="2400" b="1">
                <a:latin typeface="+mn-lt"/>
                <a:ea typeface="Consolas"/>
                <a:cs typeface="Consolas"/>
                <a:sym typeface="Consolas"/>
              </a:rPr>
              <a:t>pthread.h</a:t>
            </a:r>
            <a:r>
              <a:rPr lang="es-ES" sz="2400">
                <a:latin typeface="+mn-lt"/>
              </a:rPr>
              <a:t> en el archivo </a:t>
            </a:r>
            <a:endParaRPr sz="2400">
              <a:latin typeface="+mn-lt"/>
            </a:endParaRPr>
          </a:p>
        </p:txBody>
      </p:sp>
      <p:sp>
        <p:nvSpPr>
          <p:cNvPr id="1896" name="Google Shape;1896;p105"/>
          <p:cNvSpPr txBox="1">
            <a:spLocks noGrp="1"/>
          </p:cNvSpPr>
          <p:nvPr>
            <p:ph type="body" idx="1"/>
          </p:nvPr>
        </p:nvSpPr>
        <p:spPr>
          <a:xfrm>
            <a:off x="1203300" y="2578900"/>
            <a:ext cx="9785400" cy="4617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>
                <a:latin typeface="Consolas"/>
                <a:ea typeface="Consolas"/>
                <a:cs typeface="Consolas"/>
                <a:sym typeface="Consolas"/>
              </a:rPr>
              <a:t>#include &lt;pthread.h&gt;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7" name="Google Shape;1897;p105"/>
          <p:cNvSpPr txBox="1">
            <a:spLocks noGrp="1"/>
          </p:cNvSpPr>
          <p:nvPr>
            <p:ph type="body" idx="1"/>
          </p:nvPr>
        </p:nvSpPr>
        <p:spPr>
          <a:xfrm>
            <a:off x="1083800" y="3339625"/>
            <a:ext cx="9785400" cy="8853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Se debe indicar al compilador que use la librería en tiempo de enlazado (</a:t>
            </a:r>
            <a:r>
              <a:rPr lang="es-ES" sz="2400" b="1" i="1" dirty="0">
                <a:latin typeface="+mn-lt"/>
              </a:rPr>
              <a:t>link</a:t>
            </a:r>
            <a:r>
              <a:rPr lang="es-ES" sz="2400" dirty="0">
                <a:latin typeface="+mn-lt"/>
              </a:rPr>
              <a:t>), a través del </a:t>
            </a:r>
            <a:r>
              <a:rPr lang="es-ES" sz="2400" dirty="0" err="1">
                <a:latin typeface="+mn-lt"/>
              </a:rPr>
              <a:t>flag</a:t>
            </a:r>
            <a:r>
              <a:rPr lang="es-ES" sz="2400" dirty="0">
                <a:latin typeface="+mn-lt"/>
              </a:rPr>
              <a:t> </a:t>
            </a:r>
            <a:r>
              <a:rPr lang="es-ES" sz="2400" dirty="0">
                <a:latin typeface="+mn-lt"/>
                <a:ea typeface="Consolas"/>
                <a:cs typeface="Consolas"/>
                <a:sym typeface="Consolas"/>
              </a:rPr>
              <a:t>-</a:t>
            </a:r>
            <a:r>
              <a:rPr lang="es-ES" sz="2400" dirty="0" err="1">
                <a:latin typeface="+mn-lt"/>
                <a:ea typeface="Consolas"/>
                <a:cs typeface="Consolas"/>
                <a:sym typeface="Consolas"/>
              </a:rPr>
              <a:t>pthread</a:t>
            </a:r>
            <a:r>
              <a:rPr lang="es-ES" sz="2400" dirty="0">
                <a:latin typeface="+mn-lt"/>
              </a:rPr>
              <a:t> (</a:t>
            </a:r>
            <a:r>
              <a:rPr lang="es-ES" sz="2400" dirty="0">
                <a:solidFill>
                  <a:schemeClr val="accent2"/>
                </a:solidFill>
                <a:latin typeface="+mn-lt"/>
                <a:ea typeface="Consolas"/>
                <a:cs typeface="Consolas"/>
                <a:sym typeface="Consolas"/>
              </a:rPr>
              <a:t>-</a:t>
            </a:r>
            <a:r>
              <a:rPr lang="es-ES" sz="2400" dirty="0" err="1">
                <a:solidFill>
                  <a:schemeClr val="accent2"/>
                </a:solidFill>
                <a:latin typeface="+mn-lt"/>
                <a:ea typeface="Consolas"/>
                <a:cs typeface="Consolas"/>
                <a:sym typeface="Consolas"/>
              </a:rPr>
              <a:t>lpthread</a:t>
            </a:r>
            <a:r>
              <a:rPr lang="es-ES" sz="2400" dirty="0">
                <a:latin typeface="+mn-lt"/>
              </a:rPr>
              <a:t>)</a:t>
            </a:r>
            <a:endParaRPr sz="2400" dirty="0">
              <a:latin typeface="+mn-lt"/>
            </a:endParaRPr>
          </a:p>
        </p:txBody>
      </p:sp>
      <p:sp>
        <p:nvSpPr>
          <p:cNvPr id="1898" name="Google Shape;1898;p105"/>
          <p:cNvSpPr txBox="1">
            <a:spLocks noGrp="1"/>
          </p:cNvSpPr>
          <p:nvPr>
            <p:ph type="body" idx="1"/>
          </p:nvPr>
        </p:nvSpPr>
        <p:spPr>
          <a:xfrm>
            <a:off x="1203300" y="4395850"/>
            <a:ext cx="9785400" cy="4617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>
                <a:latin typeface="Consolas"/>
                <a:ea typeface="Consolas"/>
                <a:cs typeface="Consolas"/>
                <a:sym typeface="Consolas"/>
              </a:rPr>
              <a:t>prompt&gt; gcc –o main main.c –Wall </a:t>
            </a:r>
            <a:r>
              <a:rPr lang="es-ES" sz="24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-pthread</a:t>
            </a:r>
            <a:endParaRPr sz="24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106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06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106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10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Conclusiones</a:t>
            </a:r>
            <a:endParaRPr dirty="0">
              <a:latin typeface="+mj-lt"/>
            </a:endParaRPr>
          </a:p>
        </p:txBody>
      </p:sp>
      <p:sp>
        <p:nvSpPr>
          <p:cNvPr id="1907" name="Google Shape;1907;p106"/>
          <p:cNvSpPr txBox="1">
            <a:spLocks noGrp="1"/>
          </p:cNvSpPr>
          <p:nvPr>
            <p:ph type="body" idx="1"/>
          </p:nvPr>
        </p:nvSpPr>
        <p:spPr>
          <a:xfrm>
            <a:off x="970175" y="860300"/>
            <a:ext cx="10596300" cy="5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Tópicos tratados</a:t>
            </a:r>
            <a:endParaRPr sz="2800" dirty="0">
              <a:latin typeface="+mn-lt"/>
            </a:endParaRPr>
          </a:p>
        </p:txBody>
      </p:sp>
      <p:sp>
        <p:nvSpPr>
          <p:cNvPr id="1908" name="Google Shape;1908;p106"/>
          <p:cNvSpPr txBox="1">
            <a:spLocks noGrp="1"/>
          </p:cNvSpPr>
          <p:nvPr>
            <p:ph type="body" idx="1"/>
          </p:nvPr>
        </p:nvSpPr>
        <p:spPr>
          <a:xfrm>
            <a:off x="1038350" y="1531525"/>
            <a:ext cx="9876300" cy="26755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dirty="0">
                <a:latin typeface="+mn-lt"/>
              </a:rPr>
              <a:t>Al finalizar esta clase se espera que usted comprenda los siguientes términos: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Hilos.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Comportamiento determinístico y no determinístico.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Variables compartidas.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 err="1">
                <a:latin typeface="+mn-lt"/>
              </a:rPr>
              <a:t>Critical</a:t>
            </a:r>
            <a:r>
              <a:rPr lang="es-ES" sz="2400" dirty="0">
                <a:latin typeface="+mn-lt"/>
              </a:rPr>
              <a:t> </a:t>
            </a:r>
            <a:r>
              <a:rPr lang="es-ES" sz="2400" dirty="0" err="1">
                <a:latin typeface="+mn-lt"/>
              </a:rPr>
              <a:t>section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Race condition.</a:t>
            </a:r>
            <a:endParaRPr sz="2400" dirty="0">
              <a:latin typeface="+mn-l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API </a:t>
            </a:r>
            <a:r>
              <a:rPr lang="es-ES" sz="2400" dirty="0" err="1">
                <a:latin typeface="+mn-lt"/>
              </a:rPr>
              <a:t>Posix</a:t>
            </a:r>
            <a:r>
              <a:rPr lang="es-ES" sz="2400" dirty="0">
                <a:latin typeface="+mn-lt"/>
              </a:rPr>
              <a:t> para hilos.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10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Referencias</a:t>
            </a:r>
            <a:endParaRPr dirty="0">
              <a:latin typeface="+mj-lt"/>
            </a:endParaRPr>
          </a:p>
        </p:txBody>
      </p:sp>
      <p:sp>
        <p:nvSpPr>
          <p:cNvPr id="1914" name="Google Shape;1914;p107"/>
          <p:cNvSpPr txBox="1">
            <a:spLocks noGrp="1"/>
          </p:cNvSpPr>
          <p:nvPr>
            <p:ph type="body" idx="1"/>
          </p:nvPr>
        </p:nvSpPr>
        <p:spPr>
          <a:xfrm>
            <a:off x="538500" y="929905"/>
            <a:ext cx="11115000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>
                <a:latin typeface="+mn-lt"/>
              </a:rPr>
              <a:t>Página de </a:t>
            </a:r>
            <a:r>
              <a:rPr lang="es-ES" sz="2000" dirty="0" err="1">
                <a:latin typeface="+mn-lt"/>
              </a:rPr>
              <a:t>Remzi</a:t>
            </a:r>
            <a:r>
              <a:rPr lang="es-ES" sz="2000" dirty="0">
                <a:latin typeface="+mn-lt"/>
              </a:rPr>
              <a:t> H. </a:t>
            </a:r>
            <a:r>
              <a:rPr lang="es-ES" sz="2000" dirty="0" err="1">
                <a:latin typeface="+mn-lt"/>
              </a:rPr>
              <a:t>Arpaci-Dusseau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3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Concepts</a:t>
            </a:r>
            <a:r>
              <a:rPr lang="es-ES" sz="2000" dirty="0">
                <a:latin typeface="+mn-lt"/>
              </a:rPr>
              <a:t> - </a:t>
            </a:r>
            <a:r>
              <a:rPr lang="es-ES" sz="2000" dirty="0" err="1">
                <a:latin typeface="+mn-lt"/>
              </a:rPr>
              <a:t>Tenth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Edition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4"/>
              </a:rPr>
              <a:t>website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Systems</a:t>
            </a:r>
            <a:r>
              <a:rPr lang="es-ES" sz="2000" dirty="0">
                <a:latin typeface="+mn-lt"/>
              </a:rPr>
              <a:t> Notes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5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6"/>
              </a:rPr>
              <a:t>http://web.eecs.utk.edu/~mbeck/classes/cs560/560/oldtests/t2/2003/Answers.html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7"/>
              </a:rPr>
              <a:t>https://github.com/Aniruddha-Tapas/Operating-Systems-Notes/blob/master/1-Overview.md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8"/>
              </a:rPr>
              <a:t>https://myaut.github.io/dtrace-stap-book/kernel/proc.html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9"/>
              </a:rPr>
              <a:t>https://myaut.github.io/dtrace-stap-book/index.html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0"/>
              </a:rPr>
              <a:t>https://www.technologyuk.net/computing/computer-software/operating-systems/operating-system-utilities.shtml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1"/>
              </a:rPr>
              <a:t>http://www.it.uu.se/education/course/homepage/os/vt18/module-4/simple-threads/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2"/>
              </a:rPr>
              <a:t>https://courses.cs.duke.edu/spring19/compsci590.1/slides/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3"/>
              </a:rPr>
              <a:t>http://csl.snu.ac.kr/courses/4190.307/2020-1/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4"/>
              </a:rPr>
              <a:t>http://pages.cs.wisc.edu/~bart/537/lecturenotes/titlepage.html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5"/>
              </a:rPr>
              <a:t>https://www.scs.stanford.edu/22wi-cs212/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6"/>
              </a:rPr>
              <a:t>https://flint.cs.yale.edu/cs421/papers/x86-asm/asm.html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7"/>
              </a:rPr>
              <a:t>https://github.com/Aniruddha-Tapas/Operating-Systems-Notes/blob/master/5-Memory-Management.md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8"/>
              </a:rPr>
              <a:t>https://applied-programming.github.io/Operating-Systems-Notes/5-Memory-Management/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 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0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108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Referencias</a:t>
            </a:r>
            <a:endParaRPr dirty="0">
              <a:latin typeface="+mj-lt"/>
            </a:endParaRPr>
          </a:p>
        </p:txBody>
      </p:sp>
      <p:sp>
        <p:nvSpPr>
          <p:cNvPr id="1920" name="Google Shape;1920;p108"/>
          <p:cNvSpPr txBox="1">
            <a:spLocks noGrp="1"/>
          </p:cNvSpPr>
          <p:nvPr>
            <p:ph type="body" idx="1"/>
          </p:nvPr>
        </p:nvSpPr>
        <p:spPr>
          <a:xfrm>
            <a:off x="824200" y="885250"/>
            <a:ext cx="11115000" cy="534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3"/>
              </a:rPr>
              <a:t>https://csapp.cs.cmu.edu/</a:t>
            </a:r>
            <a:r>
              <a:rPr lang="es-ES" sz="2000" dirty="0"/>
              <a:t> 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4"/>
              </a:rPr>
              <a:t>https://applied-programming.github.io/Operating-Systems-Notes/5-Memory-Management/</a:t>
            </a:r>
            <a:r>
              <a:rPr lang="es-ES" sz="2000" dirty="0"/>
              <a:t> 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5"/>
              </a:rPr>
              <a:t>http://www.cs.cmu.edu/~213/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6"/>
              </a:rPr>
              <a:t>https://web.eecs.umich.edu/~akamil/teaching/sp04/</a:t>
            </a:r>
            <a:r>
              <a:rPr lang="es-ES" sz="2000" dirty="0"/>
              <a:t> 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7"/>
              </a:rPr>
              <a:t>https://courses.engr.illinois.edu/cs241/sp2014/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8"/>
              </a:rPr>
              <a:t>https://emeryberger.com/teaching/grad-systems/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9"/>
              </a:rPr>
              <a:t>https://oslab.kaist.ac.kr/courseware/</a:t>
            </a:r>
            <a:r>
              <a:rPr lang="es-ES" sz="2000" dirty="0"/>
              <a:t> 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0"/>
              </a:rPr>
              <a:t>https://oslab.kaist.ac.kr/ee488-fall-2020/</a:t>
            </a:r>
            <a:r>
              <a:rPr lang="es-ES" sz="2000" dirty="0"/>
              <a:t> 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1"/>
              </a:rPr>
              <a:t>https://github.com/JoeCameron1/CSC369-OperatingSystems-Assignments/tree/master/Assignment2</a:t>
            </a:r>
            <a:r>
              <a:rPr lang="es-ES" sz="2000" dirty="0"/>
              <a:t> 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2"/>
              </a:rPr>
              <a:t>http://www.cs.toronto.edu/~ylzhang/csc258/</a:t>
            </a:r>
            <a:r>
              <a:rPr lang="es-ES" sz="2000" dirty="0"/>
              <a:t> 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3"/>
              </a:rPr>
              <a:t>https://oslab.kaist.ac.kr/ee415-spring-2022/</a:t>
            </a:r>
            <a:r>
              <a:rPr lang="es-ES" sz="2000" dirty="0"/>
              <a:t> 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4"/>
              </a:rPr>
              <a:t>https://prepinsta.com/operating-systems/multiprocessor-operating-systems/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5"/>
              </a:rPr>
              <a:t>https://www.iitk.ac.in/esc101/05Aug/tutorial/essential/threads/definition.html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6"/>
              </a:rPr>
              <a:t>https://www.quora.com/What-are-some-best-examples-of-multithreaded-applications</a:t>
            </a:r>
            <a:r>
              <a:rPr lang="es-ES" sz="2000" dirty="0"/>
              <a:t> 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7"/>
              </a:rPr>
              <a:t>https://cpentalk.com/986/examples-applications-benefit-directly-ability-throughput</a:t>
            </a:r>
            <a:r>
              <a:rPr lang="es-ES" sz="2000" dirty="0"/>
              <a:t> 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5"/>
              </a:rPr>
              <a:t>https://www.iitk.ac.in/esc101/05Aug/tutorial/essential/threads/definition.html</a:t>
            </a:r>
            <a:r>
              <a:rPr lang="es-ES" sz="2000" dirty="0"/>
              <a:t> 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8"/>
              </a:rPr>
              <a:t>https://realpython.com/python-concurrency/</a:t>
            </a:r>
            <a:r>
              <a:rPr lang="es-ES" sz="2000" dirty="0"/>
              <a:t> 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000" dirty="0"/>
              <a:t> 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109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Referencias</a:t>
            </a:r>
            <a:endParaRPr dirty="0">
              <a:latin typeface="+mj-lt"/>
            </a:endParaRPr>
          </a:p>
        </p:txBody>
      </p:sp>
      <p:sp>
        <p:nvSpPr>
          <p:cNvPr id="1926" name="Google Shape;1926;p109"/>
          <p:cNvSpPr txBox="1">
            <a:spLocks noGrp="1"/>
          </p:cNvSpPr>
          <p:nvPr>
            <p:ph type="body" idx="1"/>
          </p:nvPr>
        </p:nvSpPr>
        <p:spPr>
          <a:xfrm>
            <a:off x="824200" y="885250"/>
            <a:ext cx="11235600" cy="568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3"/>
              </a:rPr>
              <a:t>https://developers.google.com/web/updates/2018/09/inside-browser-part1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4"/>
              </a:rPr>
              <a:t>https://developers.google.com/web/updates/2018/09/inside-browser-part2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5"/>
              </a:rPr>
              <a:t>https://www.informit.com/articles/article.aspx?p=25075&amp;seqNum=3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6"/>
              </a:rPr>
              <a:t>https://www.cs.uic.edu/~jbell/CourseNotes/OperatingSystems/4_Threads.html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7"/>
              </a:rPr>
              <a:t>https://realpython.com/python-sockets/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8"/>
              </a:rPr>
              <a:t>https://realpython.com/intro-to-python-threading/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9"/>
              </a:rPr>
              <a:t>https://realpython.com/python-concurrency/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0"/>
              </a:rPr>
              <a:t>https://www.geeksforgeeks.org/socket-programming-multi-threading-python/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1"/>
              </a:rPr>
              <a:t>https://eecs485staff.github.io/p4-mapreduce/threads-sockets.html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2"/>
              </a:rPr>
              <a:t>https://prepinsta.com/operating-systems/inter-process-communication/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3"/>
              </a:rPr>
              <a:t>https://applied-programming.github.io/Operating-Systems-Notes/6-Inter-Process-Communication/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4"/>
              </a:rPr>
              <a:t>https://applied-programming.github.io/Operating-Systems-Notes/3-Threads-and-Concurrency/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5"/>
              </a:rPr>
              <a:t>https://www.iitk.ac.in/esc101/05Aug/tutorial/essential/threads/definition.html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6"/>
              </a:rPr>
              <a:t>https://singa.apache.org/</a:t>
            </a:r>
            <a:r>
              <a:rPr lang="es-ES" sz="2000" dirty="0">
                <a:latin typeface="+mn-lt"/>
              </a:rPr>
              <a:t> 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7"/>
              </a:rPr>
              <a:t>http://web.mit.edu/java_v1.0.2/www/tutorial/java/threads/deadlock.html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8"/>
              </a:rPr>
              <a:t>http://www.cs.fsu.edu/~baker/realtime/restricted/notes/philos.html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9"/>
              </a:rPr>
              <a:t>https://www2.seas.gwu.edu/~mfeldman/papers/portable-diners.html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20"/>
              </a:rPr>
              <a:t>https://www.kalasim.org/examples/dining_philosophers/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21"/>
              </a:rPr>
              <a:t>http://people.cs.aau.dk/~ask/Undervisning/MVP/html/deadlock.pdf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11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Referencias</a:t>
            </a:r>
            <a:endParaRPr/>
          </a:p>
        </p:txBody>
      </p:sp>
      <p:sp>
        <p:nvSpPr>
          <p:cNvPr id="1932" name="Google Shape;1932;p110"/>
          <p:cNvSpPr txBox="1">
            <a:spLocks noGrp="1"/>
          </p:cNvSpPr>
          <p:nvPr>
            <p:ph type="body" idx="1"/>
          </p:nvPr>
        </p:nvSpPr>
        <p:spPr>
          <a:xfrm>
            <a:off x="824200" y="885250"/>
            <a:ext cx="11235600" cy="568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3"/>
              </a:rPr>
              <a:t>https://github.com/fab327/JavaFX_DiningPhilosophers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4"/>
              </a:rPr>
              <a:t>https://github.com/djunderw/dining-philosophers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5"/>
              </a:rPr>
              <a:t>https://www.geeksforgeeks.org/dining-philosopher-problem-using-semaphores/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6"/>
              </a:rPr>
              <a:t>https://rosettacode.org/wiki/Dining_philosophers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7"/>
              </a:rPr>
              <a:t>https://www.seas.upenn.edu/~cse39904/homework/hw06.pdf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8"/>
              </a:rPr>
              <a:t>https://www.seas.upenn.edu/~cse39904/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9"/>
              </a:rPr>
              <a:t>https://www.seas.upenn.edu/~cse39904/notes.html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10"/>
              </a:rPr>
              <a:t>https://github.com/smonn/hungrythinkers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11"/>
              </a:rPr>
              <a:t>https://github.com/jnafolayan/dining-philosopher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12"/>
              </a:rPr>
              <a:t>https://jnafolayan.github.io/dining-philosopher/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13"/>
              </a:rPr>
              <a:t>https://github.com/ZzCalvinzZ/dining_philosophers_web_workers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14"/>
              </a:rPr>
              <a:t>https://dev.to/vunderkind/the-dining-philosophers-problem-or-your-introduction-to-thinking-in-computer-science-8ii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15"/>
              </a:rPr>
              <a:t>https://github.com/lievi/dining_philosophers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16"/>
              </a:rPr>
              <a:t>https://www.wikiwand.com/en/Dining_philosophers_problem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17"/>
              </a:rPr>
              <a:t>https://adit.io/posts/2013-05-11-The-Dining-Philosophers-Problem-With-Ron-Swanson.html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18"/>
              </a:rPr>
              <a:t>https://ruslanspivak.com/lsbaws-part1/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19"/>
              </a:rPr>
              <a:t>https://ruslanspivak.com/lsbaws-part2/</a:t>
            </a:r>
            <a:endParaRPr sz="190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>
                <a:solidFill>
                  <a:schemeClr val="hlink"/>
                </a:solidFill>
                <a:hlinkClick r:id="rId20"/>
              </a:rPr>
              <a:t>https://ruslanspivak.com/lsbaws-part3/</a:t>
            </a:r>
            <a:r>
              <a:rPr lang="es-ES" sz="1900"/>
              <a:t> </a:t>
            </a:r>
            <a:endParaRPr sz="190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90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/>
              <a:t> </a:t>
            </a: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307</TotalTime>
  <Words>8033</Words>
  <Application>Microsoft Office PowerPoint</Application>
  <PresentationFormat>Panorámica</PresentationFormat>
  <Paragraphs>2310</Paragraphs>
  <Slides>87</Slides>
  <Notes>87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87</vt:i4>
      </vt:variant>
    </vt:vector>
  </HeadingPairs>
  <TitlesOfParts>
    <vt:vector size="96" baseType="lpstr">
      <vt:lpstr>Consolas</vt:lpstr>
      <vt:lpstr>Calibri</vt:lpstr>
      <vt:lpstr>Courier New</vt:lpstr>
      <vt:lpstr>Arial</vt:lpstr>
      <vt:lpstr>Calibri Light</vt:lpstr>
      <vt:lpstr>Times New Roman</vt:lpstr>
      <vt:lpstr>Roboto Slab</vt:lpstr>
      <vt:lpstr>Roboto</vt:lpstr>
      <vt:lpstr>Tema de Office</vt:lpstr>
      <vt:lpstr>Sistemas Operativos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Hilos</vt:lpstr>
      <vt:lpstr>Hilos</vt:lpstr>
      <vt:lpstr>Hilos</vt:lpstr>
      <vt:lpstr>Hilos</vt:lpstr>
      <vt:lpstr>Hilos</vt:lpstr>
      <vt:lpstr>Hilos</vt:lpstr>
      <vt:lpstr>Hilos</vt:lpstr>
      <vt:lpstr>Hilos</vt:lpstr>
      <vt:lpstr>Hilos</vt:lpstr>
      <vt:lpstr>Hilos</vt:lpstr>
      <vt:lpstr>Hilos</vt:lpstr>
      <vt:lpstr>Hilos</vt:lpstr>
      <vt:lpstr>Hilos</vt:lpstr>
      <vt:lpstr>Creación de hilos</vt:lpstr>
      <vt:lpstr>Creación de hilos</vt:lpstr>
      <vt:lpstr>Creación de hilos</vt:lpstr>
      <vt:lpstr>Creación de hilos</vt:lpstr>
      <vt:lpstr>Creación de hilos</vt:lpstr>
      <vt:lpstr>Creación de hilos</vt:lpstr>
      <vt:lpstr>Creación de hilos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Política de reemplazo FIFO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Datos compartidos</vt:lpstr>
      <vt:lpstr>Creación de hilos</vt:lpstr>
      <vt:lpstr>Creación de hilos</vt:lpstr>
      <vt:lpstr>Creación de hilos</vt:lpstr>
      <vt:lpstr>Esperar hasta que se complete el hilo</vt:lpstr>
      <vt:lpstr>Esperar hasta que se complete el hilo</vt:lpstr>
      <vt:lpstr>Esperar hasta que se complete el hilo</vt:lpstr>
      <vt:lpstr>Esperar hasta que se complete el hilo</vt:lpstr>
      <vt:lpstr>Trabajando con hilos</vt:lpstr>
      <vt:lpstr>Locks</vt:lpstr>
      <vt:lpstr>Locks</vt:lpstr>
      <vt:lpstr>Locks</vt:lpstr>
      <vt:lpstr>Locks</vt:lpstr>
      <vt:lpstr>Compilación y ejecución</vt:lpstr>
      <vt:lpstr>Conclusiones</vt:lpstr>
      <vt:lpstr>Referencias</vt:lpstr>
      <vt:lpstr>Referencias</vt:lpstr>
      <vt:lpstr>Referencias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cp:lastModifiedBy>HENRY ALBERTO ARCILA RAMIREZ</cp:lastModifiedBy>
  <cp:revision>31</cp:revision>
  <dcterms:modified xsi:type="dcterms:W3CDTF">2026-04-30T02:21:42Z</dcterms:modified>
</cp:coreProperties>
</file>