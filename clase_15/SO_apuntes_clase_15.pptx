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80" r:id="rId2"/>
  </p:sldMasterIdLst>
  <p:notesMasterIdLst>
    <p:notesMasterId r:id="rId66"/>
  </p:notesMasterIdLst>
  <p:sldIdLst>
    <p:sldId id="256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5" r:id="rId11"/>
    <p:sldId id="456" r:id="rId12"/>
    <p:sldId id="45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2" r:id="rId62"/>
    <p:sldId id="323" r:id="rId63"/>
    <p:sldId id="324" r:id="rId64"/>
    <p:sldId id="325" r:id="rId65"/>
  </p:sldIdLst>
  <p:sldSz cx="12192000" cy="6858000"/>
  <p:notesSz cx="6858000" cy="9144000"/>
  <p:embeddedFontLs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Calibri Light" panose="020F0302020204030204" pitchFamily="34" charset="0"/>
      <p:regular r:id="rId71"/>
      <p:italic r:id="rId72"/>
    </p:embeddedFont>
    <p:embeddedFont>
      <p:font typeface="Consolas" panose="020B0609020204030204" pitchFamily="49" charset="0"/>
      <p:regular r:id="rId73"/>
      <p:bold r:id="rId74"/>
      <p:italic r:id="rId75"/>
      <p:boldItalic r:id="rId76"/>
    </p:embeddedFont>
    <p:embeddedFont>
      <p:font typeface="Roboto" panose="02000000000000000000" pitchFamily="2" charset="0"/>
      <p:regular r:id="rId77"/>
      <p:bold r:id="rId78"/>
      <p:italic r:id="rId79"/>
      <p:boldItalic r:id="rId80"/>
    </p:embeddedFont>
    <p:embeddedFont>
      <p:font typeface="Roboto Slab" panose="020B0604020202020204" charset="0"/>
      <p:regular r:id="rId81"/>
      <p:bold r:id="rId82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2.fntdata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font" Target="fonts/font15.fntdata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0.fntdata"/><Relationship Id="rId7" Type="http://schemas.openxmlformats.org/officeDocument/2006/relationships/slide" Target="slides/slide5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7ac81a7f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7ac81a7f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7ac81a7f7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7ac81a7f7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7ac81a7f7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17ac81a7f7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ac81a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17ac81a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7ac81a7f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7ac81a7f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7ac81a7f7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17ac81a7f7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7ac81a7f7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7ac81a7f7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17ac81a7f7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17ac81a7f7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7ac81a7f7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7ac81a7f7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7ac81a7f7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7ac81a7f7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188e369f14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g1188e369f14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188e369f14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g1188e369f14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188e369f14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g1188e369f14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188e369f14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g1188e369f14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188e369f14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1188e369f14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188e369f14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g1188e369f14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188e369f14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g1188e369f14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188e369f14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g1188e369f14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1" name="Google Shape;821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0" name="Google Shape;830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18e7b7acc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7" name="Google Shape;837;g118e7b7acc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1829e52e6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6" name="Google Shape;846;g11829e52e6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18e7b7acc1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5" name="Google Shape;865;g118e7b7acc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18e7b7acc1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4" name="Google Shape;894;g118e7b7acc1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172ea73a7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5" name="Google Shape;925;g1172ea73a7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18e7b7acc1_1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1" name="Google Shape;981;g118e7b7acc1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11829e52e6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8" name="Google Shape;1028;g11829e52e6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1829e52e6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6" name="Google Shape;1036;g11829e52e6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1829e52e6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5" name="Google Shape;1045;g11829e52e6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18e7b7acc1_1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5" name="Google Shape;1055;g118e7b7acc1_1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18e7b7acc1_1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8" name="Google Shape;1068;g118e7b7acc1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18e7b7acc1_1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8" name="Google Shape;1088;g118e7b7acc1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18e7b7acc1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9" name="Google Shape;1149;g118e7b7acc1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118e7b7acc1_2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g118e7b7acc1_2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118e7b7acc1_2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9" name="Google Shape;1229;g118e7b7acc1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118e7b7acc1_2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8" name="Google Shape;1238;g118e7b7acc1_2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18e7b7acc1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0" name="Google Shape;1250;g118e7b7acc1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118e7b7acc1_2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1" name="Google Shape;1261;g118e7b7acc1_2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18e7b7acc1_2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2" name="Google Shape;1272;g118e7b7acc1_2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8e7b7acc1_2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3" name="Google Shape;1283;g118e7b7acc1_2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18e7b7acc1_2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2" name="Google Shape;1292;g118e7b7acc1_2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118e7b7acc1_2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5" name="Google Shape;1305;g118e7b7acc1_2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18e7b7acc1_2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6" name="Google Shape;1316;g118e7b7acc1_2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18e7b7acc1_2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7" name="Google Shape;1327;g118e7b7acc1_2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18e7b7acc1_2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6" name="Google Shape;1336;g118e7b7acc1_2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118e7b7acc1_2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7" name="Google Shape;1347;g118e7b7acc1_2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18e7b7acc1_2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2" name="Google Shape;1362;g118e7b7acc1_2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118e7b7acc1_2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3" name="Google Shape;1383;g118e7b7acc1_2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1829e52e6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1829e52e6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8e7b7acc1_2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18e7b7acc1_2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18e7b7acc1_2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18e7b7acc1_2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118e7b7acc1_2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118e7b7acc1_2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17ac81a7f7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17ac81a7f7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17b835d7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117b835d7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70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208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69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2338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6434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540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01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86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105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2098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3013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0928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1590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055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6083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6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7" r:id="rId12"/>
    <p:sldLayoutId id="2147483678" r:id="rId13"/>
    <p:sldLayoutId id="214748367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60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illeiguaran/xv6/blob/master/spinlock.h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github.com/ctdk/xv6/blob/master/spinlock.c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basecs" TargetMode="External"/><Relationship Id="rId13" Type="http://schemas.openxmlformats.org/officeDocument/2006/relationships/hyperlink" Target="http://turnoff.us/geek/arduino-project/" TargetMode="External"/><Relationship Id="rId18" Type="http://schemas.openxmlformats.org/officeDocument/2006/relationships/hyperlink" Target="https://www.cs.cornell.edu/courses/cs3410/2012sp/" TargetMode="External"/><Relationship Id="rId3" Type="http://schemas.openxmlformats.org/officeDocument/2006/relationships/hyperlink" Target="https://adit.io/posts/2013-05-15-Locks,-Actors,-And-STM-In-Pictures.html" TargetMode="External"/><Relationship Id="rId7" Type="http://schemas.openxmlformats.org/officeDocument/2006/relationships/hyperlink" Target="https://code-cartoons.com/" TargetMode="External"/><Relationship Id="rId12" Type="http://schemas.openxmlformats.org/officeDocument/2006/relationships/hyperlink" Target="http://turnoff.us/" TargetMode="External"/><Relationship Id="rId17" Type="http://schemas.openxmlformats.org/officeDocument/2006/relationships/hyperlink" Target="https://github.com/Marcombo/Programacion_de_servicios_y_procesos_en_Python" TargetMode="External"/><Relationship Id="rId2" Type="http://schemas.openxmlformats.org/officeDocument/2006/relationships/notesSlide" Target="../notesSlides/notesSlide60.xml"/><Relationship Id="rId16" Type="http://schemas.openxmlformats.org/officeDocument/2006/relationships/hyperlink" Target="https://realpython.com/intro-to-python-threading/" TargetMode="External"/><Relationship Id="rId20" Type="http://schemas.openxmlformats.org/officeDocument/2006/relationships/hyperlink" Target="https://www.cs.cornell.edu/courses/cs3410/2012sp/schedule.html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jvns.ca/teach-tech-with-cartoons/" TargetMode="External"/><Relationship Id="rId11" Type="http://schemas.openxmlformats.org/officeDocument/2006/relationships/hyperlink" Target="https://pbfcomics.com/" TargetMode="External"/><Relationship Id="rId5" Type="http://schemas.openxmlformats.org/officeDocument/2006/relationships/hyperlink" Target="https://preshing.com/20150316/semaphores-are-surprisingly-versatile/" TargetMode="External"/><Relationship Id="rId15" Type="http://schemas.openxmlformats.org/officeDocument/2006/relationships/hyperlink" Target="https://jakegut.com/posts/sg-os/" TargetMode="External"/><Relationship Id="rId10" Type="http://schemas.openxmlformats.org/officeDocument/2006/relationships/hyperlink" Target="https://www.qwantz.com/" TargetMode="External"/><Relationship Id="rId19" Type="http://schemas.openxmlformats.org/officeDocument/2006/relationships/hyperlink" Target="https://www.cs.cornell.edu/courses/cs3410/2012sp/lecture/25-sync-i-g.pdf" TargetMode="External"/><Relationship Id="rId4" Type="http://schemas.openxmlformats.org/officeDocument/2006/relationships/hyperlink" Target="https://link.springer.com/chapter/10.1007/978-1-4842-4398-5_5" TargetMode="External"/><Relationship Id="rId9" Type="http://schemas.openxmlformats.org/officeDocument/2006/relationships/hyperlink" Target="https://xkcd.com/" TargetMode="External"/><Relationship Id="rId14" Type="http://schemas.openxmlformats.org/officeDocument/2006/relationships/hyperlink" Target="https://prepinsta.com/operating-systems/critical-section-problem/" TargetMode="Externa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13" Type="http://schemas.openxmlformats.org/officeDocument/2006/relationships/hyperlink" Target="https://oslab.kaist.ac.kr/ee415-spring-2022/" TargetMode="External"/><Relationship Id="rId18" Type="http://schemas.openxmlformats.org/officeDocument/2006/relationships/hyperlink" Target="https://realpython.com/python-concurrency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12" Type="http://schemas.openxmlformats.org/officeDocument/2006/relationships/hyperlink" Target="http://www.cs.toronto.edu/~ylzhang/csc258/" TargetMode="External"/><Relationship Id="rId17" Type="http://schemas.openxmlformats.org/officeDocument/2006/relationships/hyperlink" Target="https://cpentalk.com/986/examples-applications-benefit-directly-ability-throughput" TargetMode="External"/><Relationship Id="rId2" Type="http://schemas.openxmlformats.org/officeDocument/2006/relationships/notesSlide" Target="../notesSlides/notesSlide61.xml"/><Relationship Id="rId16" Type="http://schemas.openxmlformats.org/officeDocument/2006/relationships/hyperlink" Target="https://www.quora.com/What-are-some-best-examples-of-multithreaded-applications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web.eecs.umich.edu/~akamil/teaching/sp04/" TargetMode="External"/><Relationship Id="rId11" Type="http://schemas.openxmlformats.org/officeDocument/2006/relationships/hyperlink" Target="https://github.com/JoeCameron1/CSC369-OperatingSystems-Assignments/tree/master/Assignment2" TargetMode="External"/><Relationship Id="rId5" Type="http://schemas.openxmlformats.org/officeDocument/2006/relationships/hyperlink" Target="http://www.cs.cmu.edu/~213/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Relationship Id="rId14" Type="http://schemas.openxmlformats.org/officeDocument/2006/relationships/hyperlink" Target="https://prepinsta.com/operating-systems/multiprocessor-operating-systems/" TargetMode="Externa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intro-to-python-threading/" TargetMode="External"/><Relationship Id="rId13" Type="http://schemas.openxmlformats.org/officeDocument/2006/relationships/hyperlink" Target="https://applied-programming.github.io/Operating-Systems-Notes/6-Inter-Process-Communication/" TargetMode="External"/><Relationship Id="rId18" Type="http://schemas.openxmlformats.org/officeDocument/2006/relationships/hyperlink" Target="http://www.cs.fsu.edu/~baker/realtime/restricted/notes/philos.html" TargetMode="External"/><Relationship Id="rId3" Type="http://schemas.openxmlformats.org/officeDocument/2006/relationships/hyperlink" Target="https://developers.google.com/web/updates/2018/09/inside-browser-part1" TargetMode="External"/><Relationship Id="rId21" Type="http://schemas.openxmlformats.org/officeDocument/2006/relationships/hyperlink" Target="http://people.cs.aau.dk/~ask/Undervisning/MVP/html/deadlock.pdf" TargetMode="External"/><Relationship Id="rId7" Type="http://schemas.openxmlformats.org/officeDocument/2006/relationships/hyperlink" Target="https://realpython.com/python-sockets/" TargetMode="External"/><Relationship Id="rId12" Type="http://schemas.openxmlformats.org/officeDocument/2006/relationships/hyperlink" Target="https://prepinsta.com/operating-systems/inter-process-communication/" TargetMode="External"/><Relationship Id="rId17" Type="http://schemas.openxmlformats.org/officeDocument/2006/relationships/hyperlink" Target="http://web.mit.edu/java_v1.0.2/www/tutorial/java/threads/deadlock.html" TargetMode="External"/><Relationship Id="rId2" Type="http://schemas.openxmlformats.org/officeDocument/2006/relationships/notesSlide" Target="../notesSlides/notesSlide62.xml"/><Relationship Id="rId16" Type="http://schemas.openxmlformats.org/officeDocument/2006/relationships/hyperlink" Target="https://singa.apache.org/" TargetMode="External"/><Relationship Id="rId20" Type="http://schemas.openxmlformats.org/officeDocument/2006/relationships/hyperlink" Target="https://www.kalasim.org/examples/dining_philosophers/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www.cs.uic.edu/~jbell/CourseNotes/OperatingSystems/4_Threads.html" TargetMode="External"/><Relationship Id="rId11" Type="http://schemas.openxmlformats.org/officeDocument/2006/relationships/hyperlink" Target="https://eecs485staff.github.io/p4-mapreduce/threads-sockets.html" TargetMode="External"/><Relationship Id="rId5" Type="http://schemas.openxmlformats.org/officeDocument/2006/relationships/hyperlink" Target="https://www.informit.com/articles/article.aspx?p=25075&amp;seqNum=3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www.geeksforgeeks.org/socket-programming-multi-threading-python/" TargetMode="External"/><Relationship Id="rId19" Type="http://schemas.openxmlformats.org/officeDocument/2006/relationships/hyperlink" Target="https://www2.seas.gwu.edu/~mfeldman/papers/portable-diners.html" TargetMode="External"/><Relationship Id="rId4" Type="http://schemas.openxmlformats.org/officeDocument/2006/relationships/hyperlink" Target="https://developers.google.com/web/updates/2018/09/inside-browser-part2" TargetMode="External"/><Relationship Id="rId9" Type="http://schemas.openxmlformats.org/officeDocument/2006/relationships/hyperlink" Target="https://realpython.com/python-concurrency/" TargetMode="External"/><Relationship Id="rId14" Type="http://schemas.openxmlformats.org/officeDocument/2006/relationships/hyperlink" Target="https://applied-programming.github.io/Operating-Systems-Notes/3-Threads-and-Concurrency/" TargetMode="Externa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as.upenn.edu/~cse39904/" TargetMode="External"/><Relationship Id="rId13" Type="http://schemas.openxmlformats.org/officeDocument/2006/relationships/hyperlink" Target="https://github.com/ZzCalvinzZ/dining_philosophers_web_workers" TargetMode="External"/><Relationship Id="rId18" Type="http://schemas.openxmlformats.org/officeDocument/2006/relationships/hyperlink" Target="https://github.com/tpn/pdfs" TargetMode="External"/><Relationship Id="rId3" Type="http://schemas.openxmlformats.org/officeDocument/2006/relationships/hyperlink" Target="https://github.com/fab327/JavaFX_DiningPhilosophers" TargetMode="External"/><Relationship Id="rId7" Type="http://schemas.openxmlformats.org/officeDocument/2006/relationships/hyperlink" Target="https://www.seas.upenn.edu/~cse39904/homework/hw06.pdf" TargetMode="External"/><Relationship Id="rId12" Type="http://schemas.openxmlformats.org/officeDocument/2006/relationships/hyperlink" Target="https://jnafolayan.github.io/dining-philosopher/" TargetMode="External"/><Relationship Id="rId17" Type="http://schemas.openxmlformats.org/officeDocument/2006/relationships/hyperlink" Target="https://adit.io/posts/2013-05-11-The-Dining-Philosophers-Problem-With-Ron-Swanson.html" TargetMode="External"/><Relationship Id="rId2" Type="http://schemas.openxmlformats.org/officeDocument/2006/relationships/notesSlide" Target="../notesSlides/notesSlide63.xml"/><Relationship Id="rId16" Type="http://schemas.openxmlformats.org/officeDocument/2006/relationships/hyperlink" Target="https://www.wikiwand.com/en/Dining_philosophers_problem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rosettacode.org/wiki/Dining_philosophers" TargetMode="External"/><Relationship Id="rId11" Type="http://schemas.openxmlformats.org/officeDocument/2006/relationships/hyperlink" Target="https://github.com/jnafolayan/dining-philosopher" TargetMode="External"/><Relationship Id="rId5" Type="http://schemas.openxmlformats.org/officeDocument/2006/relationships/hyperlink" Target="https://www.geeksforgeeks.org/dining-philosopher-problem-using-semaphores/" TargetMode="External"/><Relationship Id="rId15" Type="http://schemas.openxmlformats.org/officeDocument/2006/relationships/hyperlink" Target="https://github.com/lievi/dining_philosophers" TargetMode="External"/><Relationship Id="rId10" Type="http://schemas.openxmlformats.org/officeDocument/2006/relationships/hyperlink" Target="https://github.com/smonn/hungrythinkers" TargetMode="External"/><Relationship Id="rId19" Type="http://schemas.openxmlformats.org/officeDocument/2006/relationships/hyperlink" Target="https://jakegut.com/posts/sg-os/" TargetMode="External"/><Relationship Id="rId4" Type="http://schemas.openxmlformats.org/officeDocument/2006/relationships/hyperlink" Target="https://github.com/djunderw/dining-philosophers" TargetMode="External"/><Relationship Id="rId9" Type="http://schemas.openxmlformats.org/officeDocument/2006/relationships/hyperlink" Target="https://www.seas.upenn.edu/~cse39904/notes.html" TargetMode="External"/><Relationship Id="rId14" Type="http://schemas.openxmlformats.org/officeDocument/2006/relationships/hyperlink" Target="https://dev.to/vunderkind/the-dining-philosophers-problem-or-your-introduction-to-thinking-in-computer-science-8i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ea typeface="Roboto"/>
                <a:cs typeface="Roboto"/>
                <a:sym typeface="Roboto"/>
              </a:rPr>
              <a:t> 15 – Locks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11/05/2026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839400" y="835600"/>
            <a:ext cx="45588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Procesos y virtualización</a:t>
            </a:r>
            <a:endParaRPr sz="28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10440900" y="1349675"/>
            <a:ext cx="1368600" cy="2104675"/>
            <a:chOff x="6161500" y="2642175"/>
            <a:chExt cx="1368600" cy="2104675"/>
          </a:xfrm>
        </p:grpSpPr>
        <p:sp>
          <p:nvSpPr>
            <p:cNvPr id="160" name="Google Shape;160;p20"/>
            <p:cNvSpPr txBox="1"/>
            <p:nvPr/>
          </p:nvSpPr>
          <p:spPr>
            <a:xfrm>
              <a:off x="6295300" y="2642175"/>
              <a:ext cx="970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6161500" y="3042363"/>
              <a:ext cx="1338300" cy="1401900"/>
              <a:chOff x="6161500" y="3042363"/>
              <a:chExt cx="1338300" cy="1401900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6161500" y="3042363"/>
                <a:ext cx="1338300" cy="14019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3" name="Google Shape;163;p20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164" name="Google Shape;164;p20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20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166" name="Google Shape;166;p20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167" name="Google Shape;167;p20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68" name="Google Shape;168;p20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9" name="Google Shape;169;p20"/>
              <p:cNvSpPr txBox="1"/>
              <p:nvPr/>
            </p:nvSpPr>
            <p:spPr>
              <a:xfrm>
                <a:off x="6566050" y="3744900"/>
                <a:ext cx="761400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urier New"/>
                    <a:ea typeface="Courier New"/>
                    <a:cs typeface="Courier New"/>
                    <a:sym typeface="Courier New"/>
                  </a:rPr>
                  <a:t>...</a:t>
                </a:r>
                <a:endParaRPr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70" name="Google Shape;170;p20"/>
            <p:cNvSpPr txBox="1"/>
            <p:nvPr/>
          </p:nvSpPr>
          <p:spPr>
            <a:xfrm>
              <a:off x="6161500" y="439285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10440900" y="3910875"/>
            <a:ext cx="1368600" cy="2457250"/>
            <a:chOff x="6864325" y="3684375"/>
            <a:chExt cx="1368600" cy="2457250"/>
          </a:xfrm>
        </p:grpSpPr>
        <p:sp>
          <p:nvSpPr>
            <p:cNvPr id="172" name="Google Shape;172;p20"/>
            <p:cNvSpPr/>
            <p:nvPr/>
          </p:nvSpPr>
          <p:spPr>
            <a:xfrm>
              <a:off x="7007125" y="405607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20"/>
            <p:cNvGrpSpPr/>
            <p:nvPr/>
          </p:nvGrpSpPr>
          <p:grpSpPr>
            <a:xfrm>
              <a:off x="6864325" y="3684375"/>
              <a:ext cx="1368600" cy="2457250"/>
              <a:chOff x="7805450" y="2441425"/>
              <a:chExt cx="1368600" cy="2457250"/>
            </a:xfrm>
          </p:grpSpPr>
          <p:grpSp>
            <p:nvGrpSpPr>
              <p:cNvPr id="174" name="Google Shape;174;p20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75" name="Google Shape;175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76" name="Google Shape;176;p20"/>
                <p:cNvSpPr/>
                <p:nvPr/>
              </p:nvSpPr>
              <p:spPr>
                <a:xfrm>
                  <a:off x="7948250" y="31012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177" name="Google Shape;177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178" name="Google Shape;178;p20"/>
                <p:cNvCxnSpPr>
                  <a:stCxn id="176" idx="2"/>
                </p:cNvCxnSpPr>
                <p:nvPr/>
              </p:nvCxnSpPr>
              <p:spPr>
                <a:xfrm>
                  <a:off x="8486300" y="33856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79" name="Google Shape;179;p20"/>
                <p:cNvCxnSpPr>
                  <a:stCxn id="177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0" name="Google Shape;180;p20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VM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81" name="Google Shape;181;p20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82" name="Google Shape;182;p20"/>
          <p:cNvGrpSpPr/>
          <p:nvPr/>
        </p:nvGrpSpPr>
        <p:grpSpPr>
          <a:xfrm>
            <a:off x="6206000" y="2281075"/>
            <a:ext cx="2510400" cy="2580600"/>
            <a:chOff x="1246925" y="2012725"/>
            <a:chExt cx="2510400" cy="2580600"/>
          </a:xfrm>
        </p:grpSpPr>
        <p:sp>
          <p:nvSpPr>
            <p:cNvPr id="183" name="Google Shape;183;p20"/>
            <p:cNvSpPr/>
            <p:nvPr/>
          </p:nvSpPr>
          <p:spPr>
            <a:xfrm>
              <a:off x="1246925" y="2012725"/>
              <a:ext cx="2510400" cy="2580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1658025" y="3603150"/>
              <a:ext cx="8277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1738125" y="2549275"/>
              <a:ext cx="667500" cy="7227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2734937" y="2991777"/>
              <a:ext cx="587563" cy="949455"/>
              <a:chOff x="3483150" y="2820050"/>
              <a:chExt cx="1080675" cy="1170000"/>
            </a:xfrm>
          </p:grpSpPr>
          <p:sp>
            <p:nvSpPr>
              <p:cNvPr id="187" name="Google Shape;187;p20"/>
              <p:cNvSpPr/>
              <p:nvPr/>
            </p:nvSpPr>
            <p:spPr>
              <a:xfrm>
                <a:off x="3485100" y="2820050"/>
                <a:ext cx="1076100" cy="11700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8" name="Google Shape;188;p20"/>
              <p:cNvCxnSpPr/>
              <p:nvPr/>
            </p:nvCxnSpPr>
            <p:spPr>
              <a:xfrm>
                <a:off x="3483825" y="29628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20"/>
              <p:cNvCxnSpPr/>
              <p:nvPr/>
            </p:nvCxnSpPr>
            <p:spPr>
              <a:xfrm>
                <a:off x="3483150" y="3111750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3483825" y="325712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20"/>
              <p:cNvCxnSpPr/>
              <p:nvPr/>
            </p:nvCxnSpPr>
            <p:spPr>
              <a:xfrm>
                <a:off x="3483150" y="38442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2" name="Google Shape;192;p20"/>
            <p:cNvSpPr txBox="1"/>
            <p:nvPr/>
          </p:nvSpPr>
          <p:spPr>
            <a:xfrm>
              <a:off x="2832663" y="2682475"/>
              <a:ext cx="4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93" name="Google Shape;193;p20"/>
          <p:cNvCxnSpPr/>
          <p:nvPr/>
        </p:nvCxnSpPr>
        <p:spPr>
          <a:xfrm rot="10800000" flipH="1">
            <a:off x="7454175" y="1902450"/>
            <a:ext cx="2818800" cy="7713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8449925" y="3753625"/>
            <a:ext cx="2019600" cy="8835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8029125" y="15509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Virtualización de la CPU</a:t>
            </a:r>
            <a:endParaRPr sz="130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8940775" y="3542900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Virtualización de memoria</a:t>
            </a:r>
            <a:endParaRPr sz="130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450" y="3408355"/>
            <a:ext cx="1940759" cy="15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0"/>
          <p:cNvCxnSpPr/>
          <p:nvPr/>
        </p:nvCxnSpPr>
        <p:spPr>
          <a:xfrm rot="10800000" flipH="1">
            <a:off x="4612800" y="3653650"/>
            <a:ext cx="1430400" cy="490800"/>
          </a:xfrm>
          <a:prstGeom prst="straightConnector1">
            <a:avLst/>
          </a:prstGeom>
          <a:noFill/>
          <a:ln w="2857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9" name="Google Shape;1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39750" y="3121763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046625" y="5097925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urier New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Procesos e hilos</a:t>
            </a:r>
            <a:endParaRPr sz="22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425" y="2178788"/>
            <a:ext cx="2976375" cy="4097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1"/>
          <p:cNvGrpSpPr/>
          <p:nvPr/>
        </p:nvGrpSpPr>
        <p:grpSpPr>
          <a:xfrm>
            <a:off x="1031388" y="3875488"/>
            <a:ext cx="1366500" cy="1312500"/>
            <a:chOff x="1358163" y="3791363"/>
            <a:chExt cx="1366500" cy="1312500"/>
          </a:xfrm>
        </p:grpSpPr>
        <p:sp>
          <p:nvSpPr>
            <p:cNvPr id="209" name="Google Shape;209;p21"/>
            <p:cNvSpPr/>
            <p:nvPr/>
          </p:nvSpPr>
          <p:spPr>
            <a:xfrm>
              <a:off x="1358163" y="3791363"/>
              <a:ext cx="1366500" cy="1312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59785" y="4065838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1"/>
          <p:cNvSpPr txBox="1"/>
          <p:nvPr/>
        </p:nvSpPr>
        <p:spPr>
          <a:xfrm>
            <a:off x="925800" y="5480991"/>
            <a:ext cx="1577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 Slab"/>
                <a:cs typeface="Roboto Slab"/>
                <a:sym typeface="Roboto Slab"/>
              </a:rPr>
              <a:t>Un</a:t>
            </a:r>
            <a:r>
              <a:rPr lang="es-ES" sz="1800" dirty="0">
                <a:ea typeface="Roboto Slab"/>
                <a:cs typeface="Roboto Slab"/>
                <a:sym typeface="Roboto Slab"/>
              </a:rPr>
              <a:t> hilo de ejecución</a:t>
            </a:r>
            <a:endParaRPr sz="1800" dirty="0">
              <a:ea typeface="Roboto Slab"/>
              <a:cs typeface="Roboto Slab"/>
              <a:sym typeface="Roboto Slab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798" y="1913000"/>
            <a:ext cx="1577700" cy="166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6411163" y="3722375"/>
            <a:ext cx="1425000" cy="1376700"/>
            <a:chOff x="8812663" y="3274038"/>
            <a:chExt cx="1425000" cy="1376700"/>
          </a:xfrm>
        </p:grpSpPr>
        <p:sp>
          <p:nvSpPr>
            <p:cNvPr id="214" name="Google Shape;214;p21"/>
            <p:cNvSpPr/>
            <p:nvPr/>
          </p:nvSpPr>
          <p:spPr>
            <a:xfrm>
              <a:off x="8812663" y="3274038"/>
              <a:ext cx="1425000" cy="1376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5" name="Google Shape;21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43522" y="3580600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024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70679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1"/>
          <p:cNvSpPr txBox="1"/>
          <p:nvPr/>
        </p:nvSpPr>
        <p:spPr>
          <a:xfrm>
            <a:off x="6334813" y="5358002"/>
            <a:ext cx="15777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38761D"/>
                </a:solidFill>
                <a:ea typeface="Roboto"/>
                <a:cs typeface="Roboto"/>
                <a:sym typeface="Roboto"/>
              </a:rPr>
              <a:t>Múltiples</a:t>
            </a:r>
            <a:r>
              <a:rPr lang="es-ES" sz="1800">
                <a:ea typeface="Roboto"/>
                <a:cs typeface="Roboto"/>
                <a:sym typeface="Roboto"/>
              </a:rPr>
              <a:t> hilos de ejecución</a:t>
            </a:r>
            <a:endParaRPr sz="1800"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3583" y="2178800"/>
            <a:ext cx="3735918" cy="41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0474" y="2178801"/>
            <a:ext cx="1819075" cy="10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Aplicaciones y concurrencia</a:t>
            </a:r>
            <a:endParaRPr sz="22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22"/>
          <p:cNvGrpSpPr/>
          <p:nvPr/>
        </p:nvGrpSpPr>
        <p:grpSpPr>
          <a:xfrm>
            <a:off x="3759919" y="1844340"/>
            <a:ext cx="4962416" cy="1588031"/>
            <a:chOff x="5636325" y="2545650"/>
            <a:chExt cx="5157900" cy="1628750"/>
          </a:xfrm>
        </p:grpSpPr>
        <p:sp>
          <p:nvSpPr>
            <p:cNvPr id="228" name="Google Shape;228;p22"/>
            <p:cNvSpPr/>
            <p:nvPr/>
          </p:nvSpPr>
          <p:spPr>
            <a:xfrm>
              <a:off x="5636601" y="2545658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7654275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9671950" y="2545650"/>
              <a:ext cx="1122000" cy="1093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RAM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31" name="Google Shape;231;p22"/>
            <p:cNvCxnSpPr/>
            <p:nvPr/>
          </p:nvCxnSpPr>
          <p:spPr>
            <a:xfrm>
              <a:off x="5636325" y="4174400"/>
              <a:ext cx="5157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22"/>
            <p:cNvCxnSpPr/>
            <p:nvPr/>
          </p:nvCxnSpPr>
          <p:spPr>
            <a:xfrm>
              <a:off x="619760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22"/>
            <p:cNvCxnSpPr/>
            <p:nvPr/>
          </p:nvCxnSpPr>
          <p:spPr>
            <a:xfrm flipH="1">
              <a:off x="8216309" y="3624629"/>
              <a:ext cx="2700" cy="549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22"/>
            <p:cNvCxnSpPr/>
            <p:nvPr/>
          </p:nvCxnSpPr>
          <p:spPr>
            <a:xfrm>
              <a:off x="1023025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35" name="Google Shape;2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075" y="3739955"/>
            <a:ext cx="2019575" cy="282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22"/>
          <p:cNvGrpSpPr/>
          <p:nvPr/>
        </p:nvGrpSpPr>
        <p:grpSpPr>
          <a:xfrm>
            <a:off x="951872" y="4192626"/>
            <a:ext cx="4962642" cy="2386237"/>
            <a:chOff x="1332975" y="3395660"/>
            <a:chExt cx="4578505" cy="2020865"/>
          </a:xfrm>
        </p:grpSpPr>
        <p:pic>
          <p:nvPicPr>
            <p:cNvPr id="237" name="Google Shape;23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2975" y="4039825"/>
              <a:ext cx="4578505" cy="1376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8" name="Google Shape;238;p22"/>
            <p:cNvGrpSpPr/>
            <p:nvPr/>
          </p:nvGrpSpPr>
          <p:grpSpPr>
            <a:xfrm>
              <a:off x="1516525" y="3395660"/>
              <a:ext cx="659100" cy="658200"/>
              <a:chOff x="1474450" y="3395660"/>
              <a:chExt cx="659100" cy="658200"/>
            </a:xfrm>
          </p:grpSpPr>
          <p:sp>
            <p:nvSpPr>
              <p:cNvPr id="239" name="Google Shape;239;p22"/>
              <p:cNvSpPr/>
              <p:nvPr/>
            </p:nvSpPr>
            <p:spPr>
              <a:xfrm>
                <a:off x="1474450" y="3395660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0" name="Google Shape;240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693003" y="3491443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1" name="Google Shape;241;p22"/>
            <p:cNvGrpSpPr/>
            <p:nvPr/>
          </p:nvGrpSpPr>
          <p:grpSpPr>
            <a:xfrm>
              <a:off x="5119127" y="3395660"/>
              <a:ext cx="659100" cy="658200"/>
              <a:chOff x="1544752" y="3395660"/>
              <a:chExt cx="659100" cy="658200"/>
            </a:xfrm>
          </p:grpSpPr>
          <p:sp>
            <p:nvSpPr>
              <p:cNvPr id="242" name="Google Shape;242;p22"/>
              <p:cNvSpPr/>
              <p:nvPr/>
            </p:nvSpPr>
            <p:spPr>
              <a:xfrm>
                <a:off x="1544752" y="3395660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3" name="Google Shape;24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763305" y="3491443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4" name="Google Shape;244;p22"/>
          <p:cNvGrpSpPr/>
          <p:nvPr/>
        </p:nvGrpSpPr>
        <p:grpSpPr>
          <a:xfrm>
            <a:off x="9496467" y="4930173"/>
            <a:ext cx="1150357" cy="1166149"/>
            <a:chOff x="9325050" y="4376550"/>
            <a:chExt cx="877800" cy="847800"/>
          </a:xfrm>
        </p:grpSpPr>
        <p:sp>
          <p:nvSpPr>
            <p:cNvPr id="245" name="Google Shape;245;p22"/>
            <p:cNvSpPr/>
            <p:nvPr/>
          </p:nvSpPr>
          <p:spPr>
            <a:xfrm>
              <a:off x="9325050" y="4376550"/>
              <a:ext cx="877800" cy="8478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6" name="Google Shape;246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652132" y="4565337"/>
              <a:ext cx="223827" cy="4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428305" y="4565345"/>
              <a:ext cx="223827" cy="4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875959" y="4565345"/>
              <a:ext cx="223827" cy="470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2"/>
          <p:cNvSpPr txBox="1"/>
          <p:nvPr/>
        </p:nvSpPr>
        <p:spPr>
          <a:xfrm>
            <a:off x="1086900" y="3637550"/>
            <a:ext cx="4692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Procesos que se comunican entre sí</a:t>
            </a:r>
            <a:endParaRPr sz="600">
              <a:solidFill>
                <a:schemeClr val="accent2"/>
              </a:solidFill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8311550" y="4018550"/>
            <a:ext cx="352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Procesos multihilo</a:t>
            </a:r>
            <a:endParaRPr sz="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body" idx="1"/>
          </p:nvPr>
        </p:nvSpPr>
        <p:spPr>
          <a:xfrm>
            <a:off x="916650" y="833725"/>
            <a:ext cx="10919700" cy="58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Virtualización de Memoria</a:t>
            </a:r>
            <a:endParaRPr sz="22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 rot="10800000" flipH="1">
            <a:off x="4803050" y="2195175"/>
            <a:ext cx="2460000" cy="14496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23"/>
          <p:cNvCxnSpPr/>
          <p:nvPr/>
        </p:nvCxnSpPr>
        <p:spPr>
          <a:xfrm>
            <a:off x="5285525" y="4270675"/>
            <a:ext cx="1949400" cy="8133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9" name="Google Shape;259;p23"/>
          <p:cNvSpPr txBox="1"/>
          <p:nvPr/>
        </p:nvSpPr>
        <p:spPr>
          <a:xfrm>
            <a:off x="4999350" y="21951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Virtualización de la CPU</a:t>
            </a:r>
            <a:endParaRPr sz="130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5355650" y="51730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Virtualización de memoria</a:t>
            </a:r>
            <a:endParaRPr sz="130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61" name="Google Shape;261;p23"/>
          <p:cNvGrpSpPr/>
          <p:nvPr/>
        </p:nvGrpSpPr>
        <p:grpSpPr>
          <a:xfrm>
            <a:off x="4229150" y="3185825"/>
            <a:ext cx="1430700" cy="1487100"/>
            <a:chOff x="4944875" y="4628350"/>
            <a:chExt cx="1430700" cy="1487100"/>
          </a:xfrm>
        </p:grpSpPr>
        <p:sp>
          <p:nvSpPr>
            <p:cNvPr id="262" name="Google Shape;262;p23"/>
            <p:cNvSpPr/>
            <p:nvPr/>
          </p:nvSpPr>
          <p:spPr>
            <a:xfrm>
              <a:off x="4944875" y="4628350"/>
              <a:ext cx="1430700" cy="1487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3" name="Google Shape;263;p23"/>
            <p:cNvGrpSpPr/>
            <p:nvPr/>
          </p:nvGrpSpPr>
          <p:grpSpPr>
            <a:xfrm>
              <a:off x="5827575" y="4966100"/>
              <a:ext cx="345307" cy="685359"/>
              <a:chOff x="5908225" y="4969600"/>
              <a:chExt cx="345307" cy="685359"/>
            </a:xfrm>
          </p:grpSpPr>
          <p:grpSp>
            <p:nvGrpSpPr>
              <p:cNvPr id="264" name="Google Shape;264;p23"/>
              <p:cNvGrpSpPr/>
              <p:nvPr/>
            </p:nvGrpSpPr>
            <p:grpSpPr>
              <a:xfrm>
                <a:off x="5908237" y="5236912"/>
                <a:ext cx="345294" cy="418047"/>
                <a:chOff x="3483121" y="2820042"/>
                <a:chExt cx="1080733" cy="714000"/>
              </a:xfrm>
            </p:grpSpPr>
            <p:sp>
              <p:nvSpPr>
                <p:cNvPr id="265" name="Google Shape;265;p23"/>
                <p:cNvSpPr/>
                <p:nvPr/>
              </p:nvSpPr>
              <p:spPr>
                <a:xfrm>
                  <a:off x="3485102" y="2820042"/>
                  <a:ext cx="1076100" cy="714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6" name="Google Shape;266;p23"/>
                <p:cNvCxnSpPr/>
                <p:nvPr/>
              </p:nvCxnSpPr>
              <p:spPr>
                <a:xfrm>
                  <a:off x="3483825" y="2911027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7" name="Google Shape;267;p23"/>
                <p:cNvCxnSpPr/>
                <p:nvPr/>
              </p:nvCxnSpPr>
              <p:spPr>
                <a:xfrm>
                  <a:off x="3483854" y="3008053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23"/>
                <p:cNvCxnSpPr/>
                <p:nvPr/>
              </p:nvCxnSpPr>
              <p:spPr>
                <a:xfrm>
                  <a:off x="3483121" y="3108635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9" name="Google Shape;269;p23"/>
                <p:cNvCxnSpPr/>
                <p:nvPr/>
              </p:nvCxnSpPr>
              <p:spPr>
                <a:xfrm>
                  <a:off x="3483150" y="3213468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0" name="Google Shape;270;p23"/>
              <p:cNvSpPr txBox="1"/>
              <p:nvPr/>
            </p:nvSpPr>
            <p:spPr>
              <a:xfrm>
                <a:off x="5908225" y="4969600"/>
                <a:ext cx="345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urier New"/>
                    <a:ea typeface="Courier New"/>
                    <a:cs typeface="Courier New"/>
                    <a:sym typeface="Courier New"/>
                  </a:rPr>
                  <a:t>AS</a:t>
                </a:r>
                <a:endParaRPr sz="10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71" name="Google Shape;271;p23"/>
            <p:cNvGrpSpPr/>
            <p:nvPr/>
          </p:nvGrpSpPr>
          <p:grpSpPr>
            <a:xfrm>
              <a:off x="5124375" y="5104400"/>
              <a:ext cx="345300" cy="532700"/>
              <a:chOff x="5126325" y="5016725"/>
              <a:chExt cx="345300" cy="532700"/>
            </a:xfrm>
          </p:grpSpPr>
          <p:pic>
            <p:nvPicPr>
              <p:cNvPr id="272" name="Google Shape;272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168375" y="5105866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23"/>
              <p:cNvSpPr/>
              <p:nvPr/>
            </p:nvSpPr>
            <p:spPr>
              <a:xfrm>
                <a:off x="5126325" y="501672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T1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74" name="Google Shape;274;p23"/>
            <p:cNvGrpSpPr/>
            <p:nvPr/>
          </p:nvGrpSpPr>
          <p:grpSpPr>
            <a:xfrm>
              <a:off x="5340313" y="5357525"/>
              <a:ext cx="345300" cy="526875"/>
              <a:chOff x="5357863" y="5389075"/>
              <a:chExt cx="345300" cy="526875"/>
            </a:xfrm>
          </p:grpSpPr>
          <p:pic>
            <p:nvPicPr>
              <p:cNvPr id="275" name="Google Shape;275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400450" y="54723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6" name="Google Shape;276;p23"/>
              <p:cNvSpPr/>
              <p:nvPr/>
            </p:nvSpPr>
            <p:spPr>
              <a:xfrm>
                <a:off x="5357863" y="538907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T2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77" name="Google Shape;277;p23"/>
            <p:cNvGrpSpPr/>
            <p:nvPr/>
          </p:nvGrpSpPr>
          <p:grpSpPr>
            <a:xfrm>
              <a:off x="5516300" y="5148950"/>
              <a:ext cx="345300" cy="526938"/>
              <a:chOff x="5565375" y="4994713"/>
              <a:chExt cx="345300" cy="526938"/>
            </a:xfrm>
          </p:grpSpPr>
          <p:pic>
            <p:nvPicPr>
              <p:cNvPr id="278" name="Google Shape;278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32525" y="50780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9" name="Google Shape;279;p23"/>
              <p:cNvSpPr/>
              <p:nvPr/>
            </p:nvSpPr>
            <p:spPr>
              <a:xfrm>
                <a:off x="5565375" y="4994713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T3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pSp>
        <p:nvGrpSpPr>
          <p:cNvPr id="280" name="Google Shape;280;p23"/>
          <p:cNvGrpSpPr/>
          <p:nvPr/>
        </p:nvGrpSpPr>
        <p:grpSpPr>
          <a:xfrm>
            <a:off x="7423700" y="1418725"/>
            <a:ext cx="1389688" cy="2103125"/>
            <a:chOff x="6161513" y="2642175"/>
            <a:chExt cx="1389688" cy="2103125"/>
          </a:xfrm>
        </p:grpSpPr>
        <p:sp>
          <p:nvSpPr>
            <p:cNvPr id="281" name="Google Shape;281;p23"/>
            <p:cNvSpPr txBox="1"/>
            <p:nvPr/>
          </p:nvSpPr>
          <p:spPr>
            <a:xfrm>
              <a:off x="6295300" y="2642175"/>
              <a:ext cx="109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CPU[T1]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82" name="Google Shape;282;p23"/>
            <p:cNvGrpSpPr/>
            <p:nvPr/>
          </p:nvGrpSpPr>
          <p:grpSpPr>
            <a:xfrm>
              <a:off x="6161513" y="3042375"/>
              <a:ext cx="1338300" cy="1301700"/>
              <a:chOff x="6161513" y="3042375"/>
              <a:chExt cx="1338300" cy="1301700"/>
            </a:xfrm>
          </p:grpSpPr>
          <p:sp>
            <p:nvSpPr>
              <p:cNvPr id="283" name="Google Shape;283;p23"/>
              <p:cNvSpPr/>
              <p:nvPr/>
            </p:nvSpPr>
            <p:spPr>
              <a:xfrm>
                <a:off x="6161513" y="3042375"/>
                <a:ext cx="1338300" cy="13017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4" name="Google Shape;284;p23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285" name="Google Shape;285;p23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23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287" name="Google Shape;287;p23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288" name="Google Shape;288;p23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89" name="Google Shape;289;p23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0" name="Google Shape;290;p23"/>
              <p:cNvSpPr txBox="1"/>
              <p:nvPr/>
            </p:nvSpPr>
            <p:spPr>
              <a:xfrm>
                <a:off x="6609250" y="3810275"/>
                <a:ext cx="529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urier New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91" name="Google Shape;291;p23"/>
            <p:cNvSpPr txBox="1"/>
            <p:nvPr/>
          </p:nvSpPr>
          <p:spPr>
            <a:xfrm>
              <a:off x="6182600" y="439130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2" name="Google Shape;292;p23"/>
          <p:cNvGrpSpPr/>
          <p:nvPr/>
        </p:nvGrpSpPr>
        <p:grpSpPr>
          <a:xfrm>
            <a:off x="8974050" y="1418725"/>
            <a:ext cx="1389688" cy="2103125"/>
            <a:chOff x="6161513" y="2642175"/>
            <a:chExt cx="1389688" cy="2103125"/>
          </a:xfrm>
        </p:grpSpPr>
        <p:sp>
          <p:nvSpPr>
            <p:cNvPr id="293" name="Google Shape;293;p23"/>
            <p:cNvSpPr txBox="1"/>
            <p:nvPr/>
          </p:nvSpPr>
          <p:spPr>
            <a:xfrm>
              <a:off x="6295300" y="2642175"/>
              <a:ext cx="109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CPU[T2]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94" name="Google Shape;294;p23"/>
            <p:cNvGrpSpPr/>
            <p:nvPr/>
          </p:nvGrpSpPr>
          <p:grpSpPr>
            <a:xfrm>
              <a:off x="6161513" y="3042375"/>
              <a:ext cx="1338300" cy="1301700"/>
              <a:chOff x="6161513" y="3042375"/>
              <a:chExt cx="1338300" cy="1301700"/>
            </a:xfrm>
          </p:grpSpPr>
          <p:sp>
            <p:nvSpPr>
              <p:cNvPr id="295" name="Google Shape;295;p23"/>
              <p:cNvSpPr/>
              <p:nvPr/>
            </p:nvSpPr>
            <p:spPr>
              <a:xfrm>
                <a:off x="6161513" y="3042375"/>
                <a:ext cx="1338300" cy="13017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6" name="Google Shape;296;p23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297" name="Google Shape;297;p23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Google Shape;298;p23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299" name="Google Shape;299;p23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300" name="Google Shape;300;p23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01" name="Google Shape;301;p23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2" name="Google Shape;302;p23"/>
              <p:cNvSpPr txBox="1"/>
              <p:nvPr/>
            </p:nvSpPr>
            <p:spPr>
              <a:xfrm>
                <a:off x="6609250" y="3810275"/>
                <a:ext cx="529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urier New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03" name="Google Shape;303;p23"/>
            <p:cNvSpPr txBox="1"/>
            <p:nvPr/>
          </p:nvSpPr>
          <p:spPr>
            <a:xfrm>
              <a:off x="6182600" y="439130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04" name="Google Shape;304;p23"/>
          <p:cNvGrpSpPr/>
          <p:nvPr/>
        </p:nvGrpSpPr>
        <p:grpSpPr>
          <a:xfrm>
            <a:off x="10524400" y="1418713"/>
            <a:ext cx="1389688" cy="2103125"/>
            <a:chOff x="6161513" y="2642175"/>
            <a:chExt cx="1389688" cy="2103125"/>
          </a:xfrm>
        </p:grpSpPr>
        <p:sp>
          <p:nvSpPr>
            <p:cNvPr id="305" name="Google Shape;305;p23"/>
            <p:cNvSpPr txBox="1"/>
            <p:nvPr/>
          </p:nvSpPr>
          <p:spPr>
            <a:xfrm>
              <a:off x="6295300" y="2642175"/>
              <a:ext cx="109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CPU[T3]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306" name="Google Shape;306;p23"/>
            <p:cNvGrpSpPr/>
            <p:nvPr/>
          </p:nvGrpSpPr>
          <p:grpSpPr>
            <a:xfrm>
              <a:off x="6161513" y="3042375"/>
              <a:ext cx="1338300" cy="1301700"/>
              <a:chOff x="6161513" y="3042375"/>
              <a:chExt cx="1338300" cy="1301700"/>
            </a:xfrm>
          </p:grpSpPr>
          <p:sp>
            <p:nvSpPr>
              <p:cNvPr id="307" name="Google Shape;307;p23"/>
              <p:cNvSpPr/>
              <p:nvPr/>
            </p:nvSpPr>
            <p:spPr>
              <a:xfrm>
                <a:off x="6161513" y="3042375"/>
                <a:ext cx="1338300" cy="13017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8" name="Google Shape;308;p23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309" name="Google Shape;309;p23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23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311" name="Google Shape;311;p23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312" name="Google Shape;312;p23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13" name="Google Shape;313;p23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4" name="Google Shape;314;p23"/>
              <p:cNvSpPr txBox="1"/>
              <p:nvPr/>
            </p:nvSpPr>
            <p:spPr>
              <a:xfrm>
                <a:off x="6609250" y="3810275"/>
                <a:ext cx="529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urier New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15" name="Google Shape;315;p23"/>
            <p:cNvSpPr txBox="1"/>
            <p:nvPr/>
          </p:nvSpPr>
          <p:spPr>
            <a:xfrm>
              <a:off x="6182600" y="439130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16" name="Google Shape;316;p23"/>
          <p:cNvGrpSpPr/>
          <p:nvPr/>
        </p:nvGrpSpPr>
        <p:grpSpPr>
          <a:xfrm>
            <a:off x="7434250" y="3886575"/>
            <a:ext cx="1368600" cy="2885700"/>
            <a:chOff x="5681650" y="3886575"/>
            <a:chExt cx="1368600" cy="2885700"/>
          </a:xfrm>
        </p:grpSpPr>
        <p:sp>
          <p:nvSpPr>
            <p:cNvPr id="317" name="Google Shape;317;p23"/>
            <p:cNvSpPr txBox="1"/>
            <p:nvPr/>
          </p:nvSpPr>
          <p:spPr>
            <a:xfrm>
              <a:off x="5681650" y="6249075"/>
              <a:ext cx="1368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Address Space multi Stack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318" name="Google Shape;318;p23"/>
            <p:cNvGrpSpPr/>
            <p:nvPr/>
          </p:nvGrpSpPr>
          <p:grpSpPr>
            <a:xfrm>
              <a:off x="5835000" y="3886575"/>
              <a:ext cx="1079550" cy="2362500"/>
              <a:chOff x="5835000" y="4191375"/>
              <a:chExt cx="1079550" cy="2362500"/>
            </a:xfrm>
          </p:grpSpPr>
          <p:sp>
            <p:nvSpPr>
              <p:cNvPr id="319" name="Google Shape;319;p23"/>
              <p:cNvSpPr/>
              <p:nvPr/>
            </p:nvSpPr>
            <p:spPr>
              <a:xfrm>
                <a:off x="5835000" y="4563075"/>
                <a:ext cx="1076100" cy="19908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3"/>
              <p:cNvSpPr/>
              <p:nvPr/>
            </p:nvSpPr>
            <p:spPr>
              <a:xfrm>
                <a:off x="5835000" y="456307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1" name="Google Shape;321;p23"/>
              <p:cNvSpPr/>
              <p:nvPr/>
            </p:nvSpPr>
            <p:spPr>
              <a:xfrm>
                <a:off x="5835000" y="48512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cxnSp>
            <p:nvCxnSpPr>
              <p:cNvPr id="322" name="Google Shape;322;p23"/>
              <p:cNvCxnSpPr>
                <a:stCxn id="321" idx="2"/>
              </p:cNvCxnSpPr>
              <p:nvPr/>
            </p:nvCxnSpPr>
            <p:spPr>
              <a:xfrm>
                <a:off x="6373050" y="513560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23" name="Google Shape;323;p23"/>
              <p:cNvGrpSpPr/>
              <p:nvPr/>
            </p:nvGrpSpPr>
            <p:grpSpPr>
              <a:xfrm>
                <a:off x="5835000" y="6263025"/>
                <a:ext cx="1076100" cy="289800"/>
                <a:chOff x="5835000" y="6263025"/>
                <a:chExt cx="1076100" cy="289800"/>
              </a:xfrm>
            </p:grpSpPr>
            <p:sp>
              <p:nvSpPr>
                <p:cNvPr id="324" name="Google Shape;324;p23"/>
                <p:cNvSpPr/>
                <p:nvPr/>
              </p:nvSpPr>
              <p:spPr>
                <a:xfrm>
                  <a:off x="5835000" y="6433125"/>
                  <a:ext cx="1076100" cy="119700"/>
                </a:xfrm>
                <a:prstGeom prst="rect">
                  <a:avLst/>
                </a:prstGeom>
                <a:solidFill>
                  <a:srgbClr val="FCE5CD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stack[T1]</a:t>
                  </a:r>
                  <a:endParaRPr/>
                </a:p>
              </p:txBody>
            </p:sp>
            <p:cxnSp>
              <p:nvCxnSpPr>
                <p:cNvPr id="325" name="Google Shape;325;p23"/>
                <p:cNvCxnSpPr>
                  <a:stCxn id="324" idx="0"/>
                </p:cNvCxnSpPr>
                <p:nvPr/>
              </p:nvCxnSpPr>
              <p:spPr>
                <a:xfrm rot="10800000" flipH="1">
                  <a:off x="6373050" y="6263025"/>
                  <a:ext cx="300" cy="170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26" name="Google Shape;326;p23"/>
              <p:cNvSpPr txBox="1"/>
              <p:nvPr/>
            </p:nvSpPr>
            <p:spPr>
              <a:xfrm>
                <a:off x="5887950" y="41913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VM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327" name="Google Shape;327;p23"/>
              <p:cNvGrpSpPr/>
              <p:nvPr/>
            </p:nvGrpSpPr>
            <p:grpSpPr>
              <a:xfrm>
                <a:off x="5835000" y="5908725"/>
                <a:ext cx="1076100" cy="289800"/>
                <a:chOff x="5835000" y="6263025"/>
                <a:chExt cx="1076100" cy="289800"/>
              </a:xfrm>
            </p:grpSpPr>
            <p:sp>
              <p:nvSpPr>
                <p:cNvPr id="328" name="Google Shape;328;p23"/>
                <p:cNvSpPr/>
                <p:nvPr/>
              </p:nvSpPr>
              <p:spPr>
                <a:xfrm>
                  <a:off x="5835000" y="6433125"/>
                  <a:ext cx="1076100" cy="1197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stack[T2]</a:t>
                  </a:r>
                  <a:endParaRPr/>
                </a:p>
              </p:txBody>
            </p:sp>
            <p:cxnSp>
              <p:nvCxnSpPr>
                <p:cNvPr id="329" name="Google Shape;329;p23"/>
                <p:cNvCxnSpPr>
                  <a:stCxn id="328" idx="0"/>
                </p:cNvCxnSpPr>
                <p:nvPr/>
              </p:nvCxnSpPr>
              <p:spPr>
                <a:xfrm rot="10800000" flipH="1">
                  <a:off x="6373050" y="6263025"/>
                  <a:ext cx="300" cy="170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330" name="Google Shape;330;p23"/>
              <p:cNvGrpSpPr/>
              <p:nvPr/>
            </p:nvGrpSpPr>
            <p:grpSpPr>
              <a:xfrm>
                <a:off x="5838450" y="5554413"/>
                <a:ext cx="1076100" cy="289800"/>
                <a:chOff x="5835000" y="6263025"/>
                <a:chExt cx="1076100" cy="289800"/>
              </a:xfrm>
            </p:grpSpPr>
            <p:sp>
              <p:nvSpPr>
                <p:cNvPr id="331" name="Google Shape;331;p23"/>
                <p:cNvSpPr/>
                <p:nvPr/>
              </p:nvSpPr>
              <p:spPr>
                <a:xfrm>
                  <a:off x="5835000" y="6433125"/>
                  <a:ext cx="1076100" cy="1197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stack[T1]</a:t>
                  </a:r>
                  <a:endParaRPr/>
                </a:p>
              </p:txBody>
            </p:sp>
            <p:cxnSp>
              <p:nvCxnSpPr>
                <p:cNvPr id="332" name="Google Shape;332;p23"/>
                <p:cNvCxnSpPr>
                  <a:stCxn id="331" idx="0"/>
                </p:cNvCxnSpPr>
                <p:nvPr/>
              </p:nvCxnSpPr>
              <p:spPr>
                <a:xfrm rot="10800000" flipH="1">
                  <a:off x="6373050" y="6263025"/>
                  <a:ext cx="300" cy="170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pic>
        <p:nvPicPr>
          <p:cNvPr id="333" name="Google Shape;3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50" y="2896250"/>
            <a:ext cx="3394024" cy="20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339" name="Google Shape;339;p24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Virtualización de Memoria</a:t>
            </a:r>
            <a:endParaRPr sz="22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0" name="Google Shape;340;p24"/>
          <p:cNvGrpSpPr/>
          <p:nvPr/>
        </p:nvGrpSpPr>
        <p:grpSpPr>
          <a:xfrm>
            <a:off x="1017020" y="3244336"/>
            <a:ext cx="1069049" cy="1100714"/>
            <a:chOff x="2019475" y="2346963"/>
            <a:chExt cx="590700" cy="628800"/>
          </a:xfrm>
        </p:grpSpPr>
        <p:sp>
          <p:nvSpPr>
            <p:cNvPr id="341" name="Google Shape;341;p24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3" name="Google Shape;343;p24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44" name="Google Shape;344;p24"/>
          <p:cNvSpPr/>
          <p:nvPr/>
        </p:nvSpPr>
        <p:spPr>
          <a:xfrm>
            <a:off x="1256188" y="4766700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5" name="Google Shape;345;p24"/>
          <p:cNvSpPr/>
          <p:nvPr/>
        </p:nvSpPr>
        <p:spPr>
          <a:xfrm>
            <a:off x="1185213" y="5309763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6" name="Google Shape;346;p24"/>
          <p:cNvSpPr/>
          <p:nvPr/>
        </p:nvSpPr>
        <p:spPr>
          <a:xfrm>
            <a:off x="1380100" y="4804838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1309125" y="5309750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48" name="Google Shape;348;p24"/>
          <p:cNvGrpSpPr/>
          <p:nvPr/>
        </p:nvGrpSpPr>
        <p:grpSpPr>
          <a:xfrm>
            <a:off x="2506800" y="2853675"/>
            <a:ext cx="1430400" cy="1713775"/>
            <a:chOff x="3490825" y="3157175"/>
            <a:chExt cx="1430400" cy="1713775"/>
          </a:xfrm>
        </p:grpSpPr>
        <p:sp>
          <p:nvSpPr>
            <p:cNvPr id="349" name="Google Shape;349;p24"/>
            <p:cNvSpPr/>
            <p:nvPr/>
          </p:nvSpPr>
          <p:spPr>
            <a:xfrm>
              <a:off x="3490825" y="3513150"/>
              <a:ext cx="1430400" cy="1357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" name="Google Shape;350;p24"/>
            <p:cNvGrpSpPr/>
            <p:nvPr/>
          </p:nvGrpSpPr>
          <p:grpSpPr>
            <a:xfrm>
              <a:off x="3669122" y="4044450"/>
              <a:ext cx="1140003" cy="295200"/>
              <a:chOff x="3669122" y="4044450"/>
              <a:chExt cx="1140003" cy="295200"/>
            </a:xfrm>
          </p:grpSpPr>
          <p:sp>
            <p:nvSpPr>
              <p:cNvPr id="351" name="Google Shape;351;p24"/>
              <p:cNvSpPr/>
              <p:nvPr/>
            </p:nvSpPr>
            <p:spPr>
              <a:xfrm>
                <a:off x="4135925" y="4044450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3669122" y="4044450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PC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353" name="Google Shape;353;p24"/>
            <p:cNvGrpSpPr/>
            <p:nvPr/>
          </p:nvGrpSpPr>
          <p:grpSpPr>
            <a:xfrm>
              <a:off x="3669122" y="4435275"/>
              <a:ext cx="1140003" cy="295200"/>
              <a:chOff x="3669122" y="4435275"/>
              <a:chExt cx="1140003" cy="295200"/>
            </a:xfrm>
          </p:grpSpPr>
          <p:sp>
            <p:nvSpPr>
              <p:cNvPr id="354" name="Google Shape;354;p24"/>
              <p:cNvSpPr/>
              <p:nvPr/>
            </p:nvSpPr>
            <p:spPr>
              <a:xfrm>
                <a:off x="4135925" y="4435275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3669122" y="4435275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SP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56" name="Google Shape;356;p24"/>
            <p:cNvSpPr/>
            <p:nvPr/>
          </p:nvSpPr>
          <p:spPr>
            <a:xfrm>
              <a:off x="3972626" y="3157175"/>
              <a:ext cx="6120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357" name="Google Shape;357;p24"/>
          <p:cNvGraphicFramePr/>
          <p:nvPr/>
        </p:nvGraphicFramePr>
        <p:xfrm>
          <a:off x="4695100" y="255281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8" name="Google Shape;358;p24"/>
          <p:cNvGraphicFramePr/>
          <p:nvPr/>
        </p:nvGraphicFramePr>
        <p:xfrm>
          <a:off x="4695100" y="447846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9" name="Google Shape;359;p24"/>
          <p:cNvSpPr/>
          <p:nvPr/>
        </p:nvSpPr>
        <p:spPr>
          <a:xfrm>
            <a:off x="4357919" y="268422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0" name="Google Shape;360;p24"/>
          <p:cNvSpPr/>
          <p:nvPr/>
        </p:nvSpPr>
        <p:spPr>
          <a:xfrm>
            <a:off x="4357919" y="453940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1" name="Google Shape;361;p24"/>
          <p:cNvSpPr/>
          <p:nvPr/>
        </p:nvSpPr>
        <p:spPr>
          <a:xfrm>
            <a:off x="6905740" y="3110620"/>
            <a:ext cx="201019" cy="78584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2" name="Google Shape;362;p24"/>
          <p:cNvSpPr/>
          <p:nvPr/>
        </p:nvSpPr>
        <p:spPr>
          <a:xfrm>
            <a:off x="11322912" y="4340199"/>
            <a:ext cx="201019" cy="78584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363" name="Google Shape;363;p24"/>
          <p:cNvCxnSpPr/>
          <p:nvPr/>
        </p:nvCxnSpPr>
        <p:spPr>
          <a:xfrm rot="10800000" flipH="1">
            <a:off x="7081796" y="4130324"/>
            <a:ext cx="4344000" cy="216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24"/>
          <p:cNvSpPr/>
          <p:nvPr/>
        </p:nvSpPr>
        <p:spPr>
          <a:xfrm>
            <a:off x="6720500" y="2409000"/>
            <a:ext cx="571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2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11137653" y="2409000"/>
            <a:ext cx="571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2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8535754" y="3570276"/>
            <a:ext cx="1436100" cy="44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</a:t>
            </a: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2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7416611" y="4334552"/>
            <a:ext cx="3674400" cy="7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rabicPeriod"/>
            </a:pP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AutoNum type="arabicPeriod"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373" name="Google Shape;373;p25"/>
          <p:cNvSpPr txBox="1">
            <a:spLocks noGrp="1"/>
          </p:cNvSpPr>
          <p:nvPr>
            <p:ph type="body" idx="1"/>
          </p:nvPr>
        </p:nvSpPr>
        <p:spPr>
          <a:xfrm>
            <a:off x="916650" y="889825"/>
            <a:ext cx="5126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Concurrencia .vs. Paralelismo</a:t>
            </a:r>
            <a:endParaRPr sz="22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4" name="Google Shape;3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825" y="2333838"/>
            <a:ext cx="5328726" cy="5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2938" y="4193175"/>
            <a:ext cx="3211626" cy="11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4787" y="2994112"/>
            <a:ext cx="3752425" cy="113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0849" y="5047388"/>
            <a:ext cx="3740302" cy="122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25"/>
          <p:cNvCxnSpPr/>
          <p:nvPr/>
        </p:nvCxnSpPr>
        <p:spPr>
          <a:xfrm rot="10800000" flipH="1">
            <a:off x="5875025" y="3499350"/>
            <a:ext cx="1935300" cy="939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" name="Google Shape;379;p25"/>
          <p:cNvCxnSpPr/>
          <p:nvPr/>
        </p:nvCxnSpPr>
        <p:spPr>
          <a:xfrm>
            <a:off x="5846975" y="4859700"/>
            <a:ext cx="1837200" cy="897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25"/>
          <p:cNvSpPr txBox="1">
            <a:spLocks noGrp="1"/>
          </p:cNvSpPr>
          <p:nvPr>
            <p:ph type="body" idx="1"/>
          </p:nvPr>
        </p:nvSpPr>
        <p:spPr>
          <a:xfrm>
            <a:off x="3196375" y="1611825"/>
            <a:ext cx="23982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Concurrencia</a:t>
            </a:r>
            <a:endParaRPr sz="2400" b="1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3119550" y="3499338"/>
            <a:ext cx="23982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Paralelismo</a:t>
            </a:r>
            <a:endParaRPr sz="24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1"/>
          </p:nvPr>
        </p:nvSpPr>
        <p:spPr>
          <a:xfrm>
            <a:off x="5734800" y="3329650"/>
            <a:ext cx="1479300" cy="6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Paralelismo</a:t>
            </a:r>
            <a:endParaRPr sz="1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 datos</a:t>
            </a:r>
            <a:endParaRPr sz="1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5"/>
          <p:cNvSpPr txBox="1">
            <a:spLocks noGrp="1"/>
          </p:cNvSpPr>
          <p:nvPr>
            <p:ph type="body" idx="1"/>
          </p:nvPr>
        </p:nvSpPr>
        <p:spPr>
          <a:xfrm>
            <a:off x="5734800" y="5425763"/>
            <a:ext cx="1479300" cy="6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Paralelismo</a:t>
            </a:r>
            <a:endParaRPr sz="1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 tareas</a:t>
            </a:r>
            <a:endParaRPr sz="1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Paralelizar código</a:t>
            </a:r>
            <a:endParaRPr sz="22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0" name="Google Shape;390;p26"/>
          <p:cNvGrpSpPr/>
          <p:nvPr/>
        </p:nvGrpSpPr>
        <p:grpSpPr>
          <a:xfrm>
            <a:off x="8111745" y="2528186"/>
            <a:ext cx="1068900" cy="1100700"/>
            <a:chOff x="1293070" y="3233273"/>
            <a:chExt cx="1068900" cy="1100700"/>
          </a:xfrm>
        </p:grpSpPr>
        <p:sp>
          <p:nvSpPr>
            <p:cNvPr id="391" name="Google Shape;391;p26"/>
            <p:cNvSpPr/>
            <p:nvPr/>
          </p:nvSpPr>
          <p:spPr>
            <a:xfrm>
              <a:off x="1293070" y="3233273"/>
              <a:ext cx="1068900" cy="11007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1885751" y="3525189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3" name="Google Shape;393;p26"/>
            <p:cNvSpPr/>
            <p:nvPr/>
          </p:nvSpPr>
          <p:spPr>
            <a:xfrm>
              <a:off x="1561301" y="3525202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94" name="Google Shape;394;p26"/>
          <p:cNvGrpSpPr/>
          <p:nvPr/>
        </p:nvGrpSpPr>
        <p:grpSpPr>
          <a:xfrm>
            <a:off x="3719345" y="2590361"/>
            <a:ext cx="1069049" cy="1100714"/>
            <a:chOff x="2019475" y="2346963"/>
            <a:chExt cx="590700" cy="628800"/>
          </a:xfrm>
        </p:grpSpPr>
        <p:sp>
          <p:nvSpPr>
            <p:cNvPr id="395" name="Google Shape;395;p26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97" name="Google Shape;397;p26"/>
          <p:cNvSpPr/>
          <p:nvPr/>
        </p:nvSpPr>
        <p:spPr>
          <a:xfrm>
            <a:off x="5103675" y="2699925"/>
            <a:ext cx="2692800" cy="7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Paralelizar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3812725" y="4512950"/>
            <a:ext cx="882300" cy="82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99" name="Google Shape;399;p26"/>
          <p:cNvGrpSpPr/>
          <p:nvPr/>
        </p:nvGrpSpPr>
        <p:grpSpPr>
          <a:xfrm>
            <a:off x="7486550" y="4479913"/>
            <a:ext cx="2319300" cy="1165875"/>
            <a:chOff x="840200" y="4591400"/>
            <a:chExt cx="2319300" cy="1165875"/>
          </a:xfrm>
        </p:grpSpPr>
        <p:sp>
          <p:nvSpPr>
            <p:cNvPr id="400" name="Google Shape;400;p26"/>
            <p:cNvSpPr/>
            <p:nvPr/>
          </p:nvSpPr>
          <p:spPr>
            <a:xfrm>
              <a:off x="100080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214895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02" name="Google Shape;402;p26"/>
            <p:cNvCxnSpPr/>
            <p:nvPr/>
          </p:nvCxnSpPr>
          <p:spPr>
            <a:xfrm rot="10800000" flipH="1">
              <a:off x="840200" y="5746475"/>
              <a:ext cx="2319300" cy="10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26"/>
            <p:cNvCxnSpPr>
              <a:stCxn id="400" idx="2"/>
            </p:cNvCxnSpPr>
            <p:nvPr/>
          </p:nvCxnSpPr>
          <p:spPr>
            <a:xfrm>
              <a:off x="1437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26"/>
            <p:cNvCxnSpPr/>
            <p:nvPr/>
          </p:nvCxnSpPr>
          <p:spPr>
            <a:xfrm>
              <a:off x="2582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410" name="Google Shape;410;p27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7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Comparación entre procesos e hilos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1" name="Google Shape;411;p27"/>
          <p:cNvGrpSpPr/>
          <p:nvPr/>
        </p:nvGrpSpPr>
        <p:grpSpPr>
          <a:xfrm>
            <a:off x="2198693" y="3770696"/>
            <a:ext cx="612969" cy="600504"/>
            <a:chOff x="2019475" y="2346963"/>
            <a:chExt cx="590700" cy="628800"/>
          </a:xfrm>
        </p:grpSpPr>
        <p:sp>
          <p:nvSpPr>
            <p:cNvPr id="412" name="Google Shape;412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14" name="Google Shape;414;p27"/>
          <p:cNvGrpSpPr/>
          <p:nvPr/>
        </p:nvGrpSpPr>
        <p:grpSpPr>
          <a:xfrm>
            <a:off x="9840703" y="3135737"/>
            <a:ext cx="700372" cy="3071100"/>
            <a:chOff x="3674128" y="2910437"/>
            <a:chExt cx="700372" cy="3071100"/>
          </a:xfrm>
        </p:grpSpPr>
        <p:cxnSp>
          <p:nvCxnSpPr>
            <p:cNvPr id="415" name="Google Shape;415;p27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6" name="Google Shape;416;p27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7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27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grpSp>
        <p:nvGrpSpPr>
          <p:cNvPr id="419" name="Google Shape;419;p27"/>
          <p:cNvGrpSpPr/>
          <p:nvPr/>
        </p:nvGrpSpPr>
        <p:grpSpPr>
          <a:xfrm>
            <a:off x="1851606" y="2853733"/>
            <a:ext cx="612969" cy="600504"/>
            <a:chOff x="2019475" y="2346963"/>
            <a:chExt cx="590700" cy="628800"/>
          </a:xfrm>
        </p:grpSpPr>
        <p:sp>
          <p:nvSpPr>
            <p:cNvPr id="420" name="Google Shape;420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22" name="Google Shape;422;p27"/>
          <p:cNvGrpSpPr/>
          <p:nvPr/>
        </p:nvGrpSpPr>
        <p:grpSpPr>
          <a:xfrm>
            <a:off x="3872803" y="3135737"/>
            <a:ext cx="700372" cy="3071100"/>
            <a:chOff x="3674128" y="2910437"/>
            <a:chExt cx="700372" cy="3071100"/>
          </a:xfrm>
        </p:grpSpPr>
        <p:cxnSp>
          <p:nvCxnSpPr>
            <p:cNvPr id="423" name="Google Shape;423;p27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4" name="Google Shape;424;p27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27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7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427" name="Google Shape;427;p27"/>
          <p:cNvSpPr/>
          <p:nvPr/>
        </p:nvSpPr>
        <p:spPr>
          <a:xfrm>
            <a:off x="3102375" y="3405900"/>
            <a:ext cx="700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fork</a:t>
            </a:r>
            <a:endParaRPr sz="14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2693175" y="5530450"/>
            <a:ext cx="1109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waitpid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4672275" y="5165650"/>
            <a:ext cx="1637934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s-ES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exit</a:t>
            </a:r>
            <a:endParaRPr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8019467" y="3405900"/>
            <a:ext cx="1820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endParaRPr sz="14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0636450" y="510767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8084199" y="5598700"/>
            <a:ext cx="1598701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3" name="Google Shape;433;p27"/>
          <p:cNvCxnSpPr/>
          <p:nvPr/>
        </p:nvCxnSpPr>
        <p:spPr>
          <a:xfrm rot="10800000">
            <a:off x="1205150" y="35883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34" name="Google Shape;434;p27"/>
          <p:cNvGrpSpPr/>
          <p:nvPr/>
        </p:nvGrpSpPr>
        <p:grpSpPr>
          <a:xfrm>
            <a:off x="7222181" y="2853733"/>
            <a:ext cx="612969" cy="600504"/>
            <a:chOff x="2019475" y="2346963"/>
            <a:chExt cx="590700" cy="628800"/>
          </a:xfrm>
        </p:grpSpPr>
        <p:sp>
          <p:nvSpPr>
            <p:cNvPr id="435" name="Google Shape;435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37" name="Google Shape;437;p27"/>
          <p:cNvGrpSpPr/>
          <p:nvPr/>
        </p:nvGrpSpPr>
        <p:grpSpPr>
          <a:xfrm>
            <a:off x="7222181" y="3770708"/>
            <a:ext cx="612900" cy="600600"/>
            <a:chOff x="6778856" y="5262408"/>
            <a:chExt cx="612900" cy="600600"/>
          </a:xfrm>
        </p:grpSpPr>
        <p:sp>
          <p:nvSpPr>
            <p:cNvPr id="438" name="Google Shape;438;p27"/>
            <p:cNvSpPr/>
            <p:nvPr/>
          </p:nvSpPr>
          <p:spPr>
            <a:xfrm>
              <a:off x="6778856" y="5262408"/>
              <a:ext cx="612900" cy="6006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6940106" y="5421650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" name="Google Shape;440;p27"/>
            <p:cNvSpPr/>
            <p:nvPr/>
          </p:nvSpPr>
          <p:spPr>
            <a:xfrm>
              <a:off x="7114470" y="542165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41" name="Google Shape;441;p27"/>
          <p:cNvGrpSpPr/>
          <p:nvPr/>
        </p:nvGrpSpPr>
        <p:grpSpPr>
          <a:xfrm>
            <a:off x="1359481" y="3754058"/>
            <a:ext cx="612969" cy="600504"/>
            <a:chOff x="2019475" y="2346963"/>
            <a:chExt cx="590700" cy="628800"/>
          </a:xfrm>
        </p:grpSpPr>
        <p:sp>
          <p:nvSpPr>
            <p:cNvPr id="442" name="Google Shape;442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444" name="Google Shape;444;p27"/>
          <p:cNvCxnSpPr/>
          <p:nvPr/>
        </p:nvCxnSpPr>
        <p:spPr>
          <a:xfrm rot="10800000">
            <a:off x="6631138" y="35883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27"/>
          <p:cNvCxnSpPr/>
          <p:nvPr/>
        </p:nvCxnSpPr>
        <p:spPr>
          <a:xfrm rot="10800000">
            <a:off x="1302638" y="571285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46" name="Google Shape;446;p27"/>
          <p:cNvGrpSpPr/>
          <p:nvPr/>
        </p:nvGrpSpPr>
        <p:grpSpPr>
          <a:xfrm>
            <a:off x="1851606" y="5895258"/>
            <a:ext cx="612969" cy="600504"/>
            <a:chOff x="2019475" y="2346963"/>
            <a:chExt cx="590700" cy="628800"/>
          </a:xfrm>
        </p:grpSpPr>
        <p:sp>
          <p:nvSpPr>
            <p:cNvPr id="447" name="Google Shape;447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449" name="Google Shape;449;p27"/>
          <p:cNvCxnSpPr/>
          <p:nvPr/>
        </p:nvCxnSpPr>
        <p:spPr>
          <a:xfrm rot="10800000">
            <a:off x="6631150" y="578110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50" name="Google Shape;450;p27"/>
          <p:cNvGrpSpPr/>
          <p:nvPr/>
        </p:nvGrpSpPr>
        <p:grpSpPr>
          <a:xfrm>
            <a:off x="7347506" y="5895258"/>
            <a:ext cx="612969" cy="600504"/>
            <a:chOff x="2019475" y="2346963"/>
            <a:chExt cx="590700" cy="628800"/>
          </a:xfrm>
        </p:grpSpPr>
        <p:sp>
          <p:nvSpPr>
            <p:cNvPr id="451" name="Google Shape;451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53" name="Google Shape;453;p27"/>
          <p:cNvSpPr/>
          <p:nvPr/>
        </p:nvSpPr>
        <p:spPr>
          <a:xfrm>
            <a:off x="3102375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Procesos</a:t>
            </a:r>
            <a:endParaRPr sz="20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9134213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Hilos</a:t>
            </a:r>
            <a:endParaRPr sz="20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5" name="Google Shape;4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649" y="1837599"/>
            <a:ext cx="733551" cy="7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2287" y="1977811"/>
            <a:ext cx="879074" cy="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462" name="Google Shape;462;p28"/>
          <p:cNvSpPr txBox="1">
            <a:spLocks noGrp="1"/>
          </p:cNvSpPr>
          <p:nvPr>
            <p:ph type="body" idx="1"/>
          </p:nvPr>
        </p:nvSpPr>
        <p:spPr>
          <a:xfrm>
            <a:off x="916650" y="83372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Virtualización de Memoria - Virtual memory</a:t>
            </a:r>
            <a:endParaRPr sz="22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28"/>
          <p:cNvGrpSpPr/>
          <p:nvPr/>
        </p:nvGrpSpPr>
        <p:grpSpPr>
          <a:xfrm>
            <a:off x="4876763" y="1949700"/>
            <a:ext cx="4078194" cy="4449350"/>
            <a:chOff x="7168838" y="1887525"/>
            <a:chExt cx="4078194" cy="4449350"/>
          </a:xfrm>
        </p:grpSpPr>
        <p:grpSp>
          <p:nvGrpSpPr>
            <p:cNvPr id="464" name="Google Shape;464;p28"/>
            <p:cNvGrpSpPr/>
            <p:nvPr/>
          </p:nvGrpSpPr>
          <p:grpSpPr>
            <a:xfrm>
              <a:off x="9835838" y="2382275"/>
              <a:ext cx="705238" cy="3954600"/>
              <a:chOff x="3669263" y="2842775"/>
              <a:chExt cx="705238" cy="3954600"/>
            </a:xfrm>
          </p:grpSpPr>
          <p:cxnSp>
            <p:nvCxnSpPr>
              <p:cNvPr id="465" name="Google Shape;465;p28"/>
              <p:cNvCxnSpPr/>
              <p:nvPr/>
            </p:nvCxnSpPr>
            <p:spPr>
              <a:xfrm>
                <a:off x="3669263" y="2842775"/>
                <a:ext cx="18900" cy="395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66" name="Google Shape;466;p28"/>
              <p:cNvCxnSpPr/>
              <p:nvPr/>
            </p:nvCxnSpPr>
            <p:spPr>
              <a:xfrm>
                <a:off x="3691400" y="4100075"/>
                <a:ext cx="683100" cy="229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28"/>
              <p:cNvCxnSpPr/>
              <p:nvPr/>
            </p:nvCxnSpPr>
            <p:spPr>
              <a:xfrm>
                <a:off x="4360375" y="4329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28"/>
              <p:cNvCxnSpPr/>
              <p:nvPr/>
            </p:nvCxnSpPr>
            <p:spPr>
              <a:xfrm rot="10800000" flipH="1">
                <a:off x="3687200" y="5465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469" name="Google Shape;469;p28"/>
            <p:cNvSpPr/>
            <p:nvPr/>
          </p:nvSpPr>
          <p:spPr>
            <a:xfrm>
              <a:off x="8036150" y="25758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8408700" y="4912900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71" name="Google Shape;471;p28"/>
            <p:cNvGrpSpPr/>
            <p:nvPr/>
          </p:nvGrpSpPr>
          <p:grpSpPr>
            <a:xfrm>
              <a:off x="7239668" y="2252333"/>
              <a:ext cx="612969" cy="600504"/>
              <a:chOff x="2019475" y="2346963"/>
              <a:chExt cx="590700" cy="628800"/>
            </a:xfrm>
          </p:grpSpPr>
          <p:sp>
            <p:nvSpPr>
              <p:cNvPr id="472" name="Google Shape;472;p2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74" name="Google Shape;474;p28"/>
            <p:cNvGrpSpPr/>
            <p:nvPr/>
          </p:nvGrpSpPr>
          <p:grpSpPr>
            <a:xfrm>
              <a:off x="7239706" y="2963133"/>
              <a:ext cx="612900" cy="600600"/>
              <a:chOff x="6778856" y="5262408"/>
              <a:chExt cx="612900" cy="600600"/>
            </a:xfrm>
          </p:grpSpPr>
          <p:sp>
            <p:nvSpPr>
              <p:cNvPr id="475" name="Google Shape;475;p28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7" name="Google Shape;477;p28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478" name="Google Shape;478;p28"/>
            <p:cNvCxnSpPr/>
            <p:nvPr/>
          </p:nvCxnSpPr>
          <p:spPr>
            <a:xfrm rot="10800000">
              <a:off x="7168838" y="29177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28"/>
            <p:cNvCxnSpPr/>
            <p:nvPr/>
          </p:nvCxnSpPr>
          <p:spPr>
            <a:xfrm flipH="1">
              <a:off x="7221250" y="54601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480" name="Google Shape;480;p28"/>
            <p:cNvGrpSpPr/>
            <p:nvPr/>
          </p:nvGrpSpPr>
          <p:grpSpPr>
            <a:xfrm>
              <a:off x="7319456" y="5560058"/>
              <a:ext cx="612969" cy="600504"/>
              <a:chOff x="2019475" y="2346963"/>
              <a:chExt cx="590700" cy="628800"/>
            </a:xfrm>
          </p:grpSpPr>
          <p:sp>
            <p:nvSpPr>
              <p:cNvPr id="481" name="Google Shape;481;p2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83" name="Google Shape;483;p28"/>
            <p:cNvSpPr/>
            <p:nvPr/>
          </p:nvSpPr>
          <p:spPr>
            <a:xfrm>
              <a:off x="9134213" y="1887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84" name="Google Shape;484;p28"/>
            <p:cNvGrpSpPr/>
            <p:nvPr/>
          </p:nvGrpSpPr>
          <p:grpSpPr>
            <a:xfrm>
              <a:off x="9829750" y="2924320"/>
              <a:ext cx="1417281" cy="2566677"/>
              <a:chOff x="3687200" y="3373100"/>
              <a:chExt cx="687300" cy="2159775"/>
            </a:xfrm>
          </p:grpSpPr>
          <p:cxnSp>
            <p:nvCxnSpPr>
              <p:cNvPr id="485" name="Google Shape;485;p28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28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28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488" name="Google Shape;488;p28"/>
            <p:cNvSpPr/>
            <p:nvPr/>
          </p:nvSpPr>
          <p:spPr>
            <a:xfrm>
              <a:off x="8036150" y="3260913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89" name="Google Shape;489;p28"/>
            <p:cNvCxnSpPr/>
            <p:nvPr/>
          </p:nvCxnSpPr>
          <p:spPr>
            <a:xfrm rot="10800000">
              <a:off x="7186563" y="3622425"/>
              <a:ext cx="2570100" cy="33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490" name="Google Shape;490;p28"/>
            <p:cNvGrpSpPr/>
            <p:nvPr/>
          </p:nvGrpSpPr>
          <p:grpSpPr>
            <a:xfrm>
              <a:off x="7255356" y="3684433"/>
              <a:ext cx="612900" cy="600600"/>
              <a:chOff x="7290431" y="4001983"/>
              <a:chExt cx="612900" cy="600600"/>
            </a:xfrm>
          </p:grpSpPr>
          <p:sp>
            <p:nvSpPr>
              <p:cNvPr id="491" name="Google Shape;491;p28"/>
              <p:cNvSpPr/>
              <p:nvPr/>
            </p:nvSpPr>
            <p:spPr>
              <a:xfrm>
                <a:off x="7290431" y="4001983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7385081" y="4164725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3" name="Google Shape;493;p28"/>
              <p:cNvSpPr/>
              <p:nvPr/>
            </p:nvSpPr>
            <p:spPr>
              <a:xfrm>
                <a:off x="7534895" y="416122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4" name="Google Shape;494;p28"/>
              <p:cNvSpPr/>
              <p:nvPr/>
            </p:nvSpPr>
            <p:spPr>
              <a:xfrm>
                <a:off x="7676795" y="41628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95" name="Google Shape;495;p28"/>
            <p:cNvSpPr/>
            <p:nvPr/>
          </p:nvSpPr>
          <p:spPr>
            <a:xfrm>
              <a:off x="8408700" y="5095300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9651707" y="22714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28"/>
            <p:cNvSpPr/>
            <p:nvPr/>
          </p:nvSpPr>
          <p:spPr>
            <a:xfrm>
              <a:off x="11023495" y="36257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8" name="Google Shape;498;p28"/>
            <p:cNvSpPr/>
            <p:nvPr/>
          </p:nvSpPr>
          <p:spPr>
            <a:xfrm>
              <a:off x="10339570" y="39556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9" name="Google Shape;499;p28"/>
            <p:cNvSpPr txBox="1"/>
            <p:nvPr/>
          </p:nvSpPr>
          <p:spPr>
            <a:xfrm>
              <a:off x="9079300" y="22430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500" name="Google Shape;500;p28"/>
            <p:cNvSpPr txBox="1"/>
            <p:nvPr/>
          </p:nvSpPr>
          <p:spPr>
            <a:xfrm>
              <a:off x="10451100" y="35973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501" name="Google Shape;501;p28"/>
            <p:cNvSpPr txBox="1"/>
            <p:nvPr/>
          </p:nvSpPr>
          <p:spPr>
            <a:xfrm>
              <a:off x="9756675" y="39272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200">
                <a:solidFill>
                  <a:srgbClr val="0B6937"/>
                </a:solidFill>
              </a:endParaRPr>
            </a:p>
          </p:txBody>
        </p:sp>
      </p:grpSp>
      <p:pic>
        <p:nvPicPr>
          <p:cNvPr id="502" name="Google Shape;5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9924" y="2277325"/>
            <a:ext cx="702250" cy="7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8"/>
          <p:cNvSpPr txBox="1"/>
          <p:nvPr/>
        </p:nvSpPr>
        <p:spPr>
          <a:xfrm>
            <a:off x="9438150" y="3620200"/>
            <a:ext cx="2398200" cy="800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void *mythread(void *arg)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printf("%s\n", (char *) arg);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return NULL;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1597525" y="2207200"/>
            <a:ext cx="3203700" cy="40329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int main(int argc, char *argv[]) {                   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pthread_t p1, p2;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printf("main: begin\n");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Pthread_create(&amp;p1, NULL, </a:t>
            </a:r>
            <a:r>
              <a:rPr lang="es-ES" sz="100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0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, "A");</a:t>
            </a:r>
            <a:endParaRPr sz="1000">
              <a:highlight>
                <a:srgbClr val="CFE2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Pthread_create(&amp;p2, NULL, </a:t>
            </a:r>
            <a:r>
              <a:rPr lang="es-ES" sz="100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0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, "B");</a:t>
            </a:r>
            <a:endParaRPr sz="100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Pthread_join(p1, NULL);</a:t>
            </a: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Pthread_join(p2, NULL); </a:t>
            </a:r>
            <a:endParaRPr sz="100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printf("main: end\n");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  return 0;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05" name="Google Shape;505;p28"/>
          <p:cNvGrpSpPr/>
          <p:nvPr/>
        </p:nvGrpSpPr>
        <p:grpSpPr>
          <a:xfrm>
            <a:off x="881777" y="3226800"/>
            <a:ext cx="640200" cy="1431720"/>
            <a:chOff x="881677" y="2888100"/>
            <a:chExt cx="640200" cy="1431720"/>
          </a:xfrm>
        </p:grpSpPr>
        <p:sp>
          <p:nvSpPr>
            <p:cNvPr id="506" name="Google Shape;506;p28"/>
            <p:cNvSpPr/>
            <p:nvPr/>
          </p:nvSpPr>
          <p:spPr>
            <a:xfrm>
              <a:off x="1122708" y="3370334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" name="Google Shape;507;p28"/>
            <p:cNvSpPr txBox="1"/>
            <p:nvPr/>
          </p:nvSpPr>
          <p:spPr>
            <a:xfrm>
              <a:off x="881677" y="2888100"/>
              <a:ext cx="64020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400">
                <a:solidFill>
                  <a:srgbClr val="FF0000"/>
                </a:solidFill>
              </a:endParaRPr>
            </a:p>
          </p:txBody>
        </p:sp>
      </p:grpSp>
      <p:grpSp>
        <p:nvGrpSpPr>
          <p:cNvPr id="508" name="Google Shape;508;p28"/>
          <p:cNvGrpSpPr/>
          <p:nvPr/>
        </p:nvGrpSpPr>
        <p:grpSpPr>
          <a:xfrm>
            <a:off x="9869525" y="2058875"/>
            <a:ext cx="572400" cy="1420382"/>
            <a:chOff x="9869525" y="1806425"/>
            <a:chExt cx="572400" cy="1420382"/>
          </a:xfrm>
        </p:grpSpPr>
        <p:sp>
          <p:nvSpPr>
            <p:cNvPr id="509" name="Google Shape;509;p28"/>
            <p:cNvSpPr/>
            <p:nvPr/>
          </p:nvSpPr>
          <p:spPr>
            <a:xfrm>
              <a:off x="10076670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0" name="Google Shape;510;p28"/>
            <p:cNvSpPr txBox="1"/>
            <p:nvPr/>
          </p:nvSpPr>
          <p:spPr>
            <a:xfrm>
              <a:off x="9869525" y="1806425"/>
              <a:ext cx="5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solidFill>
                  <a:srgbClr val="0000FF"/>
                </a:solidFill>
              </a:endParaRPr>
            </a:p>
          </p:txBody>
        </p:sp>
      </p:grpSp>
      <p:grpSp>
        <p:nvGrpSpPr>
          <p:cNvPr id="511" name="Google Shape;511;p28"/>
          <p:cNvGrpSpPr/>
          <p:nvPr/>
        </p:nvGrpSpPr>
        <p:grpSpPr>
          <a:xfrm>
            <a:off x="10610950" y="2058875"/>
            <a:ext cx="572400" cy="1420382"/>
            <a:chOff x="10639000" y="1806425"/>
            <a:chExt cx="572400" cy="1420382"/>
          </a:xfrm>
        </p:grpSpPr>
        <p:sp>
          <p:nvSpPr>
            <p:cNvPr id="512" name="Google Shape;512;p28"/>
            <p:cNvSpPr/>
            <p:nvPr/>
          </p:nvSpPr>
          <p:spPr>
            <a:xfrm>
              <a:off x="10846145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" name="Google Shape;513;p28"/>
            <p:cNvSpPr txBox="1"/>
            <p:nvPr/>
          </p:nvSpPr>
          <p:spPr>
            <a:xfrm>
              <a:off x="10639000" y="1806425"/>
              <a:ext cx="5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solidFill>
                  <a:srgbClr val="0B6937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519" name="Google Shape;519;p29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45516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Virtualización de Memoria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"/>
          <p:cNvSpPr txBox="1"/>
          <p:nvPr/>
        </p:nvSpPr>
        <p:spPr>
          <a:xfrm>
            <a:off x="5037650" y="2254700"/>
            <a:ext cx="26496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grpSp>
        <p:nvGrpSpPr>
          <p:cNvPr id="521" name="Google Shape;521;p29"/>
          <p:cNvGrpSpPr/>
          <p:nvPr/>
        </p:nvGrpSpPr>
        <p:grpSpPr>
          <a:xfrm>
            <a:off x="8681661" y="2008550"/>
            <a:ext cx="3232811" cy="923400"/>
            <a:chOff x="3715281" y="2736425"/>
            <a:chExt cx="3851794" cy="923400"/>
          </a:xfrm>
        </p:grpSpPr>
        <p:sp>
          <p:nvSpPr>
            <p:cNvPr id="522" name="Google Shape;522;p29"/>
            <p:cNvSpPr txBox="1"/>
            <p:nvPr/>
          </p:nvSpPr>
          <p:spPr>
            <a:xfrm>
              <a:off x="4442276" y="2736425"/>
              <a:ext cx="31248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23" name="Google Shape;523;p29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24" name="Google Shape;524;p29"/>
          <p:cNvSpPr/>
          <p:nvPr/>
        </p:nvSpPr>
        <p:spPr>
          <a:xfrm>
            <a:off x="7882150" y="2301950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5" name="Google Shape;5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800" y="3212925"/>
            <a:ext cx="7041850" cy="341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29"/>
          <p:cNvGrpSpPr/>
          <p:nvPr/>
        </p:nvGrpSpPr>
        <p:grpSpPr>
          <a:xfrm>
            <a:off x="3334800" y="3585800"/>
            <a:ext cx="572400" cy="1420382"/>
            <a:chOff x="9869525" y="1806425"/>
            <a:chExt cx="572400" cy="1420382"/>
          </a:xfrm>
        </p:grpSpPr>
        <p:sp>
          <p:nvSpPr>
            <p:cNvPr id="527" name="Google Shape;527;p29"/>
            <p:cNvSpPr/>
            <p:nvPr/>
          </p:nvSpPr>
          <p:spPr>
            <a:xfrm>
              <a:off x="10076670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8" name="Google Shape;528;p29"/>
            <p:cNvSpPr txBox="1"/>
            <p:nvPr/>
          </p:nvSpPr>
          <p:spPr>
            <a:xfrm>
              <a:off x="9869525" y="1806425"/>
              <a:ext cx="572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529" name="Google Shape;529;p29"/>
          <p:cNvGrpSpPr/>
          <p:nvPr/>
        </p:nvGrpSpPr>
        <p:grpSpPr>
          <a:xfrm>
            <a:off x="4019400" y="3585800"/>
            <a:ext cx="572400" cy="1420382"/>
            <a:chOff x="10639000" y="1806425"/>
            <a:chExt cx="572400" cy="1420382"/>
          </a:xfrm>
        </p:grpSpPr>
        <p:sp>
          <p:nvSpPr>
            <p:cNvPr id="530" name="Google Shape;530;p29"/>
            <p:cNvSpPr/>
            <p:nvPr/>
          </p:nvSpPr>
          <p:spPr>
            <a:xfrm>
              <a:off x="10846145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1" name="Google Shape;531;p29"/>
            <p:cNvSpPr txBox="1"/>
            <p:nvPr/>
          </p:nvSpPr>
          <p:spPr>
            <a:xfrm>
              <a:off x="10639000" y="1806425"/>
              <a:ext cx="572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532" name="Google Shape;532;p29"/>
          <p:cNvGraphicFramePr/>
          <p:nvPr/>
        </p:nvGraphicFramePr>
        <p:xfrm>
          <a:off x="1149600" y="2254695"/>
          <a:ext cx="1886650" cy="38768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4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PC[T1]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PC[T2]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547" name="Google Shape;547;p31"/>
          <p:cNvSpPr txBox="1">
            <a:spLocks noGrp="1"/>
          </p:cNvSpPr>
          <p:nvPr>
            <p:ph type="body" idx="1"/>
          </p:nvPr>
        </p:nvSpPr>
        <p:spPr>
          <a:xfrm>
            <a:off x="916650" y="723400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Sección crítica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48" name="Google Shape;548;p31"/>
          <p:cNvSpPr txBox="1">
            <a:spLocks noGrp="1"/>
          </p:cNvSpPr>
          <p:nvPr>
            <p:ph type="body" idx="4294967295"/>
          </p:nvPr>
        </p:nvSpPr>
        <p:spPr>
          <a:xfrm>
            <a:off x="257475" y="1336100"/>
            <a:ext cx="11677050" cy="88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Es una </a:t>
            </a:r>
            <a:r>
              <a:rPr lang="es-ES" sz="2400" b="1" dirty="0"/>
              <a:t>pieza de código</a:t>
            </a:r>
            <a:r>
              <a:rPr lang="es-ES" sz="2400" dirty="0"/>
              <a:t> que accede a un recurso compartido, usualmente una variable o estructura de datos. </a:t>
            </a:r>
            <a:endParaRPr sz="28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49" name="Google Shape;5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600" y="2772100"/>
            <a:ext cx="2769325" cy="207699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1"/>
          <p:cNvSpPr txBox="1"/>
          <p:nvPr/>
        </p:nvSpPr>
        <p:spPr>
          <a:xfrm>
            <a:off x="4458525" y="2557625"/>
            <a:ext cx="6956100" cy="26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void *mythread(void *arg)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char *letter = arg;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int i; // stack (private per thread)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printf("%s: begin [addr of i: %p]\n", letter, &amp;i);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for (i = 0; i &lt; max; i++)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counter = counter + 1; // sección critica</a:t>
            </a:r>
            <a:endParaRPr sz="160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printf("%s: done\n", letter);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return NULL;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1403425" y="5785775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grpSp>
        <p:nvGrpSpPr>
          <p:cNvPr id="552" name="Google Shape;552;p31"/>
          <p:cNvGrpSpPr/>
          <p:nvPr/>
        </p:nvGrpSpPr>
        <p:grpSpPr>
          <a:xfrm>
            <a:off x="6372786" y="5539625"/>
            <a:ext cx="4010092" cy="923400"/>
            <a:chOff x="3715281" y="2736425"/>
            <a:chExt cx="4777901" cy="923400"/>
          </a:xfrm>
        </p:grpSpPr>
        <p:sp>
          <p:nvSpPr>
            <p:cNvPr id="553" name="Google Shape;553;p31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54" name="Google Shape;554;p31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55" name="Google Shape;555;p31"/>
          <p:cNvSpPr/>
          <p:nvPr/>
        </p:nvSpPr>
        <p:spPr>
          <a:xfrm>
            <a:off x="5117675" y="5833025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2"/>
          <p:cNvSpPr txBox="1">
            <a:spLocks noGrp="1"/>
          </p:cNvSpPr>
          <p:nvPr>
            <p:ph type="title"/>
          </p:nvPr>
        </p:nvSpPr>
        <p:spPr>
          <a:xfrm>
            <a:off x="294968" y="96038"/>
            <a:ext cx="89256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"/>
          </p:nvPr>
        </p:nvSpPr>
        <p:spPr>
          <a:xfrm>
            <a:off x="251275" y="767813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Race condition (condición de carrera)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4294967295"/>
          </p:nvPr>
        </p:nvSpPr>
        <p:spPr>
          <a:xfrm>
            <a:off x="335333" y="1362950"/>
            <a:ext cx="8304213" cy="20637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Condición que se da cuando múltiples hilos de ejecución ingresan en la sección crítica a la misma vez.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Cuando los hilos que se encuentran en la región crítica intentan modificar datos compartidos </a:t>
            </a:r>
            <a:r>
              <a:rPr lang="es-ES" sz="2400" b="1" dirty="0">
                <a:solidFill>
                  <a:srgbClr val="FF0000"/>
                </a:solidFill>
              </a:rPr>
              <a:t>los resultados son inesperados</a:t>
            </a:r>
            <a:r>
              <a:rPr lang="es-ES" sz="2400" dirty="0"/>
              <a:t>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63" name="Google Shape;5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9623" y="1446110"/>
            <a:ext cx="2031325" cy="1929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4" name="Google Shape;564;p32"/>
          <p:cNvGrpSpPr/>
          <p:nvPr/>
        </p:nvGrpSpPr>
        <p:grpSpPr>
          <a:xfrm>
            <a:off x="2283700" y="3489900"/>
            <a:ext cx="8285725" cy="3101075"/>
            <a:chOff x="2207500" y="3489900"/>
            <a:chExt cx="8285725" cy="3101075"/>
          </a:xfrm>
        </p:grpSpPr>
        <p:grpSp>
          <p:nvGrpSpPr>
            <p:cNvPr id="565" name="Google Shape;565;p32"/>
            <p:cNvGrpSpPr/>
            <p:nvPr/>
          </p:nvGrpSpPr>
          <p:grpSpPr>
            <a:xfrm>
              <a:off x="2207500" y="3489900"/>
              <a:ext cx="8285725" cy="3007350"/>
              <a:chOff x="1293100" y="3718500"/>
              <a:chExt cx="8285725" cy="3007350"/>
            </a:xfrm>
          </p:grpSpPr>
          <p:cxnSp>
            <p:nvCxnSpPr>
              <p:cNvPr id="566" name="Google Shape;566;p32"/>
              <p:cNvCxnSpPr/>
              <p:nvPr/>
            </p:nvCxnSpPr>
            <p:spPr>
              <a:xfrm rot="10800000" flipH="1">
                <a:off x="2678525" y="4747600"/>
                <a:ext cx="6870900" cy="8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32"/>
              <p:cNvCxnSpPr/>
              <p:nvPr/>
            </p:nvCxnSpPr>
            <p:spPr>
              <a:xfrm rot="10800000" flipH="1">
                <a:off x="2678525" y="5906475"/>
                <a:ext cx="6900300" cy="1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8" name="Google Shape;568;p32"/>
              <p:cNvSpPr txBox="1"/>
              <p:nvPr/>
            </p:nvSpPr>
            <p:spPr>
              <a:xfrm>
                <a:off x="1293100" y="4540150"/>
                <a:ext cx="1314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Thread T1</a:t>
                </a:r>
                <a:endParaRPr sz="1600" b="1">
                  <a:solidFill>
                    <a:srgbClr val="0000FF"/>
                  </a:solidFill>
                </a:endParaRPr>
              </a:p>
            </p:txBody>
          </p:sp>
          <p:sp>
            <p:nvSpPr>
              <p:cNvPr id="569" name="Google Shape;569;p32"/>
              <p:cNvSpPr txBox="1"/>
              <p:nvPr/>
            </p:nvSpPr>
            <p:spPr>
              <a:xfrm>
                <a:off x="1293100" y="5692725"/>
                <a:ext cx="1314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Thread T2</a:t>
                </a:r>
                <a:endParaRPr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70" name="Google Shape;570;p32"/>
              <p:cNvCxnSpPr/>
              <p:nvPr/>
            </p:nvCxnSpPr>
            <p:spPr>
              <a:xfrm>
                <a:off x="3813400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71" name="Google Shape;571;p32"/>
              <p:cNvSpPr txBox="1"/>
              <p:nvPr/>
            </p:nvSpPr>
            <p:spPr>
              <a:xfrm>
                <a:off x="4051825" y="4005225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T1 entra a la región crítica</a:t>
                </a:r>
                <a:endParaRPr sz="1000">
                  <a:solidFill>
                    <a:srgbClr val="0000FF"/>
                  </a:solidFill>
                </a:endParaRPr>
              </a:p>
            </p:txBody>
          </p:sp>
          <p:sp>
            <p:nvSpPr>
              <p:cNvPr id="572" name="Google Shape;572;p32"/>
              <p:cNvSpPr txBox="1"/>
              <p:nvPr/>
            </p:nvSpPr>
            <p:spPr>
              <a:xfrm>
                <a:off x="7135350" y="4005225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T1 sale de la región crítica</a:t>
                </a:r>
                <a:endParaRPr sz="100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573" name="Google Shape;573;p32"/>
              <p:cNvCxnSpPr/>
              <p:nvPr/>
            </p:nvCxnSpPr>
            <p:spPr>
              <a:xfrm flipH="1">
                <a:off x="3852325" y="4252900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74" name="Google Shape;574;p32"/>
              <p:cNvSpPr/>
              <p:nvPr/>
            </p:nvSpPr>
            <p:spPr>
              <a:xfrm>
                <a:off x="3813400" y="4671550"/>
                <a:ext cx="3097500" cy="168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5732875" y="5822850"/>
                <a:ext cx="2326200" cy="168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6" name="Google Shape;576;p32"/>
              <p:cNvCxnSpPr/>
              <p:nvPr/>
            </p:nvCxnSpPr>
            <p:spPr>
              <a:xfrm>
                <a:off x="5718875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32"/>
              <p:cNvCxnSpPr/>
              <p:nvPr/>
            </p:nvCxnSpPr>
            <p:spPr>
              <a:xfrm>
                <a:off x="8059100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8" name="Google Shape;578;p32"/>
              <p:cNvCxnSpPr/>
              <p:nvPr/>
            </p:nvCxnSpPr>
            <p:spPr>
              <a:xfrm flipH="1">
                <a:off x="6935850" y="4251025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79" name="Google Shape;579;p32"/>
              <p:cNvSpPr txBox="1"/>
              <p:nvPr/>
            </p:nvSpPr>
            <p:spPr>
              <a:xfrm>
                <a:off x="5943225" y="6233250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T2 entra a la región crítica</a:t>
                </a:r>
                <a:endParaRPr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580" name="Google Shape;580;p32"/>
              <p:cNvSpPr txBox="1"/>
              <p:nvPr/>
            </p:nvSpPr>
            <p:spPr>
              <a:xfrm>
                <a:off x="8327175" y="6233250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T2 sale de la región crítica</a:t>
                </a:r>
                <a:endParaRPr sz="100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81" name="Google Shape;581;p32"/>
              <p:cNvCxnSpPr/>
              <p:nvPr/>
            </p:nvCxnSpPr>
            <p:spPr>
              <a:xfrm rot="10800000">
                <a:off x="5773400" y="6046150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2" name="Google Shape;582;p32"/>
              <p:cNvCxnSpPr/>
              <p:nvPr/>
            </p:nvCxnSpPr>
            <p:spPr>
              <a:xfrm rot="10800000">
                <a:off x="8127675" y="6002225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83" name="Google Shape;583;p32"/>
              <p:cNvGrpSpPr/>
              <p:nvPr/>
            </p:nvGrpSpPr>
            <p:grpSpPr>
              <a:xfrm>
                <a:off x="6369161" y="4976182"/>
                <a:ext cx="452438" cy="626189"/>
                <a:chOff x="6940106" y="5421650"/>
                <a:chExt cx="268509" cy="281991"/>
              </a:xfrm>
            </p:grpSpPr>
            <p:sp>
              <p:nvSpPr>
                <p:cNvPr id="584" name="Google Shape;584;p32"/>
                <p:cNvSpPr/>
                <p:nvPr/>
              </p:nvSpPr>
              <p:spPr>
                <a:xfrm>
                  <a:off x="6940106" y="5421650"/>
                  <a:ext cx="94145" cy="28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" h="11811" extrusionOk="0">
                      <a:moveTo>
                        <a:pt x="2413" y="0"/>
                      </a:moveTo>
                      <a:cubicBezTo>
                        <a:pt x="1515" y="180"/>
                        <a:pt x="-381" y="762"/>
                        <a:pt x="127" y="1524"/>
                      </a:cubicBezTo>
                      <a:cubicBezTo>
                        <a:pt x="695" y="2376"/>
                        <a:pt x="2717" y="989"/>
                        <a:pt x="3175" y="1905"/>
                      </a:cubicBezTo>
                      <a:cubicBezTo>
                        <a:pt x="3633" y="2821"/>
                        <a:pt x="1232" y="2705"/>
                        <a:pt x="508" y="3429"/>
                      </a:cubicBezTo>
                      <a:cubicBezTo>
                        <a:pt x="-339" y="4276"/>
                        <a:pt x="3847" y="4172"/>
                        <a:pt x="3556" y="5334"/>
                      </a:cubicBezTo>
                      <a:cubicBezTo>
                        <a:pt x="3156" y="6936"/>
                        <a:pt x="2173" y="8340"/>
                        <a:pt x="1651" y="9906"/>
                      </a:cubicBezTo>
                      <a:cubicBezTo>
                        <a:pt x="1394" y="10677"/>
                        <a:pt x="3750" y="11236"/>
                        <a:pt x="3175" y="11811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5" name="Google Shape;585;p32"/>
                <p:cNvSpPr/>
                <p:nvPr/>
              </p:nvSpPr>
              <p:spPr>
                <a:xfrm>
                  <a:off x="7114470" y="5421653"/>
                  <a:ext cx="94145" cy="28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" h="11811" extrusionOk="0">
                      <a:moveTo>
                        <a:pt x="2413" y="0"/>
                      </a:moveTo>
                      <a:cubicBezTo>
                        <a:pt x="1515" y="180"/>
                        <a:pt x="-381" y="762"/>
                        <a:pt x="127" y="1524"/>
                      </a:cubicBezTo>
                      <a:cubicBezTo>
                        <a:pt x="695" y="2376"/>
                        <a:pt x="2717" y="989"/>
                        <a:pt x="3175" y="1905"/>
                      </a:cubicBezTo>
                      <a:cubicBezTo>
                        <a:pt x="3633" y="2821"/>
                        <a:pt x="1232" y="2705"/>
                        <a:pt x="508" y="3429"/>
                      </a:cubicBezTo>
                      <a:cubicBezTo>
                        <a:pt x="-339" y="4276"/>
                        <a:pt x="3847" y="4172"/>
                        <a:pt x="3556" y="5334"/>
                      </a:cubicBezTo>
                      <a:cubicBezTo>
                        <a:pt x="3156" y="6936"/>
                        <a:pt x="2173" y="8340"/>
                        <a:pt x="1651" y="9906"/>
                      </a:cubicBezTo>
                      <a:cubicBezTo>
                        <a:pt x="1394" y="10677"/>
                        <a:pt x="3750" y="11236"/>
                        <a:pt x="3175" y="11811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86" name="Google Shape;586;p32"/>
              <p:cNvSpPr/>
              <p:nvPr/>
            </p:nvSpPr>
            <p:spPr>
              <a:xfrm>
                <a:off x="7721261" y="4976182"/>
                <a:ext cx="158633" cy="626190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7" name="Google Shape;587;p32"/>
              <p:cNvSpPr/>
              <p:nvPr/>
            </p:nvSpPr>
            <p:spPr>
              <a:xfrm>
                <a:off x="5083764" y="5017988"/>
                <a:ext cx="158633" cy="626190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588" name="Google Shape;588;p32"/>
              <p:cNvCxnSpPr/>
              <p:nvPr/>
            </p:nvCxnSpPr>
            <p:spPr>
              <a:xfrm>
                <a:off x="6910950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589" name="Google Shape;589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277475" y="5103200"/>
                <a:ext cx="589281" cy="4557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0" name="Google Shape;590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 flipH="1">
                <a:off x="5837287" y="5173038"/>
                <a:ext cx="589281" cy="4557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1" name="Google Shape;591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021462" y="5103188"/>
                <a:ext cx="589281" cy="4557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" name="Google Shape;592;p32"/>
              <p:cNvSpPr/>
              <p:nvPr/>
            </p:nvSpPr>
            <p:spPr>
              <a:xfrm rot="5400000">
                <a:off x="6237000" y="3844900"/>
                <a:ext cx="158700" cy="11895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 txBox="1"/>
              <p:nvPr/>
            </p:nvSpPr>
            <p:spPr>
              <a:xfrm>
                <a:off x="5698201" y="3718500"/>
                <a:ext cx="12363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rgbClr val="FF99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Race condition</a:t>
                </a:r>
                <a:endParaRPr sz="1600" b="1" dirty="0">
                  <a:solidFill>
                    <a:srgbClr val="FF9900"/>
                  </a:solidFill>
                </a:endParaRPr>
              </a:p>
            </p:txBody>
          </p:sp>
        </p:grpSp>
        <p:cxnSp>
          <p:nvCxnSpPr>
            <p:cNvPr id="594" name="Google Shape;594;p32"/>
            <p:cNvCxnSpPr/>
            <p:nvPr/>
          </p:nvCxnSpPr>
          <p:spPr>
            <a:xfrm rot="10800000" flipH="1">
              <a:off x="5216475" y="638997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5" name="Google Shape;595;p32"/>
            <p:cNvSpPr txBox="1"/>
            <p:nvPr/>
          </p:nvSpPr>
          <p:spPr>
            <a:xfrm>
              <a:off x="4515975" y="619077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601" name="Google Shape;601;p33"/>
          <p:cNvSpPr txBox="1">
            <a:spLocks noGrp="1"/>
          </p:cNvSpPr>
          <p:nvPr>
            <p:ph type="body" idx="1"/>
          </p:nvPr>
        </p:nvSpPr>
        <p:spPr>
          <a:xfrm>
            <a:off x="916638" y="868588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</a:rPr>
              <a:t>Race condition (condición de carrera)</a:t>
            </a:r>
            <a:endParaRPr sz="28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2" name="Google Shape;602;p33"/>
          <p:cNvGrpSpPr/>
          <p:nvPr/>
        </p:nvGrpSpPr>
        <p:grpSpPr>
          <a:xfrm>
            <a:off x="8647636" y="1813750"/>
            <a:ext cx="3125547" cy="923400"/>
            <a:chOff x="3715281" y="2736425"/>
            <a:chExt cx="3723992" cy="923400"/>
          </a:xfrm>
        </p:grpSpPr>
        <p:sp>
          <p:nvSpPr>
            <p:cNvPr id="603" name="Google Shape;603;p33"/>
            <p:cNvSpPr txBox="1"/>
            <p:nvPr/>
          </p:nvSpPr>
          <p:spPr>
            <a:xfrm>
              <a:off x="4442274" y="2736425"/>
              <a:ext cx="29970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4" name="Google Shape;604;p33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05" name="Google Shape;605;p33"/>
          <p:cNvGrpSpPr/>
          <p:nvPr/>
        </p:nvGrpSpPr>
        <p:grpSpPr>
          <a:xfrm>
            <a:off x="8647934" y="2857729"/>
            <a:ext cx="3125564" cy="431113"/>
            <a:chOff x="2998267" y="2736425"/>
            <a:chExt cx="4499157" cy="431113"/>
          </a:xfrm>
        </p:grpSpPr>
        <p:sp>
          <p:nvSpPr>
            <p:cNvPr id="606" name="Google Shape;606;p33"/>
            <p:cNvSpPr txBox="1"/>
            <p:nvPr/>
          </p:nvSpPr>
          <p:spPr>
            <a:xfrm>
              <a:off x="5035324" y="2736438"/>
              <a:ext cx="2462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7" name="Google Shape;607;p33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08" name="Google Shape;608;p33"/>
          <p:cNvSpPr txBox="1"/>
          <p:nvPr/>
        </p:nvSpPr>
        <p:spPr>
          <a:xfrm>
            <a:off x="4931100" y="2059900"/>
            <a:ext cx="27315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sp>
        <p:nvSpPr>
          <p:cNvPr id="609" name="Google Shape;609;p33"/>
          <p:cNvSpPr/>
          <p:nvPr/>
        </p:nvSpPr>
        <p:spPr>
          <a:xfrm>
            <a:off x="7888050" y="2107150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10" name="Google Shape;610;p33"/>
          <p:cNvGraphicFramePr/>
          <p:nvPr>
            <p:extLst>
              <p:ext uri="{D42A27DB-BD31-4B8C-83A1-F6EECF244321}">
                <p14:modId xmlns:p14="http://schemas.microsoft.com/office/powerpoint/2010/main" val="2947579913"/>
              </p:ext>
            </p:extLst>
          </p:nvPr>
        </p:nvGraphicFramePr>
        <p:xfrm>
          <a:off x="916638" y="1767635"/>
          <a:ext cx="3565800" cy="4510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9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3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4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4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</a:t>
                      </a:r>
                      <a:r>
                        <a:rPr lang="es-ES" sz="1400" b="1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11" name="Google Shape;611;p33"/>
          <p:cNvGrpSpPr/>
          <p:nvPr/>
        </p:nvGrpSpPr>
        <p:grpSpPr>
          <a:xfrm>
            <a:off x="8332775" y="6080900"/>
            <a:ext cx="2039700" cy="400200"/>
            <a:chOff x="6579700" y="6365775"/>
            <a:chExt cx="2039700" cy="400200"/>
          </a:xfrm>
        </p:grpSpPr>
        <p:cxnSp>
          <p:nvCxnSpPr>
            <p:cNvPr id="612" name="Google Shape;612;p33"/>
            <p:cNvCxnSpPr/>
            <p:nvPr/>
          </p:nvCxnSpPr>
          <p:spPr>
            <a:xfrm rot="10800000" flipH="1">
              <a:off x="7280200" y="656497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3" name="Google Shape;613;p33"/>
            <p:cNvSpPr txBox="1"/>
            <p:nvPr/>
          </p:nvSpPr>
          <p:spPr>
            <a:xfrm>
              <a:off x="6579700" y="636577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614" name="Google Shape;614;p33"/>
          <p:cNvGraphicFramePr/>
          <p:nvPr/>
        </p:nvGraphicFramePr>
        <p:xfrm>
          <a:off x="4931250" y="4555268"/>
          <a:ext cx="6867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2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PC[T2]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5" name="Google Shape;615;p33"/>
          <p:cNvGraphicFramePr/>
          <p:nvPr/>
        </p:nvGraphicFramePr>
        <p:xfrm>
          <a:off x="4931275" y="3816788"/>
          <a:ext cx="686715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PC[T1]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6" name="Google Shape;616;p33"/>
          <p:cNvGraphicFramePr/>
          <p:nvPr/>
        </p:nvGraphicFramePr>
        <p:xfrm>
          <a:off x="4931250" y="5500950"/>
          <a:ext cx="6867200" cy="4266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sp>
        <p:nvSpPr>
          <p:cNvPr id="622" name="Google Shape;622;p34"/>
          <p:cNvSpPr txBox="1">
            <a:spLocks noGrp="1"/>
          </p:cNvSpPr>
          <p:nvPr>
            <p:ph type="body" idx="1"/>
          </p:nvPr>
        </p:nvSpPr>
        <p:spPr>
          <a:xfrm>
            <a:off x="146400" y="859076"/>
            <a:ext cx="104193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Race condition (condición de carrera)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23" name="Google Shape;623;p34"/>
          <p:cNvGrpSpPr/>
          <p:nvPr/>
        </p:nvGrpSpPr>
        <p:grpSpPr>
          <a:xfrm>
            <a:off x="6700911" y="1537950"/>
            <a:ext cx="3473638" cy="1475008"/>
            <a:chOff x="6700911" y="1813750"/>
            <a:chExt cx="3473638" cy="1475008"/>
          </a:xfrm>
        </p:grpSpPr>
        <p:grpSp>
          <p:nvGrpSpPr>
            <p:cNvPr id="624" name="Google Shape;624;p34"/>
            <p:cNvGrpSpPr/>
            <p:nvPr/>
          </p:nvGrpSpPr>
          <p:grpSpPr>
            <a:xfrm>
              <a:off x="6700911" y="1813750"/>
              <a:ext cx="3473270" cy="923400"/>
              <a:chOff x="3715281" y="2736425"/>
              <a:chExt cx="4138293" cy="923400"/>
            </a:xfrm>
          </p:grpSpPr>
          <p:sp>
            <p:nvSpPr>
              <p:cNvPr id="625" name="Google Shape;625;p34"/>
              <p:cNvSpPr txBox="1"/>
              <p:nvPr/>
            </p:nvSpPr>
            <p:spPr>
              <a:xfrm>
                <a:off x="4442275" y="2736425"/>
                <a:ext cx="3411300" cy="9234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mov 0x8049a1c, %eax 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add $0x1, %eax 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mov %eax, 0x8049a1c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26" name="Google Shape;626;p34"/>
              <p:cNvSpPr txBox="1"/>
              <p:nvPr/>
            </p:nvSpPr>
            <p:spPr>
              <a:xfrm>
                <a:off x="3715281" y="2736425"/>
                <a:ext cx="6417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100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105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108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627" name="Google Shape;627;p34"/>
            <p:cNvGrpSpPr/>
            <p:nvPr/>
          </p:nvGrpSpPr>
          <p:grpSpPr>
            <a:xfrm>
              <a:off x="6701199" y="2857646"/>
              <a:ext cx="3473349" cy="431112"/>
              <a:chOff x="2998267" y="2736425"/>
              <a:chExt cx="4499157" cy="431113"/>
            </a:xfrm>
          </p:grpSpPr>
          <p:sp>
            <p:nvSpPr>
              <p:cNvPr id="628" name="Google Shape;628;p34"/>
              <p:cNvSpPr txBox="1"/>
              <p:nvPr/>
            </p:nvSpPr>
            <p:spPr>
              <a:xfrm>
                <a:off x="5035324" y="2736438"/>
                <a:ext cx="2462100" cy="4311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50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29" name="Google Shape;629;p34"/>
              <p:cNvSpPr txBox="1"/>
              <p:nvPr/>
            </p:nvSpPr>
            <p:spPr>
              <a:xfrm>
                <a:off x="2998267" y="2736425"/>
                <a:ext cx="18807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0x8049a1c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630" name="Google Shape;630;p34"/>
          <p:cNvSpPr txBox="1"/>
          <p:nvPr/>
        </p:nvSpPr>
        <p:spPr>
          <a:xfrm>
            <a:off x="2398950" y="1793450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sp>
        <p:nvSpPr>
          <p:cNvPr id="631" name="Google Shape;631;p34"/>
          <p:cNvSpPr/>
          <p:nvPr/>
        </p:nvSpPr>
        <p:spPr>
          <a:xfrm>
            <a:off x="5628713" y="1840700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" name="Google Shape;632;p34"/>
          <p:cNvGrpSpPr/>
          <p:nvPr/>
        </p:nvGrpSpPr>
        <p:grpSpPr>
          <a:xfrm>
            <a:off x="5520875" y="6375950"/>
            <a:ext cx="2148650" cy="400200"/>
            <a:chOff x="6264175" y="6229625"/>
            <a:chExt cx="2148650" cy="400200"/>
          </a:xfrm>
        </p:grpSpPr>
        <p:cxnSp>
          <p:nvCxnSpPr>
            <p:cNvPr id="633" name="Google Shape;633;p34"/>
            <p:cNvCxnSpPr/>
            <p:nvPr/>
          </p:nvCxnSpPr>
          <p:spPr>
            <a:xfrm rot="10800000" flipH="1">
              <a:off x="7073625" y="642882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4" name="Google Shape;634;p34"/>
            <p:cNvSpPr txBox="1"/>
            <p:nvPr/>
          </p:nvSpPr>
          <p:spPr>
            <a:xfrm>
              <a:off x="6264175" y="622962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635" name="Google Shape;635;p34"/>
          <p:cNvGraphicFramePr/>
          <p:nvPr/>
        </p:nvGraphicFramePr>
        <p:xfrm>
          <a:off x="2956800" y="3998700"/>
          <a:ext cx="6867150" cy="2407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PC[T1]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PC[T2]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36" name="Google Shape;636;p34"/>
          <p:cNvGrpSpPr/>
          <p:nvPr/>
        </p:nvGrpSpPr>
        <p:grpSpPr>
          <a:xfrm>
            <a:off x="6463874" y="3356888"/>
            <a:ext cx="2294129" cy="573688"/>
            <a:chOff x="5693693" y="3945325"/>
            <a:chExt cx="1240807" cy="573688"/>
          </a:xfrm>
        </p:grpSpPr>
        <p:sp>
          <p:nvSpPr>
            <p:cNvPr id="637" name="Google Shape;637;p34"/>
            <p:cNvSpPr/>
            <p:nvPr/>
          </p:nvSpPr>
          <p:spPr>
            <a:xfrm rot="5400000">
              <a:off x="6223043" y="3830963"/>
              <a:ext cx="158700" cy="12174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 txBox="1"/>
            <p:nvPr/>
          </p:nvSpPr>
          <p:spPr>
            <a:xfrm>
              <a:off x="5698201" y="3945325"/>
              <a:ext cx="12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Race condition</a:t>
              </a:r>
              <a:endParaRPr sz="1600" b="1" dirty="0">
                <a:solidFill>
                  <a:srgbClr val="FF9900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5"/>
          <p:cNvSpPr txBox="1">
            <a:spLocks noGrp="1"/>
          </p:cNvSpPr>
          <p:nvPr>
            <p:ph type="title"/>
          </p:nvPr>
        </p:nvSpPr>
        <p:spPr>
          <a:xfrm>
            <a:off x="250723" y="96038"/>
            <a:ext cx="89699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sp>
        <p:nvSpPr>
          <p:cNvPr id="644" name="Google Shape;644;p35"/>
          <p:cNvSpPr txBox="1">
            <a:spLocks noGrp="1"/>
          </p:cNvSpPr>
          <p:nvPr>
            <p:ph type="body" idx="1"/>
          </p:nvPr>
        </p:nvSpPr>
        <p:spPr>
          <a:xfrm>
            <a:off x="462187" y="821575"/>
            <a:ext cx="11214863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Exclusión mutua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645" name="Google Shape;645;p35"/>
          <p:cNvSpPr txBox="1">
            <a:spLocks noGrp="1"/>
          </p:cNvSpPr>
          <p:nvPr>
            <p:ph type="body" idx="4294967295"/>
          </p:nvPr>
        </p:nvSpPr>
        <p:spPr>
          <a:xfrm>
            <a:off x="462187" y="1518751"/>
            <a:ext cx="4341813" cy="17859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dirty="0"/>
              <a:t>Garantía de que si un hilo se encuentra dentro de una sección crítica, ningún otro hilo puede acceder a esta.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</p:txBody>
      </p:sp>
      <p:cxnSp>
        <p:nvCxnSpPr>
          <p:cNvPr id="646" name="Google Shape;646;p35"/>
          <p:cNvCxnSpPr/>
          <p:nvPr/>
        </p:nvCxnSpPr>
        <p:spPr>
          <a:xfrm rot="10800000" flipH="1">
            <a:off x="3669125" y="4519000"/>
            <a:ext cx="6870900" cy="8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p35"/>
          <p:cNvCxnSpPr/>
          <p:nvPr/>
        </p:nvCxnSpPr>
        <p:spPr>
          <a:xfrm rot="10800000" flipH="1">
            <a:off x="3669125" y="5677875"/>
            <a:ext cx="6900300" cy="1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8" name="Google Shape;648;p35"/>
          <p:cNvSpPr txBox="1"/>
          <p:nvPr/>
        </p:nvSpPr>
        <p:spPr>
          <a:xfrm>
            <a:off x="2283700" y="431155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2283700" y="54641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cxnSp>
        <p:nvCxnSpPr>
          <p:cNvPr id="650" name="Google Shape;650;p35"/>
          <p:cNvCxnSpPr/>
          <p:nvPr/>
        </p:nvCxnSpPr>
        <p:spPr>
          <a:xfrm>
            <a:off x="4804000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51" name="Google Shape;651;p35"/>
          <p:cNvSpPr txBox="1"/>
          <p:nvPr/>
        </p:nvSpPr>
        <p:spPr>
          <a:xfrm>
            <a:off x="5042425" y="3776625"/>
            <a:ext cx="11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entra a la región crítica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652" name="Google Shape;652;p35"/>
          <p:cNvSpPr txBox="1"/>
          <p:nvPr/>
        </p:nvSpPr>
        <p:spPr>
          <a:xfrm>
            <a:off x="8125950" y="3776625"/>
            <a:ext cx="11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sale de la región crítica</a:t>
            </a:r>
            <a:endParaRPr sz="1000">
              <a:solidFill>
                <a:srgbClr val="0000FF"/>
              </a:solidFill>
            </a:endParaRPr>
          </a:p>
        </p:txBody>
      </p:sp>
      <p:cxnSp>
        <p:nvCxnSpPr>
          <p:cNvPr id="653" name="Google Shape;653;p35"/>
          <p:cNvCxnSpPr/>
          <p:nvPr/>
        </p:nvCxnSpPr>
        <p:spPr>
          <a:xfrm flipH="1">
            <a:off x="4842925" y="4024300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4" name="Google Shape;654;p35"/>
          <p:cNvSpPr/>
          <p:nvPr/>
        </p:nvSpPr>
        <p:spPr>
          <a:xfrm>
            <a:off x="4804000" y="4442950"/>
            <a:ext cx="30975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35"/>
          <p:cNvSpPr/>
          <p:nvPr/>
        </p:nvSpPr>
        <p:spPr>
          <a:xfrm>
            <a:off x="7908575" y="5594250"/>
            <a:ext cx="11412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6" name="Google Shape;656;p35"/>
          <p:cNvCxnSpPr/>
          <p:nvPr/>
        </p:nvCxnSpPr>
        <p:spPr>
          <a:xfrm>
            <a:off x="6709475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35"/>
          <p:cNvCxnSpPr/>
          <p:nvPr/>
        </p:nvCxnSpPr>
        <p:spPr>
          <a:xfrm>
            <a:off x="9049700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35"/>
          <p:cNvCxnSpPr/>
          <p:nvPr/>
        </p:nvCxnSpPr>
        <p:spPr>
          <a:xfrm flipH="1">
            <a:off x="7926450" y="4022425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9" name="Google Shape;659;p35"/>
          <p:cNvSpPr txBox="1"/>
          <p:nvPr/>
        </p:nvSpPr>
        <p:spPr>
          <a:xfrm>
            <a:off x="7003363" y="5943350"/>
            <a:ext cx="938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 intenta entrar a la región crítica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660" name="Google Shape;660;p35"/>
          <p:cNvSpPr txBox="1"/>
          <p:nvPr/>
        </p:nvSpPr>
        <p:spPr>
          <a:xfrm>
            <a:off x="9317775" y="6004650"/>
            <a:ext cx="11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 sale de la región crítica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61" name="Google Shape;661;p35"/>
          <p:cNvCxnSpPr/>
          <p:nvPr/>
        </p:nvCxnSpPr>
        <p:spPr>
          <a:xfrm rot="10800000">
            <a:off x="6764000" y="5817550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35"/>
          <p:cNvCxnSpPr/>
          <p:nvPr/>
        </p:nvCxnSpPr>
        <p:spPr>
          <a:xfrm rot="10800000">
            <a:off x="9118275" y="5773625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3" name="Google Shape;663;p35"/>
          <p:cNvSpPr/>
          <p:nvPr/>
        </p:nvSpPr>
        <p:spPr>
          <a:xfrm>
            <a:off x="7393102" y="4789388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4" name="Google Shape;664;p35"/>
          <p:cNvSpPr/>
          <p:nvPr/>
        </p:nvSpPr>
        <p:spPr>
          <a:xfrm>
            <a:off x="8711861" y="4747582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5" name="Google Shape;665;p35"/>
          <p:cNvSpPr/>
          <p:nvPr/>
        </p:nvSpPr>
        <p:spPr>
          <a:xfrm>
            <a:off x="6074364" y="4789388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666" name="Google Shape;666;p35"/>
          <p:cNvCxnSpPr/>
          <p:nvPr/>
        </p:nvCxnSpPr>
        <p:spPr>
          <a:xfrm>
            <a:off x="7901550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67" name="Google Shape;66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075" y="4874600"/>
            <a:ext cx="589281" cy="45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637" y="4874588"/>
            <a:ext cx="589281" cy="45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2062" y="4874588"/>
            <a:ext cx="589281" cy="45577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5"/>
          <p:cNvSpPr/>
          <p:nvPr/>
        </p:nvSpPr>
        <p:spPr>
          <a:xfrm rot="5400000">
            <a:off x="7227600" y="3616300"/>
            <a:ext cx="158700" cy="11895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6688801" y="3489900"/>
            <a:ext cx="123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T2 es bloqueado</a:t>
            </a:r>
            <a:endParaRPr sz="1600" b="1">
              <a:solidFill>
                <a:srgbClr val="FF9900"/>
              </a:solidFill>
            </a:endParaRPr>
          </a:p>
        </p:txBody>
      </p:sp>
      <p:cxnSp>
        <p:nvCxnSpPr>
          <p:cNvPr id="672" name="Google Shape;672;p35"/>
          <p:cNvCxnSpPr/>
          <p:nvPr/>
        </p:nvCxnSpPr>
        <p:spPr>
          <a:xfrm rot="10800000" flipH="1">
            <a:off x="5292675" y="6389975"/>
            <a:ext cx="1339200" cy="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3" name="Google Shape;673;p35"/>
          <p:cNvSpPr txBox="1"/>
          <p:nvPr/>
        </p:nvSpPr>
        <p:spPr>
          <a:xfrm>
            <a:off x="4592175" y="6190775"/>
            <a:ext cx="7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4" name="Google Shape;67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9775" y="1256288"/>
            <a:ext cx="6672100" cy="202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5" name="Google Shape;675;p35"/>
          <p:cNvCxnSpPr/>
          <p:nvPr/>
        </p:nvCxnSpPr>
        <p:spPr>
          <a:xfrm rot="10800000">
            <a:off x="7941138" y="5795250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6" name="Google Shape;676;p35"/>
          <p:cNvSpPr txBox="1"/>
          <p:nvPr/>
        </p:nvSpPr>
        <p:spPr>
          <a:xfrm>
            <a:off x="8160400" y="6026425"/>
            <a:ext cx="938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 entra a la región crítica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6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sp>
        <p:nvSpPr>
          <p:cNvPr id="682" name="Google Shape;682;p36"/>
          <p:cNvSpPr txBox="1">
            <a:spLocks noGrp="1"/>
          </p:cNvSpPr>
          <p:nvPr>
            <p:ph type="body" idx="1"/>
          </p:nvPr>
        </p:nvSpPr>
        <p:spPr>
          <a:xfrm>
            <a:off x="514950" y="734650"/>
            <a:ext cx="111621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Locks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683" name="Google Shape;683;p36"/>
          <p:cNvSpPr txBox="1">
            <a:spLocks noGrp="1"/>
          </p:cNvSpPr>
          <p:nvPr>
            <p:ph type="body" idx="4294967295"/>
          </p:nvPr>
        </p:nvSpPr>
        <p:spPr>
          <a:xfrm>
            <a:off x="514950" y="1284288"/>
            <a:ext cx="9857775" cy="7223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300" dirty="0"/>
              <a:t>Un lock es un objeto (en memoria) que proporciona exclusión mutua.</a:t>
            </a:r>
            <a:endParaRPr sz="2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84" name="Google Shape;684;p36"/>
          <p:cNvGrpSpPr/>
          <p:nvPr/>
        </p:nvGrpSpPr>
        <p:grpSpPr>
          <a:xfrm>
            <a:off x="2831350" y="2042888"/>
            <a:ext cx="1580700" cy="1570800"/>
            <a:chOff x="4336300" y="3050525"/>
            <a:chExt cx="1580700" cy="1570800"/>
          </a:xfrm>
        </p:grpSpPr>
        <p:sp>
          <p:nvSpPr>
            <p:cNvPr id="685" name="Google Shape;685;p36"/>
            <p:cNvSpPr/>
            <p:nvPr/>
          </p:nvSpPr>
          <p:spPr>
            <a:xfrm>
              <a:off x="4336300" y="3050525"/>
              <a:ext cx="1580700" cy="157080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6" name="Google Shape;686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67478" y="3666975"/>
              <a:ext cx="518325" cy="72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36"/>
            <p:cNvSpPr/>
            <p:nvPr/>
          </p:nvSpPr>
          <p:spPr>
            <a:xfrm>
              <a:off x="4607788" y="3267750"/>
              <a:ext cx="10377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locked</a:t>
              </a:r>
              <a:endParaRPr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88" name="Google Shape;688;p36"/>
          <p:cNvGrpSpPr/>
          <p:nvPr/>
        </p:nvGrpSpPr>
        <p:grpSpPr>
          <a:xfrm>
            <a:off x="7532025" y="2042900"/>
            <a:ext cx="1580700" cy="1570800"/>
            <a:chOff x="7705250" y="3150825"/>
            <a:chExt cx="1580700" cy="1570800"/>
          </a:xfrm>
        </p:grpSpPr>
        <p:sp>
          <p:nvSpPr>
            <p:cNvPr id="689" name="Google Shape;689;p36"/>
            <p:cNvSpPr/>
            <p:nvPr/>
          </p:nvSpPr>
          <p:spPr>
            <a:xfrm>
              <a:off x="7705250" y="3150825"/>
              <a:ext cx="1580700" cy="1570800"/>
            </a:xfrm>
            <a:prstGeom prst="ellipse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90" name="Google Shape;69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46181" y="3765050"/>
              <a:ext cx="683019" cy="72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1" name="Google Shape;691;p36"/>
            <p:cNvSpPr/>
            <p:nvPr/>
          </p:nvSpPr>
          <p:spPr>
            <a:xfrm>
              <a:off x="7976750" y="3341000"/>
              <a:ext cx="10377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free</a:t>
              </a:r>
              <a:endParaRPr sz="20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92" name="Google Shape;692;p36"/>
          <p:cNvSpPr txBox="1"/>
          <p:nvPr/>
        </p:nvSpPr>
        <p:spPr>
          <a:xfrm>
            <a:off x="4515088" y="2043350"/>
            <a:ext cx="2761500" cy="160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adquired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locked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, 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held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endParaRPr sz="18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Indica que un </a:t>
            </a:r>
            <a:r>
              <a:rPr lang="es-ES" sz="18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un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hilo ha 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adquirido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 y que este, se está ejecutando en la sección crítica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36"/>
          <p:cNvSpPr txBox="1"/>
          <p:nvPr/>
        </p:nvSpPr>
        <p:spPr>
          <a:xfrm>
            <a:off x="9254325" y="2320400"/>
            <a:ext cx="2761500" cy="9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available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unlocked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, free)</a:t>
            </a:r>
            <a:r>
              <a:rPr lang="es-ES" sz="18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Indica que ningún hilo ha obtenido el lock.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36"/>
          <p:cNvSpPr txBox="1"/>
          <p:nvPr/>
        </p:nvSpPr>
        <p:spPr>
          <a:xfrm>
            <a:off x="1026575" y="2636988"/>
            <a:ext cx="1510800" cy="554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Estados</a:t>
            </a:r>
            <a:endParaRPr b="1">
              <a:solidFill>
                <a:srgbClr val="E46C0A"/>
              </a:solidFill>
            </a:endParaRPr>
          </a:p>
        </p:txBody>
      </p:sp>
      <p:sp>
        <p:nvSpPr>
          <p:cNvPr id="695" name="Google Shape;695;p36"/>
          <p:cNvSpPr txBox="1"/>
          <p:nvPr/>
        </p:nvSpPr>
        <p:spPr>
          <a:xfrm>
            <a:off x="916650" y="5063025"/>
            <a:ext cx="1935300" cy="554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endParaRPr b="1">
              <a:solidFill>
                <a:srgbClr val="E46C0A"/>
              </a:solidFill>
            </a:endParaRPr>
          </a:p>
        </p:txBody>
      </p:sp>
      <p:sp>
        <p:nvSpPr>
          <p:cNvPr id="696" name="Google Shape;696;p36"/>
          <p:cNvSpPr txBox="1"/>
          <p:nvPr/>
        </p:nvSpPr>
        <p:spPr>
          <a:xfrm>
            <a:off x="3223350" y="5617125"/>
            <a:ext cx="3643500" cy="9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acquire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() [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ó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()]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 espera hasta que un lock este libre, y cuando lo esta, lo toma.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36"/>
          <p:cNvSpPr txBox="1"/>
          <p:nvPr/>
        </p:nvSpPr>
        <p:spPr>
          <a:xfrm>
            <a:off x="7276600" y="5617125"/>
            <a:ext cx="4483800" cy="9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release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() [</a:t>
            </a: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ó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unclock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()]</a:t>
            </a:r>
            <a:r>
              <a:rPr lang="es-ES" sz="18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libera el lock y permitiendo que cualquier hilo que está esperando por este para tomarlo.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698" name="Google Shape;69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9450" y="4044350"/>
            <a:ext cx="1025900" cy="12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1700" y="4044350"/>
            <a:ext cx="1070275" cy="13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1950" y="4044362"/>
            <a:ext cx="1070275" cy="13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56050" y="4044350"/>
            <a:ext cx="1025900" cy="12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6"/>
          <p:cNvSpPr/>
          <p:nvPr/>
        </p:nvSpPr>
        <p:spPr>
          <a:xfrm>
            <a:off x="4412050" y="4452975"/>
            <a:ext cx="1252500" cy="302400"/>
          </a:xfrm>
          <a:prstGeom prst="chevron">
            <a:avLst>
              <a:gd name="adj" fmla="val 50000"/>
            </a:avLst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adquire()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36"/>
          <p:cNvSpPr/>
          <p:nvPr/>
        </p:nvSpPr>
        <p:spPr>
          <a:xfrm>
            <a:off x="8882888" y="4464213"/>
            <a:ext cx="1252500" cy="302400"/>
          </a:xfrm>
          <a:prstGeom prst="chevron">
            <a:avLst>
              <a:gd name="adj" fmla="val 50000"/>
            </a:avLst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release()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sp>
        <p:nvSpPr>
          <p:cNvPr id="709" name="Google Shape;709;p37"/>
          <p:cNvSpPr txBox="1">
            <a:spLocks noGrp="1"/>
          </p:cNvSpPr>
          <p:nvPr>
            <p:ph type="body" idx="1"/>
          </p:nvPr>
        </p:nvSpPr>
        <p:spPr>
          <a:xfrm>
            <a:off x="916650" y="947800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Usando Looks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10" name="Google Shape;710;p37"/>
          <p:cNvSpPr txBox="1">
            <a:spLocks noGrp="1"/>
          </p:cNvSpPr>
          <p:nvPr>
            <p:ph type="body" idx="4294967295"/>
          </p:nvPr>
        </p:nvSpPr>
        <p:spPr>
          <a:xfrm>
            <a:off x="916650" y="1597025"/>
            <a:ext cx="6312825" cy="232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</a:rPr>
              <a:t>Procedimiento:</a:t>
            </a:r>
            <a:endParaRPr sz="2400" b="1" dirty="0">
              <a:solidFill>
                <a:srgbClr val="E46C0A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Inicialmente el 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/>
              <a:t> está libre.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Se llama </a:t>
            </a:r>
            <a:r>
              <a:rPr lang="es-ES" sz="20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acquire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ES" sz="2000" dirty="0"/>
              <a:t> antes de entrar a la región crítica.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Se ejecuta el código de la </a:t>
            </a:r>
            <a:r>
              <a:rPr lang="es-ES" sz="2000" b="1" dirty="0"/>
              <a:t>región crítica</a:t>
            </a:r>
            <a:r>
              <a:rPr lang="es-ES" sz="2000" dirty="0"/>
              <a:t>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Se llama </a:t>
            </a:r>
            <a:r>
              <a:rPr lang="es-ES" sz="2000" b="1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release</a:t>
            </a:r>
            <a:r>
              <a:rPr lang="es-ES"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ES" sz="2000" dirty="0"/>
              <a:t> para liberar el 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look</a:t>
            </a:r>
            <a:r>
              <a:rPr lang="es-ES" sz="2000" dirty="0"/>
              <a:t> previamente adquirido.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37"/>
          <p:cNvSpPr txBox="1"/>
          <p:nvPr/>
        </p:nvSpPr>
        <p:spPr>
          <a:xfrm>
            <a:off x="8146950" y="2241850"/>
            <a:ext cx="3604500" cy="1299556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adquire</a:t>
            </a:r>
            <a:r>
              <a:rPr lang="es-ES" sz="21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100" dirty="0" err="1">
                <a:solidFill>
                  <a:srgbClr val="FF000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Región crítica</a:t>
            </a:r>
            <a:endParaRPr sz="21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release</a:t>
            </a:r>
            <a:r>
              <a:rPr lang="es-ES" sz="21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100" dirty="0">
                <a:solidFill>
                  <a:srgbClr val="FF0000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2" name="Google Shape;7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785" y="4422887"/>
            <a:ext cx="5528574" cy="1676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p37"/>
          <p:cNvGrpSpPr/>
          <p:nvPr/>
        </p:nvGrpSpPr>
        <p:grpSpPr>
          <a:xfrm>
            <a:off x="609984" y="4354712"/>
            <a:ext cx="4699200" cy="1937200"/>
            <a:chOff x="1231875" y="4742650"/>
            <a:chExt cx="4699200" cy="1937200"/>
          </a:xfrm>
        </p:grpSpPr>
        <p:pic>
          <p:nvPicPr>
            <p:cNvPr id="714" name="Google Shape;71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5" name="Google Shape;715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16" name="Google Shape;716;p37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7" name="Google Shape;717;p37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9" name="Google Shape;719;p37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37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721" name="Google Shape;721;p37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722" name="Google Shape;722;p37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723" name="Google Shape;723;p37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sp>
        <p:nvSpPr>
          <p:cNvPr id="729" name="Google Shape;729;p38"/>
          <p:cNvSpPr txBox="1"/>
          <p:nvPr/>
        </p:nvSpPr>
        <p:spPr>
          <a:xfrm>
            <a:off x="1073400" y="1175250"/>
            <a:ext cx="3604500" cy="12006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look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critical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section</a:t>
            </a: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release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p38"/>
          <p:cNvSpPr txBox="1"/>
          <p:nvPr/>
        </p:nvSpPr>
        <p:spPr>
          <a:xfrm>
            <a:off x="7488888" y="1134875"/>
            <a:ext cx="4023900" cy="120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s-ES" sz="20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s-ES" sz="20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731" name="Google Shape;731;p38"/>
          <p:cNvGrpSpPr/>
          <p:nvPr/>
        </p:nvGrpSpPr>
        <p:grpSpPr>
          <a:xfrm>
            <a:off x="2243975" y="2863288"/>
            <a:ext cx="8296325" cy="3643300"/>
            <a:chOff x="2664700" y="2905363"/>
            <a:chExt cx="8296325" cy="3643300"/>
          </a:xfrm>
        </p:grpSpPr>
        <p:cxnSp>
          <p:nvCxnSpPr>
            <p:cNvPr id="732" name="Google Shape;732;p38"/>
            <p:cNvCxnSpPr/>
            <p:nvPr/>
          </p:nvCxnSpPr>
          <p:spPr>
            <a:xfrm rot="10800000" flipH="1">
              <a:off x="4050125" y="4138000"/>
              <a:ext cx="6870900" cy="81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38"/>
            <p:cNvCxnSpPr/>
            <p:nvPr/>
          </p:nvCxnSpPr>
          <p:spPr>
            <a:xfrm rot="10800000" flipH="1">
              <a:off x="4050125" y="5296875"/>
              <a:ext cx="6900300" cy="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4" name="Google Shape;734;p38"/>
            <p:cNvSpPr txBox="1"/>
            <p:nvPr/>
          </p:nvSpPr>
          <p:spPr>
            <a:xfrm>
              <a:off x="2664700" y="3930550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Thread T1</a:t>
              </a:r>
              <a:endParaRPr sz="1600" b="1">
                <a:solidFill>
                  <a:srgbClr val="0000FF"/>
                </a:solidFill>
              </a:endParaRPr>
            </a:p>
          </p:txBody>
        </p:sp>
        <p:sp>
          <p:nvSpPr>
            <p:cNvPr id="735" name="Google Shape;735;p38"/>
            <p:cNvSpPr txBox="1"/>
            <p:nvPr/>
          </p:nvSpPr>
          <p:spPr>
            <a:xfrm>
              <a:off x="2664700" y="5083125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Thread T2</a:t>
              </a:r>
              <a:endParaRPr sz="1600" b="1">
                <a:solidFill>
                  <a:srgbClr val="FF0000"/>
                </a:solidFill>
              </a:endParaRPr>
            </a:p>
          </p:txBody>
        </p:sp>
        <p:cxnSp>
          <p:nvCxnSpPr>
            <p:cNvPr id="736" name="Google Shape;736;p38"/>
            <p:cNvCxnSpPr/>
            <p:nvPr/>
          </p:nvCxnSpPr>
          <p:spPr>
            <a:xfrm>
              <a:off x="5185000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737" name="Google Shape;737;p38"/>
            <p:cNvSpPr txBox="1"/>
            <p:nvPr/>
          </p:nvSpPr>
          <p:spPr>
            <a:xfrm>
              <a:off x="5428475" y="3588775"/>
              <a:ext cx="1178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 entra a RC</a:t>
              </a:r>
              <a:endParaRPr sz="1000">
                <a:solidFill>
                  <a:srgbClr val="0000FF"/>
                </a:solidFill>
              </a:endParaRPr>
            </a:p>
          </p:txBody>
        </p:sp>
        <p:sp>
          <p:nvSpPr>
            <p:cNvPr id="738" name="Google Shape;738;p38"/>
            <p:cNvSpPr txBox="1"/>
            <p:nvPr/>
          </p:nvSpPr>
          <p:spPr>
            <a:xfrm>
              <a:off x="8526375" y="3569875"/>
              <a:ext cx="117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 sale de la región crítica</a:t>
              </a:r>
              <a:endParaRPr sz="1000">
                <a:solidFill>
                  <a:srgbClr val="0000FF"/>
                </a:solidFill>
              </a:endParaRPr>
            </a:p>
          </p:txBody>
        </p:sp>
        <p:cxnSp>
          <p:nvCxnSpPr>
            <p:cNvPr id="739" name="Google Shape;739;p38"/>
            <p:cNvCxnSpPr>
              <a:stCxn id="737" idx="1"/>
            </p:cNvCxnSpPr>
            <p:nvPr/>
          </p:nvCxnSpPr>
          <p:spPr>
            <a:xfrm flipH="1">
              <a:off x="5223875" y="3758125"/>
              <a:ext cx="204600" cy="195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0" name="Google Shape;740;p38"/>
            <p:cNvSpPr/>
            <p:nvPr/>
          </p:nvSpPr>
          <p:spPr>
            <a:xfrm>
              <a:off x="5185000" y="4061950"/>
              <a:ext cx="30975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8289575" y="5213250"/>
              <a:ext cx="11412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2" name="Google Shape;742;p38"/>
            <p:cNvCxnSpPr/>
            <p:nvPr/>
          </p:nvCxnSpPr>
          <p:spPr>
            <a:xfrm>
              <a:off x="7090475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38"/>
            <p:cNvCxnSpPr/>
            <p:nvPr/>
          </p:nvCxnSpPr>
          <p:spPr>
            <a:xfrm>
              <a:off x="9430700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38"/>
            <p:cNvCxnSpPr>
              <a:stCxn id="738" idx="1"/>
            </p:cNvCxnSpPr>
            <p:nvPr/>
          </p:nvCxnSpPr>
          <p:spPr>
            <a:xfrm flipH="1">
              <a:off x="8307375" y="3816175"/>
              <a:ext cx="219000" cy="2127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5" name="Google Shape;745;p38"/>
            <p:cNvSpPr txBox="1"/>
            <p:nvPr/>
          </p:nvSpPr>
          <p:spPr>
            <a:xfrm>
              <a:off x="7375638" y="5384863"/>
              <a:ext cx="938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intenta entrar a RC</a:t>
              </a:r>
              <a:endParaRPr sz="1000">
                <a:solidFill>
                  <a:srgbClr val="FF0000"/>
                </a:solidFill>
              </a:endParaRPr>
            </a:p>
          </p:txBody>
        </p:sp>
        <p:sp>
          <p:nvSpPr>
            <p:cNvPr id="746" name="Google Shape;746;p38"/>
            <p:cNvSpPr txBox="1"/>
            <p:nvPr/>
          </p:nvSpPr>
          <p:spPr>
            <a:xfrm>
              <a:off x="9782925" y="5398525"/>
              <a:ext cx="1178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sale de RC</a:t>
              </a:r>
              <a:endParaRPr sz="1000">
                <a:solidFill>
                  <a:srgbClr val="FF0000"/>
                </a:solidFill>
              </a:endParaRPr>
            </a:p>
          </p:txBody>
        </p:sp>
        <p:cxnSp>
          <p:nvCxnSpPr>
            <p:cNvPr id="747" name="Google Shape;747;p38"/>
            <p:cNvCxnSpPr>
              <a:stCxn id="745" idx="1"/>
            </p:cNvCxnSpPr>
            <p:nvPr/>
          </p:nvCxnSpPr>
          <p:spPr>
            <a:xfrm rot="10800000">
              <a:off x="7144938" y="5436613"/>
              <a:ext cx="230700" cy="27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8" name="Google Shape;748;p38"/>
            <p:cNvCxnSpPr/>
            <p:nvPr/>
          </p:nvCxnSpPr>
          <p:spPr>
            <a:xfrm rot="10800000">
              <a:off x="9499275" y="5392475"/>
              <a:ext cx="232500" cy="196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9" name="Google Shape;749;p38"/>
            <p:cNvSpPr/>
            <p:nvPr/>
          </p:nvSpPr>
          <p:spPr>
            <a:xfrm>
              <a:off x="7774102" y="4408388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0" name="Google Shape;750;p38"/>
            <p:cNvSpPr/>
            <p:nvPr/>
          </p:nvSpPr>
          <p:spPr>
            <a:xfrm>
              <a:off x="9144561" y="4408394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1" name="Google Shape;751;p38"/>
            <p:cNvSpPr/>
            <p:nvPr/>
          </p:nvSpPr>
          <p:spPr>
            <a:xfrm>
              <a:off x="6455364" y="4408388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752" name="Google Shape;752;p38"/>
            <p:cNvCxnSpPr/>
            <p:nvPr/>
          </p:nvCxnSpPr>
          <p:spPr>
            <a:xfrm>
              <a:off x="8282550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38"/>
            <p:cNvCxnSpPr/>
            <p:nvPr/>
          </p:nvCxnSpPr>
          <p:spPr>
            <a:xfrm rot="10800000" flipH="1">
              <a:off x="4579750" y="6116250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4" name="Google Shape;754;p38"/>
            <p:cNvSpPr txBox="1"/>
            <p:nvPr/>
          </p:nvSpPr>
          <p:spPr>
            <a:xfrm>
              <a:off x="3795100" y="580977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755" name="Google Shape;755;p38"/>
            <p:cNvCxnSpPr/>
            <p:nvPr/>
          </p:nvCxnSpPr>
          <p:spPr>
            <a:xfrm rot="10800000">
              <a:off x="8343250" y="5435825"/>
              <a:ext cx="238500" cy="237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6" name="Google Shape;756;p38"/>
            <p:cNvSpPr txBox="1"/>
            <p:nvPr/>
          </p:nvSpPr>
          <p:spPr>
            <a:xfrm>
              <a:off x="8526375" y="5560225"/>
              <a:ext cx="773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entra a RC</a:t>
              </a:r>
              <a:endParaRPr sz="1000">
                <a:solidFill>
                  <a:srgbClr val="FF0000"/>
                </a:solidFill>
              </a:endParaRPr>
            </a:p>
          </p:txBody>
        </p:sp>
        <p:pic>
          <p:nvPicPr>
            <p:cNvPr id="757" name="Google Shape;75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46313" y="4453311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8" name="Google Shape;75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72888" y="444960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9" name="Google Shape;75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39950" y="445332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0" name="Google Shape;76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30400" y="3372700"/>
              <a:ext cx="309200" cy="43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1" name="Google Shape;76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90211" y="3403109"/>
              <a:ext cx="384675" cy="407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2" name="Google Shape;762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27962" y="5600360"/>
              <a:ext cx="309183" cy="43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3" name="Google Shape;76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2375" y="4453311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38"/>
            <p:cNvSpPr txBox="1"/>
            <p:nvPr/>
          </p:nvSpPr>
          <p:spPr>
            <a:xfrm>
              <a:off x="4715950" y="2905363"/>
              <a:ext cx="938100" cy="4311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2000" b="1">
                <a:solidFill>
                  <a:schemeClr val="dk1"/>
                </a:solidFill>
              </a:endParaRPr>
            </a:p>
          </p:txBody>
        </p:sp>
        <p:sp>
          <p:nvSpPr>
            <p:cNvPr id="765" name="Google Shape;765;p38"/>
            <p:cNvSpPr txBox="1"/>
            <p:nvPr/>
          </p:nvSpPr>
          <p:spPr>
            <a:xfrm>
              <a:off x="7813488" y="2930950"/>
              <a:ext cx="938100" cy="4311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U(T1)</a:t>
              </a:r>
              <a:endParaRPr sz="2000" b="1">
                <a:solidFill>
                  <a:schemeClr val="dk1"/>
                </a:solidFill>
              </a:endParaRPr>
            </a:p>
          </p:txBody>
        </p:sp>
        <p:sp>
          <p:nvSpPr>
            <p:cNvPr id="766" name="Google Shape;766;p38"/>
            <p:cNvSpPr txBox="1"/>
            <p:nvPr/>
          </p:nvSpPr>
          <p:spPr>
            <a:xfrm>
              <a:off x="7813488" y="6117563"/>
              <a:ext cx="938100" cy="4311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2000" b="1">
                <a:solidFill>
                  <a:schemeClr val="dk1"/>
                </a:solidFill>
              </a:endParaRPr>
            </a:p>
          </p:txBody>
        </p:sp>
        <p:pic>
          <p:nvPicPr>
            <p:cNvPr id="767" name="Google Shape;76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38361" y="5612384"/>
              <a:ext cx="384675" cy="407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38"/>
            <p:cNvSpPr txBox="1"/>
            <p:nvPr/>
          </p:nvSpPr>
          <p:spPr>
            <a:xfrm>
              <a:off x="8961638" y="6117563"/>
              <a:ext cx="938100" cy="4311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2000" b="1">
                <a:solidFill>
                  <a:schemeClr val="dk1"/>
                </a:solidFill>
              </a:endParaRPr>
            </a:p>
          </p:txBody>
        </p:sp>
        <p:pic>
          <p:nvPicPr>
            <p:cNvPr id="769" name="Google Shape;76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51088" y="4449612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775" name="Google Shape;775;p39"/>
          <p:cNvSpPr txBox="1">
            <a:spLocks noGrp="1"/>
          </p:cNvSpPr>
          <p:nvPr>
            <p:ph type="body" idx="1"/>
          </p:nvPr>
        </p:nvSpPr>
        <p:spPr>
          <a:xfrm>
            <a:off x="916638" y="832825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Usando locks - Estrategias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76" name="Google Shape;776;p39"/>
          <p:cNvSpPr txBox="1">
            <a:spLocks noGrp="1"/>
          </p:cNvSpPr>
          <p:nvPr>
            <p:ph type="body" idx="4294967295"/>
          </p:nvPr>
        </p:nvSpPr>
        <p:spPr>
          <a:xfrm>
            <a:off x="916638" y="1555750"/>
            <a:ext cx="4245912" cy="17668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</a:rPr>
              <a:t>Estrategia 1 - </a:t>
            </a:r>
            <a:r>
              <a:rPr lang="es-ES" sz="2200" b="1" dirty="0" err="1">
                <a:solidFill>
                  <a:srgbClr val="E46C0A"/>
                </a:solidFill>
              </a:rPr>
              <a:t>Coarse-grained</a:t>
            </a:r>
            <a:r>
              <a:rPr lang="es-ES" sz="2200" b="1" dirty="0">
                <a:solidFill>
                  <a:srgbClr val="E46C0A"/>
                </a:solidFill>
              </a:rPr>
              <a:t> </a:t>
            </a:r>
            <a:r>
              <a:rPr lang="es-ES" sz="2200" b="1" dirty="0" err="1">
                <a:solidFill>
                  <a:srgbClr val="E46C0A"/>
                </a:solidFill>
              </a:rPr>
              <a:t>locking</a:t>
            </a:r>
            <a:r>
              <a:rPr lang="es-ES" sz="2200" b="1" dirty="0">
                <a:solidFill>
                  <a:srgbClr val="E46C0A"/>
                </a:solidFill>
              </a:rPr>
              <a:t> </a:t>
            </a:r>
            <a:r>
              <a:rPr lang="es-ES" sz="2200" b="1" dirty="0" err="1">
                <a:solidFill>
                  <a:srgbClr val="E46C0A"/>
                </a:solidFill>
              </a:rPr>
              <a:t>strategy</a:t>
            </a:r>
            <a:r>
              <a:rPr lang="es-ES" sz="2200" dirty="0">
                <a:solidFill>
                  <a:srgbClr val="E46C0A"/>
                </a:solidFill>
              </a:rPr>
              <a:t>:</a:t>
            </a:r>
            <a:r>
              <a:rPr lang="es-ES" sz="2200" dirty="0"/>
              <a:t> Un lock global se emplea cada vez que se accede a una región crítica </a:t>
            </a:r>
            <a:r>
              <a:rPr lang="es-ES" sz="2200" b="1" dirty="0"/>
              <a:t>(Forma antigua)</a:t>
            </a:r>
            <a:r>
              <a:rPr lang="es-ES" sz="2200" dirty="0"/>
              <a:t>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7" name="Google Shape;777;p39"/>
          <p:cNvSpPr txBox="1">
            <a:spLocks noGrp="1"/>
          </p:cNvSpPr>
          <p:nvPr>
            <p:ph type="body" idx="4294967295"/>
          </p:nvPr>
        </p:nvSpPr>
        <p:spPr>
          <a:xfrm>
            <a:off x="916639" y="3714750"/>
            <a:ext cx="11275362" cy="9493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</a:rPr>
              <a:t>Estrategia 2 - </a:t>
            </a:r>
            <a:r>
              <a:rPr lang="es-ES" sz="2200" b="1" dirty="0" err="1">
                <a:solidFill>
                  <a:srgbClr val="E46C0A"/>
                </a:solidFill>
              </a:rPr>
              <a:t>Fined-grained</a:t>
            </a:r>
            <a:r>
              <a:rPr lang="es-ES" sz="2200" b="1" dirty="0">
                <a:solidFill>
                  <a:srgbClr val="E46C0A"/>
                </a:solidFill>
              </a:rPr>
              <a:t> </a:t>
            </a:r>
            <a:r>
              <a:rPr lang="es-ES" sz="2200" b="1" dirty="0" err="1">
                <a:solidFill>
                  <a:srgbClr val="E46C0A"/>
                </a:solidFill>
              </a:rPr>
              <a:t>locking</a:t>
            </a:r>
            <a:r>
              <a:rPr lang="es-ES" sz="2200" b="1" dirty="0">
                <a:solidFill>
                  <a:srgbClr val="E46C0A"/>
                </a:solidFill>
              </a:rPr>
              <a:t> </a:t>
            </a:r>
            <a:r>
              <a:rPr lang="es-ES" sz="2200" b="1" dirty="0" err="1">
                <a:solidFill>
                  <a:srgbClr val="E46C0A"/>
                </a:solidFill>
              </a:rPr>
              <a:t>strategy</a:t>
            </a:r>
            <a:r>
              <a:rPr lang="es-ES" sz="2200" dirty="0">
                <a:solidFill>
                  <a:srgbClr val="E46C0A"/>
                </a:solidFill>
              </a:rPr>
              <a:t>:</a:t>
            </a:r>
            <a:r>
              <a:rPr lang="es-ES" sz="2200" dirty="0"/>
              <a:t> Se protegen diferentes secciones críticas empleando diferentes locks (</a:t>
            </a:r>
            <a:r>
              <a:rPr lang="es-ES" sz="2200" b="1" dirty="0" err="1"/>
              <a:t>Posix</a:t>
            </a:r>
            <a:r>
              <a:rPr lang="es-ES" sz="2200" dirty="0"/>
              <a:t>).</a:t>
            </a:r>
            <a:endParaRPr sz="2200"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8" name="Google Shape;778;p39"/>
          <p:cNvSpPr txBox="1"/>
          <p:nvPr/>
        </p:nvSpPr>
        <p:spPr>
          <a:xfrm>
            <a:off x="6478075" y="1598325"/>
            <a:ext cx="5273100" cy="1847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globally-allocated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// ‘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’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s-ES" sz="16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s-ES" sz="16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9" name="Google Shape;779;p39"/>
          <p:cNvSpPr txBox="1"/>
          <p:nvPr/>
        </p:nvSpPr>
        <p:spPr>
          <a:xfrm>
            <a:off x="2769600" y="4852500"/>
            <a:ext cx="7054500" cy="156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PTHREAD_MUTEX_INITIALIZER;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wrapper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exits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failure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785" name="Google Shape;785;p40"/>
          <p:cNvSpPr txBox="1">
            <a:spLocks noGrp="1"/>
          </p:cNvSpPr>
          <p:nvPr>
            <p:ph type="body" idx="1"/>
          </p:nvPr>
        </p:nvSpPr>
        <p:spPr>
          <a:xfrm>
            <a:off x="996475" y="835600"/>
            <a:ext cx="45588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Implementación de locks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4294967295"/>
          </p:nvPr>
        </p:nvSpPr>
        <p:spPr>
          <a:xfrm>
            <a:off x="648929" y="1487488"/>
            <a:ext cx="10766323" cy="1800225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E46C0A"/>
                </a:solidFill>
              </a:rPr>
              <a:t>¿Cómo construir un lock?</a:t>
            </a:r>
            <a:endParaRPr sz="2400" b="1" dirty="0">
              <a:solidFill>
                <a:srgbClr val="E46C0A"/>
              </a:solidFill>
            </a:endParaRPr>
          </a:p>
          <a:p>
            <a:pPr marL="457200" lvl="0" indent="-368300" algn="l" rtl="0">
              <a:spcBef>
                <a:spcPts val="50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¿Cómo construir un lock que sea eficiente?</a:t>
            </a:r>
            <a:endParaRPr sz="22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¿Qué hardware es necesario (Primitivas del ISA, su uso, </a:t>
            </a:r>
            <a:r>
              <a:rPr lang="es-ES" sz="2200" dirty="0" err="1"/>
              <a:t>etc</a:t>
            </a:r>
            <a:r>
              <a:rPr lang="es-ES" sz="2200" dirty="0"/>
              <a:t>)?</a:t>
            </a:r>
            <a:endParaRPr sz="22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¿Cuál es el soporte del SO (Qué necesitamos usar de este)?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787" name="Google Shape;787;p40"/>
          <p:cNvSpPr txBox="1">
            <a:spLocks noGrp="1"/>
          </p:cNvSpPr>
          <p:nvPr>
            <p:ph type="body" idx="4294967295"/>
          </p:nvPr>
        </p:nvSpPr>
        <p:spPr>
          <a:xfrm>
            <a:off x="648929" y="3386138"/>
            <a:ext cx="10766323" cy="6318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</a:rPr>
              <a:t>Objetivo</a:t>
            </a:r>
            <a:r>
              <a:rPr lang="es-ES" sz="2400" dirty="0">
                <a:solidFill>
                  <a:srgbClr val="E06666"/>
                </a:solidFill>
              </a:rPr>
              <a:t>:</a:t>
            </a:r>
            <a:r>
              <a:rPr lang="es-ES" sz="2400" dirty="0">
                <a:solidFill>
                  <a:schemeClr val="accent1"/>
                </a:solidFill>
              </a:rPr>
              <a:t> </a:t>
            </a:r>
            <a:r>
              <a:rPr lang="es-ES" sz="2400" dirty="0"/>
              <a:t>Obtener exclusión mutua con el menor costo posible.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8" name="Google Shape;788;p40"/>
          <p:cNvSpPr txBox="1"/>
          <p:nvPr/>
        </p:nvSpPr>
        <p:spPr>
          <a:xfrm>
            <a:off x="4753125" y="4494675"/>
            <a:ext cx="21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monitors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9" name="Google Shape;789;p40"/>
          <p:cNvSpPr txBox="1"/>
          <p:nvPr/>
        </p:nvSpPr>
        <p:spPr>
          <a:xfrm>
            <a:off x="6240925" y="4081500"/>
            <a:ext cx="19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semaphores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0" name="Google Shape;790;p40"/>
          <p:cNvSpPr txBox="1"/>
          <p:nvPr/>
        </p:nvSpPr>
        <p:spPr>
          <a:xfrm>
            <a:off x="3450075" y="4772538"/>
            <a:ext cx="19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40"/>
          <p:cNvSpPr txBox="1"/>
          <p:nvPr/>
        </p:nvSpPr>
        <p:spPr>
          <a:xfrm>
            <a:off x="7124500" y="4665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Condition variables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p40"/>
          <p:cNvSpPr txBox="1"/>
          <p:nvPr/>
        </p:nvSpPr>
        <p:spPr>
          <a:xfrm>
            <a:off x="4069975" y="5744875"/>
            <a:ext cx="148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3" name="Google Shape;793;p40"/>
          <p:cNvSpPr txBox="1"/>
          <p:nvPr/>
        </p:nvSpPr>
        <p:spPr>
          <a:xfrm>
            <a:off x="5699750" y="5432750"/>
            <a:ext cx="134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stores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4" name="Google Shape;794;p40"/>
          <p:cNvSpPr txBox="1"/>
          <p:nvPr/>
        </p:nvSpPr>
        <p:spPr>
          <a:xfrm>
            <a:off x="7496850" y="5773650"/>
            <a:ext cx="166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test&amp;set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40"/>
          <p:cNvSpPr txBox="1"/>
          <p:nvPr/>
        </p:nvSpPr>
        <p:spPr>
          <a:xfrm>
            <a:off x="5482325" y="6247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Disable interrupts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6" name="Google Shape;796;p40"/>
          <p:cNvCxnSpPr/>
          <p:nvPr/>
        </p:nvCxnSpPr>
        <p:spPr>
          <a:xfrm>
            <a:off x="1555450" y="5336525"/>
            <a:ext cx="9059700" cy="28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7" name="Google Shape;797;p40"/>
          <p:cNvSpPr txBox="1"/>
          <p:nvPr/>
        </p:nvSpPr>
        <p:spPr>
          <a:xfrm>
            <a:off x="2286775" y="4494675"/>
            <a:ext cx="104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8" name="Google Shape;798;p40"/>
          <p:cNvSpPr txBox="1"/>
          <p:nvPr/>
        </p:nvSpPr>
        <p:spPr>
          <a:xfrm>
            <a:off x="2286775" y="5529475"/>
            <a:ext cx="104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HW</a:t>
            </a:r>
            <a:endParaRPr sz="3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Evaluación de locks</a:t>
            </a:r>
            <a:endParaRPr dirty="0"/>
          </a:p>
        </p:txBody>
      </p:sp>
      <p:sp>
        <p:nvSpPr>
          <p:cNvPr id="810" name="Google Shape;810;p42"/>
          <p:cNvSpPr txBox="1"/>
          <p:nvPr/>
        </p:nvSpPr>
        <p:spPr>
          <a:xfrm>
            <a:off x="916650" y="955875"/>
            <a:ext cx="10736400" cy="541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Para evaluar la efectividad en la implementación de un lock se utilizan las siguientes métricas: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Mutual exclusion (Exclusión mutua)</a:t>
            </a:r>
            <a:r>
              <a:rPr lang="es-ES" sz="2000" dirty="0">
                <a:ea typeface="Roboto"/>
                <a:cs typeface="Roboto"/>
                <a:sym typeface="Roboto"/>
              </a:rPr>
              <a:t>: Sólo un hilo en la sección crítica.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 err="1">
                <a:ea typeface="Roboto"/>
                <a:cs typeface="Roboto"/>
                <a:sym typeface="Roboto"/>
              </a:rPr>
              <a:t>Fairness</a:t>
            </a:r>
            <a:r>
              <a:rPr lang="es-ES" sz="2000" b="1" dirty="0">
                <a:ea typeface="Roboto"/>
                <a:cs typeface="Roboto"/>
                <a:sym typeface="Roboto"/>
              </a:rPr>
              <a:t> (Equidad)</a:t>
            </a:r>
            <a:r>
              <a:rPr lang="es-ES" sz="2000" dirty="0">
                <a:ea typeface="Roboto"/>
                <a:cs typeface="Roboto"/>
                <a:sym typeface="Roboto"/>
              </a:rPr>
              <a:t>: Cada hilo tiene igual probabilidad de adquirir el lock.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Performance (Desempeño)</a:t>
            </a:r>
            <a:r>
              <a:rPr lang="es-ES" sz="2000" dirty="0">
                <a:ea typeface="Roboto"/>
                <a:cs typeface="Roboto"/>
                <a:sym typeface="Roboto"/>
              </a:rPr>
              <a:t>: Relacionado con el time </a:t>
            </a:r>
            <a:r>
              <a:rPr lang="es-ES" sz="2000" dirty="0" err="1">
                <a:ea typeface="Roboto"/>
                <a:cs typeface="Roboto"/>
                <a:sym typeface="Roboto"/>
              </a:rPr>
              <a:t>overhead</a:t>
            </a:r>
            <a:r>
              <a:rPr lang="es-ES" sz="2000" dirty="0">
                <a:ea typeface="Roboto"/>
                <a:cs typeface="Roboto"/>
                <a:sym typeface="Roboto"/>
              </a:rPr>
              <a:t> (tiempo tomado en la adquisición/liberación con o sin competencia). </a:t>
            </a:r>
            <a:endParaRPr sz="1600" dirty="0">
              <a:ea typeface="Roboto"/>
              <a:cs typeface="Roboto"/>
              <a:sym typeface="Roboto"/>
            </a:endParaRPr>
          </a:p>
        </p:txBody>
      </p:sp>
      <p:pic>
        <p:nvPicPr>
          <p:cNvPr id="811" name="Google Shape;81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849" y="1717149"/>
            <a:ext cx="2732853" cy="152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2849" y="3916256"/>
            <a:ext cx="2954080" cy="1527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sz="3200" b="1" dirty="0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824" name="Google Shape;824;p44"/>
          <p:cNvSpPr txBox="1">
            <a:spLocks noGrp="1"/>
          </p:cNvSpPr>
          <p:nvPr>
            <p:ph type="body" idx="1"/>
          </p:nvPr>
        </p:nvSpPr>
        <p:spPr>
          <a:xfrm>
            <a:off x="366362" y="3630470"/>
            <a:ext cx="10121400" cy="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La siguiente tabla muestra algunas formas de implementar locks: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26" name="Google Shape;826;p44"/>
          <p:cNvSpPr txBox="1">
            <a:spLocks noGrp="1"/>
          </p:cNvSpPr>
          <p:nvPr>
            <p:ph type="body" idx="4294967295"/>
          </p:nvPr>
        </p:nvSpPr>
        <p:spPr>
          <a:xfrm>
            <a:off x="366362" y="989450"/>
            <a:ext cx="4611482" cy="13747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Implementación: </a:t>
            </a:r>
            <a:endParaRPr sz="24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Determinación de cómo implementar las funciones lock() y </a:t>
            </a:r>
            <a:r>
              <a:rPr lang="es-ES" sz="2200" dirty="0" err="1"/>
              <a:t>unlock</a:t>
            </a:r>
            <a:r>
              <a:rPr lang="es-ES" sz="2200" dirty="0"/>
              <a:t>().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825" name="Google Shape;825;p44"/>
          <p:cNvGraphicFramePr/>
          <p:nvPr>
            <p:extLst>
              <p:ext uri="{D42A27DB-BD31-4B8C-83A1-F6EECF244321}">
                <p14:modId xmlns:p14="http://schemas.microsoft.com/office/powerpoint/2010/main" val="3430680395"/>
              </p:ext>
            </p:extLst>
          </p:nvPr>
        </p:nvGraphicFramePr>
        <p:xfrm>
          <a:off x="1945929" y="4272590"/>
          <a:ext cx="8300141" cy="2398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0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1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401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Algoritmos de solo software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Instrucciones atómicas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4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 de Dekker (1962)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Test &amp; Set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4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 de Petterson (1981)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Compare &amp; Swap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401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 de Lamport para más de dos procesos (1974)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Load-</a:t>
                      </a:r>
                      <a:r>
                        <a:rPr lang="es-ES" sz="1800" dirty="0" err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Linked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 (LL) &amp; Store-</a:t>
                      </a:r>
                      <a:r>
                        <a:rPr lang="es-ES" sz="1800" dirty="0" err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Conditional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47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Fetch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 &amp; </a:t>
                      </a:r>
                      <a:r>
                        <a:rPr lang="es-ES" sz="1800" dirty="0" err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add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7" name="Google Shape;827;p44"/>
          <p:cNvSpPr txBox="1"/>
          <p:nvPr/>
        </p:nvSpPr>
        <p:spPr>
          <a:xfrm>
            <a:off x="5840361" y="1096080"/>
            <a:ext cx="5633883" cy="243140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// Instrucciones lock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 // ...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solidFill>
                  <a:srgbClr val="F8A02B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 err="1"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// Instrucciones lock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 // ...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353960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833" name="Google Shape;833;p45"/>
          <p:cNvSpPr txBox="1">
            <a:spLocks noGrp="1"/>
          </p:cNvSpPr>
          <p:nvPr>
            <p:ph type="body" idx="1"/>
          </p:nvPr>
        </p:nvSpPr>
        <p:spPr>
          <a:xfrm>
            <a:off x="353961" y="919325"/>
            <a:ext cx="11530439" cy="231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control de interrupciones: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Deshabilitar interrupciones al entrar a las regiones críticas.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>
                <a:latin typeface="+mn-lt"/>
              </a:rPr>
              <a:t>Cuando se deshabilitan las interrupciones se bloquean eventos externos que podrían generar un cambio de contexto.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>
                <a:latin typeface="+mn-lt"/>
              </a:rPr>
              <a:t>El código dentro de la sección crítica no será interrumpido.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>
                <a:latin typeface="+mn-lt"/>
              </a:rPr>
              <a:t>No hay un estado asociado al lock.</a:t>
            </a:r>
            <a:endParaRPr sz="2400" dirty="0">
              <a:latin typeface="+mn-lt"/>
            </a:endParaRPr>
          </a:p>
        </p:txBody>
      </p:sp>
      <p:sp>
        <p:nvSpPr>
          <p:cNvPr id="834" name="Google Shape;834;p45"/>
          <p:cNvSpPr txBox="1"/>
          <p:nvPr/>
        </p:nvSpPr>
        <p:spPr>
          <a:xfrm>
            <a:off x="4179907" y="3600639"/>
            <a:ext cx="3434400" cy="2016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 dirty="0" err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700" b="1" dirty="0"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700" dirty="0" err="1">
                <a:latin typeface="Consolas"/>
                <a:ea typeface="Consolas"/>
                <a:cs typeface="Consolas"/>
                <a:sym typeface="Consolas"/>
              </a:rPr>
              <a:t>DisableInterrupts</a:t>
            </a: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 dirty="0" err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700" dirty="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700" b="1" dirty="0" err="1"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700" dirty="0" err="1">
                <a:latin typeface="Consolas"/>
                <a:ea typeface="Consolas"/>
                <a:cs typeface="Consolas"/>
                <a:sym typeface="Consolas"/>
              </a:rPr>
              <a:t>EnableInterrupts</a:t>
            </a: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840" name="Google Shape;840;p46"/>
          <p:cNvSpPr txBox="1">
            <a:spLocks noGrp="1"/>
          </p:cNvSpPr>
          <p:nvPr>
            <p:ph type="body" idx="1"/>
          </p:nvPr>
        </p:nvSpPr>
        <p:spPr>
          <a:xfrm>
            <a:off x="235974" y="919325"/>
            <a:ext cx="11648426" cy="54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+mn-lt"/>
              </a:rPr>
              <a:t>Implementación mediante el control de interrupciones</a:t>
            </a:r>
            <a:endParaRPr sz="2400">
              <a:latin typeface="+mn-lt"/>
            </a:endParaRPr>
          </a:p>
        </p:txBody>
      </p:sp>
      <p:sp>
        <p:nvSpPr>
          <p:cNvPr id="841" name="Google Shape;841;p46"/>
          <p:cNvSpPr txBox="1"/>
          <p:nvPr/>
        </p:nvSpPr>
        <p:spPr>
          <a:xfrm>
            <a:off x="370923" y="1696161"/>
            <a:ext cx="3485077" cy="19389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DisableInterrupts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 err="1"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EnableInterrupts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42" name="Google Shape;8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373" y="4025460"/>
            <a:ext cx="1444175" cy="2025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3" name="Google Shape;843;p46"/>
          <p:cNvGraphicFramePr/>
          <p:nvPr>
            <p:extLst>
              <p:ext uri="{D42A27DB-BD31-4B8C-83A1-F6EECF244321}">
                <p14:modId xmlns:p14="http://schemas.microsoft.com/office/powerpoint/2010/main" val="2362369094"/>
              </p:ext>
            </p:extLst>
          </p:nvPr>
        </p:nvGraphicFramePr>
        <p:xfrm>
          <a:off x="4070555" y="1742475"/>
          <a:ext cx="7813820" cy="45719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06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 bueno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 malo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40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Simple.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Útil para un sistema con un solo procesador.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Uso inadecuado al abusar de la capacidad de habilitar y deshabilitar interrupciones.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Esta aproximación no trabaja con sistemas con varios procesadores.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Cuando se desactivan las interrupciones durante un periodo de tiempo largo, las interrupciones importantes pueden perderse.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Ineficiente: el código para habilitar y deshabilitar interrupciones es lento (respecto al código que se ejecuta normalmente) en procesadores modernos.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849" name="Google Shape;849;p47"/>
          <p:cNvSpPr txBox="1">
            <a:spLocks noGrp="1"/>
          </p:cNvSpPr>
          <p:nvPr>
            <p:ph type="body" idx="1"/>
          </p:nvPr>
        </p:nvSpPr>
        <p:spPr>
          <a:xfrm>
            <a:off x="294968" y="961400"/>
            <a:ext cx="11499207" cy="60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50" name="Google Shape;850;p47"/>
          <p:cNvSpPr txBox="1"/>
          <p:nvPr/>
        </p:nvSpPr>
        <p:spPr>
          <a:xfrm>
            <a:off x="294968" y="1732325"/>
            <a:ext cx="6042882" cy="95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esta solución por software, se usa una </a:t>
            </a:r>
            <a:r>
              <a:rPr lang="es-ES" sz="2300" b="1" dirty="0" err="1">
                <a:solidFill>
                  <a:srgbClr val="CC0000"/>
                </a:solidFill>
                <a:ea typeface="Consolas"/>
                <a:cs typeface="Consolas"/>
                <a:sym typeface="Consolas"/>
              </a:rPr>
              <a:t>flag</a:t>
            </a:r>
            <a:r>
              <a:rPr lang="es-ES" sz="2300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determinar el </a:t>
            </a:r>
            <a:r>
              <a:rPr lang="es-ES" sz="23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estado</a:t>
            </a: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3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851" name="Google Shape;851;p47"/>
          <p:cNvGrpSpPr/>
          <p:nvPr/>
        </p:nvGrpSpPr>
        <p:grpSpPr>
          <a:xfrm>
            <a:off x="6811604" y="1676225"/>
            <a:ext cx="5203075" cy="4672368"/>
            <a:chOff x="4906725" y="1676225"/>
            <a:chExt cx="6071975" cy="4672368"/>
          </a:xfrm>
        </p:grpSpPr>
        <p:sp>
          <p:nvSpPr>
            <p:cNvPr id="852" name="Google Shape;852;p47"/>
            <p:cNvSpPr txBox="1"/>
            <p:nvPr/>
          </p:nvSpPr>
          <p:spPr>
            <a:xfrm>
              <a:off x="5468300" y="1704275"/>
              <a:ext cx="5510400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0 -&gt;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1 -&gt;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1) // TEST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; // spin-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1; //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now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SET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it!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53" name="Google Shape;853;p47"/>
            <p:cNvSpPr txBox="1"/>
            <p:nvPr/>
          </p:nvSpPr>
          <p:spPr>
            <a:xfrm>
              <a:off x="4906725" y="1676225"/>
              <a:ext cx="463500" cy="464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54" name="Google Shape;854;p47"/>
          <p:cNvSpPr/>
          <p:nvPr/>
        </p:nvSpPr>
        <p:spPr>
          <a:xfrm>
            <a:off x="1662088" y="2857492"/>
            <a:ext cx="3464100" cy="1009800"/>
          </a:xfrm>
          <a:prstGeom prst="diamond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mutex.</a:t>
            </a:r>
            <a:r>
              <a:rPr lang="es-ES" sz="1400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== 1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5" name="Google Shape;855;p47"/>
          <p:cNvCxnSpPr>
            <a:stCxn id="854" idx="3"/>
          </p:cNvCxnSpPr>
          <p:nvPr/>
        </p:nvCxnSpPr>
        <p:spPr>
          <a:xfrm>
            <a:off x="5126188" y="3362392"/>
            <a:ext cx="507000" cy="11220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6" name="Google Shape;856;p47"/>
          <p:cNvCxnSpPr>
            <a:stCxn id="854" idx="1"/>
          </p:cNvCxnSpPr>
          <p:nvPr/>
        </p:nvCxnSpPr>
        <p:spPr>
          <a:xfrm flipH="1">
            <a:off x="1187488" y="3362392"/>
            <a:ext cx="474600" cy="9678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7" name="Google Shape;857;p47"/>
          <p:cNvSpPr/>
          <p:nvPr/>
        </p:nvSpPr>
        <p:spPr>
          <a:xfrm>
            <a:off x="1155088" y="3095992"/>
            <a:ext cx="5070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8" name="Google Shape;858;p47"/>
          <p:cNvSpPr/>
          <p:nvPr/>
        </p:nvSpPr>
        <p:spPr>
          <a:xfrm>
            <a:off x="5126188" y="3095992"/>
            <a:ext cx="5070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59" name="Google Shape;8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191" y="4510729"/>
            <a:ext cx="518325" cy="7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181" y="4570867"/>
            <a:ext cx="683019" cy="7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47"/>
          <p:cNvSpPr/>
          <p:nvPr/>
        </p:nvSpPr>
        <p:spPr>
          <a:xfrm>
            <a:off x="500263" y="4570867"/>
            <a:ext cx="8616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held</a:t>
            </a:r>
            <a:endParaRPr sz="14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p47"/>
          <p:cNvSpPr/>
          <p:nvPr/>
        </p:nvSpPr>
        <p:spPr>
          <a:xfrm>
            <a:off x="5243327" y="4643023"/>
            <a:ext cx="13314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available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868" name="Google Shape;868;p48"/>
          <p:cNvSpPr txBox="1">
            <a:spLocks noGrp="1"/>
          </p:cNvSpPr>
          <p:nvPr>
            <p:ph type="body" idx="1"/>
          </p:nvPr>
        </p:nvSpPr>
        <p:spPr>
          <a:xfrm>
            <a:off x="370650" y="931217"/>
            <a:ext cx="109047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  <a:latin typeface="+mn-lt"/>
              </a:rPr>
              <a:t>Análisis - Caso 1</a:t>
            </a:r>
            <a:r>
              <a:rPr lang="es-ES" sz="22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69" name="Google Shape;869;p48"/>
          <p:cNvGrpSpPr/>
          <p:nvPr/>
        </p:nvGrpSpPr>
        <p:grpSpPr>
          <a:xfrm>
            <a:off x="7765500" y="5700875"/>
            <a:ext cx="2148650" cy="400200"/>
            <a:chOff x="6264175" y="6229625"/>
            <a:chExt cx="2148650" cy="400200"/>
          </a:xfrm>
        </p:grpSpPr>
        <p:cxnSp>
          <p:nvCxnSpPr>
            <p:cNvPr id="870" name="Google Shape;870;p48"/>
            <p:cNvCxnSpPr/>
            <p:nvPr/>
          </p:nvCxnSpPr>
          <p:spPr>
            <a:xfrm rot="10800000" flipH="1">
              <a:off x="7073625" y="642882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71" name="Google Shape;871;p48"/>
            <p:cNvSpPr txBox="1"/>
            <p:nvPr/>
          </p:nvSpPr>
          <p:spPr>
            <a:xfrm>
              <a:off x="6264175" y="622962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872" name="Google Shape;872;p48"/>
          <p:cNvGraphicFramePr/>
          <p:nvPr/>
        </p:nvGraphicFramePr>
        <p:xfrm>
          <a:off x="5273775" y="2860063"/>
          <a:ext cx="6308525" cy="2773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línea[T1]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línea[T2]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73" name="Google Shape;873;p48"/>
          <p:cNvGrpSpPr/>
          <p:nvPr/>
        </p:nvGrpSpPr>
        <p:grpSpPr>
          <a:xfrm>
            <a:off x="1045388" y="2074588"/>
            <a:ext cx="3587225" cy="1006500"/>
            <a:chOff x="1045388" y="1898038"/>
            <a:chExt cx="3587225" cy="1006500"/>
          </a:xfrm>
        </p:grpSpPr>
        <p:sp>
          <p:nvSpPr>
            <p:cNvPr id="874" name="Google Shape;874;p48"/>
            <p:cNvSpPr txBox="1"/>
            <p:nvPr/>
          </p:nvSpPr>
          <p:spPr>
            <a:xfrm>
              <a:off x="1679112" y="1898038"/>
              <a:ext cx="2953500" cy="10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1);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1;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75" name="Google Shape;875;p48"/>
            <p:cNvSpPr txBox="1"/>
            <p:nvPr/>
          </p:nvSpPr>
          <p:spPr>
            <a:xfrm>
              <a:off x="1045388" y="1898038"/>
              <a:ext cx="5367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6" name="Google Shape;876;p48"/>
          <p:cNvGraphicFramePr/>
          <p:nvPr/>
        </p:nvGraphicFramePr>
        <p:xfrm>
          <a:off x="916650" y="3465400"/>
          <a:ext cx="3844700" cy="3163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T1 → T2 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T2 → T1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77" name="Google Shape;877;p48"/>
          <p:cNvSpPr txBox="1"/>
          <p:nvPr/>
        </p:nvSpPr>
        <p:spPr>
          <a:xfrm>
            <a:off x="7050300" y="2149150"/>
            <a:ext cx="71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L(T1)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8" name="Google Shape;878;p48"/>
          <p:cNvSpPr txBox="1"/>
          <p:nvPr/>
        </p:nvSpPr>
        <p:spPr>
          <a:xfrm>
            <a:off x="8735950" y="4776175"/>
            <a:ext cx="71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L(T2)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9" name="Google Shape;879;p48"/>
          <p:cNvCxnSpPr>
            <a:stCxn id="877" idx="2"/>
          </p:cNvCxnSpPr>
          <p:nvPr/>
        </p:nvCxnSpPr>
        <p:spPr>
          <a:xfrm>
            <a:off x="7407900" y="2549350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0" name="Google Shape;880;p48"/>
          <p:cNvCxnSpPr>
            <a:stCxn id="878" idx="0"/>
          </p:cNvCxnSpPr>
          <p:nvPr/>
        </p:nvCxnSpPr>
        <p:spPr>
          <a:xfrm rot="10800000" flipH="1">
            <a:off x="9093550" y="4472275"/>
            <a:ext cx="1800" cy="303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81" name="Google Shape;88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9336" y="3704534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5646" y="3422608"/>
            <a:ext cx="384650" cy="406991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8"/>
          <p:cNvSpPr/>
          <p:nvPr/>
        </p:nvSpPr>
        <p:spPr>
          <a:xfrm>
            <a:off x="7912550" y="3313000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884" name="Google Shape;88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174" y="3712850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749" y="3712837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6411" y="3704546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1136" y="3704559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2636" y="3704559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7736" y="3704534"/>
            <a:ext cx="229850" cy="3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48"/>
          <p:cNvSpPr/>
          <p:nvPr/>
        </p:nvSpPr>
        <p:spPr>
          <a:xfrm>
            <a:off x="9313150" y="3313000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91" name="Google Shape;891;p48"/>
          <p:cNvSpPr/>
          <p:nvPr/>
        </p:nvSpPr>
        <p:spPr>
          <a:xfrm>
            <a:off x="10429725" y="329522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897" name="Google Shape;897;p49"/>
          <p:cNvSpPr txBox="1">
            <a:spLocks noGrp="1"/>
          </p:cNvSpPr>
          <p:nvPr>
            <p:ph type="body" idx="1"/>
          </p:nvPr>
        </p:nvSpPr>
        <p:spPr>
          <a:xfrm>
            <a:off x="353484" y="783222"/>
            <a:ext cx="11485031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  <a:latin typeface="+mn-lt"/>
              </a:rPr>
              <a:t>Análisis - Caso 2</a:t>
            </a:r>
            <a:r>
              <a:rPr lang="es-ES" sz="2200" dirty="0">
                <a:solidFill>
                  <a:schemeClr val="accent2"/>
                </a:solidFill>
                <a:latin typeface="+mn-lt"/>
              </a:rPr>
              <a:t>: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Problema - La exclusión mutua deja de satisfacerse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98" name="Google Shape;898;p49"/>
          <p:cNvGrpSpPr/>
          <p:nvPr/>
        </p:nvGrpSpPr>
        <p:grpSpPr>
          <a:xfrm>
            <a:off x="7689300" y="5853275"/>
            <a:ext cx="2148650" cy="400200"/>
            <a:chOff x="6264175" y="6229625"/>
            <a:chExt cx="2148650" cy="400200"/>
          </a:xfrm>
        </p:grpSpPr>
        <p:cxnSp>
          <p:nvCxnSpPr>
            <p:cNvPr id="899" name="Google Shape;899;p49"/>
            <p:cNvCxnSpPr/>
            <p:nvPr/>
          </p:nvCxnSpPr>
          <p:spPr>
            <a:xfrm rot="10800000" flipH="1">
              <a:off x="7073625" y="642882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0" name="Google Shape;900;p49"/>
            <p:cNvSpPr txBox="1"/>
            <p:nvPr/>
          </p:nvSpPr>
          <p:spPr>
            <a:xfrm>
              <a:off x="6264175" y="622962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901" name="Google Shape;901;p49"/>
          <p:cNvGraphicFramePr/>
          <p:nvPr/>
        </p:nvGraphicFramePr>
        <p:xfrm>
          <a:off x="5197575" y="2707663"/>
          <a:ext cx="6308525" cy="30477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línea[T1]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linea[T2]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02" name="Google Shape;902;p49"/>
          <p:cNvGrpSpPr/>
          <p:nvPr/>
        </p:nvGrpSpPr>
        <p:grpSpPr>
          <a:xfrm>
            <a:off x="1045388" y="1982488"/>
            <a:ext cx="3587225" cy="1006500"/>
            <a:chOff x="1045388" y="1898038"/>
            <a:chExt cx="3587225" cy="1006500"/>
          </a:xfrm>
        </p:grpSpPr>
        <p:sp>
          <p:nvSpPr>
            <p:cNvPr id="903" name="Google Shape;903;p49"/>
            <p:cNvSpPr txBox="1"/>
            <p:nvPr/>
          </p:nvSpPr>
          <p:spPr>
            <a:xfrm>
              <a:off x="1679112" y="1898038"/>
              <a:ext cx="2953500" cy="100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1);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1;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4" name="Google Shape;904;p49"/>
            <p:cNvSpPr txBox="1"/>
            <p:nvPr/>
          </p:nvSpPr>
          <p:spPr>
            <a:xfrm>
              <a:off x="1045388" y="1898038"/>
              <a:ext cx="5367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05" name="Google Shape;905;p49"/>
          <p:cNvGraphicFramePr/>
          <p:nvPr/>
        </p:nvGraphicFramePr>
        <p:xfrm>
          <a:off x="992850" y="3251050"/>
          <a:ext cx="3844700" cy="3163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T1 → T2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T2 → T1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6" name="Google Shape;906;p49"/>
          <p:cNvSpPr txBox="1"/>
          <p:nvPr/>
        </p:nvSpPr>
        <p:spPr>
          <a:xfrm>
            <a:off x="6861147" y="1937316"/>
            <a:ext cx="10024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L(T1)</a:t>
            </a:r>
            <a:endParaRPr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49"/>
          <p:cNvSpPr txBox="1"/>
          <p:nvPr/>
        </p:nvSpPr>
        <p:spPr>
          <a:xfrm>
            <a:off x="8112799" y="4571850"/>
            <a:ext cx="102751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L(T2)</a:t>
            </a:r>
            <a:endParaRPr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8" name="Google Shape;908;p49"/>
          <p:cNvCxnSpPr/>
          <p:nvPr/>
        </p:nvCxnSpPr>
        <p:spPr>
          <a:xfrm>
            <a:off x="7331700" y="2368900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09" name="Google Shape;9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446" y="3346283"/>
            <a:ext cx="384650" cy="40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8099" y="3532025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299" y="3532025"/>
            <a:ext cx="287212" cy="3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9"/>
          <p:cNvSpPr/>
          <p:nvPr/>
        </p:nvSpPr>
        <p:spPr>
          <a:xfrm>
            <a:off x="7566625" y="314307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3" name="Google Shape;913;p49"/>
          <p:cNvSpPr/>
          <p:nvPr/>
        </p:nvSpPr>
        <p:spPr>
          <a:xfrm>
            <a:off x="9305925" y="314307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4" name="Google Shape;914;p49"/>
          <p:cNvSpPr/>
          <p:nvPr/>
        </p:nvSpPr>
        <p:spPr>
          <a:xfrm>
            <a:off x="8649800" y="314307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915" name="Google Shape;9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0999" y="3554525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3099" y="3566450"/>
            <a:ext cx="287212" cy="30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49"/>
          <p:cNvCxnSpPr/>
          <p:nvPr/>
        </p:nvCxnSpPr>
        <p:spPr>
          <a:xfrm>
            <a:off x="8444600" y="4319875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918" name="Google Shape;91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5111" y="3552134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9761" y="3552134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5286" y="3562409"/>
            <a:ext cx="229850" cy="3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49"/>
          <p:cNvSpPr/>
          <p:nvPr/>
        </p:nvSpPr>
        <p:spPr>
          <a:xfrm flipH="1">
            <a:off x="10059926" y="3143075"/>
            <a:ext cx="66383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2" name="Google Shape;922;p49"/>
          <p:cNvSpPr/>
          <p:nvPr/>
        </p:nvSpPr>
        <p:spPr>
          <a:xfrm flipH="1">
            <a:off x="10708746" y="3143075"/>
            <a:ext cx="66383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1"/>
          </p:nvPr>
        </p:nvSpPr>
        <p:spPr>
          <a:xfrm>
            <a:off x="530942" y="760400"/>
            <a:ext cx="11290408" cy="51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929" name="Google Shape;92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500" y="1311713"/>
            <a:ext cx="5321601" cy="21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50"/>
          <p:cNvSpPr txBox="1"/>
          <p:nvPr/>
        </p:nvSpPr>
        <p:spPr>
          <a:xfrm>
            <a:off x="512549" y="1822403"/>
            <a:ext cx="5247000" cy="129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 1 - No se asegura la exclusión mutua</a:t>
            </a:r>
            <a:endParaRPr sz="2200" b="1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Ambos hilos ingresan a la región crítica.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cxnSp>
        <p:nvCxnSpPr>
          <p:cNvPr id="931" name="Google Shape;931;p50"/>
          <p:cNvCxnSpPr/>
          <p:nvPr/>
        </p:nvCxnSpPr>
        <p:spPr>
          <a:xfrm rot="10800000" flipH="1">
            <a:off x="3669125" y="4595200"/>
            <a:ext cx="6870900" cy="8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2" name="Google Shape;932;p50"/>
          <p:cNvCxnSpPr/>
          <p:nvPr/>
        </p:nvCxnSpPr>
        <p:spPr>
          <a:xfrm rot="10800000" flipH="1">
            <a:off x="3669125" y="5449275"/>
            <a:ext cx="6900300" cy="1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3" name="Google Shape;933;p50"/>
          <p:cNvSpPr txBox="1"/>
          <p:nvPr/>
        </p:nvSpPr>
        <p:spPr>
          <a:xfrm>
            <a:off x="2283700" y="438775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934" name="Google Shape;934;p50"/>
          <p:cNvSpPr txBox="1"/>
          <p:nvPr/>
        </p:nvSpPr>
        <p:spPr>
          <a:xfrm>
            <a:off x="2283700" y="52355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cxnSp>
        <p:nvCxnSpPr>
          <p:cNvPr id="935" name="Google Shape;935;p50"/>
          <p:cNvCxnSpPr/>
          <p:nvPr/>
        </p:nvCxnSpPr>
        <p:spPr>
          <a:xfrm>
            <a:off x="4804000" y="4414725"/>
            <a:ext cx="5100" cy="12303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36" name="Google Shape;936;p50"/>
          <p:cNvCxnSpPr/>
          <p:nvPr/>
        </p:nvCxnSpPr>
        <p:spPr>
          <a:xfrm>
            <a:off x="4809750" y="4027550"/>
            <a:ext cx="1800" cy="337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7" name="Google Shape;937;p50"/>
          <p:cNvSpPr/>
          <p:nvPr/>
        </p:nvSpPr>
        <p:spPr>
          <a:xfrm>
            <a:off x="4804000" y="4519150"/>
            <a:ext cx="54327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50"/>
          <p:cNvSpPr/>
          <p:nvPr/>
        </p:nvSpPr>
        <p:spPr>
          <a:xfrm>
            <a:off x="5594550" y="5365650"/>
            <a:ext cx="46422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9" name="Google Shape;939;p50"/>
          <p:cNvCxnSpPr/>
          <p:nvPr/>
        </p:nvCxnSpPr>
        <p:spPr>
          <a:xfrm>
            <a:off x="5596100" y="4400338"/>
            <a:ext cx="12600" cy="12447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40" name="Google Shape;940;p50"/>
          <p:cNvSpPr/>
          <p:nvPr/>
        </p:nvSpPr>
        <p:spPr>
          <a:xfrm>
            <a:off x="5651142" y="482406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41" name="Google Shape;941;p50"/>
          <p:cNvSpPr/>
          <p:nvPr/>
        </p:nvSpPr>
        <p:spPr>
          <a:xfrm>
            <a:off x="5837896" y="482407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942" name="Google Shape;942;p50"/>
          <p:cNvCxnSpPr/>
          <p:nvPr/>
        </p:nvCxnSpPr>
        <p:spPr>
          <a:xfrm>
            <a:off x="7487500" y="4414725"/>
            <a:ext cx="14400" cy="13284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43" name="Google Shape;943;p50"/>
          <p:cNvSpPr/>
          <p:nvPr/>
        </p:nvSpPr>
        <p:spPr>
          <a:xfrm rot="5400000">
            <a:off x="7233750" y="2447550"/>
            <a:ext cx="146400" cy="3458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50"/>
          <p:cNvSpPr txBox="1"/>
          <p:nvPr/>
        </p:nvSpPr>
        <p:spPr>
          <a:xfrm>
            <a:off x="5652250" y="3522050"/>
            <a:ext cx="200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Race condition</a:t>
            </a:r>
            <a:endParaRPr sz="1600" b="1" dirty="0">
              <a:solidFill>
                <a:srgbClr val="FF9900"/>
              </a:solidFill>
            </a:endParaRPr>
          </a:p>
        </p:txBody>
      </p:sp>
      <p:grpSp>
        <p:nvGrpSpPr>
          <p:cNvPr id="945" name="Google Shape;945;p50"/>
          <p:cNvGrpSpPr/>
          <p:nvPr/>
        </p:nvGrpSpPr>
        <p:grpSpPr>
          <a:xfrm>
            <a:off x="2414050" y="6368475"/>
            <a:ext cx="2039700" cy="400200"/>
            <a:chOff x="972750" y="6281050"/>
            <a:chExt cx="2039700" cy="400200"/>
          </a:xfrm>
        </p:grpSpPr>
        <p:cxnSp>
          <p:nvCxnSpPr>
            <p:cNvPr id="946" name="Google Shape;946;p50"/>
            <p:cNvCxnSpPr/>
            <p:nvPr/>
          </p:nvCxnSpPr>
          <p:spPr>
            <a:xfrm rot="10800000" flipH="1">
              <a:off x="1673250" y="6480250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47" name="Google Shape;947;p50"/>
            <p:cNvSpPr txBox="1"/>
            <p:nvPr/>
          </p:nvSpPr>
          <p:spPr>
            <a:xfrm>
              <a:off x="972750" y="6281050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948" name="Google Shape;94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8200" y="4811000"/>
            <a:ext cx="3092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50"/>
          <p:cNvSpPr txBox="1"/>
          <p:nvPr/>
        </p:nvSpPr>
        <p:spPr>
          <a:xfrm>
            <a:off x="4453750" y="3603275"/>
            <a:ext cx="700500" cy="369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L(T1)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950" name="Google Shape;950;p50"/>
          <p:cNvSpPr txBox="1"/>
          <p:nvPr/>
        </p:nvSpPr>
        <p:spPr>
          <a:xfrm>
            <a:off x="5252150" y="6394950"/>
            <a:ext cx="700500" cy="369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L(T2)</a:t>
            </a:r>
            <a:endParaRPr sz="1600" b="1">
              <a:solidFill>
                <a:schemeClr val="dk1"/>
              </a:solidFill>
            </a:endParaRPr>
          </a:p>
        </p:txBody>
      </p:sp>
      <p:cxnSp>
        <p:nvCxnSpPr>
          <p:cNvPr id="951" name="Google Shape;951;p50"/>
          <p:cNvCxnSpPr/>
          <p:nvPr/>
        </p:nvCxnSpPr>
        <p:spPr>
          <a:xfrm rot="10800000">
            <a:off x="5617475" y="5697175"/>
            <a:ext cx="5100" cy="691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52" name="Google Shape;95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8771" y="4833233"/>
            <a:ext cx="384650" cy="40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821" y="4822796"/>
            <a:ext cx="384650" cy="406991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50"/>
          <p:cNvSpPr txBox="1"/>
          <p:nvPr/>
        </p:nvSpPr>
        <p:spPr>
          <a:xfrm>
            <a:off x="2829100" y="5901963"/>
            <a:ext cx="78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955" name="Google Shape;955;p50"/>
          <p:cNvSpPr txBox="1"/>
          <p:nvPr/>
        </p:nvSpPr>
        <p:spPr>
          <a:xfrm>
            <a:off x="4185225" y="5917425"/>
            <a:ext cx="48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6" name="Google Shape;956;p50"/>
          <p:cNvSpPr txBox="1"/>
          <p:nvPr/>
        </p:nvSpPr>
        <p:spPr>
          <a:xfrm>
            <a:off x="4999763" y="5904625"/>
            <a:ext cx="48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57" name="Google Shape;957;p50"/>
          <p:cNvCxnSpPr/>
          <p:nvPr/>
        </p:nvCxnSpPr>
        <p:spPr>
          <a:xfrm>
            <a:off x="6464050" y="4719450"/>
            <a:ext cx="300" cy="1037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958" name="Google Shape;958;p50"/>
          <p:cNvSpPr/>
          <p:nvPr/>
        </p:nvSpPr>
        <p:spPr>
          <a:xfrm>
            <a:off x="4882346" y="483622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959" name="Google Shape;95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2846" y="4823058"/>
            <a:ext cx="384650" cy="406991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0"/>
          <p:cNvSpPr txBox="1"/>
          <p:nvPr/>
        </p:nvSpPr>
        <p:spPr>
          <a:xfrm>
            <a:off x="6219738" y="5720213"/>
            <a:ext cx="48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1" name="Google Shape;961;p50"/>
          <p:cNvSpPr/>
          <p:nvPr/>
        </p:nvSpPr>
        <p:spPr>
          <a:xfrm>
            <a:off x="6598542" y="481099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" name="Google Shape;962;p50"/>
          <p:cNvSpPr/>
          <p:nvPr/>
        </p:nvSpPr>
        <p:spPr>
          <a:xfrm>
            <a:off x="6785296" y="481099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963" name="Google Shape;963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7112" y="41843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4762" y="5598925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0400" y="5598925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9050" y="4182925"/>
            <a:ext cx="331075" cy="33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7" name="Google Shape;967;p50"/>
          <p:cNvCxnSpPr/>
          <p:nvPr/>
        </p:nvCxnSpPr>
        <p:spPr>
          <a:xfrm rot="10800000">
            <a:off x="8259200" y="4130450"/>
            <a:ext cx="0" cy="12201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968" name="Google Shape;968;p50"/>
          <p:cNvSpPr txBox="1"/>
          <p:nvPr/>
        </p:nvSpPr>
        <p:spPr>
          <a:xfrm>
            <a:off x="6022875" y="6394950"/>
            <a:ext cx="9117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flag = 1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969" name="Google Shape;969;p50"/>
          <p:cNvSpPr txBox="1"/>
          <p:nvPr/>
        </p:nvSpPr>
        <p:spPr>
          <a:xfrm>
            <a:off x="7789325" y="3724313"/>
            <a:ext cx="9117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flag = 1</a:t>
            </a:r>
            <a:endParaRPr sz="1200" b="1">
              <a:solidFill>
                <a:srgbClr val="0000FF"/>
              </a:solidFill>
            </a:endParaRPr>
          </a:p>
        </p:txBody>
      </p:sp>
      <p:sp>
        <p:nvSpPr>
          <p:cNvPr id="970" name="Google Shape;970;p50"/>
          <p:cNvSpPr txBox="1"/>
          <p:nvPr/>
        </p:nvSpPr>
        <p:spPr>
          <a:xfrm>
            <a:off x="8014238" y="5485550"/>
            <a:ext cx="489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trike="sngStrike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trike="sngStrike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71" name="Google Shape;97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4163" y="4811000"/>
            <a:ext cx="3092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50"/>
          <p:cNvSpPr/>
          <p:nvPr/>
        </p:nvSpPr>
        <p:spPr>
          <a:xfrm>
            <a:off x="7651992" y="476891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73" name="Google Shape;973;p50"/>
          <p:cNvSpPr/>
          <p:nvPr/>
        </p:nvSpPr>
        <p:spPr>
          <a:xfrm>
            <a:off x="7838746" y="476892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974" name="Google Shape;97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8275" y="4178875"/>
            <a:ext cx="331075" cy="33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5" name="Google Shape;975;p50"/>
          <p:cNvCxnSpPr/>
          <p:nvPr/>
        </p:nvCxnSpPr>
        <p:spPr>
          <a:xfrm>
            <a:off x="3691750" y="6232413"/>
            <a:ext cx="6895500" cy="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6" name="Google Shape;976;p50"/>
          <p:cNvCxnSpPr/>
          <p:nvPr/>
        </p:nvCxnSpPr>
        <p:spPr>
          <a:xfrm>
            <a:off x="3703925" y="6020163"/>
            <a:ext cx="6895500" cy="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7" name="Google Shape;977;p50"/>
          <p:cNvSpPr/>
          <p:nvPr/>
        </p:nvSpPr>
        <p:spPr>
          <a:xfrm>
            <a:off x="9321542" y="4810731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78" name="Google Shape;978;p50"/>
          <p:cNvSpPr/>
          <p:nvPr/>
        </p:nvSpPr>
        <p:spPr>
          <a:xfrm>
            <a:off x="9508296" y="48107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984" name="Google Shape;984;p51"/>
          <p:cNvSpPr txBox="1">
            <a:spLocks noGrp="1"/>
          </p:cNvSpPr>
          <p:nvPr>
            <p:ph type="body" idx="1"/>
          </p:nvPr>
        </p:nvSpPr>
        <p:spPr>
          <a:xfrm>
            <a:off x="334916" y="768000"/>
            <a:ext cx="11390334" cy="51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985" name="Google Shape;985;p51"/>
          <p:cNvSpPr txBox="1"/>
          <p:nvPr/>
        </p:nvSpPr>
        <p:spPr>
          <a:xfrm>
            <a:off x="286550" y="1301251"/>
            <a:ext cx="5555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Problema 2 - Desempeño</a:t>
            </a:r>
            <a:r>
              <a:rPr lang="es-ES" sz="22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Gasto intensivo de CPU debido a la forma como el hilo chequea la bandera.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spin-</a:t>
            </a:r>
            <a:r>
              <a:rPr lang="es-ES" sz="2000" b="1" dirty="0" err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waiting</a:t>
            </a:r>
            <a:r>
              <a:rPr lang="es-ES" sz="2000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Chequeo continuo del valor de la bandera (</a:t>
            </a:r>
            <a:r>
              <a:rPr lang="es-ES" sz="20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6" name="Google Shape;986;p51"/>
          <p:cNvGrpSpPr/>
          <p:nvPr/>
        </p:nvGrpSpPr>
        <p:grpSpPr>
          <a:xfrm>
            <a:off x="2283700" y="3527075"/>
            <a:ext cx="8315725" cy="3173113"/>
            <a:chOff x="2283700" y="3603275"/>
            <a:chExt cx="8315725" cy="3173113"/>
          </a:xfrm>
        </p:grpSpPr>
        <p:cxnSp>
          <p:nvCxnSpPr>
            <p:cNvPr id="987" name="Google Shape;987;p51"/>
            <p:cNvCxnSpPr/>
            <p:nvPr/>
          </p:nvCxnSpPr>
          <p:spPr>
            <a:xfrm rot="10800000" flipH="1">
              <a:off x="3669125" y="4595200"/>
              <a:ext cx="6870900" cy="81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88" name="Google Shape;988;p51"/>
            <p:cNvCxnSpPr/>
            <p:nvPr/>
          </p:nvCxnSpPr>
          <p:spPr>
            <a:xfrm rot="10800000" flipH="1">
              <a:off x="3669125" y="5449275"/>
              <a:ext cx="6900300" cy="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89" name="Google Shape;989;p51"/>
            <p:cNvSpPr txBox="1"/>
            <p:nvPr/>
          </p:nvSpPr>
          <p:spPr>
            <a:xfrm>
              <a:off x="2283700" y="4387750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Thread T1</a:t>
              </a:r>
              <a:endParaRPr sz="1600" b="1">
                <a:solidFill>
                  <a:srgbClr val="0000FF"/>
                </a:solidFill>
              </a:endParaRPr>
            </a:p>
          </p:txBody>
        </p:sp>
        <p:sp>
          <p:nvSpPr>
            <p:cNvPr id="990" name="Google Shape;990;p51"/>
            <p:cNvSpPr txBox="1"/>
            <p:nvPr/>
          </p:nvSpPr>
          <p:spPr>
            <a:xfrm>
              <a:off x="2283700" y="5235525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Thread T2</a:t>
              </a:r>
              <a:endParaRPr sz="1600" b="1">
                <a:solidFill>
                  <a:srgbClr val="FF0000"/>
                </a:solidFill>
              </a:endParaRPr>
            </a:p>
          </p:txBody>
        </p:sp>
        <p:cxnSp>
          <p:nvCxnSpPr>
            <p:cNvPr id="991" name="Google Shape;991;p51"/>
            <p:cNvCxnSpPr/>
            <p:nvPr/>
          </p:nvCxnSpPr>
          <p:spPr>
            <a:xfrm>
              <a:off x="4804000" y="4414725"/>
              <a:ext cx="5100" cy="12303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51"/>
            <p:cNvCxnSpPr/>
            <p:nvPr/>
          </p:nvCxnSpPr>
          <p:spPr>
            <a:xfrm>
              <a:off x="4809750" y="402755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93" name="Google Shape;993;p51"/>
            <p:cNvSpPr/>
            <p:nvPr/>
          </p:nvSpPr>
          <p:spPr>
            <a:xfrm>
              <a:off x="4804000" y="4519150"/>
              <a:ext cx="54327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1"/>
            <p:cNvSpPr/>
            <p:nvPr/>
          </p:nvSpPr>
          <p:spPr>
            <a:xfrm>
              <a:off x="6453750" y="5365650"/>
              <a:ext cx="1798200" cy="168300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95" name="Google Shape;995;p51"/>
            <p:cNvCxnSpPr/>
            <p:nvPr/>
          </p:nvCxnSpPr>
          <p:spPr>
            <a:xfrm>
              <a:off x="6421538" y="4362113"/>
              <a:ext cx="12600" cy="12447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996" name="Google Shape;996;p51"/>
            <p:cNvSpPr/>
            <p:nvPr/>
          </p:nvSpPr>
          <p:spPr>
            <a:xfrm>
              <a:off x="5702921" y="4852810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997" name="Google Shape;997;p51"/>
            <p:cNvCxnSpPr/>
            <p:nvPr/>
          </p:nvCxnSpPr>
          <p:spPr>
            <a:xfrm>
              <a:off x="8251988" y="4320263"/>
              <a:ext cx="14400" cy="13284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998" name="Google Shape;998;p51"/>
            <p:cNvGrpSpPr/>
            <p:nvPr/>
          </p:nvGrpSpPr>
          <p:grpSpPr>
            <a:xfrm>
              <a:off x="2414050" y="6368475"/>
              <a:ext cx="2039700" cy="400200"/>
              <a:chOff x="972750" y="6281050"/>
              <a:chExt cx="2039700" cy="400200"/>
            </a:xfrm>
          </p:grpSpPr>
          <p:cxnSp>
            <p:nvCxnSpPr>
              <p:cNvPr id="999" name="Google Shape;999;p51"/>
              <p:cNvCxnSpPr/>
              <p:nvPr/>
            </p:nvCxnSpPr>
            <p:spPr>
              <a:xfrm rot="10800000" flipH="1">
                <a:off x="1673250" y="6480250"/>
                <a:ext cx="1339200" cy="1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00" name="Google Shape;1000;p51"/>
              <p:cNvSpPr txBox="1"/>
              <p:nvPr/>
            </p:nvSpPr>
            <p:spPr>
              <a:xfrm>
                <a:off x="972750" y="6281050"/>
                <a:ext cx="70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Time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1001" name="Google Shape;1001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00450" y="4861565"/>
              <a:ext cx="236275" cy="329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51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  <p:sp>
          <p:nvSpPr>
            <p:cNvPr id="1003" name="Google Shape;1003;p51"/>
            <p:cNvSpPr txBox="1"/>
            <p:nvPr/>
          </p:nvSpPr>
          <p:spPr>
            <a:xfrm>
              <a:off x="6083325" y="6407088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  <p:cxnSp>
          <p:nvCxnSpPr>
            <p:cNvPr id="1004" name="Google Shape;1004;p51"/>
            <p:cNvCxnSpPr/>
            <p:nvPr/>
          </p:nvCxnSpPr>
          <p:spPr>
            <a:xfrm rot="10800000">
              <a:off x="6448650" y="5709313"/>
              <a:ext cx="5100" cy="69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005" name="Google Shape;1005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91825" y="4843100"/>
              <a:ext cx="346275" cy="366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51"/>
            <p:cNvSpPr txBox="1"/>
            <p:nvPr/>
          </p:nvSpPr>
          <p:spPr>
            <a:xfrm>
              <a:off x="2829100" y="5901963"/>
              <a:ext cx="780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endParaRPr sz="1600" b="1">
                <a:solidFill>
                  <a:schemeClr val="dk1"/>
                </a:solidFill>
              </a:endParaRPr>
            </a:p>
          </p:txBody>
        </p:sp>
        <p:sp>
          <p:nvSpPr>
            <p:cNvPr id="1007" name="Google Shape;1007;p51"/>
            <p:cNvSpPr txBox="1"/>
            <p:nvPr/>
          </p:nvSpPr>
          <p:spPr>
            <a:xfrm>
              <a:off x="4185225" y="5917425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8" name="Google Shape;1008;p51"/>
            <p:cNvSpPr txBox="1"/>
            <p:nvPr/>
          </p:nvSpPr>
          <p:spPr>
            <a:xfrm>
              <a:off x="4999763" y="5904625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9" name="Google Shape;1009;p51"/>
            <p:cNvSpPr/>
            <p:nvPr/>
          </p:nvSpPr>
          <p:spPr>
            <a:xfrm>
              <a:off x="4882346" y="4836223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0" name="Google Shape;1010;p51"/>
            <p:cNvSpPr txBox="1"/>
            <p:nvPr/>
          </p:nvSpPr>
          <p:spPr>
            <a:xfrm>
              <a:off x="5382863" y="5918638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1011" name="Google Shape;1011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37112" y="4184300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89575" y="56115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51"/>
            <p:cNvSpPr txBox="1"/>
            <p:nvPr/>
          </p:nvSpPr>
          <p:spPr>
            <a:xfrm>
              <a:off x="5223650" y="3841825"/>
              <a:ext cx="780300" cy="3387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flag = 1</a:t>
              </a:r>
              <a:endParaRPr sz="1000">
                <a:solidFill>
                  <a:srgbClr val="0000FF"/>
                </a:solidFill>
              </a:endParaRPr>
            </a:p>
          </p:txBody>
        </p:sp>
        <p:sp>
          <p:nvSpPr>
            <p:cNvPr id="1014" name="Google Shape;1014;p51"/>
            <p:cNvSpPr/>
            <p:nvPr/>
          </p:nvSpPr>
          <p:spPr>
            <a:xfrm>
              <a:off x="6977459" y="4810998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015" name="Google Shape;1015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70575" y="41167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16" name="Google Shape;1016;p51"/>
            <p:cNvCxnSpPr/>
            <p:nvPr/>
          </p:nvCxnSpPr>
          <p:spPr>
            <a:xfrm>
              <a:off x="3703925" y="6232413"/>
              <a:ext cx="68955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7" name="Google Shape;1017;p51"/>
            <p:cNvCxnSpPr/>
            <p:nvPr/>
          </p:nvCxnSpPr>
          <p:spPr>
            <a:xfrm>
              <a:off x="3703925" y="6020163"/>
              <a:ext cx="6895500" cy="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8" name="Google Shape;1018;p51"/>
            <p:cNvSpPr/>
            <p:nvPr/>
          </p:nvSpPr>
          <p:spPr>
            <a:xfrm>
              <a:off x="8751796" y="4811010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019" name="Google Shape;1019;p51"/>
            <p:cNvCxnSpPr/>
            <p:nvPr/>
          </p:nvCxnSpPr>
          <p:spPr>
            <a:xfrm rot="10800000">
              <a:off x="5613800" y="4374425"/>
              <a:ext cx="0" cy="12201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  <p:pic>
          <p:nvPicPr>
            <p:cNvPr id="1020" name="Google Shape;102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57200" y="4827187"/>
              <a:ext cx="346275" cy="36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1" name="Google Shape;1021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52150" y="4184300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24938" y="4861815"/>
              <a:ext cx="236275" cy="32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13725" y="4861815"/>
              <a:ext cx="236275" cy="32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5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29625" y="5584738"/>
              <a:ext cx="384650" cy="384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5" name="Google Shape;1025;p51"/>
          <p:cNvSpPr txBox="1"/>
          <p:nvPr/>
        </p:nvSpPr>
        <p:spPr>
          <a:xfrm>
            <a:off x="5852150" y="1559918"/>
            <a:ext cx="6032687" cy="11756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1); // spin-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1;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it!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031" name="Google Shape;1031;p52"/>
          <p:cNvSpPr txBox="1">
            <a:spLocks noGrp="1"/>
          </p:cNvSpPr>
          <p:nvPr>
            <p:ph type="body" idx="1"/>
          </p:nvPr>
        </p:nvSpPr>
        <p:spPr>
          <a:xfrm>
            <a:off x="324465" y="882900"/>
            <a:ext cx="1149688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32" name="Google Shape;1032;p52"/>
          <p:cNvSpPr txBox="1"/>
          <p:nvPr/>
        </p:nvSpPr>
        <p:spPr>
          <a:xfrm>
            <a:off x="324465" y="1493700"/>
            <a:ext cx="11230335" cy="139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Conclusión</a:t>
            </a:r>
            <a:r>
              <a:rPr lang="es-ES" sz="2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6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Una solución como la anterior (que es solo de software) no sirve.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necesita soporte de hardware.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033" name="Google Shape;10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500" y="3019900"/>
            <a:ext cx="2496975" cy="35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039" name="Google Shape;1039;p53"/>
          <p:cNvSpPr txBox="1"/>
          <p:nvPr/>
        </p:nvSpPr>
        <p:spPr>
          <a:xfrm>
            <a:off x="442452" y="869525"/>
            <a:ext cx="10383198" cy="67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Instrucción </a:t>
            </a:r>
            <a:r>
              <a:rPr lang="es-ES" sz="2800" b="1" dirty="0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test-and-set</a:t>
            </a:r>
            <a:endParaRPr sz="2800" b="1" dirty="0">
              <a:solidFill>
                <a:schemeClr val="accent2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1040" name="Google Shape;1040;p53"/>
          <p:cNvSpPr txBox="1"/>
          <p:nvPr/>
        </p:nvSpPr>
        <p:spPr>
          <a:xfrm>
            <a:off x="442452" y="1485125"/>
            <a:ext cx="11519323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Instrucciones atómicas</a:t>
            </a:r>
            <a:r>
              <a:rPr lang="es-ES" sz="22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Garantizan que las operaciones de lectura, modificación y escritura (</a:t>
            </a: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read-modify-write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sean ejecutadas atómicamente (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sin interrupciones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Instrucción </a:t>
            </a:r>
            <a:r>
              <a:rPr lang="es-ES" sz="2200" b="1" dirty="0">
                <a:solidFill>
                  <a:srgbClr val="CC0000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 (Intercambio atómico)</a:t>
            </a:r>
            <a:r>
              <a:rPr lang="es-ES" sz="22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x86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200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xchg</a:t>
            </a:r>
            <a:endParaRPr sz="22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RISC-V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200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amoswap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53"/>
          <p:cNvSpPr txBox="1"/>
          <p:nvPr/>
        </p:nvSpPr>
        <p:spPr>
          <a:xfrm>
            <a:off x="1583500" y="3446975"/>
            <a:ext cx="10041600" cy="1736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*old_ptr, int new)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old = *old_ptr;    	// fetch old value at old_ptr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*old_ptr = new;        	// store ‘new’ into old_ptr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old;             	// return the old value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2" name="Google Shape;1042;p53"/>
          <p:cNvSpPr txBox="1"/>
          <p:nvPr/>
        </p:nvSpPr>
        <p:spPr>
          <a:xfrm>
            <a:off x="442452" y="5377450"/>
            <a:ext cx="11519323" cy="94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instrucción </a:t>
            </a:r>
            <a:r>
              <a:rPr lang="es-ES" sz="2200" b="1" dirty="0">
                <a:solidFill>
                  <a:srgbClr val="E46C0A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devuelve el valor anterior y actualiza (de manera simultánea) el valor de una posición de memoria.</a:t>
            </a:r>
            <a:r>
              <a:rPr lang="es-E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endParaRPr sz="2200" b="1" dirty="0">
              <a:solidFill>
                <a:srgbClr val="CC0000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048" name="Google Shape;1048;p54"/>
          <p:cNvSpPr txBox="1">
            <a:spLocks noGrp="1"/>
          </p:cNvSpPr>
          <p:nvPr>
            <p:ph type="body" idx="1"/>
          </p:nvPr>
        </p:nvSpPr>
        <p:spPr>
          <a:xfrm>
            <a:off x="916650" y="88290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49" name="Google Shape;1049;p54"/>
          <p:cNvSpPr txBox="1"/>
          <p:nvPr/>
        </p:nvSpPr>
        <p:spPr>
          <a:xfrm>
            <a:off x="1023775" y="1625375"/>
            <a:ext cx="5117700" cy="13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Implementación de un spinlock la instrucción 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xv6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dirty="0">
                <a:solidFill>
                  <a:schemeClr val="dk1"/>
                </a:solidFill>
                <a:uFill>
                  <a:noFill/>
                </a:uFill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2400" u="sng" dirty="0" err="1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spinlock.h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;</a:t>
            </a:r>
            <a:r>
              <a:rPr lang="es-ES" sz="2400" dirty="0">
                <a:solidFill>
                  <a:schemeClr val="dk1"/>
                </a:solidFill>
                <a:uFill>
                  <a:noFill/>
                </a:uFill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2400" u="sng" dirty="0" err="1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spinlock.c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CC0000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1050" name="Google Shape;1050;p54"/>
          <p:cNvGrpSpPr/>
          <p:nvPr/>
        </p:nvGrpSpPr>
        <p:grpSpPr>
          <a:xfrm>
            <a:off x="6264625" y="1792600"/>
            <a:ext cx="5217105" cy="4658368"/>
            <a:chOff x="4890353" y="1690225"/>
            <a:chExt cx="6088347" cy="4658368"/>
          </a:xfrm>
        </p:grpSpPr>
        <p:sp>
          <p:nvSpPr>
            <p:cNvPr id="1051" name="Google Shape;1051;p54"/>
            <p:cNvSpPr txBox="1"/>
            <p:nvPr/>
          </p:nvSpPr>
          <p:spPr>
            <a:xfrm>
              <a:off x="5468300" y="1704275"/>
              <a:ext cx="5510400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lock-&gt;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(&amp;lock-&gt;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1) == 1)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; // spin-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//lock-&gt;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(&amp;lock-&gt;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0);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52" name="Google Shape;1052;p54"/>
            <p:cNvSpPr txBox="1"/>
            <p:nvPr/>
          </p:nvSpPr>
          <p:spPr>
            <a:xfrm>
              <a:off x="4890353" y="1690225"/>
              <a:ext cx="510900" cy="4396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058" name="Google Shape;1058;p55"/>
          <p:cNvSpPr txBox="1">
            <a:spLocks noGrp="1"/>
          </p:cNvSpPr>
          <p:nvPr>
            <p:ph type="body" idx="1"/>
          </p:nvPr>
        </p:nvSpPr>
        <p:spPr>
          <a:xfrm>
            <a:off x="503456" y="882900"/>
            <a:ext cx="1131789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059" name="Google Shape;1059;p55"/>
          <p:cNvGrpSpPr/>
          <p:nvPr/>
        </p:nvGrpSpPr>
        <p:grpSpPr>
          <a:xfrm>
            <a:off x="6720999" y="1714416"/>
            <a:ext cx="4757435" cy="4658368"/>
            <a:chOff x="4890353" y="1690225"/>
            <a:chExt cx="6088347" cy="4658368"/>
          </a:xfrm>
        </p:grpSpPr>
        <p:sp>
          <p:nvSpPr>
            <p:cNvPr id="1060" name="Google Shape;1060;p55"/>
            <p:cNvSpPr txBox="1"/>
            <p:nvPr/>
          </p:nvSpPr>
          <p:spPr>
            <a:xfrm>
              <a:off x="5468300" y="1704275"/>
              <a:ext cx="5510400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(&amp;lock-&gt;flag,0);</a:t>
              </a:r>
              <a:endParaRPr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(&amp;lock-&gt;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, 1) == 1)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; // spin-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(&amp;lock-&gt;flag,0);</a:t>
              </a:r>
              <a:endParaRPr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61" name="Google Shape;1061;p55"/>
            <p:cNvSpPr txBox="1"/>
            <p:nvPr/>
          </p:nvSpPr>
          <p:spPr>
            <a:xfrm>
              <a:off x="4890353" y="1690225"/>
              <a:ext cx="510900" cy="464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</a:p>
            <a:p>
              <a:pPr algn="r">
                <a:lnSpc>
                  <a:spcPct val="115000"/>
                </a:lnSpc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</p:txBody>
        </p:sp>
      </p:grpSp>
      <p:grpSp>
        <p:nvGrpSpPr>
          <p:cNvPr id="1062" name="Google Shape;1062;p55"/>
          <p:cNvGrpSpPr/>
          <p:nvPr/>
        </p:nvGrpSpPr>
        <p:grpSpPr>
          <a:xfrm>
            <a:off x="503456" y="1644291"/>
            <a:ext cx="4874424" cy="4920128"/>
            <a:chOff x="4906725" y="1676225"/>
            <a:chExt cx="5886275" cy="4920128"/>
          </a:xfrm>
        </p:grpSpPr>
        <p:sp>
          <p:nvSpPr>
            <p:cNvPr id="1063" name="Google Shape;1063;p55"/>
            <p:cNvSpPr txBox="1"/>
            <p:nvPr/>
          </p:nvSpPr>
          <p:spPr>
            <a:xfrm>
              <a:off x="5468300" y="1704275"/>
              <a:ext cx="5324700" cy="489207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0 -&gt;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1 -&gt;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== 1) // TEST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; // spin-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= 1; //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now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SET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it!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64" name="Google Shape;1064;p55"/>
            <p:cNvSpPr txBox="1"/>
            <p:nvPr/>
          </p:nvSpPr>
          <p:spPr>
            <a:xfrm>
              <a:off x="4906725" y="1676225"/>
              <a:ext cx="463500" cy="4892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  <a:p>
              <a:pPr algn="r">
                <a:lnSpc>
                  <a:spcPct val="115000"/>
                </a:lnSpc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19</a:t>
              </a:r>
            </a:p>
          </p:txBody>
        </p:sp>
      </p:grpSp>
      <p:sp>
        <p:nvSpPr>
          <p:cNvPr id="1065" name="Google Shape;1065;p55"/>
          <p:cNvSpPr/>
          <p:nvPr/>
        </p:nvSpPr>
        <p:spPr>
          <a:xfrm>
            <a:off x="5551621" y="3714791"/>
            <a:ext cx="1169378" cy="42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071" name="Google Shape;1071;p56"/>
          <p:cNvSpPr txBox="1">
            <a:spLocks noGrp="1"/>
          </p:cNvSpPr>
          <p:nvPr>
            <p:ph type="body" idx="1"/>
          </p:nvPr>
        </p:nvSpPr>
        <p:spPr>
          <a:xfrm>
            <a:off x="916650" y="88290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72" name="Google Shape;1072;p56"/>
          <p:cNvSpPr txBox="1"/>
          <p:nvPr/>
        </p:nvSpPr>
        <p:spPr>
          <a:xfrm>
            <a:off x="1203025" y="3348250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56"/>
          <p:cNvSpPr txBox="1"/>
          <p:nvPr/>
        </p:nvSpPr>
        <p:spPr>
          <a:xfrm>
            <a:off x="6759868" y="2071250"/>
            <a:ext cx="4722000" cy="92791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4" name="Google Shape;1074;p56"/>
          <p:cNvSpPr txBox="1"/>
          <p:nvPr/>
        </p:nvSpPr>
        <p:spPr>
          <a:xfrm>
            <a:off x="1203018" y="1947350"/>
            <a:ext cx="4722000" cy="11756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; // spin-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75" name="Google Shape;1075;p56"/>
          <p:cNvGrpSpPr/>
          <p:nvPr/>
        </p:nvGrpSpPr>
        <p:grpSpPr>
          <a:xfrm>
            <a:off x="4100850" y="4159650"/>
            <a:ext cx="4699200" cy="1937200"/>
            <a:chOff x="1231875" y="4742650"/>
            <a:chExt cx="4699200" cy="1937200"/>
          </a:xfrm>
        </p:grpSpPr>
        <p:pic>
          <p:nvPicPr>
            <p:cNvPr id="1076" name="Google Shape;1076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7" name="Google Shape;1077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8" name="Google Shape;1078;p56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9" name="Google Shape;1079;p56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1080" name="Google Shape;1080;p56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81" name="Google Shape;1081;p56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56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083" name="Google Shape;1083;p56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084" name="Google Shape;1084;p56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1085" name="Google Shape;1085;p56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091" name="Google Shape;1091;p57"/>
          <p:cNvSpPr txBox="1">
            <a:spLocks noGrp="1"/>
          </p:cNvSpPr>
          <p:nvPr>
            <p:ph type="body" idx="1"/>
          </p:nvPr>
        </p:nvSpPr>
        <p:spPr>
          <a:xfrm>
            <a:off x="916650" y="78245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92" name="Google Shape;1092;p57"/>
          <p:cNvSpPr txBox="1"/>
          <p:nvPr/>
        </p:nvSpPr>
        <p:spPr>
          <a:xfrm>
            <a:off x="990150" y="1316538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57"/>
          <p:cNvSpPr txBox="1"/>
          <p:nvPr/>
        </p:nvSpPr>
        <p:spPr>
          <a:xfrm>
            <a:off x="6855568" y="2103263"/>
            <a:ext cx="47220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4" name="Google Shape;1094;p57"/>
          <p:cNvSpPr txBox="1"/>
          <p:nvPr/>
        </p:nvSpPr>
        <p:spPr>
          <a:xfrm>
            <a:off x="1231076" y="1961663"/>
            <a:ext cx="51150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5" name="Google Shape;1095;p57"/>
          <p:cNvSpPr txBox="1"/>
          <p:nvPr/>
        </p:nvSpPr>
        <p:spPr>
          <a:xfrm>
            <a:off x="1231075" y="3325425"/>
            <a:ext cx="105534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Un hilo adquiere un lock y ningún otro hilo concurrente intenta adquirirlo (por lo tanto no tiene que esperar el lock)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cxnSp>
        <p:nvCxnSpPr>
          <p:cNvPr id="1096" name="Google Shape;1096;p57"/>
          <p:cNvCxnSpPr/>
          <p:nvPr/>
        </p:nvCxnSpPr>
        <p:spPr>
          <a:xfrm>
            <a:off x="2527150" y="5159275"/>
            <a:ext cx="8396400" cy="9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57"/>
          <p:cNvCxnSpPr/>
          <p:nvPr/>
        </p:nvCxnSpPr>
        <p:spPr>
          <a:xfrm rot="10800000" flipH="1">
            <a:off x="2527150" y="5925150"/>
            <a:ext cx="8428200" cy="5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57"/>
          <p:cNvSpPr txBox="1"/>
          <p:nvPr/>
        </p:nvSpPr>
        <p:spPr>
          <a:xfrm>
            <a:off x="1141725" y="47913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1099" name="Google Shape;1099;p57"/>
          <p:cNvSpPr txBox="1"/>
          <p:nvPr/>
        </p:nvSpPr>
        <p:spPr>
          <a:xfrm>
            <a:off x="1141725" y="571530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1100" name="Google Shape;1100;p57"/>
          <p:cNvSpPr/>
          <p:nvPr/>
        </p:nvSpPr>
        <p:spPr>
          <a:xfrm>
            <a:off x="3856350" y="5075125"/>
            <a:ext cx="35904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57"/>
          <p:cNvSpPr txBox="1"/>
          <p:nvPr/>
        </p:nvSpPr>
        <p:spPr>
          <a:xfrm>
            <a:off x="1141725" y="6146400"/>
            <a:ext cx="13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cxnSp>
        <p:nvCxnSpPr>
          <p:cNvPr id="1102" name="Google Shape;1102;p57"/>
          <p:cNvCxnSpPr/>
          <p:nvPr/>
        </p:nvCxnSpPr>
        <p:spPr>
          <a:xfrm flipH="1">
            <a:off x="10549650" y="4971000"/>
            <a:ext cx="17700" cy="115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03" name="Google Shape;1103;p57"/>
          <p:cNvGrpSpPr/>
          <p:nvPr/>
        </p:nvGrpSpPr>
        <p:grpSpPr>
          <a:xfrm>
            <a:off x="3511000" y="4132824"/>
            <a:ext cx="700500" cy="898785"/>
            <a:chOff x="4453750" y="3603275"/>
            <a:chExt cx="700500" cy="898875"/>
          </a:xfrm>
        </p:grpSpPr>
        <p:cxnSp>
          <p:nvCxnSpPr>
            <p:cNvPr id="1104" name="Google Shape;1104;p57"/>
            <p:cNvCxnSpPr/>
            <p:nvPr/>
          </p:nvCxnSpPr>
          <p:spPr>
            <a:xfrm>
              <a:off x="4809750" y="4027550"/>
              <a:ext cx="7800" cy="474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05" name="Google Shape;1105;p57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06" name="Google Shape;1106;p57"/>
          <p:cNvSpPr txBox="1"/>
          <p:nvPr/>
        </p:nvSpPr>
        <p:spPr>
          <a:xfrm>
            <a:off x="2458650" y="4436938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7" name="Google Shape;1107;p57"/>
          <p:cNvCxnSpPr/>
          <p:nvPr/>
        </p:nvCxnSpPr>
        <p:spPr>
          <a:xfrm flipH="1">
            <a:off x="5821075" y="4968275"/>
            <a:ext cx="14700" cy="1118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08" name="Google Shape;1108;p57"/>
          <p:cNvCxnSpPr/>
          <p:nvPr/>
        </p:nvCxnSpPr>
        <p:spPr>
          <a:xfrm>
            <a:off x="6681075" y="4968275"/>
            <a:ext cx="0" cy="119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09" name="Google Shape;1109;p57"/>
          <p:cNvGrpSpPr/>
          <p:nvPr/>
        </p:nvGrpSpPr>
        <p:grpSpPr>
          <a:xfrm>
            <a:off x="7064463" y="4095138"/>
            <a:ext cx="700500" cy="848475"/>
            <a:chOff x="4453750" y="3603275"/>
            <a:chExt cx="700500" cy="848475"/>
          </a:xfrm>
        </p:grpSpPr>
        <p:cxnSp>
          <p:nvCxnSpPr>
            <p:cNvPr id="1110" name="Google Shape;1110;p57"/>
            <p:cNvCxnSpPr/>
            <p:nvPr/>
          </p:nvCxnSpPr>
          <p:spPr>
            <a:xfrm>
              <a:off x="4809750" y="4027550"/>
              <a:ext cx="2100" cy="424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1" name="Google Shape;1111;p57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grpSp>
        <p:nvGrpSpPr>
          <p:cNvPr id="1112" name="Google Shape;1112;p57"/>
          <p:cNvGrpSpPr/>
          <p:nvPr/>
        </p:nvGrpSpPr>
        <p:grpSpPr>
          <a:xfrm>
            <a:off x="7802675" y="6091475"/>
            <a:ext cx="700500" cy="736500"/>
            <a:chOff x="-842800" y="4790200"/>
            <a:chExt cx="700500" cy="736500"/>
          </a:xfrm>
        </p:grpSpPr>
        <p:cxnSp>
          <p:nvCxnSpPr>
            <p:cNvPr id="1113" name="Google Shape;1113;p57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4" name="Google Shape;1114;p57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15" name="Google Shape;1115;p57"/>
          <p:cNvSpPr/>
          <p:nvPr/>
        </p:nvSpPr>
        <p:spPr>
          <a:xfrm>
            <a:off x="8147425" y="5829525"/>
            <a:ext cx="17235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57"/>
          <p:cNvGrpSpPr/>
          <p:nvPr/>
        </p:nvGrpSpPr>
        <p:grpSpPr>
          <a:xfrm>
            <a:off x="9521600" y="6086375"/>
            <a:ext cx="700500" cy="736500"/>
            <a:chOff x="-842800" y="4790200"/>
            <a:chExt cx="700500" cy="736500"/>
          </a:xfrm>
        </p:grpSpPr>
        <p:cxnSp>
          <p:nvCxnSpPr>
            <p:cNvPr id="1117" name="Google Shape;1117;p57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8" name="Google Shape;1118;p57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19" name="Google Shape;1119;p57"/>
          <p:cNvSpPr txBox="1"/>
          <p:nvPr/>
        </p:nvSpPr>
        <p:spPr>
          <a:xfrm>
            <a:off x="6031713" y="4407575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0" name="Google Shape;1120;p57"/>
          <p:cNvCxnSpPr/>
          <p:nvPr/>
        </p:nvCxnSpPr>
        <p:spPr>
          <a:xfrm>
            <a:off x="8148350" y="4952325"/>
            <a:ext cx="14100" cy="119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21" name="Google Shape;1121;p57"/>
          <p:cNvSpPr txBox="1"/>
          <p:nvPr/>
        </p:nvSpPr>
        <p:spPr>
          <a:xfrm>
            <a:off x="6800438" y="5925138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2" name="Google Shape;1122;p57"/>
          <p:cNvSpPr txBox="1"/>
          <p:nvPr/>
        </p:nvSpPr>
        <p:spPr>
          <a:xfrm>
            <a:off x="8809350" y="5941100"/>
            <a:ext cx="100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                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23" name="Google Shape;112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800" y="4731887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4825" y="4731912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575" y="598895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2050" y="6058012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575" y="5363675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57"/>
          <p:cNvSpPr/>
          <p:nvPr/>
        </p:nvSpPr>
        <p:spPr>
          <a:xfrm>
            <a:off x="5589184" y="5402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29" name="Google Shape;112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3600" y="541955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3925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57"/>
          <p:cNvSpPr/>
          <p:nvPr/>
        </p:nvSpPr>
        <p:spPr>
          <a:xfrm>
            <a:off x="8641796" y="528349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32" name="Google Shape;1132;p57"/>
          <p:cNvSpPr/>
          <p:nvPr/>
        </p:nvSpPr>
        <p:spPr>
          <a:xfrm>
            <a:off x="7168821" y="536874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33" name="Google Shape;1133;p57"/>
          <p:cNvSpPr/>
          <p:nvPr/>
        </p:nvSpPr>
        <p:spPr>
          <a:xfrm>
            <a:off x="4736809" y="5363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34" name="Google Shape;113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2088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975" y="4572987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5588" y="459144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4113" y="605799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3988" y="538214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1212" y="5315837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9662" y="5363687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57"/>
          <p:cNvSpPr/>
          <p:nvPr/>
        </p:nvSpPr>
        <p:spPr>
          <a:xfrm>
            <a:off x="6347009" y="53687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42" name="Google Shape;114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1425" y="538575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537" y="4731900"/>
            <a:ext cx="331075" cy="33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7"/>
          <p:cNvSpPr/>
          <p:nvPr/>
        </p:nvSpPr>
        <p:spPr>
          <a:xfrm>
            <a:off x="7969109" y="531536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5" name="Google Shape;1145;p57"/>
          <p:cNvSpPr/>
          <p:nvPr/>
        </p:nvSpPr>
        <p:spPr>
          <a:xfrm>
            <a:off x="10384359" y="533132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46" name="Google Shape;114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6475" y="6026037"/>
            <a:ext cx="346275" cy="3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152" name="Google Shape;1152;p58"/>
          <p:cNvSpPr txBox="1">
            <a:spLocks noGrp="1"/>
          </p:cNvSpPr>
          <p:nvPr>
            <p:ph type="body" idx="1"/>
          </p:nvPr>
        </p:nvSpPr>
        <p:spPr>
          <a:xfrm>
            <a:off x="518448" y="78245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53" name="Google Shape;1153;p58"/>
          <p:cNvSpPr txBox="1"/>
          <p:nvPr/>
        </p:nvSpPr>
        <p:spPr>
          <a:xfrm>
            <a:off x="591948" y="1316538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58"/>
          <p:cNvSpPr txBox="1"/>
          <p:nvPr/>
        </p:nvSpPr>
        <p:spPr>
          <a:xfrm>
            <a:off x="6855568" y="2103263"/>
            <a:ext cx="47220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p58"/>
          <p:cNvSpPr txBox="1"/>
          <p:nvPr/>
        </p:nvSpPr>
        <p:spPr>
          <a:xfrm>
            <a:off x="1231076" y="1961663"/>
            <a:ext cx="51150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6" name="Google Shape;1156;p58"/>
          <p:cNvSpPr txBox="1"/>
          <p:nvPr/>
        </p:nvSpPr>
        <p:spPr>
          <a:xfrm>
            <a:off x="559142" y="3325425"/>
            <a:ext cx="11225333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Un hilo adquiere un lock y una vez este ha sido adquirido, otro hilo concurrente intenta adquirir dicho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58"/>
          <p:cNvCxnSpPr/>
          <p:nvPr/>
        </p:nvCxnSpPr>
        <p:spPr>
          <a:xfrm>
            <a:off x="2527150" y="5159275"/>
            <a:ext cx="8396400" cy="9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8" name="Google Shape;1158;p58"/>
          <p:cNvCxnSpPr/>
          <p:nvPr/>
        </p:nvCxnSpPr>
        <p:spPr>
          <a:xfrm rot="10800000" flipH="1">
            <a:off x="2527150" y="5925150"/>
            <a:ext cx="8428200" cy="5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9" name="Google Shape;1159;p58"/>
          <p:cNvSpPr txBox="1"/>
          <p:nvPr/>
        </p:nvSpPr>
        <p:spPr>
          <a:xfrm>
            <a:off x="1141725" y="47913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1160" name="Google Shape;1160;p58"/>
          <p:cNvSpPr txBox="1"/>
          <p:nvPr/>
        </p:nvSpPr>
        <p:spPr>
          <a:xfrm>
            <a:off x="1141725" y="571530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1161" name="Google Shape;1161;p58"/>
          <p:cNvSpPr/>
          <p:nvPr/>
        </p:nvSpPr>
        <p:spPr>
          <a:xfrm>
            <a:off x="3856350" y="5075125"/>
            <a:ext cx="42912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58"/>
          <p:cNvSpPr txBox="1"/>
          <p:nvPr/>
        </p:nvSpPr>
        <p:spPr>
          <a:xfrm>
            <a:off x="1141725" y="6146400"/>
            <a:ext cx="13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cxnSp>
        <p:nvCxnSpPr>
          <p:cNvPr id="1163" name="Google Shape;1163;p58"/>
          <p:cNvCxnSpPr/>
          <p:nvPr/>
        </p:nvCxnSpPr>
        <p:spPr>
          <a:xfrm flipH="1">
            <a:off x="5004700" y="4936375"/>
            <a:ext cx="17700" cy="115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64" name="Google Shape;1164;p58"/>
          <p:cNvGrpSpPr/>
          <p:nvPr/>
        </p:nvGrpSpPr>
        <p:grpSpPr>
          <a:xfrm>
            <a:off x="3511000" y="4132824"/>
            <a:ext cx="700500" cy="898785"/>
            <a:chOff x="4453750" y="3603275"/>
            <a:chExt cx="700500" cy="898875"/>
          </a:xfrm>
        </p:grpSpPr>
        <p:cxnSp>
          <p:nvCxnSpPr>
            <p:cNvPr id="1165" name="Google Shape;1165;p58"/>
            <p:cNvCxnSpPr/>
            <p:nvPr/>
          </p:nvCxnSpPr>
          <p:spPr>
            <a:xfrm>
              <a:off x="4809750" y="4027550"/>
              <a:ext cx="7800" cy="474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66" name="Google Shape;1166;p58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67" name="Google Shape;1167;p58"/>
          <p:cNvSpPr txBox="1"/>
          <p:nvPr/>
        </p:nvSpPr>
        <p:spPr>
          <a:xfrm>
            <a:off x="2448050" y="4521063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8" name="Google Shape;1168;p58"/>
          <p:cNvCxnSpPr/>
          <p:nvPr/>
        </p:nvCxnSpPr>
        <p:spPr>
          <a:xfrm flipH="1">
            <a:off x="5821075" y="4968275"/>
            <a:ext cx="14700" cy="1118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69" name="Google Shape;1169;p58"/>
          <p:cNvGrpSpPr/>
          <p:nvPr/>
        </p:nvGrpSpPr>
        <p:grpSpPr>
          <a:xfrm>
            <a:off x="4646475" y="6058000"/>
            <a:ext cx="700500" cy="736500"/>
            <a:chOff x="-842800" y="4790200"/>
            <a:chExt cx="700500" cy="736500"/>
          </a:xfrm>
        </p:grpSpPr>
        <p:cxnSp>
          <p:nvCxnSpPr>
            <p:cNvPr id="1170" name="Google Shape;1170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1" name="Google Shape;1171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cxnSp>
        <p:nvCxnSpPr>
          <p:cNvPr id="1172" name="Google Shape;1172;p58"/>
          <p:cNvCxnSpPr/>
          <p:nvPr/>
        </p:nvCxnSpPr>
        <p:spPr>
          <a:xfrm>
            <a:off x="6521575" y="4952325"/>
            <a:ext cx="14100" cy="1100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73" name="Google Shape;1173;p58"/>
          <p:cNvGrpSpPr/>
          <p:nvPr/>
        </p:nvGrpSpPr>
        <p:grpSpPr>
          <a:xfrm>
            <a:off x="6167050" y="6066650"/>
            <a:ext cx="700500" cy="736500"/>
            <a:chOff x="-842800" y="4790200"/>
            <a:chExt cx="700500" cy="736500"/>
          </a:xfrm>
        </p:grpSpPr>
        <p:cxnSp>
          <p:nvCxnSpPr>
            <p:cNvPr id="1174" name="Google Shape;1174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5" name="Google Shape;1175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cxnSp>
        <p:nvCxnSpPr>
          <p:cNvPr id="1176" name="Google Shape;1176;p58"/>
          <p:cNvCxnSpPr/>
          <p:nvPr/>
        </p:nvCxnSpPr>
        <p:spPr>
          <a:xfrm>
            <a:off x="7430650" y="4952325"/>
            <a:ext cx="0" cy="119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77" name="Google Shape;1177;p58"/>
          <p:cNvGrpSpPr/>
          <p:nvPr/>
        </p:nvGrpSpPr>
        <p:grpSpPr>
          <a:xfrm>
            <a:off x="7787350" y="4054450"/>
            <a:ext cx="700500" cy="848475"/>
            <a:chOff x="4453750" y="3603275"/>
            <a:chExt cx="700500" cy="848475"/>
          </a:xfrm>
        </p:grpSpPr>
        <p:cxnSp>
          <p:nvCxnSpPr>
            <p:cNvPr id="1178" name="Google Shape;1178;p58"/>
            <p:cNvCxnSpPr/>
            <p:nvPr/>
          </p:nvCxnSpPr>
          <p:spPr>
            <a:xfrm>
              <a:off x="4809750" y="4027550"/>
              <a:ext cx="2100" cy="424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9" name="Google Shape;1179;p58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grpSp>
        <p:nvGrpSpPr>
          <p:cNvPr id="1180" name="Google Shape;1180;p58"/>
          <p:cNvGrpSpPr/>
          <p:nvPr/>
        </p:nvGrpSpPr>
        <p:grpSpPr>
          <a:xfrm>
            <a:off x="7802675" y="6091475"/>
            <a:ext cx="700500" cy="736500"/>
            <a:chOff x="-842800" y="4790200"/>
            <a:chExt cx="700500" cy="736500"/>
          </a:xfrm>
        </p:grpSpPr>
        <p:cxnSp>
          <p:nvCxnSpPr>
            <p:cNvPr id="1181" name="Google Shape;1181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82" name="Google Shape;1182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83" name="Google Shape;1183;p58"/>
          <p:cNvSpPr/>
          <p:nvPr/>
        </p:nvSpPr>
        <p:spPr>
          <a:xfrm>
            <a:off x="8147425" y="5829525"/>
            <a:ext cx="17235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4" name="Google Shape;1184;p58"/>
          <p:cNvGrpSpPr/>
          <p:nvPr/>
        </p:nvGrpSpPr>
        <p:grpSpPr>
          <a:xfrm>
            <a:off x="9521600" y="6086375"/>
            <a:ext cx="700500" cy="736500"/>
            <a:chOff x="-842800" y="4790200"/>
            <a:chExt cx="700500" cy="736500"/>
          </a:xfrm>
        </p:grpSpPr>
        <p:cxnSp>
          <p:nvCxnSpPr>
            <p:cNvPr id="1185" name="Google Shape;1185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86" name="Google Shape;1186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87" name="Google Shape;1187;p58"/>
          <p:cNvSpPr txBox="1"/>
          <p:nvPr/>
        </p:nvSpPr>
        <p:spPr>
          <a:xfrm>
            <a:off x="6773500" y="4448363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88" name="Google Shape;1188;p58"/>
          <p:cNvCxnSpPr/>
          <p:nvPr/>
        </p:nvCxnSpPr>
        <p:spPr>
          <a:xfrm>
            <a:off x="8148350" y="4952325"/>
            <a:ext cx="14100" cy="119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89" name="Google Shape;1189;p58"/>
          <p:cNvSpPr txBox="1"/>
          <p:nvPr/>
        </p:nvSpPr>
        <p:spPr>
          <a:xfrm>
            <a:off x="4720100" y="5997825"/>
            <a:ext cx="23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1190" name="Google Shape;1190;p58"/>
          <p:cNvSpPr txBox="1"/>
          <p:nvPr/>
        </p:nvSpPr>
        <p:spPr>
          <a:xfrm>
            <a:off x="6249750" y="5997825"/>
            <a:ext cx="23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1191" name="Google Shape;1191;p58"/>
          <p:cNvSpPr txBox="1"/>
          <p:nvPr/>
        </p:nvSpPr>
        <p:spPr>
          <a:xfrm>
            <a:off x="6848150" y="5937963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2" name="Google Shape;1192;p58"/>
          <p:cNvSpPr txBox="1"/>
          <p:nvPr/>
        </p:nvSpPr>
        <p:spPr>
          <a:xfrm>
            <a:off x="8809350" y="5941100"/>
            <a:ext cx="100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trike="sngStrike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                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93" name="Google Shape;119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821" y="6057996"/>
            <a:ext cx="238500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946" y="6050921"/>
            <a:ext cx="238500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100" y="47301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575" y="5998925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9325" y="47319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50" y="6000725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1075" y="47319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2050" y="6058012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0575" y="5363675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58"/>
          <p:cNvSpPr/>
          <p:nvPr/>
        </p:nvSpPr>
        <p:spPr>
          <a:xfrm>
            <a:off x="5589184" y="5402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03" name="Google Shape;120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3600" y="541955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0538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5025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1363" y="5419553"/>
            <a:ext cx="236275" cy="3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58"/>
          <p:cNvSpPr/>
          <p:nvPr/>
        </p:nvSpPr>
        <p:spPr>
          <a:xfrm>
            <a:off x="7211771" y="533132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8" name="Google Shape;1208;p58"/>
          <p:cNvSpPr/>
          <p:nvPr/>
        </p:nvSpPr>
        <p:spPr>
          <a:xfrm>
            <a:off x="6354984" y="533131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9" name="Google Shape;1209;p58"/>
          <p:cNvSpPr/>
          <p:nvPr/>
        </p:nvSpPr>
        <p:spPr>
          <a:xfrm>
            <a:off x="7973784" y="533131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10" name="Google Shape;1210;p58"/>
          <p:cNvSpPr/>
          <p:nvPr/>
        </p:nvSpPr>
        <p:spPr>
          <a:xfrm>
            <a:off x="4736809" y="5363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11" name="Google Shape;121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2088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8237" y="4459362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5588" y="459144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4113" y="605799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0138" y="539010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7162" y="5967437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0212" y="5363687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58"/>
          <p:cNvSpPr/>
          <p:nvPr/>
        </p:nvSpPr>
        <p:spPr>
          <a:xfrm>
            <a:off x="8507184" y="533131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24" name="Google Shape;1224;p59"/>
          <p:cNvSpPr txBox="1">
            <a:spLocks noGrp="1"/>
          </p:cNvSpPr>
          <p:nvPr>
            <p:ph type="body" idx="1"/>
          </p:nvPr>
        </p:nvSpPr>
        <p:spPr>
          <a:xfrm>
            <a:off x="412955" y="882900"/>
            <a:ext cx="1140839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25" name="Google Shape;1225;p59"/>
          <p:cNvSpPr txBox="1"/>
          <p:nvPr/>
        </p:nvSpPr>
        <p:spPr>
          <a:xfrm>
            <a:off x="412955" y="1418425"/>
            <a:ext cx="10788895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Conclusión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226" name="Google Shape;1226;p59"/>
          <p:cNvGraphicFramePr/>
          <p:nvPr>
            <p:extLst>
              <p:ext uri="{D42A27DB-BD31-4B8C-83A1-F6EECF244321}">
                <p14:modId xmlns:p14="http://schemas.microsoft.com/office/powerpoint/2010/main" val="74010623"/>
              </p:ext>
            </p:extLst>
          </p:nvPr>
        </p:nvGraphicFramePr>
        <p:xfrm>
          <a:off x="828175" y="2280562"/>
          <a:ext cx="10535650" cy="38779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65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0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Métrica</a:t>
                      </a:r>
                      <a:endParaRPr sz="22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Observaciones</a:t>
                      </a:r>
                      <a:endParaRPr sz="2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Correctness (Exc. Mutua)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0B05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Si</a:t>
                      </a:r>
                      <a:r>
                        <a:rPr lang="es-ES" sz="1800">
                          <a:solidFill>
                            <a:srgbClr val="00B05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800">
                        <a:solidFill>
                          <a:srgbClr val="00B05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•Solo permite que un hilo se encuentre en la región crítica.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Fairness (Equidad)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r>
                        <a:rPr lang="es-ES" sz="180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800">
                        <a:solidFill>
                          <a:srgbClr val="FF000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•No proporciona acceso equitativo a todos los hilos.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•Un hilo podría quedarse eternamente en el loop → Inanicion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3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Performance (Desempeño)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800" dirty="0">
                        <a:solidFill>
                          <a:srgbClr val="FF000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•Alto costo: Monoprocesador.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•Si el número de procesadores es comparable con el número de hilos en ejecución, el sistema trabaja bien.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32" name="Google Shape;1232;p60"/>
          <p:cNvSpPr txBox="1">
            <a:spLocks noGrp="1"/>
          </p:cNvSpPr>
          <p:nvPr>
            <p:ph type="body" idx="1"/>
          </p:nvPr>
        </p:nvSpPr>
        <p:spPr>
          <a:xfrm>
            <a:off x="501445" y="803175"/>
            <a:ext cx="1131990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Compare-And-Swap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33" name="Google Shape;1233;p60"/>
          <p:cNvSpPr txBox="1"/>
          <p:nvPr/>
        </p:nvSpPr>
        <p:spPr>
          <a:xfrm>
            <a:off x="501445" y="1318275"/>
            <a:ext cx="11319905" cy="13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 instrucción atómica actualiza una localización de memoria con un valor anterior sólo cuando este es igual al esperado. (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x86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cmpxchg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 instrucción trabaja de manera similar al 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pero es más poderosa.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60"/>
          <p:cNvSpPr txBox="1"/>
          <p:nvPr/>
        </p:nvSpPr>
        <p:spPr>
          <a:xfrm>
            <a:off x="2312575" y="2772263"/>
            <a:ext cx="8304000" cy="205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CompareAndSwap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*ptr, int expected, int new)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original = *ptr;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(original == expected)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*ptr = new;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original;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5" name="Google Shape;1235;p60"/>
          <p:cNvSpPr txBox="1"/>
          <p:nvPr/>
        </p:nvSpPr>
        <p:spPr>
          <a:xfrm>
            <a:off x="501445" y="5195700"/>
            <a:ext cx="11415480" cy="13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Análisis del pseudocódigo implementado en C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Chequea si el valor (</a:t>
            </a:r>
            <a:r>
              <a:rPr lang="es-ES" sz="2400" b="1" dirty="0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ptr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</a:t>
            </a:r>
            <a:r>
              <a:rPr lang="es-ES" sz="2400" b="1" dirty="0">
                <a:solidFill>
                  <a:srgbClr val="0B6937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rgbClr val="0B6937"/>
                </a:solidFill>
                <a:ea typeface="Consolas"/>
                <a:cs typeface="Consolas"/>
                <a:sym typeface="Consolas"/>
              </a:rPr>
              <a:t>ptr</a:t>
            </a:r>
            <a:r>
              <a:rPr lang="es-ES" sz="2400" b="1" dirty="0">
                <a:solidFill>
                  <a:srgbClr val="0B6937"/>
                </a:solidFill>
                <a:ea typeface="Consolas"/>
                <a:cs typeface="Consolas"/>
                <a:sym typeface="Consolas"/>
              </a:rPr>
              <a:t> == esperado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 → actualiza la memoria al valor new.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</a:t>
            </a:r>
            <a:r>
              <a:rPr lang="es-ES" sz="24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ptr</a:t>
            </a:r>
            <a:r>
              <a:rPr lang="es-ES" sz="24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 != esperado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 → retorna el valor actual.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41" name="Google Shape;1241;p61"/>
          <p:cNvSpPr txBox="1">
            <a:spLocks noGrp="1"/>
          </p:cNvSpPr>
          <p:nvPr>
            <p:ph type="body" idx="1"/>
          </p:nvPr>
        </p:nvSpPr>
        <p:spPr>
          <a:xfrm>
            <a:off x="250723" y="803175"/>
            <a:ext cx="11570627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Compare-And-Swap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42" name="Google Shape;1242;p61"/>
          <p:cNvSpPr txBox="1"/>
          <p:nvPr/>
        </p:nvSpPr>
        <p:spPr>
          <a:xfrm>
            <a:off x="1036675" y="1619538"/>
            <a:ext cx="57240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CompareAndSwap</a:t>
            </a:r>
            <a:r>
              <a:rPr lang="es-ES" sz="1600" dirty="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, 0, 1)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; // spin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3" name="Google Shape;1243;p61"/>
          <p:cNvSpPr txBox="1"/>
          <p:nvPr/>
        </p:nvSpPr>
        <p:spPr>
          <a:xfrm>
            <a:off x="1116425" y="5243050"/>
            <a:ext cx="5724000" cy="99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unlock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*lock) {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lock-&gt;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4" name="Google Shape;1244;p61"/>
          <p:cNvSpPr txBox="1"/>
          <p:nvPr/>
        </p:nvSpPr>
        <p:spPr>
          <a:xfrm>
            <a:off x="6293550" y="2865634"/>
            <a:ext cx="5527800" cy="2237505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CompareAndSwap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new)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original =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(original ==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original;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45" name="Google Shape;1245;p61"/>
          <p:cNvCxnSpPr>
            <a:cxnSpLocks/>
          </p:cNvCxnSpPr>
          <p:nvPr/>
        </p:nvCxnSpPr>
        <p:spPr>
          <a:xfrm rot="10800000">
            <a:off x="3878826" y="2291635"/>
            <a:ext cx="2414726" cy="1666133"/>
          </a:xfrm>
          <a:prstGeom prst="bentConnector3">
            <a:avLst>
              <a:gd name="adj1" fmla="val 100083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46" name="Google Shape;1246;p61"/>
          <p:cNvSpPr txBox="1"/>
          <p:nvPr/>
        </p:nvSpPr>
        <p:spPr>
          <a:xfrm>
            <a:off x="7074200" y="19035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lock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47" name="Google Shape;1247;p61"/>
          <p:cNvSpPr txBox="1"/>
          <p:nvPr/>
        </p:nvSpPr>
        <p:spPr>
          <a:xfrm>
            <a:off x="7146850" y="544930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unlock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53" name="Google Shape;1253;p62"/>
          <p:cNvSpPr txBox="1">
            <a:spLocks noGrp="1"/>
          </p:cNvSpPr>
          <p:nvPr>
            <p:ph type="body" idx="1"/>
          </p:nvPr>
        </p:nvSpPr>
        <p:spPr>
          <a:xfrm>
            <a:off x="427703" y="803175"/>
            <a:ext cx="11393647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Compare-And-Swap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54" name="Google Shape;1254;p62"/>
          <p:cNvSpPr txBox="1"/>
          <p:nvPr/>
        </p:nvSpPr>
        <p:spPr>
          <a:xfrm>
            <a:off x="1004775" y="1998788"/>
            <a:ext cx="57240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CompareAndSwap</a:t>
            </a:r>
            <a:r>
              <a:rPr lang="es-ES" sz="1600" dirty="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, 0, 1)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; // spin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5" name="Google Shape;1255;p62"/>
          <p:cNvSpPr txBox="1"/>
          <p:nvPr/>
        </p:nvSpPr>
        <p:spPr>
          <a:xfrm>
            <a:off x="7001550" y="2140400"/>
            <a:ext cx="4384500" cy="99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unlock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*lock) {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lock-&gt;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0;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6" name="Google Shape;1256;p62"/>
          <p:cNvSpPr txBox="1"/>
          <p:nvPr/>
        </p:nvSpPr>
        <p:spPr>
          <a:xfrm>
            <a:off x="2544725" y="141397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lock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57" name="Google Shape;1257;p62"/>
          <p:cNvSpPr txBox="1"/>
          <p:nvPr/>
        </p:nvSpPr>
        <p:spPr>
          <a:xfrm>
            <a:off x="7693800" y="14846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unlock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258" name="Google Shape;125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4096300"/>
            <a:ext cx="11211748" cy="14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64" name="Google Shape;1264;p63"/>
          <p:cNvSpPr txBox="1">
            <a:spLocks noGrp="1"/>
          </p:cNvSpPr>
          <p:nvPr>
            <p:ph type="body" idx="1"/>
          </p:nvPr>
        </p:nvSpPr>
        <p:spPr>
          <a:xfrm>
            <a:off x="781475" y="928425"/>
            <a:ext cx="112734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65" name="Google Shape;1265;p63"/>
          <p:cNvSpPr txBox="1"/>
          <p:nvPr/>
        </p:nvSpPr>
        <p:spPr>
          <a:xfrm>
            <a:off x="442452" y="1445300"/>
            <a:ext cx="4785798" cy="160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LL (Load linked)</a:t>
            </a:r>
            <a:r>
              <a:rPr lang="es-ES" sz="22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Opera como una instrucción load típica trayendo simplemente un valor de memoria y poniéndolo en un registro.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63"/>
          <p:cNvSpPr txBox="1"/>
          <p:nvPr/>
        </p:nvSpPr>
        <p:spPr>
          <a:xfrm>
            <a:off x="442452" y="3254385"/>
            <a:ext cx="4324698" cy="194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SC (Store conditional)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El almacenamiento solo funciona si no se ha realizado otro almacenamiento previo en el mismo lugar: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63"/>
          <p:cNvSpPr txBox="1"/>
          <p:nvPr/>
        </p:nvSpPr>
        <p:spPr>
          <a:xfrm>
            <a:off x="442452" y="5129371"/>
            <a:ext cx="4191963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Éxito</a:t>
            </a:r>
            <a:r>
              <a:rPr lang="es-ES" sz="20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Devuelve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1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actualiza el valor de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ptr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 new.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Falla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Retorna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0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sin actualizar la memoria.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63"/>
          <p:cNvSpPr txBox="1"/>
          <p:nvPr/>
        </p:nvSpPr>
        <p:spPr>
          <a:xfrm>
            <a:off x="5087250" y="1618275"/>
            <a:ext cx="68583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LoadLinked(int *ptr)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*ptr;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9" name="Google Shape;1269;p63"/>
          <p:cNvSpPr txBox="1"/>
          <p:nvPr/>
        </p:nvSpPr>
        <p:spPr>
          <a:xfrm>
            <a:off x="5087250" y="3475975"/>
            <a:ext cx="6858300" cy="2696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StoreConditional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(no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since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LoadLinked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1;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failed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75" name="Google Shape;1275;p64"/>
          <p:cNvSpPr txBox="1">
            <a:spLocks noGrp="1"/>
          </p:cNvSpPr>
          <p:nvPr>
            <p:ph type="body" idx="1"/>
          </p:nvPr>
        </p:nvSpPr>
        <p:spPr>
          <a:xfrm>
            <a:off x="781475" y="928425"/>
            <a:ext cx="112734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76" name="Google Shape;1276;p64"/>
          <p:cNvSpPr txBox="1"/>
          <p:nvPr/>
        </p:nvSpPr>
        <p:spPr>
          <a:xfrm>
            <a:off x="646731" y="1491488"/>
            <a:ext cx="110289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no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update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to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*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ptr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since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LoadLinked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to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this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address</a:t>
            </a: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– Que es?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64"/>
          <p:cNvSpPr txBox="1"/>
          <p:nvPr/>
        </p:nvSpPr>
        <p:spPr>
          <a:xfrm>
            <a:off x="799131" y="2150025"/>
            <a:ext cx="41907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LoadLinked(int *ptr)</a:t>
            </a:r>
            <a:endParaRPr sz="20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8" name="Google Shape;1278;p64"/>
          <p:cNvSpPr txBox="1"/>
          <p:nvPr/>
        </p:nvSpPr>
        <p:spPr>
          <a:xfrm>
            <a:off x="799131" y="3328325"/>
            <a:ext cx="107241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StoreConditional(int *ptr, int value)</a:t>
            </a:r>
            <a:endParaRPr sz="20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9" name="Google Shape;127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231" y="2333100"/>
            <a:ext cx="4190574" cy="85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256" y="3964227"/>
            <a:ext cx="9689748" cy="2488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86" name="Google Shape;1286;p65"/>
          <p:cNvSpPr txBox="1">
            <a:spLocks noGrp="1"/>
          </p:cNvSpPr>
          <p:nvPr>
            <p:ph type="body" idx="1"/>
          </p:nvPr>
        </p:nvSpPr>
        <p:spPr>
          <a:xfrm>
            <a:off x="781475" y="928425"/>
            <a:ext cx="112734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87" name="Google Shape;1287;p65"/>
          <p:cNvSpPr txBox="1"/>
          <p:nvPr/>
        </p:nvSpPr>
        <p:spPr>
          <a:xfrm>
            <a:off x="855950" y="1539225"/>
            <a:ext cx="110769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9900"/>
                </a:solidFill>
                <a:ea typeface="Roboto"/>
                <a:cs typeface="Roboto"/>
                <a:sym typeface="Roboto"/>
              </a:rPr>
              <a:t>Implementación del lock</a:t>
            </a:r>
            <a:endParaRPr sz="2200" b="1" dirty="0">
              <a:solidFill>
                <a:srgbClr val="FF99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88" name="Google Shape;1288;p65"/>
          <p:cNvSpPr txBox="1"/>
          <p:nvPr/>
        </p:nvSpPr>
        <p:spPr>
          <a:xfrm>
            <a:off x="981950" y="2154925"/>
            <a:ext cx="9615600" cy="3010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</a:t>
            </a:r>
            <a:r>
              <a:rPr lang="es-ES" sz="18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8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8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) == 1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; // spin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until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it’s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zero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</a:t>
            </a:r>
            <a:r>
              <a:rPr lang="es-ES" sz="18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8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8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, 1) == 1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	//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set-it-to-1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done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	//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otherwise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try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again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9" name="Google Shape;1289;p65"/>
          <p:cNvSpPr txBox="1"/>
          <p:nvPr/>
        </p:nvSpPr>
        <p:spPr>
          <a:xfrm>
            <a:off x="981950" y="5398525"/>
            <a:ext cx="9615600" cy="109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295" name="Google Shape;1295;p66"/>
          <p:cNvSpPr txBox="1">
            <a:spLocks noGrp="1"/>
          </p:cNvSpPr>
          <p:nvPr>
            <p:ph type="body" idx="1"/>
          </p:nvPr>
        </p:nvSpPr>
        <p:spPr>
          <a:xfrm>
            <a:off x="353961" y="928425"/>
            <a:ext cx="1170091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96" name="Google Shape;1296;p66"/>
          <p:cNvSpPr txBox="1"/>
          <p:nvPr/>
        </p:nvSpPr>
        <p:spPr>
          <a:xfrm>
            <a:off x="353961" y="1418333"/>
            <a:ext cx="110769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¿Por qué funciona? - Análisis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97" name="Google Shape;1297;p66"/>
          <p:cNvSpPr txBox="1"/>
          <p:nvPr/>
        </p:nvSpPr>
        <p:spPr>
          <a:xfrm>
            <a:off x="493798" y="2633625"/>
            <a:ext cx="5602201" cy="19189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== 1);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, 1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p66"/>
          <p:cNvSpPr txBox="1"/>
          <p:nvPr/>
        </p:nvSpPr>
        <p:spPr>
          <a:xfrm>
            <a:off x="493798" y="5396700"/>
            <a:ext cx="5602200" cy="9279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9" name="Google Shape;1299;p66"/>
          <p:cNvSpPr txBox="1"/>
          <p:nvPr/>
        </p:nvSpPr>
        <p:spPr>
          <a:xfrm>
            <a:off x="6354525" y="1788525"/>
            <a:ext cx="5602200" cy="84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LoadLinked(int *ptr)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*ptr;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0" name="Google Shape;1300;p66"/>
          <p:cNvSpPr txBox="1"/>
          <p:nvPr/>
        </p:nvSpPr>
        <p:spPr>
          <a:xfrm>
            <a:off x="6354525" y="3255825"/>
            <a:ext cx="5602200" cy="2225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StoreConditional(int *ptr, int value)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(no update to *ptr since LoadLinked to this address)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*ptr = value;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return 1; // success!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else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return 0; // failed to update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1" name="Google Shape;1301;p66"/>
          <p:cNvCxnSpPr/>
          <p:nvPr/>
        </p:nvCxnSpPr>
        <p:spPr>
          <a:xfrm rot="10800000" flipH="1">
            <a:off x="3599150" y="2205675"/>
            <a:ext cx="2774400" cy="1044300"/>
          </a:xfrm>
          <a:prstGeom prst="bentConnector3">
            <a:avLst>
              <a:gd name="adj1" fmla="val 0"/>
            </a:avLst>
          </a:prstGeom>
          <a:noFill/>
          <a:ln w="28575" cap="flat" cmpd="sng">
            <a:solidFill>
              <a:srgbClr val="F8A02B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2" name="Google Shape;1302;p66"/>
          <p:cNvCxnSpPr>
            <a:endCxn id="1300" idx="1"/>
          </p:cNvCxnSpPr>
          <p:nvPr/>
        </p:nvCxnSpPr>
        <p:spPr>
          <a:xfrm>
            <a:off x="3599025" y="3686475"/>
            <a:ext cx="2755500" cy="682200"/>
          </a:xfrm>
          <a:prstGeom prst="bentConnector3">
            <a:avLst>
              <a:gd name="adj1" fmla="val 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08" name="Google Shape;1308;p67"/>
          <p:cNvSpPr txBox="1">
            <a:spLocks noGrp="1"/>
          </p:cNvSpPr>
          <p:nvPr>
            <p:ph type="body" idx="1"/>
          </p:nvPr>
        </p:nvSpPr>
        <p:spPr>
          <a:xfrm>
            <a:off x="368710" y="928425"/>
            <a:ext cx="1168616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09" name="Google Shape;1309;p67"/>
          <p:cNvSpPr txBox="1"/>
          <p:nvPr/>
        </p:nvSpPr>
        <p:spPr>
          <a:xfrm>
            <a:off x="270460" y="1461300"/>
            <a:ext cx="11686165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¿Por qué funciona? - Análisis</a:t>
            </a:r>
            <a:endParaRPr sz="2200" b="1" dirty="0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67"/>
          <p:cNvSpPr txBox="1"/>
          <p:nvPr/>
        </p:nvSpPr>
        <p:spPr>
          <a:xfrm>
            <a:off x="916650" y="2056975"/>
            <a:ext cx="5625300" cy="19189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, 1)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1" name="Google Shape;1311;p67"/>
          <p:cNvSpPr txBox="1"/>
          <p:nvPr/>
        </p:nvSpPr>
        <p:spPr>
          <a:xfrm>
            <a:off x="6965800" y="2056975"/>
            <a:ext cx="4644600" cy="9279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67"/>
          <p:cNvSpPr txBox="1"/>
          <p:nvPr/>
        </p:nvSpPr>
        <p:spPr>
          <a:xfrm>
            <a:off x="857675" y="4259750"/>
            <a:ext cx="56253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Secuencia</a:t>
            </a:r>
            <a:r>
              <a:rPr lang="es-ES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LL1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SC1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LL2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SC2</a:t>
            </a:r>
            <a:endParaRPr sz="2000" b="1" dirty="0">
              <a:solidFill>
                <a:srgbClr val="00B050"/>
              </a:solidFill>
              <a:ea typeface="Consolas"/>
              <a:cs typeface="Consolas"/>
              <a:sym typeface="Consolas"/>
            </a:endParaRPr>
          </a:p>
        </p:txBody>
      </p:sp>
      <p:pic>
        <p:nvPicPr>
          <p:cNvPr id="1313" name="Google Shape;131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625" y="4793200"/>
            <a:ext cx="9942075" cy="19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19" name="Google Shape;1319;p68"/>
          <p:cNvSpPr txBox="1">
            <a:spLocks noGrp="1"/>
          </p:cNvSpPr>
          <p:nvPr>
            <p:ph type="body" idx="1"/>
          </p:nvPr>
        </p:nvSpPr>
        <p:spPr>
          <a:xfrm>
            <a:off x="781475" y="928425"/>
            <a:ext cx="112734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20" name="Google Shape;1320;p68"/>
          <p:cNvSpPr txBox="1"/>
          <p:nvPr/>
        </p:nvSpPr>
        <p:spPr>
          <a:xfrm>
            <a:off x="879725" y="1461300"/>
            <a:ext cx="110769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¿Por qué funciona? - Análisis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68"/>
          <p:cNvSpPr txBox="1"/>
          <p:nvPr/>
        </p:nvSpPr>
        <p:spPr>
          <a:xfrm>
            <a:off x="916650" y="2056975"/>
            <a:ext cx="5625300" cy="19189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, 1)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2" name="Google Shape;1322;p68"/>
          <p:cNvSpPr txBox="1"/>
          <p:nvPr/>
        </p:nvSpPr>
        <p:spPr>
          <a:xfrm>
            <a:off x="6965800" y="2056975"/>
            <a:ext cx="4644600" cy="9279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3" name="Google Shape;1323;p68"/>
          <p:cNvSpPr txBox="1"/>
          <p:nvPr/>
        </p:nvSpPr>
        <p:spPr>
          <a:xfrm>
            <a:off x="879725" y="4117841"/>
            <a:ext cx="56253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Secuencia</a:t>
            </a:r>
            <a:r>
              <a:rPr lang="es-ES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LL1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LL2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SC2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SC2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pic>
        <p:nvPicPr>
          <p:cNvPr id="1324" name="Google Shape;13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200" y="4752350"/>
            <a:ext cx="10221727" cy="19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69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30" name="Google Shape;1330;p69"/>
          <p:cNvSpPr txBox="1">
            <a:spLocks noGrp="1"/>
          </p:cNvSpPr>
          <p:nvPr>
            <p:ph type="body" idx="1"/>
          </p:nvPr>
        </p:nvSpPr>
        <p:spPr>
          <a:xfrm>
            <a:off x="501445" y="928425"/>
            <a:ext cx="1155343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usando la instrucción </a:t>
            </a:r>
            <a:r>
              <a:rPr lang="es-ES" b="1" dirty="0" err="1">
                <a:solidFill>
                  <a:schemeClr val="accent5"/>
                </a:solidFill>
                <a:latin typeface="+mn-lt"/>
              </a:rPr>
              <a:t>fetch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-and-</a:t>
            </a:r>
            <a:r>
              <a:rPr lang="es-ES" b="1" dirty="0" err="1">
                <a:solidFill>
                  <a:schemeClr val="accent5"/>
                </a:solidFill>
                <a:latin typeface="+mn-lt"/>
              </a:rPr>
              <a:t>add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: 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31" name="Google Shape;1331;p69"/>
          <p:cNvSpPr txBox="1"/>
          <p:nvPr/>
        </p:nvSpPr>
        <p:spPr>
          <a:xfrm>
            <a:off x="501445" y="1613700"/>
            <a:ext cx="1143778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Incrementa posición de memoria, retornando (de manera simultánea) el valor antiguo: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69"/>
          <p:cNvSpPr txBox="1"/>
          <p:nvPr/>
        </p:nvSpPr>
        <p:spPr>
          <a:xfrm>
            <a:off x="1678650" y="2429747"/>
            <a:ext cx="9308100" cy="1736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*ptr)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old = *ptr;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*ptr = old + 1;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old;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3" name="Google Shape;1333;p69"/>
          <p:cNvSpPr txBox="1"/>
          <p:nvPr/>
        </p:nvSpPr>
        <p:spPr>
          <a:xfrm>
            <a:off x="648929" y="4509300"/>
            <a:ext cx="10618839" cy="9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Mellor-Crummey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y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Scott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usaron esta instrucción para construir un mecanismo de acceso a regiones críticas conocido como ticket lock.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39" name="Google Shape;1339;p70"/>
          <p:cNvSpPr txBox="1">
            <a:spLocks noGrp="1"/>
          </p:cNvSpPr>
          <p:nvPr>
            <p:ph type="body" idx="1"/>
          </p:nvPr>
        </p:nvSpPr>
        <p:spPr>
          <a:xfrm>
            <a:off x="473875" y="928425"/>
            <a:ext cx="115810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Ticket-lock usando </a:t>
            </a:r>
            <a:r>
              <a:rPr lang="es-ES" b="1" dirty="0" err="1">
                <a:solidFill>
                  <a:srgbClr val="E06666"/>
                </a:solidFill>
                <a:latin typeface="+mn-lt"/>
              </a:rPr>
              <a:t>Fetch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-and-</a:t>
            </a:r>
            <a:r>
              <a:rPr lang="es-ES" b="1" dirty="0" err="1">
                <a:solidFill>
                  <a:srgbClr val="E06666"/>
                </a:solidFill>
                <a:latin typeface="+mn-lt"/>
              </a:rPr>
              <a:t>Add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40" name="Google Shape;1340;p70"/>
          <p:cNvSpPr txBox="1"/>
          <p:nvPr/>
        </p:nvSpPr>
        <p:spPr>
          <a:xfrm>
            <a:off x="473875" y="1491775"/>
            <a:ext cx="5910250" cy="9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vez de un solo valor (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flag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esta instrucción usa un </a:t>
            </a:r>
            <a:r>
              <a:rPr lang="es-ES" sz="2200" b="1" dirty="0">
                <a:solidFill>
                  <a:srgbClr val="0B6937"/>
                </a:solidFill>
                <a:ea typeface="Consolas"/>
                <a:cs typeface="Consolas"/>
                <a:sym typeface="Consolas"/>
              </a:rPr>
              <a:t>ticket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un </a:t>
            </a:r>
            <a:r>
              <a:rPr lang="es-ES" sz="22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turn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para construir el lock.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70"/>
          <p:cNvSpPr txBox="1"/>
          <p:nvPr/>
        </p:nvSpPr>
        <p:spPr>
          <a:xfrm>
            <a:off x="6384125" y="1347031"/>
            <a:ext cx="5334000" cy="5139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ticket;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lock-&gt;ticket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(&amp;lock-&gt;ticket);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42" name="Google Shape;1342;p70"/>
          <p:cNvGraphicFramePr/>
          <p:nvPr/>
        </p:nvGraphicFramePr>
        <p:xfrm>
          <a:off x="1937750" y="3318050"/>
          <a:ext cx="1106800" cy="10221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43" name="Google Shape;1343;p70"/>
          <p:cNvGraphicFramePr/>
          <p:nvPr/>
        </p:nvGraphicFramePr>
        <p:xfrm>
          <a:off x="4481000" y="3212975"/>
          <a:ext cx="1106800" cy="1407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96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44" name="Google Shape;1344;p70"/>
          <p:cNvSpPr/>
          <p:nvPr/>
        </p:nvSpPr>
        <p:spPr>
          <a:xfrm>
            <a:off x="3389425" y="3741613"/>
            <a:ext cx="746700" cy="36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A81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50" name="Google Shape;1350;p71"/>
          <p:cNvSpPr txBox="1">
            <a:spLocks noGrp="1"/>
          </p:cNvSpPr>
          <p:nvPr>
            <p:ph type="body" idx="1"/>
          </p:nvPr>
        </p:nvSpPr>
        <p:spPr>
          <a:xfrm>
            <a:off x="993225" y="837000"/>
            <a:ext cx="51015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Ticket-lock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Análisis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51" name="Google Shape;1351;p71"/>
          <p:cNvSpPr txBox="1"/>
          <p:nvPr/>
        </p:nvSpPr>
        <p:spPr>
          <a:xfrm>
            <a:off x="1130375" y="1545000"/>
            <a:ext cx="4568100" cy="5139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ticket;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lock-&gt;ticket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(&amp;lock-&gt;ticket);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52" name="Google Shape;1352;p71"/>
          <p:cNvGraphicFramePr/>
          <p:nvPr/>
        </p:nvGraphicFramePr>
        <p:xfrm>
          <a:off x="5988075" y="1350600"/>
          <a:ext cx="3232575" cy="52075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 – Run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 – Spin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 (R/S)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lock_init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3" name="Google Shape;1353;p71"/>
          <p:cNvGraphicFramePr/>
          <p:nvPr/>
        </p:nvGraphicFramePr>
        <p:xfrm>
          <a:off x="9936475" y="1871050"/>
          <a:ext cx="966900" cy="4782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54" name="Google Shape;1354;p71"/>
          <p:cNvGrpSpPr/>
          <p:nvPr/>
        </p:nvGrpSpPr>
        <p:grpSpPr>
          <a:xfrm>
            <a:off x="10914225" y="1765700"/>
            <a:ext cx="808075" cy="338700"/>
            <a:chOff x="10914225" y="1765700"/>
            <a:chExt cx="808075" cy="338700"/>
          </a:xfrm>
        </p:grpSpPr>
        <p:cxnSp>
          <p:nvCxnSpPr>
            <p:cNvPr id="1355" name="Google Shape;1355;p71"/>
            <p:cNvCxnSpPr/>
            <p:nvPr/>
          </p:nvCxnSpPr>
          <p:spPr>
            <a:xfrm flipH="1">
              <a:off x="10914225" y="1953500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56" name="Google Shape;1356;p71"/>
            <p:cNvSpPr txBox="1"/>
            <p:nvPr/>
          </p:nvSpPr>
          <p:spPr>
            <a:xfrm>
              <a:off x="11184400" y="1765700"/>
              <a:ext cx="53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turn</a:t>
              </a:r>
              <a:endParaRPr>
                <a:solidFill>
                  <a:srgbClr val="0B6937"/>
                </a:solidFill>
              </a:endParaRPr>
            </a:p>
          </p:txBody>
        </p:sp>
      </p:grpSp>
      <p:grpSp>
        <p:nvGrpSpPr>
          <p:cNvPr id="1357" name="Google Shape;1357;p71"/>
          <p:cNvGrpSpPr/>
          <p:nvPr/>
        </p:nvGrpSpPr>
        <p:grpSpPr>
          <a:xfrm>
            <a:off x="10914225" y="1997125"/>
            <a:ext cx="929950" cy="338700"/>
            <a:chOff x="10914225" y="2192450"/>
            <a:chExt cx="929950" cy="338700"/>
          </a:xfrm>
        </p:grpSpPr>
        <p:cxnSp>
          <p:nvCxnSpPr>
            <p:cNvPr id="1358" name="Google Shape;1358;p71"/>
            <p:cNvCxnSpPr/>
            <p:nvPr/>
          </p:nvCxnSpPr>
          <p:spPr>
            <a:xfrm flipH="1">
              <a:off x="10914225" y="2368825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59" name="Google Shape;1359;p71"/>
            <p:cNvSpPr txBox="1"/>
            <p:nvPr/>
          </p:nvSpPr>
          <p:spPr>
            <a:xfrm>
              <a:off x="11192575" y="2192450"/>
              <a:ext cx="65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ticket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65" name="Google Shape;1365;p72"/>
          <p:cNvSpPr txBox="1">
            <a:spLocks noGrp="1"/>
          </p:cNvSpPr>
          <p:nvPr>
            <p:ph type="body" idx="1"/>
          </p:nvPr>
        </p:nvSpPr>
        <p:spPr>
          <a:xfrm>
            <a:off x="993225" y="837000"/>
            <a:ext cx="51015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Ticket-lock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Análisis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66" name="Google Shape;1366;p72"/>
          <p:cNvSpPr txBox="1"/>
          <p:nvPr/>
        </p:nvSpPr>
        <p:spPr>
          <a:xfrm>
            <a:off x="1130375" y="1545000"/>
            <a:ext cx="4568100" cy="5139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ticket;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lock-&gt;ticket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(&amp;lock-&gt;ticket);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67" name="Google Shape;1367;p72"/>
          <p:cNvGraphicFramePr/>
          <p:nvPr/>
        </p:nvGraphicFramePr>
        <p:xfrm>
          <a:off x="5988075" y="1350600"/>
          <a:ext cx="3232575" cy="52075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 – Run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 – Spin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 (R/S)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lock_init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S(1)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S(2)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S(3)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68" name="Google Shape;1368;p72"/>
          <p:cNvGraphicFramePr/>
          <p:nvPr/>
        </p:nvGraphicFramePr>
        <p:xfrm>
          <a:off x="9890775" y="1849650"/>
          <a:ext cx="966900" cy="4782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69" name="Google Shape;1369;p72"/>
          <p:cNvGrpSpPr/>
          <p:nvPr/>
        </p:nvGrpSpPr>
        <p:grpSpPr>
          <a:xfrm>
            <a:off x="10914225" y="1765700"/>
            <a:ext cx="808075" cy="338700"/>
            <a:chOff x="10914225" y="1765700"/>
            <a:chExt cx="808075" cy="338700"/>
          </a:xfrm>
        </p:grpSpPr>
        <p:cxnSp>
          <p:nvCxnSpPr>
            <p:cNvPr id="1370" name="Google Shape;1370;p72"/>
            <p:cNvCxnSpPr/>
            <p:nvPr/>
          </p:nvCxnSpPr>
          <p:spPr>
            <a:xfrm flipH="1">
              <a:off x="10914225" y="1953500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1" name="Google Shape;1371;p72"/>
            <p:cNvSpPr txBox="1"/>
            <p:nvPr/>
          </p:nvSpPr>
          <p:spPr>
            <a:xfrm>
              <a:off x="11184400" y="1765700"/>
              <a:ext cx="53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turn</a:t>
              </a:r>
              <a:endParaRPr>
                <a:solidFill>
                  <a:srgbClr val="0B6937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372" name="Google Shape;1372;p72"/>
          <p:cNvGrpSpPr/>
          <p:nvPr/>
        </p:nvGrpSpPr>
        <p:grpSpPr>
          <a:xfrm>
            <a:off x="10914225" y="1997125"/>
            <a:ext cx="929950" cy="338700"/>
            <a:chOff x="10914225" y="2192450"/>
            <a:chExt cx="929950" cy="338700"/>
          </a:xfrm>
        </p:grpSpPr>
        <p:cxnSp>
          <p:nvCxnSpPr>
            <p:cNvPr id="1373" name="Google Shape;1373;p72"/>
            <p:cNvCxnSpPr/>
            <p:nvPr/>
          </p:nvCxnSpPr>
          <p:spPr>
            <a:xfrm flipH="1">
              <a:off x="10914225" y="2368825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4" name="Google Shape;1374;p72"/>
            <p:cNvSpPr txBox="1"/>
            <p:nvPr/>
          </p:nvSpPr>
          <p:spPr>
            <a:xfrm>
              <a:off x="11192575" y="2192450"/>
              <a:ext cx="65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ticket</a:t>
              </a:r>
              <a:endParaRPr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375" name="Google Shape;1375;p72"/>
          <p:cNvGrpSpPr/>
          <p:nvPr/>
        </p:nvGrpSpPr>
        <p:grpSpPr>
          <a:xfrm>
            <a:off x="10884350" y="3588225"/>
            <a:ext cx="808075" cy="338700"/>
            <a:chOff x="10914225" y="1765700"/>
            <a:chExt cx="808075" cy="338700"/>
          </a:xfrm>
        </p:grpSpPr>
        <p:cxnSp>
          <p:nvCxnSpPr>
            <p:cNvPr id="1376" name="Google Shape;1376;p72"/>
            <p:cNvCxnSpPr/>
            <p:nvPr/>
          </p:nvCxnSpPr>
          <p:spPr>
            <a:xfrm flipH="1">
              <a:off x="10914225" y="1953500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7" name="Google Shape;1377;p72"/>
            <p:cNvSpPr txBox="1"/>
            <p:nvPr/>
          </p:nvSpPr>
          <p:spPr>
            <a:xfrm>
              <a:off x="11184400" y="1765700"/>
              <a:ext cx="53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turn</a:t>
              </a:r>
              <a:endParaRPr>
                <a:solidFill>
                  <a:srgbClr val="0B6937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378" name="Google Shape;1378;p72"/>
          <p:cNvGrpSpPr/>
          <p:nvPr/>
        </p:nvGrpSpPr>
        <p:grpSpPr>
          <a:xfrm>
            <a:off x="10884350" y="4048250"/>
            <a:ext cx="929950" cy="338700"/>
            <a:chOff x="10914225" y="2421050"/>
            <a:chExt cx="929950" cy="338700"/>
          </a:xfrm>
        </p:grpSpPr>
        <p:cxnSp>
          <p:nvCxnSpPr>
            <p:cNvPr id="1379" name="Google Shape;1379;p72"/>
            <p:cNvCxnSpPr/>
            <p:nvPr/>
          </p:nvCxnSpPr>
          <p:spPr>
            <a:xfrm flipH="1">
              <a:off x="10914225" y="2597425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80" name="Google Shape;1380;p72"/>
            <p:cNvSpPr txBox="1"/>
            <p:nvPr/>
          </p:nvSpPr>
          <p:spPr>
            <a:xfrm>
              <a:off x="11192575" y="2421050"/>
              <a:ext cx="65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ticket</a:t>
              </a:r>
              <a:endParaRPr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73"/>
          <p:cNvSpPr txBox="1">
            <a:spLocks noGrp="1"/>
          </p:cNvSpPr>
          <p:nvPr>
            <p:ph type="title"/>
          </p:nvPr>
        </p:nvSpPr>
        <p:spPr>
          <a:xfrm>
            <a:off x="351975" y="370556"/>
            <a:ext cx="88686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1386" name="Google Shape;1386;p73"/>
          <p:cNvSpPr txBox="1">
            <a:spLocks noGrp="1"/>
          </p:cNvSpPr>
          <p:nvPr>
            <p:ph type="body" idx="1"/>
          </p:nvPr>
        </p:nvSpPr>
        <p:spPr>
          <a:xfrm>
            <a:off x="351975" y="1172300"/>
            <a:ext cx="51015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Resumen 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87" name="Google Shape;1387;p73"/>
          <p:cNvSpPr txBox="1"/>
          <p:nvPr/>
        </p:nvSpPr>
        <p:spPr>
          <a:xfrm>
            <a:off x="351975" y="1783100"/>
            <a:ext cx="1148805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Aspectos claves de los spinlocks: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Simples de implementar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El hilo que está en espera activa </a:t>
            </a:r>
            <a:r>
              <a:rPr lang="es-ES" sz="2400" b="1" dirty="0">
                <a:ea typeface="Roboto"/>
                <a:cs typeface="Roboto"/>
                <a:sym typeface="Roboto"/>
              </a:rPr>
              <a:t>desperdicia todo el quantum de tiempo</a:t>
            </a:r>
            <a:r>
              <a:rPr lang="es-ES" sz="2400" dirty="0">
                <a:ea typeface="Roboto"/>
                <a:cs typeface="Roboto"/>
                <a:sym typeface="Roboto"/>
              </a:rPr>
              <a:t> haciendo </a:t>
            </a:r>
            <a:r>
              <a:rPr lang="es-ES" sz="2400" b="1" dirty="0">
                <a:ea typeface="Roboto"/>
                <a:cs typeface="Roboto"/>
                <a:sym typeface="Roboto"/>
              </a:rPr>
              <a:t>nada</a:t>
            </a:r>
            <a:r>
              <a:rPr lang="es-ES" sz="2400" dirty="0">
                <a:ea typeface="Roboto"/>
                <a:cs typeface="Roboto"/>
                <a:sym typeface="Roboto"/>
              </a:rPr>
              <a:t> (solo chequea la variable).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Gran gasto de CPU, esto los hace costosos.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Los </a:t>
            </a:r>
            <a:r>
              <a:rPr lang="es-ES" sz="2400" b="1" dirty="0">
                <a:ea typeface="Roboto"/>
                <a:cs typeface="Roboto"/>
                <a:sym typeface="Roboto"/>
              </a:rPr>
              <a:t>spinlocks</a:t>
            </a:r>
            <a:r>
              <a:rPr lang="es-ES" sz="2400" dirty="0">
                <a:ea typeface="Roboto"/>
                <a:cs typeface="Roboto"/>
                <a:sym typeface="Roboto"/>
              </a:rPr>
              <a:t> (y deshabilitar interrupciones en sistemas con un única CPU) son mecanismos de sincronización primitivos.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Son empleados para crear construcciones de sincronización de alto nivel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Para evitar el gran gasto de CPU se requiere </a:t>
            </a: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asistencia del sistema operativo</a:t>
            </a:r>
            <a:r>
              <a:rPr lang="es-ES" sz="2400" dirty="0">
                <a:ea typeface="Roboto"/>
                <a:cs typeface="Roboto"/>
                <a:sym typeface="Roboto"/>
              </a:rPr>
              <a:t>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75"/>
          <p:cNvSpPr txBox="1">
            <a:spLocks noGrp="1"/>
          </p:cNvSpPr>
          <p:nvPr>
            <p:ph type="title"/>
          </p:nvPr>
        </p:nvSpPr>
        <p:spPr>
          <a:xfrm>
            <a:off x="221226" y="96038"/>
            <a:ext cx="89410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¿Cómo evitar gasto en la CPU?</a:t>
            </a:r>
            <a:endParaRPr dirty="0"/>
          </a:p>
        </p:txBody>
      </p:sp>
      <p:sp>
        <p:nvSpPr>
          <p:cNvPr id="1399" name="Google Shape;1399;p75"/>
          <p:cNvSpPr txBox="1">
            <a:spLocks noGrp="1"/>
          </p:cNvSpPr>
          <p:nvPr>
            <p:ph idx="1"/>
          </p:nvPr>
        </p:nvSpPr>
        <p:spPr>
          <a:xfrm>
            <a:off x="221226" y="905300"/>
            <a:ext cx="6848774" cy="29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¿Cuál es el problema con los spinlocks?</a:t>
            </a:r>
            <a:endParaRPr sz="2400" b="1" dirty="0">
              <a:solidFill>
                <a:schemeClr val="accent5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/>
              <a:t>Mientras un hilo espera el lock gasta tiempo de uso del procesador chequeando un valor que no sabe cuándo cambiará (</a:t>
            </a:r>
            <a:r>
              <a:rPr lang="es-ES" sz="2100" b="1" dirty="0"/>
              <a:t>gasto de CPU</a:t>
            </a:r>
            <a:r>
              <a:rPr lang="es-ES" sz="2100" dirty="0"/>
              <a:t>).</a:t>
            </a:r>
            <a:endParaRPr sz="2100" dirty="0"/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/>
              <a:t>Entre más hilos (</a:t>
            </a:r>
            <a:r>
              <a:rPr lang="es-ES" sz="2100" b="1" dirty="0"/>
              <a:t>N hilos</a:t>
            </a:r>
            <a:r>
              <a:rPr lang="es-ES" sz="2100" dirty="0"/>
              <a:t>) más ciclos de CPU son gastados (</a:t>
            </a:r>
            <a:r>
              <a:rPr lang="es-ES" sz="2100" b="1" dirty="0"/>
              <a:t>N – 1</a:t>
            </a:r>
            <a:r>
              <a:rPr lang="es-ES" sz="2100" dirty="0"/>
              <a:t>), de modo que el problema empeora.</a:t>
            </a:r>
            <a:endParaRPr sz="21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1400" name="Google Shape;140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175" y="3756750"/>
            <a:ext cx="8778250" cy="1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75"/>
          <p:cNvSpPr txBox="1"/>
          <p:nvPr/>
        </p:nvSpPr>
        <p:spPr>
          <a:xfrm>
            <a:off x="477212" y="5529522"/>
            <a:ext cx="11271588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Idea clave ¿Cómo evitar el spinning?</a:t>
            </a:r>
            <a:endParaRPr sz="22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/>
              <a:t>¿Cómo desarrollar un lock que no gaste innecesariamente tiempo de la CPU iterando?</a:t>
            </a:r>
            <a:endParaRPr sz="1500" dirty="0"/>
          </a:p>
        </p:txBody>
      </p:sp>
      <p:sp>
        <p:nvSpPr>
          <p:cNvPr id="1402" name="Google Shape;1402;p75"/>
          <p:cNvSpPr txBox="1"/>
          <p:nvPr/>
        </p:nvSpPr>
        <p:spPr>
          <a:xfrm>
            <a:off x="7146200" y="1630675"/>
            <a:ext cx="4602600" cy="94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1) == 1);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76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¿Cómo evitar gasto en la CPU?</a:t>
            </a:r>
            <a:endParaRPr dirty="0"/>
          </a:p>
        </p:txBody>
      </p:sp>
      <p:sp>
        <p:nvSpPr>
          <p:cNvPr id="1408" name="Google Shape;1408;p76"/>
          <p:cNvSpPr txBox="1">
            <a:spLocks noGrp="1"/>
          </p:cNvSpPr>
          <p:nvPr>
            <p:ph idx="1"/>
          </p:nvPr>
        </p:nvSpPr>
        <p:spPr>
          <a:xfrm>
            <a:off x="858325" y="890050"/>
            <a:ext cx="10893900" cy="141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 err="1">
                <a:solidFill>
                  <a:schemeClr val="accent5"/>
                </a:solidFill>
              </a:rPr>
              <a:t>Yield</a:t>
            </a:r>
            <a:r>
              <a:rPr lang="es-ES" sz="2800" b="1" dirty="0">
                <a:solidFill>
                  <a:schemeClr val="accent5"/>
                </a:solidFill>
              </a:rPr>
              <a:t> en vez de spin</a:t>
            </a:r>
            <a:endParaRPr sz="28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/>
              <a:t>Cuando se requiera realizar espera activa, simplemente libera voluntariamente la CPU (llamado al sistema </a:t>
            </a:r>
            <a:r>
              <a:rPr lang="es-ES" sz="24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yield</a:t>
            </a:r>
            <a:r>
              <a:rPr lang="es-ES" sz="2400" dirty="0"/>
              <a:t>).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09" name="Google Shape;1409;p76"/>
          <p:cNvSpPr txBox="1"/>
          <p:nvPr/>
        </p:nvSpPr>
        <p:spPr>
          <a:xfrm>
            <a:off x="944900" y="2590800"/>
            <a:ext cx="4890600" cy="99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1) == 1);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0" name="Google Shape;1410;p76"/>
          <p:cNvSpPr txBox="1"/>
          <p:nvPr/>
        </p:nvSpPr>
        <p:spPr>
          <a:xfrm>
            <a:off x="6953075" y="2449200"/>
            <a:ext cx="4890600" cy="1280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 //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give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up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CPU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1" name="Google Shape;1411;p76"/>
          <p:cNvSpPr/>
          <p:nvPr/>
        </p:nvSpPr>
        <p:spPr>
          <a:xfrm>
            <a:off x="5978788" y="2876400"/>
            <a:ext cx="831000" cy="42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2" name="Google Shape;141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088" y="4041775"/>
            <a:ext cx="10374374" cy="19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7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¿Cómo evitar gasto en la CPU?</a:t>
            </a:r>
            <a:endParaRPr/>
          </a:p>
        </p:txBody>
      </p:sp>
      <p:sp>
        <p:nvSpPr>
          <p:cNvPr id="1418" name="Google Shape;1418;p77"/>
          <p:cNvSpPr txBox="1"/>
          <p:nvPr/>
        </p:nvSpPr>
        <p:spPr>
          <a:xfrm>
            <a:off x="916650" y="1199950"/>
            <a:ext cx="5635200" cy="2590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Yield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en vez de spin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sistema operativo mueve el hilo de estado running a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ready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Aún se gasta tiempo en los cambios de contexto.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Puede existir inanición.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19" name="Google Shape;1419;p77"/>
          <p:cNvSpPr txBox="1"/>
          <p:nvPr/>
        </p:nvSpPr>
        <p:spPr>
          <a:xfrm>
            <a:off x="6810900" y="1045550"/>
            <a:ext cx="4952700" cy="3829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20" name="Google Shape;142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75" y="4518800"/>
            <a:ext cx="10119049" cy="19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7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¿Cómo evitar gasto en la CPU?</a:t>
            </a:r>
            <a:endParaRPr/>
          </a:p>
        </p:txBody>
      </p:sp>
      <p:sp>
        <p:nvSpPr>
          <p:cNvPr id="1426" name="Google Shape;1426;p78"/>
          <p:cNvSpPr txBox="1">
            <a:spLocks noGrp="1"/>
          </p:cNvSpPr>
          <p:nvPr>
            <p:ph idx="1"/>
          </p:nvPr>
        </p:nvSpPr>
        <p:spPr>
          <a:xfrm>
            <a:off x="916650" y="840825"/>
            <a:ext cx="10708500" cy="59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Comparación</a:t>
            </a:r>
            <a:endParaRPr sz="28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27" name="Google Shape;1427;p78"/>
          <p:cNvSpPr txBox="1"/>
          <p:nvPr/>
        </p:nvSpPr>
        <p:spPr>
          <a:xfrm>
            <a:off x="924325" y="1612725"/>
            <a:ext cx="69078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Sin 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yield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():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 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</a:t>
            </a:r>
            <a:r>
              <a:rPr lang="es-ES" sz="2400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threads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time_slice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)</a:t>
            </a:r>
            <a:endParaRPr sz="24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1428" name="Google Shape;1428;p78"/>
          <p:cNvSpPr txBox="1"/>
          <p:nvPr/>
        </p:nvSpPr>
        <p:spPr>
          <a:xfrm>
            <a:off x="916650" y="4095888"/>
            <a:ext cx="65190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 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yield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():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 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</a:t>
            </a:r>
            <a:r>
              <a:rPr lang="es-ES" sz="2400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threads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context_switch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)</a:t>
            </a:r>
            <a:endParaRPr sz="24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pic>
        <p:nvPicPr>
          <p:cNvPr id="1429" name="Google Shape;142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250" y="2208588"/>
            <a:ext cx="8555505" cy="16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38" y="4870325"/>
            <a:ext cx="8715720" cy="16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Queue locks</a:t>
            </a:r>
            <a:endParaRPr dirty="0"/>
          </a:p>
        </p:txBody>
      </p:sp>
      <p:sp>
        <p:nvSpPr>
          <p:cNvPr id="1436" name="Google Shape;1436;p79"/>
          <p:cNvSpPr txBox="1"/>
          <p:nvPr/>
        </p:nvSpPr>
        <p:spPr>
          <a:xfrm>
            <a:off x="1038575" y="1135500"/>
            <a:ext cx="10542600" cy="118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Problemas con las colas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Acá vamos…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Queue locks</a:t>
            </a:r>
            <a:endParaRPr dirty="0"/>
          </a:p>
        </p:txBody>
      </p:sp>
      <p:sp>
        <p:nvSpPr>
          <p:cNvPr id="1442" name="Google Shape;1442;p80"/>
          <p:cNvSpPr txBox="1"/>
          <p:nvPr/>
        </p:nvSpPr>
        <p:spPr>
          <a:xfrm>
            <a:off x="1038575" y="1135500"/>
            <a:ext cx="10542600" cy="364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Uso de colas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Idea</a:t>
            </a:r>
            <a:r>
              <a:rPr lang="es-ES" sz="26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endParaRPr sz="2600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Poner los hilos en una cola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queue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Indicarle al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kernel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que no agende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don’t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schedule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los hilos en la cola.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Al desbloquear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unlock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), indicar al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kernel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que puede ejecutar subprocesos nuevamente.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Llamadas: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○"/>
            </a:pP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park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El hilo que llama la función va a dormir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sleep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state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○"/>
            </a:pP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unpark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</a:t>
            </a: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threadID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)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Despierta un hilo en particular.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Queue locks</a:t>
            </a:r>
            <a:endParaRPr dirty="0"/>
          </a:p>
        </p:txBody>
      </p:sp>
      <p:sp>
        <p:nvSpPr>
          <p:cNvPr id="1448" name="Google Shape;1448;p81"/>
          <p:cNvSpPr txBox="1"/>
          <p:nvPr/>
        </p:nvSpPr>
        <p:spPr>
          <a:xfrm>
            <a:off x="916650" y="952625"/>
            <a:ext cx="3389880" cy="70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Uso de colas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81"/>
          <p:cNvSpPr txBox="1"/>
          <p:nvPr/>
        </p:nvSpPr>
        <p:spPr>
          <a:xfrm>
            <a:off x="1096467" y="2288803"/>
            <a:ext cx="3092400" cy="290999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*q;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0" name="Google Shape;1450;p81"/>
          <p:cNvSpPr txBox="1"/>
          <p:nvPr/>
        </p:nvSpPr>
        <p:spPr>
          <a:xfrm>
            <a:off x="4616324" y="513815"/>
            <a:ext cx="6415469" cy="31577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; //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spinning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0)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1; // lock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acquired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gettid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1" name="Google Shape;1451;p81"/>
          <p:cNvSpPr txBox="1"/>
          <p:nvPr/>
        </p:nvSpPr>
        <p:spPr>
          <a:xfrm>
            <a:off x="4616325" y="3867682"/>
            <a:ext cx="6415468" cy="26622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; //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spinning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queue_empty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(m-&gt;q))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lock; no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wants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unpark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queue_remove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(m-&gt;q));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hold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	//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Referencias</a:t>
            </a:r>
            <a:endParaRPr dirty="0"/>
          </a:p>
        </p:txBody>
      </p:sp>
      <p:sp>
        <p:nvSpPr>
          <p:cNvPr id="1463" name="Google Shape;1463;p83"/>
          <p:cNvSpPr txBox="1">
            <a:spLocks noGrp="1"/>
          </p:cNvSpPr>
          <p:nvPr>
            <p:ph type="body" idx="1"/>
          </p:nvPr>
        </p:nvSpPr>
        <p:spPr>
          <a:xfrm>
            <a:off x="824200" y="974150"/>
            <a:ext cx="11115000" cy="515521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3"/>
              </a:rPr>
              <a:t>https://adit.io/posts/2013-05-15-Locks,-Actors,-And-STM-In-Pictures.html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4"/>
              </a:rPr>
              <a:t>https://link.springer.com/chapter/10.1007/978-1-4842-4398-5_5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5"/>
              </a:rPr>
              <a:t>https://preshing.com/20150316/semaphores-are-surprisingly-versatile/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6"/>
              </a:rPr>
              <a:t>https://jvns.ca/teach-tech-with-cartoons/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7"/>
              </a:rPr>
              <a:t>https://code-cartoons.com/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8"/>
              </a:rPr>
              <a:t>https://medium.com/basecs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9"/>
              </a:rPr>
              <a:t>https://xkcd.com/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0"/>
              </a:rPr>
              <a:t>https://www.qwantz.com/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1"/>
              </a:rPr>
              <a:t>https://pbfcomics.com/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2"/>
              </a:rPr>
              <a:t>http://turnoff.us/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3"/>
              </a:rPr>
              <a:t>http://turnoff.us/geek/arduino-project/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https://prepinsta.com/operating-systems/critical-section-problem/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5"/>
              </a:rPr>
              <a:t>https://jakegut.com/posts/sg-os/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6"/>
              </a:rPr>
              <a:t>https://realpython.com/intro-to-python-threading/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https://github.com/Marcombo/Programacion_de_servicios_y_procesos_en_Python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8"/>
              </a:rPr>
              <a:t>https://www.cs.cornell.edu/courses/cs3410/2012sp/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9"/>
              </a:rPr>
              <a:t>https://www.cs.cornell.edu/courses/cs3410/2012sp/lecture/25-sync-i-g.pdf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20"/>
              </a:rPr>
              <a:t>https://www.cs.cornell.edu/courses/cs3410/2012sp/schedule.html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Referencias</a:t>
            </a:r>
            <a:endParaRPr/>
          </a:p>
        </p:txBody>
      </p:sp>
      <p:sp>
        <p:nvSpPr>
          <p:cNvPr id="1469" name="Google Shape;1469;p84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115000" cy="51244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3"/>
              </a:rPr>
              <a:t>https://csapp.cs.cmu.edu/</a:t>
            </a:r>
            <a:r>
              <a:rPr lang="es-ES" sz="18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https://applied-programming.github.io/Operating-Systems-Notes/5-Memory-Management/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http://www.cs.cmu.edu/~213/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https://web.eecs.umich.edu/~akamil/teaching/sp04/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https://courses.engr.illinois.edu/cs241/sp2014/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https://emeryberger.com/teaching/grad-systems/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https://oslab.kaist.ac.kr/courseware/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https://oslab.kaist.ac.kr/ee488-fall-2020/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https://github.com/JoeCameron1/CSC369-OperatingSystems-Assignments/tree/master/Assignment2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http://www.cs.toronto.edu/~ylzhang/csc258/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https://oslab.kaist.ac.kr/ee415-spring-2022/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https://prepinsta.com/operating-systems/multiprocessor-operating-systems/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https://www.quora.com/What-are-some-best-examples-of-multithreaded-applications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https://cpentalk.com/986/examples-applications-benefit-directly-ability-throughput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https://realpython.com/python-concurrency/</a:t>
            </a:r>
            <a:r>
              <a:rPr lang="es-ES" sz="1900" dirty="0">
                <a:latin typeface="+mn-lt"/>
              </a:rPr>
              <a:t>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Referencias</a:t>
            </a:r>
            <a:endParaRPr/>
          </a:p>
        </p:txBody>
      </p:sp>
      <p:sp>
        <p:nvSpPr>
          <p:cNvPr id="1475" name="Google Shape;1475;p85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7246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https://developers.google.com/web/updates/2018/09/inside-browser-part1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https://developers.google.com/web/updates/2018/09/inside-browser-part2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https://www.informit.com/articles/article.aspx?p=25075&amp;seqNum=3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https://www.cs.uic.edu/~jbell/CourseNotes/OperatingSystems/4_Threads.html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https://realpython.com/python-sockets/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https://realpython.com/intro-to-python-threading/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https://realpython.com/python-concurrency/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https://www.geeksforgeeks.org/socket-programming-multi-threading-python/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https://eecs485staff.github.io/p4-mapreduce/threads-sockets.html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https://prepinsta.com/operating-systems/inter-process-communication/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https://applied-programming.github.io/Operating-Systems-Notes/6-Inter-Process-Communication/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https://applied-programming.github.io/Operating-Systems-Notes/3-Threads-and-Concurrency/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https://singa.apache.org/</a:t>
            </a:r>
            <a:r>
              <a:rPr lang="es-ES" sz="1900" dirty="0">
                <a:latin typeface="+mn-lt"/>
              </a:rPr>
              <a:t> 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http://web.mit.edu/java_v1.0.2/www/tutorial/java/threads/deadlock.html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http://www.cs.fsu.edu/~baker/realtime/restricted/notes/philos.html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https://www2.seas.gwu.edu/~mfeldman/papers/portable-diners.html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0"/>
              </a:rPr>
              <a:t>https://www.kalasim.org/examples/dining_philosophers/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1"/>
              </a:rPr>
              <a:t>http://people.cs.aau.dk/~ask/Undervisning/MVP/html/deadlock.pdf</a:t>
            </a:r>
            <a:r>
              <a:rPr lang="es-ES" sz="1900" dirty="0">
                <a:latin typeface="+mn-lt"/>
              </a:rPr>
              <a:t>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Referencias</a:t>
            </a:r>
            <a:endParaRPr dirty="0"/>
          </a:p>
        </p:txBody>
      </p:sp>
      <p:sp>
        <p:nvSpPr>
          <p:cNvPr id="1481" name="Google Shape;1481;p86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4322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https://github.com/fab327/JavaFX_DiningPhilosophers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https://github.com/djunderw/dining-philosophers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https://www.geeksforgeeks.org/dining-philosopher-problem-using-semaphores/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https://rosettacode.org/wiki/Dining_philosophers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https://www.seas.upenn.edu/~cse39904/homework/hw06.pdf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https://www.seas.upenn.edu/~cse39904/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https://www.seas.upenn.edu/~cse39904/notes.html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https://github.com/smonn/hungrythinkers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https://github.com/jnafolayan/dining-philosopher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https://jnafolayan.github.io/dining-philosopher/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https://github.com/ZzCalvinzZ/dining_philosophers_web_workers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https://dev.to/vunderkind/the-dining-philosophers-problem-or-your-introduction-to-thinking-in-computer-science-8ii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https://github.com/lievi/dining_philosophers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https://www.wikiwand.com/en/Dining_philosophers_problem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https://adit.io/posts/2013-05-11-The-Dining-Philosophers-Problem-With-Ron-Swanson.html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https://github.com/tpn/pdfs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https://jakegut.com/posts/sg-os/</a:t>
            </a:r>
            <a:r>
              <a:rPr lang="es-ES" sz="1900" dirty="0">
                <a:latin typeface="+mn-lt"/>
              </a:rPr>
              <a:t> 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</TotalTime>
  <Words>7058</Words>
  <Application>Microsoft Office PowerPoint</Application>
  <PresentationFormat>Panorámica</PresentationFormat>
  <Paragraphs>1940</Paragraphs>
  <Slides>63</Slides>
  <Notes>63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63</vt:i4>
      </vt:variant>
    </vt:vector>
  </HeadingPairs>
  <TitlesOfParts>
    <vt:vector size="73" baseType="lpstr">
      <vt:lpstr>Consolas</vt:lpstr>
      <vt:lpstr>Roboto Slab</vt:lpstr>
      <vt:lpstr>Calibri</vt:lpstr>
      <vt:lpstr>Courier New</vt:lpstr>
      <vt:lpstr>Arial</vt:lpstr>
      <vt:lpstr>Calibri Light</vt:lpstr>
      <vt:lpstr>Times New Roman</vt:lpstr>
      <vt:lpstr>Roboto</vt:lpstr>
      <vt:lpstr>Tema de Office</vt:lpstr>
      <vt:lpstr>Office Theme</vt:lpstr>
      <vt:lpstr>Sistemas Operativos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Evaluación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¿Cómo evitar gasto en la CPU?</vt:lpstr>
      <vt:lpstr>¿Cómo evitar gasto en la CPU?</vt:lpstr>
      <vt:lpstr>¿Cómo evitar gasto en la CPU?</vt:lpstr>
      <vt:lpstr>¿Cómo evitar gasto en la CPU?</vt:lpstr>
      <vt:lpstr>Queue locks</vt:lpstr>
      <vt:lpstr>Queue locks</vt:lpstr>
      <vt:lpstr>Queue locks</vt:lpstr>
      <vt:lpstr>Referencias</vt:lpstr>
      <vt:lpstr>Referencias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35</cp:revision>
  <dcterms:modified xsi:type="dcterms:W3CDTF">2026-05-18T18:58:04Z</dcterms:modified>
</cp:coreProperties>
</file>