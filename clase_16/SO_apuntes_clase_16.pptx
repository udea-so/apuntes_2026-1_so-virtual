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  <p:sldMasterId id="2147483680" r:id="rId2"/>
  </p:sldMasterIdLst>
  <p:notesMasterIdLst>
    <p:notesMasterId r:id="rId52"/>
  </p:notesMasterIdLst>
  <p:sldIdLst>
    <p:sldId id="256" r:id="rId3"/>
    <p:sldId id="259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8" r:id="rId39"/>
    <p:sldId id="299" r:id="rId40"/>
    <p:sldId id="300" r:id="rId41"/>
    <p:sldId id="301" r:id="rId42"/>
    <p:sldId id="302" r:id="rId43"/>
    <p:sldId id="303" r:id="rId44"/>
    <p:sldId id="305" r:id="rId45"/>
    <p:sldId id="306" r:id="rId46"/>
    <p:sldId id="307" r:id="rId47"/>
    <p:sldId id="308" r:id="rId48"/>
    <p:sldId id="309" r:id="rId49"/>
    <p:sldId id="324" r:id="rId50"/>
    <p:sldId id="325" r:id="rId51"/>
  </p:sldIdLst>
  <p:sldSz cx="12192000" cy="6858000"/>
  <p:notesSz cx="6858000" cy="9144000"/>
  <p:embeddedFontLst>
    <p:embeddedFont>
      <p:font typeface="Calibri" panose="020F0502020204030204" pitchFamily="34" charset="0"/>
      <p:regular r:id="rId53"/>
      <p:bold r:id="rId54"/>
      <p:italic r:id="rId55"/>
      <p:boldItalic r:id="rId56"/>
    </p:embeddedFont>
    <p:embeddedFont>
      <p:font typeface="Calibri Light" panose="020F0302020204030204" pitchFamily="34" charset="0"/>
      <p:regular r:id="rId57"/>
      <p:italic r:id="rId58"/>
    </p:embeddedFont>
    <p:embeddedFont>
      <p:font typeface="Consolas" panose="020B0609020204030204" pitchFamily="49" charset="0"/>
      <p:regular r:id="rId59"/>
      <p:bold r:id="rId60"/>
      <p:italic r:id="rId61"/>
      <p:boldItalic r:id="rId62"/>
    </p:embeddedFont>
    <p:embeddedFont>
      <p:font typeface="Roboto" panose="02000000000000000000" pitchFamily="2" charset="0"/>
      <p:regular r:id="rId63"/>
      <p:bold r:id="rId64"/>
      <p:italic r:id="rId65"/>
      <p:boldItalic r:id="rId66"/>
    </p:embeddedFont>
    <p:embeddedFont>
      <p:font typeface="Roboto Slab" panose="020B0604020202020204" charset="0"/>
      <p:regular r:id="rId67"/>
      <p:bold r:id="rId68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6A2E93-5121-40D1-B61B-F19DAAD5E98B}">
  <a:tblStyle styleId="{F66A2E93-5121-40D1-B61B-F19DAAD5E9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31F8EA-094C-4022-B5A3-1638E5F4CCC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11.fntdata"/><Relationship Id="rId68" Type="http://schemas.openxmlformats.org/officeDocument/2006/relationships/font" Target="fonts/font16.fntdata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font" Target="fonts/font14.fntdata"/><Relationship Id="rId5" Type="http://schemas.openxmlformats.org/officeDocument/2006/relationships/slide" Target="slides/slide3.xml"/><Relationship Id="rId61" Type="http://schemas.openxmlformats.org/officeDocument/2006/relationships/font" Target="fonts/font9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7.fntdata"/><Relationship Id="rId67" Type="http://schemas.openxmlformats.org/officeDocument/2006/relationships/font" Target="fonts/font15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5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a63ce91a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a63ce91a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17ac81a7f7_0_7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g117ac81a7f7_0_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1a63ce91a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1a63ce91ac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1a63ce91ac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1a63ce91ac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d57dbb116e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d57dbb116e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1a63ce91ac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1a63ce91ac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1a63ce91ac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1a63ce91ac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1a63ce91ac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1a63ce91ac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d57dbb116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d57dbb116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1a63ce91ac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1a63ce91ac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1a63ce91ac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1a63ce91ac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1a63ce91ac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1a63ce91ac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1a63ce91ac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1a63ce91ac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1e21ec84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1e21ec84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1e21ec840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1e21ec840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1e21ec840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1e21ec840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1e21ec840c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1e21ec840c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1e21ec840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1e21ec840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1e21ec840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1e21ec840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1e21ec840c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1e21ec840c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1e21ec840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1e21ec840c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1e21ec840c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1e21ec840c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1e21ec840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1e21ec840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3" name="Google Shape;423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1e21ec840c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8" name="Google Shape;448;g11e21ec840c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1e21ec840c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6" name="Google Shape;466;g11e21ec840c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1e21ec840c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9" name="Google Shape;479;g11e21ec840c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1e21ec840c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9" name="Google Shape;509;g11e21ec840c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e21ec840c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1" name="Google Shape;521;g11e21ec840c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1e21ec840c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2" name="Google Shape;542;g11e21ec840c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e21ec840c_0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3" name="Google Shape;563;g11e21ec840c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1e21ec840c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6" name="Google Shape;576;g11e21ec840c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172ea73a71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9" name="Google Shape;589;g1172ea73a71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18e7b7acc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4" name="Google Shape;604;g118e7b7acc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118e7b7acc1_2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118e7b7acc1_2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11829e52e61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11829e52e61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118e7b7acc1_2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118e7b7acc1_2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11359daf871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11359daf871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11e21ec840c_0_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11e21ec840c_0_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118e7b7acc1_2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118e7b7acc1_2_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11e21ec840c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11e21ec840c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118e7b7acc1_2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118e7b7acc1_2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15c7f9ec68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15c7f9ec68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114ae551f2c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114ae551f2c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117ac81a7f7_0_8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117ac81a7f7_0_8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117b835d7e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117b835d7e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4EFC6-2F92-4E13-B961-A63A46079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6F2C6D-CAFB-44D8-9D3D-F5A367BA1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F026EC-B5D6-4D83-A457-01DAE0EA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191B12-6E98-4529-8DFE-C63E15B2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0FC392-DBA9-4D32-93B1-DF4E5BB1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810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FF4AE-CAC7-4BBF-AE34-C379EC15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83AA2B-92AE-42A5-BCF6-E98BDE35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082BFE-1D32-4479-83ED-A1108304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F20778-84C0-4301-A4E0-10F9266DF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9CCB08-11A5-48C7-93D0-9383D622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474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4BA23-0AB4-4AC3-93DC-F5388101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9929E9-AF43-4475-9794-9B572F85C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50D247-5A16-4ED9-905C-B541C172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C9789-EE70-48D0-BC42-A6F6D7E3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D6E942-C7E5-4333-BDF7-15CF95F1A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420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38B16-3F67-406F-8896-C5A869B8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60E17A-AD41-4672-9C99-944730E37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8A3F05-AEEE-48F9-8760-BA226C2BF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40793A-4279-4444-93A4-9043D37A4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03B0D4-543E-46DA-BE81-54D2A4EA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875236-A285-4F7E-B2AA-02F956A1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09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C3896-951A-4DB9-8E22-DACD3A71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2C3865-E925-430F-BBFE-7CCF8668A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5588A4-4D2B-4258-A424-4AB644D24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518C85-5630-41BD-B5C7-0BE9B5CE9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DF6C0B-3AF4-431B-8284-6CE72DCB1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BDE952-7D99-4D51-B797-4DF6129D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B417C5-DA3D-446E-B651-152F4B98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B7A783-CBCE-4D23-82A1-495BE8FA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423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2725F-C606-4002-81BA-57D4D40E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311ACD-59CB-473D-A95A-770B983B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0A660C-36A3-45CD-8C5C-1ED4EEA5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7ED5B6-B4E1-43CC-9237-973602CE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359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2DC51D-11D6-4E6C-A274-1502ED2A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48D94D-B572-4A3F-A07D-B3E7CA38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3177E2-88CE-4061-A1E2-64D4BF5B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68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4E2D6-30D3-4D7C-92E0-7BD982CE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2F63FE-F153-44EC-8B3F-9AB705E80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53B2D7-2EBB-4DF4-85BE-E6F6C8A1D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675FD-5EDC-4BA5-89E6-5527FDA7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DDFFFF-DED3-443F-AF70-AE862266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51918A-4D8E-49A8-AED4-7E4D1103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2096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07736-A43F-4823-A3D8-27A558EB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A95A70B-4C45-4A90-927B-891E93A1B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81C756-EC01-425F-81C9-E0CCFAD04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8AC5BF-EEBA-470C-9C6F-522C81E9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E409BB-9B3B-4F69-8C28-47570F12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0C99D3-07A0-4E76-9435-F682D02A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74294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8ACD2-83F5-4E65-9816-AB21E7D4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8C3005-8107-477C-A680-E897E310A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CBF435-23E7-497A-9ADC-36BE5932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11B139-777A-4BC1-9C85-71598B28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7BD15A-E716-4D55-B413-340CDF05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06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0A9933-DFFE-4FED-9733-EBC96A6A1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F4986F-5D3E-4A01-A65E-23B40E95A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D6847E-AC2C-4D4E-8FD1-1B163A98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50FCC-0956-4A29-BB7C-AC033763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575AB2-90A3-4094-85A8-397A869CC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2437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9309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42" name="Google Shape;4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03368" y="200380"/>
            <a:ext cx="2262624" cy="71057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 rot="5400000">
            <a:off x="-3061973" y="3062100"/>
            <a:ext cx="6858000" cy="7338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0708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54" name="Google Shape;54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03368" y="200380"/>
            <a:ext cx="2262624" cy="710577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 rot="5400000">
            <a:off x="-3061973" y="3062100"/>
            <a:ext cx="6858000" cy="7338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0208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169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2338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6434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6540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3013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086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11056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22098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30135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80928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21590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60834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57472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966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95C28F-71F9-496E-A52E-B0A9C891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44CEF-7090-4EF7-ABC2-01FDE598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C934C1-DE25-48B2-9A9C-F22C17470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29388-65E5-4496-A9AF-B22A7AC84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A2886E-44BF-4964-9363-44A3C2C64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183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7" r:id="rId12"/>
    <p:sldLayoutId id="2147483678" r:id="rId13"/>
    <p:sldLayoutId id="2147483679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260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3" r:id="rId12"/>
    <p:sldLayoutId id="2147483694" r:id="rId13"/>
    <p:sldLayoutId id="2147483695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ea-so/codigos_clase/blob/main/locks/counter_without_locks.c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udea-so/codigos_clase/blob/main/locks/precise_counter.c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c.html#code=%23define%20NULL%200%0A%0A//%20basic%20node%20structure%0Atypedef%20struct%20__node_t%20%7B%0A%20%20int%20key%3B%0A%20%20struct%20__node_t%20*next%3B%0A%7D%20node_t%3B%0A%0A%0A//%20basic%20list%20structure%20%28one%20used%20per%20list%29%0Atypedef%20struct%20__list_t%20%7B%0A%20%20node_t%20*head%3B%0A%7D%20list_t%3B%0A%0Avoid%20List_Init%28list_t%20*L%29%20%7B%0A%20%20L-%3Ehead%20%3D%20NULL%3B%0A%7D%0A%0Aint%20List_Insert%28list_t%20*L,%20int%20key%29%20%7B%0A%20%20node_t%20*new%20%3D%20malloc%28sizeof%28node_t%29%29%3B%0A%20%20if%20%28new%20%3D%3D%20NULL%29%20%7B%0A%20%20%20%20perror%28%22malloc%22%29%3B%0A%20%20%20%20return%20-1%3B%20//%20fail%0A%20%20%7D%0A%20%20new-%3Ekey%20%3D%20key%3B%0A%20%20new-%3Enext%20%3D%20L-%3Ehead%3B%0A%20%20L-%3Ehead%20%3D%20new%3B%0A%20%20return%200%3B%20//%20success%0A%7D%0A%0Aint%20List_Lookup%28list_t%20*L,%20int%20key%29%20%7B%0A%20%20node_t%20*curr%20%3D%20L-%3Ehead%3B%0A%20%20while%20%28curr%29%20%7B%0A%20%20%20%20if%20%28curr-%3Ekey%20%3D%3D%20key%29%20%7B%0A%20%20%20%20%20%20return%200%3B%20//%20success%0A%20%20%20%20%7D%0A%20%20%20%20curr%20%3D%20curr-%3Enext%3B%0A%20%20%7D%0A%20%20return%20-1%3B%20//%20failure%0A%7D%0A%0A%0Aint%20main%28%29%20%7B%0A%20%20int%20found%3B%0A%20%20list_t%20L%3B%0A%20%20List_Init%28%26L%29%3B%0A%20%20List_Insert%28%26L,3%29%3B%0A%20%20List_Insert%28%26L,8%29%3B%0A%20%20found%20%3D%20List_Lookup%28%26L,%203%29%3B%0A%20%20found%20%3D%20List_Lookup%28%26L,%208%29%3B%0A%20%20printf%28%223%20in%20L%3F%20%25d%5Cn%22,found%29%3B%0A%20%20found%20%3D%20List_Lookup%28%26L,%205%29%3B%0A%20%20printf%28%223%20in%20L%3F%20%25d%5Cn%22,found%29%3B%0A%20%20return%200%3B%0A%7D&amp;mode=edit&amp;origin=opt-frontend.js&amp;py=c_gcc9.3.0&amp;rawInputLstJSON=%5B%5D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c.html#code=%23define%20NULL%200%0A%0Atypedef%20struct%20__node_t%20%7B%0A%20%20int%20value%3B%0A%20%20struct%20__node_t%20*next%3B%0A%7D%20node_t%3B%0A%0Atypedef%20struct%20__queue_t%20%7B%0A%20%20node_t%20*head%3B%0A%20%20node_t%20*tail%3B%0A%7D%20queue_t%3B%0A%0Avoid%20Queue_Init%28queue_t%20*q%29%20%7B%0A%20%20node_t%20*tmp%20%3D%20malloc%28sizeof%28node_t%29%29%3B%0A%20%20tmp-%3Enext%20%3D%20NULL%3B%0A%20%20q-%3Ehead%20%3D%20q-%3Etail%20%3D%20tmp%3B%0A%7D%0A%0A%0Avoid%20Queue_Enqueue%28queue_t%20*q,%20int%20value%29%20%7B%0A%20%20node_t%20*tmp%20%3D%20malloc%28sizeof%28node_t%29%29%3B%0A%20%20//assert%28tmp%20!%3D%20NULL%29%3B%0A%20%20tmp-%3Evalue%20%3D%20value%3B%0A%20%20tmp-%3Enext%20%3D%20NULL%3B%0A%20%20q-%3Etail-%3Enext%20%3D%20tmp%3B%0A%20%20q-%3Etail%20%3D%20tmp%3B%0A%7D%0A%0Aint%20Queue_Dequeue%28queue_t%20*q,%20int%20*value%29%20%7B%0A%20%20node_t%20*tmp%20%3D%20q-%3Ehead%3B%0A%20%20node_t%20*new_head%20%3D%20tmp-%3Enext%3B%0A%20%20if%20%28new_head%20%3D%3D%20NULL%29%20%7B%0A%20%20%20%20return%20-1%3B%20//%20queue%20was%20empty%0A%20%20%7D%0A%20%20*value%20%3D%20new_head-%3Evalue%3B%0A%20%20q-%3Ehead%20%3D%20new_head%3B%0A%20%20free%28tmp%29%3B%0A%20%20return%200%3B%0A%7D%0A%0Aint%20main%28%29%20%7B%0A%20%20queue_t%20Q%3B%0A%20%20int%20v%3B%0A%20%20Queue_Init%28%26Q%29%3B%0A%20%20//%203%0A%20%20Queue_Enqueue%28%26Q,%203%29%3B%0A%20%20//%20-10%20****%203%0A%20%20Queue_Enqueue%28%26Q,%20-10%29%3B%0A%20%20//%208%20****%20-10%20****%203%0A%20%20Queue_Enqueue%28%26Q,%208%29%3B%0A%20%20//%20--------------------------------%0A%20%20Queue_Dequeue%28%26Q,%20%26v%29%3B%0A%20%20printf%28%22Valor%20desencolado%3A%20%25d%5Cn%22,v%29%3B%0A%20%20Queue_Dequeue%28%26Q,%20%26v%29%3B%0A%20%20printf%28%22Valor%20desencolado%3A%20%25d%5Cn%22,v%29%3B%0A%20%20return%200%3B%0A%7D&amp;mode=edit&amp;origin=opt-frontend.js&amp;py=c_gcc9.3.0&amp;rawInputLstJSON=%5B%5D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basecs" TargetMode="External"/><Relationship Id="rId13" Type="http://schemas.openxmlformats.org/officeDocument/2006/relationships/hyperlink" Target="http://turnoff.us/geek/arduino-project/" TargetMode="External"/><Relationship Id="rId3" Type="http://schemas.openxmlformats.org/officeDocument/2006/relationships/hyperlink" Target="https://adit.io/posts/2013-05-15-Locks,-Actors,-And-STM-In-Pictures.html" TargetMode="External"/><Relationship Id="rId7" Type="http://schemas.openxmlformats.org/officeDocument/2006/relationships/hyperlink" Target="https://code-cartoons.com/" TargetMode="External"/><Relationship Id="rId12" Type="http://schemas.openxmlformats.org/officeDocument/2006/relationships/hyperlink" Target="http://turnoff.us/" TargetMode="External"/><Relationship Id="rId17" Type="http://schemas.openxmlformats.org/officeDocument/2006/relationships/hyperlink" Target="https://www.algorithm-archive.org/" TargetMode="External"/><Relationship Id="rId2" Type="http://schemas.openxmlformats.org/officeDocument/2006/relationships/notesSlide" Target="../notesSlides/notesSlide46.xml"/><Relationship Id="rId16" Type="http://schemas.openxmlformats.org/officeDocument/2006/relationships/hyperlink" Target="https://lwn.net/Articles/170003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jvns.ca/teach-tech-with-cartoons/" TargetMode="External"/><Relationship Id="rId11" Type="http://schemas.openxmlformats.org/officeDocument/2006/relationships/hyperlink" Target="https://pbfcomics.com/" TargetMode="External"/><Relationship Id="rId5" Type="http://schemas.openxmlformats.org/officeDocument/2006/relationships/hyperlink" Target="https://preshing.com/20150316/semaphores-are-surprisingly-versatile/" TargetMode="External"/><Relationship Id="rId15" Type="http://schemas.openxmlformats.org/officeDocument/2006/relationships/hyperlink" Target="https://www.josehu.com/assets/file/ostep-note/operating-systems-ostep.html" TargetMode="External"/><Relationship Id="rId10" Type="http://schemas.openxmlformats.org/officeDocument/2006/relationships/hyperlink" Target="https://www.qwantz.com/" TargetMode="External"/><Relationship Id="rId4" Type="http://schemas.openxmlformats.org/officeDocument/2006/relationships/hyperlink" Target="https://link.springer.com/chapter/10.1007/978-1-4842-4398-5_5" TargetMode="External"/><Relationship Id="rId9" Type="http://schemas.openxmlformats.org/officeDocument/2006/relationships/hyperlink" Target="https://xkcd.com/" TargetMode="External"/><Relationship Id="rId14" Type="http://schemas.openxmlformats.org/officeDocument/2006/relationships/hyperlink" Target="https://prepinsta.com/operating-systems/critical-section-problem/" TargetMode="Externa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oracle.com/cd/E19683-01/806-6867/sync-12/index.html" TargetMode="External"/><Relationship Id="rId13" Type="http://schemas.openxmlformats.org/officeDocument/2006/relationships/hyperlink" Target="https://jakegut.com/posts/sg-os/" TargetMode="External"/><Relationship Id="rId3" Type="http://schemas.openxmlformats.org/officeDocument/2006/relationships/hyperlink" Target="https://pages.cs.wisc.edu/~remzi/Classes/537/Spring2018/handouts.html" TargetMode="External"/><Relationship Id="rId7" Type="http://schemas.openxmlformats.org/officeDocument/2006/relationships/hyperlink" Target="http://pages.cs.wisc.edu/~harter/537/slides.html" TargetMode="External"/><Relationship Id="rId12" Type="http://schemas.openxmlformats.org/officeDocument/2006/relationships/hyperlink" Target="http://web.eecs.utk.edu/~jplank/plank/classes/cs360/360/notes/Mutex-Cond/lecture.html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eb.eecs.utk.edu/~jplank/plank/classes/cs360/index.html" TargetMode="External"/><Relationship Id="rId11" Type="http://schemas.openxmlformats.org/officeDocument/2006/relationships/hyperlink" Target="https://www.ibm.com/docs/en/aix/7.2?topic=programming-using-mutexes" TargetMode="External"/><Relationship Id="rId5" Type="http://schemas.openxmlformats.org/officeDocument/2006/relationships/hyperlink" Target="https://www.ics.uci.edu/~aburtsev/238P/2018winter/index.html" TargetMode="External"/><Relationship Id="rId15" Type="http://schemas.openxmlformats.org/officeDocument/2006/relationships/hyperlink" Target="https://lwn.net/Articles/170003/" TargetMode="External"/><Relationship Id="rId10" Type="http://schemas.openxmlformats.org/officeDocument/2006/relationships/hyperlink" Target="https://www.ibm.com/docs/en/zos/2.3.0?topic=functions-pthread-mutex-lock-wait-lock-mutex-object" TargetMode="External"/><Relationship Id="rId4" Type="http://schemas.openxmlformats.org/officeDocument/2006/relationships/hyperlink" Target="https://web.cs.wpi.edu/~cshue/cs3013/" TargetMode="External"/><Relationship Id="rId9" Type="http://schemas.openxmlformats.org/officeDocument/2006/relationships/hyperlink" Target="https://www.cs.unm.edu/~crandall/operatingsystems20/slides/27-Concurrency-Lock-Examples.pdf" TargetMode="External"/><Relationship Id="rId14" Type="http://schemas.openxmlformats.org/officeDocument/2006/relationships/hyperlink" Target="https://www.josehu.com/assets/file/ostep-note/operating-systems-ostep.html" TargetMode="Externa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hyperlink" Target="https://realpython.com/intro-to-python-threading/" TargetMode="External"/><Relationship Id="rId13" Type="http://schemas.openxmlformats.org/officeDocument/2006/relationships/hyperlink" Target="https://applied-programming.github.io/Operating-Systems-Notes/6-Inter-Process-Communication/" TargetMode="External"/><Relationship Id="rId18" Type="http://schemas.openxmlformats.org/officeDocument/2006/relationships/hyperlink" Target="http://www.cs.fsu.edu/~baker/realtime/restricted/notes/philos.html" TargetMode="External"/><Relationship Id="rId3" Type="http://schemas.openxmlformats.org/officeDocument/2006/relationships/hyperlink" Target="https://developers.google.com/web/updates/2018/09/inside-browser-part1" TargetMode="External"/><Relationship Id="rId21" Type="http://schemas.openxmlformats.org/officeDocument/2006/relationships/hyperlink" Target="http://people.cs.aau.dk/~ask/Undervisning/MVP/html/deadlock.pdf" TargetMode="External"/><Relationship Id="rId7" Type="http://schemas.openxmlformats.org/officeDocument/2006/relationships/hyperlink" Target="https://realpython.com/python-sockets/" TargetMode="External"/><Relationship Id="rId12" Type="http://schemas.openxmlformats.org/officeDocument/2006/relationships/hyperlink" Target="https://prepinsta.com/operating-systems/inter-process-communication/" TargetMode="External"/><Relationship Id="rId17" Type="http://schemas.openxmlformats.org/officeDocument/2006/relationships/hyperlink" Target="http://web.mit.edu/java_v1.0.2/www/tutorial/java/threads/deadlock.html" TargetMode="External"/><Relationship Id="rId2" Type="http://schemas.openxmlformats.org/officeDocument/2006/relationships/notesSlide" Target="../notesSlides/notesSlide48.xml"/><Relationship Id="rId16" Type="http://schemas.openxmlformats.org/officeDocument/2006/relationships/hyperlink" Target="https://singa.apache.org/" TargetMode="External"/><Relationship Id="rId20" Type="http://schemas.openxmlformats.org/officeDocument/2006/relationships/hyperlink" Target="https://www.kalasim.org/examples/dining_philosophers/" TargetMode="Externa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s://www.cs.uic.edu/~jbell/CourseNotes/OperatingSystems/4_Threads.html" TargetMode="External"/><Relationship Id="rId11" Type="http://schemas.openxmlformats.org/officeDocument/2006/relationships/hyperlink" Target="https://eecs485staff.github.io/p4-mapreduce/threads-sockets.html" TargetMode="External"/><Relationship Id="rId5" Type="http://schemas.openxmlformats.org/officeDocument/2006/relationships/hyperlink" Target="https://www.informit.com/articles/article.aspx?p=25075&amp;seqNum=3" TargetMode="External"/><Relationship Id="rId15" Type="http://schemas.openxmlformats.org/officeDocument/2006/relationships/hyperlink" Target="https://www.iitk.ac.in/esc101/05Aug/tutorial/essential/threads/definition.html" TargetMode="External"/><Relationship Id="rId10" Type="http://schemas.openxmlformats.org/officeDocument/2006/relationships/hyperlink" Target="https://www.geeksforgeeks.org/socket-programming-multi-threading-python/" TargetMode="External"/><Relationship Id="rId19" Type="http://schemas.openxmlformats.org/officeDocument/2006/relationships/hyperlink" Target="https://www2.seas.gwu.edu/~mfeldman/papers/portable-diners.html" TargetMode="External"/><Relationship Id="rId4" Type="http://schemas.openxmlformats.org/officeDocument/2006/relationships/hyperlink" Target="https://developers.google.com/web/updates/2018/09/inside-browser-part2" TargetMode="External"/><Relationship Id="rId9" Type="http://schemas.openxmlformats.org/officeDocument/2006/relationships/hyperlink" Target="https://realpython.com/python-concurrency/" TargetMode="External"/><Relationship Id="rId14" Type="http://schemas.openxmlformats.org/officeDocument/2006/relationships/hyperlink" Target="https://applied-programming.github.io/Operating-Systems-Notes/3-Threads-and-Concurrency/" TargetMode="Externa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eas.upenn.edu/~cse39904/" TargetMode="External"/><Relationship Id="rId13" Type="http://schemas.openxmlformats.org/officeDocument/2006/relationships/hyperlink" Target="https://github.com/ZzCalvinzZ/dining_philosophers_web_workers" TargetMode="External"/><Relationship Id="rId18" Type="http://schemas.openxmlformats.org/officeDocument/2006/relationships/hyperlink" Target="https://github.com/tpn/pdfs" TargetMode="External"/><Relationship Id="rId3" Type="http://schemas.openxmlformats.org/officeDocument/2006/relationships/hyperlink" Target="https://github.com/fab327/JavaFX_DiningPhilosophers" TargetMode="External"/><Relationship Id="rId7" Type="http://schemas.openxmlformats.org/officeDocument/2006/relationships/hyperlink" Target="https://www.seas.upenn.edu/~cse39904/homework/hw06.pdf" TargetMode="External"/><Relationship Id="rId12" Type="http://schemas.openxmlformats.org/officeDocument/2006/relationships/hyperlink" Target="https://jnafolayan.github.io/dining-philosopher/" TargetMode="External"/><Relationship Id="rId17" Type="http://schemas.openxmlformats.org/officeDocument/2006/relationships/hyperlink" Target="https://adit.io/posts/2013-05-11-The-Dining-Philosophers-Problem-With-Ron-Swanson.html" TargetMode="External"/><Relationship Id="rId2" Type="http://schemas.openxmlformats.org/officeDocument/2006/relationships/notesSlide" Target="../notesSlides/notesSlide49.xml"/><Relationship Id="rId16" Type="http://schemas.openxmlformats.org/officeDocument/2006/relationships/hyperlink" Target="https://www.wikiwand.com/en/Dining_philosophers_problem" TargetMode="Externa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s://rosettacode.org/wiki/Dining_philosophers" TargetMode="External"/><Relationship Id="rId11" Type="http://schemas.openxmlformats.org/officeDocument/2006/relationships/hyperlink" Target="https://github.com/jnafolayan/dining-philosopher" TargetMode="External"/><Relationship Id="rId5" Type="http://schemas.openxmlformats.org/officeDocument/2006/relationships/hyperlink" Target="https://www.geeksforgeeks.org/dining-philosopher-problem-using-semaphores/" TargetMode="External"/><Relationship Id="rId15" Type="http://schemas.openxmlformats.org/officeDocument/2006/relationships/hyperlink" Target="https://github.com/lievi/dining_philosophers" TargetMode="External"/><Relationship Id="rId10" Type="http://schemas.openxmlformats.org/officeDocument/2006/relationships/hyperlink" Target="https://github.com/smonn/hungrythinkers" TargetMode="External"/><Relationship Id="rId19" Type="http://schemas.openxmlformats.org/officeDocument/2006/relationships/hyperlink" Target="https://jakegut.com/posts/sg-os/" TargetMode="External"/><Relationship Id="rId4" Type="http://schemas.openxmlformats.org/officeDocument/2006/relationships/hyperlink" Target="https://github.com/djunderw/dining-philosophers" TargetMode="External"/><Relationship Id="rId9" Type="http://schemas.openxmlformats.org/officeDocument/2006/relationships/hyperlink" Target="https://www.seas.upenn.edu/~cse39904/notes.html" TargetMode="External"/><Relationship Id="rId14" Type="http://schemas.openxmlformats.org/officeDocument/2006/relationships/hyperlink" Target="https://dev.to/vunderkind/the-dining-philosophers-problem-or-your-introduction-to-thinking-in-computer-science-8i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330991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Sistemas Operativos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200" b="1" dirty="0"/>
              <a:t>Clase</a:t>
            </a:r>
            <a:r>
              <a:rPr lang="es-ES" sz="3200" b="1" dirty="0">
                <a:ea typeface="Roboto"/>
                <a:cs typeface="Roboto"/>
                <a:sym typeface="Roboto"/>
              </a:rPr>
              <a:t> 16 – Estructuras de datos basadas en Locks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dirty="0"/>
              <a:t>21/05/2026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457200" y="96038"/>
            <a:ext cx="87634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clase anterior - Locks</a:t>
            </a:r>
            <a:endParaRPr dirty="0"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716182" y="1914352"/>
            <a:ext cx="4699200" cy="1937200"/>
            <a:chOff x="1231875" y="4742650"/>
            <a:chExt cx="4699200" cy="1937200"/>
          </a:xfrm>
        </p:grpSpPr>
        <p:pic>
          <p:nvPicPr>
            <p:cNvPr id="160" name="Google Shape;160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28288" y="4806473"/>
              <a:ext cx="384675" cy="536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67388" y="4742650"/>
              <a:ext cx="513925" cy="5437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2" name="Google Shape;162;p20"/>
            <p:cNvCxnSpPr/>
            <p:nvPr/>
          </p:nvCxnSpPr>
          <p:spPr>
            <a:xfrm>
              <a:off x="2649375" y="5701175"/>
              <a:ext cx="3281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3" name="Google Shape;163;p20"/>
            <p:cNvSpPr txBox="1"/>
            <p:nvPr/>
          </p:nvSpPr>
          <p:spPr>
            <a:xfrm>
              <a:off x="1231875" y="5470325"/>
              <a:ext cx="131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Thread </a:t>
              </a:r>
              <a:endParaRPr sz="1800" b="1">
                <a:solidFill>
                  <a:schemeClr val="dk1"/>
                </a:solidFill>
              </a:endParaRPr>
            </a:p>
          </p:txBody>
        </p:sp>
        <p:sp>
          <p:nvSpPr>
            <p:cNvPr id="164" name="Google Shape;164;p20"/>
            <p:cNvSpPr/>
            <p:nvPr/>
          </p:nvSpPr>
          <p:spPr>
            <a:xfrm>
              <a:off x="3216988" y="5617025"/>
              <a:ext cx="21036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165" name="Google Shape;165;p20"/>
            <p:cNvCxnSpPr/>
            <p:nvPr/>
          </p:nvCxnSpPr>
          <p:spPr>
            <a:xfrm flipH="1">
              <a:off x="3216875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66" name="Google Shape;166;p20"/>
            <p:cNvCxnSpPr/>
            <p:nvPr/>
          </p:nvCxnSpPr>
          <p:spPr>
            <a:xfrm flipH="1">
              <a:off x="5320600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67" name="Google Shape;167;p20"/>
            <p:cNvSpPr txBox="1"/>
            <p:nvPr/>
          </p:nvSpPr>
          <p:spPr>
            <a:xfrm>
              <a:off x="2729825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 </a:t>
              </a:r>
              <a:r>
                <a:rPr lang="es-ES" sz="16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(L)</a:t>
              </a:r>
              <a:endParaRPr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68" name="Google Shape;168;p20"/>
            <p:cNvSpPr txBox="1"/>
            <p:nvPr/>
          </p:nvSpPr>
          <p:spPr>
            <a:xfrm>
              <a:off x="4833550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unlock </a:t>
              </a:r>
              <a:r>
                <a:rPr lang="es-ES" sz="16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(U)</a:t>
              </a:r>
              <a:endParaRPr sz="1600" b="1">
                <a:solidFill>
                  <a:srgbClr val="0B6937"/>
                </a:solidFill>
              </a:endParaRPr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3875963" y="5006825"/>
              <a:ext cx="981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critical section</a:t>
              </a:r>
              <a:endParaRPr sz="1200" b="1">
                <a:solidFill>
                  <a:srgbClr val="0B6937"/>
                </a:solidFill>
              </a:endParaRPr>
            </a:p>
          </p:txBody>
        </p:sp>
      </p:grpSp>
      <p:sp>
        <p:nvSpPr>
          <p:cNvPr id="170" name="Google Shape;170;p20"/>
          <p:cNvSpPr txBox="1"/>
          <p:nvPr/>
        </p:nvSpPr>
        <p:spPr>
          <a:xfrm>
            <a:off x="1558500" y="4496400"/>
            <a:ext cx="3604500" cy="12513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dirty="0" err="1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adquire</a:t>
            </a:r>
            <a:r>
              <a:rPr lang="es-ES" sz="21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100" dirty="0">
                <a:solidFill>
                  <a:srgbClr val="FF000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1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100" dirty="0">
              <a:solidFill>
                <a:schemeClr val="dk1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Región crítica</a:t>
            </a:r>
            <a:endParaRPr sz="2100" b="1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release</a:t>
            </a:r>
            <a:r>
              <a:rPr lang="es-ES" sz="21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100" dirty="0">
                <a:solidFill>
                  <a:srgbClr val="FF0000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1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100"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6296075" y="1198375"/>
            <a:ext cx="5791800" cy="2989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Implementación de locks</a:t>
            </a:r>
            <a:r>
              <a:rPr lang="es-ES" sz="2400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:</a:t>
            </a:r>
            <a:endParaRPr sz="2400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Deshabilitar interrupciones.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Empleo de instrucciones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load/store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falla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Empleo de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test-and-set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Empleo de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compare-and-swap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Empleo de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Load link (LL)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RC </a:t>
            </a:r>
            <a:r>
              <a:rPr lang="es-ES" sz="20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Restore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condicional (RC)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Empleo de la instrucción </a:t>
            </a:r>
            <a:r>
              <a:rPr lang="es-ES" sz="20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fetch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-and-</a:t>
            </a:r>
            <a:r>
              <a:rPr lang="es-ES" sz="20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add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 →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Ticket lock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6169850" y="4496400"/>
            <a:ext cx="5721600" cy="16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Mejoras para disminuir el gasto de CPU</a:t>
            </a:r>
            <a:r>
              <a:rPr lang="es-ES" sz="2400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:</a:t>
            </a:r>
            <a:endParaRPr sz="2400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yield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()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en vez de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spin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Roboto"/>
              <a:buChar char="●"/>
            </a:pPr>
            <a:r>
              <a:rPr lang="es-ES" sz="2000" b="1" dirty="0" err="1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Queue</a:t>
            </a:r>
            <a:r>
              <a:rPr lang="es-ES" sz="20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 locks</a:t>
            </a:r>
            <a:r>
              <a:rPr lang="es-ES" sz="20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.</a:t>
            </a:r>
            <a:endParaRPr sz="2000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Lo que nos faltó por ver…</a:t>
            </a:r>
            <a:endParaRPr sz="2000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187" name="Google Shape;187;p22"/>
          <p:cNvSpPr txBox="1">
            <a:spLocks noGrp="1"/>
          </p:cNvSpPr>
          <p:nvPr>
            <p:ph type="body" idx="1"/>
          </p:nvPr>
        </p:nvSpPr>
        <p:spPr>
          <a:xfrm>
            <a:off x="514950" y="862736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5"/>
                </a:solidFill>
                <a:latin typeface="+mn-lt"/>
              </a:rPr>
              <a:t>Estructuras de datos concurrentes</a:t>
            </a:r>
            <a:endParaRPr sz="2800" b="1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+mn-lt"/>
            </a:endParaRPr>
          </a:p>
        </p:txBody>
      </p:sp>
      <p:sp>
        <p:nvSpPr>
          <p:cNvPr id="188" name="Google Shape;188;p22"/>
          <p:cNvSpPr txBox="1">
            <a:spLocks noGrp="1"/>
          </p:cNvSpPr>
          <p:nvPr>
            <p:ph type="body" idx="4294967295"/>
          </p:nvPr>
        </p:nvSpPr>
        <p:spPr>
          <a:xfrm>
            <a:off x="514950" y="1558925"/>
            <a:ext cx="11162100" cy="88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Incorporar un lock a una estructura de datos la hace </a:t>
            </a:r>
            <a:r>
              <a:rPr lang="es-ES" sz="2400" dirty="0">
                <a:solidFill>
                  <a:schemeClr val="accent2"/>
                </a:solidFill>
              </a:rPr>
              <a:t>“</a:t>
            </a:r>
            <a:r>
              <a:rPr lang="es-ES" sz="2400" b="1" dirty="0">
                <a:solidFill>
                  <a:schemeClr val="accent2"/>
                </a:solidFill>
              </a:rPr>
              <a:t>segura en hilos</a:t>
            </a:r>
            <a:r>
              <a:rPr lang="es-ES" sz="2400" dirty="0">
                <a:solidFill>
                  <a:schemeClr val="accent2"/>
                </a:solidFill>
              </a:rPr>
              <a:t>”</a:t>
            </a:r>
            <a:r>
              <a:rPr lang="es-ES" sz="2400" dirty="0"/>
              <a:t> (</a:t>
            </a:r>
            <a:r>
              <a:rPr lang="es-ES" sz="2400" b="1" dirty="0" err="1"/>
              <a:t>thread</a:t>
            </a:r>
            <a:r>
              <a:rPr lang="es-ES" sz="2400" b="1" dirty="0"/>
              <a:t> </a:t>
            </a:r>
            <a:r>
              <a:rPr lang="es-ES" sz="2400" b="1" dirty="0" err="1"/>
              <a:t>safe</a:t>
            </a:r>
            <a:r>
              <a:rPr lang="es-ES" sz="2400" dirty="0"/>
              <a:t>).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p22"/>
          <p:cNvSpPr txBox="1">
            <a:spLocks noGrp="1"/>
          </p:cNvSpPr>
          <p:nvPr>
            <p:ph type="body" idx="4294967295"/>
          </p:nvPr>
        </p:nvSpPr>
        <p:spPr>
          <a:xfrm>
            <a:off x="515275" y="4854575"/>
            <a:ext cx="11032712" cy="88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Agregar concurrencia en estructuras de datos es una disciplina ampliamente estudiada.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22"/>
          <p:cNvSpPr txBox="1"/>
          <p:nvPr/>
        </p:nvSpPr>
        <p:spPr>
          <a:xfrm>
            <a:off x="514950" y="2496762"/>
            <a:ext cx="10648500" cy="191331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Idea clave: ¿Cómo agregar locks a estructuras de datos?</a:t>
            </a:r>
            <a:endParaRPr sz="24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Funcionamiento correcto (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correctness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Cuando una estructura de datos particular es dada, ¿Como podríamos agregar locks para hacer que esta trabaje adecuadamente?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Rendimiento (performance)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Como agregar locks de tal manera que la estructura de datos permita que muchos procesos accedan a la estructura sin que el rendimiento caiga?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>
            <a:spLocks noGrp="1"/>
          </p:cNvSpPr>
          <p:nvPr>
            <p:ph type="title"/>
          </p:nvPr>
        </p:nvSpPr>
        <p:spPr>
          <a:xfrm>
            <a:off x="324465" y="292388"/>
            <a:ext cx="1079117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411763" y="1261275"/>
            <a:ext cx="6557100" cy="2000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¿Cómo hacer un contador 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thread-safe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?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ea typeface="Roboto"/>
                <a:cs typeface="Roboto"/>
                <a:sym typeface="Roboto"/>
              </a:rPr>
              <a:t>Siga el patrón básico</a:t>
            </a:r>
            <a:r>
              <a:rPr lang="es-ES" sz="2400" dirty="0">
                <a:ea typeface="Roboto"/>
                <a:cs typeface="Roboto"/>
                <a:sym typeface="Roboto"/>
              </a:rPr>
              <a:t>: 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AutoNum type="arabicPeriod"/>
            </a:pPr>
            <a:r>
              <a:rPr lang="es-ES" sz="2200" dirty="0">
                <a:ea typeface="Roboto"/>
                <a:cs typeface="Roboto"/>
                <a:sym typeface="Roboto"/>
              </a:rPr>
              <a:t>Agregar el lock y adquirirlo.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AutoNum type="arabicPeriod"/>
            </a:pPr>
            <a:r>
              <a:rPr lang="es-ES" sz="2200" dirty="0">
                <a:ea typeface="Roboto"/>
                <a:cs typeface="Roboto"/>
                <a:sym typeface="Roboto"/>
              </a:rPr>
              <a:t>Manipular la estructura de datos (Región crítica).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AutoNum type="arabicPeriod"/>
            </a:pPr>
            <a:r>
              <a:rPr lang="es-ES" sz="2200" dirty="0">
                <a:ea typeface="Roboto"/>
                <a:cs typeface="Roboto"/>
                <a:sym typeface="Roboto"/>
              </a:rPr>
              <a:t>Liberar el lock</a:t>
            </a:r>
            <a:endParaRPr dirty="0">
              <a:ea typeface="Roboto"/>
              <a:cs typeface="Roboto"/>
              <a:sym typeface="Roboto"/>
            </a:endParaRPr>
          </a:p>
        </p:txBody>
      </p:sp>
      <p:grpSp>
        <p:nvGrpSpPr>
          <p:cNvPr id="203" name="Google Shape;203;p24"/>
          <p:cNvGrpSpPr/>
          <p:nvPr/>
        </p:nvGrpSpPr>
        <p:grpSpPr>
          <a:xfrm>
            <a:off x="7280125" y="1830950"/>
            <a:ext cx="4699200" cy="1937200"/>
            <a:chOff x="1231875" y="4742650"/>
            <a:chExt cx="4699200" cy="1937200"/>
          </a:xfrm>
        </p:grpSpPr>
        <p:pic>
          <p:nvPicPr>
            <p:cNvPr id="204" name="Google Shape;20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28288" y="4806473"/>
              <a:ext cx="384675" cy="536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67388" y="4742650"/>
              <a:ext cx="513925" cy="5437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6" name="Google Shape;206;p24"/>
            <p:cNvCxnSpPr/>
            <p:nvPr/>
          </p:nvCxnSpPr>
          <p:spPr>
            <a:xfrm>
              <a:off x="2649375" y="5701175"/>
              <a:ext cx="3281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7" name="Google Shape;207;p24"/>
            <p:cNvSpPr txBox="1"/>
            <p:nvPr/>
          </p:nvSpPr>
          <p:spPr>
            <a:xfrm>
              <a:off x="1231875" y="5470325"/>
              <a:ext cx="131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Thread </a:t>
              </a:r>
              <a:endParaRPr sz="1800" b="1">
                <a:solidFill>
                  <a:schemeClr val="dk1"/>
                </a:solidFill>
              </a:endParaRPr>
            </a:p>
          </p:txBody>
        </p:sp>
        <p:sp>
          <p:nvSpPr>
            <p:cNvPr id="208" name="Google Shape;208;p24"/>
            <p:cNvSpPr/>
            <p:nvPr/>
          </p:nvSpPr>
          <p:spPr>
            <a:xfrm>
              <a:off x="3216988" y="5617025"/>
              <a:ext cx="21036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9" name="Google Shape;209;p24"/>
            <p:cNvCxnSpPr/>
            <p:nvPr/>
          </p:nvCxnSpPr>
          <p:spPr>
            <a:xfrm flipH="1">
              <a:off x="3216875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24"/>
            <p:cNvCxnSpPr/>
            <p:nvPr/>
          </p:nvCxnSpPr>
          <p:spPr>
            <a:xfrm flipH="1">
              <a:off x="5320600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11" name="Google Shape;211;p24"/>
            <p:cNvSpPr txBox="1"/>
            <p:nvPr/>
          </p:nvSpPr>
          <p:spPr>
            <a:xfrm>
              <a:off x="2729825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 </a:t>
              </a:r>
              <a:r>
                <a:rPr lang="es-ES" sz="16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(L)</a:t>
              </a:r>
              <a:endParaRPr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12" name="Google Shape;212;p24"/>
            <p:cNvSpPr txBox="1"/>
            <p:nvPr/>
          </p:nvSpPr>
          <p:spPr>
            <a:xfrm>
              <a:off x="4833550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unlock </a:t>
              </a:r>
              <a:r>
                <a:rPr lang="es-ES" sz="16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(U)</a:t>
              </a:r>
              <a:endParaRPr sz="1600" b="1">
                <a:solidFill>
                  <a:srgbClr val="0B6937"/>
                </a:solidFill>
              </a:endParaRPr>
            </a:p>
          </p:txBody>
        </p:sp>
        <p:sp>
          <p:nvSpPr>
            <p:cNvPr id="213" name="Google Shape;213;p24"/>
            <p:cNvSpPr txBox="1"/>
            <p:nvPr/>
          </p:nvSpPr>
          <p:spPr>
            <a:xfrm>
              <a:off x="3875963" y="5006825"/>
              <a:ext cx="981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critical section</a:t>
              </a:r>
              <a:endParaRPr sz="1200" b="1">
                <a:solidFill>
                  <a:srgbClr val="0B6937"/>
                </a:solidFill>
              </a:endParaRPr>
            </a:p>
          </p:txBody>
        </p:sp>
      </p:grpSp>
      <p:graphicFrame>
        <p:nvGraphicFramePr>
          <p:cNvPr id="214" name="Google Shape;214;p24"/>
          <p:cNvGraphicFramePr/>
          <p:nvPr/>
        </p:nvGraphicFramePr>
        <p:xfrm>
          <a:off x="2450288" y="4533413"/>
          <a:ext cx="2480050" cy="10221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5" name="Google Shape;215;p24"/>
          <p:cNvGraphicFramePr/>
          <p:nvPr/>
        </p:nvGraphicFramePr>
        <p:xfrm>
          <a:off x="7516000" y="4357188"/>
          <a:ext cx="2480050" cy="137268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4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</a:t>
                      </a:r>
                      <a:endParaRPr sz="2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endParaRPr sz="2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6" name="Google Shape;216;p24"/>
          <p:cNvSpPr/>
          <p:nvPr/>
        </p:nvSpPr>
        <p:spPr>
          <a:xfrm>
            <a:off x="5720775" y="4837250"/>
            <a:ext cx="1122000" cy="462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>
            <a:spLocks noGrp="1"/>
          </p:cNvSpPr>
          <p:nvPr>
            <p:ph type="title"/>
          </p:nvPr>
        </p:nvSpPr>
        <p:spPr>
          <a:xfrm>
            <a:off x="501445" y="231388"/>
            <a:ext cx="1086956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222" name="Google Shape;222;p25"/>
          <p:cNvSpPr txBox="1"/>
          <p:nvPr/>
        </p:nvSpPr>
        <p:spPr>
          <a:xfrm>
            <a:off x="501445" y="1180888"/>
            <a:ext cx="5751871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Contadores sin locks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/>
                <a:cs typeface="Roboto"/>
                <a:sym typeface="Roboto"/>
              </a:rPr>
              <a:t>No se protege el acceso a la región crítica:</a:t>
            </a:r>
            <a:endParaRPr sz="2400" b="1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Se producen condiciones de carrera.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No es </a:t>
            </a:r>
            <a:r>
              <a:rPr lang="es-ES" sz="2200" dirty="0" err="1">
                <a:ea typeface="Roboto"/>
                <a:cs typeface="Roboto"/>
                <a:sym typeface="Roboto"/>
              </a:rPr>
              <a:t>safe</a:t>
            </a:r>
            <a:r>
              <a:rPr lang="es-ES" sz="2200" dirty="0">
                <a:ea typeface="Roboto"/>
                <a:cs typeface="Roboto"/>
                <a:sym typeface="Roboto"/>
              </a:rPr>
              <a:t> </a:t>
            </a:r>
            <a:r>
              <a:rPr lang="es-ES" sz="2200" dirty="0" err="1">
                <a:ea typeface="Roboto"/>
                <a:cs typeface="Roboto"/>
                <a:sym typeface="Roboto"/>
              </a:rPr>
              <a:t>thread</a:t>
            </a:r>
            <a:r>
              <a:rPr lang="es-ES" sz="2200" dirty="0">
                <a:ea typeface="Roboto"/>
                <a:cs typeface="Roboto"/>
                <a:sym typeface="Roboto"/>
              </a:rPr>
              <a:t>.</a:t>
            </a:r>
            <a:endParaRPr sz="2400" b="1" dirty="0"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1552725" y="4964700"/>
            <a:ext cx="4083900" cy="99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struct __counter_t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value;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counter_t;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24" name="Google Shape;224;p25"/>
          <p:cNvGraphicFramePr/>
          <p:nvPr/>
        </p:nvGraphicFramePr>
        <p:xfrm>
          <a:off x="2354638" y="3311138"/>
          <a:ext cx="2480050" cy="8908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5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5" name="Google Shape;225;p25"/>
          <p:cNvSpPr txBox="1"/>
          <p:nvPr/>
        </p:nvSpPr>
        <p:spPr>
          <a:xfrm>
            <a:off x="7207350" y="1650415"/>
            <a:ext cx="4712400" cy="4395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struct __counter_t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int value;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counter_t;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init(counter_t *c)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c-&gt;value = 0;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increment(counter_t *c)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c-&gt;value++;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decrement(counter_t *c)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c-&gt;value--;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get(counter_t *c)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return c-&gt;value;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>
            <a:spLocks noGrp="1"/>
          </p:cNvSpPr>
          <p:nvPr>
            <p:ph type="title"/>
          </p:nvPr>
        </p:nvSpPr>
        <p:spPr>
          <a:xfrm>
            <a:off x="264375" y="97738"/>
            <a:ext cx="116632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231" name="Google Shape;231;p26"/>
          <p:cNvSpPr txBox="1"/>
          <p:nvPr/>
        </p:nvSpPr>
        <p:spPr>
          <a:xfrm>
            <a:off x="328050" y="958244"/>
            <a:ext cx="6557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Contadores sin locks</a:t>
            </a:r>
            <a:endParaRPr sz="2400" b="1"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232" name="Google Shape;232;p26"/>
          <p:cNvGraphicFramePr/>
          <p:nvPr>
            <p:extLst>
              <p:ext uri="{D42A27DB-BD31-4B8C-83A1-F6EECF244321}">
                <p14:modId xmlns:p14="http://schemas.microsoft.com/office/powerpoint/2010/main" val="433752395"/>
              </p:ext>
            </p:extLst>
          </p:nvPr>
        </p:nvGraphicFramePr>
        <p:xfrm>
          <a:off x="833338" y="2306007"/>
          <a:ext cx="1391875" cy="8908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9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5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33" name="Google Shape;233;p26"/>
          <p:cNvGrpSpPr/>
          <p:nvPr/>
        </p:nvGrpSpPr>
        <p:grpSpPr>
          <a:xfrm>
            <a:off x="6948825" y="993500"/>
            <a:ext cx="4978800" cy="5624100"/>
            <a:chOff x="7025025" y="917300"/>
            <a:chExt cx="4978800" cy="5624100"/>
          </a:xfrm>
        </p:grpSpPr>
        <p:sp>
          <p:nvSpPr>
            <p:cNvPr id="234" name="Google Shape;234;p26"/>
            <p:cNvSpPr txBox="1"/>
            <p:nvPr/>
          </p:nvSpPr>
          <p:spPr>
            <a:xfrm>
              <a:off x="7025025" y="917300"/>
              <a:ext cx="4978800" cy="5254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real_value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0;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counter_t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cnt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cnt_value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 {    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init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cnt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); 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i;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pthread_t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tid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[NUMTHREADS];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(i = 0; i &lt; NUMTHREADS; i++) {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tid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[i], NULL,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counting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&amp;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cnt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(i = 0; i &lt; NUMTHREADS; i++) {          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tid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[i], NULL);        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("-&gt; El contador debe quedar en:   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%d\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n",NUMTHREADS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*CNT_END);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("-&gt; El valor real del contador es: %d\n", 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get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cnt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));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2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0;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35" name="Google Shape;235;p26"/>
            <p:cNvSpPr txBox="1"/>
            <p:nvPr/>
          </p:nvSpPr>
          <p:spPr>
            <a:xfrm>
              <a:off x="8118350" y="6172100"/>
              <a:ext cx="3000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código. </a:t>
              </a:r>
              <a:r>
                <a:rPr lang="es-ES" sz="1200" u="sng" dirty="0" err="1">
                  <a:solidFill>
                    <a:schemeClr val="hlink"/>
                  </a:solidFill>
                  <a:latin typeface="Roboto"/>
                  <a:ea typeface="Roboto"/>
                  <a:cs typeface="Roboto"/>
                  <a:sym typeface="Roboto"/>
                  <a:hlinkClick r:id="rId3"/>
                </a:rPr>
                <a:t>counter_without_locks.c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6" name="Google Shape;236;p26"/>
          <p:cNvGrpSpPr/>
          <p:nvPr/>
        </p:nvGrpSpPr>
        <p:grpSpPr>
          <a:xfrm>
            <a:off x="2589925" y="1907744"/>
            <a:ext cx="3506074" cy="2013300"/>
            <a:chOff x="1878556" y="3211600"/>
            <a:chExt cx="3830100" cy="2013300"/>
          </a:xfrm>
        </p:grpSpPr>
        <p:sp>
          <p:nvSpPr>
            <p:cNvPr id="237" name="Google Shape;237;p26"/>
            <p:cNvSpPr txBox="1"/>
            <p:nvPr/>
          </p:nvSpPr>
          <p:spPr>
            <a:xfrm>
              <a:off x="1878556" y="3211600"/>
              <a:ext cx="3830100" cy="1644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*counting(void *cnt_t) { 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counter_t *r_cnt = (counter_t*)cnt_t;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for(int i = 0; i &lt; CNT_END; i++) {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	increment(r_cnt);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 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return NULL; 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8" name="Google Shape;238;p26"/>
            <p:cNvSpPr txBox="1"/>
            <p:nvPr/>
          </p:nvSpPr>
          <p:spPr>
            <a:xfrm>
              <a:off x="2293597" y="4855600"/>
              <a:ext cx="3000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Start routine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239" name="Google Shape;239;p26"/>
          <p:cNvGraphicFramePr/>
          <p:nvPr>
            <p:extLst>
              <p:ext uri="{D42A27DB-BD31-4B8C-83A1-F6EECF244321}">
                <p14:modId xmlns:p14="http://schemas.microsoft.com/office/powerpoint/2010/main" val="4285251482"/>
              </p:ext>
            </p:extLst>
          </p:nvPr>
        </p:nvGraphicFramePr>
        <p:xfrm>
          <a:off x="736949" y="4283907"/>
          <a:ext cx="5359050" cy="17547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0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1531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Prueba</a:t>
                      </a:r>
                      <a:endParaRPr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Número de hilos</a:t>
                      </a:r>
                      <a:endParaRPr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Valor esperado</a:t>
                      </a:r>
                      <a:endParaRPr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Valor obtenido</a:t>
                      </a:r>
                      <a:endParaRPr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  <a:ea typeface="Roboto"/>
                          <a:cs typeface="Roboto"/>
                          <a:sym typeface="Roboto"/>
                        </a:rPr>
                        <a:t>1000000</a:t>
                      </a:r>
                      <a:endParaRPr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  <a:ea typeface="Roboto"/>
                          <a:cs typeface="Roboto"/>
                          <a:sym typeface="Roboto"/>
                        </a:rPr>
                        <a:t>1000000</a:t>
                      </a:r>
                      <a:endParaRPr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+mn-lt"/>
                          <a:ea typeface="Roboto"/>
                          <a:cs typeface="Roboto"/>
                          <a:sym typeface="Roboto"/>
                        </a:rPr>
                        <a:t>8000000</a:t>
                      </a:r>
                      <a:endParaRPr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1162851</a:t>
                      </a:r>
                      <a:endParaRPr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>
            <a:spLocks noGrp="1"/>
          </p:cNvSpPr>
          <p:nvPr>
            <p:ph type="title"/>
          </p:nvPr>
        </p:nvSpPr>
        <p:spPr>
          <a:xfrm>
            <a:off x="339212" y="231388"/>
            <a:ext cx="1131201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245" name="Google Shape;245;p27"/>
          <p:cNvSpPr txBox="1"/>
          <p:nvPr/>
        </p:nvSpPr>
        <p:spPr>
          <a:xfrm>
            <a:off x="339212" y="1180888"/>
            <a:ext cx="6557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Contadores sin locks</a:t>
            </a:r>
            <a:endParaRPr sz="2400" b="1"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246" name="Google Shape;246;p27"/>
          <p:cNvGraphicFramePr/>
          <p:nvPr>
            <p:extLst>
              <p:ext uri="{D42A27DB-BD31-4B8C-83A1-F6EECF244321}">
                <p14:modId xmlns:p14="http://schemas.microsoft.com/office/powerpoint/2010/main" val="643028201"/>
              </p:ext>
            </p:extLst>
          </p:nvPr>
        </p:nvGraphicFramePr>
        <p:xfrm>
          <a:off x="2521314" y="2300565"/>
          <a:ext cx="1391875" cy="8908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9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5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7" name="Google Shape;247;p27"/>
          <p:cNvGraphicFramePr/>
          <p:nvPr>
            <p:extLst>
              <p:ext uri="{D42A27DB-BD31-4B8C-83A1-F6EECF244321}">
                <p14:modId xmlns:p14="http://schemas.microsoft.com/office/powerpoint/2010/main" val="1005367583"/>
              </p:ext>
            </p:extLst>
          </p:nvPr>
        </p:nvGraphicFramePr>
        <p:xfrm>
          <a:off x="1046475" y="3855475"/>
          <a:ext cx="4663325" cy="24953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5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Prueba</a:t>
                      </a:r>
                      <a:endParaRPr sz="12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Número de hilos</a:t>
                      </a:r>
                      <a:endParaRPr sz="12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Valor esperado</a:t>
                      </a:r>
                      <a:endParaRPr sz="12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Valor obtenido</a:t>
                      </a:r>
                      <a:endParaRPr sz="12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tiempo gastado (seg)</a:t>
                      </a:r>
                      <a:endParaRPr sz="12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0.004213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2000000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1030174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0.004213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4000000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1033970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0.025465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8000000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1309698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0.044530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2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16000000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1177806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0.088573</a:t>
                      </a:r>
                      <a:endParaRPr sz="12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>
            <a:spLocks noGrp="1"/>
          </p:cNvSpPr>
          <p:nvPr>
            <p:ph type="title"/>
          </p:nvPr>
        </p:nvSpPr>
        <p:spPr>
          <a:xfrm>
            <a:off x="368710" y="231388"/>
            <a:ext cx="10972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253" name="Google Shape;253;p28"/>
          <p:cNvSpPr txBox="1"/>
          <p:nvPr/>
        </p:nvSpPr>
        <p:spPr>
          <a:xfrm>
            <a:off x="368710" y="1180900"/>
            <a:ext cx="6312309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Contadores sin locks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/>
                <a:cs typeface="Roboto"/>
                <a:sym typeface="Roboto"/>
              </a:rPr>
              <a:t>No se protege el acceso a la región crítica:</a:t>
            </a:r>
            <a:endParaRPr sz="2400" b="1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Se producen condiciones de carrera.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No es </a:t>
            </a:r>
            <a:r>
              <a:rPr lang="es-ES" sz="2200" dirty="0" err="1">
                <a:ea typeface="Roboto"/>
                <a:cs typeface="Roboto"/>
                <a:sym typeface="Roboto"/>
              </a:rPr>
              <a:t>safe</a:t>
            </a:r>
            <a:r>
              <a:rPr lang="es-ES" sz="2200" dirty="0">
                <a:ea typeface="Roboto"/>
                <a:cs typeface="Roboto"/>
                <a:sym typeface="Roboto"/>
              </a:rPr>
              <a:t> </a:t>
            </a:r>
            <a:r>
              <a:rPr lang="es-ES" sz="2200" dirty="0" err="1">
                <a:ea typeface="Roboto"/>
                <a:cs typeface="Roboto"/>
                <a:sym typeface="Roboto"/>
              </a:rPr>
              <a:t>thread</a:t>
            </a:r>
            <a:r>
              <a:rPr lang="es-ES" sz="2200" dirty="0">
                <a:ea typeface="Roboto"/>
                <a:cs typeface="Roboto"/>
                <a:sym typeface="Roboto"/>
              </a:rPr>
              <a:t>.</a:t>
            </a:r>
            <a:endParaRPr sz="2400" b="1" dirty="0"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1552725" y="4964700"/>
            <a:ext cx="4083900" cy="99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struct __counter_t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value;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counter_t;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55" name="Google Shape;255;p28"/>
          <p:cNvGraphicFramePr/>
          <p:nvPr/>
        </p:nvGraphicFramePr>
        <p:xfrm>
          <a:off x="2354638" y="3311138"/>
          <a:ext cx="2480050" cy="8908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5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6" name="Google Shape;256;p28"/>
          <p:cNvSpPr txBox="1"/>
          <p:nvPr/>
        </p:nvSpPr>
        <p:spPr>
          <a:xfrm>
            <a:off x="7207350" y="1814875"/>
            <a:ext cx="4712400" cy="4395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struct __counter_t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int value;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counter_t;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init(counter_t *c)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c-&gt;value = 0;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increment(counter_t *c)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c-&gt;value++;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decrement(counter_t *c)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c-&gt;value--;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get(counter_t *c)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return c-&gt;value;</a:t>
            </a:r>
            <a:endParaRPr sz="16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 txBox="1">
            <a:spLocks noGrp="1"/>
          </p:cNvSpPr>
          <p:nvPr>
            <p:ph type="title"/>
          </p:nvPr>
        </p:nvSpPr>
        <p:spPr>
          <a:xfrm>
            <a:off x="309716" y="98950"/>
            <a:ext cx="1128745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262" name="Google Shape;262;p29"/>
          <p:cNvSpPr txBox="1"/>
          <p:nvPr/>
        </p:nvSpPr>
        <p:spPr>
          <a:xfrm>
            <a:off x="372225" y="1048450"/>
            <a:ext cx="6557100" cy="2000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Contadores con locks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/>
                <a:cs typeface="Roboto"/>
                <a:sym typeface="Roboto"/>
              </a:rPr>
              <a:t>Se protege el acceso a la región crítica</a:t>
            </a:r>
            <a:r>
              <a:rPr lang="es-ES" sz="2400" dirty="0">
                <a:ea typeface="Roboto"/>
                <a:cs typeface="Roboto"/>
                <a:sym typeface="Roboto"/>
              </a:rPr>
              <a:t>: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Se incorpora un único </a:t>
            </a:r>
            <a:r>
              <a:rPr lang="es-ES" sz="2200" b="1" dirty="0">
                <a:ea typeface="Roboto"/>
                <a:cs typeface="Roboto"/>
                <a:sym typeface="Roboto"/>
              </a:rPr>
              <a:t>lock </a:t>
            </a:r>
            <a:r>
              <a:rPr lang="es-ES" sz="2200" dirty="0">
                <a:ea typeface="Roboto"/>
                <a:cs typeface="Roboto"/>
                <a:sym typeface="Roboto"/>
              </a:rPr>
              <a:t>el cual protege el acceso al contador.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Es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safe</a:t>
            </a:r>
            <a:r>
              <a:rPr lang="es-ES" sz="2200" b="1" dirty="0">
                <a:ea typeface="Roboto"/>
                <a:cs typeface="Roboto"/>
                <a:sym typeface="Roboto"/>
              </a:rPr>
              <a:t> </a:t>
            </a:r>
            <a:r>
              <a:rPr lang="es-ES" sz="2200" b="1" dirty="0" err="1">
                <a:ea typeface="Roboto"/>
                <a:cs typeface="Roboto"/>
                <a:sym typeface="Roboto"/>
              </a:rPr>
              <a:t>thread</a:t>
            </a:r>
            <a:r>
              <a:rPr lang="es-ES" sz="2200" dirty="0">
                <a:ea typeface="Roboto"/>
                <a:cs typeface="Roboto"/>
                <a:sym typeface="Roboto"/>
              </a:rPr>
              <a:t>.</a:t>
            </a:r>
            <a:endParaRPr sz="2200"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263" name="Google Shape;263;p29"/>
          <p:cNvGraphicFramePr/>
          <p:nvPr/>
        </p:nvGraphicFramePr>
        <p:xfrm>
          <a:off x="2214750" y="3441575"/>
          <a:ext cx="2480050" cy="137268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4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</a:t>
                      </a:r>
                      <a:endParaRPr sz="2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endParaRPr sz="2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4" name="Google Shape;264;p29"/>
          <p:cNvSpPr txBox="1"/>
          <p:nvPr/>
        </p:nvSpPr>
        <p:spPr>
          <a:xfrm>
            <a:off x="1608825" y="5104950"/>
            <a:ext cx="4083900" cy="12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5" name="Google Shape;265;p29"/>
          <p:cNvSpPr txBox="1"/>
          <p:nvPr/>
        </p:nvSpPr>
        <p:spPr>
          <a:xfrm>
            <a:off x="7221375" y="1241900"/>
            <a:ext cx="4375800" cy="5042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*c) {</a:t>
            </a: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c-&gt;</a:t>
            </a:r>
            <a:r>
              <a:rPr lang="es-ES" sz="12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s-ES" sz="12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2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Pthread_mutex_init</a:t>
            </a: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(&amp;c-&gt;lock, NULL);</a:t>
            </a: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increment</a:t>
            </a: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*c) {</a:t>
            </a: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2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(&amp;c-&gt;lock);</a:t>
            </a:r>
            <a:endParaRPr sz="1200" dirty="0">
              <a:solidFill>
                <a:schemeClr val="dk1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c-&gt;</a:t>
            </a:r>
            <a:r>
              <a:rPr lang="es-ES" sz="12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s-ES" sz="12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++;</a:t>
            </a:r>
            <a:endParaRPr sz="12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2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(&amp;c-&gt;lock);</a:t>
            </a:r>
            <a:endParaRPr sz="1200" dirty="0">
              <a:solidFill>
                <a:schemeClr val="dk1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decrement</a:t>
            </a: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*c) {</a:t>
            </a: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2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(&amp;c-&gt;lock);</a:t>
            </a:r>
            <a:endParaRPr sz="1200" dirty="0">
              <a:solidFill>
                <a:schemeClr val="dk1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c-&gt;</a:t>
            </a:r>
            <a:r>
              <a:rPr lang="es-ES" sz="12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s-ES" sz="12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--;</a:t>
            </a:r>
            <a:endParaRPr sz="12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2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(&amp;c-&gt;lock);</a:t>
            </a:r>
            <a:endParaRPr sz="1200" dirty="0">
              <a:solidFill>
                <a:schemeClr val="dk1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*c) {</a:t>
            </a: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2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(&amp;c-&gt;lock);</a:t>
            </a:r>
            <a:endParaRPr sz="1200" dirty="0">
              <a:solidFill>
                <a:schemeClr val="dk1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rc</a:t>
            </a:r>
            <a:r>
              <a:rPr lang="es-ES" sz="12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= c-&gt;</a:t>
            </a:r>
            <a:r>
              <a:rPr lang="es-ES" sz="12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s-ES" sz="12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2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(&amp;c-&gt;lock);</a:t>
            </a:r>
            <a:endParaRPr sz="1200" dirty="0">
              <a:solidFill>
                <a:schemeClr val="dk1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rc</a:t>
            </a: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>
            <a:spLocks noGrp="1"/>
          </p:cNvSpPr>
          <p:nvPr>
            <p:ph type="title"/>
          </p:nvPr>
        </p:nvSpPr>
        <p:spPr>
          <a:xfrm>
            <a:off x="250723" y="173651"/>
            <a:ext cx="1094330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graphicFrame>
        <p:nvGraphicFramePr>
          <p:cNvPr id="271" name="Google Shape;271;p30"/>
          <p:cNvGraphicFramePr/>
          <p:nvPr/>
        </p:nvGraphicFramePr>
        <p:xfrm>
          <a:off x="1134500" y="1768863"/>
          <a:ext cx="1428200" cy="117126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2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72" name="Google Shape;272;p30"/>
          <p:cNvGrpSpPr/>
          <p:nvPr/>
        </p:nvGrpSpPr>
        <p:grpSpPr>
          <a:xfrm>
            <a:off x="2998762" y="1583800"/>
            <a:ext cx="3506074" cy="2013300"/>
            <a:chOff x="1878556" y="3211600"/>
            <a:chExt cx="3830100" cy="2013300"/>
          </a:xfrm>
        </p:grpSpPr>
        <p:sp>
          <p:nvSpPr>
            <p:cNvPr id="273" name="Google Shape;273;p30"/>
            <p:cNvSpPr txBox="1"/>
            <p:nvPr/>
          </p:nvSpPr>
          <p:spPr>
            <a:xfrm>
              <a:off x="1878556" y="3211600"/>
              <a:ext cx="3830100" cy="1644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*counting(void *cnt_t) { 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counter_t *r_cnt = (counter_t*)cnt_t;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for(int i = 0; i &lt; CNT_END; i++) {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	increment(r_cnt);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 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return NULL; 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4" name="Google Shape;274;p30"/>
            <p:cNvSpPr txBox="1"/>
            <p:nvPr/>
          </p:nvSpPr>
          <p:spPr>
            <a:xfrm>
              <a:off x="2293597" y="4855600"/>
              <a:ext cx="3000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Start routine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5" name="Google Shape;275;p30"/>
          <p:cNvGrpSpPr/>
          <p:nvPr/>
        </p:nvGrpSpPr>
        <p:grpSpPr>
          <a:xfrm>
            <a:off x="6856725" y="1003475"/>
            <a:ext cx="4670400" cy="5624100"/>
            <a:chOff x="6856725" y="1003475"/>
            <a:chExt cx="4670400" cy="5624100"/>
          </a:xfrm>
        </p:grpSpPr>
        <p:sp>
          <p:nvSpPr>
            <p:cNvPr id="276" name="Google Shape;276;p30"/>
            <p:cNvSpPr txBox="1"/>
            <p:nvPr/>
          </p:nvSpPr>
          <p:spPr>
            <a:xfrm>
              <a:off x="6856725" y="1003475"/>
              <a:ext cx="4670400" cy="5254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 real_value = 0;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counter_t cnt;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 cnt_value;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 main() {    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init(&amp;cnt); 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int i;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pthread_t tid[NUMTHREADS];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for(i = 0; i &lt; NUMTHREADS; i++) {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pthread_create(&amp;tid[i], NULL, counting, &amp;cnt);</a:t>
              </a:r>
              <a:endParaRPr sz="12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for(i = 0; i &lt; NUMTHREADS; i++) {          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pthread_join(tid[i], NULL); 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printf("-&gt; El contador debe quedar en:   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%d\n",NUMTHREADS*CNT_END);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printf("-&gt; El valor real del contador es: %d\n", 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get(&amp;cnt));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return 0;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7" name="Google Shape;277;p30"/>
            <p:cNvSpPr txBox="1"/>
            <p:nvPr/>
          </p:nvSpPr>
          <p:spPr>
            <a:xfrm>
              <a:off x="7992125" y="6258275"/>
              <a:ext cx="2525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Main function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278" name="Google Shape;278;p30"/>
          <p:cNvGraphicFramePr/>
          <p:nvPr>
            <p:extLst>
              <p:ext uri="{D42A27DB-BD31-4B8C-83A1-F6EECF244321}">
                <p14:modId xmlns:p14="http://schemas.microsoft.com/office/powerpoint/2010/main" val="1103180493"/>
              </p:ext>
            </p:extLst>
          </p:nvPr>
        </p:nvGraphicFramePr>
        <p:xfrm>
          <a:off x="1428625" y="3939025"/>
          <a:ext cx="4919650" cy="228505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2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Prueba</a:t>
                      </a:r>
                      <a:endParaRPr sz="12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Número de hilos</a:t>
                      </a:r>
                      <a:endParaRPr sz="12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Valor esperado</a:t>
                      </a:r>
                      <a:endParaRPr sz="12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Valor obtenido</a:t>
                      </a:r>
                      <a:endParaRPr sz="12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2000000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2000000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4000000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4000000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8000000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8000000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16000000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16000000</a:t>
                      </a:r>
                      <a:endParaRPr sz="12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 txBox="1">
            <a:spLocks noGrp="1"/>
          </p:cNvSpPr>
          <p:nvPr>
            <p:ph type="title"/>
          </p:nvPr>
        </p:nvSpPr>
        <p:spPr>
          <a:xfrm>
            <a:off x="804449" y="292388"/>
            <a:ext cx="1111224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graphicFrame>
        <p:nvGraphicFramePr>
          <p:cNvPr id="284" name="Google Shape;284;p31"/>
          <p:cNvGraphicFramePr/>
          <p:nvPr/>
        </p:nvGraphicFramePr>
        <p:xfrm>
          <a:off x="1134500" y="1768863"/>
          <a:ext cx="1428200" cy="117126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2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5" name="Google Shape;285;p31"/>
          <p:cNvGraphicFramePr/>
          <p:nvPr>
            <p:extLst>
              <p:ext uri="{D42A27DB-BD31-4B8C-83A1-F6EECF244321}">
                <p14:modId xmlns:p14="http://schemas.microsoft.com/office/powerpoint/2010/main" val="1316047814"/>
              </p:ext>
            </p:extLst>
          </p:nvPr>
        </p:nvGraphicFramePr>
        <p:xfrm>
          <a:off x="1046475" y="3855475"/>
          <a:ext cx="4663325" cy="24953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5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Prueba</a:t>
                      </a:r>
                      <a:endParaRPr sz="12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Número de hilos</a:t>
                      </a:r>
                      <a:endParaRPr sz="12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Valor esperado</a:t>
                      </a:r>
                      <a:endParaRPr sz="12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Valor obtenido</a:t>
                      </a:r>
                      <a:endParaRPr sz="12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tiempo gastado (seg)</a:t>
                      </a:r>
                      <a:endParaRPr sz="12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0.019288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2000000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2000000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0.080396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4000000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4000000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0.173779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8000000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8000000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0.331235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16000000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16000000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0.678422</a:t>
                      </a:r>
                      <a:endParaRPr sz="12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"/>
          <p:cNvSpPr txBox="1">
            <a:spLocks noGrp="1"/>
          </p:cNvSpPr>
          <p:nvPr>
            <p:ph type="title"/>
          </p:nvPr>
        </p:nvSpPr>
        <p:spPr>
          <a:xfrm>
            <a:off x="314886" y="147250"/>
            <a:ext cx="1126259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graphicFrame>
        <p:nvGraphicFramePr>
          <p:cNvPr id="291" name="Google Shape;291;p32"/>
          <p:cNvGraphicFramePr/>
          <p:nvPr>
            <p:extLst>
              <p:ext uri="{D42A27DB-BD31-4B8C-83A1-F6EECF244321}">
                <p14:modId xmlns:p14="http://schemas.microsoft.com/office/powerpoint/2010/main" val="3121811159"/>
              </p:ext>
            </p:extLst>
          </p:nvPr>
        </p:nvGraphicFramePr>
        <p:xfrm>
          <a:off x="9838371" y="1160417"/>
          <a:ext cx="1428200" cy="117126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2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2" name="Google Shape;292;p32"/>
          <p:cNvSpPr txBox="1"/>
          <p:nvPr/>
        </p:nvSpPr>
        <p:spPr>
          <a:xfrm>
            <a:off x="292300" y="915067"/>
            <a:ext cx="9235158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Análisis de desempeño – Contador con locks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Cada hilo actualiza un contador compartido.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2200" dirty="0">
                <a:ea typeface="Roboto"/>
                <a:cs typeface="Roboto"/>
                <a:sym typeface="Roboto"/>
              </a:rPr>
              <a:t>Se actualiza un millón de veces.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2200" dirty="0">
                <a:ea typeface="Roboto"/>
                <a:cs typeface="Roboto"/>
                <a:sym typeface="Roboto"/>
              </a:rPr>
              <a:t>Máquina de test (</a:t>
            </a:r>
            <a:r>
              <a:rPr lang="es-ES" sz="2200" dirty="0" err="1">
                <a:ea typeface="Roboto"/>
                <a:cs typeface="Roboto"/>
                <a:sym typeface="Roboto"/>
              </a:rPr>
              <a:t>Remzi</a:t>
            </a:r>
            <a:r>
              <a:rPr lang="es-ES" sz="2200" dirty="0">
                <a:ea typeface="Roboto"/>
                <a:cs typeface="Roboto"/>
                <a:sym typeface="Roboto"/>
              </a:rPr>
              <a:t>): iMac con 4 Intel 2.7GHz i5 </a:t>
            </a:r>
            <a:r>
              <a:rPr lang="es-ES" sz="2200" dirty="0" err="1">
                <a:ea typeface="Roboto"/>
                <a:cs typeface="Roboto"/>
                <a:sym typeface="Roboto"/>
              </a:rPr>
              <a:t>CPUs</a:t>
            </a:r>
            <a:r>
              <a:rPr lang="es-ES" sz="2200" dirty="0">
                <a:ea typeface="Roboto"/>
                <a:cs typeface="Roboto"/>
                <a:sym typeface="Roboto"/>
              </a:rPr>
              <a:t>.</a:t>
            </a:r>
            <a:endParaRPr sz="2200" b="1" dirty="0">
              <a:ea typeface="Roboto"/>
              <a:cs typeface="Roboto"/>
              <a:sym typeface="Roboto"/>
            </a:endParaRPr>
          </a:p>
        </p:txBody>
      </p:sp>
      <p:grpSp>
        <p:nvGrpSpPr>
          <p:cNvPr id="293" name="Google Shape;293;p32"/>
          <p:cNvGrpSpPr/>
          <p:nvPr/>
        </p:nvGrpSpPr>
        <p:grpSpPr>
          <a:xfrm>
            <a:off x="1548750" y="2733900"/>
            <a:ext cx="4702601" cy="4033875"/>
            <a:chOff x="2212100" y="2824125"/>
            <a:chExt cx="4702601" cy="4033875"/>
          </a:xfrm>
        </p:grpSpPr>
        <p:pic>
          <p:nvPicPr>
            <p:cNvPr id="294" name="Google Shape;294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12100" y="2824125"/>
              <a:ext cx="4702601" cy="353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32"/>
            <p:cNvSpPr txBox="1"/>
            <p:nvPr/>
          </p:nvSpPr>
          <p:spPr>
            <a:xfrm>
              <a:off x="2831700" y="6306900"/>
              <a:ext cx="3752100" cy="55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Performance </a:t>
              </a:r>
              <a:r>
                <a:rPr lang="es-ES" sz="1200" b="1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of</a:t>
              </a:r>
              <a:r>
                <a:rPr lang="es-ES" sz="12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1200" b="1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Traditional</a:t>
              </a:r>
              <a:r>
                <a:rPr lang="es-ES" sz="12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vs. </a:t>
              </a:r>
              <a:r>
                <a:rPr lang="es-ES" sz="1200" b="1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Sloppy</a:t>
              </a:r>
              <a:r>
                <a:rPr lang="es-ES" sz="12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Counters</a:t>
              </a:r>
              <a:endParaRPr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lang="es-ES" sz="1000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Threshold</a:t>
              </a:r>
              <a:r>
                <a:rPr lang="es-ES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1000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of</a:t>
              </a:r>
              <a:r>
                <a:rPr lang="es-ES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1000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Sloppy</a:t>
              </a:r>
              <a:r>
                <a:rPr lang="es-ES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, </a:t>
              </a:r>
              <a:r>
                <a:rPr lang="es-ES" sz="1000" i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lang="es-ES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, </a:t>
              </a:r>
              <a:r>
                <a:rPr lang="es-ES" sz="1000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is</a:t>
              </a:r>
              <a:r>
                <a:rPr lang="es-ES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set </a:t>
              </a:r>
              <a:r>
                <a:rPr lang="es-ES" sz="1000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to</a:t>
              </a:r>
              <a:r>
                <a:rPr lang="es-ES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1024)</a:t>
              </a:r>
              <a:endParaRPr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96" name="Google Shape;296;p32"/>
          <p:cNvSpPr/>
          <p:nvPr/>
        </p:nvSpPr>
        <p:spPr>
          <a:xfrm>
            <a:off x="6379900" y="4116400"/>
            <a:ext cx="5483400" cy="687300"/>
          </a:xfrm>
          <a:prstGeom prst="roundRect">
            <a:avLst>
              <a:gd name="adj" fmla="val 2244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Roboto"/>
                <a:ea typeface="Roboto"/>
                <a:cs typeface="Roboto"/>
                <a:sym typeface="Roboto"/>
              </a:rPr>
              <a:t>El contador sincronizado</a:t>
            </a:r>
            <a:r>
              <a:rPr lang="es-ES" sz="20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20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escala pobremente</a:t>
            </a:r>
            <a:r>
              <a:rPr lang="es-ES" sz="2000">
                <a:latin typeface="Roboto"/>
                <a:ea typeface="Roboto"/>
                <a:cs typeface="Roboto"/>
                <a:sym typeface="Roboto"/>
              </a:rPr>
              <a:t>.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/>
          <p:cNvSpPr txBox="1">
            <a:spLocks noGrp="1"/>
          </p:cNvSpPr>
          <p:nvPr>
            <p:ph type="title"/>
          </p:nvPr>
        </p:nvSpPr>
        <p:spPr>
          <a:xfrm>
            <a:off x="309716" y="147238"/>
            <a:ext cx="1157748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302" name="Google Shape;302;p33"/>
          <p:cNvSpPr txBox="1"/>
          <p:nvPr/>
        </p:nvSpPr>
        <p:spPr>
          <a:xfrm>
            <a:off x="324299" y="963436"/>
            <a:ext cx="6179739" cy="301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Análisis de desempeño – Contador con locks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b="1" dirty="0">
                <a:ea typeface="Roboto"/>
                <a:cs typeface="Roboto"/>
                <a:sym typeface="Roboto"/>
              </a:rPr>
              <a:t>Conclusión</a:t>
            </a:r>
            <a:r>
              <a:rPr lang="es-ES" sz="2000" dirty="0">
                <a:ea typeface="Roboto"/>
                <a:cs typeface="Roboto"/>
                <a:sym typeface="Roboto"/>
              </a:rPr>
              <a:t>: El contador sincronizado escala pobremente.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b="1" dirty="0">
                <a:ea typeface="Roboto"/>
                <a:cs typeface="Roboto"/>
                <a:sym typeface="Roboto"/>
              </a:rPr>
              <a:t>Objetivo</a:t>
            </a:r>
            <a:r>
              <a:rPr lang="es-ES" sz="2000" dirty="0">
                <a:ea typeface="Roboto"/>
                <a:cs typeface="Roboto"/>
                <a:sym typeface="Roboto"/>
              </a:rPr>
              <a:t>: ¿Cómo lograr un </a:t>
            </a:r>
            <a:r>
              <a:rPr lang="es-ES" sz="2000" dirty="0" err="1">
                <a:ea typeface="Roboto"/>
                <a:cs typeface="Roboto"/>
                <a:sym typeface="Roboto"/>
              </a:rPr>
              <a:t>scaling</a:t>
            </a:r>
            <a:r>
              <a:rPr lang="es-ES" sz="2000" dirty="0">
                <a:ea typeface="Roboto"/>
                <a:cs typeface="Roboto"/>
                <a:sym typeface="Roboto"/>
              </a:rPr>
              <a:t> perfecto?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1800" dirty="0">
                <a:ea typeface="Roboto"/>
                <a:cs typeface="Roboto"/>
                <a:sym typeface="Roboto"/>
              </a:rPr>
              <a:t>A pesar de que se hace más trabajo, se hace en paralelo.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1800" dirty="0">
                <a:ea typeface="Roboto"/>
                <a:cs typeface="Roboto"/>
                <a:sym typeface="Roboto"/>
              </a:rPr>
              <a:t>El tiempo que toma realizar la tarea completa no debería incrementar.</a:t>
            </a:r>
            <a:endParaRPr sz="1800" dirty="0">
              <a:ea typeface="Roboto"/>
              <a:cs typeface="Roboto"/>
              <a:sym typeface="Roboto"/>
            </a:endParaRPr>
          </a:p>
        </p:txBody>
      </p:sp>
      <p:pic>
        <p:nvPicPr>
          <p:cNvPr id="303" name="Google Shape;30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459" y="4022075"/>
            <a:ext cx="3377000" cy="2541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33"/>
          <p:cNvGrpSpPr/>
          <p:nvPr/>
        </p:nvGrpSpPr>
        <p:grpSpPr>
          <a:xfrm>
            <a:off x="6772675" y="987575"/>
            <a:ext cx="5245793" cy="5575800"/>
            <a:chOff x="6856725" y="835175"/>
            <a:chExt cx="4670400" cy="5575800"/>
          </a:xfrm>
        </p:grpSpPr>
        <p:sp>
          <p:nvSpPr>
            <p:cNvPr id="305" name="Google Shape;305;p33"/>
            <p:cNvSpPr txBox="1"/>
            <p:nvPr/>
          </p:nvSpPr>
          <p:spPr>
            <a:xfrm>
              <a:off x="6856725" y="835175"/>
              <a:ext cx="4670400" cy="5221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 main() {  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Declaration of struct timeval variables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struct timeval start, end;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long int time_elapsed;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init(&amp;cnt); 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int i;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pthread_t tid[NUMTHREADS];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Get the start time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1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gettimeofday(&amp;start, NULL); </a:t>
              </a:r>
              <a:endParaRPr sz="11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for(i = 0; i &lt; NUMTHREADS; i++) {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1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pthread_create(&amp;tid[i], NULL, counting, &amp;cnt);</a:t>
              </a:r>
              <a:endParaRPr sz="11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for(i = 0; i &lt; NUMTHREADS; i++) {          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1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pthread_join(tid[i], NULL); </a:t>
              </a: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Get the end time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1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gettimeofday(&amp;end, NULL);</a:t>
              </a: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time_elapsed = ((end.tv_sec*1000000 + end.tv_usec) 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       - (start.tv_sec*1000000 + start.tv_usec));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...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return 0;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06" name="Google Shape;306;p33"/>
            <p:cNvSpPr txBox="1"/>
            <p:nvPr/>
          </p:nvSpPr>
          <p:spPr>
            <a:xfrm>
              <a:off x="7929380" y="6056975"/>
              <a:ext cx="25251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código. </a:t>
              </a:r>
              <a:r>
                <a:rPr lang="es-ES" sz="1100" u="sng" dirty="0" err="1">
                  <a:solidFill>
                    <a:schemeClr val="hlink"/>
                  </a:solidFill>
                  <a:latin typeface="Roboto"/>
                  <a:ea typeface="Roboto"/>
                  <a:cs typeface="Roboto"/>
                  <a:sym typeface="Roboto"/>
                  <a:hlinkClick r:id="rId4"/>
                </a:rPr>
                <a:t>counter_without_locks.c</a:t>
              </a:r>
              <a:endParaRPr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"/>
          <p:cNvSpPr txBox="1">
            <a:spLocks noGrp="1"/>
          </p:cNvSpPr>
          <p:nvPr>
            <p:ph type="title"/>
          </p:nvPr>
        </p:nvSpPr>
        <p:spPr>
          <a:xfrm>
            <a:off x="339213" y="147238"/>
            <a:ext cx="110451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312" name="Google Shape;312;p34"/>
          <p:cNvSpPr txBox="1"/>
          <p:nvPr/>
        </p:nvSpPr>
        <p:spPr>
          <a:xfrm>
            <a:off x="339213" y="910325"/>
            <a:ext cx="11045100" cy="2000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 aproximado (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Sloppy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counter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ea typeface="Roboto"/>
                <a:cs typeface="Roboto"/>
                <a:sym typeface="Roboto"/>
              </a:rPr>
              <a:t>Implementación:</a:t>
            </a:r>
            <a:endParaRPr sz="2400" b="1" dirty="0"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Un contador lógico se implementa a través de múltiples contadores físicos, uno por </a:t>
            </a:r>
            <a:r>
              <a:rPr lang="es-ES" sz="2200" dirty="0" err="1">
                <a:ea typeface="Roboto"/>
                <a:cs typeface="Roboto"/>
                <a:sym typeface="Roboto"/>
              </a:rPr>
              <a:t>core</a:t>
            </a:r>
            <a:r>
              <a:rPr lang="es-ES" sz="2200" dirty="0">
                <a:ea typeface="Roboto"/>
                <a:cs typeface="Roboto"/>
                <a:sym typeface="Roboto"/>
              </a:rPr>
              <a:t>.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Un contador global.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Locks: Uno por contador local y uno para el contador global</a:t>
            </a:r>
            <a:endParaRPr sz="2200" b="1"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313" name="Google Shape;313;p34"/>
          <p:cNvGraphicFramePr/>
          <p:nvPr>
            <p:extLst>
              <p:ext uri="{D42A27DB-BD31-4B8C-83A1-F6EECF244321}">
                <p14:modId xmlns:p14="http://schemas.microsoft.com/office/powerpoint/2010/main" val="4222157843"/>
              </p:ext>
            </p:extLst>
          </p:nvPr>
        </p:nvGraphicFramePr>
        <p:xfrm>
          <a:off x="887580" y="3368325"/>
          <a:ext cx="2283450" cy="221837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8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2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global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glock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local[NUMCPU]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llock[NUMCPU]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threshold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Google Shape;314;p34"/>
          <p:cNvSpPr txBox="1"/>
          <p:nvPr/>
        </p:nvSpPr>
        <p:spPr>
          <a:xfrm>
            <a:off x="3904855" y="3429000"/>
            <a:ext cx="7277400" cy="213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global;                       // global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          // global lock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local[NUMCPUS];               // local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(per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cpu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[NUMCPUS];   // ... and locks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threshold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                  //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frequency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"/>
          <p:cNvSpPr txBox="1">
            <a:spLocks noGrp="1"/>
          </p:cNvSpPr>
          <p:nvPr>
            <p:ph type="title"/>
          </p:nvPr>
        </p:nvSpPr>
        <p:spPr>
          <a:xfrm>
            <a:off x="221226" y="147238"/>
            <a:ext cx="110451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320" name="Google Shape;320;p35"/>
          <p:cNvSpPr txBox="1"/>
          <p:nvPr/>
        </p:nvSpPr>
        <p:spPr>
          <a:xfrm>
            <a:off x="327438" y="956565"/>
            <a:ext cx="11045100" cy="4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 aproximado (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Sloppy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counter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Cuando un hilo desea </a:t>
            </a:r>
            <a:r>
              <a:rPr lang="es-ES" sz="2400" b="1" dirty="0">
                <a:ea typeface="Roboto"/>
                <a:cs typeface="Roboto"/>
                <a:sym typeface="Roboto"/>
              </a:rPr>
              <a:t>incrementar el contador</a:t>
            </a:r>
            <a:r>
              <a:rPr lang="es-ES" sz="2400" dirty="0">
                <a:ea typeface="Roboto"/>
                <a:cs typeface="Roboto"/>
                <a:sym typeface="Roboto"/>
              </a:rPr>
              <a:t>: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○"/>
            </a:pPr>
            <a:r>
              <a:rPr lang="es-ES" sz="2400" dirty="0">
                <a:ea typeface="Roboto"/>
                <a:cs typeface="Roboto"/>
                <a:sym typeface="Roboto"/>
              </a:rPr>
              <a:t>Incrementa solo el </a:t>
            </a: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 local</a:t>
            </a:r>
            <a:r>
              <a:rPr lang="es-ES" sz="2400" dirty="0">
                <a:ea typeface="Roboto"/>
                <a:cs typeface="Roboto"/>
                <a:sym typeface="Roboto"/>
              </a:rPr>
              <a:t> (</a:t>
            </a:r>
            <a:r>
              <a:rPr lang="es-ES" sz="2400" dirty="0">
                <a:ea typeface="Consolas"/>
                <a:cs typeface="Consolas"/>
                <a:sym typeface="Consolas"/>
              </a:rPr>
              <a:t>local[</a:t>
            </a:r>
            <a:r>
              <a:rPr lang="es-ES" sz="2400" dirty="0" err="1">
                <a:ea typeface="Consolas"/>
                <a:cs typeface="Consolas"/>
                <a:sym typeface="Consolas"/>
              </a:rPr>
              <a:t>cpu_i</a:t>
            </a:r>
            <a:r>
              <a:rPr lang="es-ES" sz="2400" dirty="0">
                <a:ea typeface="Consolas"/>
                <a:cs typeface="Consolas"/>
                <a:sym typeface="Consolas"/>
              </a:rPr>
              <a:t>]</a:t>
            </a:r>
            <a:r>
              <a:rPr lang="es-ES" sz="2400" dirty="0">
                <a:ea typeface="Roboto"/>
                <a:cs typeface="Roboto"/>
                <a:sym typeface="Roboto"/>
              </a:rPr>
              <a:t>).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○"/>
            </a:pPr>
            <a:r>
              <a:rPr lang="es-ES" sz="2400" dirty="0">
                <a:ea typeface="Roboto"/>
                <a:cs typeface="Roboto"/>
                <a:sym typeface="Roboto"/>
              </a:rPr>
              <a:t>Cada CPU tiene su </a:t>
            </a: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 local</a:t>
            </a:r>
            <a:r>
              <a:rPr lang="es-ES" sz="2400" dirty="0">
                <a:ea typeface="Roboto"/>
                <a:cs typeface="Roboto"/>
                <a:sym typeface="Roboto"/>
              </a:rPr>
              <a:t> (</a:t>
            </a:r>
            <a:r>
              <a:rPr lang="es-ES" sz="2400" dirty="0">
                <a:ea typeface="Consolas"/>
                <a:cs typeface="Consolas"/>
                <a:sym typeface="Consolas"/>
              </a:rPr>
              <a:t>local[</a:t>
            </a:r>
            <a:r>
              <a:rPr lang="es-ES" sz="2400" dirty="0" err="1">
                <a:ea typeface="Consolas"/>
                <a:cs typeface="Consolas"/>
                <a:sym typeface="Consolas"/>
              </a:rPr>
              <a:t>cpu_i</a:t>
            </a:r>
            <a:r>
              <a:rPr lang="es-ES" sz="2400" dirty="0">
                <a:ea typeface="Consolas"/>
                <a:cs typeface="Consolas"/>
                <a:sym typeface="Consolas"/>
              </a:rPr>
              <a:t>]</a:t>
            </a:r>
            <a:r>
              <a:rPr lang="es-ES" sz="2400" dirty="0">
                <a:ea typeface="Roboto"/>
                <a:cs typeface="Roboto"/>
                <a:sym typeface="Roboto"/>
              </a:rPr>
              <a:t>).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■"/>
            </a:pPr>
            <a:r>
              <a:rPr lang="es-ES" sz="2400" dirty="0">
                <a:ea typeface="Roboto"/>
                <a:cs typeface="Roboto"/>
                <a:sym typeface="Roboto"/>
              </a:rPr>
              <a:t>Hilos corriendo en</a:t>
            </a:r>
            <a:r>
              <a:rPr lang="es-ES" sz="2400" b="1" dirty="0">
                <a:ea typeface="Roboto"/>
                <a:cs typeface="Roboto"/>
                <a:sym typeface="Roboto"/>
              </a:rPr>
              <a:t> </a:t>
            </a:r>
            <a:r>
              <a:rPr lang="es-ES" sz="24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diferentes </a:t>
            </a:r>
            <a:r>
              <a:rPr lang="es-ES" sz="24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CPUs</a:t>
            </a:r>
            <a:r>
              <a:rPr lang="es-ES" sz="2400" dirty="0">
                <a:ea typeface="Roboto"/>
                <a:cs typeface="Roboto"/>
                <a:sym typeface="Roboto"/>
              </a:rPr>
              <a:t> pueden actualizar su contador sin competencia.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■"/>
            </a:pPr>
            <a:r>
              <a:rPr lang="es-ES" sz="2400" dirty="0">
                <a:ea typeface="Roboto"/>
                <a:cs typeface="Roboto"/>
                <a:sym typeface="Roboto"/>
              </a:rPr>
              <a:t>La actualización de los contadores </a:t>
            </a:r>
            <a:r>
              <a:rPr lang="es-ES" sz="24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“escala”</a:t>
            </a:r>
            <a:r>
              <a:rPr lang="es-ES" sz="2400" dirty="0">
                <a:ea typeface="Roboto"/>
                <a:cs typeface="Roboto"/>
                <a:sym typeface="Roboto"/>
              </a:rPr>
              <a:t> adecuadamente.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Los valores del contador local (</a:t>
            </a:r>
            <a:r>
              <a:rPr lang="es-ES" sz="2400" dirty="0">
                <a:ea typeface="Consolas"/>
                <a:cs typeface="Consolas"/>
                <a:sym typeface="Consolas"/>
              </a:rPr>
              <a:t>local[</a:t>
            </a:r>
            <a:r>
              <a:rPr lang="es-ES" sz="2400" dirty="0" err="1">
                <a:ea typeface="Consolas"/>
                <a:cs typeface="Consolas"/>
                <a:sym typeface="Consolas"/>
              </a:rPr>
              <a:t>cpu_i</a:t>
            </a:r>
            <a:r>
              <a:rPr lang="es-ES" sz="2400" dirty="0">
                <a:ea typeface="Consolas"/>
                <a:cs typeface="Consolas"/>
                <a:sym typeface="Consolas"/>
              </a:rPr>
              <a:t>]</a:t>
            </a:r>
            <a:r>
              <a:rPr lang="es-ES" sz="2400" dirty="0">
                <a:ea typeface="Roboto"/>
                <a:cs typeface="Roboto"/>
                <a:sym typeface="Roboto"/>
              </a:rPr>
              <a:t>). se envían al contador global (</a:t>
            </a:r>
            <a:r>
              <a:rPr lang="es-ES" sz="2400" dirty="0">
                <a:ea typeface="Consolas"/>
                <a:cs typeface="Consolas"/>
                <a:sym typeface="Consolas"/>
              </a:rPr>
              <a:t>global</a:t>
            </a:r>
            <a:r>
              <a:rPr lang="es-ES" sz="2400" dirty="0">
                <a:ea typeface="Roboto"/>
                <a:cs typeface="Roboto"/>
                <a:sym typeface="Roboto"/>
              </a:rPr>
              <a:t>) periódicamente.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○"/>
            </a:pPr>
            <a:r>
              <a:rPr lang="es-ES" sz="2400" dirty="0">
                <a:ea typeface="Roboto"/>
                <a:cs typeface="Roboto"/>
                <a:sym typeface="Roboto"/>
              </a:rPr>
              <a:t>Adquiere el lock global (</a:t>
            </a:r>
            <a:r>
              <a:rPr lang="es-ES" sz="2400" dirty="0" err="1">
                <a:ea typeface="Consolas"/>
                <a:cs typeface="Consolas"/>
                <a:sym typeface="Consolas"/>
              </a:rPr>
              <a:t>glock</a:t>
            </a:r>
            <a:r>
              <a:rPr lang="es-ES" sz="2400" dirty="0">
                <a:ea typeface="Roboto"/>
                <a:cs typeface="Roboto"/>
                <a:sym typeface="Roboto"/>
              </a:rPr>
              <a:t>).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○"/>
            </a:pPr>
            <a:r>
              <a:rPr lang="es-ES" sz="2400" dirty="0">
                <a:ea typeface="Roboto"/>
                <a:cs typeface="Roboto"/>
                <a:sym typeface="Roboto"/>
              </a:rPr>
              <a:t>Incrementa el valor de acuerdo al contador local (</a:t>
            </a:r>
            <a:r>
              <a:rPr lang="es-ES" sz="2400" dirty="0">
                <a:ea typeface="Consolas"/>
                <a:cs typeface="Consolas"/>
                <a:sym typeface="Consolas"/>
              </a:rPr>
              <a:t>local[</a:t>
            </a:r>
            <a:r>
              <a:rPr lang="es-ES" sz="2400" dirty="0" err="1">
                <a:ea typeface="Consolas"/>
                <a:cs typeface="Consolas"/>
                <a:sym typeface="Consolas"/>
              </a:rPr>
              <a:t>cpu_i</a:t>
            </a:r>
            <a:r>
              <a:rPr lang="es-ES" sz="2400" dirty="0">
                <a:ea typeface="Consolas"/>
                <a:cs typeface="Consolas"/>
                <a:sym typeface="Consolas"/>
              </a:rPr>
              <a:t>]</a:t>
            </a:r>
            <a:r>
              <a:rPr lang="es-ES" sz="2400" dirty="0">
                <a:ea typeface="Roboto"/>
                <a:cs typeface="Roboto"/>
                <a:sym typeface="Roboto"/>
              </a:rPr>
              <a:t>).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○"/>
            </a:pPr>
            <a:r>
              <a:rPr lang="es-ES" sz="2400" dirty="0">
                <a:ea typeface="Roboto"/>
                <a:cs typeface="Roboto"/>
                <a:sym typeface="Roboto"/>
              </a:rPr>
              <a:t>El contador local se </a:t>
            </a:r>
            <a:r>
              <a:rPr lang="es-ES" sz="2400" b="1" dirty="0">
                <a:ea typeface="Roboto"/>
                <a:cs typeface="Roboto"/>
                <a:sym typeface="Roboto"/>
              </a:rPr>
              <a:t>“resetea”</a:t>
            </a:r>
            <a:r>
              <a:rPr lang="es-ES" sz="2400" dirty="0">
                <a:ea typeface="Roboto"/>
                <a:cs typeface="Roboto"/>
                <a:sym typeface="Roboto"/>
              </a:rPr>
              <a:t> (se lleva a 0).</a:t>
            </a:r>
            <a:endParaRPr sz="2400" b="1"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>
            <a:spLocks noGrp="1"/>
          </p:cNvSpPr>
          <p:nvPr>
            <p:ph type="title"/>
          </p:nvPr>
        </p:nvSpPr>
        <p:spPr>
          <a:xfrm>
            <a:off x="280219" y="147238"/>
            <a:ext cx="1162172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326" name="Google Shape;326;p36"/>
          <p:cNvSpPr txBox="1"/>
          <p:nvPr/>
        </p:nvSpPr>
        <p:spPr>
          <a:xfrm>
            <a:off x="489670" y="978763"/>
            <a:ext cx="10876800" cy="21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 aproximado (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Sloppy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counter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 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Contador local (asociado a cada hilo)</a:t>
            </a:r>
            <a:r>
              <a:rPr lang="es-ES" sz="2200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:</a:t>
            </a:r>
            <a:endParaRPr sz="2200" dirty="0">
              <a:solidFill>
                <a:schemeClr val="accent6"/>
              </a:solidFill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Incrementa solo el </a:t>
            </a:r>
            <a:r>
              <a:rPr lang="es-ES" sz="20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 local</a:t>
            </a:r>
            <a:r>
              <a:rPr lang="es-ES" sz="2000" dirty="0">
                <a:ea typeface="Roboto"/>
                <a:cs typeface="Roboto"/>
                <a:sym typeface="Roboto"/>
              </a:rPr>
              <a:t> (</a:t>
            </a:r>
            <a:r>
              <a:rPr lang="es-ES" sz="2000" dirty="0">
                <a:ea typeface="Consolas"/>
                <a:cs typeface="Consolas"/>
                <a:sym typeface="Consolas"/>
              </a:rPr>
              <a:t>local[</a:t>
            </a:r>
            <a:r>
              <a:rPr lang="es-ES" sz="2000" dirty="0" err="1">
                <a:ea typeface="Consolas"/>
                <a:cs typeface="Consolas"/>
                <a:sym typeface="Consolas"/>
              </a:rPr>
              <a:t>cpu_i</a:t>
            </a:r>
            <a:r>
              <a:rPr lang="es-ES" sz="2000" dirty="0">
                <a:ea typeface="Consolas"/>
                <a:cs typeface="Consolas"/>
                <a:sym typeface="Consolas"/>
              </a:rPr>
              <a:t>]</a:t>
            </a:r>
            <a:r>
              <a:rPr lang="es-ES" sz="2000" dirty="0">
                <a:ea typeface="Roboto"/>
                <a:cs typeface="Roboto"/>
                <a:sym typeface="Roboto"/>
              </a:rPr>
              <a:t>).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Cada CPU tiene su </a:t>
            </a:r>
            <a:r>
              <a:rPr lang="es-ES" sz="20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 local</a:t>
            </a:r>
            <a:r>
              <a:rPr lang="es-ES" sz="2000" dirty="0">
                <a:ea typeface="Roboto"/>
                <a:cs typeface="Roboto"/>
                <a:sym typeface="Roboto"/>
              </a:rPr>
              <a:t> (</a:t>
            </a:r>
            <a:r>
              <a:rPr lang="es-ES" sz="2000" dirty="0">
                <a:ea typeface="Consolas"/>
                <a:cs typeface="Consolas"/>
                <a:sym typeface="Consolas"/>
              </a:rPr>
              <a:t>local[</a:t>
            </a:r>
            <a:r>
              <a:rPr lang="es-ES" sz="2000" dirty="0" err="1">
                <a:ea typeface="Consolas"/>
                <a:cs typeface="Consolas"/>
                <a:sym typeface="Consolas"/>
              </a:rPr>
              <a:t>cpu_i</a:t>
            </a:r>
            <a:r>
              <a:rPr lang="es-ES" sz="2000" dirty="0">
                <a:ea typeface="Consolas"/>
                <a:cs typeface="Consolas"/>
                <a:sym typeface="Consolas"/>
              </a:rPr>
              <a:t>]</a:t>
            </a:r>
            <a:r>
              <a:rPr lang="es-ES" sz="2000" dirty="0">
                <a:ea typeface="Roboto"/>
                <a:cs typeface="Roboto"/>
                <a:sym typeface="Roboto"/>
              </a:rPr>
              <a:t>).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2000" dirty="0">
                <a:ea typeface="Roboto"/>
                <a:cs typeface="Roboto"/>
                <a:sym typeface="Roboto"/>
              </a:rPr>
              <a:t>Hilos corriendo en</a:t>
            </a:r>
            <a:r>
              <a:rPr lang="es-ES" sz="2000" b="1" dirty="0">
                <a:ea typeface="Roboto"/>
                <a:cs typeface="Roboto"/>
                <a:sym typeface="Roboto"/>
              </a:rPr>
              <a:t> </a:t>
            </a: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diferentes </a:t>
            </a:r>
            <a:r>
              <a:rPr lang="es-ES" sz="20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CPUs</a:t>
            </a:r>
            <a:r>
              <a:rPr lang="es-ES" sz="2000" dirty="0">
                <a:ea typeface="Roboto"/>
                <a:cs typeface="Roboto"/>
                <a:sym typeface="Roboto"/>
              </a:rPr>
              <a:t> pueden actualizar su contador sin competencia.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2000" dirty="0">
                <a:ea typeface="Roboto"/>
                <a:cs typeface="Roboto"/>
                <a:sym typeface="Roboto"/>
              </a:rPr>
              <a:t>La actualización de los contadores </a:t>
            </a:r>
            <a:r>
              <a:rPr lang="es-ES" sz="20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“escala”</a:t>
            </a:r>
            <a:r>
              <a:rPr lang="es-ES" sz="2000" dirty="0">
                <a:ea typeface="Roboto"/>
                <a:cs typeface="Roboto"/>
                <a:sym typeface="Roboto"/>
              </a:rPr>
              <a:t> adecuadamente.</a:t>
            </a:r>
            <a:endParaRPr sz="2400" b="1" dirty="0"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36"/>
          <p:cNvSpPr txBox="1"/>
          <p:nvPr/>
        </p:nvSpPr>
        <p:spPr>
          <a:xfrm>
            <a:off x="3554770" y="3247913"/>
            <a:ext cx="7811700" cy="3263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*c,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c-&gt;local[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+=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 //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assumes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0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(c-&gt;local[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&gt;= c-&gt;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threshold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 // transfer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global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c-&gt;global += c-&gt;local[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c-&gt;local[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0;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28" name="Google Shape;328;p36"/>
          <p:cNvGraphicFramePr/>
          <p:nvPr>
            <p:extLst>
              <p:ext uri="{D42A27DB-BD31-4B8C-83A1-F6EECF244321}">
                <p14:modId xmlns:p14="http://schemas.microsoft.com/office/powerpoint/2010/main" val="3585857690"/>
              </p:ext>
            </p:extLst>
          </p:nvPr>
        </p:nvGraphicFramePr>
        <p:xfrm>
          <a:off x="1141945" y="3531338"/>
          <a:ext cx="1800650" cy="2012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global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glock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local[NUMCPU]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llock[NUMCPU]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threshold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"/>
          <p:cNvSpPr txBox="1">
            <a:spLocks noGrp="1"/>
          </p:cNvSpPr>
          <p:nvPr>
            <p:ph type="title"/>
          </p:nvPr>
        </p:nvSpPr>
        <p:spPr>
          <a:xfrm>
            <a:off x="206477" y="147238"/>
            <a:ext cx="1167697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334" name="Google Shape;334;p37"/>
          <p:cNvSpPr txBox="1"/>
          <p:nvPr/>
        </p:nvSpPr>
        <p:spPr>
          <a:xfrm>
            <a:off x="206476" y="986975"/>
            <a:ext cx="11985523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 aproximado (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Sloppy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counter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¿Con qué frecuencia se actualiza el contador global (</a:t>
            </a:r>
            <a:r>
              <a:rPr lang="es-ES" sz="22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global</a:t>
            </a: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)?</a:t>
            </a:r>
            <a:endParaRPr sz="24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37"/>
          <p:cNvSpPr txBox="1"/>
          <p:nvPr/>
        </p:nvSpPr>
        <p:spPr>
          <a:xfrm>
            <a:off x="4454013" y="1824228"/>
            <a:ext cx="7531511" cy="329933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*c,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6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llock</a:t>
            </a: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ES" sz="16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1600"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c-&gt;local[</a:t>
            </a:r>
            <a:r>
              <a:rPr lang="es-ES" sz="1600" dirty="0" err="1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] += </a:t>
            </a:r>
            <a:r>
              <a:rPr lang="es-ES" sz="1600" dirty="0" err="1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amt</a:t>
            </a:r>
            <a:r>
              <a:rPr lang="es-ES" sz="160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;   // </a:t>
            </a:r>
            <a:r>
              <a:rPr lang="es-ES" sz="1600" dirty="0" err="1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assumes</a:t>
            </a:r>
            <a:r>
              <a:rPr lang="es-ES" sz="160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amt</a:t>
            </a:r>
            <a:r>
              <a:rPr lang="es-ES" sz="160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&gt; 0</a:t>
            </a:r>
            <a:endParaRPr sz="1600" dirty="0">
              <a:solidFill>
                <a:srgbClr val="00B05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6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(c-&gt;local[</a:t>
            </a:r>
            <a:r>
              <a:rPr lang="es-ES" sz="1600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] &gt;= c-&gt;</a:t>
            </a:r>
            <a:r>
              <a:rPr lang="es-ES" sz="1600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threshold</a:t>
            </a:r>
            <a:r>
              <a:rPr lang="es-ES" sz="16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) { // transfer </a:t>
            </a:r>
            <a:r>
              <a:rPr lang="es-ES" sz="1600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s-ES" sz="16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global</a:t>
            </a:r>
            <a:endParaRPr sz="1600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 dirty="0" err="1">
                <a:solidFill>
                  <a:srgbClr val="00B05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600" dirty="0">
                <a:solidFill>
                  <a:srgbClr val="00B05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600" dirty="0" err="1">
                <a:solidFill>
                  <a:srgbClr val="00B05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glock</a:t>
            </a:r>
            <a:r>
              <a:rPr lang="es-ES" sz="1600" dirty="0">
                <a:solidFill>
                  <a:srgbClr val="00B05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 dirty="0">
              <a:solidFill>
                <a:srgbClr val="00B050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c-&gt;global += c-&gt;local[</a:t>
            </a:r>
            <a:r>
              <a:rPr lang="es-ES" sz="16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6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 dirty="0" err="1">
                <a:solidFill>
                  <a:srgbClr val="00B05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600" dirty="0">
                <a:solidFill>
                  <a:srgbClr val="00B05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600" dirty="0" err="1">
                <a:solidFill>
                  <a:srgbClr val="00B05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glock</a:t>
            </a:r>
            <a:r>
              <a:rPr lang="es-ES" sz="1600" dirty="0">
                <a:solidFill>
                  <a:srgbClr val="00B05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 dirty="0">
              <a:solidFill>
                <a:srgbClr val="00B050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c-&gt;local[</a:t>
            </a:r>
            <a:r>
              <a:rPr lang="es-ES" sz="1600" dirty="0" err="1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] = 0;</a:t>
            </a:r>
            <a:endParaRPr sz="1600" dirty="0">
              <a:solidFill>
                <a:srgbClr val="00B05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600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6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llock</a:t>
            </a: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ES" sz="16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1600"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36" name="Google Shape;336;p37"/>
          <p:cNvGraphicFramePr/>
          <p:nvPr/>
        </p:nvGraphicFramePr>
        <p:xfrm>
          <a:off x="1400625" y="2257925"/>
          <a:ext cx="1800650" cy="2012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global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glock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local[NUMCPU]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llock[NUMCPU]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threshold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7" name="Google Shape;337;p37"/>
          <p:cNvSpPr txBox="1"/>
          <p:nvPr/>
        </p:nvSpPr>
        <p:spPr>
          <a:xfrm>
            <a:off x="401965" y="4916726"/>
            <a:ext cx="108768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2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Parámetro S (</a:t>
            </a:r>
            <a:r>
              <a:rPr lang="es-ES" sz="2200" b="1" dirty="0" err="1">
                <a:solidFill>
                  <a:srgbClr val="E46C0A"/>
                </a:solidFill>
                <a:ea typeface="Roboto"/>
                <a:cs typeface="Roboto"/>
                <a:sym typeface="Roboto"/>
              </a:rPr>
              <a:t>threshold</a:t>
            </a:r>
            <a:r>
              <a:rPr lang="es-ES" sz="22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)</a:t>
            </a:r>
            <a:r>
              <a:rPr lang="es-ES" sz="2200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:</a:t>
            </a:r>
            <a:endParaRPr sz="2200" dirty="0">
              <a:solidFill>
                <a:srgbClr val="E46C0A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b="1" dirty="0">
                <a:ea typeface="Roboto"/>
                <a:cs typeface="Roboto"/>
                <a:sym typeface="Roboto"/>
              </a:rPr>
              <a:t>S pequeño</a:t>
            </a:r>
            <a:r>
              <a:rPr lang="es-ES" sz="2000" dirty="0">
                <a:ea typeface="Roboto"/>
                <a:cs typeface="Roboto"/>
                <a:sym typeface="Roboto"/>
              </a:rPr>
              <a:t>: el contador se comporta con un contador non-</a:t>
            </a:r>
            <a:r>
              <a:rPr lang="es-ES" sz="2000" dirty="0" err="1">
                <a:ea typeface="Roboto"/>
                <a:cs typeface="Roboto"/>
                <a:sym typeface="Roboto"/>
              </a:rPr>
              <a:t>scalable</a:t>
            </a:r>
            <a:r>
              <a:rPr lang="es-ES" sz="2000" dirty="0">
                <a:ea typeface="Roboto"/>
                <a:cs typeface="Roboto"/>
                <a:sym typeface="Roboto"/>
              </a:rPr>
              <a:t>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b="1" dirty="0">
                <a:ea typeface="Roboto"/>
                <a:cs typeface="Roboto"/>
                <a:sym typeface="Roboto"/>
              </a:rPr>
              <a:t>S grande</a:t>
            </a:r>
            <a:r>
              <a:rPr lang="es-ES" sz="2000" dirty="0">
                <a:ea typeface="Roboto"/>
                <a:cs typeface="Roboto"/>
                <a:sym typeface="Roboto"/>
              </a:rPr>
              <a:t>: 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○"/>
            </a:pPr>
            <a:r>
              <a:rPr lang="es-ES" sz="2000" dirty="0">
                <a:ea typeface="Roboto"/>
                <a:cs typeface="Roboto"/>
                <a:sym typeface="Roboto"/>
              </a:rPr>
              <a:t>Contador más escalable.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○"/>
            </a:pPr>
            <a:r>
              <a:rPr lang="es-ES" sz="2000" dirty="0">
                <a:ea typeface="Roboto"/>
                <a:cs typeface="Roboto"/>
                <a:sym typeface="Roboto"/>
              </a:rPr>
              <a:t>El valor del contador local se aleja del valor real.</a:t>
            </a:r>
            <a:endParaRPr sz="2000"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 txBox="1">
            <a:spLocks noGrp="1"/>
          </p:cNvSpPr>
          <p:nvPr>
            <p:ph type="title"/>
          </p:nvPr>
        </p:nvSpPr>
        <p:spPr>
          <a:xfrm>
            <a:off x="604685" y="147238"/>
            <a:ext cx="1107656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343" name="Google Shape;343;p38"/>
          <p:cNvSpPr txBox="1"/>
          <p:nvPr/>
        </p:nvSpPr>
        <p:spPr>
          <a:xfrm>
            <a:off x="510751" y="1096738"/>
            <a:ext cx="10876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 aproximado (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Sloppy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counter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</a:t>
            </a:r>
            <a:endParaRPr sz="22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38"/>
          <p:cNvSpPr txBox="1"/>
          <p:nvPr/>
        </p:nvSpPr>
        <p:spPr>
          <a:xfrm>
            <a:off x="580876" y="1712338"/>
            <a:ext cx="108768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Ejemplo: máquina con 4 </a:t>
            </a:r>
            <a:r>
              <a:rPr lang="es-ES" sz="22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cores</a:t>
            </a:r>
            <a:endParaRPr sz="2200" b="1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4 contadores locales: </a:t>
            </a: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local[NUMCPU] = Li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; donde </a:t>
            </a: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NUMCPU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está asociado al hilo por medio de su </a:t>
            </a:r>
            <a:r>
              <a:rPr lang="es-ES" sz="22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threadID</a:t>
            </a:r>
            <a:endParaRPr sz="2200" b="1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1 contador global: </a:t>
            </a: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global = G</a:t>
            </a:r>
            <a:endParaRPr sz="2200" b="1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</p:txBody>
      </p:sp>
      <p:sp>
        <p:nvSpPr>
          <p:cNvPr id="345" name="Google Shape;345;p38"/>
          <p:cNvSpPr txBox="1"/>
          <p:nvPr/>
        </p:nvSpPr>
        <p:spPr>
          <a:xfrm>
            <a:off x="580876" y="3556638"/>
            <a:ext cx="108768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Seguimiento del </a:t>
            </a:r>
            <a:r>
              <a:rPr lang="es-ES" sz="22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sloppy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counters:</a:t>
            </a:r>
            <a:endParaRPr sz="2200" b="1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</a:t>
            </a:r>
            <a:r>
              <a:rPr lang="es-ES" sz="22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threshold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 es fijado a 5: </a:t>
            </a:r>
            <a:r>
              <a:rPr lang="es-ES" sz="22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threshold</a:t>
            </a: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= 5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Hay 4 hilos uno por cada CPU. 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Cada hilo actualiza su propio contador local (</a:t>
            </a: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L1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,</a:t>
            </a: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L2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, </a:t>
            </a: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L3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L4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9"/>
          <p:cNvSpPr txBox="1">
            <a:spLocks noGrp="1"/>
          </p:cNvSpPr>
          <p:nvPr>
            <p:ph type="title"/>
          </p:nvPr>
        </p:nvSpPr>
        <p:spPr>
          <a:xfrm>
            <a:off x="368711" y="147238"/>
            <a:ext cx="1141071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351" name="Google Shape;351;p39"/>
          <p:cNvSpPr txBox="1"/>
          <p:nvPr/>
        </p:nvSpPr>
        <p:spPr>
          <a:xfrm>
            <a:off x="368786" y="887900"/>
            <a:ext cx="10876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 aproximado (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Sloppy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counter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</a:t>
            </a:r>
            <a:endParaRPr sz="22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9"/>
          <p:cNvSpPr txBox="1"/>
          <p:nvPr/>
        </p:nvSpPr>
        <p:spPr>
          <a:xfrm>
            <a:off x="368711" y="1506950"/>
            <a:ext cx="4916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Ejemplo: máquina con 4 </a:t>
            </a:r>
            <a:r>
              <a:rPr lang="es-ES" sz="22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cores</a:t>
            </a:r>
            <a:endParaRPr sz="2200" b="1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4 contadores locales: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L1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,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L2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,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L3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L4</a:t>
            </a:r>
            <a:endParaRPr sz="2000" b="1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1 contador global: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G</a:t>
            </a:r>
            <a:endParaRPr sz="2000" b="1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threshold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 es fijado a 5: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S = 5</a:t>
            </a:r>
            <a:endParaRPr sz="2000" b="1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53" name="Google Shape;353;p39"/>
          <p:cNvGraphicFramePr/>
          <p:nvPr>
            <p:extLst>
              <p:ext uri="{D42A27DB-BD31-4B8C-83A1-F6EECF244321}">
                <p14:modId xmlns:p14="http://schemas.microsoft.com/office/powerpoint/2010/main" val="1417096925"/>
              </p:ext>
            </p:extLst>
          </p:nvPr>
        </p:nvGraphicFramePr>
        <p:xfrm>
          <a:off x="5980789" y="1990899"/>
          <a:ext cx="5842500" cy="404163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1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509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Time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L1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L2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L3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L4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979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979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979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979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979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979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979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 → 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 (from L1)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979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 → 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10 (</a:t>
                      </a: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</a:t>
                      </a: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L4)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54" name="Google Shape;354;p39"/>
          <p:cNvSpPr txBox="1"/>
          <p:nvPr/>
        </p:nvSpPr>
        <p:spPr>
          <a:xfrm>
            <a:off x="368711" y="3122538"/>
            <a:ext cx="5220928" cy="290999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*c,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4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llock</a:t>
            </a:r>
            <a:r>
              <a:rPr lang="es-ES" sz="14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ES" sz="14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4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1400"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c-&gt;local[</a:t>
            </a:r>
            <a:r>
              <a:rPr lang="es-ES" sz="1400" dirty="0" err="1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40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] += </a:t>
            </a:r>
            <a:r>
              <a:rPr lang="es-ES" sz="1400" dirty="0" err="1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amt</a:t>
            </a:r>
            <a:r>
              <a:rPr lang="es-ES" sz="140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;   </a:t>
            </a:r>
            <a:endParaRPr sz="1400" dirty="0">
              <a:solidFill>
                <a:srgbClr val="00B05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4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(c-&gt;local[</a:t>
            </a:r>
            <a:r>
              <a:rPr lang="es-ES" sz="1400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4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] &gt;= c-&gt;</a:t>
            </a:r>
            <a:r>
              <a:rPr lang="es-ES" sz="1400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threshold</a:t>
            </a:r>
            <a:r>
              <a:rPr lang="es-ES" sz="14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) { </a:t>
            </a:r>
            <a:endParaRPr sz="1400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rgbClr val="00B05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dirty="0">
                <a:solidFill>
                  <a:srgbClr val="00B05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400" dirty="0" err="1">
                <a:solidFill>
                  <a:srgbClr val="00B05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glock</a:t>
            </a:r>
            <a:r>
              <a:rPr lang="es-ES" sz="1400" dirty="0">
                <a:solidFill>
                  <a:srgbClr val="00B05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rgbClr val="00B050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c-&gt;global += c-&gt;local[</a:t>
            </a:r>
            <a:r>
              <a:rPr lang="es-ES" sz="14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4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rgbClr val="00B05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rgbClr val="00B05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400" dirty="0" err="1">
                <a:solidFill>
                  <a:srgbClr val="00B05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glock</a:t>
            </a:r>
            <a:r>
              <a:rPr lang="es-ES" sz="1400" dirty="0">
                <a:solidFill>
                  <a:srgbClr val="00B05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rgbClr val="00B050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c-&gt;local[</a:t>
            </a:r>
            <a:r>
              <a:rPr lang="es-ES" sz="1400" dirty="0" err="1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40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] = 0;</a:t>
            </a:r>
            <a:endParaRPr sz="1400" dirty="0">
              <a:solidFill>
                <a:srgbClr val="00B05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4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llock</a:t>
            </a:r>
            <a:r>
              <a:rPr lang="es-ES" sz="14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ES" sz="14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4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1400"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0"/>
          <p:cNvSpPr txBox="1">
            <a:spLocks noGrp="1"/>
          </p:cNvSpPr>
          <p:nvPr>
            <p:ph type="title"/>
          </p:nvPr>
        </p:nvSpPr>
        <p:spPr>
          <a:xfrm>
            <a:off x="376219" y="147238"/>
            <a:ext cx="1087679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360" name="Google Shape;360;p40"/>
          <p:cNvSpPr txBox="1"/>
          <p:nvPr/>
        </p:nvSpPr>
        <p:spPr>
          <a:xfrm>
            <a:off x="376219" y="1072107"/>
            <a:ext cx="10876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 aproximado (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Sloppy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counter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</a:t>
            </a:r>
            <a:endParaRPr sz="22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40"/>
          <p:cNvSpPr txBox="1"/>
          <p:nvPr/>
        </p:nvSpPr>
        <p:spPr>
          <a:xfrm>
            <a:off x="376219" y="1687707"/>
            <a:ext cx="7791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E06666"/>
                </a:solidFill>
                <a:ea typeface="Roboto"/>
                <a:cs typeface="Roboto"/>
                <a:sym typeface="Roboto"/>
              </a:rPr>
              <a:t>Implementación - Estructura de datos</a:t>
            </a:r>
            <a:endParaRPr sz="2200" b="1">
              <a:solidFill>
                <a:srgbClr val="E06666"/>
              </a:solidFill>
              <a:ea typeface="Consolas"/>
              <a:cs typeface="Consolas"/>
              <a:sym typeface="Consolas"/>
            </a:endParaRPr>
          </a:p>
        </p:txBody>
      </p:sp>
      <p:sp>
        <p:nvSpPr>
          <p:cNvPr id="362" name="Google Shape;362;p40"/>
          <p:cNvSpPr txBox="1"/>
          <p:nvPr/>
        </p:nvSpPr>
        <p:spPr>
          <a:xfrm>
            <a:off x="3794592" y="2726717"/>
            <a:ext cx="6942000" cy="213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global;                     // global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	        // global lock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local[NUMCPUS]; 	        // local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(per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cpu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[NUMCPUS]; // ... and locks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threshold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	        //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frequency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63" name="Google Shape;363;p40"/>
          <p:cNvGraphicFramePr/>
          <p:nvPr>
            <p:extLst>
              <p:ext uri="{D42A27DB-BD31-4B8C-83A1-F6EECF244321}">
                <p14:modId xmlns:p14="http://schemas.microsoft.com/office/powerpoint/2010/main" val="1881244003"/>
              </p:ext>
            </p:extLst>
          </p:nvPr>
        </p:nvGraphicFramePr>
        <p:xfrm>
          <a:off x="1199467" y="2782892"/>
          <a:ext cx="1800650" cy="2012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global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glock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local[NUMCPU]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llock[NUMCPU]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threshold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1"/>
          <p:cNvSpPr txBox="1">
            <a:spLocks noGrp="1"/>
          </p:cNvSpPr>
          <p:nvPr>
            <p:ph type="title"/>
          </p:nvPr>
        </p:nvSpPr>
        <p:spPr>
          <a:xfrm>
            <a:off x="412955" y="147238"/>
            <a:ext cx="114889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369" name="Google Shape;369;p41"/>
          <p:cNvSpPr txBox="1"/>
          <p:nvPr/>
        </p:nvSpPr>
        <p:spPr>
          <a:xfrm>
            <a:off x="412955" y="1100200"/>
            <a:ext cx="11366395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 aproximado (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Sloppy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counter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</a:t>
            </a:r>
            <a:endParaRPr sz="22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41"/>
          <p:cNvSpPr txBox="1"/>
          <p:nvPr/>
        </p:nvSpPr>
        <p:spPr>
          <a:xfrm>
            <a:off x="412650" y="1715800"/>
            <a:ext cx="8281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Implementación - Función de inicialización</a:t>
            </a:r>
            <a:endParaRPr sz="2200" b="1" dirty="0">
              <a:solidFill>
                <a:srgbClr val="E06666"/>
              </a:solidFill>
              <a:ea typeface="Consolas"/>
              <a:cs typeface="Consolas"/>
              <a:sym typeface="Consolas"/>
            </a:endParaRPr>
          </a:p>
        </p:txBody>
      </p:sp>
      <p:sp>
        <p:nvSpPr>
          <p:cNvPr id="371" name="Google Shape;371;p41"/>
          <p:cNvSpPr txBox="1"/>
          <p:nvPr/>
        </p:nvSpPr>
        <p:spPr>
          <a:xfrm>
            <a:off x="4164025" y="2734675"/>
            <a:ext cx="6942000" cy="3546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record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threshold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locks,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    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local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counts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and global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*c,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threshold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c-&gt;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threshold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threshold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c-&gt;global = 0;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pthread_mutex_init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NULL);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 = 0; i &lt; NUMCPUS; i++)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c-&gt;local[i] = 0;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pthread_mutex_init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[i], NULL);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72" name="Google Shape;372;p41"/>
          <p:cNvGraphicFramePr/>
          <p:nvPr/>
        </p:nvGraphicFramePr>
        <p:xfrm>
          <a:off x="1582925" y="2945125"/>
          <a:ext cx="1800650" cy="2012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global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glock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local[NUMCPU]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llock[NUMCPU]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threshold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2"/>
          <p:cNvSpPr txBox="1">
            <a:spLocks noGrp="1"/>
          </p:cNvSpPr>
          <p:nvPr>
            <p:ph type="title"/>
          </p:nvPr>
        </p:nvSpPr>
        <p:spPr>
          <a:xfrm>
            <a:off x="486697" y="147238"/>
            <a:ext cx="1129265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378" name="Google Shape;378;p42"/>
          <p:cNvSpPr txBox="1"/>
          <p:nvPr/>
        </p:nvSpPr>
        <p:spPr>
          <a:xfrm>
            <a:off x="486697" y="976206"/>
            <a:ext cx="10876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 aproximado (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Sloppy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counter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</a:t>
            </a:r>
            <a:endParaRPr sz="22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42"/>
          <p:cNvSpPr txBox="1"/>
          <p:nvPr/>
        </p:nvSpPr>
        <p:spPr>
          <a:xfrm>
            <a:off x="486697" y="1624353"/>
            <a:ext cx="7791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Implementación - Función actualización del contador</a:t>
            </a:r>
            <a:endParaRPr sz="2200" b="1" dirty="0">
              <a:solidFill>
                <a:srgbClr val="E06666"/>
              </a:solidFill>
              <a:ea typeface="Consolas"/>
              <a:cs typeface="Consolas"/>
              <a:sym typeface="Consolas"/>
            </a:endParaRPr>
          </a:p>
        </p:txBody>
      </p:sp>
      <p:sp>
        <p:nvSpPr>
          <p:cNvPr id="380" name="Google Shape;380;p42"/>
          <p:cNvSpPr txBox="1"/>
          <p:nvPr/>
        </p:nvSpPr>
        <p:spPr>
          <a:xfrm>
            <a:off x="3538050" y="2243415"/>
            <a:ext cx="8241300" cy="446734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usually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just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grab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local lock and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local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amount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        once local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has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risen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by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’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threshold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’,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grab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global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        lock and transfer local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*c,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6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llock</a:t>
            </a: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ES" sz="16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1600"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c-&gt;local[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+=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	//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assumes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0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(c-&gt;local[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&gt;= c-&gt;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threshold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 // transfer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global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600" dirty="0" err="1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6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600" dirty="0" err="1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glock</a:t>
            </a:r>
            <a:r>
              <a:rPr lang="es-ES" sz="16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 dirty="0">
              <a:solidFill>
                <a:schemeClr val="dk1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c-&gt;global += c-&gt;local[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600" dirty="0" err="1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6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600" dirty="0" err="1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glock</a:t>
            </a:r>
            <a:r>
              <a:rPr lang="es-ES" sz="16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 dirty="0">
              <a:solidFill>
                <a:schemeClr val="dk1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c-&gt;local[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0;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6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llock</a:t>
            </a: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ES" sz="1600" dirty="0" err="1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threadID</a:t>
            </a: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1600"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81" name="Google Shape;381;p42"/>
          <p:cNvGraphicFramePr/>
          <p:nvPr/>
        </p:nvGraphicFramePr>
        <p:xfrm>
          <a:off x="1204275" y="3155450"/>
          <a:ext cx="1800650" cy="2012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global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local[NUMCPU]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llock</a:t>
                      </a: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[NUMCPU]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threshold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3"/>
          <p:cNvSpPr txBox="1">
            <a:spLocks noGrp="1"/>
          </p:cNvSpPr>
          <p:nvPr>
            <p:ph type="title"/>
          </p:nvPr>
        </p:nvSpPr>
        <p:spPr>
          <a:xfrm>
            <a:off x="804450" y="147238"/>
            <a:ext cx="110827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387" name="Google Shape;387;p43"/>
          <p:cNvSpPr txBox="1"/>
          <p:nvPr/>
        </p:nvSpPr>
        <p:spPr>
          <a:xfrm>
            <a:off x="304800" y="1043102"/>
            <a:ext cx="10876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Contador aproximado (Sloppy counter)</a:t>
            </a:r>
            <a:endParaRPr sz="2200" b="1">
              <a:solidFill>
                <a:srgbClr val="FF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43"/>
          <p:cNvSpPr txBox="1"/>
          <p:nvPr/>
        </p:nvSpPr>
        <p:spPr>
          <a:xfrm>
            <a:off x="304800" y="1658702"/>
            <a:ext cx="100914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E06666"/>
                </a:solidFill>
                <a:ea typeface="Roboto"/>
                <a:cs typeface="Roboto"/>
                <a:sym typeface="Roboto"/>
              </a:rPr>
              <a:t>Implementación - Función para obtener el valor del contador</a:t>
            </a:r>
            <a:endParaRPr sz="2200" b="1">
              <a:solidFill>
                <a:srgbClr val="E06666"/>
              </a:solidFill>
              <a:ea typeface="Consolas"/>
              <a:cs typeface="Consolas"/>
              <a:sym typeface="Consolas"/>
            </a:endParaRPr>
          </a:p>
        </p:txBody>
      </p:sp>
      <p:sp>
        <p:nvSpPr>
          <p:cNvPr id="389" name="Google Shape;389;p43"/>
          <p:cNvSpPr txBox="1"/>
          <p:nvPr/>
        </p:nvSpPr>
        <p:spPr>
          <a:xfrm>
            <a:off x="3897155" y="2590493"/>
            <a:ext cx="7161600" cy="216671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just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global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amount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which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may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be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perfect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*c)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6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600" dirty="0" err="1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glock</a:t>
            </a:r>
            <a:r>
              <a:rPr lang="es-ES" sz="16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 dirty="0">
              <a:solidFill>
                <a:schemeClr val="dk1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val = c-&gt;global;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6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(&amp;c-&gt;</a:t>
            </a:r>
            <a:r>
              <a:rPr lang="es-ES" sz="1600" dirty="0" err="1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glock</a:t>
            </a:r>
            <a:r>
              <a:rPr lang="es-ES" sz="16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 dirty="0">
              <a:solidFill>
                <a:schemeClr val="dk1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val; 	//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only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approximate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90" name="Google Shape;390;p43"/>
          <p:cNvGraphicFramePr/>
          <p:nvPr/>
        </p:nvGraphicFramePr>
        <p:xfrm>
          <a:off x="1260375" y="2744700"/>
          <a:ext cx="1800650" cy="2012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global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local[NUMCPU]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llock</a:t>
                      </a: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[NUMCPU]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threshold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"/>
          <p:cNvSpPr txBox="1">
            <a:spLocks noGrp="1"/>
          </p:cNvSpPr>
          <p:nvPr>
            <p:ph type="title"/>
          </p:nvPr>
        </p:nvSpPr>
        <p:spPr>
          <a:xfrm>
            <a:off x="383458" y="147238"/>
            <a:ext cx="1134151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396" name="Google Shape;396;p44"/>
          <p:cNvSpPr txBox="1"/>
          <p:nvPr/>
        </p:nvSpPr>
        <p:spPr>
          <a:xfrm>
            <a:off x="467032" y="844582"/>
            <a:ext cx="10658593" cy="1631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Análisis de desempeño –Contador aproximado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Cada hilo actualiza un contador compartido.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○"/>
            </a:pPr>
            <a:r>
              <a:rPr lang="es-ES" sz="2200" dirty="0">
                <a:ea typeface="Roboto"/>
                <a:cs typeface="Roboto"/>
                <a:sym typeface="Roboto"/>
              </a:rPr>
              <a:t>Se actualiza un millón de veces.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○"/>
            </a:pPr>
            <a:r>
              <a:rPr lang="es-ES" sz="2200" dirty="0">
                <a:ea typeface="Roboto"/>
                <a:cs typeface="Roboto"/>
                <a:sym typeface="Roboto"/>
              </a:rPr>
              <a:t>Máquina de test (</a:t>
            </a:r>
            <a:r>
              <a:rPr lang="es-ES" sz="2200" dirty="0" err="1">
                <a:ea typeface="Roboto"/>
                <a:cs typeface="Roboto"/>
                <a:sym typeface="Roboto"/>
              </a:rPr>
              <a:t>Remzi</a:t>
            </a:r>
            <a:r>
              <a:rPr lang="es-ES" sz="2200" dirty="0">
                <a:ea typeface="Roboto"/>
                <a:cs typeface="Roboto"/>
                <a:sym typeface="Roboto"/>
              </a:rPr>
              <a:t>): iMac con 4 Intel 2.7GHz i5 </a:t>
            </a:r>
            <a:r>
              <a:rPr lang="es-ES" sz="2200" dirty="0" err="1">
                <a:ea typeface="Roboto"/>
                <a:cs typeface="Roboto"/>
                <a:sym typeface="Roboto"/>
              </a:rPr>
              <a:t>CPUs</a:t>
            </a:r>
            <a:r>
              <a:rPr lang="es-ES" sz="2200" dirty="0">
                <a:ea typeface="Roboto"/>
                <a:cs typeface="Roboto"/>
                <a:sym typeface="Roboto"/>
              </a:rPr>
              <a:t>.</a:t>
            </a:r>
            <a:endParaRPr sz="2200"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397" name="Google Shape;397;p44"/>
          <p:cNvGraphicFramePr/>
          <p:nvPr/>
        </p:nvGraphicFramePr>
        <p:xfrm>
          <a:off x="9324975" y="3368725"/>
          <a:ext cx="1800650" cy="2012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global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glock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local[NUMCPU]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llock[NUMCPU]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threshold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98" name="Google Shape;398;p44"/>
          <p:cNvGrpSpPr/>
          <p:nvPr/>
        </p:nvGrpSpPr>
        <p:grpSpPr>
          <a:xfrm>
            <a:off x="3557225" y="2672350"/>
            <a:ext cx="4702601" cy="4033875"/>
            <a:chOff x="2212100" y="2824125"/>
            <a:chExt cx="4702601" cy="4033875"/>
          </a:xfrm>
        </p:grpSpPr>
        <p:pic>
          <p:nvPicPr>
            <p:cNvPr id="399" name="Google Shape;399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12100" y="2824125"/>
              <a:ext cx="4702601" cy="353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0" name="Google Shape;400;p44"/>
            <p:cNvSpPr txBox="1"/>
            <p:nvPr/>
          </p:nvSpPr>
          <p:spPr>
            <a:xfrm>
              <a:off x="2831700" y="6306900"/>
              <a:ext cx="3752100" cy="55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Performance </a:t>
              </a:r>
              <a:r>
                <a:rPr lang="es-ES" sz="1200" b="1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of</a:t>
              </a:r>
              <a:r>
                <a:rPr lang="es-ES" sz="12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1200" b="1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Traditional</a:t>
              </a:r>
              <a:r>
                <a:rPr lang="es-ES" sz="12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vs. </a:t>
              </a:r>
              <a:r>
                <a:rPr lang="es-ES" sz="1200" b="1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Sloppy</a:t>
              </a:r>
              <a:r>
                <a:rPr lang="es-ES" sz="12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Counters</a:t>
              </a:r>
              <a:endParaRPr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lang="es-ES" sz="1000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Threshold</a:t>
              </a:r>
              <a:r>
                <a:rPr lang="es-ES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1000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of</a:t>
              </a:r>
              <a:r>
                <a:rPr lang="es-ES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1000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Sloppy</a:t>
              </a:r>
              <a:r>
                <a:rPr lang="es-ES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, </a:t>
              </a:r>
              <a:r>
                <a:rPr lang="es-ES" sz="1000" i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lang="es-ES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, </a:t>
              </a:r>
              <a:r>
                <a:rPr lang="es-ES" sz="1000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is</a:t>
              </a:r>
              <a:r>
                <a:rPr lang="es-ES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set </a:t>
              </a:r>
              <a:r>
                <a:rPr lang="es-ES" sz="1000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to</a:t>
              </a:r>
              <a:r>
                <a:rPr lang="es-ES" sz="1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1024)</a:t>
              </a:r>
              <a:endParaRPr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401" name="Google Shape;401;p44"/>
          <p:cNvGraphicFramePr/>
          <p:nvPr/>
        </p:nvGraphicFramePr>
        <p:xfrm>
          <a:off x="1358900" y="3634138"/>
          <a:ext cx="1428200" cy="117126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2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2" name="Google Shape;402;p44"/>
          <p:cNvSpPr txBox="1"/>
          <p:nvPr/>
        </p:nvSpPr>
        <p:spPr>
          <a:xfrm>
            <a:off x="1260450" y="4828525"/>
            <a:ext cx="162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Traditional  Counter</a:t>
            </a:r>
            <a:endParaRPr/>
          </a:p>
        </p:txBody>
      </p:sp>
      <p:sp>
        <p:nvSpPr>
          <p:cNvPr id="403" name="Google Shape;403;p44"/>
          <p:cNvSpPr txBox="1"/>
          <p:nvPr/>
        </p:nvSpPr>
        <p:spPr>
          <a:xfrm>
            <a:off x="9476050" y="5391775"/>
            <a:ext cx="149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Sloppy</a:t>
            </a:r>
            <a:r>
              <a:rPr lang="es-E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Counters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5"/>
          <p:cNvSpPr txBox="1">
            <a:spLocks noGrp="1"/>
          </p:cNvSpPr>
          <p:nvPr>
            <p:ph type="title"/>
          </p:nvPr>
        </p:nvSpPr>
        <p:spPr>
          <a:xfrm>
            <a:off x="496725" y="147238"/>
            <a:ext cx="111985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Concurrent counters (Contadores concurrentes)</a:t>
            </a:r>
            <a:endParaRPr dirty="0">
              <a:latin typeface="+mj-lt"/>
            </a:endParaRPr>
          </a:p>
        </p:txBody>
      </p:sp>
      <p:sp>
        <p:nvSpPr>
          <p:cNvPr id="409" name="Google Shape;409;p45"/>
          <p:cNvSpPr txBox="1"/>
          <p:nvPr/>
        </p:nvSpPr>
        <p:spPr>
          <a:xfrm>
            <a:off x="604684" y="928450"/>
            <a:ext cx="11090591" cy="153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Análisis de desempeño –Contador aproximado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Cuatro hilos, cada uno aumenta contador un millón de veces: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○"/>
            </a:pPr>
            <a:r>
              <a:rPr lang="es-ES" sz="2000" b="1" dirty="0">
                <a:ea typeface="Roboto"/>
                <a:cs typeface="Roboto"/>
                <a:sym typeface="Roboto"/>
              </a:rPr>
              <a:t>S pequeño</a:t>
            </a:r>
            <a:r>
              <a:rPr lang="es-ES" sz="2000" dirty="0">
                <a:ea typeface="Roboto"/>
                <a:cs typeface="Roboto"/>
                <a:sym typeface="Roboto"/>
              </a:rPr>
              <a:t>:  pobre desempeño, valor global siempre exacto.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○"/>
            </a:pPr>
            <a:r>
              <a:rPr lang="es-ES" sz="2000" b="1" dirty="0">
                <a:ea typeface="Roboto"/>
                <a:cs typeface="Roboto"/>
                <a:sym typeface="Roboto"/>
              </a:rPr>
              <a:t>S grande</a:t>
            </a:r>
            <a:r>
              <a:rPr lang="es-ES" sz="2000" dirty="0">
                <a:ea typeface="Roboto"/>
                <a:cs typeface="Roboto"/>
                <a:sym typeface="Roboto"/>
              </a:rPr>
              <a:t>:  excelente desempeño, valor global se retrasa.</a:t>
            </a:r>
            <a:endParaRPr sz="2000"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410" name="Google Shape;410;p45"/>
          <p:cNvGraphicFramePr/>
          <p:nvPr/>
        </p:nvGraphicFramePr>
        <p:xfrm>
          <a:off x="1765750" y="3494950"/>
          <a:ext cx="1800650" cy="2012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3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global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glock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local[NUMCPU]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llock[NUMCPU]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threshold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1" name="Google Shape;411;p45"/>
          <p:cNvSpPr txBox="1"/>
          <p:nvPr/>
        </p:nvSpPr>
        <p:spPr>
          <a:xfrm>
            <a:off x="1916825" y="5518000"/>
            <a:ext cx="149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Sloppy</a:t>
            </a:r>
            <a:r>
              <a:rPr lang="es-E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Counters</a:t>
            </a:r>
            <a:endParaRPr dirty="0"/>
          </a:p>
        </p:txBody>
      </p:sp>
      <p:grpSp>
        <p:nvGrpSpPr>
          <p:cNvPr id="412" name="Google Shape;412;p45"/>
          <p:cNvGrpSpPr/>
          <p:nvPr/>
        </p:nvGrpSpPr>
        <p:grpSpPr>
          <a:xfrm>
            <a:off x="4822575" y="2467750"/>
            <a:ext cx="5288945" cy="4292225"/>
            <a:chOff x="2564625" y="2509825"/>
            <a:chExt cx="5288945" cy="4292225"/>
          </a:xfrm>
        </p:grpSpPr>
        <p:pic>
          <p:nvPicPr>
            <p:cNvPr id="413" name="Google Shape;413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64625" y="2509825"/>
              <a:ext cx="5288945" cy="3880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45"/>
            <p:cNvSpPr txBox="1"/>
            <p:nvPr/>
          </p:nvSpPr>
          <p:spPr>
            <a:xfrm>
              <a:off x="4607675" y="6432750"/>
              <a:ext cx="1982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Scaling</a:t>
              </a:r>
              <a:r>
                <a:rPr lang="es-ES" sz="12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1200" b="1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Sloppy</a:t>
              </a:r>
              <a:r>
                <a:rPr lang="es-ES" sz="12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Counters</a:t>
              </a:r>
              <a:endParaRPr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7"/>
          <p:cNvSpPr txBox="1">
            <a:spLocks noGrp="1"/>
          </p:cNvSpPr>
          <p:nvPr>
            <p:ph type="title"/>
          </p:nvPr>
        </p:nvSpPr>
        <p:spPr>
          <a:xfrm>
            <a:off x="353961" y="96038"/>
            <a:ext cx="886668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>
                <a:latin typeface="+mj-lt"/>
              </a:rPr>
              <a:t>Lista enlazada concurrente</a:t>
            </a:r>
            <a:endParaRPr sz="3200" b="1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426" name="Google Shape;426;p47"/>
          <p:cNvSpPr txBox="1"/>
          <p:nvPr/>
        </p:nvSpPr>
        <p:spPr>
          <a:xfrm>
            <a:off x="353961" y="867206"/>
            <a:ext cx="6557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Lista enlazada sin concurrencia</a:t>
            </a:r>
            <a:endParaRPr>
              <a:ea typeface="Roboto"/>
              <a:cs typeface="Roboto"/>
              <a:sym typeface="Roboto"/>
            </a:endParaRPr>
          </a:p>
        </p:txBody>
      </p:sp>
      <p:graphicFrame>
        <p:nvGraphicFramePr>
          <p:cNvPr id="427" name="Google Shape;427;p47"/>
          <p:cNvGraphicFramePr/>
          <p:nvPr/>
        </p:nvGraphicFramePr>
        <p:xfrm>
          <a:off x="1438900" y="2560875"/>
          <a:ext cx="1409700" cy="12719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*next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28" name="Google Shape;428;p47"/>
          <p:cNvGrpSpPr/>
          <p:nvPr/>
        </p:nvGrpSpPr>
        <p:grpSpPr>
          <a:xfrm>
            <a:off x="3809675" y="2648525"/>
            <a:ext cx="1139175" cy="885175"/>
            <a:chOff x="3504875" y="2343725"/>
            <a:chExt cx="1139175" cy="885175"/>
          </a:xfrm>
        </p:grpSpPr>
        <p:grpSp>
          <p:nvGrpSpPr>
            <p:cNvPr id="429" name="Google Shape;429;p47"/>
            <p:cNvGrpSpPr/>
            <p:nvPr/>
          </p:nvGrpSpPr>
          <p:grpSpPr>
            <a:xfrm>
              <a:off x="3504875" y="2615775"/>
              <a:ext cx="898925" cy="365600"/>
              <a:chOff x="3504875" y="2615775"/>
              <a:chExt cx="898925" cy="365600"/>
            </a:xfrm>
          </p:grpSpPr>
          <p:sp>
            <p:nvSpPr>
              <p:cNvPr id="430" name="Google Shape;430;p47"/>
              <p:cNvSpPr/>
              <p:nvPr/>
            </p:nvSpPr>
            <p:spPr>
              <a:xfrm>
                <a:off x="3504875" y="2615775"/>
                <a:ext cx="897600" cy="3645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47"/>
              <p:cNvSpPr/>
              <p:nvPr/>
            </p:nvSpPr>
            <p:spPr>
              <a:xfrm>
                <a:off x="4037800" y="2616875"/>
                <a:ext cx="366000" cy="364500"/>
              </a:xfrm>
              <a:prstGeom prst="rect">
                <a:avLst/>
              </a:prstGeom>
              <a:solidFill>
                <a:srgbClr val="FCE5C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32" name="Google Shape;432;p47"/>
            <p:cNvCxnSpPr/>
            <p:nvPr/>
          </p:nvCxnSpPr>
          <p:spPr>
            <a:xfrm rot="10800000" flipH="1">
              <a:off x="4219850" y="2800700"/>
              <a:ext cx="424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33" name="Google Shape;433;p47"/>
            <p:cNvSpPr txBox="1"/>
            <p:nvPr/>
          </p:nvSpPr>
          <p:spPr>
            <a:xfrm>
              <a:off x="3504938" y="2343725"/>
              <a:ext cx="898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endParaRPr sz="1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34" name="Google Shape;434;p47"/>
            <p:cNvSpPr txBox="1"/>
            <p:nvPr/>
          </p:nvSpPr>
          <p:spPr>
            <a:xfrm>
              <a:off x="3504875" y="2890200"/>
              <a:ext cx="526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35" name="Google Shape;435;p47"/>
            <p:cNvSpPr txBox="1"/>
            <p:nvPr/>
          </p:nvSpPr>
          <p:spPr>
            <a:xfrm>
              <a:off x="3948050" y="2890200"/>
              <a:ext cx="546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36" name="Google Shape;436;p47"/>
          <p:cNvGrpSpPr/>
          <p:nvPr/>
        </p:nvGrpSpPr>
        <p:grpSpPr>
          <a:xfrm>
            <a:off x="3692013" y="4668800"/>
            <a:ext cx="1374500" cy="1310550"/>
            <a:chOff x="3448775" y="3573425"/>
            <a:chExt cx="1374500" cy="1310550"/>
          </a:xfrm>
        </p:grpSpPr>
        <p:sp>
          <p:nvSpPr>
            <p:cNvPr id="437" name="Google Shape;437;p47"/>
            <p:cNvSpPr/>
            <p:nvPr/>
          </p:nvSpPr>
          <p:spPr>
            <a:xfrm>
              <a:off x="3448775" y="3846275"/>
              <a:ext cx="1097100" cy="1037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7"/>
            <p:cNvSpPr/>
            <p:nvPr/>
          </p:nvSpPr>
          <p:spPr>
            <a:xfrm>
              <a:off x="3786875" y="4256650"/>
              <a:ext cx="420900" cy="420600"/>
            </a:xfrm>
            <a:prstGeom prst="ellipse">
              <a:avLst/>
            </a:prstGeom>
            <a:solidFill>
              <a:srgbClr val="9FC5E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9" name="Google Shape;439;p47"/>
            <p:cNvCxnSpPr/>
            <p:nvPr/>
          </p:nvCxnSpPr>
          <p:spPr>
            <a:xfrm>
              <a:off x="3982675" y="4466825"/>
              <a:ext cx="8406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40" name="Google Shape;440;p47"/>
            <p:cNvSpPr txBox="1"/>
            <p:nvPr/>
          </p:nvSpPr>
          <p:spPr>
            <a:xfrm>
              <a:off x="3734225" y="3917950"/>
              <a:ext cx="526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head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41" name="Google Shape;441;p47"/>
            <p:cNvSpPr txBox="1"/>
            <p:nvPr/>
          </p:nvSpPr>
          <p:spPr>
            <a:xfrm>
              <a:off x="3591425" y="3573425"/>
              <a:ext cx="81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list_t</a:t>
              </a:r>
              <a:endParaRPr sz="1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442" name="Google Shape;442;p47"/>
          <p:cNvGraphicFramePr/>
          <p:nvPr/>
        </p:nvGraphicFramePr>
        <p:xfrm>
          <a:off x="1438900" y="4924425"/>
          <a:ext cx="1409700" cy="9565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2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*head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3" name="Google Shape;443;p47"/>
          <p:cNvSpPr txBox="1"/>
          <p:nvPr/>
        </p:nvSpPr>
        <p:spPr>
          <a:xfrm>
            <a:off x="5857875" y="2356800"/>
            <a:ext cx="5166300" cy="1563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basic node structure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struct __node_t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key;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struct __node_t *next;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node_t;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4" name="Google Shape;444;p47"/>
          <p:cNvSpPr txBox="1"/>
          <p:nvPr/>
        </p:nvSpPr>
        <p:spPr>
          <a:xfrm>
            <a:off x="5909950" y="4831900"/>
            <a:ext cx="5114100" cy="12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basic list structure (one used per list)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struct __list_t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node_t *head;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list_t;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5" name="Google Shape;445;p47"/>
          <p:cNvSpPr txBox="1"/>
          <p:nvPr/>
        </p:nvSpPr>
        <p:spPr>
          <a:xfrm>
            <a:off x="411111" y="1328081"/>
            <a:ext cx="979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>
                <a:solidFill>
                  <a:srgbClr val="E06666"/>
                </a:solidFill>
                <a:ea typeface="Roboto"/>
                <a:cs typeface="Roboto"/>
                <a:sym typeface="Roboto"/>
              </a:rPr>
              <a:t>Definición de las estructuras de datos empleadas (Nodo y lista)</a:t>
            </a:r>
            <a:endParaRPr sz="1000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8"/>
          <p:cNvSpPr txBox="1">
            <a:spLocks noGrp="1"/>
          </p:cNvSpPr>
          <p:nvPr>
            <p:ph type="title"/>
          </p:nvPr>
        </p:nvSpPr>
        <p:spPr>
          <a:xfrm>
            <a:off x="471948" y="96038"/>
            <a:ext cx="8748702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Lista enlazada concurrente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451" name="Google Shape;451;p48"/>
          <p:cNvSpPr txBox="1"/>
          <p:nvPr/>
        </p:nvSpPr>
        <p:spPr>
          <a:xfrm>
            <a:off x="471948" y="852625"/>
            <a:ext cx="65571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Lista enlazada sin concurrencia</a:t>
            </a:r>
            <a:endParaRPr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452" name="Google Shape;452;p48"/>
          <p:cNvGraphicFramePr/>
          <p:nvPr/>
        </p:nvGraphicFramePr>
        <p:xfrm>
          <a:off x="7633700" y="1045550"/>
          <a:ext cx="1409700" cy="12719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*next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3" name="Google Shape;453;p48"/>
          <p:cNvGraphicFramePr/>
          <p:nvPr/>
        </p:nvGraphicFramePr>
        <p:xfrm>
          <a:off x="9438425" y="1122900"/>
          <a:ext cx="1409700" cy="9565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*head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4" name="Google Shape;454;p48"/>
          <p:cNvSpPr txBox="1"/>
          <p:nvPr/>
        </p:nvSpPr>
        <p:spPr>
          <a:xfrm>
            <a:off x="529098" y="1313500"/>
            <a:ext cx="6709577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Operaciones básicas sobre la lista enlazada</a:t>
            </a:r>
            <a:endParaRPr sz="1000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455" name="Google Shape;455;p48"/>
          <p:cNvGrpSpPr/>
          <p:nvPr/>
        </p:nvGrpSpPr>
        <p:grpSpPr>
          <a:xfrm>
            <a:off x="1057925" y="1931938"/>
            <a:ext cx="4645200" cy="1321513"/>
            <a:chOff x="1057925" y="1931938"/>
            <a:chExt cx="4645200" cy="1321513"/>
          </a:xfrm>
        </p:grpSpPr>
        <p:sp>
          <p:nvSpPr>
            <p:cNvPr id="456" name="Google Shape;456;p48"/>
            <p:cNvSpPr txBox="1"/>
            <p:nvPr/>
          </p:nvSpPr>
          <p:spPr>
            <a:xfrm>
              <a:off x="1057925" y="2459350"/>
              <a:ext cx="4645200" cy="7941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List_Init(list_t *L) {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L-&gt;head = NULL;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57" name="Google Shape;457;p48"/>
            <p:cNvSpPr txBox="1"/>
            <p:nvPr/>
          </p:nvSpPr>
          <p:spPr>
            <a:xfrm>
              <a:off x="1057925" y="1931938"/>
              <a:ext cx="374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Inicialización</a:t>
              </a:r>
              <a:r>
                <a:rPr lang="es-ES" sz="2000" dirty="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List_Init</a:t>
              </a:r>
              <a:endParaRPr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58" name="Google Shape;458;p48"/>
          <p:cNvGrpSpPr/>
          <p:nvPr/>
        </p:nvGrpSpPr>
        <p:grpSpPr>
          <a:xfrm>
            <a:off x="1057925" y="3722438"/>
            <a:ext cx="4645200" cy="2773813"/>
            <a:chOff x="1057925" y="3722438"/>
            <a:chExt cx="4645200" cy="2773813"/>
          </a:xfrm>
        </p:grpSpPr>
        <p:sp>
          <p:nvSpPr>
            <p:cNvPr id="459" name="Google Shape;459;p48"/>
            <p:cNvSpPr txBox="1"/>
            <p:nvPr/>
          </p:nvSpPr>
          <p:spPr>
            <a:xfrm>
              <a:off x="1057925" y="4215050"/>
              <a:ext cx="4645200" cy="2281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 List_Lookup(list_t *L, int key) {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node_t *curr = L-&gt;head;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while (curr) {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if (curr-&gt;key == key) {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return 0; // success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}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curr = curr-&gt;next;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return -1; // failure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60" name="Google Shape;460;p48"/>
            <p:cNvSpPr txBox="1"/>
            <p:nvPr/>
          </p:nvSpPr>
          <p:spPr>
            <a:xfrm>
              <a:off x="1057925" y="3722438"/>
              <a:ext cx="374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Busqueda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List_Lookup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61" name="Google Shape;461;p48"/>
          <p:cNvGrpSpPr/>
          <p:nvPr/>
        </p:nvGrpSpPr>
        <p:grpSpPr>
          <a:xfrm>
            <a:off x="6466850" y="3019163"/>
            <a:ext cx="4645200" cy="2986213"/>
            <a:chOff x="6466850" y="3019163"/>
            <a:chExt cx="4645200" cy="2986213"/>
          </a:xfrm>
        </p:grpSpPr>
        <p:sp>
          <p:nvSpPr>
            <p:cNvPr id="462" name="Google Shape;462;p48"/>
            <p:cNvSpPr txBox="1"/>
            <p:nvPr/>
          </p:nvSpPr>
          <p:spPr>
            <a:xfrm>
              <a:off x="6466850" y="3511775"/>
              <a:ext cx="4645200" cy="2493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 List_Insert(list_t *L, int key) {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node_t *new = malloc(sizeof(node_t));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if (new == NULL) {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perror("malloc");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return -1; // fail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new-&gt;key = key;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new-&gt;next = L-&gt;head;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L-&gt;head = new;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return 0; // success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63" name="Google Shape;463;p48"/>
            <p:cNvSpPr txBox="1"/>
            <p:nvPr/>
          </p:nvSpPr>
          <p:spPr>
            <a:xfrm>
              <a:off x="6466850" y="3019163"/>
              <a:ext cx="374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Inserción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List_Insert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Lista enlazada concurrente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469" name="Google Shape;469;p49"/>
          <p:cNvSpPr txBox="1"/>
          <p:nvPr/>
        </p:nvSpPr>
        <p:spPr>
          <a:xfrm>
            <a:off x="433325" y="837611"/>
            <a:ext cx="65571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Lista enlazada sin concurrencia</a:t>
            </a:r>
            <a:endParaRPr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470" name="Google Shape;470;p49"/>
          <p:cNvGraphicFramePr/>
          <p:nvPr/>
        </p:nvGraphicFramePr>
        <p:xfrm>
          <a:off x="10307950" y="3508225"/>
          <a:ext cx="1409700" cy="12719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lang="es-ES" sz="18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1" name="Google Shape;471;p49"/>
          <p:cNvGraphicFramePr/>
          <p:nvPr/>
        </p:nvGraphicFramePr>
        <p:xfrm>
          <a:off x="10307950" y="2104625"/>
          <a:ext cx="1409700" cy="9565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*head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2" name="Google Shape;472;p49"/>
          <p:cNvSpPr txBox="1"/>
          <p:nvPr/>
        </p:nvSpPr>
        <p:spPr>
          <a:xfrm>
            <a:off x="433325" y="1286194"/>
            <a:ext cx="979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>
                <a:solidFill>
                  <a:srgbClr val="E06666"/>
                </a:solidFill>
                <a:ea typeface="Roboto"/>
                <a:cs typeface="Roboto"/>
                <a:sym typeface="Roboto"/>
              </a:rPr>
              <a:t>Ejemplo</a:t>
            </a:r>
            <a:endParaRPr sz="1000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473" name="Google Shape;473;p49"/>
          <p:cNvGrpSpPr/>
          <p:nvPr/>
        </p:nvGrpSpPr>
        <p:grpSpPr>
          <a:xfrm>
            <a:off x="1134125" y="2230750"/>
            <a:ext cx="4194300" cy="4001988"/>
            <a:chOff x="1057925" y="2459350"/>
            <a:chExt cx="4194300" cy="4001988"/>
          </a:xfrm>
        </p:grpSpPr>
        <p:sp>
          <p:nvSpPr>
            <p:cNvPr id="474" name="Google Shape;474;p49"/>
            <p:cNvSpPr txBox="1"/>
            <p:nvPr/>
          </p:nvSpPr>
          <p:spPr>
            <a:xfrm>
              <a:off x="1057925" y="2459350"/>
              <a:ext cx="4194300" cy="36018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 main() {</a:t>
              </a:r>
              <a:endParaRPr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int found;</a:t>
              </a:r>
              <a:endParaRPr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list_t L;</a:t>
              </a:r>
              <a:endParaRPr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List_Init(&amp;L);</a:t>
              </a:r>
              <a:endParaRPr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List_Insert(&amp;L,3);</a:t>
              </a:r>
              <a:endParaRPr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List_Insert(&amp;L,8);</a:t>
              </a:r>
              <a:endParaRPr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found = List_Lookup(&amp;L, 3);</a:t>
              </a:r>
              <a:endParaRPr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found = List_Lookup(&amp;L, 8);</a:t>
              </a:r>
              <a:endParaRPr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printf("3 in L? %d\n",found);</a:t>
              </a:r>
              <a:endParaRPr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found = List_Lookup(&amp;L, 5);</a:t>
              </a:r>
              <a:endParaRPr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printf("3 in L? %d\n",found);</a:t>
              </a:r>
              <a:endParaRPr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return 0;</a:t>
              </a:r>
              <a:endParaRPr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75" name="Google Shape;475;p49"/>
            <p:cNvSpPr txBox="1"/>
            <p:nvPr/>
          </p:nvSpPr>
          <p:spPr>
            <a:xfrm>
              <a:off x="1283375" y="6061138"/>
              <a:ext cx="3743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u="sng">
                  <a:solidFill>
                    <a:schemeClr val="hlink"/>
                  </a:solidFill>
                  <a:latin typeface="Roboto"/>
                  <a:ea typeface="Roboto"/>
                  <a:cs typeface="Roboto"/>
                  <a:sym typeface="Roboto"/>
                  <a:hlinkClick r:id="rId3"/>
                </a:rPr>
                <a:t>Link simulación</a:t>
              </a:r>
              <a:endParaRPr sz="2000" b="1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476" name="Google Shape;47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1037" y="1147756"/>
            <a:ext cx="4194300" cy="5084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0"/>
          <p:cNvSpPr txBox="1">
            <a:spLocks noGrp="1"/>
          </p:cNvSpPr>
          <p:nvPr>
            <p:ph type="title"/>
          </p:nvPr>
        </p:nvSpPr>
        <p:spPr>
          <a:xfrm>
            <a:off x="471948" y="96038"/>
            <a:ext cx="8748702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>
                <a:latin typeface="+mj-lt"/>
              </a:rPr>
              <a:t>Lista enlazada concurrente</a:t>
            </a:r>
            <a:endParaRPr sz="3200" b="1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482" name="Google Shape;482;p50"/>
          <p:cNvSpPr txBox="1"/>
          <p:nvPr/>
        </p:nvSpPr>
        <p:spPr>
          <a:xfrm>
            <a:off x="528827" y="779748"/>
            <a:ext cx="7679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Lista enlazada concurrente</a:t>
            </a:r>
            <a:endParaRPr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483" name="Google Shape;483;p50"/>
          <p:cNvGraphicFramePr/>
          <p:nvPr/>
        </p:nvGraphicFramePr>
        <p:xfrm>
          <a:off x="1438900" y="2179875"/>
          <a:ext cx="1409700" cy="12719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*next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84" name="Google Shape;484;p50"/>
          <p:cNvGrpSpPr/>
          <p:nvPr/>
        </p:nvGrpSpPr>
        <p:grpSpPr>
          <a:xfrm>
            <a:off x="3809675" y="2648525"/>
            <a:ext cx="1139175" cy="885175"/>
            <a:chOff x="3504875" y="2343725"/>
            <a:chExt cx="1139175" cy="885175"/>
          </a:xfrm>
        </p:grpSpPr>
        <p:grpSp>
          <p:nvGrpSpPr>
            <p:cNvPr id="485" name="Google Shape;485;p50"/>
            <p:cNvGrpSpPr/>
            <p:nvPr/>
          </p:nvGrpSpPr>
          <p:grpSpPr>
            <a:xfrm>
              <a:off x="3504875" y="2615775"/>
              <a:ext cx="898925" cy="365600"/>
              <a:chOff x="3504875" y="2615775"/>
              <a:chExt cx="898925" cy="365600"/>
            </a:xfrm>
          </p:grpSpPr>
          <p:sp>
            <p:nvSpPr>
              <p:cNvPr id="486" name="Google Shape;486;p50"/>
              <p:cNvSpPr/>
              <p:nvPr/>
            </p:nvSpPr>
            <p:spPr>
              <a:xfrm>
                <a:off x="3504875" y="2615775"/>
                <a:ext cx="897600" cy="3645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50"/>
              <p:cNvSpPr/>
              <p:nvPr/>
            </p:nvSpPr>
            <p:spPr>
              <a:xfrm>
                <a:off x="4037800" y="2616875"/>
                <a:ext cx="366000" cy="364500"/>
              </a:xfrm>
              <a:prstGeom prst="rect">
                <a:avLst/>
              </a:prstGeom>
              <a:solidFill>
                <a:srgbClr val="FCE5C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88" name="Google Shape;488;p50"/>
            <p:cNvCxnSpPr/>
            <p:nvPr/>
          </p:nvCxnSpPr>
          <p:spPr>
            <a:xfrm rot="10800000" flipH="1">
              <a:off x="4219850" y="2800700"/>
              <a:ext cx="424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89" name="Google Shape;489;p50"/>
            <p:cNvSpPr txBox="1"/>
            <p:nvPr/>
          </p:nvSpPr>
          <p:spPr>
            <a:xfrm>
              <a:off x="3504938" y="2343725"/>
              <a:ext cx="898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endParaRPr sz="1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90" name="Google Shape;490;p50"/>
            <p:cNvSpPr txBox="1"/>
            <p:nvPr/>
          </p:nvSpPr>
          <p:spPr>
            <a:xfrm>
              <a:off x="3504875" y="2890200"/>
              <a:ext cx="526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91" name="Google Shape;491;p50"/>
            <p:cNvSpPr txBox="1"/>
            <p:nvPr/>
          </p:nvSpPr>
          <p:spPr>
            <a:xfrm>
              <a:off x="3948050" y="2890200"/>
              <a:ext cx="546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492" name="Google Shape;492;p50"/>
          <p:cNvGraphicFramePr/>
          <p:nvPr/>
        </p:nvGraphicFramePr>
        <p:xfrm>
          <a:off x="1438900" y="4848225"/>
          <a:ext cx="1409700" cy="12719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2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*head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3" name="Google Shape;493;p50"/>
          <p:cNvSpPr txBox="1"/>
          <p:nvPr/>
        </p:nvSpPr>
        <p:spPr>
          <a:xfrm>
            <a:off x="5857875" y="2356800"/>
            <a:ext cx="5166300" cy="1563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basic node structure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struct __node_t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key;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struct __node_t *next;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node_t;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4" name="Google Shape;494;p50"/>
          <p:cNvSpPr txBox="1"/>
          <p:nvPr/>
        </p:nvSpPr>
        <p:spPr>
          <a:xfrm>
            <a:off x="5909950" y="4638075"/>
            <a:ext cx="5114100" cy="1563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basic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structure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used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per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*head;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5" name="Google Shape;495;p50"/>
          <p:cNvSpPr txBox="1"/>
          <p:nvPr/>
        </p:nvSpPr>
        <p:spPr>
          <a:xfrm>
            <a:off x="585977" y="1240623"/>
            <a:ext cx="9790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>
                <a:solidFill>
                  <a:srgbClr val="E06666"/>
                </a:solidFill>
                <a:ea typeface="Roboto"/>
                <a:cs typeface="Roboto"/>
                <a:sym typeface="Roboto"/>
              </a:rPr>
              <a:t>Definición de las estructuras de datos empleadas (Nodo y lista)</a:t>
            </a:r>
            <a:endParaRPr sz="1000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496" name="Google Shape;496;p50"/>
          <p:cNvGrpSpPr/>
          <p:nvPr/>
        </p:nvGrpSpPr>
        <p:grpSpPr>
          <a:xfrm>
            <a:off x="3692025" y="4272800"/>
            <a:ext cx="1374488" cy="1972950"/>
            <a:chOff x="3692025" y="4653800"/>
            <a:chExt cx="1374488" cy="1972950"/>
          </a:xfrm>
        </p:grpSpPr>
        <p:sp>
          <p:nvSpPr>
            <p:cNvPr id="497" name="Google Shape;497;p50"/>
            <p:cNvSpPr/>
            <p:nvPr/>
          </p:nvSpPr>
          <p:spPr>
            <a:xfrm>
              <a:off x="3692025" y="4941650"/>
              <a:ext cx="1097100" cy="16851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8" name="Google Shape;498;p50"/>
            <p:cNvGrpSpPr/>
            <p:nvPr/>
          </p:nvGrpSpPr>
          <p:grpSpPr>
            <a:xfrm>
              <a:off x="3977463" y="5080875"/>
              <a:ext cx="1089050" cy="691750"/>
              <a:chOff x="3977463" y="5080875"/>
              <a:chExt cx="1089050" cy="691750"/>
            </a:xfrm>
          </p:grpSpPr>
          <p:grpSp>
            <p:nvGrpSpPr>
              <p:cNvPr id="499" name="Google Shape;499;p50"/>
              <p:cNvGrpSpPr/>
              <p:nvPr/>
            </p:nvGrpSpPr>
            <p:grpSpPr>
              <a:xfrm>
                <a:off x="4030113" y="5352025"/>
                <a:ext cx="1036400" cy="420600"/>
                <a:chOff x="4030113" y="5352025"/>
                <a:chExt cx="1036400" cy="420600"/>
              </a:xfrm>
            </p:grpSpPr>
            <p:sp>
              <p:nvSpPr>
                <p:cNvPr id="500" name="Google Shape;500;p50"/>
                <p:cNvSpPr/>
                <p:nvPr/>
              </p:nvSpPr>
              <p:spPr>
                <a:xfrm>
                  <a:off x="4030113" y="5352025"/>
                  <a:ext cx="420900" cy="420600"/>
                </a:xfrm>
                <a:prstGeom prst="ellipse">
                  <a:avLst/>
                </a:prstGeom>
                <a:solidFill>
                  <a:srgbClr val="9FC5E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01" name="Google Shape;501;p50"/>
                <p:cNvCxnSpPr/>
                <p:nvPr/>
              </p:nvCxnSpPr>
              <p:spPr>
                <a:xfrm>
                  <a:off x="4225913" y="5562200"/>
                  <a:ext cx="8406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502" name="Google Shape;502;p50"/>
              <p:cNvSpPr txBox="1"/>
              <p:nvPr/>
            </p:nvSpPr>
            <p:spPr>
              <a:xfrm>
                <a:off x="3977463" y="5080875"/>
                <a:ext cx="526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head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503" name="Google Shape;503;p50"/>
            <p:cNvSpPr txBox="1"/>
            <p:nvPr/>
          </p:nvSpPr>
          <p:spPr>
            <a:xfrm>
              <a:off x="3834663" y="4653800"/>
              <a:ext cx="81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list_t</a:t>
              </a:r>
              <a:endParaRPr sz="1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504" name="Google Shape;504;p50"/>
            <p:cNvGrpSpPr/>
            <p:nvPr/>
          </p:nvGrpSpPr>
          <p:grpSpPr>
            <a:xfrm>
              <a:off x="3967675" y="5838900"/>
              <a:ext cx="574800" cy="638200"/>
              <a:chOff x="3967675" y="5838900"/>
              <a:chExt cx="574800" cy="638200"/>
            </a:xfrm>
          </p:grpSpPr>
          <p:sp>
            <p:nvSpPr>
              <p:cNvPr id="505" name="Google Shape;505;p50"/>
              <p:cNvSpPr/>
              <p:nvPr/>
            </p:nvSpPr>
            <p:spPr>
              <a:xfrm>
                <a:off x="3967675" y="6112600"/>
                <a:ext cx="574800" cy="364500"/>
              </a:xfrm>
              <a:prstGeom prst="rect">
                <a:avLst/>
              </a:prstGeom>
              <a:solidFill>
                <a:srgbClr val="FCE5C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50"/>
              <p:cNvSpPr txBox="1"/>
              <p:nvPr/>
            </p:nvSpPr>
            <p:spPr>
              <a:xfrm>
                <a:off x="3991963" y="5838900"/>
                <a:ext cx="526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lock</a:t>
                </a:r>
                <a:endParaRPr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1"/>
          <p:cNvSpPr txBox="1">
            <a:spLocks noGrp="1"/>
          </p:cNvSpPr>
          <p:nvPr>
            <p:ph type="title"/>
          </p:nvPr>
        </p:nvSpPr>
        <p:spPr>
          <a:xfrm>
            <a:off x="471948" y="96038"/>
            <a:ext cx="8748702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Lista enlazada concurrente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512" name="Google Shape;512;p51"/>
          <p:cNvSpPr txBox="1"/>
          <p:nvPr/>
        </p:nvSpPr>
        <p:spPr>
          <a:xfrm>
            <a:off x="602568" y="1000756"/>
            <a:ext cx="6557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Lista enlazada concurrente</a:t>
            </a:r>
            <a:endParaRPr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513" name="Google Shape;513;p51"/>
          <p:cNvGraphicFramePr/>
          <p:nvPr>
            <p:extLst>
              <p:ext uri="{D42A27DB-BD31-4B8C-83A1-F6EECF244321}">
                <p14:modId xmlns:p14="http://schemas.microsoft.com/office/powerpoint/2010/main" val="2422764474"/>
              </p:ext>
            </p:extLst>
          </p:nvPr>
        </p:nvGraphicFramePr>
        <p:xfrm>
          <a:off x="7337758" y="3304238"/>
          <a:ext cx="1409700" cy="12719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*next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4" name="Google Shape;514;p51"/>
          <p:cNvGraphicFramePr/>
          <p:nvPr>
            <p:extLst>
              <p:ext uri="{D42A27DB-BD31-4B8C-83A1-F6EECF244321}">
                <p14:modId xmlns:p14="http://schemas.microsoft.com/office/powerpoint/2010/main" val="477892756"/>
              </p:ext>
            </p:extLst>
          </p:nvPr>
        </p:nvGraphicFramePr>
        <p:xfrm>
          <a:off x="9523483" y="3305388"/>
          <a:ext cx="1409700" cy="12719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*head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5" name="Google Shape;515;p51"/>
          <p:cNvSpPr txBox="1"/>
          <p:nvPr/>
        </p:nvSpPr>
        <p:spPr>
          <a:xfrm>
            <a:off x="659718" y="1461631"/>
            <a:ext cx="62757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Operaciones básicas sobre la lista enlazada concurrente</a:t>
            </a:r>
            <a:endParaRPr sz="2400" b="1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Función inicializar recurrente:</a:t>
            </a:r>
            <a:endParaRPr sz="2200" b="1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lock es inicializado.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516" name="Google Shape;516;p51"/>
          <p:cNvGrpSpPr/>
          <p:nvPr/>
        </p:nvGrpSpPr>
        <p:grpSpPr>
          <a:xfrm>
            <a:off x="1110844" y="3447624"/>
            <a:ext cx="4645200" cy="1880060"/>
            <a:chOff x="1057925" y="1931938"/>
            <a:chExt cx="4645200" cy="1880060"/>
          </a:xfrm>
        </p:grpSpPr>
        <p:sp>
          <p:nvSpPr>
            <p:cNvPr id="517" name="Google Shape;517;p51"/>
            <p:cNvSpPr txBox="1"/>
            <p:nvPr/>
          </p:nvSpPr>
          <p:spPr>
            <a:xfrm>
              <a:off x="1057925" y="2459350"/>
              <a:ext cx="4645200" cy="135264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List_Init(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L-&gt;head = NULL;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pthread_mutex_init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(&amp;L-&gt;lock, NULL);</a:t>
              </a:r>
              <a:endParaRPr sz="16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18" name="Google Shape;518;p51"/>
            <p:cNvSpPr txBox="1"/>
            <p:nvPr/>
          </p:nvSpPr>
          <p:spPr>
            <a:xfrm>
              <a:off x="1057925" y="1931938"/>
              <a:ext cx="374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Inicialización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List_Init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2"/>
          <p:cNvSpPr txBox="1">
            <a:spLocks noGrp="1"/>
          </p:cNvSpPr>
          <p:nvPr>
            <p:ph type="title"/>
          </p:nvPr>
        </p:nvSpPr>
        <p:spPr>
          <a:xfrm>
            <a:off x="398206" y="96038"/>
            <a:ext cx="882244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>
                <a:latin typeface="+mj-lt"/>
              </a:rPr>
              <a:t>Lista enlazada concurrente</a:t>
            </a:r>
            <a:endParaRPr sz="3200" b="1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524" name="Google Shape;524;p52"/>
          <p:cNvSpPr txBox="1"/>
          <p:nvPr/>
        </p:nvSpPr>
        <p:spPr>
          <a:xfrm>
            <a:off x="398206" y="874742"/>
            <a:ext cx="6557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Lista enlazada concurrente</a:t>
            </a:r>
            <a:endParaRPr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52"/>
          <p:cNvSpPr txBox="1"/>
          <p:nvPr/>
        </p:nvSpPr>
        <p:spPr>
          <a:xfrm>
            <a:off x="475756" y="1415442"/>
            <a:ext cx="5133300" cy="249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Operaciones básicas sobre la lista enlazada concurrente</a:t>
            </a:r>
            <a:endParaRPr sz="2400" b="1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Función insertar recurrente:</a:t>
            </a:r>
            <a:endParaRPr sz="2200" b="1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código </a:t>
            </a:r>
            <a:r>
              <a:rPr lang="es-ES" sz="2000" b="1" dirty="0">
                <a:solidFill>
                  <a:schemeClr val="dk1"/>
                </a:solidFill>
                <a:highlight>
                  <a:srgbClr val="FFFF00"/>
                </a:highlight>
                <a:ea typeface="Roboto"/>
                <a:cs typeface="Roboto"/>
                <a:sym typeface="Roboto"/>
              </a:rPr>
              <a:t>adquiere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el lock, en la entrada de la rutina insertar.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código </a:t>
            </a:r>
            <a:r>
              <a:rPr lang="es-ES" sz="2000" b="1" dirty="0">
                <a:solidFill>
                  <a:schemeClr val="dk1"/>
                </a:solidFill>
                <a:highlight>
                  <a:srgbClr val="F4CCCC"/>
                </a:highlight>
                <a:ea typeface="Roboto"/>
                <a:cs typeface="Roboto"/>
                <a:sym typeface="Roboto"/>
              </a:rPr>
              <a:t>libera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el lock al salida.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 el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malloc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falla, </a:t>
            </a:r>
            <a:r>
              <a:rPr lang="es-ES" sz="2000" b="1" dirty="0">
                <a:solidFill>
                  <a:schemeClr val="dk1"/>
                </a:solidFill>
                <a:highlight>
                  <a:srgbClr val="CFE2F3"/>
                </a:highlight>
                <a:ea typeface="Roboto"/>
                <a:cs typeface="Roboto"/>
                <a:sym typeface="Roboto"/>
              </a:rPr>
              <a:t>libera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el lock.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526" name="Google Shape;526;p52"/>
          <p:cNvGrpSpPr/>
          <p:nvPr/>
        </p:nvGrpSpPr>
        <p:grpSpPr>
          <a:xfrm>
            <a:off x="6506168" y="1647584"/>
            <a:ext cx="5520356" cy="4605313"/>
            <a:chOff x="6466850" y="2638163"/>
            <a:chExt cx="4645200" cy="4605313"/>
          </a:xfrm>
        </p:grpSpPr>
        <p:sp>
          <p:nvSpPr>
            <p:cNvPr id="527" name="Google Shape;527;p52"/>
            <p:cNvSpPr txBox="1"/>
            <p:nvPr/>
          </p:nvSpPr>
          <p:spPr>
            <a:xfrm>
              <a:off x="6466850" y="3130775"/>
              <a:ext cx="4645200" cy="4112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List_Insert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*L,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*new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malloc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sizeof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));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(new == NULL)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perror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malloc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");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solidFill>
                    <a:schemeClr val="dk1"/>
                  </a:solidFill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6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-1; //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fail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new-&gt;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new-&gt;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L-&gt;head;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L-&gt;head = new;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6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0; //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28" name="Google Shape;528;p52"/>
            <p:cNvSpPr txBox="1"/>
            <p:nvPr/>
          </p:nvSpPr>
          <p:spPr>
            <a:xfrm>
              <a:off x="6466850" y="2638163"/>
              <a:ext cx="374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Inserción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List_Insert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29" name="Google Shape;529;p52"/>
          <p:cNvGrpSpPr/>
          <p:nvPr/>
        </p:nvGrpSpPr>
        <p:grpSpPr>
          <a:xfrm>
            <a:off x="1260325" y="4193150"/>
            <a:ext cx="4699200" cy="1937200"/>
            <a:chOff x="1231875" y="4742650"/>
            <a:chExt cx="4699200" cy="1937200"/>
          </a:xfrm>
        </p:grpSpPr>
        <p:pic>
          <p:nvPicPr>
            <p:cNvPr id="530" name="Google Shape;530;p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28288" y="4806473"/>
              <a:ext cx="384675" cy="536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1" name="Google Shape;531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67388" y="4742650"/>
              <a:ext cx="513925" cy="5437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32" name="Google Shape;532;p52"/>
            <p:cNvCxnSpPr/>
            <p:nvPr/>
          </p:nvCxnSpPr>
          <p:spPr>
            <a:xfrm>
              <a:off x="2649375" y="5701175"/>
              <a:ext cx="3281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33" name="Google Shape;533;p52"/>
            <p:cNvSpPr txBox="1"/>
            <p:nvPr/>
          </p:nvSpPr>
          <p:spPr>
            <a:xfrm>
              <a:off x="1231875" y="5470325"/>
              <a:ext cx="131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Thread </a:t>
              </a:r>
              <a:endParaRPr sz="1800" b="1">
                <a:solidFill>
                  <a:schemeClr val="dk1"/>
                </a:solidFill>
              </a:endParaRPr>
            </a:p>
          </p:txBody>
        </p:sp>
        <p:sp>
          <p:nvSpPr>
            <p:cNvPr id="534" name="Google Shape;534;p52"/>
            <p:cNvSpPr/>
            <p:nvPr/>
          </p:nvSpPr>
          <p:spPr>
            <a:xfrm>
              <a:off x="3216988" y="5617025"/>
              <a:ext cx="21036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35" name="Google Shape;535;p52"/>
            <p:cNvCxnSpPr/>
            <p:nvPr/>
          </p:nvCxnSpPr>
          <p:spPr>
            <a:xfrm flipH="1">
              <a:off x="3216875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36" name="Google Shape;536;p52"/>
            <p:cNvCxnSpPr/>
            <p:nvPr/>
          </p:nvCxnSpPr>
          <p:spPr>
            <a:xfrm flipH="1">
              <a:off x="5320600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37" name="Google Shape;537;p52"/>
            <p:cNvSpPr txBox="1"/>
            <p:nvPr/>
          </p:nvSpPr>
          <p:spPr>
            <a:xfrm>
              <a:off x="2729825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 </a:t>
              </a:r>
              <a:r>
                <a:rPr lang="es-ES" sz="16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(L)</a:t>
              </a:r>
              <a:endParaRPr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538" name="Google Shape;538;p52"/>
            <p:cNvSpPr txBox="1"/>
            <p:nvPr/>
          </p:nvSpPr>
          <p:spPr>
            <a:xfrm>
              <a:off x="4833550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unlock </a:t>
              </a:r>
              <a:r>
                <a:rPr lang="es-ES" sz="16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(U)</a:t>
              </a:r>
              <a:endParaRPr sz="1600" b="1">
                <a:solidFill>
                  <a:srgbClr val="0B6937"/>
                </a:solidFill>
              </a:endParaRPr>
            </a:p>
          </p:txBody>
        </p:sp>
        <p:sp>
          <p:nvSpPr>
            <p:cNvPr id="539" name="Google Shape;539;p52"/>
            <p:cNvSpPr txBox="1"/>
            <p:nvPr/>
          </p:nvSpPr>
          <p:spPr>
            <a:xfrm>
              <a:off x="3875963" y="5006825"/>
              <a:ext cx="981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critical section</a:t>
              </a:r>
              <a:endParaRPr sz="1200" b="1">
                <a:solidFill>
                  <a:srgbClr val="0B6937"/>
                </a:solidFill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3"/>
          <p:cNvSpPr txBox="1">
            <a:spLocks noGrp="1"/>
          </p:cNvSpPr>
          <p:nvPr>
            <p:ph type="title"/>
          </p:nvPr>
        </p:nvSpPr>
        <p:spPr>
          <a:xfrm>
            <a:off x="501445" y="96038"/>
            <a:ext cx="871920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Lista enlazada concurrente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545" name="Google Shape;545;p53"/>
          <p:cNvSpPr txBox="1"/>
          <p:nvPr/>
        </p:nvSpPr>
        <p:spPr>
          <a:xfrm>
            <a:off x="501445" y="882150"/>
            <a:ext cx="705643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Lista enlazada concurrente</a:t>
            </a:r>
            <a:endParaRPr dirty="0"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552261" y="1422850"/>
            <a:ext cx="5659364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Operaciones básicas sobre la lista enlazada concurrente</a:t>
            </a:r>
            <a:endParaRPr sz="2400" b="1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Función </a:t>
            </a:r>
            <a:r>
              <a:rPr lang="es-ES" sz="22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busqueda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recurrente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código </a:t>
            </a:r>
            <a:r>
              <a:rPr lang="es-ES" sz="2000" b="1" dirty="0">
                <a:solidFill>
                  <a:schemeClr val="dk1"/>
                </a:solidFill>
                <a:highlight>
                  <a:srgbClr val="FFFF00"/>
                </a:highlight>
                <a:ea typeface="Roboto"/>
                <a:cs typeface="Roboto"/>
                <a:sym typeface="Roboto"/>
              </a:rPr>
              <a:t>adquiere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el lock, en la entrada de la rutina insertar.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código </a:t>
            </a:r>
            <a:r>
              <a:rPr lang="es-ES" sz="2000" b="1" dirty="0">
                <a:solidFill>
                  <a:schemeClr val="dk1"/>
                </a:solidFill>
                <a:highlight>
                  <a:srgbClr val="F4CCCC"/>
                </a:highlight>
                <a:ea typeface="Roboto"/>
                <a:cs typeface="Roboto"/>
                <a:sym typeface="Roboto"/>
              </a:rPr>
              <a:t>libera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el lock al salida.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 el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malloc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falla, </a:t>
            </a:r>
            <a:r>
              <a:rPr lang="es-ES" sz="2000" b="1" dirty="0">
                <a:solidFill>
                  <a:schemeClr val="dk1"/>
                </a:solidFill>
                <a:highlight>
                  <a:srgbClr val="CFE2F3"/>
                </a:highlight>
                <a:ea typeface="Roboto"/>
                <a:cs typeface="Roboto"/>
                <a:sym typeface="Roboto"/>
              </a:rPr>
              <a:t>libera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el lock.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547" name="Google Shape;547;p53"/>
          <p:cNvGrpSpPr/>
          <p:nvPr/>
        </p:nvGrpSpPr>
        <p:grpSpPr>
          <a:xfrm>
            <a:off x="6506328" y="1647567"/>
            <a:ext cx="5133411" cy="4322113"/>
            <a:chOff x="6466850" y="2638163"/>
            <a:chExt cx="4645200" cy="4322113"/>
          </a:xfrm>
        </p:grpSpPr>
        <p:sp>
          <p:nvSpPr>
            <p:cNvPr id="548" name="Google Shape;548;p53"/>
            <p:cNvSpPr txBox="1"/>
            <p:nvPr/>
          </p:nvSpPr>
          <p:spPr>
            <a:xfrm>
              <a:off x="6466850" y="3130775"/>
              <a:ext cx="4645200" cy="3829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List_Lookup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*L,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L-&gt;head;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</a:t>
              </a:r>
              <a:r>
                <a:rPr lang="es-ES" sz="1600" dirty="0" err="1">
                  <a:solidFill>
                    <a:schemeClr val="dk1"/>
                  </a:solidFill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6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0; //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6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-1; //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failure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49" name="Google Shape;549;p53"/>
            <p:cNvSpPr txBox="1"/>
            <p:nvPr/>
          </p:nvSpPr>
          <p:spPr>
            <a:xfrm>
              <a:off x="6466850" y="2638163"/>
              <a:ext cx="374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Busqueda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List_Lookup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50" name="Google Shape;550;p53"/>
          <p:cNvGrpSpPr/>
          <p:nvPr/>
        </p:nvGrpSpPr>
        <p:grpSpPr>
          <a:xfrm>
            <a:off x="1260325" y="4193150"/>
            <a:ext cx="4699200" cy="1937200"/>
            <a:chOff x="1231875" y="4742650"/>
            <a:chExt cx="4699200" cy="1937200"/>
          </a:xfrm>
        </p:grpSpPr>
        <p:pic>
          <p:nvPicPr>
            <p:cNvPr id="551" name="Google Shape;551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28288" y="4806473"/>
              <a:ext cx="384675" cy="536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2" name="Google Shape;55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67388" y="4742650"/>
              <a:ext cx="513925" cy="5437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53" name="Google Shape;553;p53"/>
            <p:cNvCxnSpPr/>
            <p:nvPr/>
          </p:nvCxnSpPr>
          <p:spPr>
            <a:xfrm>
              <a:off x="2649375" y="5701175"/>
              <a:ext cx="3281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4" name="Google Shape;554;p53"/>
            <p:cNvSpPr txBox="1"/>
            <p:nvPr/>
          </p:nvSpPr>
          <p:spPr>
            <a:xfrm>
              <a:off x="1231875" y="5470325"/>
              <a:ext cx="131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Thread </a:t>
              </a:r>
              <a:endParaRPr sz="1800" b="1">
                <a:solidFill>
                  <a:schemeClr val="dk1"/>
                </a:solidFill>
              </a:endParaRPr>
            </a:p>
          </p:txBody>
        </p:sp>
        <p:sp>
          <p:nvSpPr>
            <p:cNvPr id="555" name="Google Shape;555;p53"/>
            <p:cNvSpPr/>
            <p:nvPr/>
          </p:nvSpPr>
          <p:spPr>
            <a:xfrm>
              <a:off x="3216988" y="5617025"/>
              <a:ext cx="21036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6" name="Google Shape;556;p53"/>
            <p:cNvCxnSpPr/>
            <p:nvPr/>
          </p:nvCxnSpPr>
          <p:spPr>
            <a:xfrm flipH="1">
              <a:off x="3216875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57" name="Google Shape;557;p53"/>
            <p:cNvCxnSpPr/>
            <p:nvPr/>
          </p:nvCxnSpPr>
          <p:spPr>
            <a:xfrm flipH="1">
              <a:off x="5320600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58" name="Google Shape;558;p53"/>
            <p:cNvSpPr txBox="1"/>
            <p:nvPr/>
          </p:nvSpPr>
          <p:spPr>
            <a:xfrm>
              <a:off x="2729825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 </a:t>
              </a:r>
              <a:r>
                <a:rPr lang="es-ES" sz="16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(L)</a:t>
              </a:r>
              <a:endParaRPr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559" name="Google Shape;559;p53"/>
            <p:cNvSpPr txBox="1"/>
            <p:nvPr/>
          </p:nvSpPr>
          <p:spPr>
            <a:xfrm>
              <a:off x="4833550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unlock </a:t>
              </a:r>
              <a:r>
                <a:rPr lang="es-ES" sz="16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(U)</a:t>
              </a:r>
              <a:endParaRPr sz="1600" b="1">
                <a:solidFill>
                  <a:srgbClr val="0B6937"/>
                </a:solidFill>
              </a:endParaRPr>
            </a:p>
          </p:txBody>
        </p:sp>
        <p:sp>
          <p:nvSpPr>
            <p:cNvPr id="560" name="Google Shape;560;p53"/>
            <p:cNvSpPr txBox="1"/>
            <p:nvPr/>
          </p:nvSpPr>
          <p:spPr>
            <a:xfrm>
              <a:off x="3875963" y="5006825"/>
              <a:ext cx="981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critical section</a:t>
              </a:r>
              <a:endParaRPr sz="1200" b="1">
                <a:solidFill>
                  <a:srgbClr val="0B6937"/>
                </a:solidFill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4"/>
          <p:cNvSpPr txBox="1">
            <a:spLocks noGrp="1"/>
          </p:cNvSpPr>
          <p:nvPr>
            <p:ph type="title"/>
          </p:nvPr>
        </p:nvSpPr>
        <p:spPr>
          <a:xfrm>
            <a:off x="575187" y="96038"/>
            <a:ext cx="8645463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Lista enlazada concurrente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575187" y="763700"/>
            <a:ext cx="11218238" cy="1785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Mejora</a:t>
            </a:r>
            <a:r>
              <a:rPr lang="es-ES" sz="2400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4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 </a:t>
            </a:r>
            <a:endParaRPr sz="2400" b="1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En las versiones anteriores (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List_Insert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List_Lookup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se podía dar una falla en el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malloc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 Si esto sucedía lo que se hacía era liberar el lock.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Manejo de flujo de control excepcional  (propenso a errores).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Solución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adquisición y liberación del lock solo alrededor de la región crítica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567" name="Google Shape;567;p54"/>
          <p:cNvGrpSpPr/>
          <p:nvPr/>
        </p:nvGrpSpPr>
        <p:grpSpPr>
          <a:xfrm>
            <a:off x="1220798" y="2550250"/>
            <a:ext cx="4233320" cy="3868825"/>
            <a:chOff x="6402735" y="2714353"/>
            <a:chExt cx="3562201" cy="3868825"/>
          </a:xfrm>
        </p:grpSpPr>
        <p:sp>
          <p:nvSpPr>
            <p:cNvPr id="568" name="Google Shape;568;p54"/>
            <p:cNvSpPr txBox="1"/>
            <p:nvPr/>
          </p:nvSpPr>
          <p:spPr>
            <a:xfrm>
              <a:off x="6402735" y="3206978"/>
              <a:ext cx="3562200" cy="3376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List_Insert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*L,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*new 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malloc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sizeof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));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(new == NULL)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perror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malloc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");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3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-1; //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fail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new-&gt;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new-&gt;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L-&gt;head;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L-&gt;head = new;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3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0; //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9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69" name="Google Shape;569;p54"/>
            <p:cNvSpPr txBox="1"/>
            <p:nvPr/>
          </p:nvSpPr>
          <p:spPr>
            <a:xfrm>
              <a:off x="6402736" y="2714353"/>
              <a:ext cx="356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Insert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List_Insert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70" name="Google Shape;570;p54"/>
          <p:cNvGrpSpPr/>
          <p:nvPr/>
        </p:nvGrpSpPr>
        <p:grpSpPr>
          <a:xfrm>
            <a:off x="7426648" y="2522200"/>
            <a:ext cx="4233320" cy="4098925"/>
            <a:chOff x="6402735" y="2714353"/>
            <a:chExt cx="3562201" cy="4098925"/>
          </a:xfrm>
        </p:grpSpPr>
        <p:sp>
          <p:nvSpPr>
            <p:cNvPr id="571" name="Google Shape;571;p54"/>
            <p:cNvSpPr txBox="1"/>
            <p:nvPr/>
          </p:nvSpPr>
          <p:spPr>
            <a:xfrm>
              <a:off x="6402735" y="3206978"/>
              <a:ext cx="3562200" cy="3606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List_Insert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*L,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synchronization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needed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*new 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malloc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sizeof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));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(new == NULL)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perror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malloc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");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new-&gt;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just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lock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critical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section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new-&gt;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L-&gt;head;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L-&gt;head = new;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72" name="Google Shape;572;p54"/>
            <p:cNvSpPr txBox="1"/>
            <p:nvPr/>
          </p:nvSpPr>
          <p:spPr>
            <a:xfrm>
              <a:off x="6402736" y="2714353"/>
              <a:ext cx="356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Insert mejorado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List_Insert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73" name="Google Shape;573;p54"/>
          <p:cNvSpPr/>
          <p:nvPr/>
        </p:nvSpPr>
        <p:spPr>
          <a:xfrm>
            <a:off x="5956488" y="4509075"/>
            <a:ext cx="967800" cy="462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5"/>
          <p:cNvSpPr txBox="1">
            <a:spLocks noGrp="1"/>
          </p:cNvSpPr>
          <p:nvPr>
            <p:ph type="title"/>
          </p:nvPr>
        </p:nvSpPr>
        <p:spPr>
          <a:xfrm>
            <a:off x="532032" y="96038"/>
            <a:ext cx="868861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Lista enlazada concurrente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579" name="Google Shape;579;p55"/>
          <p:cNvSpPr txBox="1"/>
          <p:nvPr/>
        </p:nvSpPr>
        <p:spPr>
          <a:xfrm>
            <a:off x="532032" y="877307"/>
            <a:ext cx="11261393" cy="1785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Mejora</a:t>
            </a:r>
            <a:r>
              <a:rPr lang="es-ES" sz="2400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4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 </a:t>
            </a:r>
            <a:endParaRPr sz="2400" b="1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En las versiones anteriores (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List_Insert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List_Lookup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se podía dar una falla en el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malloc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 Si esto sucedía lo que se hacía era liberar el lock.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Manejo de flujo de control excepcional  (propenso a errores).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Solución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adquisición y liberación del lock solo alrededor de la región crítica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580" name="Google Shape;580;p55"/>
          <p:cNvGrpSpPr/>
          <p:nvPr/>
        </p:nvGrpSpPr>
        <p:grpSpPr>
          <a:xfrm>
            <a:off x="1073314" y="2690431"/>
            <a:ext cx="4233320" cy="3638725"/>
            <a:chOff x="6402735" y="2714353"/>
            <a:chExt cx="3562201" cy="3638725"/>
          </a:xfrm>
        </p:grpSpPr>
        <p:sp>
          <p:nvSpPr>
            <p:cNvPr id="581" name="Google Shape;581;p55"/>
            <p:cNvSpPr txBox="1"/>
            <p:nvPr/>
          </p:nvSpPr>
          <p:spPr>
            <a:xfrm>
              <a:off x="6402735" y="3206978"/>
              <a:ext cx="3562200" cy="31461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List_Lookup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*L,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L-&gt;head;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3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0; //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3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-1; //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failure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82" name="Google Shape;582;p55"/>
            <p:cNvSpPr txBox="1"/>
            <p:nvPr/>
          </p:nvSpPr>
          <p:spPr>
            <a:xfrm>
              <a:off x="6402736" y="2714353"/>
              <a:ext cx="356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Busqueda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List_Lookup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83" name="Google Shape;583;p55"/>
          <p:cNvGrpSpPr/>
          <p:nvPr/>
        </p:nvGrpSpPr>
        <p:grpSpPr>
          <a:xfrm>
            <a:off x="7279164" y="2662381"/>
            <a:ext cx="4233320" cy="3868825"/>
            <a:chOff x="6402735" y="2714353"/>
            <a:chExt cx="3562201" cy="3868825"/>
          </a:xfrm>
        </p:grpSpPr>
        <p:sp>
          <p:nvSpPr>
            <p:cNvPr id="584" name="Google Shape;584;p55"/>
            <p:cNvSpPr txBox="1"/>
            <p:nvPr/>
          </p:nvSpPr>
          <p:spPr>
            <a:xfrm>
              <a:off x="6402735" y="3206978"/>
              <a:ext cx="3562200" cy="3376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List_Lookup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*L,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rv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-1;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L-&gt;head;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rv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0;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break;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rv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 //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now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both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and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failure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85" name="Google Shape;585;p55"/>
            <p:cNvSpPr txBox="1"/>
            <p:nvPr/>
          </p:nvSpPr>
          <p:spPr>
            <a:xfrm>
              <a:off x="6402736" y="2714353"/>
              <a:ext cx="356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Busqueda mejorada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List_Lookup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86" name="Google Shape;586;p55"/>
          <p:cNvSpPr/>
          <p:nvPr/>
        </p:nvSpPr>
        <p:spPr>
          <a:xfrm>
            <a:off x="5809004" y="4649256"/>
            <a:ext cx="967800" cy="462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Lista enlazada concurrente</a:t>
            </a:r>
            <a:endParaRPr dirty="0">
              <a:latin typeface="+mj-lt"/>
            </a:endParaRPr>
          </a:p>
        </p:txBody>
      </p:sp>
      <p:sp>
        <p:nvSpPr>
          <p:cNvPr id="592" name="Google Shape;592;p56"/>
          <p:cNvSpPr txBox="1">
            <a:spLocks noGrp="1"/>
          </p:cNvSpPr>
          <p:nvPr>
            <p:ph type="body" idx="1"/>
          </p:nvPr>
        </p:nvSpPr>
        <p:spPr>
          <a:xfrm>
            <a:off x="1063700" y="919325"/>
            <a:ext cx="10820700" cy="57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Resumen implementación</a:t>
            </a: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593" name="Google Shape;593;p56"/>
          <p:cNvGrpSpPr/>
          <p:nvPr/>
        </p:nvGrpSpPr>
        <p:grpSpPr>
          <a:xfrm>
            <a:off x="6290673" y="2635750"/>
            <a:ext cx="4233320" cy="3868825"/>
            <a:chOff x="6402735" y="2714353"/>
            <a:chExt cx="3562201" cy="3868825"/>
          </a:xfrm>
        </p:grpSpPr>
        <p:sp>
          <p:nvSpPr>
            <p:cNvPr id="594" name="Google Shape;594;p56"/>
            <p:cNvSpPr txBox="1"/>
            <p:nvPr/>
          </p:nvSpPr>
          <p:spPr>
            <a:xfrm>
              <a:off x="6402735" y="3206978"/>
              <a:ext cx="3562200" cy="3376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List_Lookup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*L,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rv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-1;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L-&gt;head;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rv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0;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break;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curr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rv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 //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now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both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and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failure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95" name="Google Shape;595;p56"/>
            <p:cNvSpPr txBox="1"/>
            <p:nvPr/>
          </p:nvSpPr>
          <p:spPr>
            <a:xfrm>
              <a:off x="6402736" y="2714353"/>
              <a:ext cx="356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Busqueda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List_Lookup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96" name="Google Shape;596;p56"/>
          <p:cNvGrpSpPr/>
          <p:nvPr/>
        </p:nvGrpSpPr>
        <p:grpSpPr>
          <a:xfrm>
            <a:off x="1157673" y="1949950"/>
            <a:ext cx="4233320" cy="4098925"/>
            <a:chOff x="6402735" y="2714353"/>
            <a:chExt cx="3562201" cy="4098925"/>
          </a:xfrm>
        </p:grpSpPr>
        <p:sp>
          <p:nvSpPr>
            <p:cNvPr id="597" name="Google Shape;597;p56"/>
            <p:cNvSpPr txBox="1"/>
            <p:nvPr/>
          </p:nvSpPr>
          <p:spPr>
            <a:xfrm>
              <a:off x="6402735" y="3206978"/>
              <a:ext cx="3562200" cy="3606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List_Insert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*L,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synchronization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needed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*new 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malloc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sizeof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));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(new == NULL)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perror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malloc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");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new-&gt;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just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lock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critical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section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new-&gt;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L-&gt;head;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L-&gt;head = new;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(&amp;L-&gt;lock);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98" name="Google Shape;598;p56"/>
            <p:cNvSpPr txBox="1"/>
            <p:nvPr/>
          </p:nvSpPr>
          <p:spPr>
            <a:xfrm>
              <a:off x="6402736" y="2714353"/>
              <a:ext cx="356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Insert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List_Insert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99" name="Google Shape;599;p56"/>
          <p:cNvGrpSpPr/>
          <p:nvPr/>
        </p:nvGrpSpPr>
        <p:grpSpPr>
          <a:xfrm>
            <a:off x="6290720" y="919340"/>
            <a:ext cx="4233487" cy="1602613"/>
            <a:chOff x="1057925" y="1931938"/>
            <a:chExt cx="3827400" cy="1602613"/>
          </a:xfrm>
        </p:grpSpPr>
        <p:sp>
          <p:nvSpPr>
            <p:cNvPr id="600" name="Google Shape;600;p56"/>
            <p:cNvSpPr txBox="1"/>
            <p:nvPr/>
          </p:nvSpPr>
          <p:spPr>
            <a:xfrm>
              <a:off x="1057925" y="2459350"/>
              <a:ext cx="3827400" cy="1075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List_Init(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L-&gt;head = NULL;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pthread_mutex_init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(&amp;L-&gt;lock, NULL);</a:t>
              </a:r>
              <a:endParaRPr sz="13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1" name="Google Shape;601;p56"/>
            <p:cNvSpPr txBox="1"/>
            <p:nvPr/>
          </p:nvSpPr>
          <p:spPr>
            <a:xfrm>
              <a:off x="1057925" y="1931938"/>
              <a:ext cx="374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Inicialización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List_Init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7"/>
          <p:cNvSpPr txBox="1">
            <a:spLocks noGrp="1"/>
          </p:cNvSpPr>
          <p:nvPr>
            <p:ph type="title"/>
          </p:nvPr>
        </p:nvSpPr>
        <p:spPr>
          <a:xfrm>
            <a:off x="427703" y="96038"/>
            <a:ext cx="8792947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Lista enlazada concurrente</a:t>
            </a:r>
            <a:endParaRPr dirty="0">
              <a:latin typeface="+mj-lt"/>
            </a:endParaRPr>
          </a:p>
        </p:txBody>
      </p:sp>
      <p:sp>
        <p:nvSpPr>
          <p:cNvPr id="607" name="Google Shape;607;p57"/>
          <p:cNvSpPr txBox="1">
            <a:spLocks noGrp="1"/>
          </p:cNvSpPr>
          <p:nvPr>
            <p:ph type="body" idx="1"/>
          </p:nvPr>
        </p:nvSpPr>
        <p:spPr>
          <a:xfrm>
            <a:off x="427703" y="919325"/>
            <a:ext cx="10820700" cy="546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Escalamiento</a:t>
            </a:r>
            <a:endParaRPr sz="2800"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608" name="Google Shape;608;p57"/>
          <p:cNvSpPr txBox="1"/>
          <p:nvPr/>
        </p:nvSpPr>
        <p:spPr>
          <a:xfrm>
            <a:off x="477803" y="1687275"/>
            <a:ext cx="10720500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00B050"/>
                </a:solidFill>
                <a:ea typeface="Roboto"/>
                <a:cs typeface="Roboto"/>
                <a:sym typeface="Roboto"/>
              </a:rPr>
              <a:t>Hand-</a:t>
            </a:r>
            <a:r>
              <a:rPr lang="es-ES" sz="2400" b="1" dirty="0" err="1">
                <a:solidFill>
                  <a:srgbClr val="00B050"/>
                </a:solidFill>
                <a:ea typeface="Roboto"/>
                <a:cs typeface="Roboto"/>
                <a:sym typeface="Roboto"/>
              </a:rPr>
              <a:t>over</a:t>
            </a:r>
            <a:r>
              <a:rPr lang="es-ES" sz="2400" b="1" dirty="0">
                <a:solidFill>
                  <a:srgbClr val="00B050"/>
                </a:solidFill>
                <a:ea typeface="Roboto"/>
                <a:cs typeface="Roboto"/>
                <a:sym typeface="Roboto"/>
              </a:rPr>
              <a:t>-</a:t>
            </a:r>
            <a:r>
              <a:rPr lang="es-ES" sz="2400" b="1" dirty="0" err="1">
                <a:solidFill>
                  <a:srgbClr val="00B050"/>
                </a:solidFill>
                <a:ea typeface="Roboto"/>
                <a:cs typeface="Roboto"/>
                <a:sym typeface="Roboto"/>
              </a:rPr>
              <a:t>hand</a:t>
            </a:r>
            <a:r>
              <a:rPr lang="es-ES" sz="2400" b="1" dirty="0">
                <a:solidFill>
                  <a:srgbClr val="00B050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400" b="1" dirty="0" err="1">
                <a:solidFill>
                  <a:srgbClr val="00B050"/>
                </a:solidFill>
                <a:ea typeface="Roboto"/>
                <a:cs typeface="Roboto"/>
                <a:sym typeface="Roboto"/>
              </a:rPr>
              <a:t>locking</a:t>
            </a:r>
            <a:r>
              <a:rPr lang="es-ES" sz="2400" b="1" dirty="0">
                <a:solidFill>
                  <a:srgbClr val="00B050"/>
                </a:solidFill>
                <a:ea typeface="Roboto"/>
                <a:cs typeface="Roboto"/>
                <a:sym typeface="Roboto"/>
              </a:rPr>
              <a:t>:</a:t>
            </a:r>
            <a:endParaRPr sz="2400" b="1" dirty="0">
              <a:solidFill>
                <a:srgbClr val="00B050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Incluye un </a:t>
            </a:r>
            <a:r>
              <a:rPr lang="es-ES" sz="2200" b="1" dirty="0">
                <a:solidFill>
                  <a:srgbClr val="E46C0A"/>
                </a:solidFill>
                <a:ea typeface="Consolas"/>
                <a:cs typeface="Consolas"/>
                <a:sym typeface="Consolas"/>
              </a:rPr>
              <a:t>lock</a:t>
            </a:r>
            <a:r>
              <a:rPr lang="es-ES" sz="2200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 por nodo</a:t>
            </a:r>
            <a:r>
              <a:rPr lang="es-ES" sz="2200" dirty="0">
                <a:ea typeface="Roboto"/>
                <a:cs typeface="Roboto"/>
                <a:sym typeface="Roboto"/>
              </a:rPr>
              <a:t> en la lista, en lugar de tener solo </a:t>
            </a:r>
            <a:r>
              <a:rPr lang="es-ES" sz="2200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un </a:t>
            </a:r>
            <a:r>
              <a:rPr lang="es-ES" sz="2200" b="1" dirty="0">
                <a:solidFill>
                  <a:srgbClr val="E46C0A"/>
                </a:solidFill>
                <a:ea typeface="Consolas"/>
                <a:cs typeface="Consolas"/>
                <a:sym typeface="Consolas"/>
              </a:rPr>
              <a:t>lock</a:t>
            </a:r>
            <a:r>
              <a:rPr lang="es-ES" sz="2200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 por lista</a:t>
            </a:r>
            <a:r>
              <a:rPr lang="es-ES" sz="2200" dirty="0">
                <a:ea typeface="Roboto"/>
                <a:cs typeface="Roboto"/>
                <a:sym typeface="Roboto"/>
              </a:rPr>
              <a:t>.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b="1" dirty="0">
                <a:ea typeface="Roboto"/>
                <a:cs typeface="Roboto"/>
                <a:sym typeface="Roboto"/>
              </a:rPr>
              <a:t>Al recorrer la lista</a:t>
            </a:r>
            <a:r>
              <a:rPr lang="es-ES" sz="2200" dirty="0">
                <a:ea typeface="Roboto"/>
                <a:cs typeface="Roboto"/>
                <a:sym typeface="Roboto"/>
              </a:rPr>
              <a:t>: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○"/>
            </a:pPr>
            <a:r>
              <a:rPr lang="es-ES" sz="2200" dirty="0">
                <a:ea typeface="Roboto"/>
                <a:cs typeface="Roboto"/>
                <a:sym typeface="Roboto"/>
              </a:rPr>
              <a:t>Primero se adquiere el </a:t>
            </a:r>
            <a:r>
              <a:rPr lang="es-ES" sz="2200" b="1" dirty="0">
                <a:solidFill>
                  <a:srgbClr val="E46C0A"/>
                </a:solidFill>
                <a:ea typeface="Consolas"/>
                <a:cs typeface="Consolas"/>
                <a:sym typeface="Consolas"/>
              </a:rPr>
              <a:t>lock</a:t>
            </a:r>
            <a:r>
              <a:rPr lang="es-ES" sz="2200" dirty="0">
                <a:ea typeface="Roboto"/>
                <a:cs typeface="Roboto"/>
                <a:sym typeface="Roboto"/>
              </a:rPr>
              <a:t> del siguiente nodo.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○"/>
            </a:pPr>
            <a:r>
              <a:rPr lang="es-ES" sz="2200" dirty="0">
                <a:ea typeface="Roboto"/>
                <a:cs typeface="Roboto"/>
                <a:sym typeface="Roboto"/>
              </a:rPr>
              <a:t>Luego libera el bloqueo del nodo actual.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b="1" dirty="0">
                <a:ea typeface="Roboto"/>
                <a:cs typeface="Roboto"/>
                <a:sym typeface="Roboto"/>
              </a:rPr>
              <a:t>Alto grado de concurrencia en las operaciones</a:t>
            </a:r>
            <a:r>
              <a:rPr lang="es-ES" sz="2200" dirty="0">
                <a:ea typeface="Roboto"/>
                <a:cs typeface="Roboto"/>
                <a:sym typeface="Roboto"/>
              </a:rPr>
              <a:t>: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○"/>
            </a:pPr>
            <a:r>
              <a:rPr lang="es-ES" sz="2200" dirty="0">
                <a:ea typeface="Roboto"/>
                <a:cs typeface="Roboto"/>
                <a:sym typeface="Roboto"/>
              </a:rPr>
              <a:t>En la práctica, el </a:t>
            </a: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sobrecosto (</a:t>
            </a:r>
            <a:r>
              <a:rPr lang="es-ES" sz="22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overhead</a:t>
            </a: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)</a:t>
            </a:r>
            <a:r>
              <a:rPr lang="es-ES" sz="2200" dirty="0">
                <a:ea typeface="Roboto"/>
                <a:cs typeface="Roboto"/>
                <a:sym typeface="Roboto"/>
              </a:rPr>
              <a:t> general de la adquisición y liberación de locks para cada nodo de un recorrido es </a:t>
            </a: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prohibitivo</a:t>
            </a:r>
            <a:r>
              <a:rPr lang="es-ES" sz="2200" dirty="0">
                <a:ea typeface="Roboto"/>
                <a:cs typeface="Roboto"/>
                <a:sym typeface="Roboto"/>
              </a:rPr>
              <a:t>.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9"/>
          <p:cNvSpPr txBox="1">
            <a:spLocks noGrp="1"/>
          </p:cNvSpPr>
          <p:nvPr>
            <p:ph type="title"/>
          </p:nvPr>
        </p:nvSpPr>
        <p:spPr>
          <a:xfrm>
            <a:off x="858325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Colas concurrentes</a:t>
            </a:r>
            <a:endParaRPr/>
          </a:p>
        </p:txBody>
      </p:sp>
      <p:sp>
        <p:nvSpPr>
          <p:cNvPr id="620" name="Google Shape;620;p59"/>
          <p:cNvSpPr txBox="1"/>
          <p:nvPr/>
        </p:nvSpPr>
        <p:spPr>
          <a:xfrm>
            <a:off x="413475" y="867596"/>
            <a:ext cx="6557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Cola no concurrente</a:t>
            </a:r>
            <a:endParaRPr dirty="0"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59"/>
          <p:cNvSpPr txBox="1"/>
          <p:nvPr/>
        </p:nvSpPr>
        <p:spPr>
          <a:xfrm>
            <a:off x="467990" y="1483288"/>
            <a:ext cx="979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Definición de las estructuras de datos empleadas (Nodo y cola)</a:t>
            </a:r>
            <a:endParaRPr sz="1000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622" name="Google Shape;622;p59"/>
          <p:cNvGraphicFramePr/>
          <p:nvPr/>
        </p:nvGraphicFramePr>
        <p:xfrm>
          <a:off x="1438900" y="2560875"/>
          <a:ext cx="1409700" cy="12719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*next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23" name="Google Shape;623;p59"/>
          <p:cNvGrpSpPr/>
          <p:nvPr/>
        </p:nvGrpSpPr>
        <p:grpSpPr>
          <a:xfrm>
            <a:off x="3809675" y="2648525"/>
            <a:ext cx="1139175" cy="885175"/>
            <a:chOff x="3504875" y="2343725"/>
            <a:chExt cx="1139175" cy="885175"/>
          </a:xfrm>
        </p:grpSpPr>
        <p:grpSp>
          <p:nvGrpSpPr>
            <p:cNvPr id="624" name="Google Shape;624;p59"/>
            <p:cNvGrpSpPr/>
            <p:nvPr/>
          </p:nvGrpSpPr>
          <p:grpSpPr>
            <a:xfrm>
              <a:off x="3504875" y="2615775"/>
              <a:ext cx="898925" cy="365600"/>
              <a:chOff x="3504875" y="2615775"/>
              <a:chExt cx="898925" cy="365600"/>
            </a:xfrm>
          </p:grpSpPr>
          <p:sp>
            <p:nvSpPr>
              <p:cNvPr id="625" name="Google Shape;625;p59"/>
              <p:cNvSpPr/>
              <p:nvPr/>
            </p:nvSpPr>
            <p:spPr>
              <a:xfrm>
                <a:off x="3504875" y="2615775"/>
                <a:ext cx="897600" cy="3645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59"/>
              <p:cNvSpPr/>
              <p:nvPr/>
            </p:nvSpPr>
            <p:spPr>
              <a:xfrm>
                <a:off x="4037800" y="2616875"/>
                <a:ext cx="366000" cy="364500"/>
              </a:xfrm>
              <a:prstGeom prst="rect">
                <a:avLst/>
              </a:prstGeom>
              <a:solidFill>
                <a:srgbClr val="FCE5C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27" name="Google Shape;627;p59"/>
            <p:cNvCxnSpPr/>
            <p:nvPr/>
          </p:nvCxnSpPr>
          <p:spPr>
            <a:xfrm rot="10800000" flipH="1">
              <a:off x="4219850" y="2800700"/>
              <a:ext cx="424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28" name="Google Shape;628;p59"/>
            <p:cNvSpPr txBox="1"/>
            <p:nvPr/>
          </p:nvSpPr>
          <p:spPr>
            <a:xfrm>
              <a:off x="3504938" y="2343725"/>
              <a:ext cx="898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endParaRPr sz="1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29" name="Google Shape;629;p59"/>
            <p:cNvSpPr txBox="1"/>
            <p:nvPr/>
          </p:nvSpPr>
          <p:spPr>
            <a:xfrm>
              <a:off x="3504875" y="2890200"/>
              <a:ext cx="526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30" name="Google Shape;630;p59"/>
            <p:cNvSpPr txBox="1"/>
            <p:nvPr/>
          </p:nvSpPr>
          <p:spPr>
            <a:xfrm>
              <a:off x="3948050" y="2890200"/>
              <a:ext cx="546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631" name="Google Shape;631;p59"/>
          <p:cNvGraphicFramePr/>
          <p:nvPr/>
        </p:nvGraphicFramePr>
        <p:xfrm>
          <a:off x="1438900" y="4695825"/>
          <a:ext cx="1409700" cy="12719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queue_t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*head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*tail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32" name="Google Shape;632;p59"/>
          <p:cNvSpPr txBox="1"/>
          <p:nvPr/>
        </p:nvSpPr>
        <p:spPr>
          <a:xfrm>
            <a:off x="5857875" y="2356800"/>
            <a:ext cx="5166300" cy="1563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basic node structure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struct __node_t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key;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struct __node_t *next;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node_t;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3" name="Google Shape;633;p59"/>
          <p:cNvSpPr txBox="1"/>
          <p:nvPr/>
        </p:nvSpPr>
        <p:spPr>
          <a:xfrm>
            <a:off x="5883975" y="4593475"/>
            <a:ext cx="5114100" cy="12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struct __queue_t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node_t *head;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node_t *tail;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queue_t;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634" name="Google Shape;634;p59"/>
          <p:cNvGrpSpPr/>
          <p:nvPr/>
        </p:nvGrpSpPr>
        <p:grpSpPr>
          <a:xfrm>
            <a:off x="3692025" y="4059200"/>
            <a:ext cx="1374488" cy="2173950"/>
            <a:chOff x="3692025" y="4059200"/>
            <a:chExt cx="1374488" cy="2173950"/>
          </a:xfrm>
        </p:grpSpPr>
        <p:sp>
          <p:nvSpPr>
            <p:cNvPr id="635" name="Google Shape;635;p59"/>
            <p:cNvSpPr/>
            <p:nvPr/>
          </p:nvSpPr>
          <p:spPr>
            <a:xfrm>
              <a:off x="3692025" y="4332050"/>
              <a:ext cx="1097100" cy="19011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6" name="Google Shape;636;p59"/>
            <p:cNvGrpSpPr/>
            <p:nvPr/>
          </p:nvGrpSpPr>
          <p:grpSpPr>
            <a:xfrm>
              <a:off x="3977463" y="4445800"/>
              <a:ext cx="1089050" cy="717225"/>
              <a:chOff x="3977463" y="4445800"/>
              <a:chExt cx="1089050" cy="717225"/>
            </a:xfrm>
          </p:grpSpPr>
          <p:grpSp>
            <p:nvGrpSpPr>
              <p:cNvPr id="637" name="Google Shape;637;p59"/>
              <p:cNvGrpSpPr/>
              <p:nvPr/>
            </p:nvGrpSpPr>
            <p:grpSpPr>
              <a:xfrm>
                <a:off x="4030113" y="4742425"/>
                <a:ext cx="1036400" cy="420600"/>
                <a:chOff x="4030113" y="4742425"/>
                <a:chExt cx="1036400" cy="420600"/>
              </a:xfrm>
            </p:grpSpPr>
            <p:sp>
              <p:nvSpPr>
                <p:cNvPr id="638" name="Google Shape;638;p59"/>
                <p:cNvSpPr/>
                <p:nvPr/>
              </p:nvSpPr>
              <p:spPr>
                <a:xfrm>
                  <a:off x="4030113" y="4742425"/>
                  <a:ext cx="420900" cy="420600"/>
                </a:xfrm>
                <a:prstGeom prst="ellipse">
                  <a:avLst/>
                </a:prstGeom>
                <a:solidFill>
                  <a:srgbClr val="9FC5E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639" name="Google Shape;639;p59"/>
                <p:cNvCxnSpPr/>
                <p:nvPr/>
              </p:nvCxnSpPr>
              <p:spPr>
                <a:xfrm>
                  <a:off x="4225913" y="4952600"/>
                  <a:ext cx="8406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640" name="Google Shape;640;p59"/>
              <p:cNvSpPr txBox="1"/>
              <p:nvPr/>
            </p:nvSpPr>
            <p:spPr>
              <a:xfrm>
                <a:off x="3977463" y="4445800"/>
                <a:ext cx="526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head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641" name="Google Shape;641;p59"/>
            <p:cNvSpPr txBox="1"/>
            <p:nvPr/>
          </p:nvSpPr>
          <p:spPr>
            <a:xfrm>
              <a:off x="3834663" y="4059200"/>
              <a:ext cx="81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queue_t</a:t>
              </a:r>
              <a:endParaRPr sz="1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642" name="Google Shape;642;p59"/>
            <p:cNvGrpSpPr/>
            <p:nvPr/>
          </p:nvGrpSpPr>
          <p:grpSpPr>
            <a:xfrm>
              <a:off x="3977463" y="5221825"/>
              <a:ext cx="1089050" cy="703200"/>
              <a:chOff x="3977463" y="5221825"/>
              <a:chExt cx="1089050" cy="703200"/>
            </a:xfrm>
          </p:grpSpPr>
          <p:grpSp>
            <p:nvGrpSpPr>
              <p:cNvPr id="643" name="Google Shape;643;p59"/>
              <p:cNvGrpSpPr/>
              <p:nvPr/>
            </p:nvGrpSpPr>
            <p:grpSpPr>
              <a:xfrm>
                <a:off x="4030113" y="5504425"/>
                <a:ext cx="1036400" cy="420600"/>
                <a:chOff x="4030113" y="5504425"/>
                <a:chExt cx="1036400" cy="420600"/>
              </a:xfrm>
            </p:grpSpPr>
            <p:sp>
              <p:nvSpPr>
                <p:cNvPr id="644" name="Google Shape;644;p59"/>
                <p:cNvSpPr/>
                <p:nvPr/>
              </p:nvSpPr>
              <p:spPr>
                <a:xfrm>
                  <a:off x="4030113" y="5504425"/>
                  <a:ext cx="420900" cy="420600"/>
                </a:xfrm>
                <a:prstGeom prst="ellipse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645" name="Google Shape;645;p59"/>
                <p:cNvCxnSpPr/>
                <p:nvPr/>
              </p:nvCxnSpPr>
              <p:spPr>
                <a:xfrm>
                  <a:off x="4225913" y="5714600"/>
                  <a:ext cx="8406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646" name="Google Shape;646;p59"/>
              <p:cNvSpPr txBox="1"/>
              <p:nvPr/>
            </p:nvSpPr>
            <p:spPr>
              <a:xfrm>
                <a:off x="3977463" y="5221825"/>
                <a:ext cx="526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tail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0"/>
          <p:cNvSpPr txBox="1">
            <a:spLocks noGrp="1"/>
          </p:cNvSpPr>
          <p:nvPr>
            <p:ph type="title"/>
          </p:nvPr>
        </p:nvSpPr>
        <p:spPr>
          <a:xfrm>
            <a:off x="858325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Colas concurrentes</a:t>
            </a:r>
            <a:endParaRPr dirty="0"/>
          </a:p>
        </p:txBody>
      </p:sp>
      <p:sp>
        <p:nvSpPr>
          <p:cNvPr id="652" name="Google Shape;652;p60"/>
          <p:cNvSpPr txBox="1"/>
          <p:nvPr/>
        </p:nvSpPr>
        <p:spPr>
          <a:xfrm>
            <a:off x="352350" y="788185"/>
            <a:ext cx="6557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Cola sin concurrencia</a:t>
            </a:r>
            <a:endParaRPr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653" name="Google Shape;653;p60"/>
          <p:cNvGraphicFramePr/>
          <p:nvPr/>
        </p:nvGraphicFramePr>
        <p:xfrm>
          <a:off x="7355750" y="1045550"/>
          <a:ext cx="1409700" cy="12719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*next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54" name="Google Shape;654;p60"/>
          <p:cNvSpPr txBox="1"/>
          <p:nvPr/>
        </p:nvSpPr>
        <p:spPr>
          <a:xfrm>
            <a:off x="409500" y="1249060"/>
            <a:ext cx="56865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Operaciones básicas sobre la cola</a:t>
            </a:r>
            <a:endParaRPr sz="1000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655" name="Google Shape;655;p60"/>
          <p:cNvGrpSpPr/>
          <p:nvPr/>
        </p:nvGrpSpPr>
        <p:grpSpPr>
          <a:xfrm>
            <a:off x="858325" y="1648468"/>
            <a:ext cx="4885675" cy="2163214"/>
            <a:chOff x="1057924" y="1931938"/>
            <a:chExt cx="4885675" cy="2163214"/>
          </a:xfrm>
        </p:grpSpPr>
        <p:sp>
          <p:nvSpPr>
            <p:cNvPr id="656" name="Google Shape;656;p60"/>
            <p:cNvSpPr txBox="1"/>
            <p:nvPr/>
          </p:nvSpPr>
          <p:spPr>
            <a:xfrm>
              <a:off x="1057924" y="2459350"/>
              <a:ext cx="4885675" cy="163580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Queue_Init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*q)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malloc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sizeof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));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NULL;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q-&gt;head = q-&gt;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tail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57" name="Google Shape;657;p60"/>
            <p:cNvSpPr txBox="1"/>
            <p:nvPr/>
          </p:nvSpPr>
          <p:spPr>
            <a:xfrm>
              <a:off x="1057925" y="1931938"/>
              <a:ext cx="374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Inicialización</a:t>
              </a:r>
              <a:r>
                <a:rPr lang="es-ES" sz="2000" dirty="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Queue_Init</a:t>
              </a:r>
              <a:endParaRPr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58" name="Google Shape;658;p60"/>
          <p:cNvGrpSpPr/>
          <p:nvPr/>
        </p:nvGrpSpPr>
        <p:grpSpPr>
          <a:xfrm>
            <a:off x="858325" y="3811682"/>
            <a:ext cx="5038075" cy="2942483"/>
            <a:chOff x="1057924" y="3722438"/>
            <a:chExt cx="5038075" cy="2942483"/>
          </a:xfrm>
        </p:grpSpPr>
        <p:sp>
          <p:nvSpPr>
            <p:cNvPr id="659" name="Google Shape;659;p60"/>
            <p:cNvSpPr txBox="1"/>
            <p:nvPr/>
          </p:nvSpPr>
          <p:spPr>
            <a:xfrm>
              <a:off x="1057924" y="4215050"/>
              <a:ext cx="5038075" cy="244987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Queue_Enqueue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*q,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value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malloc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sizeof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));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assert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!= NULL);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value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value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NULL;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q-&gt;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tail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q-&gt;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tail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0" name="Google Shape;660;p60"/>
            <p:cNvSpPr txBox="1"/>
            <p:nvPr/>
          </p:nvSpPr>
          <p:spPr>
            <a:xfrm>
              <a:off x="1057925" y="3722438"/>
              <a:ext cx="374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Encolar</a:t>
              </a:r>
              <a:r>
                <a:rPr lang="es-ES" sz="2000" dirty="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Queue_Enqueue</a:t>
              </a:r>
              <a:endParaRPr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61" name="Google Shape;661;p60"/>
          <p:cNvGrpSpPr/>
          <p:nvPr/>
        </p:nvGrpSpPr>
        <p:grpSpPr>
          <a:xfrm>
            <a:off x="6448002" y="2644506"/>
            <a:ext cx="5169627" cy="3791946"/>
            <a:chOff x="6466849" y="3019163"/>
            <a:chExt cx="5169627" cy="3791946"/>
          </a:xfrm>
        </p:grpSpPr>
        <p:sp>
          <p:nvSpPr>
            <p:cNvPr id="662" name="Google Shape;662;p60"/>
            <p:cNvSpPr txBox="1"/>
            <p:nvPr/>
          </p:nvSpPr>
          <p:spPr>
            <a:xfrm>
              <a:off x="6466849" y="3511775"/>
              <a:ext cx="5169627" cy="3299334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Queue_Dequeue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*q,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value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q-&gt;head;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new_head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new_head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NULL)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-1; //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was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empty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*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value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new_head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value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q-&gt;head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new_head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free(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0;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3" name="Google Shape;663;p60"/>
            <p:cNvSpPr txBox="1"/>
            <p:nvPr/>
          </p:nvSpPr>
          <p:spPr>
            <a:xfrm>
              <a:off x="6466850" y="3019163"/>
              <a:ext cx="374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Desencolar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Queue_Dequeue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664" name="Google Shape;664;p60"/>
          <p:cNvGraphicFramePr/>
          <p:nvPr/>
        </p:nvGraphicFramePr>
        <p:xfrm>
          <a:off x="9376775" y="1045550"/>
          <a:ext cx="1409700" cy="12719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queue_t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*head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*tail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1"/>
          <p:cNvSpPr txBox="1">
            <a:spLocks noGrp="1"/>
          </p:cNvSpPr>
          <p:nvPr>
            <p:ph type="title"/>
          </p:nvPr>
        </p:nvSpPr>
        <p:spPr>
          <a:xfrm>
            <a:off x="858325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Colas concurrentes</a:t>
            </a:r>
            <a:endParaRPr/>
          </a:p>
        </p:txBody>
      </p:sp>
      <p:sp>
        <p:nvSpPr>
          <p:cNvPr id="670" name="Google Shape;670;p61"/>
          <p:cNvSpPr txBox="1"/>
          <p:nvPr/>
        </p:nvSpPr>
        <p:spPr>
          <a:xfrm>
            <a:off x="472825" y="759800"/>
            <a:ext cx="6557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Cola sin concurrencia</a:t>
            </a:r>
            <a:endParaRPr dirty="0"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61"/>
          <p:cNvSpPr txBox="1"/>
          <p:nvPr/>
        </p:nvSpPr>
        <p:spPr>
          <a:xfrm>
            <a:off x="472825" y="1225078"/>
            <a:ext cx="453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Ejemplo</a:t>
            </a:r>
            <a:endParaRPr sz="1000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672" name="Google Shape;672;p61"/>
          <p:cNvGrpSpPr/>
          <p:nvPr/>
        </p:nvGrpSpPr>
        <p:grpSpPr>
          <a:xfrm>
            <a:off x="537673" y="1823301"/>
            <a:ext cx="4537501" cy="4731263"/>
            <a:chOff x="1057924" y="2192900"/>
            <a:chExt cx="4537501" cy="4731263"/>
          </a:xfrm>
        </p:grpSpPr>
        <p:sp>
          <p:nvSpPr>
            <p:cNvPr id="673" name="Google Shape;673;p61"/>
            <p:cNvSpPr txBox="1"/>
            <p:nvPr/>
          </p:nvSpPr>
          <p:spPr>
            <a:xfrm>
              <a:off x="1057924" y="2192900"/>
              <a:ext cx="4537501" cy="43965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Q;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v;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Queue_Init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(&amp;Q);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3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Queue_Enqueue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(&amp;Q, 3);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-10 **** 3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Queue_Enqueue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(&amp;Q, -10);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8 **** -10 **** 3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Queue_Enqueue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(&amp;Q, 8);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--------------------------------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Queue_Dequeue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(&amp;Q, &amp;v);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("Valor desencolado: %d\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n",v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Queue_Dequeue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(&amp;Q, &amp;v);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("Valor desencolado: %d\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n",v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0;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4" name="Google Shape;674;p61"/>
            <p:cNvSpPr txBox="1"/>
            <p:nvPr/>
          </p:nvSpPr>
          <p:spPr>
            <a:xfrm>
              <a:off x="1241300" y="6523963"/>
              <a:ext cx="3743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u="sng">
                  <a:solidFill>
                    <a:schemeClr val="hlink"/>
                  </a:solidFill>
                  <a:latin typeface="Roboto"/>
                  <a:ea typeface="Roboto"/>
                  <a:cs typeface="Roboto"/>
                  <a:sym typeface="Roboto"/>
                  <a:hlinkClick r:id="rId3"/>
                </a:rPr>
                <a:t>Link simulación</a:t>
              </a:r>
              <a:endParaRPr sz="2000" b="1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675" name="Google Shape;67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5899" y="980950"/>
            <a:ext cx="2947024" cy="5753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70400" y="910825"/>
            <a:ext cx="3172987" cy="3602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70400" y="4719475"/>
            <a:ext cx="3188300" cy="89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2"/>
          <p:cNvSpPr txBox="1">
            <a:spLocks noGrp="1"/>
          </p:cNvSpPr>
          <p:nvPr>
            <p:ph type="title"/>
          </p:nvPr>
        </p:nvSpPr>
        <p:spPr>
          <a:xfrm>
            <a:off x="381343" y="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Colas concurrentes</a:t>
            </a:r>
            <a:endParaRPr dirty="0"/>
          </a:p>
        </p:txBody>
      </p:sp>
      <p:sp>
        <p:nvSpPr>
          <p:cNvPr id="683" name="Google Shape;683;p62"/>
          <p:cNvSpPr txBox="1"/>
          <p:nvPr/>
        </p:nvSpPr>
        <p:spPr>
          <a:xfrm>
            <a:off x="381343" y="882150"/>
            <a:ext cx="10848600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Implementación de colas concurrentes: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usan dos locks (Michael and Scott)</a:t>
            </a:r>
            <a:endParaRPr sz="2400" b="1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Uno para el nodo cabeza (head) de la cola.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Otro para el nodo final (</a:t>
            </a:r>
            <a:r>
              <a:rPr lang="es-ES" sz="22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tail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de la cola.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objetivo es habilitar concurrencia para encolar y desencolar elementos.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incluye un nodo </a:t>
            </a:r>
            <a:r>
              <a:rPr lang="es-ES" sz="24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Dummy</a:t>
            </a:r>
            <a:endParaRPr sz="2400" b="1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Asignado en el código de inicialización de la cola.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Permite separación de operaciones en la cabeza y el final de la cola.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Colas concurrentes</a:t>
            </a:r>
            <a:endParaRPr/>
          </a:p>
        </p:txBody>
      </p:sp>
      <p:sp>
        <p:nvSpPr>
          <p:cNvPr id="689" name="Google Shape;689;p63"/>
          <p:cNvSpPr txBox="1"/>
          <p:nvPr/>
        </p:nvSpPr>
        <p:spPr>
          <a:xfrm>
            <a:off x="587150" y="1143675"/>
            <a:ext cx="9790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>
                <a:solidFill>
                  <a:srgbClr val="E06666"/>
                </a:solidFill>
                <a:ea typeface="Roboto"/>
                <a:cs typeface="Roboto"/>
                <a:sym typeface="Roboto"/>
              </a:rPr>
              <a:t>Definición de las estructuras de datos empleadas (Nodo y cola)</a:t>
            </a:r>
            <a:endParaRPr sz="1000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690" name="Google Shape;690;p63"/>
          <p:cNvGraphicFramePr/>
          <p:nvPr/>
        </p:nvGraphicFramePr>
        <p:xfrm>
          <a:off x="1438900" y="2560875"/>
          <a:ext cx="1409700" cy="12719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*next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91" name="Google Shape;691;p63"/>
          <p:cNvGrpSpPr/>
          <p:nvPr/>
        </p:nvGrpSpPr>
        <p:grpSpPr>
          <a:xfrm>
            <a:off x="4343075" y="2648525"/>
            <a:ext cx="1139175" cy="885175"/>
            <a:chOff x="3504875" y="2343725"/>
            <a:chExt cx="1139175" cy="885175"/>
          </a:xfrm>
        </p:grpSpPr>
        <p:grpSp>
          <p:nvGrpSpPr>
            <p:cNvPr id="692" name="Google Shape;692;p63"/>
            <p:cNvGrpSpPr/>
            <p:nvPr/>
          </p:nvGrpSpPr>
          <p:grpSpPr>
            <a:xfrm>
              <a:off x="3504875" y="2615775"/>
              <a:ext cx="898925" cy="365600"/>
              <a:chOff x="3504875" y="2615775"/>
              <a:chExt cx="898925" cy="365600"/>
            </a:xfrm>
          </p:grpSpPr>
          <p:sp>
            <p:nvSpPr>
              <p:cNvPr id="693" name="Google Shape;693;p63"/>
              <p:cNvSpPr/>
              <p:nvPr/>
            </p:nvSpPr>
            <p:spPr>
              <a:xfrm>
                <a:off x="3504875" y="2615775"/>
                <a:ext cx="897600" cy="3645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63"/>
              <p:cNvSpPr/>
              <p:nvPr/>
            </p:nvSpPr>
            <p:spPr>
              <a:xfrm>
                <a:off x="4037800" y="2616875"/>
                <a:ext cx="366000" cy="364500"/>
              </a:xfrm>
              <a:prstGeom prst="rect">
                <a:avLst/>
              </a:prstGeom>
              <a:solidFill>
                <a:srgbClr val="FCE5C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5" name="Google Shape;695;p63"/>
            <p:cNvCxnSpPr/>
            <p:nvPr/>
          </p:nvCxnSpPr>
          <p:spPr>
            <a:xfrm rot="10800000" flipH="1">
              <a:off x="4219850" y="2800700"/>
              <a:ext cx="424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96" name="Google Shape;696;p63"/>
            <p:cNvSpPr txBox="1"/>
            <p:nvPr/>
          </p:nvSpPr>
          <p:spPr>
            <a:xfrm>
              <a:off x="3504938" y="2343725"/>
              <a:ext cx="898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endParaRPr sz="1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97" name="Google Shape;697;p63"/>
            <p:cNvSpPr txBox="1"/>
            <p:nvPr/>
          </p:nvSpPr>
          <p:spPr>
            <a:xfrm>
              <a:off x="3504875" y="2890200"/>
              <a:ext cx="526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key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98" name="Google Shape;698;p63"/>
            <p:cNvSpPr txBox="1"/>
            <p:nvPr/>
          </p:nvSpPr>
          <p:spPr>
            <a:xfrm>
              <a:off x="3948050" y="2890200"/>
              <a:ext cx="546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699" name="Google Shape;699;p63"/>
          <p:cNvGraphicFramePr/>
          <p:nvPr/>
        </p:nvGraphicFramePr>
        <p:xfrm>
          <a:off x="1438900" y="4387300"/>
          <a:ext cx="1409700" cy="19029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2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queue_t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*head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head_lock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lang="es-ES" sz="18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tail</a:t>
                      </a: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head_lock</a:t>
                      </a: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00" name="Google Shape;700;p63"/>
          <p:cNvSpPr txBox="1"/>
          <p:nvPr/>
        </p:nvSpPr>
        <p:spPr>
          <a:xfrm>
            <a:off x="6559100" y="2356800"/>
            <a:ext cx="5166300" cy="1563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basic node structure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struct __node_t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key;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struct __node_t *next;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node_t;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1" name="Google Shape;701;p63"/>
          <p:cNvSpPr txBox="1"/>
          <p:nvPr/>
        </p:nvSpPr>
        <p:spPr>
          <a:xfrm>
            <a:off x="6585200" y="4607800"/>
            <a:ext cx="5114100" cy="1563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*head;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tail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head_lock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tail_lock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702" name="Google Shape;702;p63"/>
          <p:cNvGrpSpPr/>
          <p:nvPr/>
        </p:nvGrpSpPr>
        <p:grpSpPr>
          <a:xfrm>
            <a:off x="3692025" y="4200700"/>
            <a:ext cx="2393400" cy="2184850"/>
            <a:chOff x="3692025" y="4048300"/>
            <a:chExt cx="2393400" cy="2184850"/>
          </a:xfrm>
        </p:grpSpPr>
        <p:sp>
          <p:nvSpPr>
            <p:cNvPr id="703" name="Google Shape;703;p63"/>
            <p:cNvSpPr/>
            <p:nvPr/>
          </p:nvSpPr>
          <p:spPr>
            <a:xfrm>
              <a:off x="3692025" y="4332050"/>
              <a:ext cx="2393400" cy="19011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4" name="Google Shape;704;p63"/>
            <p:cNvGrpSpPr/>
            <p:nvPr/>
          </p:nvGrpSpPr>
          <p:grpSpPr>
            <a:xfrm>
              <a:off x="3977463" y="4445800"/>
              <a:ext cx="705350" cy="717225"/>
              <a:chOff x="3977463" y="4445800"/>
              <a:chExt cx="705350" cy="717225"/>
            </a:xfrm>
          </p:grpSpPr>
          <p:grpSp>
            <p:nvGrpSpPr>
              <p:cNvPr id="705" name="Google Shape;705;p63"/>
              <p:cNvGrpSpPr/>
              <p:nvPr/>
            </p:nvGrpSpPr>
            <p:grpSpPr>
              <a:xfrm>
                <a:off x="4030113" y="4705400"/>
                <a:ext cx="652700" cy="457625"/>
                <a:chOff x="4030113" y="4705400"/>
                <a:chExt cx="652700" cy="457625"/>
              </a:xfrm>
            </p:grpSpPr>
            <p:sp>
              <p:nvSpPr>
                <p:cNvPr id="706" name="Google Shape;706;p63"/>
                <p:cNvSpPr/>
                <p:nvPr/>
              </p:nvSpPr>
              <p:spPr>
                <a:xfrm>
                  <a:off x="4030113" y="4742425"/>
                  <a:ext cx="420900" cy="420600"/>
                </a:xfrm>
                <a:prstGeom prst="ellipse">
                  <a:avLst/>
                </a:prstGeom>
                <a:solidFill>
                  <a:srgbClr val="9FC5E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707" name="Google Shape;707;p63"/>
                <p:cNvCxnSpPr/>
                <p:nvPr/>
              </p:nvCxnSpPr>
              <p:spPr>
                <a:xfrm rot="10800000" flipH="1">
                  <a:off x="4225913" y="4705400"/>
                  <a:ext cx="456900" cy="247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708" name="Google Shape;708;p63"/>
              <p:cNvSpPr txBox="1"/>
              <p:nvPr/>
            </p:nvSpPr>
            <p:spPr>
              <a:xfrm>
                <a:off x="3977463" y="4445800"/>
                <a:ext cx="526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head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709" name="Google Shape;709;p63"/>
            <p:cNvSpPr txBox="1"/>
            <p:nvPr/>
          </p:nvSpPr>
          <p:spPr>
            <a:xfrm>
              <a:off x="4482813" y="4048300"/>
              <a:ext cx="81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queue_t</a:t>
              </a:r>
              <a:endParaRPr sz="1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710" name="Google Shape;710;p63"/>
            <p:cNvGrpSpPr/>
            <p:nvPr/>
          </p:nvGrpSpPr>
          <p:grpSpPr>
            <a:xfrm>
              <a:off x="3977463" y="5221825"/>
              <a:ext cx="677450" cy="703200"/>
              <a:chOff x="3977463" y="5221825"/>
              <a:chExt cx="677450" cy="703200"/>
            </a:xfrm>
          </p:grpSpPr>
          <p:grpSp>
            <p:nvGrpSpPr>
              <p:cNvPr id="711" name="Google Shape;711;p63"/>
              <p:cNvGrpSpPr/>
              <p:nvPr/>
            </p:nvGrpSpPr>
            <p:grpSpPr>
              <a:xfrm>
                <a:off x="4030113" y="5490800"/>
                <a:ext cx="624800" cy="434225"/>
                <a:chOff x="4030113" y="5490800"/>
                <a:chExt cx="624800" cy="434225"/>
              </a:xfrm>
            </p:grpSpPr>
            <p:sp>
              <p:nvSpPr>
                <p:cNvPr id="712" name="Google Shape;712;p63"/>
                <p:cNvSpPr/>
                <p:nvPr/>
              </p:nvSpPr>
              <p:spPr>
                <a:xfrm>
                  <a:off x="4030113" y="5504425"/>
                  <a:ext cx="420900" cy="420600"/>
                </a:xfrm>
                <a:prstGeom prst="ellipse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713" name="Google Shape;713;p63"/>
                <p:cNvCxnSpPr/>
                <p:nvPr/>
              </p:nvCxnSpPr>
              <p:spPr>
                <a:xfrm rot="10800000" flipH="1">
                  <a:off x="4225913" y="5490800"/>
                  <a:ext cx="429000" cy="2238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714" name="Google Shape;714;p63"/>
              <p:cNvSpPr txBox="1"/>
              <p:nvPr/>
            </p:nvSpPr>
            <p:spPr>
              <a:xfrm>
                <a:off x="3977463" y="5221825"/>
                <a:ext cx="526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tail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715" name="Google Shape;715;p63"/>
            <p:cNvGrpSpPr/>
            <p:nvPr/>
          </p:nvGrpSpPr>
          <p:grpSpPr>
            <a:xfrm>
              <a:off x="4947531" y="5254325"/>
              <a:ext cx="811800" cy="638200"/>
              <a:chOff x="3839581" y="5838900"/>
              <a:chExt cx="811800" cy="638200"/>
            </a:xfrm>
          </p:grpSpPr>
          <p:sp>
            <p:nvSpPr>
              <p:cNvPr id="716" name="Google Shape;716;p63"/>
              <p:cNvSpPr/>
              <p:nvPr/>
            </p:nvSpPr>
            <p:spPr>
              <a:xfrm>
                <a:off x="3967675" y="6112600"/>
                <a:ext cx="574800" cy="364500"/>
              </a:xfrm>
              <a:prstGeom prst="rect">
                <a:avLst/>
              </a:prstGeom>
              <a:solidFill>
                <a:srgbClr val="FCE5C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63"/>
              <p:cNvSpPr txBox="1"/>
              <p:nvPr/>
            </p:nvSpPr>
            <p:spPr>
              <a:xfrm>
                <a:off x="3839581" y="5838900"/>
                <a:ext cx="811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tail_lock</a:t>
                </a:r>
                <a:endParaRPr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718" name="Google Shape;718;p63"/>
            <p:cNvGrpSpPr/>
            <p:nvPr/>
          </p:nvGrpSpPr>
          <p:grpSpPr>
            <a:xfrm>
              <a:off x="4947531" y="4515588"/>
              <a:ext cx="811800" cy="638200"/>
              <a:chOff x="3839581" y="5838900"/>
              <a:chExt cx="811800" cy="638200"/>
            </a:xfrm>
          </p:grpSpPr>
          <p:sp>
            <p:nvSpPr>
              <p:cNvPr id="719" name="Google Shape;719;p63"/>
              <p:cNvSpPr/>
              <p:nvPr/>
            </p:nvSpPr>
            <p:spPr>
              <a:xfrm>
                <a:off x="3967675" y="6112600"/>
                <a:ext cx="574800" cy="364500"/>
              </a:xfrm>
              <a:prstGeom prst="rect">
                <a:avLst/>
              </a:prstGeom>
              <a:solidFill>
                <a:srgbClr val="FCE5C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63"/>
              <p:cNvSpPr txBox="1"/>
              <p:nvPr/>
            </p:nvSpPr>
            <p:spPr>
              <a:xfrm>
                <a:off x="3839581" y="5838900"/>
                <a:ext cx="811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head_lock</a:t>
                </a:r>
                <a:endParaRPr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4"/>
          <p:cNvSpPr txBox="1">
            <a:spLocks noGrp="1"/>
          </p:cNvSpPr>
          <p:nvPr>
            <p:ph type="title"/>
          </p:nvPr>
        </p:nvSpPr>
        <p:spPr>
          <a:xfrm>
            <a:off x="1633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Colas concurrentes</a:t>
            </a:r>
            <a:endParaRPr dirty="0"/>
          </a:p>
        </p:txBody>
      </p:sp>
      <p:graphicFrame>
        <p:nvGraphicFramePr>
          <p:cNvPr id="726" name="Google Shape;726;p64"/>
          <p:cNvGraphicFramePr/>
          <p:nvPr/>
        </p:nvGraphicFramePr>
        <p:xfrm>
          <a:off x="7762500" y="1045550"/>
          <a:ext cx="1409700" cy="12719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2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node_t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*next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27" name="Google Shape;727;p64"/>
          <p:cNvSpPr txBox="1"/>
          <p:nvPr/>
        </p:nvSpPr>
        <p:spPr>
          <a:xfrm>
            <a:off x="163350" y="811588"/>
            <a:ext cx="66996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Operaciones básicas sobre la cola concurrente</a:t>
            </a:r>
            <a:endParaRPr sz="1000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728" name="Google Shape;728;p64"/>
          <p:cNvGrpSpPr/>
          <p:nvPr/>
        </p:nvGrpSpPr>
        <p:grpSpPr>
          <a:xfrm>
            <a:off x="981725" y="1316263"/>
            <a:ext cx="4645200" cy="2222788"/>
            <a:chOff x="981725" y="1468663"/>
            <a:chExt cx="4645200" cy="2222788"/>
          </a:xfrm>
        </p:grpSpPr>
        <p:sp>
          <p:nvSpPr>
            <p:cNvPr id="729" name="Google Shape;729;p64"/>
            <p:cNvSpPr txBox="1"/>
            <p:nvPr/>
          </p:nvSpPr>
          <p:spPr>
            <a:xfrm>
              <a:off x="981725" y="1925950"/>
              <a:ext cx="4645200" cy="1765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Queue_Init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*q)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malloc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sizeof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));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NULL;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q-&gt;head = q-&gt;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tail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pthread_mutex_init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(&amp;q-&gt;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head_lock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NULL);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pthread_mutex_init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(&amp;q-&gt;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tail_lock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NULL);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30" name="Google Shape;730;p64"/>
            <p:cNvSpPr txBox="1"/>
            <p:nvPr/>
          </p:nvSpPr>
          <p:spPr>
            <a:xfrm>
              <a:off x="981725" y="1468663"/>
              <a:ext cx="374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Inicialización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Queue_Init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31" name="Google Shape;731;p64"/>
          <p:cNvGrpSpPr/>
          <p:nvPr/>
        </p:nvGrpSpPr>
        <p:grpSpPr>
          <a:xfrm>
            <a:off x="953675" y="3654188"/>
            <a:ext cx="4673250" cy="3094363"/>
            <a:chOff x="953675" y="3349388"/>
            <a:chExt cx="4673250" cy="3094363"/>
          </a:xfrm>
        </p:grpSpPr>
        <p:sp>
          <p:nvSpPr>
            <p:cNvPr id="732" name="Google Shape;732;p64"/>
            <p:cNvSpPr txBox="1"/>
            <p:nvPr/>
          </p:nvSpPr>
          <p:spPr>
            <a:xfrm>
              <a:off x="981725" y="3757850"/>
              <a:ext cx="4645200" cy="26859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Queue_Enqueue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*q,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value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malloc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sizeof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));   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assert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!= NULL);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value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value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NULL;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(&amp;q-&gt;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tail_lock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q-&gt;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tail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q-&gt;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tail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(&amp;q-&gt;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tail_lock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33" name="Google Shape;733;p64"/>
            <p:cNvSpPr txBox="1"/>
            <p:nvPr/>
          </p:nvSpPr>
          <p:spPr>
            <a:xfrm>
              <a:off x="953675" y="3349388"/>
              <a:ext cx="374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Encolar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Queue_Enqueue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34" name="Google Shape;734;p64"/>
          <p:cNvGrpSpPr/>
          <p:nvPr/>
        </p:nvGrpSpPr>
        <p:grpSpPr>
          <a:xfrm>
            <a:off x="6466849" y="2638163"/>
            <a:ext cx="5213873" cy="4145890"/>
            <a:chOff x="6466849" y="2790563"/>
            <a:chExt cx="5213873" cy="4145890"/>
          </a:xfrm>
        </p:grpSpPr>
        <p:sp>
          <p:nvSpPr>
            <p:cNvPr id="735" name="Google Shape;735;p64"/>
            <p:cNvSpPr txBox="1"/>
            <p:nvPr/>
          </p:nvSpPr>
          <p:spPr>
            <a:xfrm>
              <a:off x="6466849" y="3283175"/>
              <a:ext cx="5213873" cy="365327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Queue_Dequeue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*q,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value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(&amp;q-&gt;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head_lock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q-&gt;head;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node_t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new_head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next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new_head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NULL)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(&amp;q-&gt;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head_lock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sz="14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-1; //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was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empty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*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value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new_head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value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q-&gt;head =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new_head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(&amp;q-&gt;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head_lock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sz="14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free(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tmp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0;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36" name="Google Shape;736;p64"/>
            <p:cNvSpPr txBox="1"/>
            <p:nvPr/>
          </p:nvSpPr>
          <p:spPr>
            <a:xfrm>
              <a:off x="6466850" y="2790563"/>
              <a:ext cx="3743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Desencolar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Queue_Dequeue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737" name="Google Shape;737;p64"/>
          <p:cNvGraphicFramePr/>
          <p:nvPr>
            <p:extLst>
              <p:ext uri="{D42A27DB-BD31-4B8C-83A1-F6EECF244321}">
                <p14:modId xmlns:p14="http://schemas.microsoft.com/office/powerpoint/2010/main" val="2539072448"/>
              </p:ext>
            </p:extLst>
          </p:nvPr>
        </p:nvGraphicFramePr>
        <p:xfrm>
          <a:off x="9800575" y="570788"/>
          <a:ext cx="1409700" cy="19029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queue_t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*head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head_lock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tail</a:t>
                      </a: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head_lock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6"/>
          <p:cNvSpPr txBox="1">
            <a:spLocks noGrp="1"/>
          </p:cNvSpPr>
          <p:nvPr>
            <p:ph type="title"/>
          </p:nvPr>
        </p:nvSpPr>
        <p:spPr>
          <a:xfrm>
            <a:off x="678426" y="96050"/>
            <a:ext cx="854234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Tabla hash concurrente</a:t>
            </a:r>
            <a:endParaRPr dirty="0">
              <a:latin typeface="+mj-lt"/>
            </a:endParaRPr>
          </a:p>
        </p:txBody>
      </p:sp>
      <p:sp>
        <p:nvSpPr>
          <p:cNvPr id="749" name="Google Shape;749;p66"/>
          <p:cNvSpPr txBox="1"/>
          <p:nvPr/>
        </p:nvSpPr>
        <p:spPr>
          <a:xfrm>
            <a:off x="678426" y="4543450"/>
            <a:ext cx="11026949" cy="1466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b="1" dirty="0">
                <a:solidFill>
                  <a:srgbClr val="00B050"/>
                </a:solidFill>
                <a:ea typeface="Roboto"/>
                <a:cs typeface="Roboto"/>
                <a:sym typeface="Roboto"/>
              </a:rPr>
              <a:t>Implementación simple (no cambia de tamaño)</a:t>
            </a:r>
            <a:endParaRPr sz="2600" b="1" dirty="0">
              <a:solidFill>
                <a:srgbClr val="00B050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Usa listas concurrentes (Vistas anteriormente).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Usa un lock por cubo hash (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hash </a:t>
            </a:r>
            <a:r>
              <a:rPr lang="es-ES" sz="24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bucket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), representado por una lista.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750" name="Google Shape;75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3738" y="947375"/>
            <a:ext cx="4393323" cy="320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7"/>
          <p:cNvSpPr txBox="1">
            <a:spLocks noGrp="1"/>
          </p:cNvSpPr>
          <p:nvPr>
            <p:ph type="title"/>
          </p:nvPr>
        </p:nvSpPr>
        <p:spPr>
          <a:xfrm>
            <a:off x="610825" y="96050"/>
            <a:ext cx="86099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Tabla hash concurrente</a:t>
            </a:r>
            <a:endParaRPr dirty="0">
              <a:latin typeface="+mj-lt"/>
            </a:endParaRPr>
          </a:p>
        </p:txBody>
      </p:sp>
      <p:sp>
        <p:nvSpPr>
          <p:cNvPr id="756" name="Google Shape;756;p67"/>
          <p:cNvSpPr txBox="1"/>
          <p:nvPr/>
        </p:nvSpPr>
        <p:spPr>
          <a:xfrm>
            <a:off x="610825" y="729370"/>
            <a:ext cx="10542600" cy="14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Desempeño</a:t>
            </a:r>
            <a:endParaRPr sz="2400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10000 a 50000 accesos por 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core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(4 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cores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Excelente escalamiento. 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757" name="Google Shape;75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4452" y="2321025"/>
            <a:ext cx="5275825" cy="388687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67"/>
          <p:cNvSpPr txBox="1"/>
          <p:nvPr/>
        </p:nvSpPr>
        <p:spPr>
          <a:xfrm>
            <a:off x="5421100" y="6292500"/>
            <a:ext cx="198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Scaling Hash Tables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8"/>
          <p:cNvSpPr txBox="1">
            <a:spLocks noGrp="1"/>
          </p:cNvSpPr>
          <p:nvPr>
            <p:ph type="title"/>
          </p:nvPr>
        </p:nvSpPr>
        <p:spPr>
          <a:xfrm>
            <a:off x="663677" y="96038"/>
            <a:ext cx="855697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Tabla hash concurrente</a:t>
            </a:r>
            <a:endParaRPr dirty="0">
              <a:latin typeface="+mj-lt"/>
            </a:endParaRPr>
          </a:p>
        </p:txBody>
      </p:sp>
      <p:sp>
        <p:nvSpPr>
          <p:cNvPr id="764" name="Google Shape;764;p68"/>
          <p:cNvSpPr txBox="1"/>
          <p:nvPr/>
        </p:nvSpPr>
        <p:spPr>
          <a:xfrm>
            <a:off x="916650" y="952625"/>
            <a:ext cx="2840700" cy="700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Implementación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765" name="Google Shape;765;p68"/>
          <p:cNvGrpSpPr/>
          <p:nvPr/>
        </p:nvGrpSpPr>
        <p:grpSpPr>
          <a:xfrm>
            <a:off x="5454525" y="859075"/>
            <a:ext cx="6560100" cy="2056500"/>
            <a:chOff x="4616325" y="1011475"/>
            <a:chExt cx="6560100" cy="2056500"/>
          </a:xfrm>
        </p:grpSpPr>
        <p:sp>
          <p:nvSpPr>
            <p:cNvPr id="766" name="Google Shape;766;p68"/>
            <p:cNvSpPr txBox="1"/>
            <p:nvPr/>
          </p:nvSpPr>
          <p:spPr>
            <a:xfrm>
              <a:off x="4616325" y="1504075"/>
              <a:ext cx="6139200" cy="15639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Hash_Init(hash_t *H) {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int i;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for (i = 0; i &lt; BUCKETS; i++)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List_Init(&amp;H-&gt;lists[i]);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67" name="Google Shape;767;p68"/>
            <p:cNvSpPr txBox="1"/>
            <p:nvPr/>
          </p:nvSpPr>
          <p:spPr>
            <a:xfrm>
              <a:off x="4616325" y="1011475"/>
              <a:ext cx="6560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Inicialización de la tabla hash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Hash_Init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68" name="Google Shape;768;p68"/>
          <p:cNvGrpSpPr/>
          <p:nvPr/>
        </p:nvGrpSpPr>
        <p:grpSpPr>
          <a:xfrm>
            <a:off x="5454525" y="3084775"/>
            <a:ext cx="6560100" cy="1490100"/>
            <a:chOff x="4616325" y="3313375"/>
            <a:chExt cx="6560100" cy="1490100"/>
          </a:xfrm>
        </p:grpSpPr>
        <p:sp>
          <p:nvSpPr>
            <p:cNvPr id="769" name="Google Shape;769;p68"/>
            <p:cNvSpPr txBox="1"/>
            <p:nvPr/>
          </p:nvSpPr>
          <p:spPr>
            <a:xfrm>
              <a:off x="4616325" y="3805975"/>
              <a:ext cx="6111300" cy="9975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 Hash_Insert(hash_t *H, int key) {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return List_Insert(&amp;H-&gt;lists[key % BUCKETS], key);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70" name="Google Shape;770;p68"/>
            <p:cNvSpPr txBox="1"/>
            <p:nvPr/>
          </p:nvSpPr>
          <p:spPr>
            <a:xfrm>
              <a:off x="4616325" y="3313375"/>
              <a:ext cx="6560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Inserción en la tabla hash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Hash_Insert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71" name="Google Shape;771;p68"/>
          <p:cNvGrpSpPr/>
          <p:nvPr/>
        </p:nvGrpSpPr>
        <p:grpSpPr>
          <a:xfrm>
            <a:off x="5454525" y="4763300"/>
            <a:ext cx="6560100" cy="1490100"/>
            <a:chOff x="4616325" y="5144300"/>
            <a:chExt cx="6560100" cy="1490100"/>
          </a:xfrm>
        </p:grpSpPr>
        <p:sp>
          <p:nvSpPr>
            <p:cNvPr id="772" name="Google Shape;772;p68"/>
            <p:cNvSpPr txBox="1"/>
            <p:nvPr/>
          </p:nvSpPr>
          <p:spPr>
            <a:xfrm>
              <a:off x="4616325" y="5636900"/>
              <a:ext cx="6111300" cy="9975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 Hash_Lookup(hash_t *H, int key) {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return List_Lookup(&amp;H-&gt;lists[key % BUCKETS], key);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73" name="Google Shape;773;p68"/>
            <p:cNvSpPr txBox="1"/>
            <p:nvPr/>
          </p:nvSpPr>
          <p:spPr>
            <a:xfrm>
              <a:off x="4616325" y="5144300"/>
              <a:ext cx="6560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Busqueda en la tabla hash</a:t>
              </a:r>
              <a:r>
                <a:rPr lang="es-ES" sz="2000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lang="es-ES" sz="2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Hash_Lookup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74" name="Google Shape;774;p68"/>
          <p:cNvGrpSpPr/>
          <p:nvPr/>
        </p:nvGrpSpPr>
        <p:grpSpPr>
          <a:xfrm>
            <a:off x="1051550" y="2408700"/>
            <a:ext cx="3631500" cy="1982575"/>
            <a:chOff x="1051550" y="1646700"/>
            <a:chExt cx="3631500" cy="1982575"/>
          </a:xfrm>
        </p:grpSpPr>
        <p:sp>
          <p:nvSpPr>
            <p:cNvPr id="775" name="Google Shape;775;p68"/>
            <p:cNvSpPr txBox="1"/>
            <p:nvPr/>
          </p:nvSpPr>
          <p:spPr>
            <a:xfrm>
              <a:off x="1051550" y="2065375"/>
              <a:ext cx="3631500" cy="15639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#define BUCKETS (101)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typedef struct __hash_t {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list_t lists[BUCKETS];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 hash_t;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76" name="Google Shape;776;p68"/>
            <p:cNvSpPr txBox="1"/>
            <p:nvPr/>
          </p:nvSpPr>
          <p:spPr>
            <a:xfrm>
              <a:off x="1051550" y="1646700"/>
              <a:ext cx="3631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Roboto"/>
                  <a:ea typeface="Roboto"/>
                  <a:cs typeface="Roboto"/>
                  <a:sym typeface="Roboto"/>
                </a:rPr>
                <a:t>Definición de la tabla hash</a:t>
              </a:r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Referencias</a:t>
            </a:r>
            <a:endParaRPr dirty="0">
              <a:latin typeface="+mj-lt"/>
            </a:endParaRPr>
          </a:p>
        </p:txBody>
      </p:sp>
      <p:sp>
        <p:nvSpPr>
          <p:cNvPr id="782" name="Google Shape;782;p69"/>
          <p:cNvSpPr txBox="1">
            <a:spLocks noGrp="1"/>
          </p:cNvSpPr>
          <p:nvPr>
            <p:ph type="body" idx="1"/>
          </p:nvPr>
        </p:nvSpPr>
        <p:spPr>
          <a:xfrm>
            <a:off x="824200" y="974150"/>
            <a:ext cx="11115000" cy="527832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3"/>
              </a:rPr>
              <a:t>https://adit.io/posts/2013-05-15-Locks,-Actors,-And-STM-In-Pictures.html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4"/>
              </a:rPr>
              <a:t>https://link.springer.com/chapter/10.1007/978-1-4842-4398-5_5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5"/>
              </a:rPr>
              <a:t>https://preshing.com/20150316/semaphores-are-surprisingly-versatile/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6"/>
              </a:rPr>
              <a:t>https://jvns.ca/teach-tech-with-cartoons/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7"/>
              </a:rPr>
              <a:t>https://code-cartoons.com/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8"/>
              </a:rPr>
              <a:t>https://medium.com/basecs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9"/>
              </a:rPr>
              <a:t>https://xkcd.com/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0"/>
              </a:rPr>
              <a:t>https://www.qwantz.com/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1"/>
              </a:rPr>
              <a:t>https://pbfcomics.com/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2"/>
              </a:rPr>
              <a:t>http://turnoff.us/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3"/>
              </a:rPr>
              <a:t>http://turnoff.us/geek/arduino-project/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4"/>
              </a:rPr>
              <a:t>https://prepinsta.com/operating-systems/critical-section-problem/</a:t>
            </a:r>
            <a:endParaRPr sz="2200" dirty="0">
              <a:latin typeface="+mn-l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5"/>
              </a:rPr>
              <a:t>https://www.josehu.com/assets/file/ostep-note/operating-systems-ostep.html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6"/>
              </a:rPr>
              <a:t>https://lwn.net/Articles/170003/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s-ES" sz="2400" u="sng" dirty="0">
                <a:solidFill>
                  <a:schemeClr val="hlink"/>
                </a:solidFill>
                <a:latin typeface="+mn-lt"/>
                <a:hlinkClick r:id="rId17"/>
              </a:rPr>
              <a:t>https://www.algorithm-archive.org/</a:t>
            </a:r>
            <a:r>
              <a:rPr lang="es-ES" sz="2400" dirty="0">
                <a:latin typeface="+mn-lt"/>
              </a:rPr>
              <a:t> 	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Referencias</a:t>
            </a:r>
            <a:endParaRPr dirty="0">
              <a:latin typeface="+mj-lt"/>
            </a:endParaRPr>
          </a:p>
        </p:txBody>
      </p:sp>
      <p:sp>
        <p:nvSpPr>
          <p:cNvPr id="788" name="Google Shape;788;p70"/>
          <p:cNvSpPr txBox="1">
            <a:spLocks noGrp="1"/>
          </p:cNvSpPr>
          <p:nvPr>
            <p:ph type="body" idx="1"/>
          </p:nvPr>
        </p:nvSpPr>
        <p:spPr>
          <a:xfrm>
            <a:off x="824200" y="885250"/>
            <a:ext cx="11115000" cy="52475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3"/>
              </a:rPr>
              <a:t>https://pages.cs.wisc.edu/~remzi/Classes/537/Spring2018/handouts.html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4"/>
              </a:rPr>
              <a:t>https://web.cs.wpi.edu/~cshue/cs3013/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5"/>
              </a:rPr>
              <a:t>https://www.ics.uci.edu/~aburtsev/238P/2018winter/index.html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6"/>
              </a:rPr>
              <a:t>https://web.eecs.utk.edu/~jplank/plank/classes/cs360/index.html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7"/>
              </a:rPr>
              <a:t>http://pages.cs.wisc.edu/~harter/537/slides.html</a:t>
            </a:r>
            <a:r>
              <a:rPr lang="es-ES" sz="2200" dirty="0">
                <a:latin typeface="+mn-lt"/>
              </a:rPr>
              <a:t>   </a:t>
            </a:r>
            <a:endParaRPr sz="2200" dirty="0">
              <a:latin typeface="+mn-l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8"/>
              </a:rPr>
              <a:t>https://docs.oracle.com/cd/E19683-01/806-6867/sync-12/index.html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9"/>
              </a:rPr>
              <a:t>https://www.cs.unm.edu/~crandall/operatingsystems20/slides/27-Concurrency-Lock-Examples.pdf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0"/>
              </a:rPr>
              <a:t>https://www.ibm.com/docs/en/zos/2.3.0?topic=functions-pthread-mutex-lock-wait-lock-mutex-object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1"/>
              </a:rPr>
              <a:t>https://www.ibm.com/docs/en/aix/7.2?topic=programming-using-mutexes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2"/>
              </a:rPr>
              <a:t>http://web.eecs.utk.edu/~jplank/plank/classes/cs360/360/notes/Mutex-Cond/lecture.html</a:t>
            </a:r>
            <a:endParaRPr sz="2200" dirty="0">
              <a:latin typeface="+mn-l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3"/>
              </a:rPr>
              <a:t>https://jakegut.com/posts/sg-os/</a:t>
            </a:r>
            <a:endParaRPr sz="2200" dirty="0">
              <a:latin typeface="+mn-l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4"/>
              </a:rPr>
              <a:t>https://www.josehu.com/assets/file/ostep-note/operating-systems-ostep.html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5"/>
              </a:rPr>
              <a:t>https://lwn.net/Articles/170003/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Referencias</a:t>
            </a:r>
            <a:endParaRPr dirty="0">
              <a:latin typeface="+mj-lt"/>
            </a:endParaRPr>
          </a:p>
        </p:txBody>
      </p:sp>
      <p:sp>
        <p:nvSpPr>
          <p:cNvPr id="1475" name="Google Shape;1475;p85"/>
          <p:cNvSpPr txBox="1">
            <a:spLocks noGrp="1"/>
          </p:cNvSpPr>
          <p:nvPr>
            <p:ph type="body" idx="1"/>
          </p:nvPr>
        </p:nvSpPr>
        <p:spPr>
          <a:xfrm>
            <a:off x="824200" y="885250"/>
            <a:ext cx="11235600" cy="572460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3"/>
              </a:rPr>
              <a:t>https://developers.google.com/web/updates/2018/09/inside-browser-part1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4"/>
              </a:rPr>
              <a:t>https://developers.google.com/web/updates/2018/09/inside-browser-part2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5"/>
              </a:rPr>
              <a:t>https://www.informit.com/articles/article.aspx?p=25075&amp;seqNum=3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6"/>
              </a:rPr>
              <a:t>https://www.cs.uic.edu/~jbell/CourseNotes/OperatingSystems/4_Threads.html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7"/>
              </a:rPr>
              <a:t>https://realpython.com/python-sockets/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8"/>
              </a:rPr>
              <a:t>https://realpython.com/intro-to-python-threading/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9"/>
              </a:rPr>
              <a:t>https://realpython.com/python-concurrency/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0"/>
              </a:rPr>
              <a:t>https://www.geeksforgeeks.org/socket-programming-multi-threading-python/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1"/>
              </a:rPr>
              <a:t>https://eecs485staff.github.io/p4-mapreduce/threads-sockets.html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2"/>
              </a:rPr>
              <a:t>https://prepinsta.com/operating-systems/inter-process-communication/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3"/>
              </a:rPr>
              <a:t>https://applied-programming.github.io/Operating-Systems-Notes/6-Inter-Process-Communication/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4"/>
              </a:rPr>
              <a:t>https://applied-programming.github.io/Operating-Systems-Notes/3-Threads-and-Concurrency/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5"/>
              </a:rPr>
              <a:t>https://www.iitk.ac.in/esc101/05Aug/tutorial/essential/threads/definition.html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6"/>
              </a:rPr>
              <a:t>https://singa.apache.org/</a:t>
            </a:r>
            <a:r>
              <a:rPr lang="es-ES" sz="1900" dirty="0">
                <a:latin typeface="+mn-lt"/>
              </a:rPr>
              <a:t> 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7"/>
              </a:rPr>
              <a:t>http://web.mit.edu/java_v1.0.2/www/tutorial/java/threads/deadlock.html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8"/>
              </a:rPr>
              <a:t>http://www.cs.fsu.edu/~baker/realtime/restricted/notes/philos.html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9"/>
              </a:rPr>
              <a:t>https://www2.seas.gwu.edu/~mfeldman/papers/portable-diners.html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20"/>
              </a:rPr>
              <a:t>https://www.kalasim.org/examples/dining_philosophers/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21"/>
              </a:rPr>
              <a:t>http://people.cs.aau.dk/~ask/Undervisning/MVP/html/deadlock.pdf</a:t>
            </a:r>
            <a:r>
              <a:rPr lang="es-ES" sz="1900" dirty="0">
                <a:latin typeface="+mn-lt"/>
              </a:rPr>
              <a:t> 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8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Referencias</a:t>
            </a:r>
            <a:endParaRPr dirty="0">
              <a:latin typeface="+mj-lt"/>
            </a:endParaRPr>
          </a:p>
        </p:txBody>
      </p:sp>
      <p:sp>
        <p:nvSpPr>
          <p:cNvPr id="1481" name="Google Shape;1481;p86"/>
          <p:cNvSpPr txBox="1">
            <a:spLocks noGrp="1"/>
          </p:cNvSpPr>
          <p:nvPr>
            <p:ph type="body" idx="1"/>
          </p:nvPr>
        </p:nvSpPr>
        <p:spPr>
          <a:xfrm>
            <a:off x="824200" y="885250"/>
            <a:ext cx="11235600" cy="54322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3"/>
              </a:rPr>
              <a:t>https://github.com/fab327/JavaFX_DiningPhilosophers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4"/>
              </a:rPr>
              <a:t>https://github.com/djunderw/dining-philosophers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5"/>
              </a:rPr>
              <a:t>https://www.geeksforgeeks.org/dining-philosopher-problem-using-semaphores/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6"/>
              </a:rPr>
              <a:t>https://rosettacode.org/wiki/Dining_philosophers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7"/>
              </a:rPr>
              <a:t>https://www.seas.upenn.edu/~cse39904/homework/hw06.pdf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8"/>
              </a:rPr>
              <a:t>https://www.seas.upenn.edu/~cse39904/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9"/>
              </a:rPr>
              <a:t>https://www.seas.upenn.edu/~cse39904/notes.html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0"/>
              </a:rPr>
              <a:t>https://github.com/smonn/hungrythinkers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1"/>
              </a:rPr>
              <a:t>https://github.com/jnafolayan/dining-philosopher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2"/>
              </a:rPr>
              <a:t>https://jnafolayan.github.io/dining-philosopher/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3"/>
              </a:rPr>
              <a:t>https://github.com/ZzCalvinzZ/dining_philosophers_web_workers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4"/>
              </a:rPr>
              <a:t>https://dev.to/vunderkind/the-dining-philosophers-problem-or-your-introduction-to-thinking-in-computer-science-8ii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5"/>
              </a:rPr>
              <a:t>https://github.com/lievi/dining_philosophers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6"/>
              </a:rPr>
              <a:t>https://www.wikiwand.com/en/Dining_philosophers_problem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7"/>
              </a:rPr>
              <a:t>https://adit.io/posts/2013-05-11-The-Dining-Philosophers-Problem-With-Ron-Swanson.html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8"/>
              </a:rPr>
              <a:t>https://github.com/tpn/pdfs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9"/>
              </a:rPr>
              <a:t>https://jakegut.com/posts/sg-os/</a:t>
            </a:r>
            <a:r>
              <a:rPr lang="es-ES" sz="1900" dirty="0">
                <a:latin typeface="+mn-lt"/>
              </a:rPr>
              <a:t>  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</TotalTime>
  <Words>7384</Words>
  <Application>Microsoft Office PowerPoint</Application>
  <PresentationFormat>Panorámica</PresentationFormat>
  <Paragraphs>1230</Paragraphs>
  <Slides>49</Slides>
  <Notes>49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49</vt:i4>
      </vt:variant>
    </vt:vector>
  </HeadingPairs>
  <TitlesOfParts>
    <vt:vector size="59" baseType="lpstr">
      <vt:lpstr>Calibri Light</vt:lpstr>
      <vt:lpstr>Times New Roman</vt:lpstr>
      <vt:lpstr>Roboto Slab</vt:lpstr>
      <vt:lpstr>Consolas</vt:lpstr>
      <vt:lpstr>Roboto</vt:lpstr>
      <vt:lpstr>Calibri</vt:lpstr>
      <vt:lpstr>Courier New</vt:lpstr>
      <vt:lpstr>Arial</vt:lpstr>
      <vt:lpstr>Tema de Office</vt:lpstr>
      <vt:lpstr>Office Theme</vt:lpstr>
      <vt:lpstr>Sistemas Operativos</vt:lpstr>
      <vt:lpstr>Resumen clase anterior - Locks</vt:lpstr>
      <vt:lpstr>Contextualización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Concurrent counters (Contadores concurrentes)</vt:lpstr>
      <vt:lpstr>Lista enlazada concurrente</vt:lpstr>
      <vt:lpstr>Lista enlazada concurrente</vt:lpstr>
      <vt:lpstr>Lista enlazada concurrente</vt:lpstr>
      <vt:lpstr>Lista enlazada concurrente</vt:lpstr>
      <vt:lpstr>Lista enlazada concurrente</vt:lpstr>
      <vt:lpstr>Lista enlazada concurrente</vt:lpstr>
      <vt:lpstr>Lista enlazada concurrente</vt:lpstr>
      <vt:lpstr>Lista enlazada concurrente</vt:lpstr>
      <vt:lpstr>Lista enlazada concurrente</vt:lpstr>
      <vt:lpstr>Lista enlazada concurrente</vt:lpstr>
      <vt:lpstr>Lista enlazada concurrente</vt:lpstr>
      <vt:lpstr>Colas concurrentes</vt:lpstr>
      <vt:lpstr>Colas concurrentes</vt:lpstr>
      <vt:lpstr>Colas concurrentes</vt:lpstr>
      <vt:lpstr>Colas concurrentes</vt:lpstr>
      <vt:lpstr>Colas concurrentes</vt:lpstr>
      <vt:lpstr>Colas concurrentes</vt:lpstr>
      <vt:lpstr>Tabla hash concurrente</vt:lpstr>
      <vt:lpstr>Tabla hash concurrente</vt:lpstr>
      <vt:lpstr>Tabla hash concurrente</vt:lpstr>
      <vt:lpstr>Referencias</vt:lpstr>
      <vt:lpstr>Referencias</vt:lpstr>
      <vt:lpstr>Referencias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cp:lastModifiedBy>HENRY ALBERTO ARCILA RAMIREZ</cp:lastModifiedBy>
  <cp:revision>44</cp:revision>
  <dcterms:modified xsi:type="dcterms:W3CDTF">2026-05-21T03:14:17Z</dcterms:modified>
</cp:coreProperties>
</file>