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  <p:sldMasterId id="2147483696" r:id="rId2"/>
  </p:sldMasterIdLst>
  <p:notesMasterIdLst>
    <p:notesMasterId r:id="rId74"/>
  </p:notesMasterIdLst>
  <p:sldIdLst>
    <p:sldId id="256" r:id="rId3"/>
    <p:sldId id="326" r:id="rId4"/>
    <p:sldId id="260" r:id="rId5"/>
    <p:sldId id="327" r:id="rId6"/>
    <p:sldId id="262" r:id="rId7"/>
    <p:sldId id="329" r:id="rId8"/>
    <p:sldId id="330" r:id="rId9"/>
    <p:sldId id="331" r:id="rId10"/>
    <p:sldId id="332" r:id="rId11"/>
    <p:sldId id="333" r:id="rId12"/>
    <p:sldId id="334" r:id="rId13"/>
    <p:sldId id="336" r:id="rId14"/>
    <p:sldId id="356" r:id="rId15"/>
    <p:sldId id="337" r:id="rId16"/>
    <p:sldId id="338" r:id="rId17"/>
    <p:sldId id="339" r:id="rId18"/>
    <p:sldId id="341" r:id="rId19"/>
    <p:sldId id="342" r:id="rId20"/>
    <p:sldId id="343" r:id="rId21"/>
    <p:sldId id="344" r:id="rId22"/>
    <p:sldId id="345" r:id="rId23"/>
    <p:sldId id="346" r:id="rId24"/>
    <p:sldId id="348" r:id="rId25"/>
    <p:sldId id="349" r:id="rId26"/>
    <p:sldId id="285" r:id="rId27"/>
    <p:sldId id="350" r:id="rId28"/>
    <p:sldId id="351" r:id="rId29"/>
    <p:sldId id="352" r:id="rId30"/>
    <p:sldId id="353" r:id="rId31"/>
    <p:sldId id="354" r:id="rId32"/>
    <p:sldId id="355" r:id="rId33"/>
    <p:sldId id="358" r:id="rId34"/>
    <p:sldId id="265" r:id="rId35"/>
    <p:sldId id="266" r:id="rId36"/>
    <p:sldId id="267" r:id="rId37"/>
    <p:sldId id="269" r:id="rId38"/>
    <p:sldId id="270" r:id="rId39"/>
    <p:sldId id="271" r:id="rId40"/>
    <p:sldId id="272" r:id="rId41"/>
    <p:sldId id="273" r:id="rId42"/>
    <p:sldId id="274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357" r:id="rId52"/>
    <p:sldId id="286" r:id="rId53"/>
    <p:sldId id="287" r:id="rId54"/>
    <p:sldId id="288" r:id="rId55"/>
    <p:sldId id="289" r:id="rId56"/>
    <p:sldId id="290" r:id="rId57"/>
    <p:sldId id="291" r:id="rId58"/>
    <p:sldId id="292" r:id="rId59"/>
    <p:sldId id="293" r:id="rId60"/>
    <p:sldId id="295" r:id="rId61"/>
    <p:sldId id="296" r:id="rId62"/>
    <p:sldId id="297" r:id="rId63"/>
    <p:sldId id="298" r:id="rId64"/>
    <p:sldId id="299" r:id="rId65"/>
    <p:sldId id="300" r:id="rId66"/>
    <p:sldId id="301" r:id="rId67"/>
    <p:sldId id="302" r:id="rId68"/>
    <p:sldId id="303" r:id="rId69"/>
    <p:sldId id="304" r:id="rId70"/>
    <p:sldId id="305" r:id="rId71"/>
    <p:sldId id="306" r:id="rId72"/>
    <p:sldId id="307" r:id="rId73"/>
  </p:sldIdLst>
  <p:sldSz cx="12192000" cy="6858000"/>
  <p:notesSz cx="6858000" cy="9144000"/>
  <p:embeddedFontLst>
    <p:embeddedFont>
      <p:font typeface="Calibri" panose="020F0502020204030204" pitchFamily="34" charset="0"/>
      <p:regular r:id="rId75"/>
      <p:bold r:id="rId76"/>
      <p:italic r:id="rId77"/>
      <p:boldItalic r:id="rId78"/>
    </p:embeddedFont>
    <p:embeddedFont>
      <p:font typeface="Calibri Light" panose="020F0302020204030204" pitchFamily="34" charset="0"/>
      <p:regular r:id="rId79"/>
      <p:italic r:id="rId80"/>
    </p:embeddedFont>
    <p:embeddedFont>
      <p:font typeface="Consolas" panose="020B0609020204030204" pitchFamily="49" charset="0"/>
      <p:regular r:id="rId81"/>
      <p:bold r:id="rId82"/>
      <p:italic r:id="rId83"/>
      <p:boldItalic r:id="rId84"/>
    </p:embeddedFont>
    <p:embeddedFont>
      <p:font typeface="Roboto" panose="02000000000000000000" pitchFamily="2" charset="0"/>
      <p:regular r:id="rId85"/>
      <p:bold r:id="rId86"/>
      <p:italic r:id="rId87"/>
      <p:boldItalic r:id="rId88"/>
    </p:embeddedFont>
    <p:embeddedFont>
      <p:font typeface="Roboto Slab" panose="020B0604020202020204" charset="0"/>
      <p:regular r:id="rId89"/>
      <p:bold r:id="rId90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6A2E93-5121-40D1-B61B-F19DAAD5E98B}">
  <a:tblStyle styleId="{F66A2E93-5121-40D1-B61B-F19DAAD5E9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31F8EA-094C-4022-B5A3-1638E5F4CCC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91" autoAdjust="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font" Target="fonts/font10.fntdata"/><Relationship Id="rId89" Type="http://schemas.openxmlformats.org/officeDocument/2006/relationships/font" Target="fonts/font15.fntdata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notesMaster" Target="notesMasters/notesMaster1.xml"/><Relationship Id="rId79" Type="http://schemas.openxmlformats.org/officeDocument/2006/relationships/font" Target="fonts/font5.fntdata"/><Relationship Id="rId5" Type="http://schemas.openxmlformats.org/officeDocument/2006/relationships/slide" Target="slides/slide3.xml"/><Relationship Id="rId90" Type="http://schemas.openxmlformats.org/officeDocument/2006/relationships/font" Target="fonts/font16.fntdata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font" Target="fonts/font6.fntdata"/><Relationship Id="rId85" Type="http://schemas.openxmlformats.org/officeDocument/2006/relationships/font" Target="fonts/font11.fntdata"/><Relationship Id="rId93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font" Target="fonts/font1.fntdata"/><Relationship Id="rId83" Type="http://schemas.openxmlformats.org/officeDocument/2006/relationships/font" Target="fonts/font9.fntdata"/><Relationship Id="rId88" Type="http://schemas.openxmlformats.org/officeDocument/2006/relationships/font" Target="fonts/font14.fntdata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font" Target="fonts/font4.fntdata"/><Relationship Id="rId81" Type="http://schemas.openxmlformats.org/officeDocument/2006/relationships/font" Target="fonts/font7.fntdata"/><Relationship Id="rId86" Type="http://schemas.openxmlformats.org/officeDocument/2006/relationships/font" Target="fonts/font12.fntdata"/><Relationship Id="rId9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2.fntdata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font" Target="fonts/font13.fntdata"/><Relationship Id="rId61" Type="http://schemas.openxmlformats.org/officeDocument/2006/relationships/slide" Target="slides/slide59.xml"/><Relationship Id="rId82" Type="http://schemas.openxmlformats.org/officeDocument/2006/relationships/font" Target="fonts/font8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a63ce91a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1a63ce91a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e51de63af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1e51de63af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1e51de63af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1e51de63af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1e51de63af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1e51de63af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17ac81a7f7_0_7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g117ac81a7f7_0_7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1e51de63af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g11e51de63af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1e51de63af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g11e51de63af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1e51de63af_0_4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g11e51de63af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1e51de63af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g11e51de63af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1e51de63af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g11e51de63af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1a63ce91ac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1a63ce91ac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05422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1a63ce91ac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1a63ce91ac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1a63ce91ac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11a63ce91ac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11e51de63af_0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11e51de63af_0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2" name="Google Shape;512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11e51de63af_0_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5" name="Google Shape;525;g11e51de63af_0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e21ec840c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563" name="Google Shape;563;g11e21ec840c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1e51de63af_0_6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69" name="Google Shape;569;g11e51de63af_0_6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11e51de63af_0_6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3" name="Google Shape;613;g11e51de63af_0_6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d557846ca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9" name="Google Shape;619;g2d557846c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10e4de43856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10e4de43856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11e51de63af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11e51de63af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118e7b7acc1_2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118e7b7acc1_2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11e51de63af_0_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11e51de63af_0_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11e51de63af_0_7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11e51de63af_0_7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11e51de63af_0_8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11e51de63af_0_8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11e51de63af_0_8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11e51de63af_0_8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1359daf871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1359daf871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11e51de63af_0_8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11e51de63af_0_8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e51de63af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1e51de63af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989843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e51de63af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1e51de63af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1f4cfdb3ba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1f4cfdb3ba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1f4cfdb3ba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1f4cfdb3ba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17ac81a7f7_0_7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g117ac81a7f7_0_7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1e51de63af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g11e51de63af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1e51de63af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g11e51de63af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1f4cfdb3ba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g11f4cfdb3ba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1f4cfdb3b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11f4cfdb3ba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6" name="Google Shape;456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1e51de63af_0_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5" name="Google Shape;465;g11e51de63af_0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2062b4817b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9" name="Google Shape;479;g12062b4817b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2062b4817b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8" name="Google Shape;488;g12062b4817b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2062b4817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0" name="Google Shape;500;g12062b4817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02cdf552c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0" name="Google Shape;510;g202cdf552c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02cdf552c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1" name="Google Shape;521;g202cdf552c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202cdf552c7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0" name="Google Shape;530;g202cdf552c7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2062b4817b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2062b4817b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10e4de43856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10e4de43856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12062b4817b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12062b4817b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11e51de63af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11e51de63af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12062b4817b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12062b4817b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18e7b7acc1_2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118e7b7acc1_2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12062b4817b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12062b4817b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202cdf552c7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202cdf552c7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202cdf552c7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202cdf552c7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12062b4817b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s-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Usualmente no presenta problemas de sincronización.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Desempeño relativo a la velocidad de la interconexión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8" name="Google Shape;638;g12062b4817b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12062b4817b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Usualmente no presenta problemas de sincronización.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Desempeño relativo a la velocidad de la interconexión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6" name="Google Shape;646;g12062b4817b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12062b4817b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Usualmente no presenta problemas de sincronización.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Desempeño relativo a la velocidad de la interconexión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8" name="Google Shape;668;g12062b4817b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202cdf552c7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Usualmente no presenta problemas de sincronización.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Desempeño relativo a la velocidad de la interconexión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7" name="Google Shape;677;g202cdf552c7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02cdf552c7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Usualmente no presenta problemas de sincronización.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Desempeño relativo a la velocidad de la interconexión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9" name="Google Shape;689;g202cdf552c7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02cdf552c7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○"/>
            </a:pPr>
            <a:r>
              <a:rPr lang="es-E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Usualmente no presenta problemas de sincronización.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Desempeño relativo a la velocidad de la interconexión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8" name="Google Shape;698;g202cdf552c7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202cdf552c7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Usualmente no presenta problemas de sincronización.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Desempeño relativo a la velocidad de la interconexión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0" name="Google Shape;710;g202cdf552c7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12062b4817b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Usualmente no presenta problemas de sincronización.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Desempeño relativo a la velocidad de la interconexión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9" name="Google Shape;719;g12062b4817b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115c7f9ec68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115c7f9ec68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114ae551f2c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114ae551f2c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11e51de63a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11e51de63a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11e51de63a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11e51de63a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11e51de63af_0_8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11e51de63af_0_8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4EFC6-2F92-4E13-B961-A63A46079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6F2C6D-CAFB-44D8-9D3D-F5A367BA1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F026EC-B5D6-4D83-A457-01DAE0EA9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191B12-6E98-4529-8DFE-C63E15B2C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0FC392-DBA9-4D32-93B1-DF4E5BB1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810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FF4AE-CAC7-4BBF-AE34-C379EC15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83AA2B-92AE-42A5-BCF6-E98BDE35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082BFE-1D32-4479-83ED-A1108304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F20778-84C0-4301-A4E0-10F9266DF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9CCB08-11A5-48C7-93D0-9383D622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474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4BA23-0AB4-4AC3-93DC-F5388101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9929E9-AF43-4475-9794-9B572F85C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50D247-5A16-4ED9-905C-B541C172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6C9789-EE70-48D0-BC42-A6F6D7E34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D6E942-C7E5-4333-BDF7-15CF95F1A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420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38B16-3F67-406F-8896-C5A869B85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60E17A-AD41-4672-9C99-944730E37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8A3F05-AEEE-48F9-8760-BA226C2BF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40793A-4279-4444-93A4-9043D37A4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03B0D4-543E-46DA-BE81-54D2A4EA1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875236-A285-4F7E-B2AA-02F956A1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0090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C3896-951A-4DB9-8E22-DACD3A71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2C3865-E925-430F-BBFE-7CCF8668A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5588A4-4D2B-4258-A424-4AB644D24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518C85-5630-41BD-B5C7-0BE9B5CE9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DF6C0B-3AF4-431B-8284-6CE72DCB1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4BDE952-7D99-4D51-B797-4DF6129D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EB417C5-DA3D-446E-B651-152F4B98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6B7A783-CBCE-4D23-82A1-495BE8FA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4238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2725F-C606-4002-81BA-57D4D40E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6311ACD-59CB-473D-A95A-770B983BE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0A660C-36A3-45CD-8C5C-1ED4EEA51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7ED5B6-B4E1-43CC-9237-973602CE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359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2DC51D-11D6-4E6C-A274-1502ED2A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48D94D-B572-4A3F-A07D-B3E7CA38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3177E2-88CE-4061-A1E2-64D4BF5B9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368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4E2D6-30D3-4D7C-92E0-7BD982CE8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2F63FE-F153-44EC-8B3F-9AB705E80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53B2D7-2EBB-4DF4-85BE-E6F6C8A1D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6675FD-5EDC-4BA5-89E6-5527FDA7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DDFFFF-DED3-443F-AF70-AE862266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51918A-4D8E-49A8-AED4-7E4D1103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2096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07736-A43F-4823-A3D8-27A558EB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A95A70B-4C45-4A90-927B-891E93A1B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81C756-EC01-425F-81C9-E0CCFAD04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8AC5BF-EEBA-470C-9C6F-522C81E94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E409BB-9B3B-4F69-8C28-47570F12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0C99D3-07A0-4E76-9435-F682D02A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74294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8ACD2-83F5-4E65-9816-AB21E7D4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8C3005-8107-477C-A680-E897E310A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CBF435-23E7-497A-9ADC-36BE5932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11B139-777A-4BC1-9C85-71598B28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7BD15A-E716-4D55-B413-340CDF05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068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0A9933-DFFE-4FED-9733-EBC96A6A1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F4986F-5D3E-4A01-A65E-23B40E95A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D6847E-AC2C-4D4E-8FD1-1B163A98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A50FCC-0956-4A29-BB7C-AC033763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575AB2-90A3-4094-85A8-397A869CC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2437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42" name="Google Shape;42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03368" y="200380"/>
            <a:ext cx="2262624" cy="710577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 rot="5400000">
            <a:off x="-3061973" y="3062100"/>
            <a:ext cx="6858000" cy="7338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71779" y="466585"/>
            <a:ext cx="178200" cy="1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0B6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0708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54" name="Google Shape;54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03368" y="200380"/>
            <a:ext cx="2262624" cy="710577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 rot="5400000">
            <a:off x="-3061973" y="3062100"/>
            <a:ext cx="6858000" cy="7338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271779" y="466585"/>
            <a:ext cx="178200" cy="1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0B6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0208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FA959A-ABF5-4B32-892C-8BA12EF45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B713C3-8472-4C10-8A79-820341ACE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AF7D30-700F-452C-8804-D1C2E7E9A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E160B-F696-4CCC-AD54-37883283B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8284AB-1112-49C3-8140-04B8CCCF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9842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FAD8DC-A81B-41D6-80D0-E64CA921A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AAB2BD-6C2B-4964-8282-738BBB4F5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D250AB-FDE9-4051-885C-34601F4D1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81564A-B34F-41C4-BB5F-41E1EEF6C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ADEC95-CBD4-46A9-A58A-E5368D9B1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836748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F2227F-727D-42B2-ACDF-8700AA011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78F770-3894-4E16-806D-2CDBD6BA3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203219-1997-4DED-B3A1-4776ADB0D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A314B1-7301-49DC-BEF6-49F518712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8D899B-6527-46FC-B87D-E35ED7817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55977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AE8A30-1864-4F1B-973E-E08CEC5B1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1F2070-EC9A-4984-BFC5-2273124F6E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106320-567D-4BD0-A0E8-AA7771C98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D2F354-6790-4386-AA35-BB39B19F7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4849C3-3E2C-40CC-91D0-F1C2F22FB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11BCB0-8475-492A-BB86-55527E11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07826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55BA4A-118B-421A-8323-DADB79AFF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E03A14-7EB6-4EA0-A820-7DB7B66CD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05E9C5-0D36-401B-8D90-F1BC47573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86B158-9A2D-4B06-B5FA-8E033C68D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9A4EBF7-1069-48D2-8588-42456EBA7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2D2B07E-5CA1-403F-9164-44CA00F6D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CA73407-173E-46CA-8A38-BCF47F4BC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1DA3DA3-0686-42E2-ACB5-2AA4825C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03488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B5A88-32F4-4B4C-9AC6-2DAB461E9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787A2A-E4CF-4D9E-B951-47F5D3E93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B799767-CC85-4FC9-A0A3-B51BF4D8B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E42B75-3E62-41F2-A181-09F410FD4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49566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1D52E61-FA69-46F0-8266-94EEA54FD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0DCBBC-60D6-46C1-874F-E42936573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CEB13B-41AB-44E9-8108-D592A3D68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82461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947BE-30D9-420F-AA8B-8806E9ACE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2F8AD3-38F2-4E3E-8C4D-75F998D77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E377E6-C523-4400-AA37-CB2855FCA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1A176D-C012-490F-8627-594D453CA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ABF29E-E398-438F-B30C-422929FC8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ABD827-F037-4F1C-99BC-86ECF2A7E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85318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593BF-15B1-40E8-9F27-792673394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EF8DC86-3EE1-4987-A126-E6A15C5015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6914AF-A2F5-4959-9C68-A4D7A8A4C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3FBDDE6-CA00-4DF8-864C-B4B317CDC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20B47F-7685-4AC9-B5F2-EABFB2281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A244C6-8D0A-4C6C-A8E3-D01876A14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8667570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EBCD1-140D-435C-BF3B-075510AFC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A46770-0BC2-43BD-9BC5-30853ADF6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1A811D-E786-45E4-BD00-77B715A45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B82B96-DE66-440C-BFE3-93B82A808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524476-C04F-4B5C-B804-1F271918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46525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0F4050-75E4-4F4C-9E47-7A0FD3D8F6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D139A50-E5F7-4E4F-A428-F5E52F82C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709DDC-F4AD-492D-BD40-407927FC3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B282BC-F5A7-4EC3-A03A-537E44FEE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83B9D5-6BAC-4FED-8F0C-FBBA39466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61064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54972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05218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1926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195C28F-71F9-496E-A52E-B0A9C891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544CEF-7090-4EF7-ABC2-01FDE5987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C934C1-DE25-48B2-9A9C-F22C17470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529388-65E5-4496-A9AF-B22A7AC84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A2886E-44BF-4964-9363-44A3C2C64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183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8" r:id="rId12"/>
    <p:sldLayoutId id="2147483679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C004794-18AF-4F1B-BA66-8B9B8D5EB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B624B0-7C91-42DB-AA43-1D800F1DE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716EA-083D-4D48-8B5A-A0C547C999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0D725F-58F4-4325-A881-3C9F63371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8F5DD3-2790-497D-9451-D15B71B0C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2154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dea-so/codigos_clase/blob/main/CV/parte1/ejemplo1.c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dea-so/codigos_clase/blob/main/CV/parte1/ejemplo2.c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dea-so/codigos_clase/blob/main/CV/parte1/ejemplo2.c" TargetMode="Externa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dea-so/codigos_clase/blob/main/CV/parte1/implementacion1.c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dea-so/codigos_clase/blob/main/CV/parte1/implementacion1.c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dea-so/codigos_clase/blob/main/CV/parte1/implementacion1.c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dea-so/codigos_clase/blob/main/CV/parte1/implementacion2.c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dea-so/codigos_clase/blob/main/CV/parte1/implementacion2.c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dea-so/codigos_clase/blob/main/CV/parte1/implementacion2.c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dea-so/codigos_clase/blob/main/CV/parte1/implementacion3.c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dea-so/codigos_clase/blob/main/CV/parte1/implementacion3.c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M49oMjFeU6D80icH7MWrigkVkmMolgp8/view?usp=sharing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7.xml"/><Relationship Id="rId4" Type="http://schemas.openxmlformats.org/officeDocument/2006/relationships/hyperlink" Target="https://drive.google.com/file/d/1dmMdlJMzejTtccC3M9XTr49NQ1fSXzaw/view?usp=sharing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9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M49oMjFeU6D80icH7MWrigkVkmMolgp8/view?usp=sharing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drive.google.com/file/d/1Q6Esd0HqHBTuI9Gb2Sk3hWRYrLm7DKuA/view?usp=sharing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4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M49oMjFeU6D80icH7MWrigkVkmMolgp8/view?usp=sharing" TargetMode="Externa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6.xml"/><Relationship Id="rId4" Type="http://schemas.openxmlformats.org/officeDocument/2006/relationships/hyperlink" Target="https://drive.google.com/file/d/1PwUeEGGyi6y7osDy9UOlvifSWXEy2sY7/view?usp=sharing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M49oMjFeU6D80icH7MWrigkVkmMolgp8/view?usp=sharing" TargetMode="Externa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6.xml"/><Relationship Id="rId4" Type="http://schemas.openxmlformats.org/officeDocument/2006/relationships/hyperlink" Target="https://drive.google.com/file/d/17Qd6LuaKZbiDtJ9Vgh-UpZSXKYsOZOml/view?usp=sharing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7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6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basecs" TargetMode="External"/><Relationship Id="rId13" Type="http://schemas.openxmlformats.org/officeDocument/2006/relationships/hyperlink" Target="http://turnoff.us/geek/arduino-project/" TargetMode="External"/><Relationship Id="rId3" Type="http://schemas.openxmlformats.org/officeDocument/2006/relationships/hyperlink" Target="https://adit.io/posts/2013-05-15-Locks,-Actors,-And-STM-In-Pictures.html" TargetMode="External"/><Relationship Id="rId7" Type="http://schemas.openxmlformats.org/officeDocument/2006/relationships/hyperlink" Target="https://code-cartoons.com/" TargetMode="External"/><Relationship Id="rId12" Type="http://schemas.openxmlformats.org/officeDocument/2006/relationships/hyperlink" Target="http://turnoff.us/" TargetMode="External"/><Relationship Id="rId17" Type="http://schemas.openxmlformats.org/officeDocument/2006/relationships/hyperlink" Target="https://github.com/capedrazab/os-20201/wiki" TargetMode="External"/><Relationship Id="rId2" Type="http://schemas.openxmlformats.org/officeDocument/2006/relationships/notesSlide" Target="../notesSlides/notesSlide67.xml"/><Relationship Id="rId16" Type="http://schemas.openxmlformats.org/officeDocument/2006/relationships/hyperlink" Target="https://github.com/jjpulidos/Operating-Systems-UNAL-20191" TargetMode="External"/><Relationship Id="rId1" Type="http://schemas.openxmlformats.org/officeDocument/2006/relationships/slideLayout" Target="../slideLayouts/slideLayout26.xml"/><Relationship Id="rId6" Type="http://schemas.openxmlformats.org/officeDocument/2006/relationships/hyperlink" Target="https://jvns.ca/teach-tech-with-cartoons/" TargetMode="External"/><Relationship Id="rId11" Type="http://schemas.openxmlformats.org/officeDocument/2006/relationships/hyperlink" Target="https://pbfcomics.com/" TargetMode="External"/><Relationship Id="rId5" Type="http://schemas.openxmlformats.org/officeDocument/2006/relationships/hyperlink" Target="https://preshing.com/20150316/semaphores-are-surprisingly-versatile/" TargetMode="External"/><Relationship Id="rId15" Type="http://schemas.openxmlformats.org/officeDocument/2006/relationships/hyperlink" Target="https://github.com/capedrazab/os-20191/wiki" TargetMode="External"/><Relationship Id="rId10" Type="http://schemas.openxmlformats.org/officeDocument/2006/relationships/hyperlink" Target="https://www.qwantz.com/" TargetMode="External"/><Relationship Id="rId4" Type="http://schemas.openxmlformats.org/officeDocument/2006/relationships/hyperlink" Target="https://link.springer.com/chapter/10.1007/978-1-4842-4398-5_5" TargetMode="External"/><Relationship Id="rId9" Type="http://schemas.openxmlformats.org/officeDocument/2006/relationships/hyperlink" Target="https://xkcd.com/" TargetMode="External"/><Relationship Id="rId14" Type="http://schemas.openxmlformats.org/officeDocument/2006/relationships/hyperlink" Target="https://prepinsta.com/operating-systems/critical-section-problem/" TargetMode="Externa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hyperlink" Target="https://pages.mtu.edu/~shene/NSF-3/e-Book/MONITOR/monitor-types.html" TargetMode="External"/><Relationship Id="rId13" Type="http://schemas.openxmlformats.org/officeDocument/2006/relationships/hyperlink" Target="http://www.it.uu.se/education/course/homepage/os/vt18/module-4/implementing-threads/" TargetMode="External"/><Relationship Id="rId3" Type="http://schemas.openxmlformats.org/officeDocument/2006/relationships/hyperlink" Target="http://csl.snu.ac.kr/courses/4190.307/2020-1/" TargetMode="External"/><Relationship Id="rId7" Type="http://schemas.openxmlformats.org/officeDocument/2006/relationships/hyperlink" Target="http://odl.sysworks.biz/disk$axpdocsep012/network/dcev30/develop/appdev/Appde179.htm" TargetMode="External"/><Relationship Id="rId12" Type="http://schemas.openxmlformats.org/officeDocument/2006/relationships/hyperlink" Target="https://prepinsta.com/operating-systems/threads/" TargetMode="Externa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6.xml"/><Relationship Id="rId6" Type="http://schemas.openxmlformats.org/officeDocument/2006/relationships/hyperlink" Target="http://www.embeddedlinux.org.cn/rtconforembsys/5107final/LiB0053.html" TargetMode="External"/><Relationship Id="rId11" Type="http://schemas.openxmlformats.org/officeDocument/2006/relationships/hyperlink" Target="https://ruslanspivak.com/lsbaws-part1/" TargetMode="External"/><Relationship Id="rId5" Type="http://schemas.openxmlformats.org/officeDocument/2006/relationships/hyperlink" Target="http://pages.cs.wisc.edu/~harter/537/slides.html" TargetMode="External"/><Relationship Id="rId10" Type="http://schemas.openxmlformats.org/officeDocument/2006/relationships/hyperlink" Target="https://omscs.gatech.edu/cs-6200-introduction-operating-systems" TargetMode="External"/><Relationship Id="rId4" Type="http://schemas.openxmlformats.org/officeDocument/2006/relationships/hyperlink" Target="https://brendangregg.com/linuxperf.html" TargetMode="External"/><Relationship Id="rId9" Type="http://schemas.openxmlformats.org/officeDocument/2006/relationships/hyperlink" Target="https://ocw.unican.es/course/view.php?id=240&amp;section=1" TargetMode="Externa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tevenxchung/Introduction-to-Operating-Systems/tree/master/Lesson%2014%20-%20Synchronization%20Constructs" TargetMode="External"/><Relationship Id="rId13" Type="http://schemas.openxmlformats.org/officeDocument/2006/relationships/hyperlink" Target="https://github.com/sergioarmgpl/operating-systems-usac-course" TargetMode="External"/><Relationship Id="rId3" Type="http://schemas.openxmlformats.org/officeDocument/2006/relationships/hyperlink" Target="https://github.com/capedrazab/os-20211" TargetMode="External"/><Relationship Id="rId7" Type="http://schemas.openxmlformats.org/officeDocument/2006/relationships/hyperlink" Target="https://github.com/stevenxchung/Introduction-to-Operating-Systems" TargetMode="External"/><Relationship Id="rId12" Type="http://schemas.openxmlformats.org/officeDocument/2006/relationships/hyperlink" Target="https://github.com/Maxxquoi/Introduction-to-Operating-Systems" TargetMode="External"/><Relationship Id="rId2" Type="http://schemas.openxmlformats.org/officeDocument/2006/relationships/notesSlide" Target="../notesSlides/notesSlide69.xml"/><Relationship Id="rId16" Type="http://schemas.openxmlformats.org/officeDocument/2006/relationships/hyperlink" Target="https://github.com/mishal23/os-lab" TargetMode="External"/><Relationship Id="rId1" Type="http://schemas.openxmlformats.org/officeDocument/2006/relationships/slideLayout" Target="../slideLayouts/slideLayout26.xml"/><Relationship Id="rId6" Type="http://schemas.openxmlformats.org/officeDocument/2006/relationships/hyperlink" Target="https://github.com/monorinam/GaTech-CS-6210-Advanced-Operating-Systems" TargetMode="External"/><Relationship Id="rId11" Type="http://schemas.openxmlformats.org/officeDocument/2006/relationships/hyperlink" Target="https://github.com/bresilla/robond_project_2" TargetMode="External"/><Relationship Id="rId5" Type="http://schemas.openxmlformats.org/officeDocument/2006/relationships/hyperlink" Target="https://github.com/tiemma/udacity-operating-systems" TargetMode="External"/><Relationship Id="rId15" Type="http://schemas.openxmlformats.org/officeDocument/2006/relationships/hyperlink" Target="https://github.com/PKUFlyingPig/MIT6.S081-2020fall" TargetMode="External"/><Relationship Id="rId10" Type="http://schemas.openxmlformats.org/officeDocument/2006/relationships/hyperlink" Target="https://github.com/gauti1311/SystemMonitor" TargetMode="External"/><Relationship Id="rId4" Type="http://schemas.openxmlformats.org/officeDocument/2006/relationships/hyperlink" Target="https://github.com/pkgamma/cs241-coursebook-clone-fa19/wiki/Synchronization" TargetMode="External"/><Relationship Id="rId9" Type="http://schemas.openxmlformats.org/officeDocument/2006/relationships/hyperlink" Target="https://github.com/khanhnamle1994/operating-systems" TargetMode="External"/><Relationship Id="rId14" Type="http://schemas.openxmlformats.org/officeDocument/2006/relationships/hyperlink" Target="https://github.com/MrinmoiHossain/Online-Courses-Learning" TargetMode="Externa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atrixpecker/VE482-public" TargetMode="External"/><Relationship Id="rId13" Type="http://schemas.openxmlformats.org/officeDocument/2006/relationships/hyperlink" Target="https://levelup.gitconnected.com/producer-consumer-problem-using-condition-variable-in-c-6c4d96efcbbc" TargetMode="External"/><Relationship Id="rId3" Type="http://schemas.openxmlformats.org/officeDocument/2006/relationships/hyperlink" Target="https://github.com/mishal23/os-simulator" TargetMode="External"/><Relationship Id="rId7" Type="http://schemas.openxmlformats.org/officeDocument/2006/relationships/hyperlink" Target="https://github.com/JoyeBright/OSLab" TargetMode="External"/><Relationship Id="rId12" Type="http://schemas.openxmlformats.org/officeDocument/2006/relationships/hyperlink" Target="http://www.embeddedlinux.org.cn/rtconforembsys/5107final/LiB0053.html" TargetMode="External"/><Relationship Id="rId2" Type="http://schemas.openxmlformats.org/officeDocument/2006/relationships/notesSlide" Target="../notesSlides/notesSlide70.xml"/><Relationship Id="rId16" Type="http://schemas.openxmlformats.org/officeDocument/2006/relationships/hyperlink" Target="https://github.com/CodeExMachina/ConditionVariable" TargetMode="External"/><Relationship Id="rId1" Type="http://schemas.openxmlformats.org/officeDocument/2006/relationships/slideLayout" Target="../slideLayouts/slideLayout26.xml"/><Relationship Id="rId6" Type="http://schemas.openxmlformats.org/officeDocument/2006/relationships/hyperlink" Target="https://github.com/hyojeonglee/osfall2019" TargetMode="External"/><Relationship Id="rId11" Type="http://schemas.openxmlformats.org/officeDocument/2006/relationships/hyperlink" Target="https://github.com/Aniruddha-Tapas/Operating-Systems-Notes/blob/master/3-Threads-and-Concurrency.md" TargetMode="External"/><Relationship Id="rId5" Type="http://schemas.openxmlformats.org/officeDocument/2006/relationships/hyperlink" Target="https://github.com/mauri870/baking-pi" TargetMode="External"/><Relationship Id="rId15" Type="http://schemas.openxmlformats.org/officeDocument/2006/relationships/hyperlink" Target="https://pages.mtu.edu/~shene/NSF-3/e-Book/MONITOR/monitor-types.html" TargetMode="External"/><Relationship Id="rId10" Type="http://schemas.openxmlformats.org/officeDocument/2006/relationships/hyperlink" Target="https://github.com/Aniruddha-Tapas/Operating-Systems-Notes" TargetMode="External"/><Relationship Id="rId4" Type="http://schemas.openxmlformats.org/officeDocument/2006/relationships/hyperlink" Target="https://github.com/zxc479773533/HUST-OS-Course-Design" TargetMode="External"/><Relationship Id="rId9" Type="http://schemas.openxmlformats.org/officeDocument/2006/relationships/hyperlink" Target="https://github.com/MrinmoiHossain/Robot-Operating-System-Udemy" TargetMode="External"/><Relationship Id="rId14" Type="http://schemas.openxmlformats.org/officeDocument/2006/relationships/hyperlink" Target="http://jakascorner.com/blog/2016/01/condition-variable.html" TargetMode="Externa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://csl.snu.ac.kr/courses/4190.307/2020-1/" TargetMode="Externa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6.xml"/><Relationship Id="rId6" Type="http://schemas.openxmlformats.org/officeDocument/2006/relationships/hyperlink" Target="https://www.cs.cmu.edu/afs/cs/academic/class/15492-f07/www/pthreads.html" TargetMode="External"/><Relationship Id="rId5" Type="http://schemas.openxmlformats.org/officeDocument/2006/relationships/hyperlink" Target="http://pages.cs.wisc.edu/~harter/537/slides.html" TargetMode="External"/><Relationship Id="rId4" Type="http://schemas.openxmlformats.org/officeDocument/2006/relationships/hyperlink" Target="https://brendangregg.com/linuxperf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964875"/>
            <a:ext cx="11330991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Sistemas Operativos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3200" b="1" dirty="0"/>
              <a:t>Clase</a:t>
            </a:r>
            <a:r>
              <a:rPr lang="es-ES" sz="3200" b="1" dirty="0">
                <a:ea typeface="Roboto"/>
                <a:cs typeface="Roboto"/>
                <a:sym typeface="Roboto"/>
              </a:rPr>
              <a:t> 17 – Variables de condición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dirty="0"/>
              <a:t>28/05/2026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clase anterior - Locks</a:t>
            </a:r>
            <a:endParaRPr dirty="0"/>
          </a:p>
        </p:txBody>
      </p:sp>
      <p:grpSp>
        <p:nvGrpSpPr>
          <p:cNvPr id="159" name="Google Shape;159;p20"/>
          <p:cNvGrpSpPr/>
          <p:nvPr/>
        </p:nvGrpSpPr>
        <p:grpSpPr>
          <a:xfrm>
            <a:off x="1620750" y="2462500"/>
            <a:ext cx="4699200" cy="1937200"/>
            <a:chOff x="1231875" y="4742650"/>
            <a:chExt cx="4699200" cy="1937200"/>
          </a:xfrm>
        </p:grpSpPr>
        <p:pic>
          <p:nvPicPr>
            <p:cNvPr id="160" name="Google Shape;160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28288" y="4806473"/>
              <a:ext cx="384675" cy="536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67388" y="4742650"/>
              <a:ext cx="513925" cy="5437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2" name="Google Shape;162;p20"/>
            <p:cNvCxnSpPr/>
            <p:nvPr/>
          </p:nvCxnSpPr>
          <p:spPr>
            <a:xfrm>
              <a:off x="2649375" y="5701175"/>
              <a:ext cx="3281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3" name="Google Shape;163;p20"/>
            <p:cNvSpPr txBox="1"/>
            <p:nvPr/>
          </p:nvSpPr>
          <p:spPr>
            <a:xfrm>
              <a:off x="1231875" y="5470325"/>
              <a:ext cx="1314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Thread </a:t>
              </a:r>
              <a:endParaRPr sz="1800" b="1">
                <a:solidFill>
                  <a:schemeClr val="dk1"/>
                </a:solidFill>
              </a:endParaRPr>
            </a:p>
          </p:txBody>
        </p:sp>
        <p:sp>
          <p:nvSpPr>
            <p:cNvPr id="164" name="Google Shape;164;p20"/>
            <p:cNvSpPr/>
            <p:nvPr/>
          </p:nvSpPr>
          <p:spPr>
            <a:xfrm>
              <a:off x="3216988" y="5617025"/>
              <a:ext cx="2103600" cy="168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5" name="Google Shape;165;p20"/>
            <p:cNvCxnSpPr/>
            <p:nvPr/>
          </p:nvCxnSpPr>
          <p:spPr>
            <a:xfrm flipH="1">
              <a:off x="3216875" y="5406650"/>
              <a:ext cx="7500" cy="5961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66" name="Google Shape;166;p20"/>
            <p:cNvCxnSpPr/>
            <p:nvPr/>
          </p:nvCxnSpPr>
          <p:spPr>
            <a:xfrm flipH="1">
              <a:off x="5320600" y="5406650"/>
              <a:ext cx="7500" cy="596100"/>
            </a:xfrm>
            <a:prstGeom prst="straightConnector1">
              <a:avLst/>
            </a:prstGeom>
            <a:noFill/>
            <a:ln w="28575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67" name="Google Shape;167;p20"/>
            <p:cNvSpPr txBox="1"/>
            <p:nvPr/>
          </p:nvSpPr>
          <p:spPr>
            <a:xfrm>
              <a:off x="2729825" y="6002750"/>
              <a:ext cx="981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 </a:t>
              </a: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(L)</a:t>
              </a:r>
              <a:endParaRPr sz="1600" b="1">
                <a:solidFill>
                  <a:srgbClr val="FF0000"/>
                </a:solidFill>
              </a:endParaRPr>
            </a:p>
          </p:txBody>
        </p:sp>
        <p:sp>
          <p:nvSpPr>
            <p:cNvPr id="168" name="Google Shape;168;p20"/>
            <p:cNvSpPr txBox="1"/>
            <p:nvPr/>
          </p:nvSpPr>
          <p:spPr>
            <a:xfrm>
              <a:off x="4833550" y="6002750"/>
              <a:ext cx="981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unlock </a:t>
              </a:r>
              <a:r>
                <a:rPr lang="es-ES" sz="16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(U)</a:t>
              </a:r>
              <a:endParaRPr sz="1600" b="1">
                <a:solidFill>
                  <a:srgbClr val="0B6937"/>
                </a:solidFill>
              </a:endParaRPr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3875963" y="5006825"/>
              <a:ext cx="981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critical section</a:t>
              </a:r>
              <a:endParaRPr sz="1200" b="1">
                <a:solidFill>
                  <a:srgbClr val="0B6937"/>
                </a:solidFill>
              </a:endParaRPr>
            </a:p>
          </p:txBody>
        </p:sp>
      </p:grpSp>
      <p:sp>
        <p:nvSpPr>
          <p:cNvPr id="170" name="Google Shape;170;p20"/>
          <p:cNvSpPr txBox="1"/>
          <p:nvPr/>
        </p:nvSpPr>
        <p:spPr>
          <a:xfrm>
            <a:off x="7609600" y="2805450"/>
            <a:ext cx="3604500" cy="12513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adquire(</a:t>
            </a:r>
            <a:r>
              <a:rPr lang="es-ES" sz="2100">
                <a:solidFill>
                  <a:srgbClr val="FF0000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10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100">
              <a:solidFill>
                <a:schemeClr val="dk1"/>
              </a:solidFill>
              <a:highlight>
                <a:srgbClr val="F4CC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Región crítica</a:t>
            </a:r>
            <a:endParaRPr sz="2100" b="1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release(</a:t>
            </a:r>
            <a:r>
              <a:rPr lang="es-ES" sz="2100">
                <a:solidFill>
                  <a:srgbClr val="FF0000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10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100"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>
            <a:spLocks noGrp="1"/>
          </p:cNvSpPr>
          <p:nvPr>
            <p:ph type="title"/>
          </p:nvPr>
        </p:nvSpPr>
        <p:spPr>
          <a:xfrm>
            <a:off x="197225" y="112613"/>
            <a:ext cx="1185278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/>
              <a:t>Resumen clase anterior – Estructuras de datos con Locks</a:t>
            </a:r>
            <a:endParaRPr sz="4000" dirty="0"/>
          </a:p>
        </p:txBody>
      </p:sp>
      <p:graphicFrame>
        <p:nvGraphicFramePr>
          <p:cNvPr id="177" name="Google Shape;177;p21"/>
          <p:cNvGraphicFramePr/>
          <p:nvPr/>
        </p:nvGraphicFramePr>
        <p:xfrm>
          <a:off x="1522375" y="2174138"/>
          <a:ext cx="1455775" cy="12719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5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4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value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8" name="Google Shape;178;p21"/>
          <p:cNvGraphicFramePr/>
          <p:nvPr>
            <p:extLst>
              <p:ext uri="{D42A27DB-BD31-4B8C-83A1-F6EECF244321}">
                <p14:modId xmlns:p14="http://schemas.microsoft.com/office/powerpoint/2010/main" val="1815731800"/>
              </p:ext>
            </p:extLst>
          </p:nvPr>
        </p:nvGraphicFramePr>
        <p:xfrm>
          <a:off x="280328" y="4307912"/>
          <a:ext cx="2046612" cy="221837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4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7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counter_t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global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glock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local[NUMCPU]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llock</a:t>
                      </a: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[NUMCPU]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threshold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9" name="Google Shape;179;p21"/>
          <p:cNvGrpSpPr/>
          <p:nvPr/>
        </p:nvGrpSpPr>
        <p:grpSpPr>
          <a:xfrm>
            <a:off x="4143125" y="1801925"/>
            <a:ext cx="1097100" cy="1586550"/>
            <a:chOff x="6146325" y="2281325"/>
            <a:chExt cx="1097100" cy="1586550"/>
          </a:xfrm>
        </p:grpSpPr>
        <p:sp>
          <p:nvSpPr>
            <p:cNvPr id="180" name="Google Shape;180;p21"/>
            <p:cNvSpPr/>
            <p:nvPr/>
          </p:nvSpPr>
          <p:spPr>
            <a:xfrm>
              <a:off x="6146325" y="2569175"/>
              <a:ext cx="1097100" cy="1298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1" name="Google Shape;181;p21"/>
            <p:cNvGrpSpPr/>
            <p:nvPr/>
          </p:nvGrpSpPr>
          <p:grpSpPr>
            <a:xfrm>
              <a:off x="6402777" y="2569175"/>
              <a:ext cx="613200" cy="541625"/>
              <a:chOff x="6402777" y="2569175"/>
              <a:chExt cx="613200" cy="541625"/>
            </a:xfrm>
          </p:grpSpPr>
          <p:sp>
            <p:nvSpPr>
              <p:cNvPr id="182" name="Google Shape;182;p21"/>
              <p:cNvSpPr/>
              <p:nvPr/>
            </p:nvSpPr>
            <p:spPr>
              <a:xfrm>
                <a:off x="6421975" y="2857300"/>
                <a:ext cx="574800" cy="253500"/>
              </a:xfrm>
              <a:prstGeom prst="rect">
                <a:avLst/>
              </a:prstGeom>
              <a:solidFill>
                <a:srgbClr val="9FC5E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21"/>
              <p:cNvSpPr txBox="1"/>
              <p:nvPr/>
            </p:nvSpPr>
            <p:spPr>
              <a:xfrm>
                <a:off x="6402777" y="2569175"/>
                <a:ext cx="613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value</a:t>
                </a:r>
                <a:endParaRPr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184" name="Google Shape;184;p21"/>
            <p:cNvSpPr txBox="1"/>
            <p:nvPr/>
          </p:nvSpPr>
          <p:spPr>
            <a:xfrm>
              <a:off x="6288963" y="2281325"/>
              <a:ext cx="81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counter_t</a:t>
              </a:r>
              <a:endParaRPr sz="1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85" name="Google Shape;185;p21"/>
            <p:cNvGrpSpPr/>
            <p:nvPr/>
          </p:nvGrpSpPr>
          <p:grpSpPr>
            <a:xfrm>
              <a:off x="6421975" y="3145982"/>
              <a:ext cx="574800" cy="516618"/>
              <a:chOff x="6421975" y="3145982"/>
              <a:chExt cx="574800" cy="516618"/>
            </a:xfrm>
          </p:grpSpPr>
          <p:sp>
            <p:nvSpPr>
              <p:cNvPr id="186" name="Google Shape;186;p21"/>
              <p:cNvSpPr/>
              <p:nvPr/>
            </p:nvSpPr>
            <p:spPr>
              <a:xfrm>
                <a:off x="6421975" y="3415099"/>
                <a:ext cx="574800" cy="247500"/>
              </a:xfrm>
              <a:prstGeom prst="rect">
                <a:avLst/>
              </a:prstGeom>
              <a:solidFill>
                <a:srgbClr val="FCE5CD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21"/>
              <p:cNvSpPr txBox="1"/>
              <p:nvPr/>
            </p:nvSpPr>
            <p:spPr>
              <a:xfrm>
                <a:off x="6446263" y="3145982"/>
                <a:ext cx="526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lock</a:t>
                </a:r>
                <a:endParaRPr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grpSp>
        <p:nvGrpSpPr>
          <p:cNvPr id="188" name="Google Shape;188;p21"/>
          <p:cNvGrpSpPr/>
          <p:nvPr/>
        </p:nvGrpSpPr>
        <p:grpSpPr>
          <a:xfrm>
            <a:off x="2670396" y="4043725"/>
            <a:ext cx="2895600" cy="2361600"/>
            <a:chOff x="3973150" y="3764250"/>
            <a:chExt cx="2895600" cy="2361600"/>
          </a:xfrm>
        </p:grpSpPr>
        <p:sp>
          <p:nvSpPr>
            <p:cNvPr id="189" name="Google Shape;189;p21"/>
            <p:cNvSpPr/>
            <p:nvPr/>
          </p:nvSpPr>
          <p:spPr>
            <a:xfrm>
              <a:off x="3973150" y="4102950"/>
              <a:ext cx="2895600" cy="20229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90;p21"/>
            <p:cNvGrpSpPr/>
            <p:nvPr/>
          </p:nvGrpSpPr>
          <p:grpSpPr>
            <a:xfrm>
              <a:off x="4531927" y="4260188"/>
              <a:ext cx="1219898" cy="338700"/>
              <a:chOff x="4531927" y="4260188"/>
              <a:chExt cx="1219898" cy="338700"/>
            </a:xfrm>
          </p:grpSpPr>
          <p:sp>
            <p:nvSpPr>
              <p:cNvPr id="191" name="Google Shape;191;p21"/>
              <p:cNvSpPr/>
              <p:nvPr/>
            </p:nvSpPr>
            <p:spPr>
              <a:xfrm>
                <a:off x="5177025" y="4290863"/>
                <a:ext cx="574800" cy="253500"/>
              </a:xfrm>
              <a:prstGeom prst="rect">
                <a:avLst/>
              </a:prstGeom>
              <a:solidFill>
                <a:srgbClr val="9FC5E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1"/>
              <p:cNvSpPr txBox="1"/>
              <p:nvPr/>
            </p:nvSpPr>
            <p:spPr>
              <a:xfrm>
                <a:off x="4531927" y="4260188"/>
                <a:ext cx="613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global</a:t>
                </a:r>
                <a:endParaRPr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193" name="Google Shape;193;p21"/>
            <p:cNvSpPr txBox="1"/>
            <p:nvPr/>
          </p:nvSpPr>
          <p:spPr>
            <a:xfrm>
              <a:off x="5015038" y="3764250"/>
              <a:ext cx="81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counter_t</a:t>
              </a:r>
              <a:endParaRPr sz="1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94" name="Google Shape;194;p21"/>
            <p:cNvGrpSpPr/>
            <p:nvPr/>
          </p:nvGrpSpPr>
          <p:grpSpPr>
            <a:xfrm>
              <a:off x="4551127" y="4606013"/>
              <a:ext cx="1210223" cy="338700"/>
              <a:chOff x="4551127" y="4606013"/>
              <a:chExt cx="1210223" cy="338700"/>
            </a:xfrm>
          </p:grpSpPr>
          <p:sp>
            <p:nvSpPr>
              <p:cNvPr id="195" name="Google Shape;195;p21"/>
              <p:cNvSpPr/>
              <p:nvPr/>
            </p:nvSpPr>
            <p:spPr>
              <a:xfrm>
                <a:off x="5186550" y="4651624"/>
                <a:ext cx="574800" cy="2475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1"/>
              <p:cNvSpPr txBox="1"/>
              <p:nvPr/>
            </p:nvSpPr>
            <p:spPr>
              <a:xfrm>
                <a:off x="4551127" y="4606013"/>
                <a:ext cx="574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glock</a:t>
                </a:r>
                <a:endParaRPr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197" name="Google Shape;197;p21"/>
            <p:cNvGrpSpPr/>
            <p:nvPr/>
          </p:nvGrpSpPr>
          <p:grpSpPr>
            <a:xfrm>
              <a:off x="4089450" y="4946163"/>
              <a:ext cx="2458275" cy="360813"/>
              <a:chOff x="4089450" y="4946163"/>
              <a:chExt cx="2458275" cy="360813"/>
            </a:xfrm>
          </p:grpSpPr>
          <p:grpSp>
            <p:nvGrpSpPr>
              <p:cNvPr id="198" name="Google Shape;198;p21"/>
              <p:cNvGrpSpPr/>
              <p:nvPr/>
            </p:nvGrpSpPr>
            <p:grpSpPr>
              <a:xfrm>
                <a:off x="5177025" y="4968275"/>
                <a:ext cx="1370700" cy="338700"/>
                <a:chOff x="5612350" y="5611850"/>
                <a:chExt cx="1370700" cy="338700"/>
              </a:xfrm>
            </p:grpSpPr>
            <p:sp>
              <p:nvSpPr>
                <p:cNvPr id="199" name="Google Shape;199;p21"/>
                <p:cNvSpPr/>
                <p:nvPr/>
              </p:nvSpPr>
              <p:spPr>
                <a:xfrm>
                  <a:off x="5612350" y="5657450"/>
                  <a:ext cx="1370700" cy="2475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00" name="Google Shape;200;p21"/>
                <p:cNvCxnSpPr/>
                <p:nvPr/>
              </p:nvCxnSpPr>
              <p:spPr>
                <a:xfrm>
                  <a:off x="5831425" y="5662850"/>
                  <a:ext cx="2100" cy="236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" name="Google Shape;201;p21"/>
                <p:cNvCxnSpPr/>
                <p:nvPr/>
              </p:nvCxnSpPr>
              <p:spPr>
                <a:xfrm>
                  <a:off x="6040975" y="5662850"/>
                  <a:ext cx="2100" cy="236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" name="Google Shape;202;p21"/>
                <p:cNvCxnSpPr/>
                <p:nvPr/>
              </p:nvCxnSpPr>
              <p:spPr>
                <a:xfrm>
                  <a:off x="6250525" y="5662850"/>
                  <a:ext cx="2100" cy="236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" name="Google Shape;203;p21"/>
                <p:cNvCxnSpPr/>
                <p:nvPr/>
              </p:nvCxnSpPr>
              <p:spPr>
                <a:xfrm>
                  <a:off x="6769650" y="5662850"/>
                  <a:ext cx="2100" cy="240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04" name="Google Shape;204;p21"/>
                <p:cNvSpPr txBox="1"/>
                <p:nvPr/>
              </p:nvSpPr>
              <p:spPr>
                <a:xfrm>
                  <a:off x="6308788" y="5611850"/>
                  <a:ext cx="4047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...</a:t>
                  </a:r>
                  <a:endParaRPr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sp>
            <p:nvSpPr>
              <p:cNvPr id="205" name="Google Shape;205;p21"/>
              <p:cNvSpPr txBox="1"/>
              <p:nvPr/>
            </p:nvSpPr>
            <p:spPr>
              <a:xfrm>
                <a:off x="4089450" y="4946163"/>
                <a:ext cx="10971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local[NUMCPU]</a:t>
                </a:r>
                <a:endParaRPr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206" name="Google Shape;206;p21"/>
            <p:cNvGrpSpPr/>
            <p:nvPr/>
          </p:nvGrpSpPr>
          <p:grpSpPr>
            <a:xfrm>
              <a:off x="4108500" y="5327163"/>
              <a:ext cx="2448750" cy="343438"/>
              <a:chOff x="4108500" y="5327163"/>
              <a:chExt cx="2448750" cy="343438"/>
            </a:xfrm>
          </p:grpSpPr>
          <p:grpSp>
            <p:nvGrpSpPr>
              <p:cNvPr id="207" name="Google Shape;207;p21"/>
              <p:cNvGrpSpPr/>
              <p:nvPr/>
            </p:nvGrpSpPr>
            <p:grpSpPr>
              <a:xfrm>
                <a:off x="5186550" y="5331900"/>
                <a:ext cx="1370700" cy="338700"/>
                <a:chOff x="5612350" y="5611850"/>
                <a:chExt cx="1370700" cy="338700"/>
              </a:xfrm>
            </p:grpSpPr>
            <p:sp>
              <p:nvSpPr>
                <p:cNvPr id="208" name="Google Shape;208;p21"/>
                <p:cNvSpPr/>
                <p:nvPr/>
              </p:nvSpPr>
              <p:spPr>
                <a:xfrm>
                  <a:off x="5612350" y="5657450"/>
                  <a:ext cx="1370700" cy="2475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09" name="Google Shape;209;p21"/>
                <p:cNvCxnSpPr/>
                <p:nvPr/>
              </p:nvCxnSpPr>
              <p:spPr>
                <a:xfrm>
                  <a:off x="5831425" y="5662850"/>
                  <a:ext cx="2100" cy="236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0" name="Google Shape;210;p21"/>
                <p:cNvCxnSpPr/>
                <p:nvPr/>
              </p:nvCxnSpPr>
              <p:spPr>
                <a:xfrm>
                  <a:off x="6040975" y="5662850"/>
                  <a:ext cx="2100" cy="236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1" name="Google Shape;211;p21"/>
                <p:cNvCxnSpPr/>
                <p:nvPr/>
              </p:nvCxnSpPr>
              <p:spPr>
                <a:xfrm>
                  <a:off x="6250525" y="5662850"/>
                  <a:ext cx="2100" cy="236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2" name="Google Shape;212;p21"/>
                <p:cNvCxnSpPr/>
                <p:nvPr/>
              </p:nvCxnSpPr>
              <p:spPr>
                <a:xfrm>
                  <a:off x="6769650" y="5662850"/>
                  <a:ext cx="2100" cy="240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13" name="Google Shape;213;p21"/>
                <p:cNvSpPr txBox="1"/>
                <p:nvPr/>
              </p:nvSpPr>
              <p:spPr>
                <a:xfrm>
                  <a:off x="6308788" y="5611850"/>
                  <a:ext cx="4047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...</a:t>
                  </a:r>
                  <a:endParaRPr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sp>
            <p:nvSpPr>
              <p:cNvPr id="214" name="Google Shape;214;p21"/>
              <p:cNvSpPr txBox="1"/>
              <p:nvPr/>
            </p:nvSpPr>
            <p:spPr>
              <a:xfrm>
                <a:off x="4108500" y="5327163"/>
                <a:ext cx="10971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llock[NUMCPU]</a:t>
                </a:r>
                <a:endParaRPr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215" name="Google Shape;215;p21"/>
            <p:cNvGrpSpPr/>
            <p:nvPr/>
          </p:nvGrpSpPr>
          <p:grpSpPr>
            <a:xfrm>
              <a:off x="4108500" y="5695513"/>
              <a:ext cx="1652850" cy="338700"/>
              <a:chOff x="4108500" y="5695513"/>
              <a:chExt cx="1652850" cy="338700"/>
            </a:xfrm>
          </p:grpSpPr>
          <p:sp>
            <p:nvSpPr>
              <p:cNvPr id="216" name="Google Shape;216;p21"/>
              <p:cNvSpPr/>
              <p:nvPr/>
            </p:nvSpPr>
            <p:spPr>
              <a:xfrm>
                <a:off x="5186550" y="5730875"/>
                <a:ext cx="574800" cy="2535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1"/>
              <p:cNvSpPr txBox="1"/>
              <p:nvPr/>
            </p:nvSpPr>
            <p:spPr>
              <a:xfrm>
                <a:off x="4108500" y="5695513"/>
                <a:ext cx="10971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threshold</a:t>
                </a:r>
                <a:endParaRPr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sp>
        <p:nvSpPr>
          <p:cNvPr id="218" name="Google Shape;218;p21"/>
          <p:cNvSpPr txBox="1"/>
          <p:nvPr/>
        </p:nvSpPr>
        <p:spPr>
          <a:xfrm>
            <a:off x="5803159" y="2225225"/>
            <a:ext cx="5695691" cy="110488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struct __counter_t {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value;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pthread_mutex_t lock;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counter_t;</a:t>
            </a:r>
            <a:endParaRPr sz="13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5803159" y="4382425"/>
            <a:ext cx="5695691" cy="179507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__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counter_t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3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global;                       // global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endParaRPr sz="13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pthread_mutex_t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glock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           // global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endParaRPr sz="13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local[NUMCPUS];               // local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(per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cpu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pthread_mutex_t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llock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[NUMCPUS];   // ... and locks</a:t>
            </a:r>
            <a:endParaRPr sz="13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threshold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                   //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frequency</a:t>
            </a:r>
            <a:endParaRPr sz="13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counter_t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197225" y="1134444"/>
            <a:ext cx="3000000" cy="61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Contador exacto</a:t>
            </a:r>
            <a:endParaRPr sz="2400" dirty="0">
              <a:solidFill>
                <a:srgbClr val="E46C0A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197225" y="3503201"/>
            <a:ext cx="3945900" cy="61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Contador aproximado</a:t>
            </a:r>
            <a:endParaRPr sz="2400" b="1" dirty="0">
              <a:solidFill>
                <a:srgbClr val="E46C0A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 txBox="1">
            <a:spLocks noGrp="1"/>
          </p:cNvSpPr>
          <p:nvPr>
            <p:ph type="title"/>
          </p:nvPr>
        </p:nvSpPr>
        <p:spPr>
          <a:xfrm>
            <a:off x="221225" y="96038"/>
            <a:ext cx="1169547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/>
              <a:t>Resumen clase anterior – Estructuras de datos con Locks</a:t>
            </a:r>
            <a:endParaRPr sz="4000" dirty="0"/>
          </a:p>
        </p:txBody>
      </p:sp>
      <p:sp>
        <p:nvSpPr>
          <p:cNvPr id="227" name="Google Shape;227;p22"/>
          <p:cNvSpPr txBox="1">
            <a:spLocks noGrp="1"/>
          </p:cNvSpPr>
          <p:nvPr>
            <p:ph idx="1"/>
          </p:nvPr>
        </p:nvSpPr>
        <p:spPr>
          <a:xfrm>
            <a:off x="916650" y="837900"/>
            <a:ext cx="725850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Estructuras de datos con locks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228" name="Google Shape;228;p22"/>
          <p:cNvGraphicFramePr/>
          <p:nvPr/>
        </p:nvGraphicFramePr>
        <p:xfrm>
          <a:off x="1523050" y="2192700"/>
          <a:ext cx="1409700" cy="12719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2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list_t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*head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29" name="Google Shape;229;p22"/>
          <p:cNvGrpSpPr/>
          <p:nvPr/>
        </p:nvGrpSpPr>
        <p:grpSpPr>
          <a:xfrm>
            <a:off x="3678000" y="1708175"/>
            <a:ext cx="1374488" cy="1972950"/>
            <a:chOff x="3692025" y="4653800"/>
            <a:chExt cx="1374488" cy="1972950"/>
          </a:xfrm>
        </p:grpSpPr>
        <p:sp>
          <p:nvSpPr>
            <p:cNvPr id="230" name="Google Shape;230;p22"/>
            <p:cNvSpPr/>
            <p:nvPr/>
          </p:nvSpPr>
          <p:spPr>
            <a:xfrm>
              <a:off x="3692025" y="4941650"/>
              <a:ext cx="1097100" cy="16851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1" name="Google Shape;231;p22"/>
            <p:cNvGrpSpPr/>
            <p:nvPr/>
          </p:nvGrpSpPr>
          <p:grpSpPr>
            <a:xfrm>
              <a:off x="3977463" y="5080875"/>
              <a:ext cx="1089050" cy="691750"/>
              <a:chOff x="3977463" y="5080875"/>
              <a:chExt cx="1089050" cy="691750"/>
            </a:xfrm>
          </p:grpSpPr>
          <p:grpSp>
            <p:nvGrpSpPr>
              <p:cNvPr id="232" name="Google Shape;232;p22"/>
              <p:cNvGrpSpPr/>
              <p:nvPr/>
            </p:nvGrpSpPr>
            <p:grpSpPr>
              <a:xfrm>
                <a:off x="4030113" y="5352025"/>
                <a:ext cx="1036400" cy="420600"/>
                <a:chOff x="4030113" y="5352025"/>
                <a:chExt cx="1036400" cy="420600"/>
              </a:xfrm>
            </p:grpSpPr>
            <p:sp>
              <p:nvSpPr>
                <p:cNvPr id="233" name="Google Shape;233;p22"/>
                <p:cNvSpPr/>
                <p:nvPr/>
              </p:nvSpPr>
              <p:spPr>
                <a:xfrm>
                  <a:off x="4030113" y="5352025"/>
                  <a:ext cx="420900" cy="420600"/>
                </a:xfrm>
                <a:prstGeom prst="ellipse">
                  <a:avLst/>
                </a:prstGeom>
                <a:solidFill>
                  <a:srgbClr val="9FC5E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34" name="Google Shape;234;p22"/>
                <p:cNvCxnSpPr/>
                <p:nvPr/>
              </p:nvCxnSpPr>
              <p:spPr>
                <a:xfrm>
                  <a:off x="4225913" y="5562200"/>
                  <a:ext cx="8406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235" name="Google Shape;235;p22"/>
              <p:cNvSpPr txBox="1"/>
              <p:nvPr/>
            </p:nvSpPr>
            <p:spPr>
              <a:xfrm>
                <a:off x="3977463" y="5080875"/>
                <a:ext cx="526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head</a:t>
                </a:r>
                <a:endParaRPr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236" name="Google Shape;236;p22"/>
            <p:cNvSpPr txBox="1"/>
            <p:nvPr/>
          </p:nvSpPr>
          <p:spPr>
            <a:xfrm>
              <a:off x="3834663" y="4653800"/>
              <a:ext cx="81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list_t</a:t>
              </a:r>
              <a:endParaRPr sz="1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37" name="Google Shape;237;p22"/>
            <p:cNvGrpSpPr/>
            <p:nvPr/>
          </p:nvGrpSpPr>
          <p:grpSpPr>
            <a:xfrm>
              <a:off x="3967675" y="5838900"/>
              <a:ext cx="574800" cy="638200"/>
              <a:chOff x="3967675" y="5838900"/>
              <a:chExt cx="574800" cy="638200"/>
            </a:xfrm>
          </p:grpSpPr>
          <p:sp>
            <p:nvSpPr>
              <p:cNvPr id="238" name="Google Shape;238;p22"/>
              <p:cNvSpPr/>
              <p:nvPr/>
            </p:nvSpPr>
            <p:spPr>
              <a:xfrm>
                <a:off x="3967675" y="6112600"/>
                <a:ext cx="574800" cy="364500"/>
              </a:xfrm>
              <a:prstGeom prst="rect">
                <a:avLst/>
              </a:prstGeom>
              <a:solidFill>
                <a:srgbClr val="FCE5CD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2"/>
              <p:cNvSpPr txBox="1"/>
              <p:nvPr/>
            </p:nvSpPr>
            <p:spPr>
              <a:xfrm>
                <a:off x="3991963" y="5838900"/>
                <a:ext cx="526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lock</a:t>
                </a:r>
                <a:endParaRPr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graphicFrame>
        <p:nvGraphicFramePr>
          <p:cNvPr id="240" name="Google Shape;240;p22"/>
          <p:cNvGraphicFramePr/>
          <p:nvPr/>
        </p:nvGraphicFramePr>
        <p:xfrm>
          <a:off x="1438900" y="4463500"/>
          <a:ext cx="1409700" cy="19029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2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queue_t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*head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head_lock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*tail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head_lock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41" name="Google Shape;241;p22"/>
          <p:cNvGrpSpPr/>
          <p:nvPr/>
        </p:nvGrpSpPr>
        <p:grpSpPr>
          <a:xfrm>
            <a:off x="3692025" y="4276900"/>
            <a:ext cx="2393400" cy="2184850"/>
            <a:chOff x="3692025" y="4048300"/>
            <a:chExt cx="2393400" cy="2184850"/>
          </a:xfrm>
        </p:grpSpPr>
        <p:sp>
          <p:nvSpPr>
            <p:cNvPr id="242" name="Google Shape;242;p22"/>
            <p:cNvSpPr/>
            <p:nvPr/>
          </p:nvSpPr>
          <p:spPr>
            <a:xfrm>
              <a:off x="3692025" y="4332050"/>
              <a:ext cx="2393400" cy="19011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3" name="Google Shape;243;p22"/>
            <p:cNvGrpSpPr/>
            <p:nvPr/>
          </p:nvGrpSpPr>
          <p:grpSpPr>
            <a:xfrm>
              <a:off x="3977463" y="4445800"/>
              <a:ext cx="705350" cy="717225"/>
              <a:chOff x="3977463" y="4445800"/>
              <a:chExt cx="705350" cy="717225"/>
            </a:xfrm>
          </p:grpSpPr>
          <p:grpSp>
            <p:nvGrpSpPr>
              <p:cNvPr id="244" name="Google Shape;244;p22"/>
              <p:cNvGrpSpPr/>
              <p:nvPr/>
            </p:nvGrpSpPr>
            <p:grpSpPr>
              <a:xfrm>
                <a:off x="4030113" y="4705400"/>
                <a:ext cx="652700" cy="457625"/>
                <a:chOff x="4030113" y="4705400"/>
                <a:chExt cx="652700" cy="457625"/>
              </a:xfrm>
            </p:grpSpPr>
            <p:sp>
              <p:nvSpPr>
                <p:cNvPr id="245" name="Google Shape;245;p22"/>
                <p:cNvSpPr/>
                <p:nvPr/>
              </p:nvSpPr>
              <p:spPr>
                <a:xfrm>
                  <a:off x="4030113" y="4742425"/>
                  <a:ext cx="420900" cy="420600"/>
                </a:xfrm>
                <a:prstGeom prst="ellipse">
                  <a:avLst/>
                </a:prstGeom>
                <a:solidFill>
                  <a:srgbClr val="9FC5E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46" name="Google Shape;246;p22"/>
                <p:cNvCxnSpPr/>
                <p:nvPr/>
              </p:nvCxnSpPr>
              <p:spPr>
                <a:xfrm rot="10800000" flipH="1">
                  <a:off x="4225913" y="4705400"/>
                  <a:ext cx="456900" cy="247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247" name="Google Shape;247;p22"/>
              <p:cNvSpPr txBox="1"/>
              <p:nvPr/>
            </p:nvSpPr>
            <p:spPr>
              <a:xfrm>
                <a:off x="3977463" y="4445800"/>
                <a:ext cx="526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head</a:t>
                </a:r>
                <a:endParaRPr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248" name="Google Shape;248;p22"/>
            <p:cNvSpPr txBox="1"/>
            <p:nvPr/>
          </p:nvSpPr>
          <p:spPr>
            <a:xfrm>
              <a:off x="4482813" y="4048300"/>
              <a:ext cx="81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queue_t</a:t>
              </a:r>
              <a:endParaRPr sz="1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49" name="Google Shape;249;p22"/>
            <p:cNvGrpSpPr/>
            <p:nvPr/>
          </p:nvGrpSpPr>
          <p:grpSpPr>
            <a:xfrm>
              <a:off x="3977463" y="5221825"/>
              <a:ext cx="677450" cy="703200"/>
              <a:chOff x="3977463" y="5221825"/>
              <a:chExt cx="677450" cy="703200"/>
            </a:xfrm>
          </p:grpSpPr>
          <p:grpSp>
            <p:nvGrpSpPr>
              <p:cNvPr id="250" name="Google Shape;250;p22"/>
              <p:cNvGrpSpPr/>
              <p:nvPr/>
            </p:nvGrpSpPr>
            <p:grpSpPr>
              <a:xfrm>
                <a:off x="4030113" y="5490800"/>
                <a:ext cx="624800" cy="434225"/>
                <a:chOff x="4030113" y="5490800"/>
                <a:chExt cx="624800" cy="434225"/>
              </a:xfrm>
            </p:grpSpPr>
            <p:sp>
              <p:nvSpPr>
                <p:cNvPr id="251" name="Google Shape;251;p22"/>
                <p:cNvSpPr/>
                <p:nvPr/>
              </p:nvSpPr>
              <p:spPr>
                <a:xfrm>
                  <a:off x="4030113" y="5504425"/>
                  <a:ext cx="420900" cy="420600"/>
                </a:xfrm>
                <a:prstGeom prst="ellipse">
                  <a:avLst/>
                </a:prstGeom>
                <a:solidFill>
                  <a:srgbClr val="FFF2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52" name="Google Shape;252;p22"/>
                <p:cNvCxnSpPr/>
                <p:nvPr/>
              </p:nvCxnSpPr>
              <p:spPr>
                <a:xfrm rot="10800000" flipH="1">
                  <a:off x="4225913" y="5490800"/>
                  <a:ext cx="429000" cy="2238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253" name="Google Shape;253;p22"/>
              <p:cNvSpPr txBox="1"/>
              <p:nvPr/>
            </p:nvSpPr>
            <p:spPr>
              <a:xfrm>
                <a:off x="3977463" y="5221825"/>
                <a:ext cx="526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tail</a:t>
                </a:r>
                <a:endParaRPr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254" name="Google Shape;254;p22"/>
            <p:cNvGrpSpPr/>
            <p:nvPr/>
          </p:nvGrpSpPr>
          <p:grpSpPr>
            <a:xfrm>
              <a:off x="4947531" y="5254325"/>
              <a:ext cx="811800" cy="638200"/>
              <a:chOff x="3839581" y="5838900"/>
              <a:chExt cx="811800" cy="638200"/>
            </a:xfrm>
          </p:grpSpPr>
          <p:sp>
            <p:nvSpPr>
              <p:cNvPr id="255" name="Google Shape;255;p22"/>
              <p:cNvSpPr/>
              <p:nvPr/>
            </p:nvSpPr>
            <p:spPr>
              <a:xfrm>
                <a:off x="3967675" y="6112600"/>
                <a:ext cx="574800" cy="364500"/>
              </a:xfrm>
              <a:prstGeom prst="rect">
                <a:avLst/>
              </a:prstGeom>
              <a:solidFill>
                <a:srgbClr val="FCE5CD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2"/>
              <p:cNvSpPr txBox="1"/>
              <p:nvPr/>
            </p:nvSpPr>
            <p:spPr>
              <a:xfrm>
                <a:off x="3839581" y="5838900"/>
                <a:ext cx="811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tail_lock</a:t>
                </a:r>
                <a:endParaRPr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257" name="Google Shape;257;p22"/>
            <p:cNvGrpSpPr/>
            <p:nvPr/>
          </p:nvGrpSpPr>
          <p:grpSpPr>
            <a:xfrm>
              <a:off x="4947531" y="4515588"/>
              <a:ext cx="811800" cy="638200"/>
              <a:chOff x="3839581" y="5838900"/>
              <a:chExt cx="811800" cy="638200"/>
            </a:xfrm>
          </p:grpSpPr>
          <p:sp>
            <p:nvSpPr>
              <p:cNvPr id="258" name="Google Shape;258;p22"/>
              <p:cNvSpPr/>
              <p:nvPr/>
            </p:nvSpPr>
            <p:spPr>
              <a:xfrm>
                <a:off x="3967675" y="6112600"/>
                <a:ext cx="574800" cy="364500"/>
              </a:xfrm>
              <a:prstGeom prst="rect">
                <a:avLst/>
              </a:prstGeom>
              <a:solidFill>
                <a:srgbClr val="FCE5CD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2"/>
              <p:cNvSpPr txBox="1"/>
              <p:nvPr/>
            </p:nvSpPr>
            <p:spPr>
              <a:xfrm>
                <a:off x="3839581" y="5838900"/>
                <a:ext cx="811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head_lock</a:t>
                </a:r>
                <a:endParaRPr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sp>
        <p:nvSpPr>
          <p:cNvPr id="260" name="Google Shape;260;p22"/>
          <p:cNvSpPr txBox="1"/>
          <p:nvPr/>
        </p:nvSpPr>
        <p:spPr>
          <a:xfrm>
            <a:off x="916650" y="14172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rgbClr val="E46C0A"/>
                </a:solidFill>
                <a:latin typeface="Roboto"/>
                <a:ea typeface="Roboto"/>
                <a:cs typeface="Roboto"/>
                <a:sym typeface="Roboto"/>
              </a:rPr>
              <a:t>Lista enlazada</a:t>
            </a:r>
            <a:endParaRPr sz="2400">
              <a:solidFill>
                <a:srgbClr val="E46C0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1012950" y="3795263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rgbClr val="E46C0A"/>
                </a:solidFill>
                <a:latin typeface="Roboto"/>
                <a:ea typeface="Roboto"/>
                <a:cs typeface="Roboto"/>
                <a:sym typeface="Roboto"/>
              </a:rPr>
              <a:t>Cola</a:t>
            </a:r>
            <a:endParaRPr sz="2400">
              <a:solidFill>
                <a:srgbClr val="E46C0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6498975" y="2085200"/>
            <a:ext cx="5114100" cy="1218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basic list structure (one used per list)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struct __list_t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node_t *head;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pthread_mutex_t lock;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list_t;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6498975" y="4822713"/>
            <a:ext cx="5114100" cy="1218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struct __queue_t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node_t *head;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node_t *tail;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pthread_mutex_t head_lock, tail_lock;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queue_t;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76981" y="96038"/>
            <a:ext cx="1190194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/>
              <a:t>Resumen clase anterior – Estructuras de datos con Locks</a:t>
            </a:r>
            <a:endParaRPr sz="4000" dirty="0"/>
          </a:p>
        </p:txBody>
      </p:sp>
      <p:sp>
        <p:nvSpPr>
          <p:cNvPr id="269" name="Google Shape;269;p23"/>
          <p:cNvSpPr txBox="1">
            <a:spLocks noGrp="1"/>
          </p:cNvSpPr>
          <p:nvPr>
            <p:ph idx="1"/>
          </p:nvPr>
        </p:nvSpPr>
        <p:spPr>
          <a:xfrm>
            <a:off x="284300" y="989275"/>
            <a:ext cx="725850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Estructuras de datos con locks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0" name="Google Shape;270;p23"/>
          <p:cNvSpPr txBox="1"/>
          <p:nvPr/>
        </p:nvSpPr>
        <p:spPr>
          <a:xfrm>
            <a:off x="3896725" y="3046267"/>
            <a:ext cx="3631500" cy="160040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#define BUCKETS (101)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struct __hash_t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list_t lists[BUCKETS];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hash_t;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284300" y="1720552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46C0A"/>
                </a:solidFill>
                <a:latin typeface="Roboto"/>
                <a:ea typeface="Roboto"/>
                <a:cs typeface="Roboto"/>
                <a:sym typeface="Roboto"/>
              </a:rPr>
              <a:t>Tabla hash</a:t>
            </a:r>
            <a:endParaRPr sz="2400" dirty="0">
              <a:solidFill>
                <a:srgbClr val="E46C0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72" name="Google Shape;272;p23"/>
          <p:cNvGrpSpPr/>
          <p:nvPr/>
        </p:nvGrpSpPr>
        <p:grpSpPr>
          <a:xfrm>
            <a:off x="1431300" y="2668725"/>
            <a:ext cx="1614000" cy="2027600"/>
            <a:chOff x="2917900" y="2780925"/>
            <a:chExt cx="1614000" cy="2027600"/>
          </a:xfrm>
        </p:grpSpPr>
        <p:sp>
          <p:nvSpPr>
            <p:cNvPr id="273" name="Google Shape;273;p23"/>
            <p:cNvSpPr/>
            <p:nvPr/>
          </p:nvSpPr>
          <p:spPr>
            <a:xfrm>
              <a:off x="2917900" y="3049925"/>
              <a:ext cx="1614000" cy="1758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3"/>
            <p:cNvSpPr txBox="1"/>
            <p:nvPr/>
          </p:nvSpPr>
          <p:spPr>
            <a:xfrm>
              <a:off x="3342788" y="2780925"/>
              <a:ext cx="811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hash_t</a:t>
              </a:r>
              <a:endParaRPr sz="1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75" name="Google Shape;275;p23"/>
            <p:cNvGrpSpPr/>
            <p:nvPr/>
          </p:nvGrpSpPr>
          <p:grpSpPr>
            <a:xfrm>
              <a:off x="2917900" y="3075300"/>
              <a:ext cx="1486950" cy="1582127"/>
              <a:chOff x="2917900" y="3075300"/>
              <a:chExt cx="1486950" cy="1582127"/>
            </a:xfrm>
          </p:grpSpPr>
          <p:sp>
            <p:nvSpPr>
              <p:cNvPr id="276" name="Google Shape;276;p23"/>
              <p:cNvSpPr txBox="1"/>
              <p:nvPr/>
            </p:nvSpPr>
            <p:spPr>
              <a:xfrm>
                <a:off x="3680950" y="3075300"/>
                <a:ext cx="723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lists[]</a:t>
                </a:r>
                <a:endParaRPr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grpSp>
            <p:nvGrpSpPr>
              <p:cNvPr id="277" name="Google Shape;277;p23"/>
              <p:cNvGrpSpPr/>
              <p:nvPr/>
            </p:nvGrpSpPr>
            <p:grpSpPr>
              <a:xfrm>
                <a:off x="3769325" y="3358427"/>
                <a:ext cx="574800" cy="1299000"/>
                <a:chOff x="3755025" y="3167927"/>
                <a:chExt cx="574800" cy="1299000"/>
              </a:xfrm>
            </p:grpSpPr>
            <p:sp>
              <p:nvSpPr>
                <p:cNvPr id="278" name="Google Shape;278;p23"/>
                <p:cNvSpPr/>
                <p:nvPr/>
              </p:nvSpPr>
              <p:spPr>
                <a:xfrm>
                  <a:off x="3755025" y="3167927"/>
                  <a:ext cx="574800" cy="1299000"/>
                </a:xfrm>
                <a:prstGeom prst="rect">
                  <a:avLst/>
                </a:prstGeom>
                <a:solidFill>
                  <a:srgbClr val="9FC5E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79" name="Google Shape;279;p23"/>
                <p:cNvCxnSpPr/>
                <p:nvPr/>
              </p:nvCxnSpPr>
              <p:spPr>
                <a:xfrm>
                  <a:off x="3755025" y="3731702"/>
                  <a:ext cx="574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0" name="Google Shape;280;p23"/>
                <p:cNvCxnSpPr/>
                <p:nvPr/>
              </p:nvCxnSpPr>
              <p:spPr>
                <a:xfrm>
                  <a:off x="3755025" y="3306552"/>
                  <a:ext cx="574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1" name="Google Shape;281;p23"/>
                <p:cNvCxnSpPr/>
                <p:nvPr/>
              </p:nvCxnSpPr>
              <p:spPr>
                <a:xfrm>
                  <a:off x="3755025" y="3452802"/>
                  <a:ext cx="574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2" name="Google Shape;282;p23"/>
                <p:cNvCxnSpPr/>
                <p:nvPr/>
              </p:nvCxnSpPr>
              <p:spPr>
                <a:xfrm>
                  <a:off x="3755025" y="3586577"/>
                  <a:ext cx="574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83" name="Google Shape;283;p23"/>
                <p:cNvSpPr txBox="1"/>
                <p:nvPr/>
              </p:nvSpPr>
              <p:spPr>
                <a:xfrm>
                  <a:off x="3820425" y="3822050"/>
                  <a:ext cx="4440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r" rtl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...</a:t>
                  </a:r>
                  <a:endParaRPr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cxnSp>
              <p:nvCxnSpPr>
                <p:cNvPr id="284" name="Google Shape;284;p23"/>
                <p:cNvCxnSpPr/>
                <p:nvPr/>
              </p:nvCxnSpPr>
              <p:spPr>
                <a:xfrm>
                  <a:off x="3755025" y="4312727"/>
                  <a:ext cx="574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85" name="Google Shape;285;p23"/>
              <p:cNvSpPr/>
              <p:nvPr/>
            </p:nvSpPr>
            <p:spPr>
              <a:xfrm>
                <a:off x="3559625" y="3363175"/>
                <a:ext cx="2097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 sz="8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286" name="Google Shape;286;p23"/>
              <p:cNvSpPr/>
              <p:nvPr/>
            </p:nvSpPr>
            <p:spPr>
              <a:xfrm>
                <a:off x="3559625" y="3509350"/>
                <a:ext cx="2097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>
                    <a:latin typeface="Consolas"/>
                    <a:ea typeface="Consolas"/>
                    <a:cs typeface="Consolas"/>
                    <a:sym typeface="Consolas"/>
                  </a:rPr>
                  <a:t>1</a:t>
                </a:r>
                <a:endParaRPr sz="8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287" name="Google Shape;287;p23"/>
              <p:cNvSpPr/>
              <p:nvPr/>
            </p:nvSpPr>
            <p:spPr>
              <a:xfrm>
                <a:off x="3559625" y="3655525"/>
                <a:ext cx="2097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>
                    <a:latin typeface="Consolas"/>
                    <a:ea typeface="Consolas"/>
                    <a:cs typeface="Consolas"/>
                    <a:sym typeface="Consolas"/>
                  </a:rPr>
                  <a:t>2</a:t>
                </a:r>
                <a:endParaRPr sz="8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288" name="Google Shape;288;p23"/>
              <p:cNvSpPr/>
              <p:nvPr/>
            </p:nvSpPr>
            <p:spPr>
              <a:xfrm>
                <a:off x="3559625" y="3801700"/>
                <a:ext cx="2097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>
                    <a:latin typeface="Consolas"/>
                    <a:ea typeface="Consolas"/>
                    <a:cs typeface="Consolas"/>
                    <a:sym typeface="Consolas"/>
                  </a:rPr>
                  <a:t>3</a:t>
                </a:r>
                <a:endParaRPr sz="8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289" name="Google Shape;289;p23"/>
              <p:cNvSpPr/>
              <p:nvPr/>
            </p:nvSpPr>
            <p:spPr>
              <a:xfrm>
                <a:off x="2917900" y="4523925"/>
                <a:ext cx="8514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>
                    <a:latin typeface="Consolas"/>
                    <a:ea typeface="Consolas"/>
                    <a:cs typeface="Consolas"/>
                    <a:sym typeface="Consolas"/>
                  </a:rPr>
                  <a:t>BUCKETS - 1 </a:t>
                </a:r>
                <a:endParaRPr sz="8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pic>
        <p:nvPicPr>
          <p:cNvPr id="290" name="Google Shape;29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7000" y="2998850"/>
            <a:ext cx="2390775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"/>
          <p:cNvSpPr txBox="1">
            <a:spLocks noGrp="1"/>
          </p:cNvSpPr>
          <p:nvPr>
            <p:ph type="title"/>
          </p:nvPr>
        </p:nvSpPr>
        <p:spPr>
          <a:xfrm>
            <a:off x="250723" y="96038"/>
            <a:ext cx="896992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305" name="Google Shape;305;p25"/>
          <p:cNvSpPr txBox="1">
            <a:spLocks noGrp="1"/>
          </p:cNvSpPr>
          <p:nvPr>
            <p:ph type="body" idx="1"/>
          </p:nvPr>
        </p:nvSpPr>
        <p:spPr>
          <a:xfrm>
            <a:off x="252968" y="835625"/>
            <a:ext cx="10760400" cy="57968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Objetivos de la concurrencia</a:t>
            </a: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306" name="Google Shape;306;p25"/>
          <p:cNvSpPr txBox="1">
            <a:spLocks noGrp="1"/>
          </p:cNvSpPr>
          <p:nvPr>
            <p:ph type="body" idx="4294967295"/>
          </p:nvPr>
        </p:nvSpPr>
        <p:spPr>
          <a:xfrm>
            <a:off x="321729" y="1315279"/>
            <a:ext cx="10933112" cy="142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000" b="1" dirty="0">
                <a:solidFill>
                  <a:schemeClr val="accent2"/>
                </a:solidFill>
              </a:rPr>
              <a:t>Exclusión mutua</a:t>
            </a:r>
            <a:r>
              <a:rPr lang="es-ES" sz="2000" dirty="0">
                <a:solidFill>
                  <a:schemeClr val="accent2"/>
                </a:solidFill>
              </a:rPr>
              <a:t>: </a:t>
            </a:r>
            <a:r>
              <a:rPr lang="es-ES" sz="2000" dirty="0"/>
              <a:t>que dos (o más) hilos  (</a:t>
            </a:r>
            <a:r>
              <a:rPr lang="es-ES" sz="2000" b="1" dirty="0">
                <a:ea typeface="Consolas"/>
                <a:cs typeface="Consolas"/>
                <a:sym typeface="Consolas"/>
              </a:rPr>
              <a:t>T1</a:t>
            </a:r>
            <a:r>
              <a:rPr lang="es-ES" sz="2000" dirty="0"/>
              <a:t> y </a:t>
            </a:r>
            <a:r>
              <a:rPr lang="es-ES" sz="2000" b="1" dirty="0">
                <a:ea typeface="Consolas"/>
                <a:cs typeface="Consolas"/>
                <a:sym typeface="Consolas"/>
              </a:rPr>
              <a:t>T2</a:t>
            </a:r>
            <a:r>
              <a:rPr lang="es-ES" sz="2000" dirty="0"/>
              <a:t> por ejemplo) no se ejecuten a la misma vez) dentro de una misma sección crítica </a:t>
            </a:r>
            <a:endParaRPr sz="2000"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000" b="1" dirty="0"/>
              <a:t>Solución</a:t>
            </a:r>
            <a:r>
              <a:rPr lang="es-ES" sz="2000" dirty="0"/>
              <a:t>: </a:t>
            </a:r>
            <a:r>
              <a:rPr lang="es-ES" sz="2000" b="1" dirty="0">
                <a:solidFill>
                  <a:schemeClr val="accent5"/>
                </a:solidFill>
                <a:ea typeface="Consolas"/>
                <a:cs typeface="Consolas"/>
                <a:sym typeface="Consolas"/>
              </a:rPr>
              <a:t>Locks</a:t>
            </a:r>
            <a:endParaRPr sz="2000" b="1" dirty="0">
              <a:solidFill>
                <a:schemeClr val="accent5"/>
              </a:solidFill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</p:txBody>
      </p:sp>
      <p:grpSp>
        <p:nvGrpSpPr>
          <p:cNvPr id="307" name="Google Shape;307;p25"/>
          <p:cNvGrpSpPr/>
          <p:nvPr/>
        </p:nvGrpSpPr>
        <p:grpSpPr>
          <a:xfrm>
            <a:off x="1838988" y="3282139"/>
            <a:ext cx="8285725" cy="3253850"/>
            <a:chOff x="2296188" y="2942925"/>
            <a:chExt cx="8285725" cy="3253850"/>
          </a:xfrm>
        </p:grpSpPr>
        <p:cxnSp>
          <p:nvCxnSpPr>
            <p:cNvPr id="308" name="Google Shape;308;p25"/>
            <p:cNvCxnSpPr/>
            <p:nvPr/>
          </p:nvCxnSpPr>
          <p:spPr>
            <a:xfrm rot="10800000" flipH="1">
              <a:off x="3681613" y="3972025"/>
              <a:ext cx="6870900" cy="81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9" name="Google Shape;309;p25"/>
            <p:cNvCxnSpPr/>
            <p:nvPr/>
          </p:nvCxnSpPr>
          <p:spPr>
            <a:xfrm rot="10800000" flipH="1">
              <a:off x="3681613" y="5130900"/>
              <a:ext cx="6900300" cy="18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0" name="Google Shape;310;p25"/>
            <p:cNvSpPr txBox="1"/>
            <p:nvPr/>
          </p:nvSpPr>
          <p:spPr>
            <a:xfrm>
              <a:off x="2296188" y="3764575"/>
              <a:ext cx="1314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Thread T1</a:t>
              </a:r>
              <a:endParaRPr sz="1600" b="1">
                <a:solidFill>
                  <a:srgbClr val="0000FF"/>
                </a:solidFill>
              </a:endParaRPr>
            </a:p>
          </p:txBody>
        </p:sp>
        <p:sp>
          <p:nvSpPr>
            <p:cNvPr id="311" name="Google Shape;311;p25"/>
            <p:cNvSpPr txBox="1"/>
            <p:nvPr/>
          </p:nvSpPr>
          <p:spPr>
            <a:xfrm>
              <a:off x="2296188" y="4917150"/>
              <a:ext cx="1314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Thread T2</a:t>
              </a:r>
              <a:endParaRPr sz="1600" b="1">
                <a:solidFill>
                  <a:srgbClr val="FF0000"/>
                </a:solidFill>
              </a:endParaRPr>
            </a:p>
          </p:txBody>
        </p:sp>
        <p:cxnSp>
          <p:nvCxnSpPr>
            <p:cNvPr id="312" name="Google Shape;312;p25"/>
            <p:cNvCxnSpPr/>
            <p:nvPr/>
          </p:nvCxnSpPr>
          <p:spPr>
            <a:xfrm>
              <a:off x="4816488" y="3791550"/>
              <a:ext cx="0" cy="1556700"/>
            </a:xfrm>
            <a:prstGeom prst="straightConnector1">
              <a:avLst/>
            </a:prstGeom>
            <a:noFill/>
            <a:ln w="19050" cap="flat" cmpd="sng">
              <a:solidFill>
                <a:srgbClr val="44546A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313" name="Google Shape;313;p25"/>
            <p:cNvSpPr txBox="1"/>
            <p:nvPr/>
          </p:nvSpPr>
          <p:spPr>
            <a:xfrm>
              <a:off x="5054913" y="3229650"/>
              <a:ext cx="1178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T1 entra a la región crítica</a:t>
              </a:r>
              <a:endParaRPr sz="1000">
                <a:solidFill>
                  <a:srgbClr val="0000FF"/>
                </a:solidFill>
              </a:endParaRPr>
            </a:p>
          </p:txBody>
        </p:sp>
        <p:sp>
          <p:nvSpPr>
            <p:cNvPr id="314" name="Google Shape;314;p25"/>
            <p:cNvSpPr txBox="1"/>
            <p:nvPr/>
          </p:nvSpPr>
          <p:spPr>
            <a:xfrm>
              <a:off x="8138438" y="3229650"/>
              <a:ext cx="1178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T1 sale de la región crítica</a:t>
              </a:r>
              <a:endParaRPr sz="1000">
                <a:solidFill>
                  <a:srgbClr val="0000FF"/>
                </a:solidFill>
              </a:endParaRPr>
            </a:p>
          </p:txBody>
        </p:sp>
        <p:cxnSp>
          <p:nvCxnSpPr>
            <p:cNvPr id="315" name="Google Shape;315;p25"/>
            <p:cNvCxnSpPr/>
            <p:nvPr/>
          </p:nvCxnSpPr>
          <p:spPr>
            <a:xfrm flipH="1">
              <a:off x="4855413" y="3477325"/>
              <a:ext cx="199500" cy="3873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16" name="Google Shape;316;p25"/>
            <p:cNvSpPr/>
            <p:nvPr/>
          </p:nvSpPr>
          <p:spPr>
            <a:xfrm>
              <a:off x="4816488" y="3895975"/>
              <a:ext cx="3097500" cy="168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5"/>
            <p:cNvSpPr/>
            <p:nvPr/>
          </p:nvSpPr>
          <p:spPr>
            <a:xfrm>
              <a:off x="7921063" y="5047275"/>
              <a:ext cx="1141200" cy="168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18" name="Google Shape;318;p25"/>
            <p:cNvCxnSpPr/>
            <p:nvPr/>
          </p:nvCxnSpPr>
          <p:spPr>
            <a:xfrm>
              <a:off x="6721963" y="3791550"/>
              <a:ext cx="0" cy="1556700"/>
            </a:xfrm>
            <a:prstGeom prst="straightConnector1">
              <a:avLst/>
            </a:prstGeom>
            <a:noFill/>
            <a:ln w="19050" cap="flat" cmpd="sng">
              <a:solidFill>
                <a:srgbClr val="44546A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19" name="Google Shape;319;p25"/>
            <p:cNvCxnSpPr/>
            <p:nvPr/>
          </p:nvCxnSpPr>
          <p:spPr>
            <a:xfrm>
              <a:off x="9062188" y="3791550"/>
              <a:ext cx="0" cy="1556700"/>
            </a:xfrm>
            <a:prstGeom prst="straightConnector1">
              <a:avLst/>
            </a:prstGeom>
            <a:noFill/>
            <a:ln w="19050" cap="flat" cmpd="sng">
              <a:solidFill>
                <a:srgbClr val="44546A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20" name="Google Shape;320;p25"/>
            <p:cNvCxnSpPr/>
            <p:nvPr/>
          </p:nvCxnSpPr>
          <p:spPr>
            <a:xfrm flipH="1">
              <a:off x="7938938" y="3475450"/>
              <a:ext cx="199500" cy="3873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1" name="Google Shape;321;p25"/>
            <p:cNvSpPr txBox="1"/>
            <p:nvPr/>
          </p:nvSpPr>
          <p:spPr>
            <a:xfrm>
              <a:off x="7015850" y="5396375"/>
              <a:ext cx="9381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T2 intenta entrar a la región crítica</a:t>
              </a:r>
              <a:endParaRPr sz="1000">
                <a:solidFill>
                  <a:srgbClr val="FF0000"/>
                </a:solidFill>
              </a:endParaRPr>
            </a:p>
          </p:txBody>
        </p:sp>
        <p:sp>
          <p:nvSpPr>
            <p:cNvPr id="322" name="Google Shape;322;p25"/>
            <p:cNvSpPr txBox="1"/>
            <p:nvPr/>
          </p:nvSpPr>
          <p:spPr>
            <a:xfrm>
              <a:off x="9330263" y="5457675"/>
              <a:ext cx="1178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T2 sale de la región crítica</a:t>
              </a:r>
              <a:endParaRPr sz="1000">
                <a:solidFill>
                  <a:srgbClr val="FF0000"/>
                </a:solidFill>
              </a:endParaRPr>
            </a:p>
          </p:txBody>
        </p:sp>
        <p:cxnSp>
          <p:nvCxnSpPr>
            <p:cNvPr id="323" name="Google Shape;323;p25"/>
            <p:cNvCxnSpPr/>
            <p:nvPr/>
          </p:nvCxnSpPr>
          <p:spPr>
            <a:xfrm rot="10800000">
              <a:off x="6776488" y="5270575"/>
              <a:ext cx="199500" cy="387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4" name="Google Shape;324;p25"/>
            <p:cNvCxnSpPr/>
            <p:nvPr/>
          </p:nvCxnSpPr>
          <p:spPr>
            <a:xfrm rot="10800000">
              <a:off x="9130763" y="5226650"/>
              <a:ext cx="199500" cy="387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5" name="Google Shape;325;p25"/>
            <p:cNvSpPr/>
            <p:nvPr/>
          </p:nvSpPr>
          <p:spPr>
            <a:xfrm>
              <a:off x="7405589" y="4242413"/>
              <a:ext cx="158633" cy="626190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6" name="Google Shape;326;p25"/>
            <p:cNvSpPr/>
            <p:nvPr/>
          </p:nvSpPr>
          <p:spPr>
            <a:xfrm>
              <a:off x="8724349" y="4200607"/>
              <a:ext cx="158633" cy="626190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" name="Google Shape;327;p25"/>
            <p:cNvSpPr/>
            <p:nvPr/>
          </p:nvSpPr>
          <p:spPr>
            <a:xfrm>
              <a:off x="6086852" y="4242413"/>
              <a:ext cx="158633" cy="626190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328" name="Google Shape;328;p25"/>
            <p:cNvCxnSpPr/>
            <p:nvPr/>
          </p:nvCxnSpPr>
          <p:spPr>
            <a:xfrm>
              <a:off x="7914038" y="3791550"/>
              <a:ext cx="0" cy="1556700"/>
            </a:xfrm>
            <a:prstGeom prst="straightConnector1">
              <a:avLst/>
            </a:prstGeom>
            <a:noFill/>
            <a:ln w="19050" cap="flat" cmpd="sng">
              <a:solidFill>
                <a:srgbClr val="44546A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pic>
          <p:nvPicPr>
            <p:cNvPr id="329" name="Google Shape;329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80562" y="4327625"/>
              <a:ext cx="589281" cy="455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85125" y="4327613"/>
              <a:ext cx="589281" cy="455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24550" y="4327613"/>
              <a:ext cx="589281" cy="455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2" name="Google Shape;332;p25"/>
            <p:cNvSpPr/>
            <p:nvPr/>
          </p:nvSpPr>
          <p:spPr>
            <a:xfrm rot="5400000">
              <a:off x="7240088" y="3069325"/>
              <a:ext cx="158700" cy="11895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8575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5"/>
            <p:cNvSpPr txBox="1"/>
            <p:nvPr/>
          </p:nvSpPr>
          <p:spPr>
            <a:xfrm>
              <a:off x="6701288" y="2942925"/>
              <a:ext cx="12363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9900"/>
                  </a:solidFill>
                  <a:latin typeface="Consolas"/>
                  <a:ea typeface="Consolas"/>
                  <a:cs typeface="Consolas"/>
                  <a:sym typeface="Consolas"/>
                </a:rPr>
                <a:t>T2 es bloqueado</a:t>
              </a:r>
              <a:endParaRPr sz="1600" b="1">
                <a:solidFill>
                  <a:srgbClr val="FF9900"/>
                </a:solidFill>
              </a:endParaRPr>
            </a:p>
          </p:txBody>
        </p:sp>
        <p:cxnSp>
          <p:nvCxnSpPr>
            <p:cNvPr id="334" name="Google Shape;334;p25"/>
            <p:cNvCxnSpPr/>
            <p:nvPr/>
          </p:nvCxnSpPr>
          <p:spPr>
            <a:xfrm rot="10800000" flipH="1">
              <a:off x="5305163" y="5843000"/>
              <a:ext cx="1339200" cy="1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35" name="Google Shape;335;p25"/>
            <p:cNvSpPr txBox="1"/>
            <p:nvPr/>
          </p:nvSpPr>
          <p:spPr>
            <a:xfrm>
              <a:off x="4604663" y="5643800"/>
              <a:ext cx="70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Time</a:t>
              </a:r>
              <a:endParaRPr>
                <a:solidFill>
                  <a:srgbClr val="000000"/>
                </a:solidFill>
              </a:endParaRPr>
            </a:p>
          </p:txBody>
        </p:sp>
        <p:cxnSp>
          <p:nvCxnSpPr>
            <p:cNvPr id="336" name="Google Shape;336;p25"/>
            <p:cNvCxnSpPr/>
            <p:nvPr/>
          </p:nvCxnSpPr>
          <p:spPr>
            <a:xfrm rot="10800000">
              <a:off x="7953625" y="5248275"/>
              <a:ext cx="199500" cy="387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37" name="Google Shape;337;p25"/>
            <p:cNvSpPr txBox="1"/>
            <p:nvPr/>
          </p:nvSpPr>
          <p:spPr>
            <a:xfrm>
              <a:off x="8172888" y="5479450"/>
              <a:ext cx="938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T2 entra a la región crítica</a:t>
              </a:r>
              <a:endParaRPr sz="10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6"/>
          <p:cNvSpPr txBox="1">
            <a:spLocks noGrp="1"/>
          </p:cNvSpPr>
          <p:nvPr>
            <p:ph type="title"/>
          </p:nvPr>
        </p:nvSpPr>
        <p:spPr>
          <a:xfrm>
            <a:off x="401700" y="96038"/>
            <a:ext cx="88189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343" name="Google Shape;343;p26"/>
          <p:cNvSpPr txBox="1">
            <a:spLocks noGrp="1"/>
          </p:cNvSpPr>
          <p:nvPr>
            <p:ph type="body" idx="1"/>
          </p:nvPr>
        </p:nvSpPr>
        <p:spPr>
          <a:xfrm>
            <a:off x="401700" y="835625"/>
            <a:ext cx="11275350" cy="59559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5"/>
                </a:solidFill>
              </a:rPr>
              <a:t>Objetivos de la concurrencia</a:t>
            </a:r>
            <a:endParaRPr sz="2400"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344" name="Google Shape;344;p26"/>
          <p:cNvSpPr txBox="1">
            <a:spLocks noGrp="1"/>
          </p:cNvSpPr>
          <p:nvPr>
            <p:ph type="body" idx="4294967295"/>
          </p:nvPr>
        </p:nvSpPr>
        <p:spPr>
          <a:xfrm>
            <a:off x="409721" y="1396202"/>
            <a:ext cx="11376378" cy="11779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 startAt="2"/>
            </a:pPr>
            <a:r>
              <a:rPr lang="es-ES" sz="2000" b="1" dirty="0">
                <a:solidFill>
                  <a:srgbClr val="E46C0A"/>
                </a:solidFill>
              </a:rPr>
              <a:t>Orden en la ejecución (Ordering)</a:t>
            </a:r>
            <a:r>
              <a:rPr lang="es-ES" sz="2000" dirty="0">
                <a:solidFill>
                  <a:srgbClr val="E46C0A"/>
                </a:solidFill>
              </a:rPr>
              <a:t>:</a:t>
            </a:r>
            <a:r>
              <a:rPr lang="es-ES" sz="2000" dirty="0"/>
              <a:t> Que un hilo (</a:t>
            </a: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000" dirty="0"/>
              <a:t> por ejemplo) corra después de que otro hilo haya hecho algo (</a:t>
            </a: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000" dirty="0"/>
              <a:t> por ejemplo)  </a:t>
            </a:r>
            <a:endParaRPr sz="2000"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000" b="1" dirty="0"/>
              <a:t>Solución</a:t>
            </a:r>
            <a:r>
              <a:rPr lang="es-ES" sz="2000" dirty="0"/>
              <a:t>: </a:t>
            </a: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Variables de condición (CV)</a:t>
            </a:r>
            <a:r>
              <a:rPr lang="es-ES" sz="2000" dirty="0"/>
              <a:t>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</p:txBody>
      </p:sp>
      <p:grpSp>
        <p:nvGrpSpPr>
          <p:cNvPr id="365" name="Google Shape;365;p26"/>
          <p:cNvGrpSpPr/>
          <p:nvPr/>
        </p:nvGrpSpPr>
        <p:grpSpPr>
          <a:xfrm>
            <a:off x="6696813" y="3409834"/>
            <a:ext cx="4875488" cy="2522878"/>
            <a:chOff x="6371888" y="3623022"/>
            <a:chExt cx="4875488" cy="2522878"/>
          </a:xfrm>
        </p:grpSpPr>
        <p:grpSp>
          <p:nvGrpSpPr>
            <p:cNvPr id="366" name="Google Shape;366;p26"/>
            <p:cNvGrpSpPr/>
            <p:nvPr/>
          </p:nvGrpSpPr>
          <p:grpSpPr>
            <a:xfrm>
              <a:off x="6371888" y="4263125"/>
              <a:ext cx="4284463" cy="1559125"/>
              <a:chOff x="4952913" y="3770700"/>
              <a:chExt cx="4284463" cy="1559125"/>
            </a:xfrm>
          </p:grpSpPr>
          <p:cxnSp>
            <p:nvCxnSpPr>
              <p:cNvPr id="367" name="Google Shape;367;p26"/>
              <p:cNvCxnSpPr/>
              <p:nvPr/>
            </p:nvCxnSpPr>
            <p:spPr>
              <a:xfrm rot="10800000" flipH="1">
                <a:off x="6287450" y="3986600"/>
                <a:ext cx="2364300" cy="2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8" name="Google Shape;368;p26"/>
              <p:cNvCxnSpPr/>
              <p:nvPr/>
            </p:nvCxnSpPr>
            <p:spPr>
              <a:xfrm>
                <a:off x="7349475" y="5110000"/>
                <a:ext cx="1887900" cy="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69" name="Google Shape;369;p26"/>
              <p:cNvSpPr txBox="1"/>
              <p:nvPr/>
            </p:nvSpPr>
            <p:spPr>
              <a:xfrm>
                <a:off x="4962438" y="3770700"/>
                <a:ext cx="1314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Thread T1</a:t>
                </a:r>
                <a:endParaRPr sz="16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370" name="Google Shape;370;p26"/>
              <p:cNvSpPr txBox="1"/>
              <p:nvPr/>
            </p:nvSpPr>
            <p:spPr>
              <a:xfrm>
                <a:off x="4952913" y="4898725"/>
                <a:ext cx="1314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0000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Thread T2</a:t>
                </a:r>
                <a:endParaRPr sz="1600" b="1">
                  <a:solidFill>
                    <a:srgbClr val="0000FF"/>
                  </a:solidFill>
                </a:endParaRPr>
              </a:p>
            </p:txBody>
          </p:sp>
        </p:grpSp>
        <p:cxnSp>
          <p:nvCxnSpPr>
            <p:cNvPr id="371" name="Google Shape;371;p26"/>
            <p:cNvCxnSpPr/>
            <p:nvPr/>
          </p:nvCxnSpPr>
          <p:spPr>
            <a:xfrm>
              <a:off x="8770575" y="4103825"/>
              <a:ext cx="0" cy="1695600"/>
            </a:xfrm>
            <a:prstGeom prst="straightConnector1">
              <a:avLst/>
            </a:prstGeom>
            <a:noFill/>
            <a:ln w="19050" cap="flat" cmpd="sng">
              <a:solidFill>
                <a:srgbClr val="70AD4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72" name="Google Shape;372;p26"/>
            <p:cNvCxnSpPr/>
            <p:nvPr/>
          </p:nvCxnSpPr>
          <p:spPr>
            <a:xfrm>
              <a:off x="10065975" y="4103825"/>
              <a:ext cx="0" cy="1695600"/>
            </a:xfrm>
            <a:prstGeom prst="straightConnector1">
              <a:avLst/>
            </a:prstGeom>
            <a:noFill/>
            <a:ln w="19050" cap="flat" cmpd="sng">
              <a:solidFill>
                <a:srgbClr val="70AD4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26"/>
            <p:cNvCxnSpPr/>
            <p:nvPr/>
          </p:nvCxnSpPr>
          <p:spPr>
            <a:xfrm rot="10800000" flipH="1">
              <a:off x="10065975" y="4470038"/>
              <a:ext cx="590700" cy="48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26"/>
            <p:cNvCxnSpPr/>
            <p:nvPr/>
          </p:nvCxnSpPr>
          <p:spPr>
            <a:xfrm>
              <a:off x="10656675" y="4103825"/>
              <a:ext cx="0" cy="1695600"/>
            </a:xfrm>
            <a:prstGeom prst="straightConnector1">
              <a:avLst/>
            </a:prstGeom>
            <a:noFill/>
            <a:ln w="19050" cap="flat" cmpd="sng">
              <a:solidFill>
                <a:srgbClr val="70AD4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26"/>
            <p:cNvCxnSpPr/>
            <p:nvPr/>
          </p:nvCxnSpPr>
          <p:spPr>
            <a:xfrm rot="10800000" flipH="1">
              <a:off x="10656675" y="4470050"/>
              <a:ext cx="590700" cy="48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6" name="Google Shape;376;p26"/>
            <p:cNvSpPr/>
            <p:nvPr/>
          </p:nvSpPr>
          <p:spPr>
            <a:xfrm>
              <a:off x="8180025" y="3861725"/>
              <a:ext cx="1181100" cy="28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70AD47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000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377" name="Google Shape;377;p26"/>
            <p:cNvGrpSpPr/>
            <p:nvPr/>
          </p:nvGrpSpPr>
          <p:grpSpPr>
            <a:xfrm>
              <a:off x="10196271" y="4723661"/>
              <a:ext cx="355961" cy="609499"/>
              <a:chOff x="6979071" y="5408478"/>
              <a:chExt cx="197789" cy="286217"/>
            </a:xfrm>
          </p:grpSpPr>
          <p:sp>
            <p:nvSpPr>
              <p:cNvPr id="378" name="Google Shape;378;p26"/>
              <p:cNvSpPr/>
              <p:nvPr/>
            </p:nvSpPr>
            <p:spPr>
              <a:xfrm>
                <a:off x="6979071" y="5408478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" name="Google Shape;379;p26"/>
              <p:cNvSpPr/>
              <p:nvPr/>
            </p:nvSpPr>
            <p:spPr>
              <a:xfrm>
                <a:off x="7082714" y="5412707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80" name="Google Shape;380;p26"/>
            <p:cNvSpPr/>
            <p:nvPr/>
          </p:nvSpPr>
          <p:spPr>
            <a:xfrm>
              <a:off x="8260358" y="4728161"/>
              <a:ext cx="169429" cy="600501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81" name="Google Shape;381;p26"/>
            <p:cNvGrpSpPr/>
            <p:nvPr/>
          </p:nvGrpSpPr>
          <p:grpSpPr>
            <a:xfrm>
              <a:off x="9278396" y="4723661"/>
              <a:ext cx="355961" cy="609499"/>
              <a:chOff x="6979071" y="5408478"/>
              <a:chExt cx="197789" cy="286217"/>
            </a:xfrm>
          </p:grpSpPr>
          <p:sp>
            <p:nvSpPr>
              <p:cNvPr id="382" name="Google Shape;382;p26"/>
              <p:cNvSpPr/>
              <p:nvPr/>
            </p:nvSpPr>
            <p:spPr>
              <a:xfrm>
                <a:off x="6979071" y="5408478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3" name="Google Shape;383;p26"/>
              <p:cNvSpPr/>
              <p:nvPr/>
            </p:nvSpPr>
            <p:spPr>
              <a:xfrm>
                <a:off x="7082714" y="5412707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84" name="Google Shape;384;p26"/>
            <p:cNvSpPr/>
            <p:nvPr/>
          </p:nvSpPr>
          <p:spPr>
            <a:xfrm>
              <a:off x="10991146" y="4728161"/>
              <a:ext cx="169429" cy="600501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5" name="Google Shape;385;p26"/>
            <p:cNvSpPr/>
            <p:nvPr/>
          </p:nvSpPr>
          <p:spPr>
            <a:xfrm>
              <a:off x="10255875" y="5781100"/>
              <a:ext cx="8016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endParaRPr sz="10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86" name="Google Shape;386;p26"/>
            <p:cNvSpPr/>
            <p:nvPr/>
          </p:nvSpPr>
          <p:spPr>
            <a:xfrm>
              <a:off x="9536775" y="3819425"/>
              <a:ext cx="10584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pic>
          <p:nvPicPr>
            <p:cNvPr id="387" name="Google Shape;38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935675" y="3623022"/>
              <a:ext cx="260600" cy="26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4F015FC1-6613-44CB-BBDB-32D58BF759E7}"/>
              </a:ext>
            </a:extLst>
          </p:cNvPr>
          <p:cNvGrpSpPr/>
          <p:nvPr/>
        </p:nvGrpSpPr>
        <p:grpSpPr>
          <a:xfrm>
            <a:off x="789289" y="2749517"/>
            <a:ext cx="5564636" cy="3754110"/>
            <a:chOff x="1132189" y="2749517"/>
            <a:chExt cx="5564636" cy="3754110"/>
          </a:xfrm>
        </p:grpSpPr>
        <p:cxnSp>
          <p:nvCxnSpPr>
            <p:cNvPr id="346" name="Google Shape;346;p26"/>
            <p:cNvCxnSpPr>
              <a:cxnSpLocks/>
            </p:cNvCxnSpPr>
            <p:nvPr/>
          </p:nvCxnSpPr>
          <p:spPr>
            <a:xfrm>
              <a:off x="4525878" y="5750312"/>
              <a:ext cx="0" cy="453063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7" name="Google Shape;347;p26"/>
            <p:cNvCxnSpPr/>
            <p:nvPr/>
          </p:nvCxnSpPr>
          <p:spPr>
            <a:xfrm>
              <a:off x="4538950" y="3594938"/>
              <a:ext cx="687300" cy="575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" name="Google Shape;348;p26"/>
            <p:cNvCxnSpPr>
              <a:cxnSpLocks/>
            </p:cNvCxnSpPr>
            <p:nvPr/>
          </p:nvCxnSpPr>
          <p:spPr>
            <a:xfrm>
              <a:off x="5226250" y="4170038"/>
              <a:ext cx="0" cy="1135875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9" name="Google Shape;349;p26"/>
            <p:cNvCxnSpPr/>
            <p:nvPr/>
          </p:nvCxnSpPr>
          <p:spPr>
            <a:xfrm rot="10800000" flipH="1">
              <a:off x="4538950" y="5305913"/>
              <a:ext cx="687300" cy="448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350" name="Google Shape;350;p26"/>
            <p:cNvSpPr/>
            <p:nvPr/>
          </p:nvSpPr>
          <p:spPr>
            <a:xfrm>
              <a:off x="2645650" y="3402438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 err="1">
                  <a:solidFill>
                    <a:srgbClr val="70AD47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600" b="1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5321625" y="5104213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endParaRPr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2572643" y="3780375"/>
              <a:ext cx="1662897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353" name="Google Shape;353;p26"/>
            <p:cNvGrpSpPr/>
            <p:nvPr/>
          </p:nvGrpSpPr>
          <p:grpSpPr>
            <a:xfrm>
              <a:off x="1907356" y="2850271"/>
              <a:ext cx="612969" cy="600504"/>
              <a:chOff x="2019475" y="2346963"/>
              <a:chExt cx="590700" cy="628800"/>
            </a:xfrm>
          </p:grpSpPr>
          <p:sp>
            <p:nvSpPr>
              <p:cNvPr id="354" name="Google Shape;354;p26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26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56" name="Google Shape;356;p26"/>
            <p:cNvGrpSpPr/>
            <p:nvPr/>
          </p:nvGrpSpPr>
          <p:grpSpPr>
            <a:xfrm>
              <a:off x="1907356" y="3767246"/>
              <a:ext cx="612900" cy="600600"/>
              <a:chOff x="6778856" y="5262408"/>
              <a:chExt cx="612900" cy="600600"/>
            </a:xfrm>
          </p:grpSpPr>
          <p:sp>
            <p:nvSpPr>
              <p:cNvPr id="357" name="Google Shape;357;p26"/>
              <p:cNvSpPr/>
              <p:nvPr/>
            </p:nvSpPr>
            <p:spPr>
              <a:xfrm>
                <a:off x="6778856" y="5262408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6"/>
              <p:cNvSpPr/>
              <p:nvPr/>
            </p:nvSpPr>
            <p:spPr>
              <a:xfrm>
                <a:off x="6940106" y="5421650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9" name="Google Shape;359;p26"/>
              <p:cNvSpPr/>
              <p:nvPr/>
            </p:nvSpPr>
            <p:spPr>
              <a:xfrm>
                <a:off x="7114470" y="54216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cxnSp>
          <p:nvCxnSpPr>
            <p:cNvPr id="360" name="Google Shape;360;p26"/>
            <p:cNvCxnSpPr/>
            <p:nvPr/>
          </p:nvCxnSpPr>
          <p:spPr>
            <a:xfrm rot="10800000">
              <a:off x="1132189" y="3639275"/>
              <a:ext cx="1598700" cy="0"/>
            </a:xfrm>
            <a:prstGeom prst="straightConnector1">
              <a:avLst/>
            </a:prstGeom>
            <a:noFill/>
            <a:ln w="19050" cap="flat" cmpd="sng">
              <a:solidFill>
                <a:srgbClr val="70AD4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61" name="Google Shape;361;p26"/>
            <p:cNvCxnSpPr>
              <a:cxnSpLocks/>
            </p:cNvCxnSpPr>
            <p:nvPr/>
          </p:nvCxnSpPr>
          <p:spPr>
            <a:xfrm flipH="1">
              <a:off x="1132189" y="5754714"/>
              <a:ext cx="3311385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362" name="Google Shape;362;p26"/>
            <p:cNvGrpSpPr/>
            <p:nvPr/>
          </p:nvGrpSpPr>
          <p:grpSpPr>
            <a:xfrm>
              <a:off x="1931539" y="5903123"/>
              <a:ext cx="612969" cy="600504"/>
              <a:chOff x="2019475" y="2346963"/>
              <a:chExt cx="590700" cy="628800"/>
            </a:xfrm>
          </p:grpSpPr>
          <p:sp>
            <p:nvSpPr>
              <p:cNvPr id="363" name="Google Shape;363;p26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26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pic>
          <p:nvPicPr>
            <p:cNvPr id="49" name="Google Shape;387;p26">
              <a:extLst>
                <a:ext uri="{FF2B5EF4-FFF2-40B4-BE49-F238E27FC236}">
                  <a16:creationId xmlns:a16="http://schemas.microsoft.com/office/drawing/2014/main" id="{6B205689-01F1-443F-BCC5-F80C4EDC6BB7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18751" y="3864667"/>
              <a:ext cx="260600" cy="260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0" name="Google Shape;348;p26">
              <a:extLst>
                <a:ext uri="{FF2B5EF4-FFF2-40B4-BE49-F238E27FC236}">
                  <a16:creationId xmlns:a16="http://schemas.microsoft.com/office/drawing/2014/main" id="{172C60DD-BB35-4D6D-A246-A23C6830C7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5879" y="4029075"/>
              <a:ext cx="8021" cy="1672688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4" name="Google Shape;348;p26">
              <a:extLst>
                <a:ext uri="{FF2B5EF4-FFF2-40B4-BE49-F238E27FC236}">
                  <a16:creationId xmlns:a16="http://schemas.microsoft.com/office/drawing/2014/main" id="{D89DE35A-CC34-4A05-AA1A-1C5B7E982DD6}"/>
                </a:ext>
              </a:extLst>
            </p:cNvPr>
            <p:cNvCxnSpPr>
              <a:cxnSpLocks/>
            </p:cNvCxnSpPr>
            <p:nvPr/>
          </p:nvCxnSpPr>
          <p:spPr>
            <a:xfrm>
              <a:off x="4533606" y="2749517"/>
              <a:ext cx="0" cy="122152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7"/>
          <p:cNvSpPr txBox="1">
            <a:spLocks noGrp="1"/>
          </p:cNvSpPr>
          <p:nvPr>
            <p:ph type="title"/>
          </p:nvPr>
        </p:nvSpPr>
        <p:spPr>
          <a:xfrm>
            <a:off x="514950" y="96038"/>
            <a:ext cx="87057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393" name="Google Shape;393;p27"/>
          <p:cNvSpPr txBox="1">
            <a:spLocks noGrp="1"/>
          </p:cNvSpPr>
          <p:nvPr>
            <p:ph type="body" idx="1"/>
          </p:nvPr>
        </p:nvSpPr>
        <p:spPr>
          <a:xfrm>
            <a:off x="514950" y="905725"/>
            <a:ext cx="111621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¿Cómo lograr que se de un orden de ejecución entre los hilos?</a:t>
            </a: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394" name="Google Shape;394;p27"/>
          <p:cNvSpPr txBox="1">
            <a:spLocks noGrp="1"/>
          </p:cNvSpPr>
          <p:nvPr>
            <p:ph type="body" idx="4294967295"/>
          </p:nvPr>
        </p:nvSpPr>
        <p:spPr>
          <a:xfrm>
            <a:off x="454120" y="1385561"/>
            <a:ext cx="11283759" cy="1870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200" dirty="0"/>
              <a:t>En ocasiones es necesario que un hilo </a:t>
            </a:r>
            <a:r>
              <a:rPr lang="es-ES" sz="2200" b="1" dirty="0"/>
              <a:t>verifique que se cumpla una </a:t>
            </a:r>
            <a:r>
              <a:rPr lang="es-ES" sz="2200" b="1" dirty="0">
                <a:solidFill>
                  <a:srgbClr val="FF0000"/>
                </a:solidFill>
              </a:rPr>
              <a:t>condición</a:t>
            </a:r>
            <a:r>
              <a:rPr lang="es-ES" sz="2200" dirty="0">
                <a:solidFill>
                  <a:srgbClr val="FF0000"/>
                </a:solidFill>
              </a:rPr>
              <a:t> </a:t>
            </a:r>
            <a:r>
              <a:rPr lang="es-ES" sz="2200" dirty="0"/>
              <a:t>antes de seguir avanzando.</a:t>
            </a:r>
            <a:endParaRPr sz="2200"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200" b="1" dirty="0"/>
              <a:t>Ejemplo</a:t>
            </a:r>
            <a:r>
              <a:rPr lang="es-ES" sz="2200" dirty="0"/>
              <a:t>: </a:t>
            </a:r>
            <a:endParaRPr sz="2200" dirty="0"/>
          </a:p>
          <a:p>
            <a:pPr marL="137160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s-ES" sz="2200" dirty="0"/>
              <a:t>El hilo de ejecución principal debe verificar que un hilo hijo ha finalizado. </a:t>
            </a:r>
            <a:endParaRPr sz="2200" dirty="0"/>
          </a:p>
          <a:p>
            <a:pPr marL="137160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s-ES" sz="2200" dirty="0"/>
              <a:t>Función join.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</p:txBody>
      </p:sp>
      <p:pic>
        <p:nvPicPr>
          <p:cNvPr id="1034" name="Picture 10" descr="Señora ¿le interesaría cambiar su servicio de larga distancia, sí? ... ah,  la señora me colgó :( ¿qué le hice? :'(">
            <a:extLst>
              <a:ext uri="{FF2B5EF4-FFF2-40B4-BE49-F238E27FC236}">
                <a16:creationId xmlns:a16="http://schemas.microsoft.com/office/drawing/2014/main" id="{B76E6D7E-C9CB-4C15-A8BC-F9B60E41B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601" y="3465702"/>
            <a:ext cx="1732933" cy="1298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on't leave your customers feeling like this. Strive for the best ...">
            <a:extLst>
              <a:ext uri="{FF2B5EF4-FFF2-40B4-BE49-F238E27FC236}">
                <a16:creationId xmlns:a16="http://schemas.microsoft.com/office/drawing/2014/main" id="{12DD1C4D-B4AB-44AC-A6E5-16E971BDD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601" y="4973795"/>
            <a:ext cx="1544576" cy="1503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8"/>
          <p:cNvSpPr txBox="1">
            <a:spLocks noGrp="1"/>
          </p:cNvSpPr>
          <p:nvPr>
            <p:ph type="title"/>
          </p:nvPr>
        </p:nvSpPr>
        <p:spPr>
          <a:xfrm>
            <a:off x="401700" y="96038"/>
            <a:ext cx="88189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400" name="Google Shape;400;p28"/>
          <p:cNvSpPr txBox="1">
            <a:spLocks noGrp="1"/>
          </p:cNvSpPr>
          <p:nvPr>
            <p:ph type="body" idx="1"/>
          </p:nvPr>
        </p:nvSpPr>
        <p:spPr>
          <a:xfrm>
            <a:off x="401700" y="835459"/>
            <a:ext cx="107604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¿Cómo implementar el orden de ejecución deseado?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401" name="Google Shape;401;p28"/>
          <p:cNvSpPr txBox="1">
            <a:spLocks noGrp="1"/>
          </p:cNvSpPr>
          <p:nvPr>
            <p:ph type="body" idx="4294967295"/>
          </p:nvPr>
        </p:nvSpPr>
        <p:spPr>
          <a:xfrm>
            <a:off x="361372" y="1386935"/>
            <a:ext cx="10815637" cy="6365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rgbClr val="E46C0A"/>
                </a:solidFill>
              </a:rPr>
              <a:t>¿Cómo implementar el join? </a:t>
            </a:r>
            <a:r>
              <a:rPr lang="es-ES" sz="2400" dirty="0"/>
              <a:t>(Para lograr el orden de ejecución deseado).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403" name="Google Shape;403;p28"/>
          <p:cNvCxnSpPr>
            <a:cxnSpLocks/>
          </p:cNvCxnSpPr>
          <p:nvPr/>
        </p:nvCxnSpPr>
        <p:spPr>
          <a:xfrm flipH="1">
            <a:off x="2605975" y="5476240"/>
            <a:ext cx="1" cy="500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4" name="Google Shape;404;p28"/>
          <p:cNvCxnSpPr/>
          <p:nvPr/>
        </p:nvCxnSpPr>
        <p:spPr>
          <a:xfrm>
            <a:off x="2605975" y="3328463"/>
            <a:ext cx="687300" cy="575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5" name="Google Shape;405;p28"/>
          <p:cNvCxnSpPr/>
          <p:nvPr/>
        </p:nvCxnSpPr>
        <p:spPr>
          <a:xfrm>
            <a:off x="3279150" y="3903463"/>
            <a:ext cx="0" cy="1107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6" name="Google Shape;406;p28"/>
          <p:cNvCxnSpPr/>
          <p:nvPr/>
        </p:nvCxnSpPr>
        <p:spPr>
          <a:xfrm rot="10800000" flipH="1">
            <a:off x="2605975" y="5039438"/>
            <a:ext cx="687300" cy="448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07" name="Google Shape;407;p28"/>
          <p:cNvSpPr/>
          <p:nvPr/>
        </p:nvSpPr>
        <p:spPr>
          <a:xfrm>
            <a:off x="686700" y="3135975"/>
            <a:ext cx="12039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pthread_create</a:t>
            </a:r>
            <a:endParaRPr sz="1000" b="1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8" name="Google Shape;408;p28"/>
          <p:cNvSpPr/>
          <p:nvPr/>
        </p:nvSpPr>
        <p:spPr>
          <a:xfrm>
            <a:off x="3293275" y="4910000"/>
            <a:ext cx="6744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endParaRPr sz="10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" name="Google Shape;409;p28"/>
          <p:cNvSpPr/>
          <p:nvPr/>
        </p:nvSpPr>
        <p:spPr>
          <a:xfrm>
            <a:off x="572097" y="4017447"/>
            <a:ext cx="13752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pthread_join</a:t>
            </a:r>
            <a:endParaRPr sz="10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10" name="Google Shape;410;p28"/>
          <p:cNvGrpSpPr/>
          <p:nvPr/>
        </p:nvGrpSpPr>
        <p:grpSpPr>
          <a:xfrm>
            <a:off x="1738906" y="2579021"/>
            <a:ext cx="612969" cy="600504"/>
            <a:chOff x="2019475" y="2346963"/>
            <a:chExt cx="590700" cy="628800"/>
          </a:xfrm>
        </p:grpSpPr>
        <p:sp>
          <p:nvSpPr>
            <p:cNvPr id="411" name="Google Shape;411;p28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8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13" name="Google Shape;413;p28"/>
          <p:cNvGrpSpPr/>
          <p:nvPr/>
        </p:nvGrpSpPr>
        <p:grpSpPr>
          <a:xfrm>
            <a:off x="1738975" y="3437481"/>
            <a:ext cx="612900" cy="600600"/>
            <a:chOff x="6778856" y="5262408"/>
            <a:chExt cx="612900" cy="600600"/>
          </a:xfrm>
        </p:grpSpPr>
        <p:sp>
          <p:nvSpPr>
            <p:cNvPr id="414" name="Google Shape;414;p28"/>
            <p:cNvSpPr/>
            <p:nvPr/>
          </p:nvSpPr>
          <p:spPr>
            <a:xfrm>
              <a:off x="6778856" y="5262408"/>
              <a:ext cx="612900" cy="6006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5" name="Google Shape;415;p28"/>
            <p:cNvSpPr/>
            <p:nvPr/>
          </p:nvSpPr>
          <p:spPr>
            <a:xfrm>
              <a:off x="6940106" y="5421650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6" name="Google Shape;416;p28"/>
            <p:cNvSpPr/>
            <p:nvPr/>
          </p:nvSpPr>
          <p:spPr>
            <a:xfrm>
              <a:off x="7114470" y="5421653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cxnSp>
        <p:nvCxnSpPr>
          <p:cNvPr id="417" name="Google Shape;417;p28"/>
          <p:cNvCxnSpPr/>
          <p:nvPr/>
        </p:nvCxnSpPr>
        <p:spPr>
          <a:xfrm flipH="1">
            <a:off x="1890588" y="3318363"/>
            <a:ext cx="702300" cy="12600"/>
          </a:xfrm>
          <a:prstGeom prst="straightConnector1">
            <a:avLst/>
          </a:prstGeom>
          <a:noFill/>
          <a:ln w="19050" cap="flat" cmpd="sng">
            <a:solidFill>
              <a:srgbClr val="70AD47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18" name="Google Shape;418;p28"/>
          <p:cNvCxnSpPr/>
          <p:nvPr/>
        </p:nvCxnSpPr>
        <p:spPr>
          <a:xfrm flipH="1">
            <a:off x="1918500" y="5457188"/>
            <a:ext cx="674400" cy="5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419" name="Google Shape;419;p28"/>
          <p:cNvGrpSpPr/>
          <p:nvPr/>
        </p:nvGrpSpPr>
        <p:grpSpPr>
          <a:xfrm>
            <a:off x="1738906" y="5611796"/>
            <a:ext cx="612969" cy="600504"/>
            <a:chOff x="2019475" y="2346963"/>
            <a:chExt cx="590700" cy="628800"/>
          </a:xfrm>
        </p:grpSpPr>
        <p:sp>
          <p:nvSpPr>
            <p:cNvPr id="420" name="Google Shape;420;p28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8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22" name="Google Shape;422;p28"/>
          <p:cNvGrpSpPr/>
          <p:nvPr/>
        </p:nvGrpSpPr>
        <p:grpSpPr>
          <a:xfrm>
            <a:off x="10055073" y="3841334"/>
            <a:ext cx="1879200" cy="1354681"/>
            <a:chOff x="10110425" y="4379000"/>
            <a:chExt cx="1879200" cy="1354681"/>
          </a:xfrm>
        </p:grpSpPr>
        <p:sp>
          <p:nvSpPr>
            <p:cNvPr id="423" name="Google Shape;423;p28"/>
            <p:cNvSpPr txBox="1"/>
            <p:nvPr/>
          </p:nvSpPr>
          <p:spPr>
            <a:xfrm>
              <a:off x="10110425" y="4379000"/>
              <a:ext cx="1879200" cy="10340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parent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begin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child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parent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end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24" name="Google Shape;424;p28"/>
            <p:cNvSpPr txBox="1"/>
            <p:nvPr/>
          </p:nvSpPr>
          <p:spPr>
            <a:xfrm>
              <a:off x="10266725" y="5364379"/>
              <a:ext cx="1566600" cy="369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Salida deseada</a:t>
              </a:r>
              <a:endParaRPr sz="1200" dirty="0"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25" name="Google Shape;425;p28"/>
          <p:cNvGrpSpPr/>
          <p:nvPr/>
        </p:nvGrpSpPr>
        <p:grpSpPr>
          <a:xfrm>
            <a:off x="4114375" y="2103343"/>
            <a:ext cx="5595900" cy="4303611"/>
            <a:chOff x="4144709" y="2590937"/>
            <a:chExt cx="5595900" cy="4303611"/>
          </a:xfrm>
        </p:grpSpPr>
        <p:sp>
          <p:nvSpPr>
            <p:cNvPr id="426" name="Google Shape;426;p28"/>
            <p:cNvSpPr txBox="1"/>
            <p:nvPr/>
          </p:nvSpPr>
          <p:spPr>
            <a:xfrm>
              <a:off x="4144709" y="2590937"/>
              <a:ext cx="5595900" cy="390103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child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arg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child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\n");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// XXX </a:t>
              </a:r>
              <a:r>
                <a:rPr lang="es-ES" sz="14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how</a:t>
              </a:r>
              <a:r>
                <a:rPr lang="es-ES" sz="1400" dirty="0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to</a:t>
              </a:r>
              <a:r>
                <a:rPr lang="es-ES" sz="1400" dirty="0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indicate</a:t>
              </a:r>
              <a:r>
                <a:rPr lang="es-ES" sz="1400" dirty="0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we</a:t>
              </a:r>
              <a:r>
                <a:rPr lang="es-ES" sz="1400" dirty="0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are done?</a:t>
              </a:r>
              <a:endParaRPr sz="14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NULL;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argc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char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argv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[])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parent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begin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\n");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c;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(&amp;c, NULL,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child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NULL); //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create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child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// XXX </a:t>
              </a:r>
              <a:r>
                <a:rPr lang="es-ES" sz="14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how</a:t>
              </a:r>
              <a:r>
                <a:rPr lang="es-ES" sz="1400" dirty="0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to</a:t>
              </a:r>
              <a:r>
                <a:rPr lang="es-ES" sz="1400" dirty="0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wait</a:t>
              </a:r>
              <a:r>
                <a:rPr lang="es-ES" sz="1400" dirty="0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lang="es-ES" sz="1400" dirty="0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child</a:t>
              </a:r>
              <a:r>
                <a:rPr lang="es-ES" sz="1400" dirty="0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?</a:t>
              </a:r>
              <a:endParaRPr sz="14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parent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end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\n");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0;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27" name="Google Shape;427;p28"/>
            <p:cNvSpPr txBox="1"/>
            <p:nvPr/>
          </p:nvSpPr>
          <p:spPr>
            <a:xfrm>
              <a:off x="5881307" y="6540635"/>
              <a:ext cx="1566600" cy="353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Código</a:t>
              </a:r>
              <a:endParaRPr sz="1100" dirty="0"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31" name="Google Shape;387;p26">
            <a:extLst>
              <a:ext uri="{FF2B5EF4-FFF2-40B4-BE49-F238E27FC236}">
                <a16:creationId xmlns:a16="http://schemas.microsoft.com/office/drawing/2014/main" id="{6A6FABED-6777-42E1-9961-F7398055A3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9625" y="5315143"/>
            <a:ext cx="260600" cy="260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" name="Google Shape;418;p28">
            <a:extLst>
              <a:ext uri="{FF2B5EF4-FFF2-40B4-BE49-F238E27FC236}">
                <a16:creationId xmlns:a16="http://schemas.microsoft.com/office/drawing/2014/main" id="{AD5F9E16-4BE2-4CCF-819A-AF3D35A64AB8}"/>
              </a:ext>
            </a:extLst>
          </p:cNvPr>
          <p:cNvCxnSpPr/>
          <p:nvPr/>
        </p:nvCxnSpPr>
        <p:spPr>
          <a:xfrm flipH="1">
            <a:off x="1904379" y="4207478"/>
            <a:ext cx="674400" cy="5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4" name="Google Shape;404;p28">
            <a:extLst>
              <a:ext uri="{FF2B5EF4-FFF2-40B4-BE49-F238E27FC236}">
                <a16:creationId xmlns:a16="http://schemas.microsoft.com/office/drawing/2014/main" id="{53FD8E6A-4E51-43F1-9F1C-2471FF2B7E65}"/>
              </a:ext>
            </a:extLst>
          </p:cNvPr>
          <p:cNvCxnSpPr>
            <a:cxnSpLocks/>
          </p:cNvCxnSpPr>
          <p:nvPr/>
        </p:nvCxnSpPr>
        <p:spPr>
          <a:xfrm>
            <a:off x="2596679" y="4212241"/>
            <a:ext cx="9361" cy="1233202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ysDash"/>
            <a:round/>
            <a:headEnd type="none" w="med" len="med"/>
            <a:tailEnd type="none" w="med" len="med"/>
          </a:ln>
        </p:spPr>
      </p:cxnSp>
      <p:cxnSp>
        <p:nvCxnSpPr>
          <p:cNvPr id="44" name="Google Shape;404;p28">
            <a:extLst>
              <a:ext uri="{FF2B5EF4-FFF2-40B4-BE49-F238E27FC236}">
                <a16:creationId xmlns:a16="http://schemas.microsoft.com/office/drawing/2014/main" id="{E02F9C1B-F79B-4CD0-9328-F799BE5F05DD}"/>
              </a:ext>
            </a:extLst>
          </p:cNvPr>
          <p:cNvCxnSpPr>
            <a:cxnSpLocks/>
          </p:cNvCxnSpPr>
          <p:nvPr/>
        </p:nvCxnSpPr>
        <p:spPr>
          <a:xfrm>
            <a:off x="2592888" y="2863099"/>
            <a:ext cx="8471" cy="1320851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9"/>
          <p:cNvSpPr txBox="1">
            <a:spLocks noGrp="1"/>
          </p:cNvSpPr>
          <p:nvPr>
            <p:ph type="title"/>
          </p:nvPr>
        </p:nvSpPr>
        <p:spPr>
          <a:xfrm>
            <a:off x="440596" y="96038"/>
            <a:ext cx="878005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1"/>
          </p:nvPr>
        </p:nvSpPr>
        <p:spPr>
          <a:xfrm>
            <a:off x="545690" y="776975"/>
            <a:ext cx="1093051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¿Cómo implementar el orden de ejecución deseado?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434" name="Google Shape;434;p29"/>
          <p:cNvSpPr txBox="1">
            <a:spLocks noGrp="1"/>
          </p:cNvSpPr>
          <p:nvPr>
            <p:ph type="body" idx="4294967295"/>
          </p:nvPr>
        </p:nvSpPr>
        <p:spPr>
          <a:xfrm>
            <a:off x="545690" y="1353613"/>
            <a:ext cx="4875213" cy="37528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46C0A"/>
                </a:solidFill>
              </a:rPr>
              <a:t>Spin join</a:t>
            </a:r>
            <a:endParaRPr sz="2400" dirty="0"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Poner al padre a esperar por el hijo.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Se implementa usando una variable compartida (</a:t>
            </a:r>
            <a:r>
              <a:rPr lang="es-ES" sz="2000" b="1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done</a:t>
            </a:r>
            <a:r>
              <a:rPr lang="es-ES" sz="2000" dirty="0"/>
              <a:t>)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35" name="Google Shape;435;p29"/>
          <p:cNvGrpSpPr/>
          <p:nvPr/>
        </p:nvGrpSpPr>
        <p:grpSpPr>
          <a:xfrm>
            <a:off x="1917866" y="2988319"/>
            <a:ext cx="1879200" cy="1342176"/>
            <a:chOff x="10110425" y="4379000"/>
            <a:chExt cx="1879200" cy="1342176"/>
          </a:xfrm>
        </p:grpSpPr>
        <p:sp>
          <p:nvSpPr>
            <p:cNvPr id="436" name="Google Shape;436;p29"/>
            <p:cNvSpPr txBox="1"/>
            <p:nvPr/>
          </p:nvSpPr>
          <p:spPr>
            <a:xfrm>
              <a:off x="10110425" y="4379000"/>
              <a:ext cx="1879200" cy="103409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parent: begin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child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parent: end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37" name="Google Shape;437;p29"/>
            <p:cNvSpPr txBox="1"/>
            <p:nvPr/>
          </p:nvSpPr>
          <p:spPr>
            <a:xfrm>
              <a:off x="10266725" y="5351874"/>
              <a:ext cx="1566600" cy="369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Salida deseada</a:t>
              </a:r>
              <a:endParaRPr sz="1200"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38" name="Google Shape;438;p29"/>
          <p:cNvGrpSpPr/>
          <p:nvPr/>
        </p:nvGrpSpPr>
        <p:grpSpPr>
          <a:xfrm>
            <a:off x="6127525" y="1499675"/>
            <a:ext cx="5623879" cy="4486800"/>
            <a:chOff x="3995575" y="2590400"/>
            <a:chExt cx="5595900" cy="4486800"/>
          </a:xfrm>
        </p:grpSpPr>
        <p:sp>
          <p:nvSpPr>
            <p:cNvPr id="439" name="Google Shape;439;p29"/>
            <p:cNvSpPr txBox="1"/>
            <p:nvPr/>
          </p:nvSpPr>
          <p:spPr>
            <a:xfrm>
              <a:off x="3995575" y="2590400"/>
              <a:ext cx="5595900" cy="40665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b="1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volatile</a:t>
              </a:r>
              <a:r>
                <a:rPr lang="es-ES" sz="13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b="1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3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done = 0;</a:t>
              </a:r>
              <a:endParaRPr sz="13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child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arg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3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child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\n");</a:t>
              </a:r>
              <a:endParaRPr sz="13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done = 1;</a:t>
              </a:r>
              <a:endParaRPr sz="1300" b="1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NULL;</a:t>
              </a:r>
              <a:endParaRPr sz="13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3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argc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char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argv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[]) {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parent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begin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\n");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c;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(&amp;c, NULL,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child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NULL); //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create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child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while (</a:t>
              </a:r>
              <a:r>
                <a:rPr lang="es-ES" sz="13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done == 0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3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	</a:t>
              </a:r>
              <a:r>
                <a:rPr lang="es-ES" sz="13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; // spin</a:t>
              </a:r>
              <a:endParaRPr sz="13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parent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end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\n");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3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0;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40" name="Google Shape;440;p29"/>
            <p:cNvSpPr txBox="1"/>
            <p:nvPr/>
          </p:nvSpPr>
          <p:spPr>
            <a:xfrm>
              <a:off x="6116322" y="6707900"/>
              <a:ext cx="1566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Código </a:t>
              </a:r>
              <a:r>
                <a:rPr lang="es-ES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(</a:t>
              </a:r>
              <a:r>
                <a:rPr lang="es-ES" sz="1200" u="sng">
                  <a:solidFill>
                    <a:schemeClr val="hlink"/>
                  </a:solidFill>
                  <a:latin typeface="Roboto"/>
                  <a:ea typeface="Roboto"/>
                  <a:cs typeface="Roboto"/>
                  <a:sym typeface="Roboto"/>
                  <a:hlinkClick r:id="rId3"/>
                </a:rPr>
                <a:t>link</a:t>
              </a:r>
              <a:r>
                <a:rPr lang="es-ES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)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41" name="Google Shape;441;p29"/>
          <p:cNvSpPr txBox="1"/>
          <p:nvPr/>
        </p:nvSpPr>
        <p:spPr>
          <a:xfrm>
            <a:off x="510450" y="5829163"/>
            <a:ext cx="111711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Solución ineficiente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Desperdicio de CPU por parte del padre (debido al spin-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loop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Solución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Hacer uso de variables de condición.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0"/>
          <p:cNvSpPr txBox="1">
            <a:spLocks noGrp="1"/>
          </p:cNvSpPr>
          <p:nvPr>
            <p:ph type="title"/>
          </p:nvPr>
        </p:nvSpPr>
        <p:spPr>
          <a:xfrm>
            <a:off x="398206" y="96038"/>
            <a:ext cx="882244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447" name="Google Shape;447;p30"/>
          <p:cNvSpPr txBox="1">
            <a:spLocks noGrp="1"/>
          </p:cNvSpPr>
          <p:nvPr>
            <p:ph type="body" idx="1"/>
          </p:nvPr>
        </p:nvSpPr>
        <p:spPr>
          <a:xfrm>
            <a:off x="398206" y="1008964"/>
            <a:ext cx="107604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>
                <a:solidFill>
                  <a:schemeClr val="accent5"/>
                </a:solidFill>
                <a:latin typeface="+mn-lt"/>
              </a:rPr>
              <a:t>Variables de condición (Condition Variables - CV)</a:t>
            </a:r>
            <a:endParaRPr sz="2800" b="1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+mn-lt"/>
            </a:endParaRPr>
          </a:p>
        </p:txBody>
      </p:sp>
      <p:sp>
        <p:nvSpPr>
          <p:cNvPr id="448" name="Google Shape;448;p30"/>
          <p:cNvSpPr txBox="1"/>
          <p:nvPr/>
        </p:nvSpPr>
        <p:spPr>
          <a:xfrm>
            <a:off x="454156" y="1946889"/>
            <a:ext cx="10648500" cy="3241883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Idea clave: ¿Cómo esperar por una condición?</a:t>
            </a:r>
            <a:endParaRPr sz="2800" b="1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b="1">
                <a:solidFill>
                  <a:schemeClr val="dk1"/>
                </a:solidFill>
                <a:ea typeface="Roboto"/>
                <a:cs typeface="Roboto"/>
                <a:sym typeface="Roboto"/>
              </a:rPr>
              <a:t>Espera de una condición: </a:t>
            </a:r>
            <a:r>
              <a:rPr lang="es-ES" sz="2200">
                <a:solidFill>
                  <a:schemeClr val="dk1"/>
                </a:solidFill>
                <a:ea typeface="Roboto"/>
                <a:cs typeface="Roboto"/>
                <a:sym typeface="Roboto"/>
              </a:rPr>
              <a:t>En programas multihilo, es a menudo útil que un hilo espere hasta que alguna condición se vuelva verdadera antes de proseguir.</a:t>
            </a:r>
            <a:endParaRPr sz="220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b="1">
                <a:solidFill>
                  <a:schemeClr val="dk1"/>
                </a:solidFill>
                <a:ea typeface="Roboto"/>
                <a:cs typeface="Roboto"/>
                <a:sym typeface="Roboto"/>
              </a:rPr>
              <a:t>Solución ineficiente – Spinning: </a:t>
            </a:r>
            <a:r>
              <a:rPr lang="es-ES" sz="2200">
                <a:solidFill>
                  <a:schemeClr val="dk1"/>
                </a:solidFill>
                <a:ea typeface="Roboto"/>
                <a:cs typeface="Roboto"/>
                <a:sym typeface="Roboto"/>
              </a:rPr>
              <a:t>Una solución es esperar validando continuamente hasta que la condición se vuelva verdadera (</a:t>
            </a:r>
            <a:r>
              <a:rPr lang="es-ES" sz="2200" b="1">
                <a:solidFill>
                  <a:schemeClr val="dk1"/>
                </a:solidFill>
                <a:ea typeface="Roboto"/>
                <a:cs typeface="Roboto"/>
                <a:sym typeface="Roboto"/>
              </a:rPr>
              <a:t>spinning</a:t>
            </a:r>
            <a:r>
              <a:rPr lang="es-ES" sz="2200">
                <a:solidFill>
                  <a:schemeClr val="dk1"/>
                </a:solidFill>
                <a:ea typeface="Roboto"/>
                <a:cs typeface="Roboto"/>
                <a:sym typeface="Roboto"/>
              </a:rPr>
              <a:t>) sin embargo esto es muy ineficiente debido al gasto de CPU.</a:t>
            </a:r>
            <a:endParaRPr sz="220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¿Cómo implementar un hilo que espere por una condición?</a:t>
            </a:r>
            <a:endParaRPr sz="2400" b="1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2"/>
          <p:cNvSpPr txBox="1">
            <a:spLocks noGrp="1"/>
          </p:cNvSpPr>
          <p:nvPr>
            <p:ph type="title"/>
          </p:nvPr>
        </p:nvSpPr>
        <p:spPr>
          <a:xfrm>
            <a:off x="282181" y="131318"/>
            <a:ext cx="114547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+mj-lt"/>
              </a:rPr>
              <a:t>Variables de condición</a:t>
            </a:r>
            <a:endParaRPr>
              <a:latin typeface="+mj-lt"/>
            </a:endParaRPr>
          </a:p>
        </p:txBody>
      </p:sp>
      <p:sp>
        <p:nvSpPr>
          <p:cNvPr id="460" name="Google Shape;460;p32"/>
          <p:cNvSpPr txBox="1"/>
          <p:nvPr/>
        </p:nvSpPr>
        <p:spPr>
          <a:xfrm>
            <a:off x="282181" y="833688"/>
            <a:ext cx="10848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000" dirty="0">
                <a:ea typeface="Roboto"/>
                <a:cs typeface="Roboto"/>
                <a:sym typeface="Roboto"/>
              </a:rPr>
              <a:t>Las </a:t>
            </a:r>
            <a:r>
              <a:rPr lang="es-ES" sz="20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variables de condición (CV) </a:t>
            </a:r>
            <a:r>
              <a:rPr lang="es-ES" sz="2000" dirty="0">
                <a:ea typeface="Roboto"/>
                <a:cs typeface="Roboto"/>
                <a:sym typeface="Roboto"/>
              </a:rPr>
              <a:t>se usan para esperar hasta que alguna variable cumpla alguna condición (</a:t>
            </a:r>
            <a:r>
              <a:rPr lang="es-ES" sz="2000" b="1" dirty="0">
                <a:ea typeface="Roboto"/>
                <a:cs typeface="Roboto"/>
                <a:sym typeface="Roboto"/>
              </a:rPr>
              <a:t>evento</a:t>
            </a:r>
            <a:r>
              <a:rPr lang="es-ES" sz="2000" dirty="0">
                <a:ea typeface="Roboto"/>
                <a:cs typeface="Roboto"/>
                <a:sym typeface="Roboto"/>
              </a:rPr>
              <a:t>).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0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Variable de condición (CV):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Cola de hilos en espera.</a:t>
            </a:r>
            <a:endParaRPr sz="2000" dirty="0">
              <a:ea typeface="Roboto"/>
              <a:cs typeface="Roboto"/>
              <a:sym typeface="Roboto"/>
            </a:endParaRPr>
          </a:p>
        </p:txBody>
      </p:sp>
      <p:sp>
        <p:nvSpPr>
          <p:cNvPr id="20" name="Google Shape;261;p23">
            <a:extLst>
              <a:ext uri="{FF2B5EF4-FFF2-40B4-BE49-F238E27FC236}">
                <a16:creationId xmlns:a16="http://schemas.microsoft.com/office/drawing/2014/main" id="{0CA75ACE-44B9-4F10-8EBB-F1E02F84BA46}"/>
              </a:ext>
            </a:extLst>
          </p:cNvPr>
          <p:cNvSpPr txBox="1"/>
          <p:nvPr/>
        </p:nvSpPr>
        <p:spPr>
          <a:xfrm>
            <a:off x="3688275" y="4306200"/>
            <a:ext cx="2281800" cy="492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wait(</a:t>
            </a:r>
            <a:r>
              <a:rPr lang="es-ES" sz="20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CV</a:t>
            </a:r>
            <a:r>
              <a:rPr lang="es-ES" sz="2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,...)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" name="Google Shape;262;p23">
            <a:extLst>
              <a:ext uri="{FF2B5EF4-FFF2-40B4-BE49-F238E27FC236}">
                <a16:creationId xmlns:a16="http://schemas.microsoft.com/office/drawing/2014/main" id="{6F7BAC7C-A1B7-4FB9-9774-427E4FD5EF55}"/>
              </a:ext>
            </a:extLst>
          </p:cNvPr>
          <p:cNvSpPr txBox="1"/>
          <p:nvPr/>
        </p:nvSpPr>
        <p:spPr>
          <a:xfrm>
            <a:off x="6991050" y="2230762"/>
            <a:ext cx="38979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Los hilos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despiertan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a hilos que están en la cola con </a:t>
            </a:r>
            <a:r>
              <a:rPr lang="es-ES" sz="20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signal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(CV,...)</a:t>
            </a:r>
            <a:endParaRPr sz="2000" b="1" dirty="0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</p:txBody>
      </p:sp>
      <p:sp>
        <p:nvSpPr>
          <p:cNvPr id="22" name="Google Shape;263;p23">
            <a:extLst>
              <a:ext uri="{FF2B5EF4-FFF2-40B4-BE49-F238E27FC236}">
                <a16:creationId xmlns:a16="http://schemas.microsoft.com/office/drawing/2014/main" id="{9290C075-29B0-4996-B4D2-8B051FC0026A}"/>
              </a:ext>
            </a:extLst>
          </p:cNvPr>
          <p:cNvSpPr txBox="1"/>
          <p:nvPr/>
        </p:nvSpPr>
        <p:spPr>
          <a:xfrm>
            <a:off x="8607150" y="5313612"/>
            <a:ext cx="2281800" cy="492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signal(</a:t>
            </a:r>
            <a:r>
              <a:rPr lang="es-ES" sz="20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CV</a:t>
            </a:r>
            <a:r>
              <a:rPr lang="es-ES" sz="2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,...)</a:t>
            </a:r>
            <a:endParaRPr sz="20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" name="Google Shape;264;p23">
            <a:extLst>
              <a:ext uri="{FF2B5EF4-FFF2-40B4-BE49-F238E27FC236}">
                <a16:creationId xmlns:a16="http://schemas.microsoft.com/office/drawing/2014/main" id="{7E912B1A-2050-4AC8-9567-DF2D8C4A7A7B}"/>
              </a:ext>
            </a:extLst>
          </p:cNvPr>
          <p:cNvSpPr txBox="1"/>
          <p:nvPr/>
        </p:nvSpPr>
        <p:spPr>
          <a:xfrm>
            <a:off x="1505675" y="2230775"/>
            <a:ext cx="42153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Los hilos se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agregan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(ellos mismos) a la cola con </a:t>
            </a:r>
            <a:r>
              <a:rPr lang="es-ES" sz="20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wait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(CV,...)</a:t>
            </a:r>
            <a:endParaRPr sz="2000" b="1" dirty="0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</p:txBody>
      </p:sp>
      <p:sp>
        <p:nvSpPr>
          <p:cNvPr id="24" name="Google Shape;265;p23">
            <a:extLst>
              <a:ext uri="{FF2B5EF4-FFF2-40B4-BE49-F238E27FC236}">
                <a16:creationId xmlns:a16="http://schemas.microsoft.com/office/drawing/2014/main" id="{C212F368-9373-45DB-868F-700931F20DE8}"/>
              </a:ext>
            </a:extLst>
          </p:cNvPr>
          <p:cNvSpPr txBox="1"/>
          <p:nvPr/>
        </p:nvSpPr>
        <p:spPr>
          <a:xfrm>
            <a:off x="4241150" y="3247437"/>
            <a:ext cx="1568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thread B </a:t>
            </a:r>
            <a:endParaRPr sz="1600"/>
          </a:p>
        </p:txBody>
      </p:sp>
      <p:sp>
        <p:nvSpPr>
          <p:cNvPr id="25" name="Google Shape;266;p23">
            <a:extLst>
              <a:ext uri="{FF2B5EF4-FFF2-40B4-BE49-F238E27FC236}">
                <a16:creationId xmlns:a16="http://schemas.microsoft.com/office/drawing/2014/main" id="{FC789744-2E78-44B4-903E-388F9D919CE5}"/>
              </a:ext>
            </a:extLst>
          </p:cNvPr>
          <p:cNvSpPr txBox="1"/>
          <p:nvPr/>
        </p:nvSpPr>
        <p:spPr>
          <a:xfrm>
            <a:off x="9164550" y="3247400"/>
            <a:ext cx="1568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thread A </a:t>
            </a:r>
            <a:endParaRPr sz="1600">
              <a:solidFill>
                <a:schemeClr val="accent5"/>
              </a:solidFill>
            </a:endParaRPr>
          </a:p>
        </p:txBody>
      </p:sp>
      <p:cxnSp>
        <p:nvCxnSpPr>
          <p:cNvPr id="26" name="Google Shape;267;p23">
            <a:extLst>
              <a:ext uri="{FF2B5EF4-FFF2-40B4-BE49-F238E27FC236}">
                <a16:creationId xmlns:a16="http://schemas.microsoft.com/office/drawing/2014/main" id="{B600EDE9-CFE3-4E77-B10D-17FA1897F160}"/>
              </a:ext>
            </a:extLst>
          </p:cNvPr>
          <p:cNvCxnSpPr/>
          <p:nvPr/>
        </p:nvCxnSpPr>
        <p:spPr>
          <a:xfrm>
            <a:off x="6292475" y="5632312"/>
            <a:ext cx="3600" cy="1135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" name="Google Shape;268;p23">
            <a:extLst>
              <a:ext uri="{FF2B5EF4-FFF2-40B4-BE49-F238E27FC236}">
                <a16:creationId xmlns:a16="http://schemas.microsoft.com/office/drawing/2014/main" id="{53F9560C-A142-4D6C-B782-1759453BFE83}"/>
              </a:ext>
            </a:extLst>
          </p:cNvPr>
          <p:cNvCxnSpPr/>
          <p:nvPr/>
        </p:nvCxnSpPr>
        <p:spPr>
          <a:xfrm>
            <a:off x="6287775" y="3761950"/>
            <a:ext cx="3300" cy="851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69;p23">
            <a:extLst>
              <a:ext uri="{FF2B5EF4-FFF2-40B4-BE49-F238E27FC236}">
                <a16:creationId xmlns:a16="http://schemas.microsoft.com/office/drawing/2014/main" id="{F374C37B-C4A6-48D6-826D-2649D5D645F9}"/>
              </a:ext>
            </a:extLst>
          </p:cNvPr>
          <p:cNvCxnSpPr/>
          <p:nvPr/>
        </p:nvCxnSpPr>
        <p:spPr>
          <a:xfrm flipH="1">
            <a:off x="8241900" y="4638250"/>
            <a:ext cx="8700" cy="9750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" name="Google Shape;270;p23">
            <a:extLst>
              <a:ext uri="{FF2B5EF4-FFF2-40B4-BE49-F238E27FC236}">
                <a16:creationId xmlns:a16="http://schemas.microsoft.com/office/drawing/2014/main" id="{A1152250-0759-4FA7-8BC3-E24FB43DF5AC}"/>
              </a:ext>
            </a:extLst>
          </p:cNvPr>
          <p:cNvCxnSpPr/>
          <p:nvPr/>
        </p:nvCxnSpPr>
        <p:spPr>
          <a:xfrm rot="10800000">
            <a:off x="6132050" y="4612187"/>
            <a:ext cx="2281500" cy="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0" name="Google Shape;271;p23">
            <a:extLst>
              <a:ext uri="{FF2B5EF4-FFF2-40B4-BE49-F238E27FC236}">
                <a16:creationId xmlns:a16="http://schemas.microsoft.com/office/drawing/2014/main" id="{DBBBAFBB-4C9A-4C8C-BB18-700373063305}"/>
              </a:ext>
            </a:extLst>
          </p:cNvPr>
          <p:cNvCxnSpPr/>
          <p:nvPr/>
        </p:nvCxnSpPr>
        <p:spPr>
          <a:xfrm>
            <a:off x="6292625" y="4661275"/>
            <a:ext cx="3300" cy="851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1" name="Google Shape;272;p23">
            <a:extLst>
              <a:ext uri="{FF2B5EF4-FFF2-40B4-BE49-F238E27FC236}">
                <a16:creationId xmlns:a16="http://schemas.microsoft.com/office/drawing/2014/main" id="{4FEB4A44-34E5-48E8-83A3-FA92B8121972}"/>
              </a:ext>
            </a:extLst>
          </p:cNvPr>
          <p:cNvCxnSpPr/>
          <p:nvPr/>
        </p:nvCxnSpPr>
        <p:spPr>
          <a:xfrm rot="10800000">
            <a:off x="6132050" y="5594812"/>
            <a:ext cx="2281500" cy="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" name="Google Shape;273;p23">
            <a:extLst>
              <a:ext uri="{FF2B5EF4-FFF2-40B4-BE49-F238E27FC236}">
                <a16:creationId xmlns:a16="http://schemas.microsoft.com/office/drawing/2014/main" id="{418F071F-5731-4B80-9BF8-3BCC1BC857CC}"/>
              </a:ext>
            </a:extLst>
          </p:cNvPr>
          <p:cNvSpPr/>
          <p:nvPr/>
        </p:nvSpPr>
        <p:spPr>
          <a:xfrm>
            <a:off x="11024200" y="5183337"/>
            <a:ext cx="619110" cy="587790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274;p23">
            <a:extLst>
              <a:ext uri="{FF2B5EF4-FFF2-40B4-BE49-F238E27FC236}">
                <a16:creationId xmlns:a16="http://schemas.microsoft.com/office/drawing/2014/main" id="{2D70DF83-ACE4-4488-8478-418FE492DF9E}"/>
              </a:ext>
            </a:extLst>
          </p:cNvPr>
          <p:cNvSpPr/>
          <p:nvPr/>
        </p:nvSpPr>
        <p:spPr>
          <a:xfrm>
            <a:off x="7190850" y="3937612"/>
            <a:ext cx="126353" cy="445659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4" name="Google Shape;275;p23">
            <a:extLst>
              <a:ext uri="{FF2B5EF4-FFF2-40B4-BE49-F238E27FC236}">
                <a16:creationId xmlns:a16="http://schemas.microsoft.com/office/drawing/2014/main" id="{6E47B6FD-BE44-40F1-843E-861A0BB99654}"/>
              </a:ext>
            </a:extLst>
          </p:cNvPr>
          <p:cNvSpPr/>
          <p:nvPr/>
        </p:nvSpPr>
        <p:spPr>
          <a:xfrm>
            <a:off x="7205738" y="4882325"/>
            <a:ext cx="126353" cy="445659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5" name="Google Shape;276;p23">
            <a:extLst>
              <a:ext uri="{FF2B5EF4-FFF2-40B4-BE49-F238E27FC236}">
                <a16:creationId xmlns:a16="http://schemas.microsoft.com/office/drawing/2014/main" id="{EF004946-3B0C-412D-9CA5-2F8FBB870502}"/>
              </a:ext>
            </a:extLst>
          </p:cNvPr>
          <p:cNvSpPr/>
          <p:nvPr/>
        </p:nvSpPr>
        <p:spPr>
          <a:xfrm>
            <a:off x="7205750" y="5977387"/>
            <a:ext cx="126353" cy="445659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36" name="Google Shape;277;p23">
            <a:extLst>
              <a:ext uri="{FF2B5EF4-FFF2-40B4-BE49-F238E27FC236}">
                <a16:creationId xmlns:a16="http://schemas.microsoft.com/office/drawing/2014/main" id="{E5841C83-B168-476D-9709-90848DE892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5374860"/>
              </p:ext>
            </p:extLst>
          </p:nvPr>
        </p:nvGraphicFramePr>
        <p:xfrm>
          <a:off x="1596200" y="3290100"/>
          <a:ext cx="1531400" cy="7314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7" name="Google Shape;278;p23">
            <a:extLst>
              <a:ext uri="{FF2B5EF4-FFF2-40B4-BE49-F238E27FC236}">
                <a16:creationId xmlns:a16="http://schemas.microsoft.com/office/drawing/2014/main" id="{0D271347-1E74-4BA9-A759-575EAB6B9E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650" y="3372068"/>
            <a:ext cx="472325" cy="445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" name="Google Shape;279;p23">
            <a:extLst>
              <a:ext uri="{FF2B5EF4-FFF2-40B4-BE49-F238E27FC236}">
                <a16:creationId xmlns:a16="http://schemas.microsoft.com/office/drawing/2014/main" id="{7BA7184C-D821-475B-A457-A7D670F1F5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165916"/>
              </p:ext>
            </p:extLst>
          </p:nvPr>
        </p:nvGraphicFramePr>
        <p:xfrm>
          <a:off x="1596200" y="4204500"/>
          <a:ext cx="1531400" cy="7314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9" name="Google Shape;280;p23">
            <a:extLst>
              <a:ext uri="{FF2B5EF4-FFF2-40B4-BE49-F238E27FC236}">
                <a16:creationId xmlns:a16="http://schemas.microsoft.com/office/drawing/2014/main" id="{F7F1DA0A-95B9-405E-A9C1-271B1485325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650" y="4286468"/>
            <a:ext cx="472325" cy="445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281;p23">
            <a:extLst>
              <a:ext uri="{FF2B5EF4-FFF2-40B4-BE49-F238E27FC236}">
                <a16:creationId xmlns:a16="http://schemas.microsoft.com/office/drawing/2014/main" id="{27258EAA-C4B9-4443-B65C-FFB4DCAA0878}"/>
              </a:ext>
            </a:extLst>
          </p:cNvPr>
          <p:cNvSpPr/>
          <p:nvPr/>
        </p:nvSpPr>
        <p:spPr>
          <a:xfrm>
            <a:off x="1711450" y="4305987"/>
            <a:ext cx="126353" cy="445659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41" name="Google Shape;282;p23">
            <a:extLst>
              <a:ext uri="{FF2B5EF4-FFF2-40B4-BE49-F238E27FC236}">
                <a16:creationId xmlns:a16="http://schemas.microsoft.com/office/drawing/2014/main" id="{A706708D-7623-476F-8E54-872496BF8B74}"/>
              </a:ext>
            </a:extLst>
          </p:cNvPr>
          <p:cNvCxnSpPr/>
          <p:nvPr/>
        </p:nvCxnSpPr>
        <p:spPr>
          <a:xfrm rot="10800000">
            <a:off x="3182925" y="4551750"/>
            <a:ext cx="450000" cy="1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2" name="Google Shape;283;p23">
            <a:extLst>
              <a:ext uri="{FF2B5EF4-FFF2-40B4-BE49-F238E27FC236}">
                <a16:creationId xmlns:a16="http://schemas.microsoft.com/office/drawing/2014/main" id="{20E0D8EB-1A52-4A94-B632-3FBBD3A7B7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1971689"/>
              </p:ext>
            </p:extLst>
          </p:nvPr>
        </p:nvGraphicFramePr>
        <p:xfrm>
          <a:off x="1596200" y="5594800"/>
          <a:ext cx="1531400" cy="7314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3" name="Google Shape;284;p23">
            <a:extLst>
              <a:ext uri="{FF2B5EF4-FFF2-40B4-BE49-F238E27FC236}">
                <a16:creationId xmlns:a16="http://schemas.microsoft.com/office/drawing/2014/main" id="{9FFCA431-7DF1-439B-B12F-B30613A339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650" y="5676768"/>
            <a:ext cx="472325" cy="445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" name="Google Shape;285;p23">
            <a:extLst>
              <a:ext uri="{FF2B5EF4-FFF2-40B4-BE49-F238E27FC236}">
                <a16:creationId xmlns:a16="http://schemas.microsoft.com/office/drawing/2014/main" id="{85B608E0-6768-4FCD-89DF-A5BAEFD78EE1}"/>
              </a:ext>
            </a:extLst>
          </p:cNvPr>
          <p:cNvCxnSpPr>
            <a:stCxn id="32" idx="2"/>
          </p:cNvCxnSpPr>
          <p:nvPr/>
        </p:nvCxnSpPr>
        <p:spPr>
          <a:xfrm rot="5400000">
            <a:off x="7148101" y="1800927"/>
            <a:ext cx="149100" cy="8089500"/>
          </a:xfrm>
          <a:prstGeom prst="bentConnector2">
            <a:avLst/>
          </a:prstGeom>
          <a:noFill/>
          <a:ln w="19050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" name="Google Shape;286;p23">
            <a:extLst>
              <a:ext uri="{FF2B5EF4-FFF2-40B4-BE49-F238E27FC236}">
                <a16:creationId xmlns:a16="http://schemas.microsoft.com/office/drawing/2014/main" id="{265B1BCB-812C-414D-A963-8A6F94B996CF}"/>
              </a:ext>
            </a:extLst>
          </p:cNvPr>
          <p:cNvSpPr/>
          <p:nvPr/>
        </p:nvSpPr>
        <p:spPr>
          <a:xfrm>
            <a:off x="1711450" y="5676775"/>
            <a:ext cx="126353" cy="445659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EA9999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46" name="Google Shape;287;p23">
            <a:extLst>
              <a:ext uri="{FF2B5EF4-FFF2-40B4-BE49-F238E27FC236}">
                <a16:creationId xmlns:a16="http://schemas.microsoft.com/office/drawing/2014/main" id="{A1AE7BC1-CE4D-44F5-BE37-F2B3B46BED2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9537" y="5754504"/>
            <a:ext cx="290176" cy="290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3"/>
          <p:cNvSpPr txBox="1">
            <a:spLocks noGrp="1"/>
          </p:cNvSpPr>
          <p:nvPr>
            <p:ph type="title"/>
          </p:nvPr>
        </p:nvSpPr>
        <p:spPr>
          <a:xfrm>
            <a:off x="391886" y="231388"/>
            <a:ext cx="871656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Variables de condición</a:t>
            </a:r>
            <a:endParaRPr dirty="0">
              <a:latin typeface="+mj-lt"/>
            </a:endParaRPr>
          </a:p>
        </p:txBody>
      </p:sp>
      <p:sp>
        <p:nvSpPr>
          <p:cNvPr id="6" name="Google Shape;293;p24">
            <a:extLst>
              <a:ext uri="{FF2B5EF4-FFF2-40B4-BE49-F238E27FC236}">
                <a16:creationId xmlns:a16="http://schemas.microsoft.com/office/drawing/2014/main" id="{CED86BF2-41F1-4C79-BC9D-CDC498B52CE8}"/>
              </a:ext>
            </a:extLst>
          </p:cNvPr>
          <p:cNvSpPr txBox="1"/>
          <p:nvPr/>
        </p:nvSpPr>
        <p:spPr>
          <a:xfrm>
            <a:off x="589277" y="1180888"/>
            <a:ext cx="10512000" cy="40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Operaciones de las variables de condición (CV)</a:t>
            </a:r>
            <a:endParaRPr sz="28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Las variables de condición son un tipo de datos abstracto.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Las únicas dos operaciones permitidas para una variable de condición son: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x.wait</a:t>
            </a:r>
            <a:r>
              <a:rPr lang="es-ES" sz="22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()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El proceso que invoca la operación queda bloqueado hasta que otro proceso invoque </a:t>
            </a:r>
            <a:r>
              <a:rPr lang="es-ES" sz="22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x.signal</a:t>
            </a:r>
            <a:r>
              <a:rPr lang="es-ES" sz="22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()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x.signal</a:t>
            </a:r>
            <a:r>
              <a:rPr lang="es-ES" sz="22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()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Reanuda uno de los procesos bloqueados (cualquiera de los que invoco previamente el </a:t>
            </a:r>
            <a:r>
              <a:rPr lang="es-ES" sz="22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x.wait</a:t>
            </a:r>
            <a:r>
              <a:rPr lang="es-ES" sz="22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()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Si no hay ningún proceso bloqueado, la operación </a:t>
            </a:r>
            <a:r>
              <a:rPr lang="es-ES" sz="22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signal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no tiene efecto.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7" name="Google Shape;294;p24">
            <a:extLst>
              <a:ext uri="{FF2B5EF4-FFF2-40B4-BE49-F238E27FC236}">
                <a16:creationId xmlns:a16="http://schemas.microsoft.com/office/drawing/2014/main" id="{3B40EF7F-281F-4761-84A9-DB135666F167}"/>
              </a:ext>
            </a:extLst>
          </p:cNvPr>
          <p:cNvSpPr txBox="1"/>
          <p:nvPr/>
        </p:nvSpPr>
        <p:spPr>
          <a:xfrm>
            <a:off x="4939273" y="2237134"/>
            <a:ext cx="2033700" cy="523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CV</a:t>
            </a:r>
            <a:r>
              <a:rPr lang="es-ES" sz="22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x, y;</a:t>
            </a:r>
            <a:endParaRPr sz="22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00987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3"/>
          <p:cNvSpPr txBox="1">
            <a:spLocks noGrp="1"/>
          </p:cNvSpPr>
          <p:nvPr>
            <p:ph type="title"/>
          </p:nvPr>
        </p:nvSpPr>
        <p:spPr>
          <a:xfrm>
            <a:off x="391886" y="231388"/>
            <a:ext cx="871656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Variables de condición</a:t>
            </a:r>
            <a:endParaRPr dirty="0">
              <a:latin typeface="+mj-lt"/>
            </a:endParaRPr>
          </a:p>
        </p:txBody>
      </p:sp>
      <p:sp>
        <p:nvSpPr>
          <p:cNvPr id="482" name="Google Shape;482;p33"/>
          <p:cNvSpPr txBox="1"/>
          <p:nvPr/>
        </p:nvSpPr>
        <p:spPr>
          <a:xfrm>
            <a:off x="840000" y="1040650"/>
            <a:ext cx="10512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Operaciones de las variables de condición</a:t>
            </a:r>
            <a:endParaRPr sz="2400" b="1"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33"/>
          <p:cNvSpPr txBox="1"/>
          <p:nvPr/>
        </p:nvSpPr>
        <p:spPr>
          <a:xfrm>
            <a:off x="391888" y="1777809"/>
            <a:ext cx="7402284" cy="206668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b="1" dirty="0" err="1">
                <a:solidFill>
                  <a:srgbClr val="ED7D3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wait</a:t>
            </a:r>
            <a:r>
              <a:rPr lang="es-ES" sz="2200" b="1" dirty="0">
                <a:solidFill>
                  <a:srgbClr val="ED7D3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r>
              <a:rPr lang="es-ES" sz="2200" b="1" dirty="0" err="1">
                <a:solidFill>
                  <a:srgbClr val="ED7D3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cond_t</a:t>
            </a:r>
            <a:r>
              <a:rPr lang="es-ES" sz="2200" b="1" dirty="0">
                <a:solidFill>
                  <a:srgbClr val="ED7D3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*</a:t>
            </a:r>
            <a:r>
              <a:rPr lang="es-ES" sz="2200" b="1" dirty="0" err="1">
                <a:solidFill>
                  <a:srgbClr val="ED7D3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cv</a:t>
            </a:r>
            <a:r>
              <a:rPr lang="es-ES" sz="2200" b="1" dirty="0">
                <a:solidFill>
                  <a:srgbClr val="ED7D3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, </a:t>
            </a:r>
            <a:r>
              <a:rPr lang="es-ES" sz="2200" b="1" dirty="0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mutex_t</a:t>
            </a:r>
            <a:r>
              <a:rPr lang="es-ES" sz="2200" b="1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*</a:t>
            </a:r>
            <a:r>
              <a:rPr lang="es-ES" sz="2200" b="1" dirty="0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mutex</a:t>
            </a:r>
            <a:r>
              <a:rPr lang="es-ES" sz="2200" b="1" dirty="0">
                <a:solidFill>
                  <a:srgbClr val="ED7D3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  <a:endParaRPr sz="2200" b="1" dirty="0">
              <a:solidFill>
                <a:srgbClr val="ED7D3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Un hilo se pone en una cola (a dormir) a la espera de que un estado deseado suceda.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Recibe un 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mutex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como parámetro. 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Cuando se llama el 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wait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el 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lock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es liberado y se pone el hilo a dormir.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33"/>
          <p:cNvSpPr txBox="1"/>
          <p:nvPr/>
        </p:nvSpPr>
        <p:spPr>
          <a:xfrm>
            <a:off x="391887" y="4025921"/>
            <a:ext cx="7402284" cy="184509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b="1" dirty="0" err="1">
                <a:solidFill>
                  <a:srgbClr val="ED7D3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signal</a:t>
            </a:r>
            <a:r>
              <a:rPr lang="es-ES" sz="2200" b="1" dirty="0">
                <a:solidFill>
                  <a:srgbClr val="ED7D3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</a:t>
            </a:r>
            <a:r>
              <a:rPr lang="es-ES" sz="2200" b="1" dirty="0" err="1">
                <a:solidFill>
                  <a:srgbClr val="ED7D3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cond_t</a:t>
            </a:r>
            <a:r>
              <a:rPr lang="es-ES" sz="2200" b="1" dirty="0">
                <a:solidFill>
                  <a:srgbClr val="ED7D3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*</a:t>
            </a:r>
            <a:r>
              <a:rPr lang="es-ES" sz="2200" b="1" dirty="0" err="1">
                <a:solidFill>
                  <a:srgbClr val="ED7D3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cv</a:t>
            </a:r>
            <a:r>
              <a:rPr lang="es-ES" sz="2200" b="1" dirty="0">
                <a:solidFill>
                  <a:srgbClr val="ED7D3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  <a:endParaRPr sz="2200" b="1" dirty="0">
              <a:solidFill>
                <a:srgbClr val="ED7D3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Despierta un único hilo de los que se encuentran en la cola de espera (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if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&gt;= 1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el hilo está esperando).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Si no hay hilos esperando, solo retorna sin hacer nada. 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Cuando el hilo se despierte se debe adquirir de nuevo el 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lock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4"/>
          <p:cNvSpPr txBox="1">
            <a:spLocks noGrp="1"/>
          </p:cNvSpPr>
          <p:nvPr>
            <p:ph type="title"/>
          </p:nvPr>
        </p:nvSpPr>
        <p:spPr>
          <a:xfrm>
            <a:off x="370425" y="124375"/>
            <a:ext cx="82341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Variables de condición</a:t>
            </a:r>
            <a:endParaRPr dirty="0">
              <a:latin typeface="+mj-lt"/>
            </a:endParaRPr>
          </a:p>
        </p:txBody>
      </p:sp>
      <p:sp>
        <p:nvSpPr>
          <p:cNvPr id="490" name="Google Shape;490;p34"/>
          <p:cNvSpPr txBox="1"/>
          <p:nvPr/>
        </p:nvSpPr>
        <p:spPr>
          <a:xfrm>
            <a:off x="463550" y="899601"/>
            <a:ext cx="109470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Pthreads interface – Definición y funciones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p34"/>
          <p:cNvSpPr txBox="1"/>
          <p:nvPr/>
        </p:nvSpPr>
        <p:spPr>
          <a:xfrm>
            <a:off x="370425" y="1401814"/>
            <a:ext cx="10404900" cy="94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88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200"/>
            </a:pPr>
            <a:r>
              <a:rPr lang="es-MX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Los </a:t>
            </a:r>
            <a:r>
              <a:rPr lang="es-MX" sz="24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Mutexes</a:t>
            </a:r>
            <a:r>
              <a:rPr lang="es-MX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las </a:t>
            </a:r>
            <a:r>
              <a:rPr lang="es-MX" sz="24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CVs</a:t>
            </a:r>
            <a:r>
              <a:rPr lang="es-MX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son soportados en </a:t>
            </a:r>
            <a:r>
              <a:rPr lang="es-MX" sz="24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Pthreads</a:t>
            </a:r>
            <a:endParaRPr lang="es-MX" sz="2400" b="1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AutoNum type="arabicPeriod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Declaración de una variable de condición (CV) y el </a:t>
            </a:r>
            <a:r>
              <a:rPr lang="es-ES" sz="22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mutex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34"/>
          <p:cNvSpPr txBox="1"/>
          <p:nvPr/>
        </p:nvSpPr>
        <p:spPr>
          <a:xfrm>
            <a:off x="1042550" y="2608786"/>
            <a:ext cx="9789000" cy="78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pthread_mutex_t m = PTHREAD_MUTEX_INITIALIZER;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pthread_cond_t c = PTHREAD_COND_INITIALIZER;</a:t>
            </a:r>
            <a:r>
              <a:rPr lang="es-ES" sz="160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5"/>
          <p:cNvSpPr txBox="1">
            <a:spLocks noGrp="1"/>
          </p:cNvSpPr>
          <p:nvPr>
            <p:ph type="title"/>
          </p:nvPr>
        </p:nvSpPr>
        <p:spPr>
          <a:xfrm>
            <a:off x="439624" y="231400"/>
            <a:ext cx="1094699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Variables de condición</a:t>
            </a:r>
            <a:endParaRPr dirty="0">
              <a:latin typeface="+mj-lt"/>
            </a:endParaRPr>
          </a:p>
        </p:txBody>
      </p:sp>
      <p:sp>
        <p:nvSpPr>
          <p:cNvPr id="499" name="Google Shape;499;p35"/>
          <p:cNvSpPr txBox="1"/>
          <p:nvPr/>
        </p:nvSpPr>
        <p:spPr>
          <a:xfrm>
            <a:off x="299554" y="1511975"/>
            <a:ext cx="10404900" cy="553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19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AutoNum type="arabicPeriod" startAt="2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Operaciones de una variable de condición (CV):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35"/>
          <p:cNvSpPr txBox="1"/>
          <p:nvPr/>
        </p:nvSpPr>
        <p:spPr>
          <a:xfrm>
            <a:off x="643421" y="1893839"/>
            <a:ext cx="10269300" cy="525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wait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()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Esta llamada es ejecutada cuando un hilo desea ponerse a sí mismo a dormir.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35"/>
          <p:cNvSpPr txBox="1"/>
          <p:nvPr/>
        </p:nvSpPr>
        <p:spPr>
          <a:xfrm>
            <a:off x="666371" y="3498713"/>
            <a:ext cx="9174315" cy="1079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Signal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()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Esta llamada es realizada cuando un hilo ha cambiado algo en el programa y desea despertar un hilo en espera (que se encuentra durmiendo) cuando se da esta condición.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35"/>
          <p:cNvSpPr txBox="1"/>
          <p:nvPr/>
        </p:nvSpPr>
        <p:spPr>
          <a:xfrm>
            <a:off x="1145343" y="2756400"/>
            <a:ext cx="7606771" cy="50318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pthread_cond_wait(pthread_cond_t *c, pthread_mutex_t *m);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3" name="Google Shape;503;p35"/>
          <p:cNvSpPr txBox="1"/>
          <p:nvPr/>
        </p:nvSpPr>
        <p:spPr>
          <a:xfrm>
            <a:off x="1145343" y="4842875"/>
            <a:ext cx="7606771" cy="50318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pthread_cond_signal(pthread_cond_t *c);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490;p34">
            <a:extLst>
              <a:ext uri="{FF2B5EF4-FFF2-40B4-BE49-F238E27FC236}">
                <a16:creationId xmlns:a16="http://schemas.microsoft.com/office/drawing/2014/main" id="{E1DFA6BB-8BE7-471C-A3C2-BA749A1EFC66}"/>
              </a:ext>
            </a:extLst>
          </p:cNvPr>
          <p:cNvSpPr txBox="1"/>
          <p:nvPr/>
        </p:nvSpPr>
        <p:spPr>
          <a:xfrm>
            <a:off x="439625" y="1115930"/>
            <a:ext cx="109470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Pthreads interface – Definición y funciones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7"/>
          <p:cNvSpPr txBox="1">
            <a:spLocks noGrp="1"/>
          </p:cNvSpPr>
          <p:nvPr>
            <p:ph type="title"/>
          </p:nvPr>
        </p:nvSpPr>
        <p:spPr>
          <a:xfrm>
            <a:off x="508000" y="96038"/>
            <a:ext cx="87126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Implementación del join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515" name="Google Shape;515;p37"/>
          <p:cNvSpPr txBox="1"/>
          <p:nvPr/>
        </p:nvSpPr>
        <p:spPr>
          <a:xfrm>
            <a:off x="508000" y="929426"/>
            <a:ext cx="106104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Los Mutexes and </a:t>
            </a:r>
            <a:r>
              <a:rPr lang="es-ES" sz="2000" b="1" dirty="0">
                <a:solidFill>
                  <a:schemeClr val="accent2"/>
                </a:solidFill>
                <a:ea typeface="Consolas"/>
                <a:cs typeface="Consolas"/>
                <a:sym typeface="Consolas"/>
              </a:rPr>
              <a:t>CVs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son soportados en Pthreads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516" name="Google Shape;516;p37"/>
          <p:cNvGrpSpPr/>
          <p:nvPr/>
        </p:nvGrpSpPr>
        <p:grpSpPr>
          <a:xfrm>
            <a:off x="739257" y="1644407"/>
            <a:ext cx="5211600" cy="4396558"/>
            <a:chOff x="887925" y="2061600"/>
            <a:chExt cx="5211600" cy="4396558"/>
          </a:xfrm>
        </p:grpSpPr>
        <p:sp>
          <p:nvSpPr>
            <p:cNvPr id="517" name="Google Shape;517;p37"/>
            <p:cNvSpPr txBox="1"/>
            <p:nvPr/>
          </p:nvSpPr>
          <p:spPr>
            <a:xfrm>
              <a:off x="1299825" y="2061600"/>
              <a:ext cx="4799700" cy="43965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done = 0;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m = PTHREAD_MUTEX_INITIALIZER;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pthread_cond_t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c = PTHREAD_COND_INITIALIZER;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thr_exit</a:t>
              </a:r>
              <a:r>
                <a:rPr lang="es-ES" sz="1400" dirty="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400" dirty="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400" dirty="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400" dirty="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  done = 1;</a:t>
              </a:r>
              <a:endParaRPr sz="1400" dirty="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Pthread_cond_signal</a:t>
              </a:r>
              <a:r>
                <a:rPr lang="es-ES" sz="1400" dirty="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(&amp;c);</a:t>
              </a:r>
              <a:endParaRPr sz="1400" dirty="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400" dirty="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400" dirty="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child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arg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child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\n");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thr_exit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NULL;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18" name="Google Shape;518;p37"/>
            <p:cNvSpPr txBox="1"/>
            <p:nvPr/>
          </p:nvSpPr>
          <p:spPr>
            <a:xfrm>
              <a:off x="887925" y="2061600"/>
              <a:ext cx="411900" cy="43965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17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19" name="Google Shape;519;p37"/>
          <p:cNvGrpSpPr/>
          <p:nvPr/>
        </p:nvGrpSpPr>
        <p:grpSpPr>
          <a:xfrm>
            <a:off x="6231843" y="1633800"/>
            <a:ext cx="5220900" cy="3901038"/>
            <a:chOff x="6516250" y="2061600"/>
            <a:chExt cx="5220900" cy="3901038"/>
          </a:xfrm>
        </p:grpSpPr>
        <p:sp>
          <p:nvSpPr>
            <p:cNvPr id="520" name="Google Shape;520;p37"/>
            <p:cNvSpPr txBox="1"/>
            <p:nvPr/>
          </p:nvSpPr>
          <p:spPr>
            <a:xfrm>
              <a:off x="6928150" y="2061600"/>
              <a:ext cx="4809000" cy="390103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r>
                <a:rPr lang="es-ES" sz="14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4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while (done == 0) </a:t>
              </a:r>
              <a:endParaRPr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	</a:t>
              </a:r>
              <a:r>
                <a:rPr lang="es-ES" sz="14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Pthread_cond_wait</a:t>
              </a:r>
              <a:r>
                <a:rPr lang="es-ES" sz="14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(&amp;c, &amp;m);</a:t>
              </a:r>
              <a:endParaRPr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4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argc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char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argv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[])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parent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begin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\n");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p;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(&amp;p, NULL,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child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NULL);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parent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end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\n");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0;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21" name="Google Shape;521;p37"/>
            <p:cNvSpPr txBox="1"/>
            <p:nvPr/>
          </p:nvSpPr>
          <p:spPr>
            <a:xfrm>
              <a:off x="6516250" y="2061600"/>
              <a:ext cx="411900" cy="3901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18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19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20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21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22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23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24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25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26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27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28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29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30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31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32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522" name="Google Shape;522;p37"/>
          <p:cNvSpPr txBox="1"/>
          <p:nvPr/>
        </p:nvSpPr>
        <p:spPr>
          <a:xfrm>
            <a:off x="8093871" y="5534838"/>
            <a:ext cx="157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Código </a:t>
            </a:r>
            <a:r>
              <a:rPr lang="es-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s-ES" sz="1200" u="sng" dirty="0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link</a:t>
            </a:r>
            <a:r>
              <a:rPr lang="es-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8"/>
          <p:cNvSpPr txBox="1">
            <a:spLocks noGrp="1"/>
          </p:cNvSpPr>
          <p:nvPr>
            <p:ph type="title"/>
          </p:nvPr>
        </p:nvSpPr>
        <p:spPr>
          <a:xfrm>
            <a:off x="278907" y="67487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Implementación del join</a:t>
            </a:r>
            <a:endParaRPr sz="3200" b="1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528" name="Google Shape;528;p38"/>
          <p:cNvSpPr txBox="1"/>
          <p:nvPr/>
        </p:nvSpPr>
        <p:spPr>
          <a:xfrm>
            <a:off x="232229" y="816650"/>
            <a:ext cx="11684071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Análisis del join - Caso 1</a:t>
            </a:r>
            <a:endParaRPr sz="24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padre espera por el hijo; pero continúa corriendo así mismo de modo que llama inmediatamente a 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thr_join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529" name="Google Shape;529;p38"/>
          <p:cNvGrpSpPr/>
          <p:nvPr/>
        </p:nvGrpSpPr>
        <p:grpSpPr>
          <a:xfrm>
            <a:off x="6895375" y="4538191"/>
            <a:ext cx="3909000" cy="1223700"/>
            <a:chOff x="887925" y="2061600"/>
            <a:chExt cx="3909000" cy="1223700"/>
          </a:xfrm>
        </p:grpSpPr>
        <p:sp>
          <p:nvSpPr>
            <p:cNvPr id="530" name="Google Shape;530;p38"/>
            <p:cNvSpPr txBox="1"/>
            <p:nvPr/>
          </p:nvSpPr>
          <p:spPr>
            <a:xfrm>
              <a:off x="1299825" y="2061600"/>
              <a:ext cx="3497100" cy="1223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void thr_exit() {</a:t>
              </a:r>
              <a:endParaRPr sz="100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Pthread_mutex_lock(&amp;m);</a:t>
              </a:r>
              <a:endParaRPr sz="100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  done = 1;</a:t>
              </a:r>
              <a:endParaRPr sz="100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Pthread_cond_signal(&amp;c);</a:t>
              </a:r>
              <a:endParaRPr sz="100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Pthread_mutex_unlock(&amp;m);</a:t>
              </a:r>
              <a:endParaRPr sz="100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31" name="Google Shape;531;p38"/>
            <p:cNvSpPr txBox="1"/>
            <p:nvPr/>
          </p:nvSpPr>
          <p:spPr>
            <a:xfrm>
              <a:off x="887925" y="2061600"/>
              <a:ext cx="411900" cy="12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32" name="Google Shape;532;p38"/>
          <p:cNvGrpSpPr/>
          <p:nvPr/>
        </p:nvGrpSpPr>
        <p:grpSpPr>
          <a:xfrm>
            <a:off x="1759510" y="3617241"/>
            <a:ext cx="3619409" cy="1246465"/>
            <a:chOff x="6516250" y="2061600"/>
            <a:chExt cx="4141200" cy="1246465"/>
          </a:xfrm>
        </p:grpSpPr>
        <p:sp>
          <p:nvSpPr>
            <p:cNvPr id="533" name="Google Shape;533;p38"/>
            <p:cNvSpPr txBox="1"/>
            <p:nvPr/>
          </p:nvSpPr>
          <p:spPr>
            <a:xfrm>
              <a:off x="6928150" y="2061600"/>
              <a:ext cx="3729300" cy="1246465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0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while (done == 0) </a:t>
              </a:r>
              <a:endParaRPr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0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Pthread_cond_wait</a:t>
              </a: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(&amp;c, &amp;m);</a:t>
              </a:r>
              <a:endParaRPr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34" name="Google Shape;534;p38"/>
            <p:cNvSpPr txBox="1"/>
            <p:nvPr/>
          </p:nvSpPr>
          <p:spPr>
            <a:xfrm>
              <a:off x="6516250" y="2061600"/>
              <a:ext cx="411900" cy="12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18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19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20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21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22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23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35" name="Google Shape;535;p38"/>
          <p:cNvGrpSpPr/>
          <p:nvPr/>
        </p:nvGrpSpPr>
        <p:grpSpPr>
          <a:xfrm>
            <a:off x="1790272" y="2664166"/>
            <a:ext cx="3588764" cy="869700"/>
            <a:chOff x="6516250" y="2061600"/>
            <a:chExt cx="4141200" cy="869700"/>
          </a:xfrm>
        </p:grpSpPr>
        <p:sp>
          <p:nvSpPr>
            <p:cNvPr id="536" name="Google Shape;536;p38"/>
            <p:cNvSpPr txBox="1"/>
            <p:nvPr/>
          </p:nvSpPr>
          <p:spPr>
            <a:xfrm>
              <a:off x="6928150" y="2061600"/>
              <a:ext cx="3729300" cy="869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...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(&amp;p, NULL, 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child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NULL);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();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...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37" name="Google Shape;537;p38"/>
            <p:cNvSpPr txBox="1"/>
            <p:nvPr/>
          </p:nvSpPr>
          <p:spPr>
            <a:xfrm>
              <a:off x="6516250" y="2061600"/>
              <a:ext cx="411900" cy="8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27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28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29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30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38" name="Google Shape;538;p38"/>
          <p:cNvGrpSpPr/>
          <p:nvPr/>
        </p:nvGrpSpPr>
        <p:grpSpPr>
          <a:xfrm>
            <a:off x="1698181" y="5605021"/>
            <a:ext cx="3680366" cy="869713"/>
            <a:chOff x="6516250" y="2061600"/>
            <a:chExt cx="3589200" cy="869713"/>
          </a:xfrm>
        </p:grpSpPr>
        <p:sp>
          <p:nvSpPr>
            <p:cNvPr id="539" name="Google Shape;539;p38"/>
            <p:cNvSpPr txBox="1"/>
            <p:nvPr/>
          </p:nvSpPr>
          <p:spPr>
            <a:xfrm>
              <a:off x="6928150" y="2061613"/>
              <a:ext cx="3177300" cy="869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...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printf("parent: end\n");</a:t>
              </a:r>
              <a:endParaRPr sz="10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return 0;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40" name="Google Shape;540;p38"/>
            <p:cNvSpPr txBox="1"/>
            <p:nvPr/>
          </p:nvSpPr>
          <p:spPr>
            <a:xfrm>
              <a:off x="6516250" y="2061600"/>
              <a:ext cx="411900" cy="8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29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30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31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32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41" name="Google Shape;541;p38"/>
          <p:cNvGrpSpPr/>
          <p:nvPr/>
        </p:nvGrpSpPr>
        <p:grpSpPr>
          <a:xfrm>
            <a:off x="6895365" y="2901316"/>
            <a:ext cx="3908922" cy="1462200"/>
            <a:chOff x="759468" y="2061600"/>
            <a:chExt cx="5340057" cy="1462200"/>
          </a:xfrm>
        </p:grpSpPr>
        <p:sp>
          <p:nvSpPr>
            <p:cNvPr id="542" name="Google Shape;542;p38"/>
            <p:cNvSpPr txBox="1"/>
            <p:nvPr/>
          </p:nvSpPr>
          <p:spPr>
            <a:xfrm>
              <a:off x="1299825" y="2061600"/>
              <a:ext cx="4799700" cy="1462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*child(void *arg) {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printf("child\n");</a:t>
              </a:r>
              <a:endParaRPr sz="10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thr_exit();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return NULL;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43" name="Google Shape;543;p38"/>
            <p:cNvSpPr txBox="1"/>
            <p:nvPr/>
          </p:nvSpPr>
          <p:spPr>
            <a:xfrm>
              <a:off x="759468" y="2061600"/>
              <a:ext cx="540300" cy="140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544" name="Google Shape;544;p38"/>
          <p:cNvSpPr txBox="1"/>
          <p:nvPr/>
        </p:nvSpPr>
        <p:spPr>
          <a:xfrm>
            <a:off x="2180350" y="1876341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Padre (Parent)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545" name="Google Shape;545;p38"/>
          <p:cNvSpPr txBox="1"/>
          <p:nvPr/>
        </p:nvSpPr>
        <p:spPr>
          <a:xfrm>
            <a:off x="7313325" y="1876329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Hijo (Child)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46" name="Google Shape;546;p38"/>
          <p:cNvCxnSpPr/>
          <p:nvPr/>
        </p:nvCxnSpPr>
        <p:spPr>
          <a:xfrm>
            <a:off x="1637550" y="2398191"/>
            <a:ext cx="9328500" cy="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7" name="Google Shape;547;p38"/>
          <p:cNvCxnSpPr/>
          <p:nvPr/>
        </p:nvCxnSpPr>
        <p:spPr>
          <a:xfrm>
            <a:off x="6155500" y="1876341"/>
            <a:ext cx="0" cy="4726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8" name="Google Shape;548;p38"/>
          <p:cNvCxnSpPr/>
          <p:nvPr/>
        </p:nvCxnSpPr>
        <p:spPr>
          <a:xfrm rot="10800000" flipH="1">
            <a:off x="5061600" y="3243966"/>
            <a:ext cx="1879200" cy="11079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9" name="Google Shape;549;p38"/>
          <p:cNvCxnSpPr/>
          <p:nvPr/>
        </p:nvCxnSpPr>
        <p:spPr>
          <a:xfrm flipH="1">
            <a:off x="4654800" y="5586066"/>
            <a:ext cx="2254200" cy="3927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0" name="Google Shape;550;p38"/>
          <p:cNvCxnSpPr/>
          <p:nvPr/>
        </p:nvCxnSpPr>
        <p:spPr>
          <a:xfrm>
            <a:off x="1639600" y="2711016"/>
            <a:ext cx="0" cy="687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1" name="Google Shape;551;p38"/>
          <p:cNvCxnSpPr/>
          <p:nvPr/>
        </p:nvCxnSpPr>
        <p:spPr>
          <a:xfrm>
            <a:off x="1639600" y="3706941"/>
            <a:ext cx="0" cy="687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2" name="Google Shape;552;p38"/>
          <p:cNvCxnSpPr/>
          <p:nvPr/>
        </p:nvCxnSpPr>
        <p:spPr>
          <a:xfrm>
            <a:off x="6790975" y="3398316"/>
            <a:ext cx="1800" cy="1023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3" name="Google Shape;553;p38"/>
          <p:cNvCxnSpPr/>
          <p:nvPr/>
        </p:nvCxnSpPr>
        <p:spPr>
          <a:xfrm>
            <a:off x="6791875" y="4541154"/>
            <a:ext cx="0" cy="855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4" name="Google Shape;554;p38"/>
          <p:cNvCxnSpPr/>
          <p:nvPr/>
        </p:nvCxnSpPr>
        <p:spPr>
          <a:xfrm>
            <a:off x="1639600" y="5696229"/>
            <a:ext cx="0" cy="687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5" name="Google Shape;555;p38"/>
          <p:cNvSpPr/>
          <p:nvPr/>
        </p:nvSpPr>
        <p:spPr>
          <a:xfrm>
            <a:off x="1134725" y="2785241"/>
            <a:ext cx="410400" cy="416700"/>
          </a:xfrm>
          <a:prstGeom prst="ellipse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6" name="Google Shape;556;p38"/>
          <p:cNvSpPr/>
          <p:nvPr/>
        </p:nvSpPr>
        <p:spPr>
          <a:xfrm>
            <a:off x="1109300" y="3706941"/>
            <a:ext cx="410400" cy="416700"/>
          </a:xfrm>
          <a:prstGeom prst="ellipse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7" name="Google Shape;557;p38"/>
          <p:cNvSpPr/>
          <p:nvPr/>
        </p:nvSpPr>
        <p:spPr>
          <a:xfrm>
            <a:off x="5624175" y="2785241"/>
            <a:ext cx="410400" cy="4167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8" name="Google Shape;558;p38"/>
          <p:cNvSpPr/>
          <p:nvPr/>
        </p:nvSpPr>
        <p:spPr>
          <a:xfrm>
            <a:off x="6278000" y="3534291"/>
            <a:ext cx="410400" cy="4167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9" name="Google Shape;559;p38"/>
          <p:cNvSpPr/>
          <p:nvPr/>
        </p:nvSpPr>
        <p:spPr>
          <a:xfrm>
            <a:off x="6268488" y="4760616"/>
            <a:ext cx="410400" cy="4167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0" name="Google Shape;560;p38"/>
          <p:cNvSpPr/>
          <p:nvPr/>
        </p:nvSpPr>
        <p:spPr>
          <a:xfrm>
            <a:off x="1109288" y="5761891"/>
            <a:ext cx="410400" cy="4167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9"/>
          <p:cNvSpPr txBox="1">
            <a:spLocks noGrp="1"/>
          </p:cNvSpPr>
          <p:nvPr>
            <p:ph type="title"/>
          </p:nvPr>
        </p:nvSpPr>
        <p:spPr>
          <a:xfrm>
            <a:off x="580637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Implementación del join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graphicFrame>
        <p:nvGraphicFramePr>
          <p:cNvPr id="566" name="Google Shape;566;p39"/>
          <p:cNvGraphicFramePr/>
          <p:nvPr>
            <p:extLst>
              <p:ext uri="{D42A27DB-BD31-4B8C-83A1-F6EECF244321}">
                <p14:modId xmlns:p14="http://schemas.microsoft.com/office/powerpoint/2010/main" val="3884721577"/>
              </p:ext>
            </p:extLst>
          </p:nvPr>
        </p:nvGraphicFramePr>
        <p:xfrm>
          <a:off x="580637" y="869836"/>
          <a:ext cx="11030725" cy="580322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4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Padre</a:t>
                      </a:r>
                      <a:endParaRPr b="1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Hijo</a:t>
                      </a:r>
                      <a:endParaRPr b="1" dirty="0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Anotaciones</a:t>
                      </a: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Pthread_create</a:t>
                      </a: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(&amp;p, NULL, </a:t>
                      </a:r>
                      <a:r>
                        <a:rPr lang="es-ES" sz="10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child</a:t>
                      </a: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NULL);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Crea el hilo hijo y continúa su ejecución.</a:t>
                      </a: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call</a:t>
                      </a: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0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thr_join</a:t>
                      </a: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Llama función </a:t>
                      </a:r>
                      <a:r>
                        <a:rPr lang="es-MX" sz="1100" dirty="0" err="1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thr_join</a:t>
                      </a:r>
                      <a:r>
                        <a:rPr lang="es-MX" sz="1100" dirty="0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() para esperar finalización del hijo</a:t>
                      </a: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pthread_mutex_lock(&amp;m);      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Adquiere el </a:t>
                      </a:r>
                      <a:r>
                        <a:rPr lang="es-ES" sz="1100" dirty="0" err="1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endParaRPr lang="es-ES" sz="1100" dirty="0">
                        <a:solidFill>
                          <a:schemeClr val="dk1"/>
                        </a:solidFill>
                        <a:latin typeface="+mj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 (done == 0) {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pthread_cond_wait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(&amp;c, &amp;m); 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Verifica si el hijo a finalizado. Para el caso como El hijo no ha finalizado (</a:t>
                      </a:r>
                      <a:r>
                        <a:rPr lang="es-MX" sz="1100" dirty="0" err="1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auno</a:t>
                      </a:r>
                      <a:r>
                        <a:rPr lang="es-MX" sz="1100" dirty="0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 no ha tenido la oportunidad de ejecutarse). El padre Se pone en estado </a:t>
                      </a:r>
                      <a:r>
                        <a:rPr lang="es-MX" sz="1100" dirty="0" err="1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sleep</a:t>
                      </a:r>
                      <a:r>
                        <a:rPr lang="es-MX" sz="1100" dirty="0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 llamando a la función </a:t>
                      </a:r>
                      <a:r>
                        <a:rPr lang="es-MX" sz="1100" dirty="0" err="1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wait</a:t>
                      </a:r>
                      <a:r>
                        <a:rPr lang="es-MX" sz="1100" dirty="0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call child()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El hijo llama la función </a:t>
                      </a:r>
                      <a:r>
                        <a:rPr lang="es-MX" sz="1100" dirty="0" err="1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child</a:t>
                      </a:r>
                      <a:endParaRPr lang="es-MX" sz="1100" dirty="0">
                        <a:solidFill>
                          <a:schemeClr val="dk1"/>
                        </a:solidFill>
                        <a:latin typeface="+mj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printf("child\n");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Se imprime el mensaje: </a:t>
                      </a:r>
                      <a:r>
                        <a:rPr lang="es-MX" sz="1100" b="1" dirty="0" err="1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child</a:t>
                      </a:r>
                      <a:endParaRPr lang="es-MX" sz="1100" b="1" dirty="0">
                        <a:solidFill>
                          <a:schemeClr val="dk1"/>
                        </a:solidFill>
                        <a:latin typeface="+mj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call</a:t>
                      </a: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thr_exit();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Se llama la función </a:t>
                      </a:r>
                      <a:r>
                        <a:rPr lang="es-MX" sz="1100" dirty="0" err="1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thr_exit</a:t>
                      </a:r>
                      <a:r>
                        <a:rPr lang="es-MX" sz="1100" dirty="0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pthread_mutex_lock(&amp;m);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Obtiene el </a:t>
                      </a:r>
                      <a:r>
                        <a:rPr lang="es-ES" sz="1100" dirty="0" err="1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r>
                        <a:rPr lang="es-ES" sz="1100" dirty="0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done = 1;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100" dirty="0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Fija el valor de la variable done (done = 1)</a:t>
                      </a: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pthread_cond_signal(&amp;c);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Pthread_mutex_unlock(&amp;m);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El hilo hijo señaliza al padre (</a:t>
                      </a:r>
                      <a:r>
                        <a:rPr lang="es-MX" sz="1100" dirty="0" err="1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despertandolo</a:t>
                      </a:r>
                      <a:r>
                        <a:rPr lang="es-MX" sz="1100" dirty="0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).</a:t>
                      </a: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6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 (done == 0) {</a:t>
                      </a:r>
                      <a:endParaRPr sz="1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s-ES" sz="10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pthread_cond_wait</a:t>
                      </a: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(&amp;c, &amp;m); </a:t>
                      </a:r>
                      <a:endParaRPr sz="1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El padre retorna del </a:t>
                      </a:r>
                      <a:r>
                        <a:rPr lang="es-MX" sz="1100" dirty="0" err="1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wait</a:t>
                      </a:r>
                      <a:r>
                        <a:rPr lang="es-MX" sz="1100" dirty="0">
                          <a:solidFill>
                            <a:schemeClr val="dk1"/>
                          </a:solidFill>
                          <a:latin typeface="+mj-lt"/>
                          <a:ea typeface="Consolas"/>
                          <a:cs typeface="Consolas"/>
                          <a:sym typeface="Consolas"/>
                        </a:rPr>
                        <a:t> (pues es despertado). En este caso ya done es 1.</a:t>
                      </a:r>
                      <a:endParaRPr lang="es-MX" sz="1100" dirty="0">
                        <a:latin typeface="+mj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pthread_mutex_unlock(&amp;m);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Libera el </a:t>
                      </a:r>
                      <a:r>
                        <a:rPr lang="es-ES" sz="1100" dirty="0" err="1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endParaRPr sz="1100" dirty="0">
                        <a:solidFill>
                          <a:schemeClr val="dk1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2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printf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("</a:t>
                      </a: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parent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end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\n");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Imprime el mensaje </a:t>
                      </a:r>
                      <a:r>
                        <a:rPr lang="es-ES" sz="1100" b="1" dirty="0" err="1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parent</a:t>
                      </a:r>
                      <a:endParaRPr sz="1100" b="1" dirty="0">
                        <a:solidFill>
                          <a:schemeClr val="dk1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0"/>
          <p:cNvSpPr txBox="1">
            <a:spLocks noGrp="1"/>
          </p:cNvSpPr>
          <p:nvPr>
            <p:ph type="title"/>
          </p:nvPr>
        </p:nvSpPr>
        <p:spPr>
          <a:xfrm>
            <a:off x="406400" y="19838"/>
            <a:ext cx="88142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Implementación del join</a:t>
            </a:r>
            <a:endParaRPr sz="3200" b="1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572" name="Google Shape;572;p40"/>
          <p:cNvSpPr txBox="1"/>
          <p:nvPr/>
        </p:nvSpPr>
        <p:spPr>
          <a:xfrm>
            <a:off x="503849" y="693562"/>
            <a:ext cx="10953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Análisis del join - Caso 2</a:t>
            </a:r>
            <a:endParaRPr sz="24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hijo corre inmediatamente una vez es creado.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573" name="Google Shape;573;p40"/>
          <p:cNvGrpSpPr/>
          <p:nvPr/>
        </p:nvGrpSpPr>
        <p:grpSpPr>
          <a:xfrm>
            <a:off x="7123975" y="3939475"/>
            <a:ext cx="3113100" cy="1223700"/>
            <a:chOff x="887925" y="2061600"/>
            <a:chExt cx="3113100" cy="1223700"/>
          </a:xfrm>
        </p:grpSpPr>
        <p:sp>
          <p:nvSpPr>
            <p:cNvPr id="574" name="Google Shape;574;p40"/>
            <p:cNvSpPr txBox="1"/>
            <p:nvPr/>
          </p:nvSpPr>
          <p:spPr>
            <a:xfrm>
              <a:off x="1299825" y="2061600"/>
              <a:ext cx="2701200" cy="1223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void thr_exit() {</a:t>
              </a:r>
              <a:endParaRPr sz="100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Pthread_mutex_lock(&amp;m);</a:t>
              </a:r>
              <a:endParaRPr sz="100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  done = 1;</a:t>
              </a:r>
              <a:endParaRPr sz="100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Pthread_cond_signal(&amp;c);</a:t>
              </a:r>
              <a:endParaRPr sz="100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Pthread_mutex_unlock(&amp;m);</a:t>
              </a:r>
              <a:endParaRPr sz="100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75" name="Google Shape;575;p40"/>
            <p:cNvSpPr txBox="1"/>
            <p:nvPr/>
          </p:nvSpPr>
          <p:spPr>
            <a:xfrm>
              <a:off x="887925" y="2061600"/>
              <a:ext cx="411900" cy="12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76" name="Google Shape;576;p40"/>
          <p:cNvGrpSpPr/>
          <p:nvPr/>
        </p:nvGrpSpPr>
        <p:grpSpPr>
          <a:xfrm>
            <a:off x="1774948" y="4529900"/>
            <a:ext cx="3619409" cy="1223700"/>
            <a:chOff x="6516250" y="2061600"/>
            <a:chExt cx="4141200" cy="1223700"/>
          </a:xfrm>
        </p:grpSpPr>
        <p:sp>
          <p:nvSpPr>
            <p:cNvPr id="577" name="Google Shape;577;p40"/>
            <p:cNvSpPr txBox="1"/>
            <p:nvPr/>
          </p:nvSpPr>
          <p:spPr>
            <a:xfrm>
              <a:off x="6928150" y="2061600"/>
              <a:ext cx="3729300" cy="1223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0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while (done == 0) </a:t>
              </a:r>
              <a:endParaRPr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	</a:t>
              </a:r>
              <a:r>
                <a:rPr lang="es-ES" sz="10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Pthread_cond_wait</a:t>
              </a: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(&amp;c, &amp;m);</a:t>
              </a:r>
              <a:endParaRPr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78" name="Google Shape;578;p40"/>
            <p:cNvSpPr txBox="1"/>
            <p:nvPr/>
          </p:nvSpPr>
          <p:spPr>
            <a:xfrm>
              <a:off x="6516250" y="2061600"/>
              <a:ext cx="411900" cy="12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18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19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20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21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22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23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79" name="Google Shape;579;p40"/>
          <p:cNvGrpSpPr/>
          <p:nvPr/>
        </p:nvGrpSpPr>
        <p:grpSpPr>
          <a:xfrm>
            <a:off x="1790272" y="2141650"/>
            <a:ext cx="3588764" cy="692700"/>
            <a:chOff x="6516250" y="2061600"/>
            <a:chExt cx="4141200" cy="692700"/>
          </a:xfrm>
        </p:grpSpPr>
        <p:sp>
          <p:nvSpPr>
            <p:cNvPr id="580" name="Google Shape;580;p40"/>
            <p:cNvSpPr txBox="1"/>
            <p:nvPr/>
          </p:nvSpPr>
          <p:spPr>
            <a:xfrm>
              <a:off x="6928150" y="2061600"/>
              <a:ext cx="3729300" cy="692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...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Pthread_create(&amp;p, NULL, child, NULL);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...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81" name="Google Shape;581;p40"/>
            <p:cNvSpPr txBox="1"/>
            <p:nvPr/>
          </p:nvSpPr>
          <p:spPr>
            <a:xfrm>
              <a:off x="6516250" y="2061600"/>
              <a:ext cx="4119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27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28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29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82" name="Google Shape;582;p40"/>
          <p:cNvGrpSpPr/>
          <p:nvPr/>
        </p:nvGrpSpPr>
        <p:grpSpPr>
          <a:xfrm>
            <a:off x="1698181" y="5844505"/>
            <a:ext cx="3680366" cy="869713"/>
            <a:chOff x="6516250" y="2061600"/>
            <a:chExt cx="3589200" cy="869713"/>
          </a:xfrm>
        </p:grpSpPr>
        <p:sp>
          <p:nvSpPr>
            <p:cNvPr id="583" name="Google Shape;583;p40"/>
            <p:cNvSpPr txBox="1"/>
            <p:nvPr/>
          </p:nvSpPr>
          <p:spPr>
            <a:xfrm>
              <a:off x="6928150" y="2061613"/>
              <a:ext cx="3177300" cy="869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...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printf("parent: end\n");</a:t>
              </a:r>
              <a:endParaRPr sz="10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return 0;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84" name="Google Shape;584;p40"/>
            <p:cNvSpPr txBox="1"/>
            <p:nvPr/>
          </p:nvSpPr>
          <p:spPr>
            <a:xfrm>
              <a:off x="6516250" y="2061600"/>
              <a:ext cx="411900" cy="8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29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30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31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32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85" name="Google Shape;585;p40"/>
          <p:cNvGrpSpPr/>
          <p:nvPr/>
        </p:nvGrpSpPr>
        <p:grpSpPr>
          <a:xfrm>
            <a:off x="7123964" y="2378800"/>
            <a:ext cx="3113087" cy="1462200"/>
            <a:chOff x="759468" y="2061600"/>
            <a:chExt cx="4252851" cy="1462200"/>
          </a:xfrm>
        </p:grpSpPr>
        <p:sp>
          <p:nvSpPr>
            <p:cNvPr id="586" name="Google Shape;586;p40"/>
            <p:cNvSpPr txBox="1"/>
            <p:nvPr/>
          </p:nvSpPr>
          <p:spPr>
            <a:xfrm>
              <a:off x="1299819" y="2061600"/>
              <a:ext cx="3712500" cy="1462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*child(void *arg) {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printf("child\n");</a:t>
              </a:r>
              <a:endParaRPr sz="10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thr_exit();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return NULL;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87" name="Google Shape;587;p40"/>
            <p:cNvSpPr txBox="1"/>
            <p:nvPr/>
          </p:nvSpPr>
          <p:spPr>
            <a:xfrm>
              <a:off x="759468" y="2061600"/>
              <a:ext cx="540300" cy="140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588" name="Google Shape;588;p40"/>
          <p:cNvSpPr txBox="1"/>
          <p:nvPr/>
        </p:nvSpPr>
        <p:spPr>
          <a:xfrm>
            <a:off x="2180350" y="15062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Padre (Parent)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589" name="Google Shape;589;p40"/>
          <p:cNvSpPr txBox="1"/>
          <p:nvPr/>
        </p:nvSpPr>
        <p:spPr>
          <a:xfrm>
            <a:off x="7313325" y="1506213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Hijo (Child)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90" name="Google Shape;590;p40"/>
          <p:cNvCxnSpPr/>
          <p:nvPr/>
        </p:nvCxnSpPr>
        <p:spPr>
          <a:xfrm>
            <a:off x="1637550" y="2028075"/>
            <a:ext cx="9328500" cy="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1" name="Google Shape;591;p40"/>
          <p:cNvCxnSpPr/>
          <p:nvPr/>
        </p:nvCxnSpPr>
        <p:spPr>
          <a:xfrm>
            <a:off x="6155500" y="1506225"/>
            <a:ext cx="0" cy="4726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2" name="Google Shape;592;p40"/>
          <p:cNvCxnSpPr/>
          <p:nvPr/>
        </p:nvCxnSpPr>
        <p:spPr>
          <a:xfrm>
            <a:off x="5173800" y="2497025"/>
            <a:ext cx="1865400" cy="2730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3" name="Google Shape;593;p40"/>
          <p:cNvCxnSpPr/>
          <p:nvPr/>
        </p:nvCxnSpPr>
        <p:spPr>
          <a:xfrm rot="10800000">
            <a:off x="4893600" y="4060125"/>
            <a:ext cx="2173500" cy="9258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94" name="Google Shape;594;p40"/>
          <p:cNvGrpSpPr/>
          <p:nvPr/>
        </p:nvGrpSpPr>
        <p:grpSpPr>
          <a:xfrm>
            <a:off x="1743985" y="3716775"/>
            <a:ext cx="3588764" cy="692700"/>
            <a:chOff x="6516250" y="2061600"/>
            <a:chExt cx="4141200" cy="692700"/>
          </a:xfrm>
        </p:grpSpPr>
        <p:sp>
          <p:nvSpPr>
            <p:cNvPr id="595" name="Google Shape;595;p40"/>
            <p:cNvSpPr txBox="1"/>
            <p:nvPr/>
          </p:nvSpPr>
          <p:spPr>
            <a:xfrm>
              <a:off x="6928150" y="2061600"/>
              <a:ext cx="3729300" cy="692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...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();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...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96" name="Google Shape;596;p40"/>
            <p:cNvSpPr txBox="1"/>
            <p:nvPr/>
          </p:nvSpPr>
          <p:spPr>
            <a:xfrm>
              <a:off x="6516250" y="2061600"/>
              <a:ext cx="4119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28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29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30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cxnSp>
        <p:nvCxnSpPr>
          <p:cNvPr id="597" name="Google Shape;597;p40"/>
          <p:cNvCxnSpPr/>
          <p:nvPr/>
        </p:nvCxnSpPr>
        <p:spPr>
          <a:xfrm>
            <a:off x="1743975" y="2141650"/>
            <a:ext cx="0" cy="687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8" name="Google Shape;598;p40"/>
          <p:cNvCxnSpPr/>
          <p:nvPr/>
        </p:nvCxnSpPr>
        <p:spPr>
          <a:xfrm>
            <a:off x="7123975" y="2766250"/>
            <a:ext cx="0" cy="687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9" name="Google Shape;599;p40"/>
          <p:cNvSpPr/>
          <p:nvPr/>
        </p:nvSpPr>
        <p:spPr>
          <a:xfrm>
            <a:off x="1239100" y="2215875"/>
            <a:ext cx="410400" cy="416700"/>
          </a:xfrm>
          <a:prstGeom prst="ellipse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0" name="Google Shape;600;p40"/>
          <p:cNvSpPr/>
          <p:nvPr/>
        </p:nvSpPr>
        <p:spPr>
          <a:xfrm>
            <a:off x="5562063" y="2632575"/>
            <a:ext cx="410400" cy="4167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1" name="Google Shape;601;p40"/>
          <p:cNvSpPr/>
          <p:nvPr/>
        </p:nvSpPr>
        <p:spPr>
          <a:xfrm>
            <a:off x="6543000" y="2901550"/>
            <a:ext cx="410400" cy="4167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02" name="Google Shape;602;p40"/>
          <p:cNvCxnSpPr/>
          <p:nvPr/>
        </p:nvCxnSpPr>
        <p:spPr>
          <a:xfrm>
            <a:off x="7123975" y="4060125"/>
            <a:ext cx="0" cy="687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3" name="Google Shape;603;p40"/>
          <p:cNvSpPr/>
          <p:nvPr/>
        </p:nvSpPr>
        <p:spPr>
          <a:xfrm>
            <a:off x="6543000" y="4187525"/>
            <a:ext cx="410400" cy="4167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4" name="Google Shape;604;p40"/>
          <p:cNvSpPr/>
          <p:nvPr/>
        </p:nvSpPr>
        <p:spPr>
          <a:xfrm>
            <a:off x="5538925" y="3522775"/>
            <a:ext cx="410400" cy="416700"/>
          </a:xfrm>
          <a:prstGeom prst="ellipse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5" name="Google Shape;605;p40"/>
          <p:cNvSpPr/>
          <p:nvPr/>
        </p:nvSpPr>
        <p:spPr>
          <a:xfrm>
            <a:off x="1239100" y="3770825"/>
            <a:ext cx="410400" cy="416700"/>
          </a:xfrm>
          <a:prstGeom prst="ellipse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06" name="Google Shape;606;p40"/>
          <p:cNvCxnSpPr/>
          <p:nvPr/>
        </p:nvCxnSpPr>
        <p:spPr>
          <a:xfrm>
            <a:off x="1756125" y="3719475"/>
            <a:ext cx="0" cy="687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7" name="Google Shape;607;p40"/>
          <p:cNvCxnSpPr/>
          <p:nvPr/>
        </p:nvCxnSpPr>
        <p:spPr>
          <a:xfrm flipH="1">
            <a:off x="1751850" y="4604225"/>
            <a:ext cx="2400" cy="10830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8" name="Google Shape;608;p40"/>
          <p:cNvSpPr/>
          <p:nvPr/>
        </p:nvSpPr>
        <p:spPr>
          <a:xfrm>
            <a:off x="1239100" y="4848825"/>
            <a:ext cx="410400" cy="416700"/>
          </a:xfrm>
          <a:prstGeom prst="ellipse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09" name="Google Shape;609;p40"/>
          <p:cNvCxnSpPr/>
          <p:nvPr/>
        </p:nvCxnSpPr>
        <p:spPr>
          <a:xfrm>
            <a:off x="1743975" y="5935713"/>
            <a:ext cx="0" cy="687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0" name="Google Shape;610;p40"/>
          <p:cNvSpPr/>
          <p:nvPr/>
        </p:nvSpPr>
        <p:spPr>
          <a:xfrm>
            <a:off x="1227150" y="6011000"/>
            <a:ext cx="410400" cy="416700"/>
          </a:xfrm>
          <a:prstGeom prst="ellipse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Implementación del join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graphicFrame>
        <p:nvGraphicFramePr>
          <p:cNvPr id="616" name="Google Shape;616;p41"/>
          <p:cNvGraphicFramePr/>
          <p:nvPr>
            <p:extLst>
              <p:ext uri="{D42A27DB-BD31-4B8C-83A1-F6EECF244321}">
                <p14:modId xmlns:p14="http://schemas.microsoft.com/office/powerpoint/2010/main" val="1191054118"/>
              </p:ext>
            </p:extLst>
          </p:nvPr>
        </p:nvGraphicFramePr>
        <p:xfrm>
          <a:off x="580637" y="1045538"/>
          <a:ext cx="11030725" cy="513883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4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Padre</a:t>
                      </a:r>
                      <a:endParaRPr b="1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Hijo</a:t>
                      </a:r>
                      <a:endParaRPr b="1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Anotaciones</a:t>
                      </a:r>
                      <a:endParaRPr b="1" dirty="0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Pthread_create(&amp;p, NULL, child, NULL);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Crea el hilo hijo </a:t>
                      </a:r>
                      <a:endParaRPr sz="1100" dirty="0">
                        <a:solidFill>
                          <a:schemeClr val="dk1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call</a:t>
                      </a: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child()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El Hilo hijo empieza su ejecución llamando la función </a:t>
                      </a:r>
                      <a:r>
                        <a:rPr lang="es-ES" sz="1100" b="1" dirty="0" err="1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child</a:t>
                      </a:r>
                      <a:r>
                        <a:rPr lang="es-ES" sz="1100" b="1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endParaRPr sz="1100" b="1" dirty="0">
                        <a:solidFill>
                          <a:schemeClr val="dk1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printf</a:t>
                      </a: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("</a:t>
                      </a:r>
                      <a:r>
                        <a:rPr lang="es-ES" sz="10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child</a:t>
                      </a: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\n");</a:t>
                      </a:r>
                      <a:endParaRPr sz="1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Se imprime el mensaje: </a:t>
                      </a:r>
                      <a:r>
                        <a:rPr lang="es-ES" sz="1100" b="1" dirty="0" err="1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child</a:t>
                      </a:r>
                      <a:endParaRPr sz="1100" dirty="0">
                        <a:solidFill>
                          <a:schemeClr val="dk1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call</a:t>
                      </a: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thr_exit();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Llama función </a:t>
                      </a:r>
                      <a:r>
                        <a:rPr lang="es-ES" sz="1100" dirty="0" err="1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thr_exit</a:t>
                      </a: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() para despertar al hijo padre</a:t>
                      </a:r>
                      <a:endParaRPr sz="1100" dirty="0">
                        <a:solidFill>
                          <a:schemeClr val="dk1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pthread_mutex_lock(&amp;m);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Obtiene el </a:t>
                      </a:r>
                      <a:r>
                        <a:rPr lang="es-ES" sz="1100" dirty="0" err="1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endParaRPr sz="1100" dirty="0">
                        <a:solidFill>
                          <a:schemeClr val="dk1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done = 1;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Se fija el valor de la variable done (done = 1)</a:t>
                      </a:r>
                      <a:endParaRPr sz="1100" b="1" dirty="0">
                        <a:solidFill>
                          <a:schemeClr val="dk1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pthread_cond_signal(&amp;c);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Llama </a:t>
                      </a:r>
                      <a:r>
                        <a:rPr lang="es-ES" sz="1100" dirty="0" err="1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signal</a:t>
                      </a: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 para despertar al hilo padre. Como este no esta dormido, no hace nada, solo retorna.</a:t>
                      </a:r>
                      <a:endParaRPr sz="1100" dirty="0">
                        <a:solidFill>
                          <a:schemeClr val="dk1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Pthread_mutex_unlock</a:t>
                      </a: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(&amp;m);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Se libera el </a:t>
                      </a:r>
                      <a:r>
                        <a:rPr lang="es-ES" sz="1100" dirty="0" err="1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. Luego se pasa la ejecución al hilo padre.</a:t>
                      </a:r>
                      <a:endParaRPr sz="1100" dirty="0">
                        <a:solidFill>
                          <a:schemeClr val="dk1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b="1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call</a:t>
                      </a: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0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thr_join</a:t>
                      </a: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El hilo padre llama la función join</a:t>
                      </a:r>
                      <a:endParaRPr sz="1100" dirty="0">
                        <a:solidFill>
                          <a:schemeClr val="dk1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pthread_mutex_lock(&amp;m);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El padre adquiere el </a:t>
                      </a:r>
                      <a:r>
                        <a:rPr lang="es-ES" sz="1100" dirty="0" err="1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. </a:t>
                      </a:r>
                      <a:r>
                        <a:rPr lang="es-ES" sz="1100" dirty="0" err="1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Tengase</a:t>
                      </a: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 en cuenta que el </a:t>
                      </a:r>
                      <a:r>
                        <a:rPr lang="es-ES" sz="1100" dirty="0" err="1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 se encuentra en 1 por lo que no se mete al ciclo que pone a dormir al hilo</a:t>
                      </a:r>
                      <a:endParaRPr sz="1100" dirty="0">
                        <a:solidFill>
                          <a:schemeClr val="dk1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6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pthread_mutex_unlock(&amp;m);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Libera el </a:t>
                      </a:r>
                      <a:r>
                        <a:rPr lang="es-ES" sz="1100" dirty="0" err="1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endParaRPr sz="1100" dirty="0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3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printf("parent: end\n");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accent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Imprime el mensaje </a:t>
                      </a:r>
                      <a:r>
                        <a:rPr lang="es-ES" sz="1100" b="1" dirty="0" err="1">
                          <a:solidFill>
                            <a:schemeClr val="dk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parent</a:t>
                      </a:r>
                      <a:endParaRPr sz="1100" dirty="0">
                        <a:solidFill>
                          <a:schemeClr val="dk1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3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Implementación del join</a:t>
            </a:r>
            <a:endParaRPr sz="3200" b="1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622" name="Google Shape;622;p42"/>
          <p:cNvSpPr txBox="1"/>
          <p:nvPr/>
        </p:nvSpPr>
        <p:spPr>
          <a:xfrm>
            <a:off x="5207725" y="932175"/>
            <a:ext cx="454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Conclusión</a:t>
            </a:r>
            <a:endParaRPr sz="24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23" name="Google Shape;623;p42"/>
          <p:cNvGrpSpPr/>
          <p:nvPr/>
        </p:nvGrpSpPr>
        <p:grpSpPr>
          <a:xfrm>
            <a:off x="873675" y="932175"/>
            <a:ext cx="3905700" cy="5826000"/>
            <a:chOff x="887925" y="2061600"/>
            <a:chExt cx="3905700" cy="5826000"/>
          </a:xfrm>
        </p:grpSpPr>
        <p:sp>
          <p:nvSpPr>
            <p:cNvPr id="624" name="Google Shape;624;p42"/>
            <p:cNvSpPr txBox="1"/>
            <p:nvPr/>
          </p:nvSpPr>
          <p:spPr>
            <a:xfrm>
              <a:off x="1299825" y="2061600"/>
              <a:ext cx="3493800" cy="58260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done = 0;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pthread_mutex_t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m = PTHREAD_MUTEX_INITIALIZER;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pthread_cond_t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c = PTHREAD_COND_INITIALIZER;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 dirty="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 err="1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000" dirty="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000" dirty="0" err="1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thr_exit</a:t>
              </a:r>
              <a:r>
                <a:rPr lang="es-ES" sz="1000" dirty="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000" dirty="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000" dirty="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000" dirty="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  done = 1;</a:t>
              </a:r>
              <a:endParaRPr sz="1000" dirty="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rgbClr val="4472C4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Pthread_cond_signal</a:t>
              </a:r>
              <a:r>
                <a:rPr lang="es-ES" sz="1000" dirty="0">
                  <a:solidFill>
                    <a:srgbClr val="4472C4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(&amp;c);</a:t>
              </a:r>
              <a:endParaRPr sz="1000" dirty="0">
                <a:solidFill>
                  <a:srgbClr val="4472C4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000" dirty="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000" dirty="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rgbClr val="4472C4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000" dirty="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 dirty="0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child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arg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child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\n");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thr_exit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();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NULL;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0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while (done == 0) </a:t>
              </a:r>
              <a:endParaRPr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0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Pthread_cond_wait</a:t>
              </a:r>
              <a:r>
                <a:rPr lang="es-ES" sz="1000" dirty="0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(&amp;c, &amp;m);</a:t>
              </a:r>
              <a:endParaRPr sz="10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argc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char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argv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[]) {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parent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begin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\n");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pthread_t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p;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(&amp;p, NULL, 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child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NULL);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();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parent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end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\n");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0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0;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25" name="Google Shape;625;p42"/>
            <p:cNvSpPr txBox="1"/>
            <p:nvPr/>
          </p:nvSpPr>
          <p:spPr>
            <a:xfrm>
              <a:off x="887925" y="2061600"/>
              <a:ext cx="411900" cy="582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17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18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19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20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21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22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23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24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25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26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27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28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29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30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31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32</a:t>
              </a:r>
              <a:endParaRPr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626" name="Google Shape;626;p42"/>
          <p:cNvSpPr txBox="1"/>
          <p:nvPr/>
        </p:nvSpPr>
        <p:spPr>
          <a:xfrm>
            <a:off x="3204976" y="6388875"/>
            <a:ext cx="157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Código </a:t>
            </a:r>
            <a:r>
              <a:rPr lang="es-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s-ES" sz="12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link</a:t>
            </a:r>
            <a:r>
              <a:rPr lang="es-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27" name="Google Shape;627;p42"/>
          <p:cNvGrpSpPr/>
          <p:nvPr/>
        </p:nvGrpSpPr>
        <p:grpSpPr>
          <a:xfrm>
            <a:off x="6642500" y="1747937"/>
            <a:ext cx="3661525" cy="2614313"/>
            <a:chOff x="5125925" y="1289537"/>
            <a:chExt cx="3661525" cy="2614313"/>
          </a:xfrm>
        </p:grpSpPr>
        <p:cxnSp>
          <p:nvCxnSpPr>
            <p:cNvPr id="628" name="Google Shape;628;p42"/>
            <p:cNvCxnSpPr/>
            <p:nvPr/>
          </p:nvCxnSpPr>
          <p:spPr>
            <a:xfrm>
              <a:off x="7243203" y="1289537"/>
              <a:ext cx="1200" cy="9546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9" name="Google Shape;629;p42"/>
            <p:cNvCxnSpPr/>
            <p:nvPr/>
          </p:nvCxnSpPr>
          <p:spPr>
            <a:xfrm rot="10800000" flipH="1">
              <a:off x="7241100" y="1740475"/>
              <a:ext cx="897900" cy="330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30" name="Google Shape;630;p42"/>
            <p:cNvCxnSpPr/>
            <p:nvPr/>
          </p:nvCxnSpPr>
          <p:spPr>
            <a:xfrm flipH="1">
              <a:off x="8113050" y="1754775"/>
              <a:ext cx="6900" cy="1524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1" name="Google Shape;631;p42"/>
            <p:cNvCxnSpPr/>
            <p:nvPr/>
          </p:nvCxnSpPr>
          <p:spPr>
            <a:xfrm rot="10800000" flipH="1">
              <a:off x="7246425" y="3264600"/>
              <a:ext cx="866700" cy="48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dash"/>
              <a:round/>
              <a:headEnd type="triangle" w="med" len="med"/>
              <a:tailEnd type="none" w="med" len="med"/>
            </a:ln>
          </p:spPr>
        </p:cxnSp>
        <p:sp>
          <p:nvSpPr>
            <p:cNvPr id="632" name="Google Shape;632;p42"/>
            <p:cNvSpPr/>
            <p:nvPr/>
          </p:nvSpPr>
          <p:spPr>
            <a:xfrm>
              <a:off x="5334900" y="1559713"/>
              <a:ext cx="12039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70AD47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000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33" name="Google Shape;633;p42"/>
            <p:cNvSpPr/>
            <p:nvPr/>
          </p:nvSpPr>
          <p:spPr>
            <a:xfrm>
              <a:off x="8113050" y="2914263"/>
              <a:ext cx="6744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endParaRPr sz="10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34" name="Google Shape;634;p42"/>
            <p:cNvSpPr/>
            <p:nvPr/>
          </p:nvSpPr>
          <p:spPr>
            <a:xfrm>
              <a:off x="5125925" y="2053338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endParaRPr sz="1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35" name="Google Shape;635;p42"/>
            <p:cNvSpPr/>
            <p:nvPr/>
          </p:nvSpPr>
          <p:spPr>
            <a:xfrm>
              <a:off x="7000081" y="1871213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6" name="Google Shape;636;p42"/>
            <p:cNvSpPr/>
            <p:nvPr/>
          </p:nvSpPr>
          <p:spPr>
            <a:xfrm>
              <a:off x="8231595" y="1814691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637" name="Google Shape;637;p42"/>
            <p:cNvCxnSpPr/>
            <p:nvPr/>
          </p:nvCxnSpPr>
          <p:spPr>
            <a:xfrm flipH="1">
              <a:off x="6538788" y="1742100"/>
              <a:ext cx="702300" cy="12600"/>
            </a:xfrm>
            <a:prstGeom prst="straightConnector1">
              <a:avLst/>
            </a:prstGeom>
            <a:noFill/>
            <a:ln w="19050" cap="flat" cmpd="sng">
              <a:solidFill>
                <a:srgbClr val="70AD4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638" name="Google Shape;638;p42"/>
            <p:cNvSpPr/>
            <p:nvPr/>
          </p:nvSpPr>
          <p:spPr>
            <a:xfrm>
              <a:off x="7000070" y="1343591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639" name="Google Shape;639;p42"/>
            <p:cNvCxnSpPr/>
            <p:nvPr/>
          </p:nvCxnSpPr>
          <p:spPr>
            <a:xfrm>
              <a:off x="7243975" y="2237475"/>
              <a:ext cx="2400" cy="1037400"/>
            </a:xfrm>
            <a:prstGeom prst="straightConnector1">
              <a:avLst/>
            </a:prstGeom>
            <a:noFill/>
            <a:ln w="28575" cap="flat" cmpd="sng">
              <a:solidFill>
                <a:srgbClr val="9E9E9E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40" name="Google Shape;640;p42"/>
            <p:cNvCxnSpPr/>
            <p:nvPr/>
          </p:nvCxnSpPr>
          <p:spPr>
            <a:xfrm flipH="1">
              <a:off x="7241550" y="3264850"/>
              <a:ext cx="5100" cy="639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41" name="Google Shape;641;p42"/>
            <p:cNvSpPr/>
            <p:nvPr/>
          </p:nvSpPr>
          <p:spPr>
            <a:xfrm>
              <a:off x="7000081" y="2285225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642" name="Google Shape;64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33893" y="2285224"/>
              <a:ext cx="234307" cy="246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43" name="Google Shape;643;p42"/>
            <p:cNvCxnSpPr/>
            <p:nvPr/>
          </p:nvCxnSpPr>
          <p:spPr>
            <a:xfrm flipH="1">
              <a:off x="6552525" y="2234750"/>
              <a:ext cx="680400" cy="39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pic>
          <p:nvPicPr>
            <p:cNvPr id="644" name="Google Shape;644;p4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758353" y="2922975"/>
              <a:ext cx="302047" cy="281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" name="Google Shape;645;p42"/>
            <p:cNvSpPr/>
            <p:nvPr/>
          </p:nvSpPr>
          <p:spPr>
            <a:xfrm>
              <a:off x="7067581" y="3340625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646" name="Google Shape;646;p4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55850" y="3353050"/>
              <a:ext cx="256975" cy="246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47" name="Google Shape;64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8218" y="4469600"/>
            <a:ext cx="234307" cy="24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9003" y="2183950"/>
            <a:ext cx="302047" cy="281975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42"/>
          <p:cNvSpPr txBox="1"/>
          <p:nvPr/>
        </p:nvSpPr>
        <p:spPr>
          <a:xfrm>
            <a:off x="9101775" y="5123200"/>
            <a:ext cx="1823400" cy="103409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parent: begin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child</a:t>
            </a:r>
            <a:endParaRPr sz="16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parent: end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50" name="Google Shape;650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46750" y="4469600"/>
            <a:ext cx="2935229" cy="220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4"/>
          <p:cNvSpPr txBox="1">
            <a:spLocks noGrp="1"/>
          </p:cNvSpPr>
          <p:nvPr>
            <p:ph type="title"/>
          </p:nvPr>
        </p:nvSpPr>
        <p:spPr>
          <a:xfrm>
            <a:off x="362857" y="96038"/>
            <a:ext cx="879946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Reimplementación del join</a:t>
            </a:r>
            <a:endParaRPr dirty="0"/>
          </a:p>
        </p:txBody>
      </p:sp>
      <p:sp>
        <p:nvSpPr>
          <p:cNvPr id="662" name="Google Shape;662;p44"/>
          <p:cNvSpPr txBox="1"/>
          <p:nvPr/>
        </p:nvSpPr>
        <p:spPr>
          <a:xfrm>
            <a:off x="362857" y="989375"/>
            <a:ext cx="10983293" cy="977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¿Por qué es importante cada una de las instrucciones que se encuentran en </a:t>
            </a:r>
            <a:r>
              <a:rPr lang="es-ES" sz="2400" b="1" dirty="0" err="1">
                <a:solidFill>
                  <a:srgbClr val="E46C0A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thr_join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</a:t>
            </a:r>
            <a:r>
              <a:rPr lang="es-ES" sz="2400" b="1" dirty="0" err="1">
                <a:solidFill>
                  <a:srgbClr val="E46C0A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thr_exit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?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663" name="Google Shape;663;p44"/>
          <p:cNvGrpSpPr/>
          <p:nvPr/>
        </p:nvGrpSpPr>
        <p:grpSpPr>
          <a:xfrm>
            <a:off x="1486350" y="2392475"/>
            <a:ext cx="4178400" cy="2333425"/>
            <a:chOff x="1121725" y="2206400"/>
            <a:chExt cx="4178400" cy="2333425"/>
          </a:xfrm>
        </p:grpSpPr>
        <p:sp>
          <p:nvSpPr>
            <p:cNvPr id="664" name="Google Shape;664;p44"/>
            <p:cNvSpPr txBox="1"/>
            <p:nvPr/>
          </p:nvSpPr>
          <p:spPr>
            <a:xfrm>
              <a:off x="1121725" y="2692725"/>
              <a:ext cx="4178400" cy="18471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thr_exit() {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Pthread_mutex_lock(&amp;m);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done = 1;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Pthread_cond_signal(&amp;c);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Pthread_mutex_unlock(&amp;m);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5" name="Google Shape;665;p44"/>
            <p:cNvSpPr txBox="1"/>
            <p:nvPr/>
          </p:nvSpPr>
          <p:spPr>
            <a:xfrm>
              <a:off x="1906050" y="2206400"/>
              <a:ext cx="2438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Función </a:t>
              </a:r>
              <a:r>
                <a:rPr lang="es-ES" sz="16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thr_exit</a:t>
              </a:r>
              <a:endParaRPr sz="16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66" name="Google Shape;666;p44"/>
          <p:cNvGrpSpPr/>
          <p:nvPr/>
        </p:nvGrpSpPr>
        <p:grpSpPr>
          <a:xfrm>
            <a:off x="6487900" y="2447688"/>
            <a:ext cx="4197600" cy="2278213"/>
            <a:chOff x="6389725" y="2261638"/>
            <a:chExt cx="4197600" cy="2278213"/>
          </a:xfrm>
        </p:grpSpPr>
        <p:sp>
          <p:nvSpPr>
            <p:cNvPr id="667" name="Google Shape;667;p44"/>
            <p:cNvSpPr txBox="1"/>
            <p:nvPr/>
          </p:nvSpPr>
          <p:spPr>
            <a:xfrm>
              <a:off x="6389725" y="2692750"/>
              <a:ext cx="4197600" cy="18471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while (done == 0) 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	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Pthread_cond_wait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(&amp;c, &amp;m);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8" name="Google Shape;668;p44"/>
            <p:cNvSpPr txBox="1"/>
            <p:nvPr/>
          </p:nvSpPr>
          <p:spPr>
            <a:xfrm>
              <a:off x="7269325" y="2261638"/>
              <a:ext cx="2438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Función </a:t>
              </a:r>
              <a:r>
                <a:rPr lang="es-ES" sz="1600" b="1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endParaRPr sz="16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669" name="Google Shape;669;p44"/>
          <p:cNvSpPr txBox="1"/>
          <p:nvPr/>
        </p:nvSpPr>
        <p:spPr>
          <a:xfrm>
            <a:off x="672453" y="5242718"/>
            <a:ext cx="10364100" cy="64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Intentemos 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reimplementar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400" b="1" dirty="0" err="1">
                <a:solidFill>
                  <a:srgbClr val="E46C0A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thr_join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</a:t>
            </a:r>
            <a:r>
              <a:rPr lang="es-ES" sz="2400" dirty="0" err="1">
                <a:solidFill>
                  <a:srgbClr val="E46C0A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thr_exit</a:t>
            </a:r>
            <a:endParaRPr sz="2400" dirty="0">
              <a:solidFill>
                <a:schemeClr val="dk1"/>
              </a:solidFill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5"/>
          <p:cNvSpPr txBox="1">
            <a:spLocks noGrp="1"/>
          </p:cNvSpPr>
          <p:nvPr>
            <p:ph type="title"/>
          </p:nvPr>
        </p:nvSpPr>
        <p:spPr>
          <a:xfrm>
            <a:off x="553525" y="120957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Reimplementación del join</a:t>
            </a:r>
            <a:endParaRPr dirty="0"/>
          </a:p>
        </p:txBody>
      </p:sp>
      <p:sp>
        <p:nvSpPr>
          <p:cNvPr id="675" name="Google Shape;675;p45"/>
          <p:cNvSpPr txBox="1"/>
          <p:nvPr/>
        </p:nvSpPr>
        <p:spPr>
          <a:xfrm>
            <a:off x="553525" y="988565"/>
            <a:ext cx="10500300" cy="672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Reimplementación 1 (</a:t>
            </a:r>
            <a:r>
              <a:rPr lang="es-ES" sz="2600" b="1" u="sng" dirty="0">
                <a:solidFill>
                  <a:schemeClr val="hlink"/>
                </a:solidFill>
                <a:ea typeface="Roboto"/>
                <a:cs typeface="Roboto"/>
                <a:sym typeface="Roboto"/>
                <a:hlinkClick r:id="rId3"/>
              </a:rPr>
              <a:t>link</a:t>
            </a: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)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676" name="Google Shape;676;p45"/>
          <p:cNvGrpSpPr/>
          <p:nvPr/>
        </p:nvGrpSpPr>
        <p:grpSpPr>
          <a:xfrm>
            <a:off x="1424668" y="1623150"/>
            <a:ext cx="3730893" cy="2157521"/>
            <a:chOff x="1121725" y="2206400"/>
            <a:chExt cx="4178400" cy="2157521"/>
          </a:xfrm>
        </p:grpSpPr>
        <p:sp>
          <p:nvSpPr>
            <p:cNvPr id="677" name="Google Shape;677;p45"/>
            <p:cNvSpPr txBox="1"/>
            <p:nvPr/>
          </p:nvSpPr>
          <p:spPr>
            <a:xfrm>
              <a:off x="1121725" y="2692725"/>
              <a:ext cx="4178400" cy="167119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thr_exit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done = 1;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Pthread_cond_signal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(&amp;c);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78" name="Google Shape;678;p45"/>
            <p:cNvSpPr txBox="1"/>
            <p:nvPr/>
          </p:nvSpPr>
          <p:spPr>
            <a:xfrm>
              <a:off x="1906050" y="2206400"/>
              <a:ext cx="2438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Función </a:t>
              </a:r>
              <a:r>
                <a:rPr lang="es-ES" sz="16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thr_exit</a:t>
              </a:r>
              <a:endParaRPr sz="16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79" name="Google Shape;679;p45"/>
          <p:cNvGrpSpPr/>
          <p:nvPr/>
        </p:nvGrpSpPr>
        <p:grpSpPr>
          <a:xfrm>
            <a:off x="1415243" y="4112462"/>
            <a:ext cx="3730827" cy="2102308"/>
            <a:chOff x="6389725" y="2261638"/>
            <a:chExt cx="4197600" cy="2102308"/>
          </a:xfrm>
        </p:grpSpPr>
        <p:sp>
          <p:nvSpPr>
            <p:cNvPr id="680" name="Google Shape;680;p45"/>
            <p:cNvSpPr txBox="1"/>
            <p:nvPr/>
          </p:nvSpPr>
          <p:spPr>
            <a:xfrm>
              <a:off x="6389725" y="2692750"/>
              <a:ext cx="4197600" cy="167119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while (done == 0) 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	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Pthread_cond_wait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(&amp;c, &amp;m);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81" name="Google Shape;681;p45"/>
            <p:cNvSpPr txBox="1"/>
            <p:nvPr/>
          </p:nvSpPr>
          <p:spPr>
            <a:xfrm>
              <a:off x="7269325" y="2261638"/>
              <a:ext cx="2438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Función </a:t>
              </a:r>
              <a:r>
                <a:rPr lang="es-ES" sz="1600" b="1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endParaRPr sz="16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82" name="Google Shape;682;p45"/>
          <p:cNvGrpSpPr/>
          <p:nvPr/>
        </p:nvGrpSpPr>
        <p:grpSpPr>
          <a:xfrm>
            <a:off x="7824425" y="1775538"/>
            <a:ext cx="3568800" cy="1909774"/>
            <a:chOff x="1731250" y="2206400"/>
            <a:chExt cx="3568800" cy="1909774"/>
          </a:xfrm>
        </p:grpSpPr>
        <p:sp>
          <p:nvSpPr>
            <p:cNvPr id="683" name="Google Shape;683;p45"/>
            <p:cNvSpPr txBox="1"/>
            <p:nvPr/>
          </p:nvSpPr>
          <p:spPr>
            <a:xfrm>
              <a:off x="1731250" y="2692738"/>
              <a:ext cx="3568800" cy="142343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thr_exit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pthread_cond_signal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(&amp;c);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84" name="Google Shape;684;p45"/>
            <p:cNvSpPr txBox="1"/>
            <p:nvPr/>
          </p:nvSpPr>
          <p:spPr>
            <a:xfrm>
              <a:off x="1906050" y="2206400"/>
              <a:ext cx="2438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Función </a:t>
              </a:r>
              <a:r>
                <a:rPr lang="es-ES" sz="16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thr_exit</a:t>
              </a:r>
              <a:endParaRPr sz="16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85" name="Google Shape;685;p45"/>
          <p:cNvGrpSpPr/>
          <p:nvPr/>
        </p:nvGrpSpPr>
        <p:grpSpPr>
          <a:xfrm>
            <a:off x="7834099" y="4118564"/>
            <a:ext cx="3568800" cy="1854548"/>
            <a:chOff x="6389725" y="2261638"/>
            <a:chExt cx="4197600" cy="1854548"/>
          </a:xfrm>
        </p:grpSpPr>
        <p:sp>
          <p:nvSpPr>
            <p:cNvPr id="686" name="Google Shape;686;p45"/>
            <p:cNvSpPr txBox="1"/>
            <p:nvPr/>
          </p:nvSpPr>
          <p:spPr>
            <a:xfrm>
              <a:off x="6389725" y="2692750"/>
              <a:ext cx="4197600" cy="142343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pthread_cond_wait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(&amp;c, &amp;m);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87" name="Google Shape;687;p45"/>
            <p:cNvSpPr txBox="1"/>
            <p:nvPr/>
          </p:nvSpPr>
          <p:spPr>
            <a:xfrm>
              <a:off x="7269325" y="2261638"/>
              <a:ext cx="2438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Función </a:t>
              </a:r>
              <a:r>
                <a:rPr lang="es-ES" sz="1600" b="1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endParaRPr sz="16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688" name="Google Shape;688;p45"/>
          <p:cNvSpPr/>
          <p:nvPr/>
        </p:nvSpPr>
        <p:spPr>
          <a:xfrm>
            <a:off x="5424184" y="3898262"/>
            <a:ext cx="2131800" cy="8595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Reimplementación</a:t>
            </a:r>
            <a:endParaRPr sz="16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6"/>
          <p:cNvSpPr txBox="1">
            <a:spLocks noGrp="1"/>
          </p:cNvSpPr>
          <p:nvPr>
            <p:ph type="title"/>
          </p:nvPr>
        </p:nvSpPr>
        <p:spPr>
          <a:xfrm>
            <a:off x="858325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Reimplementación del join</a:t>
            </a:r>
            <a:endParaRPr dirty="0"/>
          </a:p>
        </p:txBody>
      </p:sp>
      <p:sp>
        <p:nvSpPr>
          <p:cNvPr id="694" name="Google Shape;694;p46"/>
          <p:cNvSpPr txBox="1"/>
          <p:nvPr/>
        </p:nvSpPr>
        <p:spPr>
          <a:xfrm>
            <a:off x="468479" y="912347"/>
            <a:ext cx="10500300" cy="672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Reimplementación 1 (</a:t>
            </a:r>
            <a:r>
              <a:rPr lang="es-ES" sz="2600" b="1" u="sng" dirty="0">
                <a:solidFill>
                  <a:schemeClr val="hlink"/>
                </a:solidFill>
                <a:ea typeface="Roboto"/>
                <a:cs typeface="Roboto"/>
                <a:sym typeface="Roboto"/>
                <a:hlinkClick r:id="rId3"/>
              </a:rPr>
              <a:t>link</a:t>
            </a: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)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695" name="Google Shape;695;p46"/>
          <p:cNvGrpSpPr/>
          <p:nvPr/>
        </p:nvGrpSpPr>
        <p:grpSpPr>
          <a:xfrm>
            <a:off x="7025025" y="1596025"/>
            <a:ext cx="4237500" cy="2022625"/>
            <a:chOff x="1731250" y="2234025"/>
            <a:chExt cx="4237500" cy="2022625"/>
          </a:xfrm>
        </p:grpSpPr>
        <p:sp>
          <p:nvSpPr>
            <p:cNvPr id="696" name="Google Shape;696;p46"/>
            <p:cNvSpPr txBox="1"/>
            <p:nvPr/>
          </p:nvSpPr>
          <p:spPr>
            <a:xfrm>
              <a:off x="1731250" y="2692750"/>
              <a:ext cx="4237500" cy="15639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void thr_exit() {</a:t>
              </a:r>
              <a:endParaRPr sz="16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pthread_mutex_lock(&amp;m);   // a</a:t>
              </a:r>
              <a:endParaRPr sz="16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pthread_cond_signal(&amp;c);  // b</a:t>
              </a:r>
              <a:endParaRPr sz="16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pthread_mutex_unlock(&amp;m); // c</a:t>
              </a:r>
              <a:endParaRPr sz="16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97" name="Google Shape;697;p46"/>
            <p:cNvSpPr txBox="1"/>
            <p:nvPr/>
          </p:nvSpPr>
          <p:spPr>
            <a:xfrm>
              <a:off x="2630800" y="2234025"/>
              <a:ext cx="2438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-ES" sz="17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Hijo (Child)</a:t>
              </a:r>
              <a:endParaRPr sz="17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98" name="Google Shape;698;p46"/>
          <p:cNvGrpSpPr/>
          <p:nvPr/>
        </p:nvGrpSpPr>
        <p:grpSpPr>
          <a:xfrm>
            <a:off x="1583500" y="1596014"/>
            <a:ext cx="4237567" cy="1995011"/>
            <a:chOff x="5603058" y="2261638"/>
            <a:chExt cx="4984200" cy="1995011"/>
          </a:xfrm>
        </p:grpSpPr>
        <p:sp>
          <p:nvSpPr>
            <p:cNvPr id="699" name="Google Shape;699;p46"/>
            <p:cNvSpPr txBox="1"/>
            <p:nvPr/>
          </p:nvSpPr>
          <p:spPr>
            <a:xfrm>
              <a:off x="5603058" y="2692748"/>
              <a:ext cx="4984200" cy="15639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     // x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pthread_cond_wait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(&amp;c, &amp;m);  // y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   // z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00" name="Google Shape;700;p46"/>
            <p:cNvSpPr txBox="1"/>
            <p:nvPr/>
          </p:nvSpPr>
          <p:spPr>
            <a:xfrm>
              <a:off x="6875962" y="2261638"/>
              <a:ext cx="2438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-ES" sz="17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Padre (Parent)</a:t>
              </a:r>
              <a:endParaRPr sz="17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01" name="Google Shape;701;p46"/>
          <p:cNvSpPr txBox="1"/>
          <p:nvPr/>
        </p:nvSpPr>
        <p:spPr>
          <a:xfrm>
            <a:off x="570077" y="3896768"/>
            <a:ext cx="10500300" cy="13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Análisis reimplementación 1</a:t>
            </a:r>
            <a:endParaRPr sz="2400" b="1" dirty="0">
              <a:solidFill>
                <a:srgbClr val="E46C0A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Caso 1</a:t>
            </a:r>
            <a:r>
              <a:rPr lang="es-ES" sz="20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padre crea un hilo hijo pero continúa corriendo así mismo y por lo tanto llama al join esperando a que el hilo hijo se complete. (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OK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18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46"/>
          <p:cNvSpPr txBox="1"/>
          <p:nvPr/>
        </p:nvSpPr>
        <p:spPr>
          <a:xfrm>
            <a:off x="1155141" y="5587675"/>
            <a:ext cx="4780800" cy="714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(&amp;c, NULL,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child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NULL); 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thread_join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703" name="Google Shape;703;p46"/>
          <p:cNvGraphicFramePr/>
          <p:nvPr>
            <p:extLst>
              <p:ext uri="{D42A27DB-BD31-4B8C-83A1-F6EECF244321}">
                <p14:modId xmlns:p14="http://schemas.microsoft.com/office/powerpoint/2010/main" val="3060605827"/>
              </p:ext>
            </p:extLst>
          </p:nvPr>
        </p:nvGraphicFramePr>
        <p:xfrm>
          <a:off x="6861975" y="5558850"/>
          <a:ext cx="4400550" cy="9565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Padre</a:t>
                      </a:r>
                      <a:endParaRPr sz="18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</a:t>
                      </a: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z</a:t>
                      </a: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4472C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Hijo</a:t>
                      </a:r>
                      <a:endParaRPr sz="1800" b="1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4472C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800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rgbClr val="4472C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800" dirty="0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4472C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sz="1800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7"/>
          <p:cNvSpPr txBox="1">
            <a:spLocks noGrp="1"/>
          </p:cNvSpPr>
          <p:nvPr>
            <p:ph type="title"/>
          </p:nvPr>
        </p:nvSpPr>
        <p:spPr>
          <a:xfrm>
            <a:off x="355825" y="10510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Reimplementación del join</a:t>
            </a:r>
            <a:endParaRPr dirty="0"/>
          </a:p>
        </p:txBody>
      </p:sp>
      <p:sp>
        <p:nvSpPr>
          <p:cNvPr id="709" name="Google Shape;709;p47"/>
          <p:cNvSpPr txBox="1"/>
          <p:nvPr/>
        </p:nvSpPr>
        <p:spPr>
          <a:xfrm>
            <a:off x="355825" y="912624"/>
            <a:ext cx="10500300" cy="672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Reimplementación 1 (</a:t>
            </a:r>
            <a:r>
              <a:rPr lang="es-ES" sz="2600" b="1" u="sng" dirty="0">
                <a:solidFill>
                  <a:schemeClr val="hlink"/>
                </a:solidFill>
                <a:ea typeface="Roboto"/>
                <a:cs typeface="Roboto"/>
                <a:sym typeface="Roboto"/>
                <a:hlinkClick r:id="rId3"/>
              </a:rPr>
              <a:t>link</a:t>
            </a: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)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710" name="Google Shape;710;p47"/>
          <p:cNvGrpSpPr/>
          <p:nvPr/>
        </p:nvGrpSpPr>
        <p:grpSpPr>
          <a:xfrm>
            <a:off x="7025025" y="1443625"/>
            <a:ext cx="4237500" cy="2022625"/>
            <a:chOff x="1731250" y="2234025"/>
            <a:chExt cx="4237500" cy="2022625"/>
          </a:xfrm>
        </p:grpSpPr>
        <p:sp>
          <p:nvSpPr>
            <p:cNvPr id="711" name="Google Shape;711;p47"/>
            <p:cNvSpPr txBox="1"/>
            <p:nvPr/>
          </p:nvSpPr>
          <p:spPr>
            <a:xfrm>
              <a:off x="1731250" y="2692750"/>
              <a:ext cx="4237500" cy="15639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void thr_exit() {</a:t>
              </a:r>
              <a:endParaRPr sz="16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pthread_mutex_lock(&amp;m);   // a</a:t>
              </a:r>
              <a:endParaRPr sz="16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pthread_cond_signal(&amp;c);  // b</a:t>
              </a:r>
              <a:endParaRPr sz="16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pthread_mutex_unlock(&amp;m); // c</a:t>
              </a:r>
              <a:endParaRPr sz="16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12" name="Google Shape;712;p47"/>
            <p:cNvSpPr txBox="1"/>
            <p:nvPr/>
          </p:nvSpPr>
          <p:spPr>
            <a:xfrm>
              <a:off x="2630800" y="2234025"/>
              <a:ext cx="2438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-ES" sz="17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Hijo (Child)</a:t>
              </a:r>
              <a:endParaRPr sz="17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713" name="Google Shape;713;p47"/>
          <p:cNvGrpSpPr/>
          <p:nvPr/>
        </p:nvGrpSpPr>
        <p:grpSpPr>
          <a:xfrm>
            <a:off x="1583500" y="1443614"/>
            <a:ext cx="4237567" cy="1995011"/>
            <a:chOff x="5603058" y="2261638"/>
            <a:chExt cx="4984200" cy="1995011"/>
          </a:xfrm>
        </p:grpSpPr>
        <p:sp>
          <p:nvSpPr>
            <p:cNvPr id="714" name="Google Shape;714;p47"/>
            <p:cNvSpPr txBox="1"/>
            <p:nvPr/>
          </p:nvSpPr>
          <p:spPr>
            <a:xfrm>
              <a:off x="5603058" y="2692748"/>
              <a:ext cx="4984200" cy="15639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     // x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pthread_cond_wait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(&amp;c, &amp;m);  // y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   // z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15" name="Google Shape;715;p47"/>
            <p:cNvSpPr txBox="1"/>
            <p:nvPr/>
          </p:nvSpPr>
          <p:spPr>
            <a:xfrm>
              <a:off x="6875962" y="2261638"/>
              <a:ext cx="2438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-ES" sz="17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Padre (Parent)</a:t>
              </a:r>
              <a:endParaRPr sz="17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16" name="Google Shape;716;p47"/>
          <p:cNvSpPr txBox="1"/>
          <p:nvPr/>
        </p:nvSpPr>
        <p:spPr>
          <a:xfrm>
            <a:off x="355825" y="3495030"/>
            <a:ext cx="10500300" cy="1050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Análisis reimplementación 1</a:t>
            </a:r>
            <a:endParaRPr sz="2400" b="1" dirty="0">
              <a:solidFill>
                <a:srgbClr val="E46C0A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Caso 2</a:t>
            </a:r>
            <a:r>
              <a:rPr lang="es-ES" sz="20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El hilo hijo corre inmediatamente una vez es creado.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717" name="Google Shape;717;p47"/>
          <p:cNvGraphicFramePr/>
          <p:nvPr/>
        </p:nvGraphicFramePr>
        <p:xfrm>
          <a:off x="7144800" y="4934550"/>
          <a:ext cx="4400550" cy="9565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Padre</a:t>
                      </a:r>
                      <a:endParaRPr sz="18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</a:t>
                      </a: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4472C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Hijo</a:t>
                      </a:r>
                      <a:endParaRPr sz="1800" b="1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4472C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800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4472C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800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4472C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sz="1800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18" name="Google Shape;718;p47"/>
          <p:cNvSpPr txBox="1"/>
          <p:nvPr/>
        </p:nvSpPr>
        <p:spPr>
          <a:xfrm>
            <a:off x="858325" y="6170800"/>
            <a:ext cx="5157300" cy="492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Problema: </a:t>
            </a:r>
            <a:r>
              <a:rPr lang="es-E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 padre esperará por siempre!!!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9" name="Google Shape;719;p47"/>
          <p:cNvSpPr txBox="1"/>
          <p:nvPr/>
        </p:nvSpPr>
        <p:spPr>
          <a:xfrm>
            <a:off x="4250144" y="4601950"/>
            <a:ext cx="2403300" cy="111373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*child(void *arg) {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printf("child\n");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thr_exit();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return NULL;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0" name="Google Shape;720;p47"/>
          <p:cNvSpPr txBox="1"/>
          <p:nvPr/>
        </p:nvSpPr>
        <p:spPr>
          <a:xfrm>
            <a:off x="858325" y="4601950"/>
            <a:ext cx="3183300" cy="148537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argc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[]) {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(&amp;p, NULL,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child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NULL);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thr_join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0;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8"/>
          <p:cNvSpPr txBox="1">
            <a:spLocks noGrp="1"/>
          </p:cNvSpPr>
          <p:nvPr>
            <p:ph type="title"/>
          </p:nvPr>
        </p:nvSpPr>
        <p:spPr>
          <a:xfrm>
            <a:off x="515099" y="107962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Reimplementación del join</a:t>
            </a:r>
            <a:endParaRPr dirty="0"/>
          </a:p>
        </p:txBody>
      </p:sp>
      <p:sp>
        <p:nvSpPr>
          <p:cNvPr id="726" name="Google Shape;726;p48"/>
          <p:cNvSpPr txBox="1"/>
          <p:nvPr/>
        </p:nvSpPr>
        <p:spPr>
          <a:xfrm>
            <a:off x="515099" y="839019"/>
            <a:ext cx="10500300" cy="672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Reimplementación 2 (</a:t>
            </a:r>
            <a:r>
              <a:rPr lang="es-ES" sz="2600" b="1" u="sng" dirty="0">
                <a:solidFill>
                  <a:schemeClr val="hlink"/>
                </a:solidFill>
                <a:ea typeface="Roboto"/>
                <a:cs typeface="Roboto"/>
                <a:sym typeface="Roboto"/>
                <a:hlinkClick r:id="rId3"/>
              </a:rPr>
              <a:t>link</a:t>
            </a: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)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48"/>
          <p:cNvSpPr txBox="1"/>
          <p:nvPr/>
        </p:nvSpPr>
        <p:spPr>
          <a:xfrm>
            <a:off x="515099" y="1511993"/>
            <a:ext cx="10500300" cy="922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b="1" dirty="0">
                <a:solidFill>
                  <a:srgbClr val="00B050"/>
                </a:solidFill>
                <a:ea typeface="Roboto"/>
                <a:cs typeface="Roboto"/>
                <a:sym typeface="Roboto"/>
              </a:rPr>
              <a:t>Regla de oro</a:t>
            </a:r>
            <a:r>
              <a:rPr lang="es-ES" sz="2200" dirty="0">
                <a:solidFill>
                  <a:srgbClr val="00B05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Además de usar CV es necesario </a:t>
            </a: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mantener el </a:t>
            </a:r>
            <a:r>
              <a:rPr lang="es-ES" sz="22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estado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Los </a:t>
            </a:r>
            <a:r>
              <a:rPr lang="es-ES" sz="22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CV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se utilizan para señalar hilos cuando cambia el estado.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728" name="Google Shape;728;p48"/>
          <p:cNvGrpSpPr/>
          <p:nvPr/>
        </p:nvGrpSpPr>
        <p:grpSpPr>
          <a:xfrm>
            <a:off x="1713914" y="3170780"/>
            <a:ext cx="3568800" cy="1767038"/>
            <a:chOff x="1731250" y="2206400"/>
            <a:chExt cx="3568800" cy="1767038"/>
          </a:xfrm>
        </p:grpSpPr>
        <p:sp>
          <p:nvSpPr>
            <p:cNvPr id="729" name="Google Shape;729;p48"/>
            <p:cNvSpPr txBox="1"/>
            <p:nvPr/>
          </p:nvSpPr>
          <p:spPr>
            <a:xfrm>
              <a:off x="1731250" y="2692738"/>
              <a:ext cx="3568800" cy="1280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thr_exit() {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done = 1</a:t>
              </a: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pthread_cond_signal(&amp;c);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30" name="Google Shape;730;p48"/>
            <p:cNvSpPr txBox="1"/>
            <p:nvPr/>
          </p:nvSpPr>
          <p:spPr>
            <a:xfrm>
              <a:off x="2296450" y="2206400"/>
              <a:ext cx="2438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Función </a:t>
              </a:r>
              <a:r>
                <a:rPr lang="es-ES" sz="16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thr_exit</a:t>
              </a:r>
              <a:endParaRPr sz="16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731" name="Google Shape;731;p48"/>
          <p:cNvGrpSpPr/>
          <p:nvPr/>
        </p:nvGrpSpPr>
        <p:grpSpPr>
          <a:xfrm>
            <a:off x="6744413" y="2925994"/>
            <a:ext cx="3568800" cy="2561413"/>
            <a:chOff x="6389725" y="2261638"/>
            <a:chExt cx="4197600" cy="2561413"/>
          </a:xfrm>
        </p:grpSpPr>
        <p:sp>
          <p:nvSpPr>
            <p:cNvPr id="732" name="Google Shape;732;p48"/>
            <p:cNvSpPr txBox="1"/>
            <p:nvPr/>
          </p:nvSpPr>
          <p:spPr>
            <a:xfrm>
              <a:off x="6389725" y="2692750"/>
              <a:ext cx="4197600" cy="2130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(&amp;m)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>
                  <a:solidFill>
                    <a:srgbClr val="E46C0A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done == 0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pthread_cond_wait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(&amp;c);</a:t>
              </a:r>
              <a:endParaRPr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33" name="Google Shape;733;p48"/>
            <p:cNvSpPr txBox="1"/>
            <p:nvPr/>
          </p:nvSpPr>
          <p:spPr>
            <a:xfrm>
              <a:off x="7269325" y="2261638"/>
              <a:ext cx="2438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Función </a:t>
              </a:r>
              <a:r>
                <a:rPr lang="es-ES" sz="1600" b="1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endParaRPr sz="16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9"/>
          <p:cNvSpPr txBox="1">
            <a:spLocks noGrp="1"/>
          </p:cNvSpPr>
          <p:nvPr>
            <p:ph type="title"/>
          </p:nvPr>
        </p:nvSpPr>
        <p:spPr>
          <a:xfrm>
            <a:off x="858325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Reimplementación del join</a:t>
            </a:r>
            <a:endParaRPr dirty="0"/>
          </a:p>
        </p:txBody>
      </p:sp>
      <p:sp>
        <p:nvSpPr>
          <p:cNvPr id="739" name="Google Shape;739;p49"/>
          <p:cNvSpPr txBox="1"/>
          <p:nvPr/>
        </p:nvSpPr>
        <p:spPr>
          <a:xfrm>
            <a:off x="845850" y="760775"/>
            <a:ext cx="10500300" cy="672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Reimplementación 2 (</a:t>
            </a:r>
            <a:r>
              <a:rPr lang="es-ES" sz="2600" b="1" u="sng" dirty="0">
                <a:solidFill>
                  <a:schemeClr val="hlink"/>
                </a:solidFill>
                <a:ea typeface="Roboto"/>
                <a:cs typeface="Roboto"/>
                <a:sym typeface="Roboto"/>
                <a:hlinkClick r:id="rId3"/>
              </a:rPr>
              <a:t>link</a:t>
            </a: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)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740" name="Google Shape;740;p49"/>
          <p:cNvGrpSpPr/>
          <p:nvPr/>
        </p:nvGrpSpPr>
        <p:grpSpPr>
          <a:xfrm>
            <a:off x="7025025" y="1345775"/>
            <a:ext cx="4237500" cy="1811373"/>
            <a:chOff x="1731250" y="2234025"/>
            <a:chExt cx="4237500" cy="1811373"/>
          </a:xfrm>
        </p:grpSpPr>
        <p:sp>
          <p:nvSpPr>
            <p:cNvPr id="741" name="Google Shape;741;p49"/>
            <p:cNvSpPr txBox="1"/>
            <p:nvPr/>
          </p:nvSpPr>
          <p:spPr>
            <a:xfrm>
              <a:off x="1731250" y="2692750"/>
              <a:ext cx="4237500" cy="135264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thr_exit</a:t>
              </a:r>
              <a:r>
                <a:rPr lang="es-ES" sz="16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  done = 1;                   // a  </a:t>
              </a:r>
              <a:endParaRPr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pthread_cond_signal</a:t>
              </a:r>
              <a:r>
                <a:rPr lang="es-ES" sz="16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(&amp;c);    // b</a:t>
              </a:r>
              <a:endParaRPr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42" name="Google Shape;742;p49"/>
            <p:cNvSpPr txBox="1"/>
            <p:nvPr/>
          </p:nvSpPr>
          <p:spPr>
            <a:xfrm>
              <a:off x="2630800" y="2234025"/>
              <a:ext cx="2438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-ES" sz="17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Hijo (Child)</a:t>
              </a:r>
              <a:endParaRPr sz="17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743" name="Google Shape;743;p49"/>
          <p:cNvGrpSpPr/>
          <p:nvPr/>
        </p:nvGrpSpPr>
        <p:grpSpPr>
          <a:xfrm>
            <a:off x="1583500" y="1198827"/>
            <a:ext cx="4237567" cy="2350067"/>
            <a:chOff x="5603058" y="2261638"/>
            <a:chExt cx="4984200" cy="2350067"/>
          </a:xfrm>
        </p:grpSpPr>
        <p:sp>
          <p:nvSpPr>
            <p:cNvPr id="744" name="Google Shape;744;p49"/>
            <p:cNvSpPr txBox="1"/>
            <p:nvPr/>
          </p:nvSpPr>
          <p:spPr>
            <a:xfrm>
              <a:off x="5603058" y="2692748"/>
              <a:ext cx="4984200" cy="1918957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      // w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(done == 0)               // x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pthread_cond_wait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(&amp;c, &amp;m); // y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    // z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45" name="Google Shape;745;p49"/>
            <p:cNvSpPr txBox="1"/>
            <p:nvPr/>
          </p:nvSpPr>
          <p:spPr>
            <a:xfrm>
              <a:off x="6875962" y="2261638"/>
              <a:ext cx="2438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-ES" sz="17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Padre (</a:t>
              </a:r>
              <a:r>
                <a:rPr lang="es-ES" sz="1700" b="1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Parent</a:t>
              </a:r>
              <a:r>
                <a:rPr lang="es-ES" sz="17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)</a:t>
              </a:r>
              <a:endParaRPr sz="17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46" name="Google Shape;746;p49"/>
          <p:cNvSpPr txBox="1"/>
          <p:nvPr/>
        </p:nvSpPr>
        <p:spPr>
          <a:xfrm>
            <a:off x="762225" y="3569577"/>
            <a:ext cx="10500300" cy="102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2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Análisis reimplementación 2</a:t>
            </a:r>
            <a:endParaRPr sz="2200" b="1" dirty="0">
              <a:solidFill>
                <a:srgbClr val="E46C0A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Caso 1</a:t>
            </a:r>
            <a:r>
              <a:rPr lang="es-ES" sz="20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hilo hijo corre inmediatamente una vez es creado (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 arregla el problema anterior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747" name="Google Shape;747;p49"/>
          <p:cNvSpPr txBox="1"/>
          <p:nvPr/>
        </p:nvSpPr>
        <p:spPr>
          <a:xfrm>
            <a:off x="4631144" y="4906750"/>
            <a:ext cx="2403300" cy="111373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*child(void *arg) {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printf("child\n");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thr_exit();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return NULL;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8" name="Google Shape;748;p49"/>
          <p:cNvSpPr txBox="1"/>
          <p:nvPr/>
        </p:nvSpPr>
        <p:spPr>
          <a:xfrm>
            <a:off x="1239325" y="4906750"/>
            <a:ext cx="3183300" cy="148537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argc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[]) {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(&amp;p, NULL,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child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NULL);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thr_join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0;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749" name="Google Shape;749;p49"/>
          <p:cNvGraphicFramePr/>
          <p:nvPr/>
        </p:nvGraphicFramePr>
        <p:xfrm>
          <a:off x="7579550" y="4934550"/>
          <a:ext cx="3962400" cy="9565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Padre</a:t>
                      </a:r>
                      <a:endParaRPr sz="18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</a:t>
                      </a: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z</a:t>
                      </a: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4472C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Hijo</a:t>
                      </a:r>
                      <a:endParaRPr sz="1800" b="1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4472C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800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4472C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800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0"/>
          <p:cNvSpPr txBox="1">
            <a:spLocks noGrp="1"/>
          </p:cNvSpPr>
          <p:nvPr>
            <p:ph type="title"/>
          </p:nvPr>
        </p:nvSpPr>
        <p:spPr>
          <a:xfrm>
            <a:off x="858325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Reimplementación del join</a:t>
            </a:r>
            <a:endParaRPr dirty="0"/>
          </a:p>
        </p:txBody>
      </p:sp>
      <p:sp>
        <p:nvSpPr>
          <p:cNvPr id="755" name="Google Shape;755;p50"/>
          <p:cNvSpPr txBox="1"/>
          <p:nvPr/>
        </p:nvSpPr>
        <p:spPr>
          <a:xfrm>
            <a:off x="845850" y="760775"/>
            <a:ext cx="10500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b="1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Reimplementación 2 (</a:t>
            </a:r>
            <a:r>
              <a:rPr lang="es-ES" sz="2600" b="1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link</a:t>
            </a:r>
            <a:r>
              <a:rPr lang="es-ES" sz="2600" b="1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600" b="1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56" name="Google Shape;756;p50"/>
          <p:cNvGrpSpPr/>
          <p:nvPr/>
        </p:nvGrpSpPr>
        <p:grpSpPr>
          <a:xfrm>
            <a:off x="7025025" y="1345775"/>
            <a:ext cx="4237500" cy="1811373"/>
            <a:chOff x="1731250" y="2234025"/>
            <a:chExt cx="4237500" cy="1811373"/>
          </a:xfrm>
        </p:grpSpPr>
        <p:sp>
          <p:nvSpPr>
            <p:cNvPr id="757" name="Google Shape;757;p50"/>
            <p:cNvSpPr txBox="1"/>
            <p:nvPr/>
          </p:nvSpPr>
          <p:spPr>
            <a:xfrm>
              <a:off x="1731250" y="2692750"/>
              <a:ext cx="4237500" cy="135264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void thr_exit() {</a:t>
              </a:r>
              <a:endParaRPr sz="16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  done = 1;                   // a  </a:t>
              </a:r>
              <a:endParaRPr sz="16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pthread_cond_signal(&amp;c);    // b</a:t>
              </a:r>
              <a:endParaRPr sz="16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58" name="Google Shape;758;p50"/>
            <p:cNvSpPr txBox="1"/>
            <p:nvPr/>
          </p:nvSpPr>
          <p:spPr>
            <a:xfrm>
              <a:off x="2630800" y="2234025"/>
              <a:ext cx="2438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-ES" sz="17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Hijo (Child)</a:t>
              </a:r>
              <a:endParaRPr sz="17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759" name="Google Shape;759;p50"/>
          <p:cNvGrpSpPr/>
          <p:nvPr/>
        </p:nvGrpSpPr>
        <p:grpSpPr>
          <a:xfrm>
            <a:off x="1583500" y="1198827"/>
            <a:ext cx="4237567" cy="2350067"/>
            <a:chOff x="5603058" y="2261638"/>
            <a:chExt cx="4984200" cy="2350067"/>
          </a:xfrm>
        </p:grpSpPr>
        <p:sp>
          <p:nvSpPr>
            <p:cNvPr id="760" name="Google Shape;760;p50"/>
            <p:cNvSpPr txBox="1"/>
            <p:nvPr/>
          </p:nvSpPr>
          <p:spPr>
            <a:xfrm>
              <a:off x="5603058" y="2692748"/>
              <a:ext cx="4984200" cy="1918957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      // w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(done == 0)               // x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pthread_cond_wait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(&amp;c, &amp;m); // y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    // z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61" name="Google Shape;761;p50"/>
            <p:cNvSpPr txBox="1"/>
            <p:nvPr/>
          </p:nvSpPr>
          <p:spPr>
            <a:xfrm>
              <a:off x="6875962" y="2261638"/>
              <a:ext cx="2438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-ES" sz="17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Padre (Parent)</a:t>
              </a:r>
              <a:endParaRPr sz="17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62" name="Google Shape;762;p50"/>
          <p:cNvSpPr txBox="1"/>
          <p:nvPr/>
        </p:nvSpPr>
        <p:spPr>
          <a:xfrm>
            <a:off x="1154375" y="3454350"/>
            <a:ext cx="10500300" cy="9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200" b="1">
                <a:solidFill>
                  <a:srgbClr val="E46C0A"/>
                </a:solidFill>
                <a:latin typeface="Roboto"/>
                <a:ea typeface="Roboto"/>
                <a:cs typeface="Roboto"/>
                <a:sym typeface="Roboto"/>
              </a:rPr>
              <a:t>Análisis reimplementación 2</a:t>
            </a:r>
            <a:endParaRPr sz="2200" b="1">
              <a:solidFill>
                <a:srgbClr val="E46C0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Caso 2</a:t>
            </a:r>
            <a:r>
              <a:rPr lang="es-ES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s-E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Una vez que el padre ha verificado el done es interrumpido antes de irse a dormir.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3" name="Google Shape;763;p50"/>
          <p:cNvSpPr txBox="1"/>
          <p:nvPr/>
        </p:nvSpPr>
        <p:spPr>
          <a:xfrm>
            <a:off x="4621719" y="4598950"/>
            <a:ext cx="2403300" cy="111373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*child(void *arg) {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printf("child\n");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thr_exit();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return NULL;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4" name="Google Shape;764;p50"/>
          <p:cNvSpPr txBox="1"/>
          <p:nvPr/>
        </p:nvSpPr>
        <p:spPr>
          <a:xfrm>
            <a:off x="1281400" y="4598950"/>
            <a:ext cx="3183300" cy="148537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argc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[]) {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(&amp;p, NULL,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child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NULL);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thr_join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0;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765" name="Google Shape;765;p50"/>
          <p:cNvGraphicFramePr/>
          <p:nvPr/>
        </p:nvGraphicFramePr>
        <p:xfrm>
          <a:off x="7526350" y="4639500"/>
          <a:ext cx="4128325" cy="9565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3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1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Padre</a:t>
                      </a:r>
                      <a:endParaRPr sz="18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</a:t>
                      </a: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</a:t>
                      </a: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4472C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Hijo</a:t>
                      </a:r>
                      <a:endParaRPr sz="1800" b="1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4472C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800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4472C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800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66" name="Google Shape;766;p50"/>
          <p:cNvSpPr txBox="1"/>
          <p:nvPr/>
        </p:nvSpPr>
        <p:spPr>
          <a:xfrm>
            <a:off x="1281400" y="6184850"/>
            <a:ext cx="5157300" cy="492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Problema: </a:t>
            </a:r>
            <a:r>
              <a:rPr lang="es-E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condition!!!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1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88432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Reimplementación del join</a:t>
            </a:r>
            <a:endParaRPr dirty="0"/>
          </a:p>
        </p:txBody>
      </p:sp>
      <p:sp>
        <p:nvSpPr>
          <p:cNvPr id="772" name="Google Shape;772;p51"/>
          <p:cNvSpPr txBox="1"/>
          <p:nvPr/>
        </p:nvSpPr>
        <p:spPr>
          <a:xfrm>
            <a:off x="378950" y="857850"/>
            <a:ext cx="10500300" cy="64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Reimplementación del join 3 (</a:t>
            </a:r>
            <a:r>
              <a:rPr lang="es-ES" sz="2400" b="1" u="sng" dirty="0">
                <a:solidFill>
                  <a:schemeClr val="hlink"/>
                </a:solidFill>
                <a:ea typeface="Roboto"/>
                <a:cs typeface="Roboto"/>
                <a:sym typeface="Roboto"/>
                <a:hlinkClick r:id="rId3"/>
              </a:rPr>
              <a:t>link</a:t>
            </a: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) - </a:t>
            </a:r>
            <a:r>
              <a:rPr lang="es-ES" sz="2400" b="1" dirty="0">
                <a:solidFill>
                  <a:srgbClr val="8CC63E"/>
                </a:solidFill>
                <a:ea typeface="Roboto"/>
                <a:cs typeface="Roboto"/>
                <a:sym typeface="Roboto"/>
              </a:rPr>
              <a:t>Regla de oro:  El </a:t>
            </a:r>
            <a:r>
              <a:rPr lang="es-ES" sz="2400" b="1" dirty="0" err="1">
                <a:solidFill>
                  <a:srgbClr val="8CC63E"/>
                </a:solidFill>
                <a:ea typeface="Roboto"/>
                <a:cs typeface="Roboto"/>
                <a:sym typeface="Roboto"/>
              </a:rPr>
              <a:t>mutex</a:t>
            </a:r>
            <a:r>
              <a:rPr lang="es-ES" sz="2400" b="1" dirty="0">
                <a:solidFill>
                  <a:srgbClr val="8CC63E"/>
                </a:solidFill>
                <a:ea typeface="Roboto"/>
                <a:cs typeface="Roboto"/>
                <a:sym typeface="Roboto"/>
              </a:rPr>
              <a:t> es importante</a:t>
            </a:r>
            <a:endParaRPr sz="2400" b="1" dirty="0">
              <a:solidFill>
                <a:srgbClr val="8CC63E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773" name="Google Shape;773;p51"/>
          <p:cNvSpPr txBox="1"/>
          <p:nvPr/>
        </p:nvSpPr>
        <p:spPr>
          <a:xfrm>
            <a:off x="272728" y="1447075"/>
            <a:ext cx="10500300" cy="1226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b="1" dirty="0">
                <a:solidFill>
                  <a:srgbClr val="00B050"/>
                </a:solidFill>
                <a:ea typeface="Roboto"/>
                <a:cs typeface="Roboto"/>
                <a:sym typeface="Roboto"/>
              </a:rPr>
              <a:t>Regla de oro</a:t>
            </a:r>
            <a:r>
              <a:rPr lang="es-ES" sz="2200" dirty="0">
                <a:solidFill>
                  <a:srgbClr val="00B05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200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Mantenga el </a:t>
            </a:r>
            <a:r>
              <a:rPr lang="es-ES" sz="2200" b="1" dirty="0" err="1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lock</a:t>
            </a:r>
            <a:r>
              <a:rPr lang="es-ES" sz="2200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 siempre que llame el </a:t>
            </a:r>
            <a:r>
              <a:rPr lang="es-ES" sz="2200" b="1" dirty="0" err="1">
                <a:solidFill>
                  <a:schemeClr val="accent2"/>
                </a:solidFill>
                <a:ea typeface="Consolas"/>
                <a:cs typeface="Consolas"/>
                <a:sym typeface="Consolas"/>
              </a:rPr>
              <a:t>signal</a:t>
            </a:r>
            <a:r>
              <a:rPr lang="es-ES" sz="2200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 o el </a:t>
            </a:r>
            <a:r>
              <a:rPr lang="es-ES" sz="2200" b="1" dirty="0" err="1">
                <a:solidFill>
                  <a:schemeClr val="accent2"/>
                </a:solidFill>
                <a:ea typeface="Consolas"/>
                <a:cs typeface="Consolas"/>
                <a:sym typeface="Consolas"/>
              </a:rPr>
              <a:t>wait</a:t>
            </a:r>
            <a:r>
              <a:rPr lang="es-ES" sz="2200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.</a:t>
            </a:r>
            <a:endParaRPr sz="2200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 usa el </a:t>
            </a:r>
            <a:r>
              <a:rPr lang="es-ES" sz="2200" b="1" dirty="0" err="1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mutex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para asegurarse que no se da una condición de competencia al interactuar con el estado (</a:t>
            </a:r>
            <a:r>
              <a:rPr lang="es-ES" sz="22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done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y con las llamadas </a:t>
            </a:r>
            <a:r>
              <a:rPr lang="es-ES" sz="22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wait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</a:t>
            </a:r>
            <a:r>
              <a:rPr lang="es-ES" sz="22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signal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774" name="Google Shape;774;p51"/>
          <p:cNvGrpSpPr/>
          <p:nvPr/>
        </p:nvGrpSpPr>
        <p:grpSpPr>
          <a:xfrm>
            <a:off x="2060300" y="3305888"/>
            <a:ext cx="3568800" cy="2333438"/>
            <a:chOff x="1731250" y="2206400"/>
            <a:chExt cx="3568800" cy="2333438"/>
          </a:xfrm>
        </p:grpSpPr>
        <p:sp>
          <p:nvSpPr>
            <p:cNvPr id="775" name="Google Shape;775;p51"/>
            <p:cNvSpPr txBox="1"/>
            <p:nvPr/>
          </p:nvSpPr>
          <p:spPr>
            <a:xfrm>
              <a:off x="1731250" y="2692738"/>
              <a:ext cx="3568800" cy="18471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thr_exit() {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pthread_mutex_lock(&amp;m);</a:t>
              </a:r>
              <a:endParaRPr sz="16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done = 1</a:t>
              </a: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pthread_cond_signal(&amp;c);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pthread_mutex_unlock(&amp;m);</a:t>
              </a:r>
              <a:endParaRPr sz="16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76" name="Google Shape;776;p51"/>
            <p:cNvSpPr txBox="1"/>
            <p:nvPr/>
          </p:nvSpPr>
          <p:spPr>
            <a:xfrm>
              <a:off x="2296450" y="2206400"/>
              <a:ext cx="2438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Función </a:t>
              </a:r>
              <a:r>
                <a:rPr lang="es-ES" sz="16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thr_exit</a:t>
              </a:r>
              <a:endParaRPr sz="16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777" name="Google Shape;777;p51"/>
          <p:cNvGrpSpPr/>
          <p:nvPr/>
        </p:nvGrpSpPr>
        <p:grpSpPr>
          <a:xfrm>
            <a:off x="7146899" y="3305902"/>
            <a:ext cx="3568800" cy="2597829"/>
            <a:chOff x="6389725" y="2261638"/>
            <a:chExt cx="4197600" cy="2597829"/>
          </a:xfrm>
        </p:grpSpPr>
        <p:sp>
          <p:nvSpPr>
            <p:cNvPr id="778" name="Google Shape;778;p51"/>
            <p:cNvSpPr txBox="1"/>
            <p:nvPr/>
          </p:nvSpPr>
          <p:spPr>
            <a:xfrm>
              <a:off x="6389725" y="2692750"/>
              <a:ext cx="4197600" cy="2166717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(&amp;m)</a:t>
              </a:r>
              <a:endParaRPr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done == 0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pthread_cond_wait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(&amp;c, &amp;m);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(&amp;m);</a:t>
              </a:r>
              <a:endParaRPr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79" name="Google Shape;779;p51"/>
            <p:cNvSpPr txBox="1"/>
            <p:nvPr/>
          </p:nvSpPr>
          <p:spPr>
            <a:xfrm>
              <a:off x="7269325" y="2261638"/>
              <a:ext cx="2438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Función </a:t>
              </a:r>
              <a:r>
                <a:rPr lang="es-ES" sz="1600" b="1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endParaRPr sz="16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52"/>
          <p:cNvSpPr txBox="1">
            <a:spLocks noGrp="1"/>
          </p:cNvSpPr>
          <p:nvPr>
            <p:ph type="title"/>
          </p:nvPr>
        </p:nvSpPr>
        <p:spPr>
          <a:xfrm>
            <a:off x="435429" y="96038"/>
            <a:ext cx="872689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Reimplementación del join</a:t>
            </a:r>
            <a:endParaRPr dirty="0"/>
          </a:p>
        </p:txBody>
      </p:sp>
      <p:sp>
        <p:nvSpPr>
          <p:cNvPr id="785" name="Google Shape;785;p52"/>
          <p:cNvSpPr txBox="1"/>
          <p:nvPr/>
        </p:nvSpPr>
        <p:spPr>
          <a:xfrm>
            <a:off x="435429" y="731496"/>
            <a:ext cx="10500300" cy="672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Reimplementación del join 3 (</a:t>
            </a:r>
            <a:r>
              <a:rPr lang="es-ES" sz="2600" b="1" u="sng" dirty="0">
                <a:solidFill>
                  <a:schemeClr val="hlink"/>
                </a:solidFill>
                <a:ea typeface="Roboto"/>
                <a:cs typeface="Roboto"/>
                <a:sym typeface="Roboto"/>
                <a:hlinkClick r:id="rId3"/>
              </a:rPr>
              <a:t>link</a:t>
            </a: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)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786" name="Google Shape;786;p52"/>
          <p:cNvGrpSpPr/>
          <p:nvPr/>
        </p:nvGrpSpPr>
        <p:grpSpPr>
          <a:xfrm>
            <a:off x="7025025" y="1117175"/>
            <a:ext cx="4237500" cy="2377682"/>
            <a:chOff x="1731250" y="2234025"/>
            <a:chExt cx="4237500" cy="2377682"/>
          </a:xfrm>
        </p:grpSpPr>
        <p:sp>
          <p:nvSpPr>
            <p:cNvPr id="787" name="Google Shape;787;p52"/>
            <p:cNvSpPr txBox="1"/>
            <p:nvPr/>
          </p:nvSpPr>
          <p:spPr>
            <a:xfrm>
              <a:off x="1731250" y="2692750"/>
              <a:ext cx="4237500" cy="1918957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thr_exit</a:t>
              </a:r>
              <a:r>
                <a:rPr lang="es-ES" sz="16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6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     // a</a:t>
              </a:r>
              <a:endParaRPr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  done = 1;                   // b  </a:t>
              </a:r>
              <a:endParaRPr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pthread_cond_signal</a:t>
              </a:r>
              <a:r>
                <a:rPr lang="es-ES" sz="16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(&amp;c);    // c</a:t>
              </a:r>
              <a:endParaRPr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6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   // d</a:t>
              </a:r>
              <a:endParaRPr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88" name="Google Shape;788;p52"/>
            <p:cNvSpPr txBox="1"/>
            <p:nvPr/>
          </p:nvSpPr>
          <p:spPr>
            <a:xfrm>
              <a:off x="2630800" y="2234025"/>
              <a:ext cx="2438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-ES" sz="17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Hijo (Child)</a:t>
              </a:r>
              <a:endParaRPr sz="17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789" name="Google Shape;789;p52"/>
          <p:cNvGrpSpPr/>
          <p:nvPr/>
        </p:nvGrpSpPr>
        <p:grpSpPr>
          <a:xfrm>
            <a:off x="1225299" y="1198827"/>
            <a:ext cx="4595767" cy="2314672"/>
            <a:chOff x="5181745" y="2261638"/>
            <a:chExt cx="5405513" cy="2314672"/>
          </a:xfrm>
        </p:grpSpPr>
        <p:sp>
          <p:nvSpPr>
            <p:cNvPr id="790" name="Google Shape;790;p52"/>
            <p:cNvSpPr txBox="1"/>
            <p:nvPr/>
          </p:nvSpPr>
          <p:spPr>
            <a:xfrm>
              <a:off x="5181745" y="2692748"/>
              <a:ext cx="5405513" cy="188356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thr_join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() {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pthread_mutex_lock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      // w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(done == 0)            // x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pthread_cond_wait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(&amp;c, &amp;m); // y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pthread_mutex_unlock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(&amp;m);    // z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91" name="Google Shape;791;p52"/>
            <p:cNvSpPr txBox="1"/>
            <p:nvPr/>
          </p:nvSpPr>
          <p:spPr>
            <a:xfrm>
              <a:off x="6875962" y="2261638"/>
              <a:ext cx="2438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-ES" sz="17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Padre (Parent)</a:t>
              </a:r>
              <a:endParaRPr sz="17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92" name="Google Shape;792;p52"/>
          <p:cNvSpPr txBox="1"/>
          <p:nvPr/>
        </p:nvSpPr>
        <p:spPr>
          <a:xfrm>
            <a:off x="595086" y="3476788"/>
            <a:ext cx="11059589" cy="1299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2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Análisis reimplementación 3</a:t>
            </a:r>
            <a:endParaRPr sz="2200" b="1" dirty="0">
              <a:solidFill>
                <a:srgbClr val="E46C0A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Caso 1</a:t>
            </a:r>
            <a:r>
              <a:rPr lang="es-ES" sz="20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Una vez que el padre ha verificado el done es interrumpido antes de irse a dormir </a:t>
            </a:r>
            <a:r>
              <a:rPr lang="es-ES" sz="2000" b="1" dirty="0">
                <a:solidFill>
                  <a:srgbClr val="8CC63E"/>
                </a:solidFill>
                <a:ea typeface="Roboto"/>
                <a:cs typeface="Roboto"/>
                <a:sym typeface="Roboto"/>
              </a:rPr>
              <a:t>(Se soluciona el problema de la </a:t>
            </a:r>
            <a:r>
              <a:rPr lang="es-ES" sz="2000" b="1" dirty="0" err="1">
                <a:solidFill>
                  <a:srgbClr val="8CC63E"/>
                </a:solidFill>
                <a:ea typeface="Roboto"/>
                <a:cs typeface="Roboto"/>
                <a:sym typeface="Roboto"/>
              </a:rPr>
              <a:t>race</a:t>
            </a:r>
            <a:r>
              <a:rPr lang="es-ES" sz="2000" b="1" dirty="0">
                <a:solidFill>
                  <a:srgbClr val="8CC63E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000" b="1" dirty="0" err="1">
                <a:solidFill>
                  <a:srgbClr val="8CC63E"/>
                </a:solidFill>
                <a:ea typeface="Roboto"/>
                <a:cs typeface="Roboto"/>
                <a:sym typeface="Roboto"/>
              </a:rPr>
              <a:t>condition</a:t>
            </a:r>
            <a:r>
              <a:rPr lang="es-ES" sz="2000" b="1" dirty="0">
                <a:solidFill>
                  <a:srgbClr val="8CC63E"/>
                </a:solidFill>
                <a:ea typeface="Roboto"/>
                <a:cs typeface="Roboto"/>
                <a:sym typeface="Roboto"/>
              </a:rPr>
              <a:t>)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793" name="Google Shape;793;p52"/>
          <p:cNvSpPr txBox="1"/>
          <p:nvPr/>
        </p:nvSpPr>
        <p:spPr>
          <a:xfrm>
            <a:off x="4621719" y="5005675"/>
            <a:ext cx="2403300" cy="111373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*child(void *arg) {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printf("child\n");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thr_exit();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return NULL;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4" name="Google Shape;794;p52"/>
          <p:cNvSpPr txBox="1"/>
          <p:nvPr/>
        </p:nvSpPr>
        <p:spPr>
          <a:xfrm>
            <a:off x="1225300" y="5005675"/>
            <a:ext cx="3183300" cy="148537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argc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[]) {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(&amp;p, NULL,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child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NULL);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thr_join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5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0;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795" name="Google Shape;795;p52"/>
          <p:cNvGraphicFramePr/>
          <p:nvPr/>
        </p:nvGraphicFramePr>
        <p:xfrm>
          <a:off x="7456225" y="5058025"/>
          <a:ext cx="4128250" cy="9565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4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3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3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3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Padre</a:t>
                      </a:r>
                      <a:endParaRPr sz="18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</a:t>
                      </a: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</a:t>
                      </a: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z</a:t>
                      </a:r>
                      <a:endParaRPr sz="1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4472C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Hijo</a:t>
                      </a:r>
                      <a:endParaRPr sz="1800" b="1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4472C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800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4472C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800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rgbClr val="4472C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sz="1800">
                        <a:solidFill>
                          <a:srgbClr val="4472C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implementación del join</a:t>
            </a:r>
            <a:endParaRPr dirty="0"/>
          </a:p>
        </p:txBody>
      </p:sp>
      <p:sp>
        <p:nvSpPr>
          <p:cNvPr id="308" name="Google Shape;308;p26"/>
          <p:cNvSpPr txBox="1"/>
          <p:nvPr/>
        </p:nvSpPr>
        <p:spPr>
          <a:xfrm>
            <a:off x="474198" y="1173961"/>
            <a:ext cx="10643700" cy="2110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dirty="0">
                <a:ea typeface="Roboto"/>
                <a:cs typeface="Roboto"/>
                <a:sym typeface="Roboto"/>
              </a:rPr>
              <a:t>Hemos visto los tres casos de implementación del join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Caso 1</a:t>
            </a:r>
            <a:r>
              <a:rPr lang="es-ES" sz="2000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Falla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cuando el hilo hijo corre inmediatamente una vez es creado.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Caso 2</a:t>
            </a:r>
            <a:r>
              <a:rPr lang="es-ES" sz="2000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Falla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cuando el padre es interrumpido inmediatamente después de que se da la validación del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done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antes de ponerse a dormir.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Caso 3</a:t>
            </a:r>
            <a:r>
              <a:rPr lang="es-ES" sz="2000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Los problemas de las 2 implementaciones anteriores ya es </a:t>
            </a:r>
            <a:r>
              <a:rPr lang="es-ES" sz="2000" b="1" dirty="0">
                <a:solidFill>
                  <a:srgbClr val="00B050"/>
                </a:solidFill>
                <a:ea typeface="Roboto"/>
                <a:cs typeface="Roboto"/>
                <a:sym typeface="Roboto"/>
              </a:rPr>
              <a:t>solucionado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000" b="1" dirty="0">
              <a:solidFill>
                <a:srgbClr val="E46C0A"/>
              </a:solidFill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85083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Implementación – caso 1</a:t>
            </a:r>
            <a:endParaRPr dirty="0"/>
          </a:p>
        </p:txBody>
      </p:sp>
      <p:sp>
        <p:nvSpPr>
          <p:cNvPr id="308" name="Google Shape;308;p26"/>
          <p:cNvSpPr txBox="1"/>
          <p:nvPr/>
        </p:nvSpPr>
        <p:spPr>
          <a:xfrm>
            <a:off x="916650" y="881088"/>
            <a:ext cx="10643700" cy="922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Implementación del join - Caso 1</a:t>
            </a:r>
            <a:r>
              <a:rPr lang="es-ES" sz="2200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Falla cuando el hilo hijo corre inmediatamente una vez es creado.</a:t>
            </a:r>
            <a:endParaRPr sz="1800" b="1" dirty="0">
              <a:solidFill>
                <a:srgbClr val="E46C0A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26"/>
          <p:cNvSpPr txBox="1"/>
          <p:nvPr/>
        </p:nvSpPr>
        <p:spPr>
          <a:xfrm>
            <a:off x="1051850" y="1950500"/>
            <a:ext cx="5356200" cy="41328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 = PTHREAD_MUTEX_INITIALIZER;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 = PTHREAD_COND_INITIALIZER;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child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child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\n");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thr_exit</a:t>
            </a:r>
            <a:r>
              <a:rPr lang="es-ES" sz="15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5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NULL;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argc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[]) {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begin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\n");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s-ES" sz="1500" dirty="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(&amp;p, NULL, </a:t>
            </a:r>
            <a:r>
              <a:rPr lang="es-ES" sz="1500" dirty="0" err="1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child</a:t>
            </a:r>
            <a:r>
              <a:rPr lang="es-ES" sz="1500" dirty="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, NULL);</a:t>
            </a:r>
            <a:endParaRPr sz="1500" dirty="0">
              <a:solidFill>
                <a:schemeClr val="dk1"/>
              </a:solidFill>
              <a:highlight>
                <a:srgbClr val="00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thr_join</a:t>
            </a:r>
            <a:r>
              <a:rPr lang="es-ES" sz="15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5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\n");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0" name="Google Shape;310;p26"/>
          <p:cNvSpPr txBox="1"/>
          <p:nvPr/>
        </p:nvSpPr>
        <p:spPr>
          <a:xfrm>
            <a:off x="6730525" y="1950500"/>
            <a:ext cx="3995700" cy="14775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thr_exit() {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pthread_mutex_lock(&amp;m);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pthread_cond_signal(&amp;c);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pthread_mutex_unlock(&amp;m);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1" name="Google Shape;311;p26"/>
          <p:cNvSpPr txBox="1"/>
          <p:nvPr/>
        </p:nvSpPr>
        <p:spPr>
          <a:xfrm>
            <a:off x="6730525" y="3843025"/>
            <a:ext cx="3995700" cy="14775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thr_join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(&amp;m);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(&amp;c, &amp;m);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(&amp;m);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Implementación – Caso 2</a:t>
            </a:r>
            <a:endParaRPr dirty="0"/>
          </a:p>
        </p:txBody>
      </p:sp>
      <p:sp>
        <p:nvSpPr>
          <p:cNvPr id="317" name="Google Shape;317;p27"/>
          <p:cNvSpPr txBox="1"/>
          <p:nvPr/>
        </p:nvSpPr>
        <p:spPr>
          <a:xfrm>
            <a:off x="1065875" y="902300"/>
            <a:ext cx="10704900" cy="922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Implementación del join - Caso 2</a:t>
            </a:r>
            <a:r>
              <a:rPr lang="es-ES" sz="2200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Falla cuando el padre es interrumpido inmediatamente después de que se da la validación del </a:t>
            </a: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done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antes de ponerse a dormir.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27"/>
          <p:cNvSpPr txBox="1"/>
          <p:nvPr/>
        </p:nvSpPr>
        <p:spPr>
          <a:xfrm>
            <a:off x="1065875" y="2173025"/>
            <a:ext cx="5131800" cy="43983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done = 0;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 = PTHREAD_MUTEX_INITIALIZER;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 = PTHREAD_COND_INITIALIZER;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child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child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\n");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thr_exit</a:t>
            </a:r>
            <a:r>
              <a:rPr lang="es-ES" sz="15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5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NULL;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argc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[]) {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begin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\n");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s-ES" sz="1500" dirty="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(&amp;p, NULL, </a:t>
            </a:r>
            <a:r>
              <a:rPr lang="es-ES" sz="1500" dirty="0" err="1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child</a:t>
            </a:r>
            <a:r>
              <a:rPr lang="es-ES" sz="1500" dirty="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, NULL);</a:t>
            </a:r>
            <a:endParaRPr sz="1500" dirty="0">
              <a:solidFill>
                <a:schemeClr val="dk1"/>
              </a:solidFill>
              <a:highlight>
                <a:srgbClr val="00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thr_join</a:t>
            </a:r>
            <a:r>
              <a:rPr lang="es-ES" sz="15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5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\n");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9" name="Google Shape;319;p27"/>
          <p:cNvSpPr txBox="1"/>
          <p:nvPr/>
        </p:nvSpPr>
        <p:spPr>
          <a:xfrm>
            <a:off x="6632350" y="2173025"/>
            <a:ext cx="3995700" cy="1246465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thr_exit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done = 1;</a:t>
            </a:r>
            <a:endParaRPr sz="15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(&amp;c);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" name="Google Shape;320;p27"/>
          <p:cNvSpPr txBox="1"/>
          <p:nvPr/>
        </p:nvSpPr>
        <p:spPr>
          <a:xfrm>
            <a:off x="6632350" y="3869200"/>
            <a:ext cx="3995700" cy="17433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thr_join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(&amp;m);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5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(done == 0)</a:t>
            </a:r>
            <a:endParaRPr sz="15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(&amp;c, &amp;m);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(&amp;m);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Implementación – Caso 3</a:t>
            </a:r>
            <a:endParaRPr dirty="0"/>
          </a:p>
        </p:txBody>
      </p:sp>
      <p:sp>
        <p:nvSpPr>
          <p:cNvPr id="326" name="Google Shape;326;p28"/>
          <p:cNvSpPr txBox="1"/>
          <p:nvPr/>
        </p:nvSpPr>
        <p:spPr>
          <a:xfrm>
            <a:off x="989675" y="902300"/>
            <a:ext cx="10704900" cy="922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Implementación del join - Caso 3</a:t>
            </a:r>
            <a:r>
              <a:rPr lang="es-ES" sz="2200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Los problemas de las 2 implementaciones anteriores ya es solucionado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28"/>
          <p:cNvSpPr txBox="1"/>
          <p:nvPr/>
        </p:nvSpPr>
        <p:spPr>
          <a:xfrm>
            <a:off x="1210325" y="1851800"/>
            <a:ext cx="5131800" cy="4697409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done = 0;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 = PTHREAD_MUTEX_INITIALIZER;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 = PTHREAD_COND_INITIALIZER;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child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child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\n");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thr_exit</a:t>
            </a:r>
            <a:r>
              <a:rPr lang="es-ES" sz="15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5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NULL;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argc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[]) {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begin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\n");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s-ES" sz="1500" dirty="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(&amp;p, NULL, </a:t>
            </a:r>
            <a:r>
              <a:rPr lang="es-ES" sz="1500" dirty="0" err="1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child</a:t>
            </a:r>
            <a:r>
              <a:rPr lang="es-ES" sz="1500" dirty="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, NULL);</a:t>
            </a:r>
            <a:endParaRPr sz="1500" dirty="0">
              <a:solidFill>
                <a:schemeClr val="dk1"/>
              </a:solidFill>
              <a:highlight>
                <a:srgbClr val="00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thr_join</a:t>
            </a:r>
            <a:r>
              <a:rPr lang="es-ES" sz="15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5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\n");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8" name="Google Shape;328;p28"/>
          <p:cNvSpPr txBox="1"/>
          <p:nvPr/>
        </p:nvSpPr>
        <p:spPr>
          <a:xfrm>
            <a:off x="6632350" y="1944425"/>
            <a:ext cx="3995700" cy="17433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thr_exit() {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pthread_mutex_lock(&amp;m);</a:t>
            </a:r>
            <a:endParaRPr sz="15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done = 1;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solidFill>
                  <a:srgbClr val="4472C4"/>
                </a:solidFill>
                <a:latin typeface="Consolas"/>
                <a:ea typeface="Consolas"/>
                <a:cs typeface="Consolas"/>
                <a:sym typeface="Consolas"/>
              </a:rPr>
              <a:t>  pthread_cond_signal(&amp;c);</a:t>
            </a:r>
            <a:endParaRPr sz="1500" b="1">
              <a:solidFill>
                <a:srgbClr val="4472C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pthread_mutex_unlock(&amp;m);</a:t>
            </a:r>
            <a:endParaRPr sz="15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9" name="Google Shape;329;p28"/>
          <p:cNvSpPr txBox="1"/>
          <p:nvPr/>
        </p:nvSpPr>
        <p:spPr>
          <a:xfrm>
            <a:off x="6632350" y="4096550"/>
            <a:ext cx="3995700" cy="1777379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thr_join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(&amp;m);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while </a:t>
            </a:r>
            <a:r>
              <a:rPr lang="es-ES" sz="15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(done == 0)</a:t>
            </a:r>
            <a:endParaRPr sz="15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(&amp;c, &amp;m);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(&amp;m);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Problema del productor consumidor</a:t>
            </a:r>
            <a:endParaRPr dirty="0">
              <a:latin typeface="+mj-lt"/>
            </a:endParaRPr>
          </a:p>
        </p:txBody>
      </p:sp>
      <p:sp>
        <p:nvSpPr>
          <p:cNvPr id="344" name="Google Shape;344;p30"/>
          <p:cNvSpPr txBox="1">
            <a:spLocks noGrp="1"/>
          </p:cNvSpPr>
          <p:nvPr>
            <p:ph type="body" idx="1"/>
          </p:nvPr>
        </p:nvSpPr>
        <p:spPr>
          <a:xfrm>
            <a:off x="309716" y="1123575"/>
            <a:ext cx="11539834" cy="83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4472C4"/>
                </a:solidFill>
                <a:latin typeface="+mn-lt"/>
              </a:rPr>
              <a:t>Problema del productor consumidor</a:t>
            </a:r>
            <a:r>
              <a:rPr lang="es-ES" sz="2400" dirty="0">
                <a:latin typeface="+mn-lt"/>
              </a:rPr>
              <a:t> (</a:t>
            </a:r>
            <a:r>
              <a:rPr lang="es-ES" sz="2400" dirty="0" err="1">
                <a:latin typeface="+mn-lt"/>
              </a:rPr>
              <a:t>Consumer</a:t>
            </a:r>
            <a:r>
              <a:rPr lang="es-ES" sz="2400" dirty="0">
                <a:latin typeface="+mn-lt"/>
              </a:rPr>
              <a:t>/producer </a:t>
            </a:r>
            <a:r>
              <a:rPr lang="es-ES" sz="2400" dirty="0" err="1">
                <a:latin typeface="+mn-lt"/>
              </a:rPr>
              <a:t>problem</a:t>
            </a:r>
            <a:r>
              <a:rPr lang="es-ES" sz="2400" dirty="0">
                <a:latin typeface="+mn-lt"/>
              </a:rPr>
              <a:t> = bounded buffer </a:t>
            </a:r>
            <a:r>
              <a:rPr lang="es-ES" sz="2400" dirty="0" err="1">
                <a:latin typeface="+mn-lt"/>
              </a:rPr>
              <a:t>problem</a:t>
            </a:r>
            <a:r>
              <a:rPr lang="es-ES" sz="2400" dirty="0">
                <a:latin typeface="+mn-lt"/>
              </a:rPr>
              <a:t>)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345" name="Google Shape;345;p30"/>
          <p:cNvSpPr txBox="1"/>
          <p:nvPr/>
        </p:nvSpPr>
        <p:spPr>
          <a:xfrm>
            <a:off x="309716" y="2197924"/>
            <a:ext cx="4707000" cy="1231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Productor</a:t>
            </a:r>
            <a:endParaRPr sz="2400" b="1" dirty="0">
              <a:solidFill>
                <a:srgbClr val="E46C0A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dirty="0">
                <a:ea typeface="Roboto"/>
                <a:cs typeface="Roboto"/>
                <a:sym typeface="Roboto"/>
              </a:rPr>
              <a:t>Produce ítems (datos).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dirty="0">
                <a:ea typeface="Roboto"/>
                <a:cs typeface="Roboto"/>
                <a:sym typeface="Roboto"/>
              </a:rPr>
              <a:t>Ubica los datos en un buffer.</a:t>
            </a:r>
            <a:endParaRPr sz="2200" dirty="0"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30"/>
          <p:cNvSpPr txBox="1"/>
          <p:nvPr/>
        </p:nvSpPr>
        <p:spPr>
          <a:xfrm>
            <a:off x="6867150" y="2285777"/>
            <a:ext cx="47070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Consumidor</a:t>
            </a:r>
            <a:endParaRPr sz="2400" b="1" dirty="0">
              <a:solidFill>
                <a:srgbClr val="E46C0A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dirty="0">
                <a:ea typeface="Roboto"/>
                <a:cs typeface="Roboto"/>
                <a:sym typeface="Roboto"/>
              </a:rPr>
              <a:t>Retira datos del buffer y los consume.</a:t>
            </a:r>
            <a:endParaRPr sz="2200" dirty="0">
              <a:ea typeface="Roboto"/>
              <a:cs typeface="Roboto"/>
              <a:sym typeface="Roboto"/>
            </a:endParaRPr>
          </a:p>
        </p:txBody>
      </p:sp>
      <p:graphicFrame>
        <p:nvGraphicFramePr>
          <p:cNvPr id="347" name="Google Shape;347;p30"/>
          <p:cNvGraphicFramePr/>
          <p:nvPr/>
        </p:nvGraphicFramePr>
        <p:xfrm>
          <a:off x="4820175" y="4713125"/>
          <a:ext cx="3258150" cy="10058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3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48" name="Google Shape;348;p30"/>
          <p:cNvGrpSpPr/>
          <p:nvPr/>
        </p:nvGrpSpPr>
        <p:grpSpPr>
          <a:xfrm>
            <a:off x="2305600" y="3680725"/>
            <a:ext cx="1080600" cy="2888275"/>
            <a:chOff x="3133525" y="3717175"/>
            <a:chExt cx="1080600" cy="2888275"/>
          </a:xfrm>
        </p:grpSpPr>
        <p:sp>
          <p:nvSpPr>
            <p:cNvPr id="349" name="Google Shape;349;p30"/>
            <p:cNvSpPr txBox="1"/>
            <p:nvPr/>
          </p:nvSpPr>
          <p:spPr>
            <a:xfrm>
              <a:off x="3365875" y="3717175"/>
              <a:ext cx="615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0" name="Google Shape;350;p30"/>
            <p:cNvSpPr txBox="1"/>
            <p:nvPr/>
          </p:nvSpPr>
          <p:spPr>
            <a:xfrm>
              <a:off x="3365875" y="4326775"/>
              <a:ext cx="615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1" name="Google Shape;351;p30"/>
            <p:cNvSpPr txBox="1"/>
            <p:nvPr/>
          </p:nvSpPr>
          <p:spPr>
            <a:xfrm>
              <a:off x="3365875" y="5204500"/>
              <a:ext cx="615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Pi</a:t>
              </a:r>
              <a:endParaRPr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2" name="Google Shape;352;p30"/>
            <p:cNvSpPr txBox="1"/>
            <p:nvPr/>
          </p:nvSpPr>
          <p:spPr>
            <a:xfrm>
              <a:off x="3365875" y="6082250"/>
              <a:ext cx="615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Pn</a:t>
              </a:r>
              <a:endParaRPr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3" name="Google Shape;353;p30"/>
            <p:cNvSpPr txBox="1"/>
            <p:nvPr/>
          </p:nvSpPr>
          <p:spPr>
            <a:xfrm>
              <a:off x="3133525" y="4713125"/>
              <a:ext cx="1080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4" name="Google Shape;354;p30"/>
            <p:cNvSpPr txBox="1"/>
            <p:nvPr/>
          </p:nvSpPr>
          <p:spPr>
            <a:xfrm>
              <a:off x="3133525" y="5536050"/>
              <a:ext cx="1080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55" name="Google Shape;355;p30"/>
          <p:cNvGrpSpPr/>
          <p:nvPr/>
        </p:nvGrpSpPr>
        <p:grpSpPr>
          <a:xfrm>
            <a:off x="9764325" y="3838000"/>
            <a:ext cx="1080600" cy="2725575"/>
            <a:chOff x="8545125" y="3761800"/>
            <a:chExt cx="1080600" cy="2725575"/>
          </a:xfrm>
        </p:grpSpPr>
        <p:sp>
          <p:nvSpPr>
            <p:cNvPr id="356" name="Google Shape;356;p30"/>
            <p:cNvSpPr txBox="1"/>
            <p:nvPr/>
          </p:nvSpPr>
          <p:spPr>
            <a:xfrm>
              <a:off x="8777475" y="3761800"/>
              <a:ext cx="615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C1</a:t>
              </a:r>
              <a:endParaRPr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7" name="Google Shape;357;p30"/>
            <p:cNvSpPr txBox="1"/>
            <p:nvPr/>
          </p:nvSpPr>
          <p:spPr>
            <a:xfrm>
              <a:off x="8777475" y="4447100"/>
              <a:ext cx="615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C2</a:t>
              </a:r>
              <a:endParaRPr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8" name="Google Shape;358;p30"/>
            <p:cNvSpPr txBox="1"/>
            <p:nvPr/>
          </p:nvSpPr>
          <p:spPr>
            <a:xfrm>
              <a:off x="8777475" y="5205625"/>
              <a:ext cx="615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Cj</a:t>
              </a:r>
              <a:endParaRPr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9" name="Google Shape;359;p30"/>
            <p:cNvSpPr txBox="1"/>
            <p:nvPr/>
          </p:nvSpPr>
          <p:spPr>
            <a:xfrm>
              <a:off x="8777475" y="5964175"/>
              <a:ext cx="615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Cn</a:t>
              </a:r>
              <a:endParaRPr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60" name="Google Shape;360;p30"/>
            <p:cNvSpPr txBox="1"/>
            <p:nvPr/>
          </p:nvSpPr>
          <p:spPr>
            <a:xfrm>
              <a:off x="8545125" y="4776850"/>
              <a:ext cx="1080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61" name="Google Shape;361;p30"/>
            <p:cNvSpPr txBox="1"/>
            <p:nvPr/>
          </p:nvSpPr>
          <p:spPr>
            <a:xfrm>
              <a:off x="8545125" y="5536050"/>
              <a:ext cx="1080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cxnSp>
        <p:nvCxnSpPr>
          <p:cNvPr id="362" name="Google Shape;362;p30"/>
          <p:cNvCxnSpPr/>
          <p:nvPr/>
        </p:nvCxnSpPr>
        <p:spPr>
          <a:xfrm>
            <a:off x="3484775" y="5168250"/>
            <a:ext cx="1051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3" name="Google Shape;363;p30"/>
          <p:cNvCxnSpPr/>
          <p:nvPr/>
        </p:nvCxnSpPr>
        <p:spPr>
          <a:xfrm>
            <a:off x="8395425" y="5168250"/>
            <a:ext cx="1051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1"/>
          <p:cNvSpPr txBox="1">
            <a:spLocks noGrp="1"/>
          </p:cNvSpPr>
          <p:nvPr>
            <p:ph type="title"/>
          </p:nvPr>
        </p:nvSpPr>
        <p:spPr>
          <a:xfrm>
            <a:off x="324465" y="96038"/>
            <a:ext cx="889618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Problema del productor consumidor</a:t>
            </a:r>
            <a:endParaRPr dirty="0">
              <a:latin typeface="+mj-lt"/>
            </a:endParaRPr>
          </a:p>
        </p:txBody>
      </p:sp>
      <p:sp>
        <p:nvSpPr>
          <p:cNvPr id="369" name="Google Shape;369;p31"/>
          <p:cNvSpPr txBox="1">
            <a:spLocks noGrp="1"/>
          </p:cNvSpPr>
          <p:nvPr>
            <p:ph type="body" idx="1"/>
          </p:nvPr>
        </p:nvSpPr>
        <p:spPr>
          <a:xfrm>
            <a:off x="430800" y="919775"/>
            <a:ext cx="10760400" cy="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Ejemplos productor  consumidor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370" name="Google Shape;370;p31"/>
          <p:cNvSpPr txBox="1">
            <a:spLocks noGrp="1"/>
          </p:cNvSpPr>
          <p:nvPr>
            <p:ph type="body" idx="1"/>
          </p:nvPr>
        </p:nvSpPr>
        <p:spPr>
          <a:xfrm>
            <a:off x="430800" y="1609475"/>
            <a:ext cx="10932900" cy="51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46C0A"/>
                </a:solidFill>
                <a:latin typeface="+mn-lt"/>
              </a:rPr>
              <a:t>Vida real</a:t>
            </a:r>
            <a:endParaRPr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371" name="Google Shape;37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4475" y="2379425"/>
            <a:ext cx="3450390" cy="3354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2075" y="2379425"/>
            <a:ext cx="4557974" cy="335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2"/>
          <p:cNvSpPr txBox="1">
            <a:spLocks noGrp="1"/>
          </p:cNvSpPr>
          <p:nvPr>
            <p:ph type="title"/>
          </p:nvPr>
        </p:nvSpPr>
        <p:spPr>
          <a:xfrm>
            <a:off x="514950" y="96038"/>
            <a:ext cx="87057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Problema del productor consumidor</a:t>
            </a:r>
            <a:endParaRPr dirty="0">
              <a:latin typeface="+mj-lt"/>
            </a:endParaRPr>
          </a:p>
        </p:txBody>
      </p:sp>
      <p:sp>
        <p:nvSpPr>
          <p:cNvPr id="378" name="Google Shape;378;p32"/>
          <p:cNvSpPr txBox="1">
            <a:spLocks noGrp="1"/>
          </p:cNvSpPr>
          <p:nvPr>
            <p:ph type="body" idx="1"/>
          </p:nvPr>
        </p:nvSpPr>
        <p:spPr>
          <a:xfrm>
            <a:off x="514950" y="835625"/>
            <a:ext cx="111621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Ejemplos productor  consumidor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379" name="Google Shape;379;p32"/>
          <p:cNvSpPr txBox="1">
            <a:spLocks noGrp="1"/>
          </p:cNvSpPr>
          <p:nvPr>
            <p:ph type="body" idx="1"/>
          </p:nvPr>
        </p:nvSpPr>
        <p:spPr>
          <a:xfrm>
            <a:off x="571050" y="1460150"/>
            <a:ext cx="11162100" cy="13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46C0A"/>
                </a:solidFill>
                <a:latin typeface="+mn-lt"/>
              </a:rPr>
              <a:t>Servidor </a:t>
            </a:r>
            <a:r>
              <a:rPr lang="es-ES" sz="2400" b="1" dirty="0" err="1">
                <a:solidFill>
                  <a:srgbClr val="E46C0A"/>
                </a:solidFill>
                <a:latin typeface="+mn-lt"/>
              </a:rPr>
              <a:t>multi-hilo</a:t>
            </a:r>
            <a:endParaRPr sz="2400" b="1" dirty="0">
              <a:solidFill>
                <a:srgbClr val="E46C0A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Un </a:t>
            </a:r>
            <a:r>
              <a:rPr lang="es-ES" sz="2400" b="1" dirty="0">
                <a:latin typeface="+mn-lt"/>
              </a:rPr>
              <a:t>productor</a:t>
            </a:r>
            <a:r>
              <a:rPr lang="es-ES" sz="2400" dirty="0">
                <a:latin typeface="+mn-lt"/>
              </a:rPr>
              <a:t> ingresa </a:t>
            </a:r>
            <a:r>
              <a:rPr lang="es-ES" sz="2400" b="1" dirty="0">
                <a:latin typeface="+mn-lt"/>
                <a:ea typeface="Consolas"/>
                <a:cs typeface="Consolas"/>
                <a:sym typeface="Consolas"/>
              </a:rPr>
              <a:t>http request</a:t>
            </a:r>
            <a:r>
              <a:rPr lang="es-ES" sz="2400" dirty="0">
                <a:latin typeface="+mn-lt"/>
              </a:rPr>
              <a:t> en una </a:t>
            </a:r>
            <a:r>
              <a:rPr lang="es-ES" sz="2400" b="1" dirty="0">
                <a:latin typeface="+mn-lt"/>
              </a:rPr>
              <a:t>cola</a:t>
            </a:r>
            <a:r>
              <a:rPr lang="es-ES" sz="2400" dirty="0">
                <a:latin typeface="+mn-lt"/>
              </a:rPr>
              <a:t> de trabajo.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El </a:t>
            </a:r>
            <a:r>
              <a:rPr lang="es-ES" sz="2400" b="1" dirty="0">
                <a:latin typeface="+mn-lt"/>
              </a:rPr>
              <a:t>consumidor</a:t>
            </a:r>
            <a:r>
              <a:rPr lang="es-ES" sz="2400" dirty="0">
                <a:latin typeface="+mn-lt"/>
              </a:rPr>
              <a:t> retira requerimientos de la </a:t>
            </a:r>
            <a:r>
              <a:rPr lang="es-ES" sz="2400" b="1" dirty="0">
                <a:latin typeface="+mn-lt"/>
              </a:rPr>
              <a:t>cola</a:t>
            </a:r>
            <a:r>
              <a:rPr lang="es-ES" sz="2400" dirty="0">
                <a:latin typeface="+mn-lt"/>
              </a:rPr>
              <a:t> y los procesa.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380" name="Google Shape;38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0700" y="3090650"/>
            <a:ext cx="5965950" cy="290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8200" y="3090638"/>
            <a:ext cx="3673775" cy="31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3"/>
          <p:cNvSpPr txBox="1">
            <a:spLocks noGrp="1"/>
          </p:cNvSpPr>
          <p:nvPr>
            <p:ph type="title"/>
          </p:nvPr>
        </p:nvSpPr>
        <p:spPr>
          <a:xfrm>
            <a:off x="486900" y="96038"/>
            <a:ext cx="87337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Problema del productor consumidor</a:t>
            </a:r>
            <a:endParaRPr dirty="0">
              <a:latin typeface="+mj-lt"/>
            </a:endParaRPr>
          </a:p>
        </p:txBody>
      </p:sp>
      <p:sp>
        <p:nvSpPr>
          <p:cNvPr id="387" name="Google Shape;387;p33"/>
          <p:cNvSpPr txBox="1">
            <a:spLocks noGrp="1"/>
          </p:cNvSpPr>
          <p:nvPr>
            <p:ph type="body" idx="1"/>
          </p:nvPr>
        </p:nvSpPr>
        <p:spPr>
          <a:xfrm>
            <a:off x="343365" y="877755"/>
            <a:ext cx="107604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Ejemplos productor  consumidor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388" name="Google Shape;388;p33"/>
          <p:cNvSpPr txBox="1">
            <a:spLocks noGrp="1"/>
          </p:cNvSpPr>
          <p:nvPr>
            <p:ph type="body" idx="1"/>
          </p:nvPr>
        </p:nvSpPr>
        <p:spPr>
          <a:xfrm>
            <a:off x="343365" y="1353978"/>
            <a:ext cx="10816500" cy="185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46C0A"/>
                </a:solidFill>
                <a:latin typeface="+mn-lt"/>
              </a:rPr>
              <a:t>Tuberia</a:t>
            </a:r>
            <a:endParaRPr sz="2400" b="1" dirty="0">
              <a:solidFill>
                <a:srgbClr val="E46C0A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Un bounded buffer (buffer limitado) es usado para llevar la salida de un programa como entrada de otro.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n-lt"/>
              </a:rPr>
              <a:t>Ejemplo</a:t>
            </a:r>
            <a:r>
              <a:rPr lang="es-ES" sz="2200" dirty="0">
                <a:latin typeface="+mn-lt"/>
              </a:rPr>
              <a:t>: </a:t>
            </a:r>
            <a:r>
              <a:rPr lang="es-ES" sz="22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grep foo file.txt | wc </a:t>
            </a:r>
            <a:endParaRPr sz="2200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389" name="Google Shape;38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2855" y="3147700"/>
            <a:ext cx="4880260" cy="185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3"/>
          <p:cNvSpPr txBox="1"/>
          <p:nvPr/>
        </p:nvSpPr>
        <p:spPr>
          <a:xfrm>
            <a:off x="4722990" y="5268525"/>
            <a:ext cx="3000000" cy="431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/>
              <a:t>Buffer limitado</a:t>
            </a:r>
            <a:r>
              <a:rPr lang="es-ES" sz="1600" dirty="0"/>
              <a:t>: </a:t>
            </a:r>
            <a:r>
              <a:rPr lang="es-ES" sz="1600" dirty="0">
                <a:ea typeface="Consolas"/>
                <a:cs typeface="Consolas"/>
                <a:sym typeface="Consolas"/>
              </a:rPr>
              <a:t>Tuberia</a:t>
            </a:r>
            <a:endParaRPr sz="1600" dirty="0">
              <a:ea typeface="Consolas"/>
              <a:cs typeface="Consolas"/>
              <a:sym typeface="Consolas"/>
            </a:endParaRPr>
          </a:p>
        </p:txBody>
      </p:sp>
      <p:sp>
        <p:nvSpPr>
          <p:cNvPr id="391" name="Google Shape;391;p33"/>
          <p:cNvSpPr/>
          <p:nvPr/>
        </p:nvSpPr>
        <p:spPr>
          <a:xfrm>
            <a:off x="1104065" y="3533100"/>
            <a:ext cx="2216100" cy="81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Productor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18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grep</a:t>
            </a:r>
            <a:endParaRPr dirty="0">
              <a:latin typeface="Consolas" panose="020B0609020204030204" pitchFamily="49" charset="0"/>
            </a:endParaRPr>
          </a:p>
        </p:txBody>
      </p:sp>
      <p:sp>
        <p:nvSpPr>
          <p:cNvPr id="392" name="Google Shape;392;p33"/>
          <p:cNvSpPr/>
          <p:nvPr/>
        </p:nvSpPr>
        <p:spPr>
          <a:xfrm>
            <a:off x="9055965" y="3440725"/>
            <a:ext cx="2103900" cy="850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Consumidor</a:t>
            </a:r>
            <a:r>
              <a:rPr lang="es-ES" sz="17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18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wc</a:t>
            </a:r>
            <a:endParaRPr dirty="0">
              <a:latin typeface="Consolas" panose="020B0609020204030204" pitchFamily="49" charset="0"/>
            </a:endParaRPr>
          </a:p>
        </p:txBody>
      </p:sp>
      <p:sp>
        <p:nvSpPr>
          <p:cNvPr id="393" name="Google Shape;393;p33"/>
          <p:cNvSpPr txBox="1"/>
          <p:nvPr/>
        </p:nvSpPr>
        <p:spPr>
          <a:xfrm>
            <a:off x="400957" y="6022375"/>
            <a:ext cx="11169466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b="1" dirty="0">
                <a:ea typeface="Roboto"/>
                <a:cs typeface="Roboto"/>
                <a:sym typeface="Roboto"/>
              </a:rPr>
              <a:t>El buffer (bounded buffer) es el recurso compartido</a:t>
            </a:r>
            <a:r>
              <a:rPr lang="es-ES" sz="2200" dirty="0">
                <a:ea typeface="Roboto"/>
                <a:cs typeface="Roboto"/>
                <a:sym typeface="Roboto"/>
              </a:rPr>
              <a:t> → Requiere un acceso sincronizado.</a:t>
            </a:r>
            <a:endParaRPr sz="2200" dirty="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4"/>
          <p:cNvSpPr txBox="1">
            <a:spLocks noGrp="1"/>
          </p:cNvSpPr>
          <p:nvPr>
            <p:ph type="title"/>
          </p:nvPr>
        </p:nvSpPr>
        <p:spPr>
          <a:xfrm>
            <a:off x="1092650" y="208250"/>
            <a:ext cx="80157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Rutinas </a:t>
            </a:r>
            <a:r>
              <a:rPr lang="es-ES" dirty="0" err="1">
                <a:latin typeface="+mj-lt"/>
              </a:rPr>
              <a:t>put</a:t>
            </a:r>
            <a:r>
              <a:rPr lang="es-ES" dirty="0">
                <a:latin typeface="+mj-lt"/>
              </a:rPr>
              <a:t> y </a:t>
            </a:r>
            <a:r>
              <a:rPr lang="es-ES" dirty="0" err="1">
                <a:latin typeface="+mj-lt"/>
              </a:rPr>
              <a:t>get</a:t>
            </a:r>
            <a:endParaRPr dirty="0">
              <a:latin typeface="+mj-lt"/>
            </a:endParaRPr>
          </a:p>
        </p:txBody>
      </p:sp>
      <p:sp>
        <p:nvSpPr>
          <p:cNvPr id="399" name="Google Shape;399;p34"/>
          <p:cNvSpPr txBox="1"/>
          <p:nvPr/>
        </p:nvSpPr>
        <p:spPr>
          <a:xfrm>
            <a:off x="1028625" y="5766325"/>
            <a:ext cx="10848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Solo ingrese datos al buffer cuando esté vació (</a:t>
            </a:r>
            <a:r>
              <a:rPr lang="es-ES" sz="24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count</a:t>
            </a:r>
            <a:r>
              <a:rPr lang="es-ES" sz="24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== 0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Solo retire datos del buffer está lleno (</a:t>
            </a:r>
            <a:r>
              <a:rPr lang="es-ES" sz="24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count</a:t>
            </a:r>
            <a:r>
              <a:rPr lang="es-ES" sz="24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== 1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34"/>
          <p:cNvSpPr txBox="1"/>
          <p:nvPr/>
        </p:nvSpPr>
        <p:spPr>
          <a:xfrm>
            <a:off x="1206100" y="1308985"/>
            <a:ext cx="4767000" cy="4112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buffer;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count = 0; // initially, empty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put(int value)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assert(count == 0);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count = 1;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buffer = value;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get()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assert(count == 1);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count = 0;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return buffer;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01" name="Google Shape;401;p34"/>
          <p:cNvGrpSpPr/>
          <p:nvPr/>
        </p:nvGrpSpPr>
        <p:grpSpPr>
          <a:xfrm>
            <a:off x="6785375" y="2212475"/>
            <a:ext cx="3690800" cy="2499113"/>
            <a:chOff x="6420775" y="2386950"/>
            <a:chExt cx="3690800" cy="2499113"/>
          </a:xfrm>
        </p:grpSpPr>
        <p:grpSp>
          <p:nvGrpSpPr>
            <p:cNvPr id="402" name="Google Shape;402;p34"/>
            <p:cNvGrpSpPr/>
            <p:nvPr/>
          </p:nvGrpSpPr>
          <p:grpSpPr>
            <a:xfrm>
              <a:off x="7628075" y="3960263"/>
              <a:ext cx="1276200" cy="925800"/>
              <a:chOff x="7628075" y="4128563"/>
              <a:chExt cx="1276200" cy="925800"/>
            </a:xfrm>
          </p:grpSpPr>
          <p:sp>
            <p:nvSpPr>
              <p:cNvPr id="403" name="Google Shape;403;p34"/>
              <p:cNvSpPr/>
              <p:nvPr/>
            </p:nvSpPr>
            <p:spPr>
              <a:xfrm>
                <a:off x="7628075" y="4128563"/>
                <a:ext cx="1276200" cy="462900"/>
              </a:xfrm>
              <a:prstGeom prst="rect">
                <a:avLst/>
              </a:prstGeom>
              <a:solidFill>
                <a:srgbClr val="F4CCC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4"/>
              <p:cNvSpPr/>
              <p:nvPr/>
            </p:nvSpPr>
            <p:spPr>
              <a:xfrm>
                <a:off x="7628075" y="4591463"/>
                <a:ext cx="1276200" cy="46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latin typeface="Consolas"/>
                    <a:ea typeface="Consolas"/>
                    <a:cs typeface="Consolas"/>
                    <a:sym typeface="Consolas"/>
                  </a:rPr>
                  <a:t>count</a:t>
                </a:r>
                <a:endParaRPr sz="18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405" name="Google Shape;405;p34"/>
            <p:cNvGrpSpPr/>
            <p:nvPr/>
          </p:nvGrpSpPr>
          <p:grpSpPr>
            <a:xfrm>
              <a:off x="6420775" y="2386950"/>
              <a:ext cx="3690800" cy="1159713"/>
              <a:chOff x="6420775" y="2751600"/>
              <a:chExt cx="3690800" cy="1159713"/>
            </a:xfrm>
          </p:grpSpPr>
          <p:grpSp>
            <p:nvGrpSpPr>
              <p:cNvPr id="406" name="Google Shape;406;p34"/>
              <p:cNvGrpSpPr/>
              <p:nvPr/>
            </p:nvGrpSpPr>
            <p:grpSpPr>
              <a:xfrm>
                <a:off x="7628075" y="2985513"/>
                <a:ext cx="1276200" cy="925800"/>
                <a:chOff x="7628075" y="2985513"/>
                <a:chExt cx="1276200" cy="925800"/>
              </a:xfrm>
            </p:grpSpPr>
            <p:sp>
              <p:nvSpPr>
                <p:cNvPr id="407" name="Google Shape;407;p34"/>
                <p:cNvSpPr/>
                <p:nvPr/>
              </p:nvSpPr>
              <p:spPr>
                <a:xfrm>
                  <a:off x="7628075" y="2985513"/>
                  <a:ext cx="1276200" cy="462900"/>
                </a:xfrm>
                <a:prstGeom prst="rect">
                  <a:avLst/>
                </a:prstGeom>
                <a:solidFill>
                  <a:srgbClr val="B6D7A8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" name="Google Shape;408;p34"/>
                <p:cNvSpPr/>
                <p:nvPr/>
              </p:nvSpPr>
              <p:spPr>
                <a:xfrm>
                  <a:off x="7628075" y="3448413"/>
                  <a:ext cx="1276200" cy="46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latin typeface="Consolas"/>
                      <a:ea typeface="Consolas"/>
                      <a:cs typeface="Consolas"/>
                      <a:sym typeface="Consolas"/>
                    </a:rPr>
                    <a:t>buffer</a:t>
                  </a:r>
                  <a:endParaRPr sz="180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grpSp>
            <p:nvGrpSpPr>
              <p:cNvPr id="409" name="Google Shape;409;p34"/>
              <p:cNvGrpSpPr/>
              <p:nvPr/>
            </p:nvGrpSpPr>
            <p:grpSpPr>
              <a:xfrm>
                <a:off x="6420775" y="2751600"/>
                <a:ext cx="1149000" cy="462900"/>
                <a:chOff x="6420775" y="2751600"/>
                <a:chExt cx="1149000" cy="462900"/>
              </a:xfrm>
            </p:grpSpPr>
            <p:cxnSp>
              <p:nvCxnSpPr>
                <p:cNvPr id="410" name="Google Shape;410;p34"/>
                <p:cNvCxnSpPr/>
                <p:nvPr/>
              </p:nvCxnSpPr>
              <p:spPr>
                <a:xfrm rot="10800000" flipH="1">
                  <a:off x="6420775" y="3207300"/>
                  <a:ext cx="1149000" cy="7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411" name="Google Shape;411;p34"/>
                <p:cNvSpPr/>
                <p:nvPr/>
              </p:nvSpPr>
              <p:spPr>
                <a:xfrm>
                  <a:off x="6628950" y="2751600"/>
                  <a:ext cx="609600" cy="46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latin typeface="Consolas"/>
                      <a:ea typeface="Consolas"/>
                      <a:cs typeface="Consolas"/>
                      <a:sym typeface="Consolas"/>
                    </a:rPr>
                    <a:t>put</a:t>
                  </a:r>
                  <a:endParaRPr sz="180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grpSp>
            <p:nvGrpSpPr>
              <p:cNvPr id="412" name="Google Shape;412;p34"/>
              <p:cNvGrpSpPr/>
              <p:nvPr/>
            </p:nvGrpSpPr>
            <p:grpSpPr>
              <a:xfrm>
                <a:off x="8962575" y="2751600"/>
                <a:ext cx="1149000" cy="462900"/>
                <a:chOff x="8962575" y="2751600"/>
                <a:chExt cx="1149000" cy="462900"/>
              </a:xfrm>
            </p:grpSpPr>
            <p:sp>
              <p:nvSpPr>
                <p:cNvPr id="413" name="Google Shape;413;p34"/>
                <p:cNvSpPr/>
                <p:nvPr/>
              </p:nvSpPr>
              <p:spPr>
                <a:xfrm>
                  <a:off x="9108350" y="2751600"/>
                  <a:ext cx="638100" cy="46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latin typeface="Consolas"/>
                      <a:ea typeface="Consolas"/>
                      <a:cs typeface="Consolas"/>
                      <a:sym typeface="Consolas"/>
                    </a:rPr>
                    <a:t>get</a:t>
                  </a:r>
                  <a:endParaRPr sz="180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cxnSp>
              <p:nvCxnSpPr>
                <p:cNvPr id="414" name="Google Shape;414;p34"/>
                <p:cNvCxnSpPr/>
                <p:nvPr/>
              </p:nvCxnSpPr>
              <p:spPr>
                <a:xfrm rot="10800000" flipH="1">
                  <a:off x="8962575" y="3207300"/>
                  <a:ext cx="1149000" cy="7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5"/>
          <p:cNvSpPr txBox="1">
            <a:spLocks noGrp="1"/>
          </p:cNvSpPr>
          <p:nvPr>
            <p:ph type="title"/>
          </p:nvPr>
        </p:nvSpPr>
        <p:spPr>
          <a:xfrm>
            <a:off x="1092650" y="208250"/>
            <a:ext cx="80157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Hilos productor/consumidor</a:t>
            </a:r>
            <a:endParaRPr dirty="0">
              <a:latin typeface="+mj-lt"/>
            </a:endParaRPr>
          </a:p>
        </p:txBody>
      </p:sp>
      <p:sp>
        <p:nvSpPr>
          <p:cNvPr id="420" name="Google Shape;420;p35"/>
          <p:cNvSpPr txBox="1"/>
          <p:nvPr/>
        </p:nvSpPr>
        <p:spPr>
          <a:xfrm>
            <a:off x="1028625" y="5766325"/>
            <a:ext cx="10848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ea typeface="Roboto"/>
                <a:cs typeface="Roboto"/>
                <a:sym typeface="Roboto"/>
              </a:rPr>
              <a:t>Solo ingrese datos al buffer cuando esté vació (</a:t>
            </a:r>
            <a:r>
              <a:rPr lang="es-ES" sz="2400" b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count == 0</a:t>
            </a:r>
            <a:r>
              <a:rPr lang="es-ES" sz="240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ea typeface="Roboto"/>
                <a:cs typeface="Roboto"/>
                <a:sym typeface="Roboto"/>
              </a:rPr>
              <a:t>Solo retire datos del buffer está lleno (</a:t>
            </a:r>
            <a:r>
              <a:rPr lang="es-ES" sz="2400" b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count == 1</a:t>
            </a:r>
            <a:r>
              <a:rPr lang="es-ES" sz="240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35"/>
          <p:cNvSpPr txBox="1"/>
          <p:nvPr/>
        </p:nvSpPr>
        <p:spPr>
          <a:xfrm>
            <a:off x="1206100" y="1279500"/>
            <a:ext cx="3771300" cy="4112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*producer(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(i = 0; i &lt;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i++)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(i);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while (1)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("%d\n",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22" name="Google Shape;422;p35"/>
          <p:cNvGrpSpPr/>
          <p:nvPr/>
        </p:nvGrpSpPr>
        <p:grpSpPr>
          <a:xfrm>
            <a:off x="6902700" y="3514500"/>
            <a:ext cx="3690800" cy="2194313"/>
            <a:chOff x="6420775" y="2386950"/>
            <a:chExt cx="3690800" cy="2194313"/>
          </a:xfrm>
        </p:grpSpPr>
        <p:grpSp>
          <p:nvGrpSpPr>
            <p:cNvPr id="423" name="Google Shape;423;p35"/>
            <p:cNvGrpSpPr/>
            <p:nvPr/>
          </p:nvGrpSpPr>
          <p:grpSpPr>
            <a:xfrm>
              <a:off x="7628075" y="3655463"/>
              <a:ext cx="1276200" cy="925800"/>
              <a:chOff x="7628075" y="3823763"/>
              <a:chExt cx="1276200" cy="925800"/>
            </a:xfrm>
          </p:grpSpPr>
          <p:sp>
            <p:nvSpPr>
              <p:cNvPr id="424" name="Google Shape;424;p35"/>
              <p:cNvSpPr/>
              <p:nvPr/>
            </p:nvSpPr>
            <p:spPr>
              <a:xfrm>
                <a:off x="7628075" y="3823763"/>
                <a:ext cx="1276200" cy="462900"/>
              </a:xfrm>
              <a:prstGeom prst="rect">
                <a:avLst/>
              </a:prstGeom>
              <a:solidFill>
                <a:srgbClr val="F4CCC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35"/>
              <p:cNvSpPr/>
              <p:nvPr/>
            </p:nvSpPr>
            <p:spPr>
              <a:xfrm>
                <a:off x="7628075" y="4286663"/>
                <a:ext cx="1276200" cy="46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latin typeface="Consolas"/>
                    <a:ea typeface="Consolas"/>
                    <a:cs typeface="Consolas"/>
                    <a:sym typeface="Consolas"/>
                  </a:rPr>
                  <a:t>count</a:t>
                </a:r>
                <a:endParaRPr sz="18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426" name="Google Shape;426;p35"/>
            <p:cNvGrpSpPr/>
            <p:nvPr/>
          </p:nvGrpSpPr>
          <p:grpSpPr>
            <a:xfrm>
              <a:off x="6420775" y="2386950"/>
              <a:ext cx="3690800" cy="1159713"/>
              <a:chOff x="6420775" y="2751600"/>
              <a:chExt cx="3690800" cy="1159713"/>
            </a:xfrm>
          </p:grpSpPr>
          <p:grpSp>
            <p:nvGrpSpPr>
              <p:cNvPr id="427" name="Google Shape;427;p35"/>
              <p:cNvGrpSpPr/>
              <p:nvPr/>
            </p:nvGrpSpPr>
            <p:grpSpPr>
              <a:xfrm>
                <a:off x="7628075" y="2985513"/>
                <a:ext cx="1276200" cy="925800"/>
                <a:chOff x="7628075" y="2985513"/>
                <a:chExt cx="1276200" cy="925800"/>
              </a:xfrm>
            </p:grpSpPr>
            <p:sp>
              <p:nvSpPr>
                <p:cNvPr id="428" name="Google Shape;428;p35"/>
                <p:cNvSpPr/>
                <p:nvPr/>
              </p:nvSpPr>
              <p:spPr>
                <a:xfrm>
                  <a:off x="7628075" y="2985513"/>
                  <a:ext cx="1276200" cy="462900"/>
                </a:xfrm>
                <a:prstGeom prst="rect">
                  <a:avLst/>
                </a:prstGeom>
                <a:solidFill>
                  <a:srgbClr val="B6D7A8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9" name="Google Shape;429;p35"/>
                <p:cNvSpPr/>
                <p:nvPr/>
              </p:nvSpPr>
              <p:spPr>
                <a:xfrm>
                  <a:off x="7628075" y="3448413"/>
                  <a:ext cx="1276200" cy="46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latin typeface="Consolas"/>
                      <a:ea typeface="Consolas"/>
                      <a:cs typeface="Consolas"/>
                      <a:sym typeface="Consolas"/>
                    </a:rPr>
                    <a:t>buffer</a:t>
                  </a:r>
                  <a:endParaRPr sz="180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grpSp>
            <p:nvGrpSpPr>
              <p:cNvPr id="430" name="Google Shape;430;p35"/>
              <p:cNvGrpSpPr/>
              <p:nvPr/>
            </p:nvGrpSpPr>
            <p:grpSpPr>
              <a:xfrm>
                <a:off x="6420775" y="2751600"/>
                <a:ext cx="1149000" cy="462900"/>
                <a:chOff x="6420775" y="2751600"/>
                <a:chExt cx="1149000" cy="462900"/>
              </a:xfrm>
            </p:grpSpPr>
            <p:cxnSp>
              <p:nvCxnSpPr>
                <p:cNvPr id="431" name="Google Shape;431;p35"/>
                <p:cNvCxnSpPr/>
                <p:nvPr/>
              </p:nvCxnSpPr>
              <p:spPr>
                <a:xfrm rot="10800000" flipH="1">
                  <a:off x="6420775" y="3207300"/>
                  <a:ext cx="1149000" cy="7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432" name="Google Shape;432;p35"/>
                <p:cNvSpPr/>
                <p:nvPr/>
              </p:nvSpPr>
              <p:spPr>
                <a:xfrm>
                  <a:off x="6628950" y="2751600"/>
                  <a:ext cx="609600" cy="46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latin typeface="Consolas"/>
                      <a:ea typeface="Consolas"/>
                      <a:cs typeface="Consolas"/>
                      <a:sym typeface="Consolas"/>
                    </a:rPr>
                    <a:t>put</a:t>
                  </a:r>
                  <a:endParaRPr sz="180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grpSp>
            <p:nvGrpSpPr>
              <p:cNvPr id="433" name="Google Shape;433;p35"/>
              <p:cNvGrpSpPr/>
              <p:nvPr/>
            </p:nvGrpSpPr>
            <p:grpSpPr>
              <a:xfrm>
                <a:off x="8962575" y="2751600"/>
                <a:ext cx="1149000" cy="462900"/>
                <a:chOff x="8962575" y="2751600"/>
                <a:chExt cx="1149000" cy="462900"/>
              </a:xfrm>
            </p:grpSpPr>
            <p:sp>
              <p:nvSpPr>
                <p:cNvPr id="434" name="Google Shape;434;p35"/>
                <p:cNvSpPr/>
                <p:nvPr/>
              </p:nvSpPr>
              <p:spPr>
                <a:xfrm>
                  <a:off x="9108350" y="2751600"/>
                  <a:ext cx="638100" cy="46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>
                      <a:latin typeface="Consolas"/>
                      <a:ea typeface="Consolas"/>
                      <a:cs typeface="Consolas"/>
                      <a:sym typeface="Consolas"/>
                    </a:rPr>
                    <a:t>get</a:t>
                  </a:r>
                  <a:endParaRPr sz="180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cxnSp>
              <p:nvCxnSpPr>
                <p:cNvPr id="435" name="Google Shape;435;p35"/>
                <p:cNvCxnSpPr/>
                <p:nvPr/>
              </p:nvCxnSpPr>
              <p:spPr>
                <a:xfrm rot="10800000" flipH="1">
                  <a:off x="8962575" y="3207300"/>
                  <a:ext cx="1149000" cy="72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grpSp>
        <p:nvGrpSpPr>
          <p:cNvPr id="436" name="Google Shape;436;p35"/>
          <p:cNvGrpSpPr/>
          <p:nvPr/>
        </p:nvGrpSpPr>
        <p:grpSpPr>
          <a:xfrm>
            <a:off x="5834150" y="1233950"/>
            <a:ext cx="5662200" cy="892522"/>
            <a:chOff x="5834150" y="1157750"/>
            <a:chExt cx="5662200" cy="892522"/>
          </a:xfrm>
        </p:grpSpPr>
        <p:sp>
          <p:nvSpPr>
            <p:cNvPr id="437" name="Google Shape;437;p35"/>
            <p:cNvSpPr txBox="1"/>
            <p:nvPr/>
          </p:nvSpPr>
          <p:spPr>
            <a:xfrm>
              <a:off x="7401350" y="1157750"/>
              <a:ext cx="4095000" cy="8925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Ingresa datos enteros en el buffer compartido (uno por cada ciclo).</a:t>
              </a:r>
              <a:endParaRPr sz="2000" dirty="0">
                <a:solidFill>
                  <a:schemeClr val="dk1"/>
                </a:solidFill>
                <a:ea typeface="Roboto"/>
                <a:cs typeface="Roboto"/>
                <a:sym typeface="Roboto"/>
              </a:endParaRPr>
            </a:p>
          </p:txBody>
        </p:sp>
        <p:sp>
          <p:nvSpPr>
            <p:cNvPr id="438" name="Google Shape;438;p35"/>
            <p:cNvSpPr txBox="1"/>
            <p:nvPr/>
          </p:nvSpPr>
          <p:spPr>
            <a:xfrm>
              <a:off x="5834150" y="1319450"/>
              <a:ext cx="1567200" cy="609367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solidFill>
                    <a:srgbClr val="00B050"/>
                  </a:solidFill>
                  <a:ea typeface="Consolas"/>
                  <a:cs typeface="Consolas"/>
                  <a:sym typeface="Consolas"/>
                </a:rPr>
                <a:t>producer</a:t>
              </a:r>
              <a:endParaRPr sz="2400" b="1" dirty="0">
                <a:solidFill>
                  <a:srgbClr val="00B050"/>
                </a:solidFill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439" name="Google Shape;439;p35"/>
          <p:cNvGrpSpPr/>
          <p:nvPr/>
        </p:nvGrpSpPr>
        <p:grpSpPr>
          <a:xfrm>
            <a:off x="5834150" y="2520475"/>
            <a:ext cx="6099600" cy="609367"/>
            <a:chOff x="5834150" y="2291875"/>
            <a:chExt cx="6099600" cy="609367"/>
          </a:xfrm>
        </p:grpSpPr>
        <p:sp>
          <p:nvSpPr>
            <p:cNvPr id="440" name="Google Shape;440;p35"/>
            <p:cNvSpPr txBox="1"/>
            <p:nvPr/>
          </p:nvSpPr>
          <p:spPr>
            <a:xfrm>
              <a:off x="7417850" y="2322625"/>
              <a:ext cx="4515900" cy="5385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Retira datos del buffer compartido.</a:t>
              </a:r>
              <a:endParaRPr sz="2000">
                <a:solidFill>
                  <a:schemeClr val="dk1"/>
                </a:solidFill>
                <a:ea typeface="Roboto"/>
                <a:cs typeface="Roboto"/>
                <a:sym typeface="Roboto"/>
              </a:endParaRPr>
            </a:p>
          </p:txBody>
        </p:sp>
        <p:sp>
          <p:nvSpPr>
            <p:cNvPr id="441" name="Google Shape;441;p35"/>
            <p:cNvSpPr txBox="1"/>
            <p:nvPr/>
          </p:nvSpPr>
          <p:spPr>
            <a:xfrm>
              <a:off x="5834150" y="2291875"/>
              <a:ext cx="1583700" cy="609367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solidFill>
                    <a:srgbClr val="00B050"/>
                  </a:solidFill>
                  <a:ea typeface="Consolas"/>
                  <a:cs typeface="Consolas"/>
                  <a:sym typeface="Consolas"/>
                </a:rPr>
                <a:t>consumer</a:t>
              </a:r>
              <a:endParaRPr sz="2400" b="1">
                <a:solidFill>
                  <a:srgbClr val="00B050"/>
                </a:solidFill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442" name="Google Shape;44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6650" y="1145625"/>
            <a:ext cx="452900" cy="102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6650" y="2245075"/>
            <a:ext cx="452900" cy="102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2400" y="3692900"/>
            <a:ext cx="247775" cy="55982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5"/>
          <p:cNvSpPr txBox="1"/>
          <p:nvPr/>
        </p:nvSpPr>
        <p:spPr>
          <a:xfrm>
            <a:off x="5687463" y="3231188"/>
            <a:ext cx="125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producer</a:t>
            </a:r>
            <a:endParaRPr sz="1800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6" name="Google Shape;446;p35"/>
          <p:cNvSpPr txBox="1"/>
          <p:nvPr/>
        </p:nvSpPr>
        <p:spPr>
          <a:xfrm>
            <a:off x="10593500" y="3198150"/>
            <a:ext cx="125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endParaRPr sz="1800" b="1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47" name="Google Shape;44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1237" y="3643525"/>
            <a:ext cx="247775" cy="55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7"/>
          <p:cNvSpPr txBox="1">
            <a:spLocks noGrp="1"/>
          </p:cNvSpPr>
          <p:nvPr>
            <p:ph type="title"/>
          </p:nvPr>
        </p:nvSpPr>
        <p:spPr>
          <a:xfrm>
            <a:off x="556094" y="96038"/>
            <a:ext cx="109329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  <a:cs typeface="Segoe UI" panose="020B0502040204020203" pitchFamily="34" charset="0"/>
              </a:rPr>
              <a:t>Productor/consumidor: Unica CV y sentencia </a:t>
            </a:r>
            <a:r>
              <a:rPr lang="es-ES" dirty="0" err="1">
                <a:latin typeface="+mj-lt"/>
                <a:cs typeface="Segoe UI" panose="020B0502040204020203" pitchFamily="34" charset="0"/>
              </a:rPr>
              <a:t>if</a:t>
            </a:r>
            <a:r>
              <a:rPr lang="es-ES" dirty="0">
                <a:latin typeface="+mj-lt"/>
                <a:cs typeface="Segoe UI" panose="020B0502040204020203" pitchFamily="34" charset="0"/>
              </a:rPr>
              <a:t> </a:t>
            </a:r>
            <a:endParaRPr sz="3200" b="1" dirty="0">
              <a:solidFill>
                <a:srgbClr val="701E5C"/>
              </a:solidFill>
              <a:latin typeface="+mj-lt"/>
              <a:cs typeface="Segoe UI" panose="020B0502040204020203" pitchFamily="34" charset="0"/>
              <a:sym typeface="Roboto Slab"/>
            </a:endParaRPr>
          </a:p>
        </p:txBody>
      </p:sp>
      <p:sp>
        <p:nvSpPr>
          <p:cNvPr id="459" name="Google Shape;459;p37"/>
          <p:cNvSpPr txBox="1"/>
          <p:nvPr/>
        </p:nvSpPr>
        <p:spPr>
          <a:xfrm>
            <a:off x="621687" y="975425"/>
            <a:ext cx="109329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Estrategia general:</a:t>
            </a:r>
            <a:endParaRPr sz="24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Use </a:t>
            </a:r>
            <a:r>
              <a:rPr lang="es-ES" sz="2000" b="1" dirty="0">
                <a:solidFill>
                  <a:srgbClr val="4472C4"/>
                </a:solidFill>
                <a:ea typeface="Roboto"/>
                <a:cs typeface="Roboto"/>
                <a:sym typeface="Roboto"/>
              </a:rPr>
              <a:t>variables de condición 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(CV) para hacer que los </a:t>
            </a: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consumidores esperen 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cuando no haya nada que consumir (buffer vacío) y los </a:t>
            </a: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productores esperen 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cuando el buffer se encuentre lleno.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37"/>
          <p:cNvSpPr txBox="1"/>
          <p:nvPr/>
        </p:nvSpPr>
        <p:spPr>
          <a:xfrm>
            <a:off x="324465" y="2452925"/>
            <a:ext cx="5564735" cy="361788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loops</a:t>
            </a: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; // </a:t>
            </a:r>
            <a:r>
              <a:rPr lang="es-ES" sz="14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must</a:t>
            </a: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initialize</a:t>
            </a: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somewhere</a:t>
            </a: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...</a:t>
            </a:r>
            <a:endParaRPr sz="14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cond_t</a:t>
            </a:r>
            <a:r>
              <a:rPr lang="es-ES" sz="1400" b="1" dirty="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</a:t>
            </a:r>
            <a:r>
              <a:rPr lang="es-ES" sz="1400" b="1" dirty="0" err="1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cond</a:t>
            </a:r>
            <a:r>
              <a:rPr lang="es-ES" sz="1400" b="1" dirty="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;</a:t>
            </a:r>
            <a:endParaRPr sz="1400" b="1" dirty="0">
              <a:solidFill>
                <a:srgbClr val="00B050"/>
              </a:solidFill>
              <a:highlight>
                <a:srgbClr val="FFFF00"/>
              </a:highlight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mutex_t</a:t>
            </a:r>
            <a:r>
              <a:rPr lang="es-ES" sz="1400" b="1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</a:t>
            </a:r>
            <a:r>
              <a:rPr lang="es-ES" sz="1400" b="1" dirty="0" err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mutex</a:t>
            </a:r>
            <a:r>
              <a:rPr lang="es-ES" sz="1400" b="1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;</a:t>
            </a:r>
            <a:endParaRPr sz="1400" b="1" dirty="0">
              <a:solidFill>
                <a:srgbClr val="FF0000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*producer(</a:t>
            </a:r>
            <a:r>
              <a:rPr lang="es-ES" sz="14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arg</a:t>
            </a: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i;</a:t>
            </a:r>
            <a:endParaRPr sz="14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for</a:t>
            </a: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(i = 0; i &lt; </a:t>
            </a:r>
            <a:r>
              <a:rPr lang="es-ES" sz="14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loops</a:t>
            </a: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; i++) {</a:t>
            </a:r>
            <a:endParaRPr sz="14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highlight>
                  <a:srgbClr val="00FFFF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400" dirty="0">
                <a:solidFill>
                  <a:schemeClr val="dk1"/>
                </a:solidFill>
                <a:highlight>
                  <a:srgbClr val="00FFFF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highlight>
                  <a:srgbClr val="00FFFF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highlight>
                  <a:srgbClr val="00FFFF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);</a:t>
            </a: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   	   // p1</a:t>
            </a:r>
            <a:endParaRPr sz="14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if</a:t>
            </a: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(</a:t>
            </a:r>
            <a:r>
              <a:rPr lang="es-ES" sz="14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count</a:t>
            </a: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== 1)                 	   // p2</a:t>
            </a:r>
            <a:endParaRPr sz="14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    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pthread_cond_wait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cond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, &amp;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);</a:t>
            </a: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// p3</a:t>
            </a:r>
            <a:endParaRPr sz="14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put</a:t>
            </a: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(i);                         	   // p4</a:t>
            </a:r>
            <a:endParaRPr sz="14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highlight>
                  <a:srgbClr val="00FF00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400" dirty="0">
                <a:solidFill>
                  <a:schemeClr val="dk1"/>
                </a:solidFill>
                <a:highlight>
                  <a:srgbClr val="00FF00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highlight>
                  <a:srgbClr val="00FF00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cond</a:t>
            </a:r>
            <a:r>
              <a:rPr lang="es-ES" sz="1400" dirty="0">
                <a:solidFill>
                  <a:schemeClr val="dk1"/>
                </a:solidFill>
                <a:highlight>
                  <a:srgbClr val="00FF00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);</a:t>
            </a: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   	   // p5</a:t>
            </a:r>
            <a:endParaRPr sz="14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highlight>
                  <a:srgbClr val="00FFFF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400" dirty="0">
                <a:solidFill>
                  <a:schemeClr val="dk1"/>
                </a:solidFill>
                <a:highlight>
                  <a:srgbClr val="00FFFF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highlight>
                  <a:srgbClr val="00FFFF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highlight>
                  <a:srgbClr val="00FFFF"/>
                </a:highlight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);</a:t>
            </a: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 	   // p6</a:t>
            </a:r>
            <a:endParaRPr sz="14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}</a:t>
            </a:r>
            <a:endParaRPr sz="12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461" name="Google Shape;461;p37"/>
          <p:cNvSpPr txBox="1"/>
          <p:nvPr/>
        </p:nvSpPr>
        <p:spPr>
          <a:xfrm>
            <a:off x="6325075" y="2452925"/>
            <a:ext cx="5542460" cy="315775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while (1)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400" dirty="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	  // c1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0)                   	  // c2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// c3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                      	  // c4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400" dirty="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dirty="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	  // c5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400" dirty="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	  // c6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("%d\n",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2" name="Google Shape;462;p37"/>
          <p:cNvSpPr txBox="1"/>
          <p:nvPr/>
        </p:nvSpPr>
        <p:spPr>
          <a:xfrm>
            <a:off x="754887" y="6152804"/>
            <a:ext cx="9303300" cy="651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 usa una única variable de condición (</a:t>
            </a:r>
            <a:r>
              <a:rPr lang="es-ES" sz="2000" b="1" dirty="0" err="1">
                <a:solidFill>
                  <a:srgbClr val="00B050"/>
                </a:solidFill>
                <a:ea typeface="Roboto"/>
                <a:cs typeface="Roboto"/>
                <a:sym typeface="Roboto"/>
              </a:rPr>
              <a:t>cond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y un 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lock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(</a:t>
            </a:r>
            <a:r>
              <a:rPr lang="es-ES" sz="2000" b="1" dirty="0" err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mutex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asociado.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8"/>
          <p:cNvSpPr txBox="1">
            <a:spLocks noGrp="1"/>
          </p:cNvSpPr>
          <p:nvPr>
            <p:ph type="title"/>
          </p:nvPr>
        </p:nvSpPr>
        <p:spPr>
          <a:xfrm>
            <a:off x="324465" y="96038"/>
            <a:ext cx="10953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Productor/consumidor: Unica CV y sentencia </a:t>
            </a:r>
            <a:r>
              <a:rPr lang="es-ES" dirty="0" err="1">
                <a:latin typeface="+mj-lt"/>
              </a:rPr>
              <a:t>if</a:t>
            </a:r>
            <a:r>
              <a:rPr lang="es-ES" dirty="0">
                <a:latin typeface="+mj-lt"/>
              </a:rPr>
              <a:t> 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468" name="Google Shape;468;p38"/>
          <p:cNvSpPr txBox="1"/>
          <p:nvPr/>
        </p:nvSpPr>
        <p:spPr>
          <a:xfrm>
            <a:off x="382256" y="940945"/>
            <a:ext cx="10953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Lógica de señalización entre el productor y el consumidor: 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469" name="Google Shape;469;p38"/>
          <p:cNvSpPr txBox="1"/>
          <p:nvPr/>
        </p:nvSpPr>
        <p:spPr>
          <a:xfrm>
            <a:off x="324465" y="1513871"/>
            <a:ext cx="5722373" cy="361788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//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must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initialize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somewhere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cond_t</a:t>
            </a:r>
            <a:r>
              <a:rPr lang="es-ES" sz="14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b="1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mutex_t</a:t>
            </a:r>
            <a:r>
              <a:rPr lang="es-ES" sz="1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*producer(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(i = 0; i &lt;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i++)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4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           // p1</a:t>
            </a:r>
            <a:endParaRPr sz="1400" b="1" dirty="0">
              <a:solidFill>
                <a:srgbClr val="0070C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4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4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== 1)                       // p2</a:t>
            </a:r>
            <a:endParaRPr sz="1400" b="1" dirty="0">
              <a:solidFill>
                <a:srgbClr val="0070C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-ES" sz="14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4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4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 // p3</a:t>
            </a:r>
            <a:endParaRPr sz="1400" b="1" dirty="0">
              <a:solidFill>
                <a:srgbClr val="0070C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(i);                         	     // p4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	     // p5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	     // p6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0" name="Google Shape;470;p38"/>
          <p:cNvSpPr txBox="1"/>
          <p:nvPr/>
        </p:nvSpPr>
        <p:spPr>
          <a:xfrm>
            <a:off x="6406794" y="1509759"/>
            <a:ext cx="5402950" cy="315775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while (1)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4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            // c1</a:t>
            </a:r>
            <a:endParaRPr sz="1400" b="1" dirty="0">
              <a:solidFill>
                <a:srgbClr val="ED7D3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4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4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== 0)                        // c2</a:t>
            </a:r>
            <a:endParaRPr sz="1400" b="1" dirty="0">
              <a:solidFill>
                <a:srgbClr val="ED7D3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ED7D3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-ES" sz="14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4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4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  // c3</a:t>
            </a:r>
            <a:endParaRPr sz="1400" b="1" dirty="0">
              <a:solidFill>
                <a:srgbClr val="ED7D3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                           // c4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   // c5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 // c6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("%d\n",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1" name="Google Shape;471;p38"/>
          <p:cNvSpPr txBox="1"/>
          <p:nvPr/>
        </p:nvSpPr>
        <p:spPr>
          <a:xfrm>
            <a:off x="2215625" y="5525675"/>
            <a:ext cx="3925800" cy="114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4472C4"/>
                </a:solidFill>
                <a:ea typeface="Consolas"/>
                <a:cs typeface="Consolas"/>
                <a:sym typeface="Consolas"/>
              </a:rPr>
              <a:t>p1 - p3</a:t>
            </a:r>
            <a:r>
              <a:rPr lang="es-ES" sz="180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productor espera a que el </a:t>
            </a:r>
            <a:r>
              <a:rPr lang="es-ES" sz="1800" b="1" i="1">
                <a:solidFill>
                  <a:schemeClr val="dk1"/>
                </a:solidFill>
                <a:ea typeface="Roboto"/>
                <a:cs typeface="Roboto"/>
                <a:sym typeface="Roboto"/>
              </a:rPr>
              <a:t>buffer</a:t>
            </a:r>
            <a:r>
              <a:rPr lang="es-ES" sz="1800">
                <a:solidFill>
                  <a:schemeClr val="dk1"/>
                </a:solidFill>
                <a:ea typeface="Roboto"/>
                <a:cs typeface="Roboto"/>
                <a:sym typeface="Roboto"/>
              </a:rPr>
              <a:t> esté vacío.</a:t>
            </a:r>
            <a:endParaRPr sz="180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p38"/>
          <p:cNvSpPr txBox="1"/>
          <p:nvPr/>
        </p:nvSpPr>
        <p:spPr>
          <a:xfrm>
            <a:off x="7832025" y="5609825"/>
            <a:ext cx="3000000" cy="114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ED7D31"/>
                </a:solidFill>
                <a:ea typeface="Consolas"/>
                <a:cs typeface="Consolas"/>
                <a:sym typeface="Consolas"/>
              </a:rPr>
              <a:t>c1 - c3</a:t>
            </a:r>
            <a:r>
              <a:rPr lang="es-ES" sz="1800" b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:</a:t>
            </a:r>
            <a:endParaRPr sz="1800" b="1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Consumidor espera a que el </a:t>
            </a:r>
            <a:r>
              <a:rPr lang="es-ES" sz="1800" b="1" i="1">
                <a:solidFill>
                  <a:schemeClr val="dk1"/>
                </a:solidFill>
                <a:ea typeface="Roboto"/>
                <a:cs typeface="Roboto"/>
                <a:sym typeface="Roboto"/>
              </a:rPr>
              <a:t>buffer</a:t>
            </a:r>
            <a:r>
              <a:rPr lang="es-ES" sz="1800">
                <a:solidFill>
                  <a:schemeClr val="dk1"/>
                </a:solidFill>
                <a:ea typeface="Roboto"/>
                <a:cs typeface="Roboto"/>
                <a:sym typeface="Roboto"/>
              </a:rPr>
              <a:t> esté lleno.</a:t>
            </a:r>
            <a:endParaRPr sz="180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473" name="Google Shape;47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962" y="5980750"/>
            <a:ext cx="247775" cy="55982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38"/>
          <p:cNvSpPr txBox="1"/>
          <p:nvPr/>
        </p:nvSpPr>
        <p:spPr>
          <a:xfrm>
            <a:off x="803827" y="5472263"/>
            <a:ext cx="1411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producer</a:t>
            </a:r>
            <a:endParaRPr sz="2000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5" name="Google Shape;475;p38"/>
          <p:cNvSpPr txBox="1"/>
          <p:nvPr/>
        </p:nvSpPr>
        <p:spPr>
          <a:xfrm>
            <a:off x="6420238" y="5525675"/>
            <a:ext cx="1411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endParaRPr sz="2000" b="1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76" name="Google Shape;47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2262" y="6018275"/>
            <a:ext cx="247775" cy="55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9"/>
          <p:cNvSpPr txBox="1">
            <a:spLocks noGrp="1"/>
          </p:cNvSpPr>
          <p:nvPr>
            <p:ph type="title"/>
          </p:nvPr>
        </p:nvSpPr>
        <p:spPr>
          <a:xfrm>
            <a:off x="324465" y="96038"/>
            <a:ext cx="10953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Productor/consumidor: Unica CV y sentencia </a:t>
            </a:r>
            <a:r>
              <a:rPr lang="es-ES" dirty="0" err="1">
                <a:latin typeface="+mj-lt"/>
              </a:rPr>
              <a:t>if</a:t>
            </a:r>
            <a:r>
              <a:rPr lang="es-ES" dirty="0">
                <a:latin typeface="+mj-lt"/>
              </a:rPr>
              <a:t> 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482" name="Google Shape;482;p39"/>
          <p:cNvSpPr txBox="1"/>
          <p:nvPr/>
        </p:nvSpPr>
        <p:spPr>
          <a:xfrm>
            <a:off x="342375" y="900263"/>
            <a:ext cx="10953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Análisis de la implementación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483" name="Google Shape;483;p39"/>
          <p:cNvGraphicFramePr/>
          <p:nvPr>
            <p:extLst>
              <p:ext uri="{D42A27DB-BD31-4B8C-83A1-F6EECF244321}">
                <p14:modId xmlns:p14="http://schemas.microsoft.com/office/powerpoint/2010/main" val="2056733661"/>
              </p:ext>
            </p:extLst>
          </p:nvPr>
        </p:nvGraphicFramePr>
        <p:xfrm>
          <a:off x="342375" y="1481400"/>
          <a:ext cx="10601250" cy="13105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3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Caso </a:t>
                      </a:r>
                      <a:endParaRPr sz="18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Escenario</a:t>
                      </a:r>
                      <a:endParaRPr sz="18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Conclusiones</a:t>
                      </a:r>
                      <a:endParaRPr sz="18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  <a:ea typeface="Roboto"/>
                          <a:cs typeface="Roboto"/>
                          <a:sym typeface="Roboto"/>
                        </a:rPr>
                        <a:t>Un solo productor y un solo consumidor</a:t>
                      </a:r>
                      <a:endParaRPr sz="16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  <a:ea typeface="Roboto"/>
                          <a:cs typeface="Roboto"/>
                          <a:sym typeface="Roboto"/>
                        </a:rPr>
                        <a:t>El código funciona.</a:t>
                      </a:r>
                      <a:endParaRPr sz="16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  <a:ea typeface="Roboto"/>
                          <a:cs typeface="Roboto"/>
                          <a:sym typeface="Roboto"/>
                        </a:rPr>
                        <a:t>Un solo productor y varios consumidores</a:t>
                      </a:r>
                      <a:endParaRPr sz="16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La solución tiene 2 problemas críticos (En breve veremos).</a:t>
                      </a:r>
                      <a:endParaRPr sz="16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84" name="Google Shape;484;p39"/>
          <p:cNvSpPr txBox="1"/>
          <p:nvPr/>
        </p:nvSpPr>
        <p:spPr>
          <a:xfrm>
            <a:off x="342375" y="2911743"/>
            <a:ext cx="5147187" cy="361788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//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must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initialize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somewhere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cond_t</a:t>
            </a:r>
            <a:r>
              <a:rPr lang="es-ES" sz="14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b="1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mutex_t</a:t>
            </a:r>
            <a:r>
              <a:rPr lang="es-ES" sz="1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*producer(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(i = 0; i &lt;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i++)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4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           // p1</a:t>
            </a:r>
            <a:endParaRPr sz="1400" b="1" dirty="0">
              <a:solidFill>
                <a:srgbClr val="0070C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4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4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== 1)                       // p2</a:t>
            </a:r>
            <a:endParaRPr sz="1400" b="1" dirty="0">
              <a:solidFill>
                <a:srgbClr val="0070C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-ES" sz="14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4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4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 // p3</a:t>
            </a:r>
            <a:endParaRPr sz="1400" b="1" dirty="0">
              <a:solidFill>
                <a:srgbClr val="0070C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(i);                         	     // p4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	     // p5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	     // p6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5" name="Google Shape;485;p39"/>
          <p:cNvSpPr txBox="1"/>
          <p:nvPr/>
        </p:nvSpPr>
        <p:spPr>
          <a:xfrm>
            <a:off x="5818875" y="3141805"/>
            <a:ext cx="5147187" cy="315775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while (1)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4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          // c1</a:t>
            </a:r>
            <a:endParaRPr sz="1400" b="1" dirty="0">
              <a:solidFill>
                <a:srgbClr val="ED7D3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4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4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== 0)                      // c2</a:t>
            </a:r>
            <a:endParaRPr sz="1400" b="1" dirty="0">
              <a:solidFill>
                <a:srgbClr val="ED7D3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ED7D3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4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4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  // c3</a:t>
            </a:r>
            <a:endParaRPr sz="1400" b="1" dirty="0">
              <a:solidFill>
                <a:srgbClr val="ED7D3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                         // c4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 // c5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// c6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("%d\n",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0"/>
          <p:cNvSpPr txBox="1">
            <a:spLocks noGrp="1"/>
          </p:cNvSpPr>
          <p:nvPr>
            <p:ph type="title"/>
          </p:nvPr>
        </p:nvSpPr>
        <p:spPr>
          <a:xfrm>
            <a:off x="427703" y="96038"/>
            <a:ext cx="1134151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Productor/consumidor: Unica CV y sentencia </a:t>
            </a:r>
            <a:r>
              <a:rPr lang="es-ES" dirty="0" err="1">
                <a:latin typeface="+mj-lt"/>
              </a:rPr>
              <a:t>if</a:t>
            </a:r>
            <a:r>
              <a:rPr lang="es-ES" dirty="0">
                <a:latin typeface="+mj-lt"/>
              </a:rPr>
              <a:t> 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491" name="Google Shape;491;p40"/>
          <p:cNvSpPr txBox="1"/>
          <p:nvPr/>
        </p:nvSpPr>
        <p:spPr>
          <a:xfrm>
            <a:off x="6730525" y="1045550"/>
            <a:ext cx="5160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Caso 2 - Un solo productor y varios consumidores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40"/>
          <p:cNvSpPr txBox="1"/>
          <p:nvPr/>
        </p:nvSpPr>
        <p:spPr>
          <a:xfrm>
            <a:off x="300575" y="970199"/>
            <a:ext cx="3701845" cy="294539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//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must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initialize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somewhere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cond_t</a:t>
            </a:r>
            <a:r>
              <a:rPr lang="es-ES" sz="11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100" b="1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1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mutex_t</a:t>
            </a:r>
            <a:r>
              <a:rPr lang="es-ES" sz="11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1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*producer(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(i = 0; i &lt;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i++) {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1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         // p1</a:t>
            </a:r>
            <a:endParaRPr sz="1100" b="1" dirty="0">
              <a:solidFill>
                <a:srgbClr val="0070C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1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1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1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== 1)                     // p2</a:t>
            </a:r>
            <a:endParaRPr sz="1100" b="1" dirty="0">
              <a:solidFill>
                <a:srgbClr val="0070C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1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1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1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100" b="1" dirty="0" err="1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b="1" dirty="0">
                <a:solidFill>
                  <a:srgbClr val="0070C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 // p3</a:t>
            </a:r>
            <a:endParaRPr sz="1100" b="1" dirty="0">
              <a:solidFill>
                <a:srgbClr val="0070C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(i);                             // p4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// p5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// p6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3" name="Google Shape;493;p40"/>
          <p:cNvSpPr txBox="1"/>
          <p:nvPr/>
        </p:nvSpPr>
        <p:spPr>
          <a:xfrm>
            <a:off x="300575" y="4109387"/>
            <a:ext cx="3701845" cy="252066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while (1) {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1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          // c1</a:t>
            </a:r>
            <a:endParaRPr sz="1100" b="1" dirty="0">
              <a:solidFill>
                <a:srgbClr val="ED7D3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1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1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1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== 0)                      // c2</a:t>
            </a:r>
            <a:endParaRPr sz="1100" b="1" dirty="0">
              <a:solidFill>
                <a:srgbClr val="ED7D3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rgbClr val="ED7D3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1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1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1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100" b="1" dirty="0" err="1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b="1" dirty="0">
                <a:solidFill>
                  <a:srgbClr val="ED7D3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  // c3</a:t>
            </a:r>
            <a:endParaRPr sz="1100" b="1" dirty="0">
              <a:solidFill>
                <a:srgbClr val="ED7D3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                         // c4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 // c5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// c6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("%d\n",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94" name="Google Shape;49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8375" y="2163425"/>
            <a:ext cx="882500" cy="115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8363" y="4234500"/>
            <a:ext cx="1030725" cy="123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8363" y="5408175"/>
            <a:ext cx="1030725" cy="126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6800" y="1886500"/>
            <a:ext cx="6010526" cy="444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"/>
          <p:cNvSpPr txBox="1">
            <a:spLocks noGrp="1"/>
          </p:cNvSpPr>
          <p:nvPr>
            <p:ph type="title"/>
          </p:nvPr>
        </p:nvSpPr>
        <p:spPr>
          <a:xfrm>
            <a:off x="398206" y="96038"/>
            <a:ext cx="10559846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Productor/consumidor: Unica CV y sentencia </a:t>
            </a:r>
            <a:r>
              <a:rPr lang="es-ES" dirty="0" err="1">
                <a:latin typeface="+mj-lt"/>
              </a:rPr>
              <a:t>if</a:t>
            </a:r>
            <a:r>
              <a:rPr lang="es-ES" dirty="0">
                <a:latin typeface="+mj-lt"/>
              </a:rPr>
              <a:t> 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503" name="Google Shape;503;p41"/>
          <p:cNvSpPr txBox="1"/>
          <p:nvPr/>
        </p:nvSpPr>
        <p:spPr>
          <a:xfrm>
            <a:off x="398206" y="962400"/>
            <a:ext cx="50505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Caso 2 - Un solo productor y varios consumidores</a:t>
            </a:r>
            <a:endParaRPr sz="24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b="1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Problema 1 – No hay garantía de que cuando un hilo despertado empiece su ejecución, el estado seguirá siendo el deseado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Después de que el productor (</a:t>
            </a:r>
            <a:r>
              <a:rPr lang="es-ES" sz="18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Tp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despierta a </a:t>
            </a:r>
            <a:r>
              <a:rPr lang="es-ES" sz="18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Tc1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, pero antes de que </a:t>
            </a:r>
            <a:r>
              <a:rPr lang="es-ES" sz="18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Tc1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se ejecute, el estado del buffer es cambiado por </a:t>
            </a:r>
            <a:r>
              <a:rPr lang="es-ES" sz="18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Tc2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4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504" name="Google Shape;50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9000" y="962400"/>
            <a:ext cx="5856775" cy="4332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5" name="Google Shape;505;p41"/>
          <p:cNvGraphicFramePr/>
          <p:nvPr>
            <p:extLst>
              <p:ext uri="{D42A27DB-BD31-4B8C-83A1-F6EECF244321}">
                <p14:modId xmlns:p14="http://schemas.microsoft.com/office/powerpoint/2010/main" val="919869884"/>
              </p:ext>
            </p:extLst>
          </p:nvPr>
        </p:nvGraphicFramePr>
        <p:xfrm>
          <a:off x="1092050" y="5321133"/>
          <a:ext cx="10477500" cy="136236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25292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Productor</a:t>
                      </a:r>
                      <a:endParaRPr sz="16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p4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p5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p6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p3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92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Consumidor 1</a:t>
                      </a:r>
                      <a:endParaRPr sz="16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c2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c3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c4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92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Consumidor 2</a:t>
                      </a:r>
                      <a:endParaRPr sz="16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c2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c4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c5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c6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06" name="Google Shape;506;p41"/>
          <p:cNvCxnSpPr/>
          <p:nvPr/>
        </p:nvCxnSpPr>
        <p:spPr>
          <a:xfrm rot="10800000">
            <a:off x="6059000" y="2671875"/>
            <a:ext cx="59745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07" name="Google Shape;507;p41"/>
          <p:cNvCxnSpPr/>
          <p:nvPr/>
        </p:nvCxnSpPr>
        <p:spPr>
          <a:xfrm rot="10800000">
            <a:off x="6059000" y="5012100"/>
            <a:ext cx="59745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2"/>
          <p:cNvSpPr txBox="1">
            <a:spLocks noGrp="1"/>
          </p:cNvSpPr>
          <p:nvPr>
            <p:ph type="title"/>
          </p:nvPr>
        </p:nvSpPr>
        <p:spPr>
          <a:xfrm>
            <a:off x="604683" y="96038"/>
            <a:ext cx="1051559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Productor/consumidor: Unica CV y sentencia </a:t>
            </a:r>
            <a:r>
              <a:rPr lang="es-ES" dirty="0" err="1">
                <a:latin typeface="+mj-lt"/>
              </a:rPr>
              <a:t>if</a:t>
            </a:r>
            <a:r>
              <a:rPr lang="es-ES" dirty="0">
                <a:latin typeface="+mj-lt"/>
              </a:rPr>
              <a:t> </a:t>
            </a:r>
            <a:endParaRPr sz="3200" b="1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513" name="Google Shape;513;p42"/>
          <p:cNvSpPr txBox="1"/>
          <p:nvPr/>
        </p:nvSpPr>
        <p:spPr>
          <a:xfrm>
            <a:off x="604683" y="1045538"/>
            <a:ext cx="505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Código</a:t>
            </a:r>
            <a:endParaRPr sz="2400" b="1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42"/>
          <p:cNvSpPr txBox="1">
            <a:spLocks noGrp="1"/>
          </p:cNvSpPr>
          <p:nvPr>
            <p:ph type="body" idx="1"/>
          </p:nvPr>
        </p:nvSpPr>
        <p:spPr>
          <a:xfrm>
            <a:off x="698787" y="1599650"/>
            <a:ext cx="10515600" cy="130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b="1" dirty="0">
                <a:latin typeface="+mn-lt"/>
              </a:rPr>
              <a:t>Archivos</a:t>
            </a:r>
            <a:r>
              <a:rPr lang="es-ES" sz="2200" dirty="0">
                <a:latin typeface="+mn-lt"/>
              </a:rPr>
              <a:t>:</a:t>
            </a:r>
            <a:endParaRPr sz="2200" dirty="0">
              <a:latin typeface="+mn-lt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s-ES" sz="2000" u="sng" dirty="0" err="1">
                <a:solidFill>
                  <a:schemeClr val="hlink"/>
                </a:solidFill>
                <a:latin typeface="+mn-lt"/>
                <a:ea typeface="Arial"/>
                <a:cs typeface="Arial"/>
                <a:sym typeface="Arial"/>
                <a:hlinkClick r:id="rId3"/>
              </a:rPr>
              <a:t>mythreads.h</a:t>
            </a:r>
            <a:endParaRPr sz="2000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ea typeface="Arial"/>
                <a:cs typeface="Arial"/>
                <a:sym typeface="Arial"/>
                <a:hlinkClick r:id="rId4"/>
              </a:rPr>
              <a:t>main_singleBuffer-v1.c</a:t>
            </a:r>
            <a:endParaRPr sz="2000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</p:txBody>
      </p:sp>
      <p:sp>
        <p:nvSpPr>
          <p:cNvPr id="515" name="Google Shape;515;p42"/>
          <p:cNvSpPr txBox="1">
            <a:spLocks noGrp="1"/>
          </p:cNvSpPr>
          <p:nvPr>
            <p:ph type="body" idx="1"/>
          </p:nvPr>
        </p:nvSpPr>
        <p:spPr>
          <a:xfrm>
            <a:off x="698787" y="3043702"/>
            <a:ext cx="10515600" cy="55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b="1" dirty="0">
                <a:latin typeface="+mn-lt"/>
              </a:rPr>
              <a:t>Compilación</a:t>
            </a:r>
            <a:r>
              <a:rPr lang="es-ES" sz="2200" dirty="0">
                <a:latin typeface="+mn-lt"/>
              </a:rPr>
              <a:t>:</a:t>
            </a:r>
            <a:endParaRPr sz="27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</p:txBody>
      </p:sp>
      <p:sp>
        <p:nvSpPr>
          <p:cNvPr id="516" name="Google Shape;516;p42"/>
          <p:cNvSpPr txBox="1">
            <a:spLocks noGrp="1"/>
          </p:cNvSpPr>
          <p:nvPr>
            <p:ph type="body" idx="1"/>
          </p:nvPr>
        </p:nvSpPr>
        <p:spPr>
          <a:xfrm>
            <a:off x="1248075" y="3737150"/>
            <a:ext cx="10085812" cy="46983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gcc -I. main_singleBuffer-v1.c -Wall -lpthread -o single_buffer-if1.out</a:t>
            </a:r>
            <a:endParaRPr sz="2400" dirty="0"/>
          </a:p>
        </p:txBody>
      </p:sp>
      <p:sp>
        <p:nvSpPr>
          <p:cNvPr id="517" name="Google Shape;517;p42"/>
          <p:cNvSpPr txBox="1">
            <a:spLocks noGrp="1"/>
          </p:cNvSpPr>
          <p:nvPr>
            <p:ph type="body" idx="1"/>
          </p:nvPr>
        </p:nvSpPr>
        <p:spPr>
          <a:xfrm>
            <a:off x="818287" y="4245802"/>
            <a:ext cx="10515600" cy="55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b="1">
                <a:latin typeface="+mn-lt"/>
              </a:rPr>
              <a:t>Ejecución</a:t>
            </a:r>
            <a:r>
              <a:rPr lang="es-ES" sz="2200">
                <a:latin typeface="+mn-lt"/>
              </a:rPr>
              <a:t>:</a:t>
            </a:r>
            <a:endParaRPr sz="270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>
              <a:latin typeface="+mn-lt"/>
            </a:endParaRPr>
          </a:p>
        </p:txBody>
      </p:sp>
      <p:sp>
        <p:nvSpPr>
          <p:cNvPr id="518" name="Google Shape;518;p42"/>
          <p:cNvSpPr txBox="1">
            <a:spLocks noGrp="1"/>
          </p:cNvSpPr>
          <p:nvPr>
            <p:ph type="body" idx="1"/>
          </p:nvPr>
        </p:nvSpPr>
        <p:spPr>
          <a:xfrm>
            <a:off x="1248075" y="4939250"/>
            <a:ext cx="10085812" cy="46983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800">
                <a:latin typeface="Consolas"/>
                <a:ea typeface="Consolas"/>
                <a:cs typeface="Consolas"/>
                <a:sym typeface="Consolas"/>
              </a:rPr>
              <a:t>./single_buffer-if1.out &lt;loops&gt; &lt;consumers&gt;</a:t>
            </a:r>
            <a:endParaRPr sz="24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3"/>
          <p:cNvSpPr txBox="1">
            <a:spLocks noGrp="1"/>
          </p:cNvSpPr>
          <p:nvPr>
            <p:ph type="title"/>
          </p:nvPr>
        </p:nvSpPr>
        <p:spPr>
          <a:xfrm>
            <a:off x="412955" y="96038"/>
            <a:ext cx="10736826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Productor/consumidor: Unica CV y sentencia </a:t>
            </a:r>
            <a:r>
              <a:rPr lang="es-ES" dirty="0" err="1">
                <a:latin typeface="+mj-lt"/>
              </a:rPr>
              <a:t>if</a:t>
            </a:r>
            <a:r>
              <a:rPr lang="es-ES" dirty="0">
                <a:latin typeface="+mj-lt"/>
              </a:rPr>
              <a:t> </a:t>
            </a:r>
            <a:endParaRPr sz="3200" b="1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524" name="Google Shape;524;p43"/>
          <p:cNvSpPr txBox="1"/>
          <p:nvPr/>
        </p:nvSpPr>
        <p:spPr>
          <a:xfrm>
            <a:off x="412955" y="919925"/>
            <a:ext cx="505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Pruebas</a:t>
            </a:r>
            <a:endParaRPr sz="24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525" name="Google Shape;525;p43"/>
          <p:cNvGraphicFramePr/>
          <p:nvPr>
            <p:extLst>
              <p:ext uri="{D42A27DB-BD31-4B8C-83A1-F6EECF244321}">
                <p14:modId xmlns:p14="http://schemas.microsoft.com/office/powerpoint/2010/main" val="2974975557"/>
              </p:ext>
            </p:extLst>
          </p:nvPr>
        </p:nvGraphicFramePr>
        <p:xfrm>
          <a:off x="548531" y="1502081"/>
          <a:ext cx="10601250" cy="8838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3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Caso </a:t>
                      </a:r>
                      <a:endParaRPr sz="18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Escenario</a:t>
                      </a:r>
                      <a:endParaRPr sz="18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Conclusiones</a:t>
                      </a:r>
                      <a:endParaRPr sz="18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6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  <a:ea typeface="Roboto"/>
                          <a:cs typeface="Roboto"/>
                          <a:sym typeface="Roboto"/>
                        </a:rPr>
                        <a:t>Un solo productor y un solo consumidor</a:t>
                      </a:r>
                      <a:endParaRPr sz="16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El código funciona.</a:t>
                      </a:r>
                      <a:endParaRPr sz="16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26" name="Google Shape;52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1882" y="2842499"/>
            <a:ext cx="2105025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5660" y="3403294"/>
            <a:ext cx="2124075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4"/>
          <p:cNvSpPr txBox="1">
            <a:spLocks noGrp="1"/>
          </p:cNvSpPr>
          <p:nvPr>
            <p:ph type="title"/>
          </p:nvPr>
        </p:nvSpPr>
        <p:spPr>
          <a:xfrm>
            <a:off x="442451" y="96038"/>
            <a:ext cx="1042710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Productor/consumidor: Unica CV y sentencia </a:t>
            </a:r>
            <a:r>
              <a:rPr lang="es-ES" dirty="0" err="1">
                <a:latin typeface="+mj-lt"/>
              </a:rPr>
              <a:t>if</a:t>
            </a:r>
            <a:r>
              <a:rPr lang="es-ES" dirty="0">
                <a:latin typeface="+mj-lt"/>
              </a:rPr>
              <a:t> 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533" name="Google Shape;533;p44"/>
          <p:cNvSpPr txBox="1"/>
          <p:nvPr/>
        </p:nvSpPr>
        <p:spPr>
          <a:xfrm>
            <a:off x="442451" y="976864"/>
            <a:ext cx="505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Pruebas</a:t>
            </a:r>
            <a:endParaRPr sz="2400" b="1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534" name="Google Shape;534;p44"/>
          <p:cNvGraphicFramePr/>
          <p:nvPr>
            <p:extLst>
              <p:ext uri="{D42A27DB-BD31-4B8C-83A1-F6EECF244321}">
                <p14:modId xmlns:p14="http://schemas.microsoft.com/office/powerpoint/2010/main" val="3732344159"/>
              </p:ext>
            </p:extLst>
          </p:nvPr>
        </p:nvGraphicFramePr>
        <p:xfrm>
          <a:off x="583084" y="1569606"/>
          <a:ext cx="10601250" cy="8838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3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Caso </a:t>
                      </a:r>
                      <a:endParaRPr sz="18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Escenario</a:t>
                      </a:r>
                      <a:endParaRPr sz="18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Conclusiones</a:t>
                      </a:r>
                      <a:endParaRPr sz="18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6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  <a:ea typeface="Roboto"/>
                          <a:cs typeface="Roboto"/>
                          <a:sym typeface="Roboto"/>
                        </a:rPr>
                        <a:t>Un solo productor y varios consumidores</a:t>
                      </a:r>
                      <a:endParaRPr sz="16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El resultado no es el esperado</a:t>
                      </a:r>
                      <a:endParaRPr sz="16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35" name="Google Shape;53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1744" y="3345294"/>
            <a:ext cx="215265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6005" y="2784466"/>
            <a:ext cx="5724525" cy="370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6"/>
          <p:cNvSpPr txBox="1">
            <a:spLocks noGrp="1"/>
          </p:cNvSpPr>
          <p:nvPr>
            <p:ph type="title"/>
          </p:nvPr>
        </p:nvSpPr>
        <p:spPr>
          <a:xfrm>
            <a:off x="235974" y="96038"/>
            <a:ext cx="1161352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Productor/consumidor: Unica CV y sentencia while</a:t>
            </a:r>
            <a:endParaRPr dirty="0"/>
          </a:p>
        </p:txBody>
      </p:sp>
      <p:sp>
        <p:nvSpPr>
          <p:cNvPr id="548" name="Google Shape;548;p46"/>
          <p:cNvSpPr txBox="1"/>
          <p:nvPr/>
        </p:nvSpPr>
        <p:spPr>
          <a:xfrm>
            <a:off x="342500" y="884107"/>
            <a:ext cx="10932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Estrategia general:</a:t>
            </a:r>
            <a:endParaRPr sz="24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Cambie la sentencia </a:t>
            </a:r>
            <a:r>
              <a:rPr lang="es-ES" sz="2000" b="1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if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por </a:t>
            </a:r>
            <a:r>
              <a:rPr lang="es-ES" sz="2000" b="1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while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en el consumidor y en el productor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46"/>
          <p:cNvSpPr txBox="1"/>
          <p:nvPr/>
        </p:nvSpPr>
        <p:spPr>
          <a:xfrm>
            <a:off x="635553" y="1939314"/>
            <a:ext cx="5173397" cy="365327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//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must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initialize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somewhere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cond_t</a:t>
            </a:r>
            <a:r>
              <a:rPr lang="es-ES" sz="14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b="1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mutex_t</a:t>
            </a:r>
            <a:r>
              <a:rPr lang="es-ES" sz="1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*producer(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(i = 0; i &lt;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i++)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	   // p1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while (</a:t>
            </a:r>
            <a:r>
              <a:rPr lang="es-ES" sz="14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== 1)              	   // p2</a:t>
            </a:r>
            <a:endParaRPr sz="14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// p3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(i);                         	   // p4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	   // p5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	   // p6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0" name="Google Shape;550;p46"/>
          <p:cNvSpPr txBox="1"/>
          <p:nvPr/>
        </p:nvSpPr>
        <p:spPr>
          <a:xfrm>
            <a:off x="6258233" y="2135357"/>
            <a:ext cx="5173397" cy="315775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while(1)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   // c1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while (</a:t>
            </a:r>
            <a:r>
              <a:rPr lang="es-ES" sz="1400" dirty="0" err="1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4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== 0)                     // c2</a:t>
            </a:r>
            <a:endParaRPr sz="1400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// c3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                           // c4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   // c5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 // c6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("%d\n",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1" name="Google Shape;551;p46"/>
          <p:cNvSpPr txBox="1"/>
          <p:nvPr/>
        </p:nvSpPr>
        <p:spPr>
          <a:xfrm>
            <a:off x="342499" y="5682464"/>
            <a:ext cx="11089131" cy="989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ES" sz="2000">
                <a:solidFill>
                  <a:schemeClr val="dk1"/>
                </a:solidFill>
                <a:ea typeface="Roboto"/>
                <a:cs typeface="Roboto"/>
                <a:sym typeface="Roboto"/>
              </a:rPr>
              <a:t>Si el consumidor </a:t>
            </a:r>
            <a:r>
              <a:rPr lang="es-ES" sz="2000" b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Tc1</a:t>
            </a:r>
            <a:r>
              <a:rPr lang="es-ES" sz="2000">
                <a:solidFill>
                  <a:schemeClr val="dk1"/>
                </a:solidFill>
                <a:ea typeface="Roboto"/>
                <a:cs typeface="Roboto"/>
                <a:sym typeface="Roboto"/>
              </a:rPr>
              <a:t> despierta y verifica nuevamente el estado de la variable.</a:t>
            </a:r>
            <a:endParaRPr sz="200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000">
                <a:solidFill>
                  <a:schemeClr val="dk1"/>
                </a:solidFill>
                <a:ea typeface="Roboto"/>
                <a:cs typeface="Roboto"/>
                <a:sym typeface="Roboto"/>
              </a:rPr>
              <a:t>Si el buffer está vacío, el consumidor vuelve a dormir.</a:t>
            </a:r>
            <a:endParaRPr sz="200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7"/>
          <p:cNvSpPr txBox="1">
            <a:spLocks noGrp="1"/>
          </p:cNvSpPr>
          <p:nvPr>
            <p:ph type="title"/>
          </p:nvPr>
        </p:nvSpPr>
        <p:spPr>
          <a:xfrm>
            <a:off x="342450" y="96038"/>
            <a:ext cx="1163324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Productor/consumidor: Unica CV y sentencia while</a:t>
            </a:r>
            <a:endParaRPr dirty="0"/>
          </a:p>
        </p:txBody>
      </p:sp>
      <p:sp>
        <p:nvSpPr>
          <p:cNvPr id="557" name="Google Shape;557;p47"/>
          <p:cNvSpPr txBox="1"/>
          <p:nvPr/>
        </p:nvSpPr>
        <p:spPr>
          <a:xfrm>
            <a:off x="342450" y="856714"/>
            <a:ext cx="11507100" cy="20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Estrategia general:</a:t>
            </a:r>
            <a:endParaRPr sz="24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La idea es que el hilo en espera siempre debe volver a verificar la condición (</a:t>
            </a:r>
            <a:r>
              <a:rPr lang="es-ES" sz="20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cond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en un 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while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, en lugar de hacerlo en un </a:t>
            </a:r>
            <a:r>
              <a:rPr lang="es-ES" sz="20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if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Si no se vuelve a verificar, el hilo que está en espera seguirá pensando que la condición ha cambiado a pesar de que no ha hecho.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47"/>
          <p:cNvSpPr txBox="1"/>
          <p:nvPr/>
        </p:nvSpPr>
        <p:spPr>
          <a:xfrm>
            <a:off x="1222917" y="2865814"/>
            <a:ext cx="4936153" cy="365327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//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must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initialize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somewhere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cond_t</a:t>
            </a:r>
            <a:r>
              <a:rPr lang="es-ES" sz="14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b="1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mutex_t</a:t>
            </a:r>
            <a:r>
              <a:rPr lang="es-ES" sz="1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*producer(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(i = 0; i &lt;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i++)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	   // p1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while (</a:t>
            </a:r>
            <a:r>
              <a:rPr lang="es-ES" sz="14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== 1)              	   // p2</a:t>
            </a:r>
            <a:endParaRPr sz="14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-ES" sz="1400" dirty="0" err="1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4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400" dirty="0" err="1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 // p3</a:t>
            </a:r>
            <a:endParaRPr sz="1400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(i);                             // p4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	   // p5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	   // p6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9" name="Google Shape;559;p47"/>
          <p:cNvSpPr txBox="1"/>
          <p:nvPr/>
        </p:nvSpPr>
        <p:spPr>
          <a:xfrm>
            <a:off x="6561337" y="3113574"/>
            <a:ext cx="4936154" cy="315775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while(1)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 // c1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while (</a:t>
            </a:r>
            <a:r>
              <a:rPr lang="es-ES" sz="14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== 0)                   // c2</a:t>
            </a:r>
            <a:endParaRPr sz="14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-ES" sz="1400" dirty="0" err="1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4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400" dirty="0" err="1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  // c3</a:t>
            </a:r>
            <a:endParaRPr sz="1400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                         // c4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 // c5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// c6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("%d\n",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8"/>
          <p:cNvSpPr txBox="1">
            <a:spLocks noGrp="1"/>
          </p:cNvSpPr>
          <p:nvPr>
            <p:ph type="title"/>
          </p:nvPr>
        </p:nvSpPr>
        <p:spPr>
          <a:xfrm>
            <a:off x="342450" y="96038"/>
            <a:ext cx="1163324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Productor/consumidor: Unica CV y sentencia while</a:t>
            </a:r>
            <a:endParaRPr dirty="0"/>
          </a:p>
        </p:txBody>
      </p:sp>
      <p:sp>
        <p:nvSpPr>
          <p:cNvPr id="565" name="Google Shape;565;p48"/>
          <p:cNvSpPr txBox="1"/>
          <p:nvPr/>
        </p:nvSpPr>
        <p:spPr>
          <a:xfrm>
            <a:off x="342449" y="879005"/>
            <a:ext cx="11310675" cy="13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Estrategia general:</a:t>
            </a:r>
            <a:endParaRPr sz="24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Regla de oro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Con variables de condición (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CV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), se debe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usar siempre ciclos while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Todavía persiste el </a:t>
            </a: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problema 2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48"/>
          <p:cNvSpPr txBox="1"/>
          <p:nvPr/>
        </p:nvSpPr>
        <p:spPr>
          <a:xfrm>
            <a:off x="1001101" y="2582811"/>
            <a:ext cx="4937584" cy="361788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//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must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initialize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somewhere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cond_t</a:t>
            </a:r>
            <a:r>
              <a:rPr lang="es-ES" sz="14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b="1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mutex_t</a:t>
            </a:r>
            <a:r>
              <a:rPr lang="es-ES" sz="1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*producer(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(i = 0; i &lt;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i++)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	   // p1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while (</a:t>
            </a:r>
            <a:r>
              <a:rPr lang="es-ES" sz="14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== 1)              	   // p2</a:t>
            </a:r>
            <a:endParaRPr sz="14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-ES" sz="1400" dirty="0" err="1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4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400" dirty="0" err="1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 // p3</a:t>
            </a:r>
            <a:endParaRPr sz="1400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(i);                         	   // p4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	   // p5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	   // p6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7" name="Google Shape;567;p48"/>
          <p:cNvSpPr txBox="1"/>
          <p:nvPr/>
        </p:nvSpPr>
        <p:spPr>
          <a:xfrm>
            <a:off x="6445045" y="2812388"/>
            <a:ext cx="4937583" cy="315775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while(1)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 // c1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while (</a:t>
            </a:r>
            <a:r>
              <a:rPr lang="es-ES" sz="14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== 0)                   // c2</a:t>
            </a:r>
            <a:endParaRPr sz="14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-ES" sz="1400" dirty="0" err="1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4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400" dirty="0" err="1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  // c3</a:t>
            </a:r>
            <a:endParaRPr sz="1400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                         // c4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 // c5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// c6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("%d\n",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9"/>
          <p:cNvSpPr txBox="1">
            <a:spLocks noGrp="1"/>
          </p:cNvSpPr>
          <p:nvPr>
            <p:ph type="title"/>
          </p:nvPr>
        </p:nvSpPr>
        <p:spPr>
          <a:xfrm>
            <a:off x="354974" y="96038"/>
            <a:ext cx="1159121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/>
              <a:t>Productor/consumidor: Unica CV y sentencia while</a:t>
            </a:r>
            <a:endParaRPr dirty="0"/>
          </a:p>
        </p:txBody>
      </p:sp>
      <p:sp>
        <p:nvSpPr>
          <p:cNvPr id="573" name="Google Shape;573;p49"/>
          <p:cNvSpPr txBox="1"/>
          <p:nvPr/>
        </p:nvSpPr>
        <p:spPr>
          <a:xfrm>
            <a:off x="1336725" y="961325"/>
            <a:ext cx="10500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b="1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Análisis del problema: Problema 2</a:t>
            </a:r>
            <a:endParaRPr sz="2600" b="1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49"/>
          <p:cNvSpPr txBox="1"/>
          <p:nvPr/>
        </p:nvSpPr>
        <p:spPr>
          <a:xfrm>
            <a:off x="354974" y="1045538"/>
            <a:ext cx="3672349" cy="2885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//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must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initialize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somewhere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cond_t</a:t>
            </a:r>
            <a:r>
              <a:rPr lang="es-ES" sz="11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100" b="1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1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mutex_t</a:t>
            </a:r>
            <a:r>
              <a:rPr lang="es-ES" sz="11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1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*producer(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(i = 0; i &lt;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i++) {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// p1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while (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1)                  // p2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// p3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(i);                             // p4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// p5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// p6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5" name="Google Shape;575;p49"/>
          <p:cNvSpPr txBox="1"/>
          <p:nvPr/>
        </p:nvSpPr>
        <p:spPr>
          <a:xfrm>
            <a:off x="354973" y="4147845"/>
            <a:ext cx="3672349" cy="252066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(i = 0; i &lt;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i++) {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// c1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while (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0)                  // c2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// c3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1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1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ES" sz="11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();                        // c4</a:t>
            </a:r>
            <a:endParaRPr sz="11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// c5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// c6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("%d\n",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76" name="Google Shape;57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5863" y="1929925"/>
            <a:ext cx="807525" cy="105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8374" y="4234500"/>
            <a:ext cx="882500" cy="1055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8373" y="5408175"/>
            <a:ext cx="882500" cy="1083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6825" y="1768850"/>
            <a:ext cx="6011025" cy="4270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0"/>
          <p:cNvSpPr txBox="1">
            <a:spLocks noGrp="1"/>
          </p:cNvSpPr>
          <p:nvPr>
            <p:ph type="title"/>
          </p:nvPr>
        </p:nvSpPr>
        <p:spPr>
          <a:xfrm>
            <a:off x="221226" y="96038"/>
            <a:ext cx="1161579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Productor/consumidor: Unica CV y sentencia while</a:t>
            </a:r>
            <a:endParaRPr dirty="0"/>
          </a:p>
        </p:txBody>
      </p:sp>
      <p:sp>
        <p:nvSpPr>
          <p:cNvPr id="585" name="Google Shape;585;p50"/>
          <p:cNvSpPr txBox="1"/>
          <p:nvPr/>
        </p:nvSpPr>
        <p:spPr>
          <a:xfrm>
            <a:off x="1336725" y="961325"/>
            <a:ext cx="10500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b="1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Análisis del problema: Problema 2</a:t>
            </a:r>
            <a:endParaRPr sz="2600" b="1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50"/>
          <p:cNvSpPr txBox="1"/>
          <p:nvPr/>
        </p:nvSpPr>
        <p:spPr>
          <a:xfrm>
            <a:off x="354876" y="1153975"/>
            <a:ext cx="3627190" cy="2885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//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must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initialize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somewhere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cond_t</a:t>
            </a:r>
            <a:r>
              <a:rPr lang="es-ES" sz="11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100" b="1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1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mutex_t</a:t>
            </a:r>
            <a:r>
              <a:rPr lang="es-ES" sz="11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1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*producer(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(i = 0; i &lt;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i++) {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// p1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while (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1)                  // p2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// p3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(i);                             // p4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// p5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// p6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7" name="Google Shape;587;p50"/>
          <p:cNvSpPr txBox="1"/>
          <p:nvPr/>
        </p:nvSpPr>
        <p:spPr>
          <a:xfrm>
            <a:off x="354875" y="4137670"/>
            <a:ext cx="3627190" cy="252066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(i = 0; i &lt;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i++) {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// c1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while (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0)                  // c2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// c3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1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1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ES" sz="11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();                        // c4</a:t>
            </a:r>
            <a:endParaRPr sz="11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// c5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// c6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("%d\n", </a:t>
            </a:r>
            <a:r>
              <a:rPr lang="es-ES" sz="11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88" name="Google Shape;58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5863" y="1929925"/>
            <a:ext cx="807525" cy="105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8374" y="4234500"/>
            <a:ext cx="882500" cy="1055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8373" y="5408175"/>
            <a:ext cx="882500" cy="1083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163" y="1706075"/>
            <a:ext cx="6281126" cy="2173548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0"/>
          <p:cNvSpPr txBox="1"/>
          <p:nvPr/>
        </p:nvSpPr>
        <p:spPr>
          <a:xfrm>
            <a:off x="6162325" y="4039375"/>
            <a:ext cx="5674800" cy="1635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8A02B"/>
                </a:solidFill>
                <a:ea typeface="Roboto"/>
                <a:cs typeface="Roboto"/>
                <a:sym typeface="Roboto"/>
              </a:rPr>
              <a:t>Conclusión:</a:t>
            </a:r>
            <a:endParaRPr sz="2200" b="1" dirty="0">
              <a:solidFill>
                <a:srgbClr val="F8A02B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Señalizar es necesario.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La señalización llevada a cabo debe ser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más específica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1"/>
          <p:cNvSpPr txBox="1">
            <a:spLocks noGrp="1"/>
          </p:cNvSpPr>
          <p:nvPr>
            <p:ph type="title"/>
          </p:nvPr>
        </p:nvSpPr>
        <p:spPr>
          <a:xfrm>
            <a:off x="162232" y="96038"/>
            <a:ext cx="115557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/>
              <a:t>Productor/consumidor: Unica CV y sentencia while</a:t>
            </a:r>
            <a:endParaRPr dirty="0"/>
          </a:p>
        </p:txBody>
      </p:sp>
      <p:sp>
        <p:nvSpPr>
          <p:cNvPr id="598" name="Google Shape;598;p51"/>
          <p:cNvSpPr txBox="1"/>
          <p:nvPr/>
        </p:nvSpPr>
        <p:spPr>
          <a:xfrm>
            <a:off x="243300" y="662220"/>
            <a:ext cx="5852700" cy="4842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Análisis del problema</a:t>
            </a:r>
            <a:r>
              <a:rPr lang="es-ES" sz="2000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:</a:t>
            </a:r>
            <a:endParaRPr sz="2000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Dos consumidores se ejecutan primero (</a:t>
            </a:r>
            <a:r>
              <a:rPr lang="es-ES" sz="16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Tc1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</a:t>
            </a:r>
            <a:r>
              <a:rPr lang="es-ES" sz="16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Tc2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y luego ambos van a dormir (</a:t>
            </a:r>
            <a:r>
              <a:rPr lang="es-ES" sz="16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c3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16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productor (</a:t>
            </a:r>
            <a:r>
              <a:rPr lang="es-ES" sz="16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Tp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se despierta, pone un valor en el buffer y despierta a uno de los consumidores (</a:t>
            </a:r>
            <a:r>
              <a:rPr lang="es-ES" sz="16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Tc1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por ejemplo).</a:t>
            </a:r>
            <a:endParaRPr sz="16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productor (</a:t>
            </a:r>
            <a:r>
              <a:rPr lang="es-ES" sz="16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Tp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nuevamente se ejecuta  e intenta poner mas datos en el buffer pero como el buffer esta lleno, el productor se va a dormir.</a:t>
            </a:r>
            <a:endParaRPr sz="16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Un consumidor esta listo para correr (</a:t>
            </a:r>
            <a:r>
              <a:rPr lang="es-ES" sz="16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Tc1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y dos hilos están durmiendo (</a:t>
            </a:r>
            <a:r>
              <a:rPr lang="es-ES" sz="16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Tc2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</a:t>
            </a:r>
            <a:r>
              <a:rPr lang="es-ES" sz="16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Tp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16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consumidor (</a:t>
            </a:r>
            <a:r>
              <a:rPr lang="es-ES" sz="16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Tc1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 despierta retornando del </a:t>
            </a:r>
            <a:r>
              <a:rPr lang="es-ES" sz="16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wait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(</a:t>
            </a:r>
            <a:r>
              <a:rPr lang="es-ES" sz="16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c2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), encuentra el buffer lleno y consume el valor (</a:t>
            </a:r>
            <a:r>
              <a:rPr lang="es-ES" sz="16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c4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vaciando el buffer.</a:t>
            </a:r>
            <a:endParaRPr sz="16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consumidor señaliza (</a:t>
            </a:r>
            <a:r>
              <a:rPr lang="es-ES" sz="16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c5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despertando </a:t>
            </a:r>
            <a:r>
              <a:rPr lang="es-ES" sz="1600" u="sng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solo a uno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de los dos hilos que se encuentra dormido (Supongamos para infortunio que es a </a:t>
            </a:r>
            <a:r>
              <a:rPr lang="es-ES" sz="16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Tc2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</a:t>
            </a:r>
            <a:endParaRPr sz="16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599" name="Google Shape;59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7000" y="1249186"/>
            <a:ext cx="5160024" cy="36683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00" name="Google Shape;600;p51"/>
          <p:cNvGraphicFramePr/>
          <p:nvPr>
            <p:extLst>
              <p:ext uri="{D42A27DB-BD31-4B8C-83A1-F6EECF244321}">
                <p14:modId xmlns:p14="http://schemas.microsoft.com/office/powerpoint/2010/main" val="942127033"/>
              </p:ext>
            </p:extLst>
          </p:nvPr>
        </p:nvGraphicFramePr>
        <p:xfrm>
          <a:off x="999940" y="5476519"/>
          <a:ext cx="10147875" cy="115891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4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</a:tblGrid>
              <a:tr h="316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Productor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p4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p5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p6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p3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Consumidor 1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c1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c2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c3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c2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c4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c5</a:t>
                      </a:r>
                      <a:endParaRPr sz="1200" b="1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c6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c1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c2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c3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Consumidor 2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c1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c2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c3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c2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c3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2"/>
          <p:cNvSpPr txBox="1">
            <a:spLocks noGrp="1"/>
          </p:cNvSpPr>
          <p:nvPr>
            <p:ph type="title"/>
          </p:nvPr>
        </p:nvSpPr>
        <p:spPr>
          <a:xfrm>
            <a:off x="280218" y="96038"/>
            <a:ext cx="1162172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Productor/consumidor: Unica CV y sentencia while</a:t>
            </a:r>
            <a:endParaRPr dirty="0"/>
          </a:p>
        </p:txBody>
      </p:sp>
      <p:sp>
        <p:nvSpPr>
          <p:cNvPr id="606" name="Google Shape;606;p52"/>
          <p:cNvSpPr txBox="1"/>
          <p:nvPr/>
        </p:nvSpPr>
        <p:spPr>
          <a:xfrm>
            <a:off x="450231" y="1045538"/>
            <a:ext cx="5645769" cy="1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Análisis del problema</a:t>
            </a:r>
            <a:r>
              <a:rPr lang="es-ES" sz="2000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:</a:t>
            </a:r>
            <a:endParaRPr sz="2000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Al despertarse (</a:t>
            </a:r>
            <a:r>
              <a:rPr lang="es-ES" sz="16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Tc2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y chequear el buffer (</a:t>
            </a:r>
            <a:r>
              <a:rPr lang="es-ES" sz="16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c2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), lo encuentra vacío, por lo que se vuelve a dormir (</a:t>
            </a:r>
            <a:r>
              <a:rPr lang="es-ES" sz="16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c3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16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Con esto ya todos se encuentran dormidos…</a:t>
            </a:r>
            <a:endParaRPr sz="16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607" name="Google Shape;607;p52"/>
          <p:cNvGraphicFramePr/>
          <p:nvPr>
            <p:extLst>
              <p:ext uri="{D42A27DB-BD31-4B8C-83A1-F6EECF244321}">
                <p14:modId xmlns:p14="http://schemas.microsoft.com/office/powerpoint/2010/main" val="1504243726"/>
              </p:ext>
            </p:extLst>
          </p:nvPr>
        </p:nvGraphicFramePr>
        <p:xfrm>
          <a:off x="1419048" y="4993533"/>
          <a:ext cx="10147875" cy="115891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4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</a:tblGrid>
              <a:tr h="316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Productor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p4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p5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p6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p3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Consumidor 1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c1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c2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c3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c2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c4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c5</a:t>
                      </a:r>
                      <a:endParaRPr sz="1200" b="1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c6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c1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c2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c3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Consumidor 2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c1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c2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c3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c2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c3</a:t>
                      </a:r>
                      <a:endParaRPr sz="12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08" name="Google Shape;60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2986" y="1554281"/>
            <a:ext cx="5011975" cy="1730725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52"/>
          <p:cNvSpPr txBox="1"/>
          <p:nvPr/>
        </p:nvSpPr>
        <p:spPr>
          <a:xfrm>
            <a:off x="450231" y="2645338"/>
            <a:ext cx="5477632" cy="1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E46C0A"/>
                </a:solidFill>
                <a:ea typeface="Roboto"/>
                <a:cs typeface="Roboto"/>
                <a:sym typeface="Roboto"/>
              </a:rPr>
              <a:t>Conclusiones</a:t>
            </a:r>
            <a:r>
              <a:rPr lang="es-ES" sz="2000">
                <a:solidFill>
                  <a:srgbClr val="E46C0A"/>
                </a:solidFill>
                <a:ea typeface="Roboto"/>
                <a:cs typeface="Roboto"/>
                <a:sym typeface="Roboto"/>
              </a:rPr>
              <a:t>:</a:t>
            </a:r>
            <a:endParaRPr sz="2000">
              <a:solidFill>
                <a:srgbClr val="E46C0A"/>
              </a:solidFill>
              <a:ea typeface="Roboto"/>
              <a:cs typeface="Roboto"/>
              <a:sym typeface="Roboto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s-ES" sz="1600">
                <a:solidFill>
                  <a:schemeClr val="dk1"/>
                </a:solidFill>
                <a:ea typeface="Roboto"/>
                <a:cs typeface="Roboto"/>
                <a:sym typeface="Roboto"/>
              </a:rPr>
              <a:t>Es necesario saber a quien despertar.</a:t>
            </a:r>
            <a:endParaRPr sz="160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s-ES" sz="1600">
                <a:solidFill>
                  <a:schemeClr val="dk1"/>
                </a:solidFill>
                <a:ea typeface="Roboto"/>
                <a:cs typeface="Roboto"/>
                <a:sym typeface="Roboto"/>
              </a:rPr>
              <a:t>Un consumidor sólo debe despertar productores (no a otros consumidores) y viceversa. </a:t>
            </a:r>
            <a:endParaRPr sz="160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3"/>
          <p:cNvSpPr txBox="1">
            <a:spLocks noGrp="1"/>
          </p:cNvSpPr>
          <p:nvPr>
            <p:ph type="title"/>
          </p:nvPr>
        </p:nvSpPr>
        <p:spPr>
          <a:xfrm>
            <a:off x="353961" y="96038"/>
            <a:ext cx="1169921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Productor/consumidor: Unica CV y sentencia while</a:t>
            </a:r>
            <a:endParaRPr dirty="0"/>
          </a:p>
        </p:txBody>
      </p:sp>
      <p:sp>
        <p:nvSpPr>
          <p:cNvPr id="615" name="Google Shape;615;p53"/>
          <p:cNvSpPr txBox="1"/>
          <p:nvPr/>
        </p:nvSpPr>
        <p:spPr>
          <a:xfrm>
            <a:off x="477558" y="987414"/>
            <a:ext cx="505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Código</a:t>
            </a:r>
            <a:endParaRPr sz="24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53"/>
          <p:cNvSpPr txBox="1">
            <a:spLocks noGrp="1"/>
          </p:cNvSpPr>
          <p:nvPr>
            <p:ph type="body" idx="1"/>
          </p:nvPr>
        </p:nvSpPr>
        <p:spPr>
          <a:xfrm>
            <a:off x="477558" y="1541514"/>
            <a:ext cx="10515600" cy="130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b="1"/>
              <a:t>Archivos</a:t>
            </a:r>
            <a:r>
              <a:rPr lang="es-ES" sz="2200"/>
              <a:t>:</a:t>
            </a:r>
            <a:endParaRPr sz="2200"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s-ES" sz="2000" u="sng">
                <a:solidFill>
                  <a:schemeClr val="hlink"/>
                </a:solidFill>
                <a:ea typeface="Arial"/>
                <a:cs typeface="Arial"/>
                <a:sym typeface="Arial"/>
                <a:hlinkClick r:id="rId3"/>
              </a:rPr>
              <a:t>mythreads.h</a:t>
            </a:r>
            <a:endParaRPr sz="200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s-ES" sz="2000" u="sng">
                <a:solidFill>
                  <a:schemeClr val="hlink"/>
                </a:solidFill>
                <a:ea typeface="Arial"/>
                <a:cs typeface="Arial"/>
                <a:sym typeface="Arial"/>
                <a:hlinkClick r:id="rId4"/>
              </a:rPr>
              <a:t>main_singleBuffer-v2.c</a:t>
            </a:r>
            <a:endParaRPr sz="200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617" name="Google Shape;617;p53"/>
          <p:cNvSpPr txBox="1">
            <a:spLocks noGrp="1"/>
          </p:cNvSpPr>
          <p:nvPr>
            <p:ph type="body" idx="1"/>
          </p:nvPr>
        </p:nvSpPr>
        <p:spPr>
          <a:xfrm>
            <a:off x="477558" y="2985566"/>
            <a:ext cx="10515600" cy="55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b="1"/>
              <a:t>Compilación</a:t>
            </a:r>
            <a:r>
              <a:rPr lang="es-ES" sz="2200"/>
              <a:t>:</a:t>
            </a:r>
            <a:endParaRPr sz="270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618" name="Google Shape;618;p53"/>
          <p:cNvSpPr txBox="1">
            <a:spLocks noGrp="1"/>
          </p:cNvSpPr>
          <p:nvPr>
            <p:ph type="body" idx="1"/>
          </p:nvPr>
        </p:nvSpPr>
        <p:spPr>
          <a:xfrm>
            <a:off x="953107" y="3618798"/>
            <a:ext cx="9783719" cy="46983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gcc -I. main_singleBuffer-v2.c -Wall -lpthread -o single_buffer-while1.out</a:t>
            </a:r>
            <a:endParaRPr sz="2400" dirty="0"/>
          </a:p>
        </p:txBody>
      </p:sp>
      <p:sp>
        <p:nvSpPr>
          <p:cNvPr id="619" name="Google Shape;619;p53"/>
          <p:cNvSpPr txBox="1">
            <a:spLocks noGrp="1"/>
          </p:cNvSpPr>
          <p:nvPr>
            <p:ph type="body" idx="1"/>
          </p:nvPr>
        </p:nvSpPr>
        <p:spPr>
          <a:xfrm>
            <a:off x="597058" y="4187666"/>
            <a:ext cx="10515600" cy="55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b="1"/>
              <a:t>Ejecución</a:t>
            </a:r>
            <a:r>
              <a:rPr lang="es-ES" sz="2200"/>
              <a:t>:</a:t>
            </a:r>
            <a:endParaRPr sz="270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620" name="Google Shape;620;p53"/>
          <p:cNvSpPr txBox="1">
            <a:spLocks noGrp="1"/>
          </p:cNvSpPr>
          <p:nvPr>
            <p:ph type="body" idx="1"/>
          </p:nvPr>
        </p:nvSpPr>
        <p:spPr>
          <a:xfrm>
            <a:off x="953107" y="4934773"/>
            <a:ext cx="9783719" cy="46983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800">
                <a:latin typeface="Consolas"/>
                <a:ea typeface="Consolas"/>
                <a:cs typeface="Consolas"/>
                <a:sym typeface="Consolas"/>
              </a:rPr>
              <a:t>./single_buffer-while1.out &lt;loops&gt; &lt;consumers&gt;</a:t>
            </a:r>
            <a:endParaRPr sz="24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4"/>
          <p:cNvSpPr txBox="1">
            <a:spLocks noGrp="1"/>
          </p:cNvSpPr>
          <p:nvPr>
            <p:ph type="title"/>
          </p:nvPr>
        </p:nvSpPr>
        <p:spPr>
          <a:xfrm>
            <a:off x="309716" y="96038"/>
            <a:ext cx="1168072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Productor/consumidor: Unica CV y sentencia while</a:t>
            </a:r>
            <a:endParaRPr dirty="0"/>
          </a:p>
        </p:txBody>
      </p:sp>
      <p:sp>
        <p:nvSpPr>
          <p:cNvPr id="626" name="Google Shape;626;p54"/>
          <p:cNvSpPr txBox="1"/>
          <p:nvPr/>
        </p:nvSpPr>
        <p:spPr>
          <a:xfrm>
            <a:off x="309716" y="1002607"/>
            <a:ext cx="505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Pruebas</a:t>
            </a:r>
            <a:endParaRPr sz="24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627" name="Google Shape;627;p54"/>
          <p:cNvGraphicFramePr/>
          <p:nvPr>
            <p:extLst>
              <p:ext uri="{D42A27DB-BD31-4B8C-83A1-F6EECF244321}">
                <p14:modId xmlns:p14="http://schemas.microsoft.com/office/powerpoint/2010/main" val="2200087303"/>
              </p:ext>
            </p:extLst>
          </p:nvPr>
        </p:nvGraphicFramePr>
        <p:xfrm>
          <a:off x="583083" y="1671856"/>
          <a:ext cx="10134825" cy="8838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08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Escenario</a:t>
                      </a:r>
                      <a:endParaRPr sz="18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Conclusiones</a:t>
                      </a:r>
                      <a:endParaRPr sz="18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Un solo productor y varios consumidores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El código se puede bloquear</a:t>
                      </a:r>
                      <a:endParaRPr sz="16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28" name="Google Shape;62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0077" y="2997399"/>
            <a:ext cx="4834851" cy="26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174" y="2997399"/>
            <a:ext cx="4951977" cy="36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6"/>
          <p:cNvSpPr txBox="1">
            <a:spLocks noGrp="1"/>
          </p:cNvSpPr>
          <p:nvPr>
            <p:ph type="title"/>
          </p:nvPr>
        </p:nvSpPr>
        <p:spPr>
          <a:xfrm>
            <a:off x="162232" y="96038"/>
            <a:ext cx="11739716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C63E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Productor/consumidor – Single buffer: Usar 2 variables de condición y un while.</a:t>
            </a:r>
            <a:endParaRPr b="1" dirty="0">
              <a:latin typeface="+mj-lt"/>
              <a:sym typeface="Roboto Slab"/>
            </a:endParaRPr>
          </a:p>
        </p:txBody>
      </p:sp>
      <p:sp>
        <p:nvSpPr>
          <p:cNvPr id="641" name="Google Shape;641;p56"/>
          <p:cNvSpPr txBox="1"/>
          <p:nvPr/>
        </p:nvSpPr>
        <p:spPr>
          <a:xfrm>
            <a:off x="162232" y="1169606"/>
            <a:ext cx="10377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Solución: Use dos variables de condición (</a:t>
            </a:r>
            <a:r>
              <a:rPr lang="es-ES" sz="2400" b="1" dirty="0" err="1">
                <a:solidFill>
                  <a:schemeClr val="accent6"/>
                </a:solidFill>
                <a:ea typeface="Consolas"/>
                <a:cs typeface="Consolas"/>
                <a:sym typeface="Consolas"/>
              </a:rPr>
              <a:t>empty</a:t>
            </a: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 y </a:t>
            </a:r>
            <a:r>
              <a:rPr lang="es-ES" sz="2400" b="1" dirty="0" err="1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fill</a:t>
            </a: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)</a:t>
            </a:r>
            <a:endParaRPr sz="2400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b="1" dirty="0">
                <a:ea typeface="Roboto"/>
                <a:cs typeface="Roboto"/>
                <a:sym typeface="Roboto"/>
              </a:rPr>
              <a:t>Productor</a:t>
            </a:r>
            <a:r>
              <a:rPr lang="es-ES" sz="2200" dirty="0">
                <a:ea typeface="Roboto"/>
                <a:cs typeface="Roboto"/>
                <a:sym typeface="Roboto"/>
              </a:rPr>
              <a:t>: va a dormir usando la variable </a:t>
            </a:r>
            <a:r>
              <a:rPr lang="es-ES" sz="2400" b="1" dirty="0" err="1">
                <a:solidFill>
                  <a:schemeClr val="accent6"/>
                </a:solidFill>
                <a:ea typeface="Consolas"/>
                <a:cs typeface="Consolas"/>
                <a:sym typeface="Consolas"/>
              </a:rPr>
              <a:t>empty</a:t>
            </a:r>
            <a:r>
              <a:rPr lang="es-ES" sz="2200" dirty="0">
                <a:ea typeface="Roboto"/>
                <a:cs typeface="Roboto"/>
                <a:sym typeface="Roboto"/>
              </a:rPr>
              <a:t>, y señaliza </a:t>
            </a:r>
            <a:r>
              <a:rPr lang="es-ES" sz="2400" b="1" dirty="0" err="1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fill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b="1" dirty="0">
                <a:ea typeface="Roboto"/>
                <a:cs typeface="Roboto"/>
                <a:sym typeface="Roboto"/>
              </a:rPr>
              <a:t>Consumidor</a:t>
            </a:r>
            <a:r>
              <a:rPr lang="es-ES" sz="2200" dirty="0">
                <a:ea typeface="Roboto"/>
                <a:cs typeface="Roboto"/>
                <a:sym typeface="Roboto"/>
              </a:rPr>
              <a:t>: va a dormir usando la variable </a:t>
            </a:r>
            <a:r>
              <a:rPr lang="es-ES" sz="2400" b="1" dirty="0" err="1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fill</a:t>
            </a:r>
            <a:r>
              <a:rPr lang="es-ES" sz="2200" dirty="0">
                <a:ea typeface="Roboto"/>
                <a:cs typeface="Roboto"/>
                <a:sym typeface="Roboto"/>
              </a:rPr>
              <a:t>, y señaliza </a:t>
            </a:r>
            <a:r>
              <a:rPr lang="es-ES" sz="2400" b="1" dirty="0" err="1">
                <a:solidFill>
                  <a:schemeClr val="accent6"/>
                </a:solidFill>
                <a:ea typeface="Consolas"/>
                <a:cs typeface="Consolas"/>
                <a:sym typeface="Consolas"/>
              </a:rPr>
              <a:t>empty</a:t>
            </a:r>
            <a:endParaRPr sz="2200" dirty="0">
              <a:ea typeface="Consolas"/>
              <a:cs typeface="Consolas"/>
              <a:sym typeface="Consolas"/>
            </a:endParaRPr>
          </a:p>
        </p:txBody>
      </p:sp>
      <p:sp>
        <p:nvSpPr>
          <p:cNvPr id="642" name="Google Shape;642;p56"/>
          <p:cNvSpPr txBox="1"/>
          <p:nvPr/>
        </p:nvSpPr>
        <p:spPr>
          <a:xfrm>
            <a:off x="971845" y="2749140"/>
            <a:ext cx="4711200" cy="340551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empty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4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fill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*producer(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(i = 0; i &lt;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i++)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while 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1)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  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empty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fill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3" name="Google Shape;643;p56"/>
          <p:cNvSpPr txBox="1"/>
          <p:nvPr/>
        </p:nvSpPr>
        <p:spPr>
          <a:xfrm>
            <a:off x="6368957" y="2873019"/>
            <a:ext cx="4711200" cy="315775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while(1)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while 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0)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  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fill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empty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("%d\n",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7"/>
          <p:cNvSpPr txBox="1">
            <a:spLocks noGrp="1"/>
          </p:cNvSpPr>
          <p:nvPr>
            <p:ph type="title"/>
          </p:nvPr>
        </p:nvSpPr>
        <p:spPr>
          <a:xfrm>
            <a:off x="265471" y="96038"/>
            <a:ext cx="1147424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C63E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Productor/consumidor – Solución final</a:t>
            </a:r>
            <a:endParaRPr b="1" dirty="0">
              <a:latin typeface="+mj-lt"/>
              <a:sym typeface="Roboto Slab"/>
            </a:endParaRPr>
          </a:p>
        </p:txBody>
      </p:sp>
      <p:sp>
        <p:nvSpPr>
          <p:cNvPr id="649" name="Google Shape;649;p57"/>
          <p:cNvSpPr txBox="1"/>
          <p:nvPr/>
        </p:nvSpPr>
        <p:spPr>
          <a:xfrm>
            <a:off x="248112" y="843624"/>
            <a:ext cx="11124300" cy="1231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j-lt"/>
                <a:ea typeface="Roboto"/>
                <a:cs typeface="Roboto"/>
                <a:sym typeface="Roboto"/>
              </a:rPr>
              <a:t>Solución: Agregar mas slots en el buffer</a:t>
            </a:r>
            <a:endParaRPr sz="2400" b="1" dirty="0">
              <a:solidFill>
                <a:schemeClr val="accent5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b="1" dirty="0">
                <a:latin typeface="+mj-lt"/>
                <a:ea typeface="Roboto"/>
                <a:cs typeface="Roboto"/>
                <a:sym typeface="Roboto"/>
              </a:rPr>
              <a:t>Mejora de concurrencia</a:t>
            </a:r>
            <a:r>
              <a:rPr lang="es-ES" sz="2200" dirty="0">
                <a:latin typeface="+mj-lt"/>
                <a:ea typeface="Roboto"/>
                <a:cs typeface="Roboto"/>
                <a:sym typeface="Roboto"/>
              </a:rPr>
              <a:t>: Permite que se produzca y se consuma de manera concurrente.</a:t>
            </a:r>
            <a:endParaRPr sz="2200" dirty="0">
              <a:latin typeface="+mj-lt"/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b="1" dirty="0">
                <a:latin typeface="+mj-lt"/>
                <a:ea typeface="Roboto"/>
                <a:cs typeface="Roboto"/>
                <a:sym typeface="Roboto"/>
              </a:rPr>
              <a:t>Mejora de eficiencia</a:t>
            </a:r>
            <a:r>
              <a:rPr lang="es-ES" sz="2200" dirty="0">
                <a:latin typeface="+mj-lt"/>
                <a:ea typeface="Roboto"/>
                <a:cs typeface="Roboto"/>
                <a:sym typeface="Roboto"/>
              </a:rPr>
              <a:t>: Reduce cambios de contexto.</a:t>
            </a:r>
            <a:endParaRPr sz="2200" dirty="0"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57"/>
          <p:cNvSpPr txBox="1"/>
          <p:nvPr/>
        </p:nvSpPr>
        <p:spPr>
          <a:xfrm>
            <a:off x="936718" y="2237679"/>
            <a:ext cx="4076438" cy="439655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buffer[MAX];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fill_ptr = 0;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use_ptr = 0;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count = 0;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put(int value)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buffer[fill_ptr] = value;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fill_ptr = (fill_ptr + 1)%MAX;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count++;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get()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tmp = buffer[use_ptr];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use_ptr = (use_ptr + 1)%MAX;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count--;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return tmp;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651" name="Google Shape;651;p57"/>
          <p:cNvGrpSpPr/>
          <p:nvPr/>
        </p:nvGrpSpPr>
        <p:grpSpPr>
          <a:xfrm>
            <a:off x="8203075" y="4717313"/>
            <a:ext cx="1276200" cy="925800"/>
            <a:chOff x="7628075" y="4128563"/>
            <a:chExt cx="1276200" cy="925800"/>
          </a:xfrm>
        </p:grpSpPr>
        <p:sp>
          <p:nvSpPr>
            <p:cNvPr id="652" name="Google Shape;652;p57"/>
            <p:cNvSpPr/>
            <p:nvPr/>
          </p:nvSpPr>
          <p:spPr>
            <a:xfrm>
              <a:off x="7628075" y="4128563"/>
              <a:ext cx="1276200" cy="462900"/>
            </a:xfrm>
            <a:prstGeom prst="rect">
              <a:avLst/>
            </a:prstGeom>
            <a:solidFill>
              <a:srgbClr val="F4CC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57"/>
            <p:cNvSpPr/>
            <p:nvPr/>
          </p:nvSpPr>
          <p:spPr>
            <a:xfrm>
              <a:off x="7628075" y="4591463"/>
              <a:ext cx="1276200" cy="46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nsolas"/>
                  <a:ea typeface="Consolas"/>
                  <a:cs typeface="Consolas"/>
                  <a:sym typeface="Consolas"/>
                </a:rPr>
                <a:t>count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654" name="Google Shape;654;p57"/>
          <p:cNvSpPr/>
          <p:nvPr/>
        </p:nvSpPr>
        <p:spPr>
          <a:xfrm>
            <a:off x="8119675" y="4032638"/>
            <a:ext cx="1276200" cy="4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/>
                <a:ea typeface="Consolas"/>
                <a:cs typeface="Consolas"/>
                <a:sym typeface="Consolas"/>
              </a:rPr>
              <a:t>buffer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655" name="Google Shape;655;p57"/>
          <p:cNvGrpSpPr/>
          <p:nvPr/>
        </p:nvGrpSpPr>
        <p:grpSpPr>
          <a:xfrm>
            <a:off x="6166387" y="3452525"/>
            <a:ext cx="912651" cy="462900"/>
            <a:chOff x="6420775" y="2821725"/>
            <a:chExt cx="1149000" cy="462900"/>
          </a:xfrm>
        </p:grpSpPr>
        <p:cxnSp>
          <p:nvCxnSpPr>
            <p:cNvPr id="656" name="Google Shape;656;p57"/>
            <p:cNvCxnSpPr/>
            <p:nvPr/>
          </p:nvCxnSpPr>
          <p:spPr>
            <a:xfrm rot="10800000" flipH="1">
              <a:off x="6420775" y="3207300"/>
              <a:ext cx="1149000" cy="7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57" name="Google Shape;657;p57"/>
            <p:cNvSpPr/>
            <p:nvPr/>
          </p:nvSpPr>
          <p:spPr>
            <a:xfrm>
              <a:off x="6540681" y="2821725"/>
              <a:ext cx="784500" cy="46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put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58" name="Google Shape;658;p57"/>
          <p:cNvGrpSpPr/>
          <p:nvPr/>
        </p:nvGrpSpPr>
        <p:grpSpPr>
          <a:xfrm>
            <a:off x="10435948" y="3450725"/>
            <a:ext cx="852098" cy="462900"/>
            <a:chOff x="8962575" y="2793675"/>
            <a:chExt cx="1149000" cy="462900"/>
          </a:xfrm>
        </p:grpSpPr>
        <p:sp>
          <p:nvSpPr>
            <p:cNvPr id="659" name="Google Shape;659;p57"/>
            <p:cNvSpPr/>
            <p:nvPr/>
          </p:nvSpPr>
          <p:spPr>
            <a:xfrm>
              <a:off x="9013784" y="2793675"/>
              <a:ext cx="739200" cy="46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get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660" name="Google Shape;660;p57"/>
            <p:cNvCxnSpPr/>
            <p:nvPr/>
          </p:nvCxnSpPr>
          <p:spPr>
            <a:xfrm rot="10800000" flipH="1">
              <a:off x="8962575" y="3207300"/>
              <a:ext cx="1149000" cy="7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aphicFrame>
        <p:nvGraphicFramePr>
          <p:cNvPr id="661" name="Google Shape;661;p57"/>
          <p:cNvGraphicFramePr/>
          <p:nvPr/>
        </p:nvGraphicFramePr>
        <p:xfrm>
          <a:off x="7098825" y="3637050"/>
          <a:ext cx="3317900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2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9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62" name="Google Shape;66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8962" y="3555238"/>
            <a:ext cx="247775" cy="559825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57"/>
          <p:cNvSpPr txBox="1"/>
          <p:nvPr/>
        </p:nvSpPr>
        <p:spPr>
          <a:xfrm>
            <a:off x="5244025" y="4033250"/>
            <a:ext cx="125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producer</a:t>
            </a:r>
            <a:endParaRPr sz="1800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4" name="Google Shape;664;p57"/>
          <p:cNvSpPr txBox="1"/>
          <p:nvPr/>
        </p:nvSpPr>
        <p:spPr>
          <a:xfrm>
            <a:off x="10867488" y="4033250"/>
            <a:ext cx="125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endParaRPr sz="1800" b="1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65" name="Google Shape;66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2412" y="3555238"/>
            <a:ext cx="247775" cy="55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8"/>
          <p:cNvSpPr txBox="1">
            <a:spLocks noGrp="1"/>
          </p:cNvSpPr>
          <p:nvPr>
            <p:ph type="title"/>
          </p:nvPr>
        </p:nvSpPr>
        <p:spPr>
          <a:xfrm>
            <a:off x="324465" y="96038"/>
            <a:ext cx="889618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C63E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Productor/consumidor – Solución final</a:t>
            </a:r>
            <a:endParaRPr b="1" dirty="0"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671" name="Google Shape;671;p58"/>
          <p:cNvSpPr txBox="1"/>
          <p:nvPr/>
        </p:nvSpPr>
        <p:spPr>
          <a:xfrm>
            <a:off x="324465" y="755763"/>
            <a:ext cx="11124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Solución: Agregar mas slots en el buffer</a:t>
            </a:r>
            <a:endParaRPr sz="2200" dirty="0"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58"/>
          <p:cNvSpPr txBox="1"/>
          <p:nvPr/>
        </p:nvSpPr>
        <p:spPr>
          <a:xfrm>
            <a:off x="441087" y="1628100"/>
            <a:ext cx="5649998" cy="3601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cond_t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empty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fill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mutex_t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*producer(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(i = 0; i &lt;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i++) {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	  // p1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while (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MAX)             	  // p2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empty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// p3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(i);                          	  // p4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fill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	  // p5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	  // p6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3" name="Google Shape;673;p58"/>
          <p:cNvSpPr txBox="1"/>
          <p:nvPr/>
        </p:nvSpPr>
        <p:spPr>
          <a:xfrm>
            <a:off x="6470991" y="1743938"/>
            <a:ext cx="5279922" cy="337012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while(1) {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  // c1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while (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0)                    // c2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fill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// c3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                      // c4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empty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 // c5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    // c6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("%d\n", 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4" name="Google Shape;674;p58"/>
          <p:cNvSpPr txBox="1"/>
          <p:nvPr/>
        </p:nvSpPr>
        <p:spPr>
          <a:xfrm>
            <a:off x="441087" y="5276888"/>
            <a:ext cx="10082400" cy="1125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Un 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productor va a dormir 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solo si el buffer está 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lleno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(</a:t>
            </a:r>
            <a:r>
              <a:rPr lang="es-ES" sz="24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p2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Un 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consumidor va a dormir 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sólo si el buffer está 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vacío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(</a:t>
            </a:r>
            <a:r>
              <a:rPr lang="es-ES" sz="24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c2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59"/>
          <p:cNvSpPr txBox="1">
            <a:spLocks noGrp="1"/>
          </p:cNvSpPr>
          <p:nvPr>
            <p:ph type="title"/>
          </p:nvPr>
        </p:nvSpPr>
        <p:spPr>
          <a:xfrm>
            <a:off x="353961" y="96038"/>
            <a:ext cx="886668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CC63E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Productor/consumidor – Solución final</a:t>
            </a:r>
            <a:endParaRPr dirty="0">
              <a:latin typeface="+mj-lt"/>
            </a:endParaRPr>
          </a:p>
        </p:txBody>
      </p:sp>
      <p:sp>
        <p:nvSpPr>
          <p:cNvPr id="680" name="Google Shape;680;p59"/>
          <p:cNvSpPr txBox="1"/>
          <p:nvPr/>
        </p:nvSpPr>
        <p:spPr>
          <a:xfrm>
            <a:off x="446100" y="979401"/>
            <a:ext cx="505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Código 1</a:t>
            </a:r>
            <a:endParaRPr sz="24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59"/>
          <p:cNvSpPr txBox="1">
            <a:spLocks noGrp="1"/>
          </p:cNvSpPr>
          <p:nvPr>
            <p:ph type="body" idx="1"/>
          </p:nvPr>
        </p:nvSpPr>
        <p:spPr>
          <a:xfrm>
            <a:off x="521806" y="3003275"/>
            <a:ext cx="10515600" cy="130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b="1">
                <a:latin typeface="+mn-lt"/>
              </a:rPr>
              <a:t>Archivos</a:t>
            </a:r>
            <a:r>
              <a:rPr lang="es-ES" sz="2200">
                <a:latin typeface="+mn-lt"/>
              </a:rPr>
              <a:t>:</a:t>
            </a:r>
            <a:endParaRPr sz="2200">
              <a:latin typeface="+mn-lt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s-ES" sz="2000" u="sng">
                <a:solidFill>
                  <a:schemeClr val="hlink"/>
                </a:solidFill>
                <a:latin typeface="+mn-lt"/>
                <a:ea typeface="Arial"/>
                <a:cs typeface="Arial"/>
                <a:sym typeface="Arial"/>
                <a:hlinkClick r:id="rId3"/>
              </a:rPr>
              <a:t>mythreads.h</a:t>
            </a:r>
            <a:endParaRPr sz="200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s-ES" sz="2000" u="sng">
                <a:solidFill>
                  <a:schemeClr val="hlink"/>
                </a:solidFill>
                <a:latin typeface="+mn-lt"/>
                <a:ea typeface="Arial"/>
                <a:cs typeface="Arial"/>
                <a:sym typeface="Arial"/>
                <a:hlinkClick r:id="rId4"/>
              </a:rPr>
              <a:t>main_buffer-v3.c</a:t>
            </a:r>
            <a:endParaRPr sz="200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>
              <a:latin typeface="+mn-lt"/>
            </a:endParaRPr>
          </a:p>
        </p:txBody>
      </p:sp>
      <p:sp>
        <p:nvSpPr>
          <p:cNvPr id="682" name="Google Shape;682;p59"/>
          <p:cNvSpPr txBox="1">
            <a:spLocks noGrp="1"/>
          </p:cNvSpPr>
          <p:nvPr>
            <p:ph type="body" idx="1"/>
          </p:nvPr>
        </p:nvSpPr>
        <p:spPr>
          <a:xfrm>
            <a:off x="521806" y="4353651"/>
            <a:ext cx="10515600" cy="55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b="1" dirty="0">
                <a:latin typeface="+mn-lt"/>
              </a:rPr>
              <a:t>Compilación</a:t>
            </a:r>
            <a:r>
              <a:rPr lang="es-ES" sz="2200" dirty="0">
                <a:latin typeface="+mn-lt"/>
              </a:rPr>
              <a:t>:</a:t>
            </a:r>
            <a:endParaRPr sz="27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</p:txBody>
      </p:sp>
      <p:sp>
        <p:nvSpPr>
          <p:cNvPr id="683" name="Google Shape;683;p59"/>
          <p:cNvSpPr txBox="1">
            <a:spLocks noGrp="1"/>
          </p:cNvSpPr>
          <p:nvPr>
            <p:ph type="body" idx="1"/>
          </p:nvPr>
        </p:nvSpPr>
        <p:spPr>
          <a:xfrm>
            <a:off x="923611" y="4965620"/>
            <a:ext cx="8456363" cy="46983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gcc -I. main_buffer-v3.c -Wall -lpthread -o </a:t>
            </a:r>
            <a:r>
              <a:rPr lang="es-ES" sz="1800" dirty="0" err="1">
                <a:latin typeface="Consolas"/>
                <a:ea typeface="Consolas"/>
                <a:cs typeface="Consolas"/>
                <a:sym typeface="Consolas"/>
              </a:rPr>
              <a:t>bounded-buffer.out</a:t>
            </a:r>
            <a:endParaRPr sz="2400" dirty="0"/>
          </a:p>
        </p:txBody>
      </p:sp>
      <p:sp>
        <p:nvSpPr>
          <p:cNvPr id="684" name="Google Shape;684;p59"/>
          <p:cNvSpPr txBox="1">
            <a:spLocks noGrp="1"/>
          </p:cNvSpPr>
          <p:nvPr>
            <p:ph type="body" idx="1"/>
          </p:nvPr>
        </p:nvSpPr>
        <p:spPr>
          <a:xfrm>
            <a:off x="641306" y="5533839"/>
            <a:ext cx="10515600" cy="55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b="1">
                <a:latin typeface="+mn-lt"/>
              </a:rPr>
              <a:t>Ejecución</a:t>
            </a:r>
            <a:r>
              <a:rPr lang="es-ES" sz="2200">
                <a:latin typeface="+mn-lt"/>
              </a:rPr>
              <a:t>:</a:t>
            </a:r>
            <a:endParaRPr sz="270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>
              <a:latin typeface="+mn-lt"/>
            </a:endParaRPr>
          </a:p>
        </p:txBody>
      </p:sp>
      <p:sp>
        <p:nvSpPr>
          <p:cNvPr id="685" name="Google Shape;685;p59"/>
          <p:cNvSpPr txBox="1">
            <a:spLocks noGrp="1"/>
          </p:cNvSpPr>
          <p:nvPr>
            <p:ph type="body" idx="1"/>
          </p:nvPr>
        </p:nvSpPr>
        <p:spPr>
          <a:xfrm>
            <a:off x="923611" y="6087939"/>
            <a:ext cx="8559602" cy="46983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800">
                <a:latin typeface="Consolas"/>
                <a:ea typeface="Consolas"/>
                <a:cs typeface="Consolas"/>
                <a:sym typeface="Consolas"/>
              </a:rPr>
              <a:t>bounded-buffer.out &lt;buffersize&gt; &lt;loops&gt; &lt;consumers&gt;</a:t>
            </a:r>
            <a:endParaRPr sz="2400"/>
          </a:p>
        </p:txBody>
      </p:sp>
      <p:sp>
        <p:nvSpPr>
          <p:cNvPr id="686" name="Google Shape;686;p59"/>
          <p:cNvSpPr txBox="1">
            <a:spLocks noGrp="1"/>
          </p:cNvSpPr>
          <p:nvPr>
            <p:ph type="body" idx="1"/>
          </p:nvPr>
        </p:nvSpPr>
        <p:spPr>
          <a:xfrm>
            <a:off x="521806" y="1573412"/>
            <a:ext cx="10515600" cy="148446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b="1">
                <a:latin typeface="+mn-lt"/>
              </a:rPr>
              <a:t>Aspectos a resaltar</a:t>
            </a:r>
            <a:r>
              <a:rPr lang="es-ES" sz="2200">
                <a:latin typeface="+mn-lt"/>
              </a:rPr>
              <a:t>:</a:t>
            </a:r>
            <a:endParaRPr sz="2200">
              <a:latin typeface="+mn-lt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s-ES" sz="2000">
                <a:latin typeface="+mn-lt"/>
              </a:rPr>
              <a:t>A diferencia de los casos anteriores, este código ya tiene en cuenta que el buffer puede tener más de un elemento.</a:t>
            </a:r>
            <a:endParaRPr sz="2000">
              <a:latin typeface="+mn-l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●"/>
            </a:pPr>
            <a:r>
              <a:rPr lang="es-ES" sz="2000">
                <a:solidFill>
                  <a:srgbClr val="FF0000"/>
                </a:solidFill>
                <a:latin typeface="+mn-lt"/>
              </a:rPr>
              <a:t>No maneja marca de terminación de modo que aunque funciona el código se bloquea.</a:t>
            </a:r>
            <a:endParaRPr sz="200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0"/>
          <p:cNvSpPr txBox="1">
            <a:spLocks noGrp="1"/>
          </p:cNvSpPr>
          <p:nvPr>
            <p:ph type="title"/>
          </p:nvPr>
        </p:nvSpPr>
        <p:spPr>
          <a:xfrm>
            <a:off x="398206" y="96038"/>
            <a:ext cx="882244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CC63E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Productor/consumidor – Solución final</a:t>
            </a:r>
            <a:endParaRPr dirty="0">
              <a:latin typeface="+mj-lt"/>
            </a:endParaRPr>
          </a:p>
        </p:txBody>
      </p:sp>
      <p:sp>
        <p:nvSpPr>
          <p:cNvPr id="692" name="Google Shape;692;p60"/>
          <p:cNvSpPr txBox="1"/>
          <p:nvPr/>
        </p:nvSpPr>
        <p:spPr>
          <a:xfrm>
            <a:off x="446100" y="972850"/>
            <a:ext cx="505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Código 1</a:t>
            </a:r>
            <a:endParaRPr sz="24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693" name="Google Shape;693;p60"/>
          <p:cNvGraphicFramePr/>
          <p:nvPr>
            <p:extLst>
              <p:ext uri="{D42A27DB-BD31-4B8C-83A1-F6EECF244321}">
                <p14:modId xmlns:p14="http://schemas.microsoft.com/office/powerpoint/2010/main" val="4052058822"/>
              </p:ext>
            </p:extLst>
          </p:nvPr>
        </p:nvGraphicFramePr>
        <p:xfrm>
          <a:off x="854414" y="1644225"/>
          <a:ext cx="10276450" cy="8838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15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Escenario</a:t>
                      </a:r>
                      <a:endParaRPr sz="18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Conclusiones</a:t>
                      </a:r>
                      <a:endParaRPr sz="18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Un solo productor y varios consumidores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El código funciona pero se bloquea</a:t>
                      </a:r>
                      <a:endParaRPr sz="16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94" name="Google Shape;69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824" y="3592481"/>
            <a:ext cx="3534600" cy="26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1039" y="3019280"/>
            <a:ext cx="3958475" cy="30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1"/>
          <p:cNvSpPr txBox="1">
            <a:spLocks noGrp="1"/>
          </p:cNvSpPr>
          <p:nvPr>
            <p:ph type="title"/>
          </p:nvPr>
        </p:nvSpPr>
        <p:spPr>
          <a:xfrm>
            <a:off x="427703" y="96038"/>
            <a:ext cx="8792947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CC63E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Productor/consumidor – Solución final</a:t>
            </a:r>
            <a:endParaRPr dirty="0">
              <a:latin typeface="+mj-lt"/>
            </a:endParaRPr>
          </a:p>
        </p:txBody>
      </p:sp>
      <p:sp>
        <p:nvSpPr>
          <p:cNvPr id="701" name="Google Shape;701;p61"/>
          <p:cNvSpPr txBox="1"/>
          <p:nvPr/>
        </p:nvSpPr>
        <p:spPr>
          <a:xfrm>
            <a:off x="446100" y="801980"/>
            <a:ext cx="505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Código 2</a:t>
            </a:r>
            <a:endParaRPr sz="2400" b="1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61"/>
          <p:cNvSpPr txBox="1">
            <a:spLocks noGrp="1"/>
          </p:cNvSpPr>
          <p:nvPr>
            <p:ph type="body" idx="1"/>
          </p:nvPr>
        </p:nvSpPr>
        <p:spPr>
          <a:xfrm>
            <a:off x="446100" y="3059868"/>
            <a:ext cx="10515600" cy="130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b="1">
                <a:latin typeface="+mn-lt"/>
              </a:rPr>
              <a:t>Archivos</a:t>
            </a:r>
            <a:r>
              <a:rPr lang="es-ES" sz="2200">
                <a:latin typeface="+mn-lt"/>
              </a:rPr>
              <a:t>:</a:t>
            </a:r>
            <a:endParaRPr sz="2200">
              <a:latin typeface="+mn-lt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s-ES" sz="2000" u="sng">
                <a:solidFill>
                  <a:schemeClr val="hlink"/>
                </a:solidFill>
                <a:latin typeface="+mn-lt"/>
                <a:ea typeface="Arial"/>
                <a:cs typeface="Arial"/>
                <a:sym typeface="Arial"/>
                <a:hlinkClick r:id="rId3"/>
              </a:rPr>
              <a:t>mythreads.h</a:t>
            </a:r>
            <a:endParaRPr sz="200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s-ES" sz="2000" u="sng">
                <a:solidFill>
                  <a:schemeClr val="hlink"/>
                </a:solidFill>
                <a:latin typeface="+mn-lt"/>
                <a:ea typeface="Arial"/>
                <a:cs typeface="Arial"/>
                <a:sym typeface="Arial"/>
                <a:hlinkClick r:id="rId4"/>
              </a:rPr>
              <a:t>main_buffer-v4.c</a:t>
            </a:r>
            <a:endParaRPr sz="200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>
              <a:latin typeface="+mn-lt"/>
            </a:endParaRPr>
          </a:p>
        </p:txBody>
      </p:sp>
      <p:sp>
        <p:nvSpPr>
          <p:cNvPr id="703" name="Google Shape;703;p61"/>
          <p:cNvSpPr txBox="1">
            <a:spLocks noGrp="1"/>
          </p:cNvSpPr>
          <p:nvPr>
            <p:ph type="body" idx="1"/>
          </p:nvPr>
        </p:nvSpPr>
        <p:spPr>
          <a:xfrm>
            <a:off x="446100" y="4300294"/>
            <a:ext cx="10515600" cy="55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b="1">
                <a:latin typeface="+mn-lt"/>
              </a:rPr>
              <a:t>Compilación</a:t>
            </a:r>
            <a:r>
              <a:rPr lang="es-ES" sz="2200">
                <a:latin typeface="+mn-lt"/>
              </a:rPr>
              <a:t>:</a:t>
            </a:r>
            <a:endParaRPr sz="270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>
              <a:latin typeface="+mn-lt"/>
            </a:endParaRPr>
          </a:p>
        </p:txBody>
      </p:sp>
      <p:sp>
        <p:nvSpPr>
          <p:cNvPr id="704" name="Google Shape;704;p61"/>
          <p:cNvSpPr txBox="1">
            <a:spLocks noGrp="1"/>
          </p:cNvSpPr>
          <p:nvPr>
            <p:ph type="body" idx="1"/>
          </p:nvPr>
        </p:nvSpPr>
        <p:spPr>
          <a:xfrm>
            <a:off x="1012101" y="4885106"/>
            <a:ext cx="8766080" cy="46983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gcc -I. main_buffer-v4.c -Wall -lpthread -o </a:t>
            </a:r>
            <a:r>
              <a:rPr lang="es-ES" sz="1800" dirty="0" err="1">
                <a:latin typeface="Consolas"/>
                <a:ea typeface="Consolas"/>
                <a:cs typeface="Consolas"/>
                <a:sym typeface="Consolas"/>
              </a:rPr>
              <a:t>bounded-buffer.out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5" name="Google Shape;705;p61"/>
          <p:cNvSpPr txBox="1">
            <a:spLocks noGrp="1"/>
          </p:cNvSpPr>
          <p:nvPr>
            <p:ph type="body" idx="1"/>
          </p:nvPr>
        </p:nvSpPr>
        <p:spPr>
          <a:xfrm>
            <a:off x="565600" y="5374932"/>
            <a:ext cx="10515600" cy="55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b="1">
                <a:latin typeface="+mn-lt"/>
              </a:rPr>
              <a:t>Ejecución</a:t>
            </a:r>
            <a:r>
              <a:rPr lang="es-ES" sz="2200">
                <a:latin typeface="+mn-lt"/>
              </a:rPr>
              <a:t>:</a:t>
            </a:r>
            <a:endParaRPr sz="270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>
              <a:latin typeface="+mn-lt"/>
            </a:endParaRPr>
          </a:p>
        </p:txBody>
      </p:sp>
      <p:sp>
        <p:nvSpPr>
          <p:cNvPr id="706" name="Google Shape;706;p61"/>
          <p:cNvSpPr txBox="1">
            <a:spLocks noGrp="1"/>
          </p:cNvSpPr>
          <p:nvPr>
            <p:ph type="body" idx="1"/>
          </p:nvPr>
        </p:nvSpPr>
        <p:spPr>
          <a:xfrm>
            <a:off x="1012101" y="6002506"/>
            <a:ext cx="8766080" cy="469832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800">
                <a:latin typeface="Consolas"/>
                <a:ea typeface="Consolas"/>
                <a:cs typeface="Consolas"/>
                <a:sym typeface="Consolas"/>
              </a:rPr>
              <a:t>./bounded-buffer.out &lt;buffersize&gt; &lt;loops&gt; &lt;consumers&gt;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7" name="Google Shape;707;p61"/>
          <p:cNvSpPr txBox="1">
            <a:spLocks noGrp="1"/>
          </p:cNvSpPr>
          <p:nvPr>
            <p:ph type="body" idx="1"/>
          </p:nvPr>
        </p:nvSpPr>
        <p:spPr>
          <a:xfrm>
            <a:off x="446100" y="1421930"/>
            <a:ext cx="10515600" cy="176146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b="1">
                <a:latin typeface="+mn-lt"/>
              </a:rPr>
              <a:t>Aspectos a resaltar</a:t>
            </a:r>
            <a:r>
              <a:rPr lang="es-ES" sz="2200">
                <a:latin typeface="+mn-lt"/>
              </a:rPr>
              <a:t>:</a:t>
            </a:r>
            <a:endParaRPr sz="2200">
              <a:latin typeface="+mn-lt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s-ES" sz="2000">
                <a:latin typeface="+mn-lt"/>
              </a:rPr>
              <a:t>A diferencia de los casos anteriores, este código ya tiene en cuenta que el buffer puede tener más de un elemento.</a:t>
            </a:r>
            <a:endParaRPr sz="2000">
              <a:latin typeface="+mn-lt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>
                <a:latin typeface="+mn-lt"/>
              </a:rPr>
              <a:t>Corrige el problema del código anterior agregando un -1 como condición de terminación al meter datos.</a:t>
            </a:r>
            <a:endParaRPr sz="2000">
              <a:latin typeface="+mn-l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62"/>
          <p:cNvSpPr txBox="1">
            <a:spLocks noGrp="1"/>
          </p:cNvSpPr>
          <p:nvPr>
            <p:ph type="title"/>
          </p:nvPr>
        </p:nvSpPr>
        <p:spPr>
          <a:xfrm>
            <a:off x="353961" y="96038"/>
            <a:ext cx="886668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8CC63E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Productor/consumidor – Solución final</a:t>
            </a:r>
            <a:endParaRPr dirty="0">
              <a:latin typeface="+mj-lt"/>
            </a:endParaRPr>
          </a:p>
        </p:txBody>
      </p:sp>
      <p:sp>
        <p:nvSpPr>
          <p:cNvPr id="713" name="Google Shape;713;p62"/>
          <p:cNvSpPr txBox="1"/>
          <p:nvPr/>
        </p:nvSpPr>
        <p:spPr>
          <a:xfrm>
            <a:off x="446100" y="826050"/>
            <a:ext cx="505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Código 1</a:t>
            </a:r>
            <a:endParaRPr sz="24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714" name="Google Shape;714;p62"/>
          <p:cNvGraphicFramePr/>
          <p:nvPr/>
        </p:nvGraphicFramePr>
        <p:xfrm>
          <a:off x="1208375" y="1714775"/>
          <a:ext cx="10276450" cy="8838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15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Escenario</a:t>
                      </a:r>
                      <a:endParaRPr sz="18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Conclusiones</a:t>
                      </a:r>
                      <a:endParaRPr sz="18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Un solo productor y varios consumidores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El código funciona 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15" name="Google Shape;71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3075" y="4329900"/>
            <a:ext cx="3534600" cy="26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7198" y="3267887"/>
            <a:ext cx="3534600" cy="2849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63"/>
          <p:cNvSpPr txBox="1">
            <a:spLocks noGrp="1"/>
          </p:cNvSpPr>
          <p:nvPr>
            <p:ph type="title"/>
          </p:nvPr>
        </p:nvSpPr>
        <p:spPr>
          <a:xfrm>
            <a:off x="235974" y="96038"/>
            <a:ext cx="8984676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C63E"/>
              </a:buClr>
              <a:buSzPts val="3200"/>
              <a:buFont typeface="Roboto Slab"/>
              <a:buNone/>
            </a:pPr>
            <a:r>
              <a:rPr lang="es-ES"/>
              <a:t>Resumen: Reglas de juego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23" name="Google Shape;723;p63"/>
          <p:cNvSpPr txBox="1"/>
          <p:nvPr/>
        </p:nvSpPr>
        <p:spPr>
          <a:xfrm>
            <a:off x="6200383" y="3428998"/>
            <a:ext cx="4925961" cy="315775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while(1)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	 // c1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 err="1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400" dirty="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== 0)              	 // c2</a:t>
            </a:r>
            <a:endParaRPr sz="1400" dirty="0">
              <a:solidFill>
                <a:schemeClr val="dk1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fill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 // c3</a:t>
            </a:r>
            <a:endParaRPr sz="14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                    	 // c4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empty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	 // c5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   	 // c6</a:t>
            </a:r>
            <a:endParaRPr sz="14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("%d\n",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tmp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4" name="Google Shape;724;p63"/>
          <p:cNvSpPr txBox="1"/>
          <p:nvPr/>
        </p:nvSpPr>
        <p:spPr>
          <a:xfrm>
            <a:off x="311194" y="925465"/>
            <a:ext cx="5680424" cy="2472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Mantenga un </a:t>
            </a:r>
            <a:r>
              <a:rPr lang="es-ES" sz="2000" b="1" dirty="0">
                <a:solidFill>
                  <a:srgbClr val="00B050"/>
                </a:solidFill>
                <a:ea typeface="Roboto"/>
                <a:cs typeface="Roboto"/>
                <a:sym typeface="Roboto"/>
              </a:rPr>
              <a:t>estado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además de las </a:t>
            </a:r>
            <a:r>
              <a:rPr lang="es-ES" sz="20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variables condición</a:t>
            </a:r>
            <a:r>
              <a:rPr lang="es-ES" sz="2000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 (CV)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</a:p>
          <a:p>
            <a:pPr marL="457200" lvl="0" indent="-355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Siempre espere/señale (</a:t>
            </a:r>
            <a:r>
              <a:rPr lang="es-ES" sz="20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wait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/</a:t>
            </a:r>
            <a:r>
              <a:rPr lang="es-ES" sz="20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signal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el 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lock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adquirido.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Siempre que adquiera un 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lock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, verifique el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estado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 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726" name="Google Shape;726;p63"/>
          <p:cNvGrpSpPr/>
          <p:nvPr/>
        </p:nvGrpSpPr>
        <p:grpSpPr>
          <a:xfrm>
            <a:off x="8538341" y="1101522"/>
            <a:ext cx="1022100" cy="746800"/>
            <a:chOff x="7628075" y="4128575"/>
            <a:chExt cx="1022100" cy="746800"/>
          </a:xfrm>
        </p:grpSpPr>
        <p:sp>
          <p:nvSpPr>
            <p:cNvPr id="727" name="Google Shape;727;p63"/>
            <p:cNvSpPr/>
            <p:nvPr/>
          </p:nvSpPr>
          <p:spPr>
            <a:xfrm>
              <a:off x="7628075" y="4128575"/>
              <a:ext cx="1022100" cy="418200"/>
            </a:xfrm>
            <a:prstGeom prst="rect">
              <a:avLst/>
            </a:prstGeom>
            <a:solidFill>
              <a:srgbClr val="F4CC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63"/>
            <p:cNvSpPr/>
            <p:nvPr/>
          </p:nvSpPr>
          <p:spPr>
            <a:xfrm>
              <a:off x="7628075" y="4546875"/>
              <a:ext cx="10221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nsolas"/>
                  <a:ea typeface="Consolas"/>
                  <a:cs typeface="Consolas"/>
                  <a:sym typeface="Consolas"/>
                </a:rPr>
                <a:t>count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0" name="Google Shape;722;p63">
            <a:extLst>
              <a:ext uri="{FF2B5EF4-FFF2-40B4-BE49-F238E27FC236}">
                <a16:creationId xmlns:a16="http://schemas.microsoft.com/office/drawing/2014/main" id="{253204F3-BD5B-40DB-92BF-4EBE8A94687D}"/>
              </a:ext>
            </a:extLst>
          </p:cNvPr>
          <p:cNvSpPr txBox="1"/>
          <p:nvPr/>
        </p:nvSpPr>
        <p:spPr>
          <a:xfrm>
            <a:off x="6200383" y="2045643"/>
            <a:ext cx="4925961" cy="949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//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must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initialize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somewhere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empty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fill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722;p63">
            <a:extLst>
              <a:ext uri="{FF2B5EF4-FFF2-40B4-BE49-F238E27FC236}">
                <a16:creationId xmlns:a16="http://schemas.microsoft.com/office/drawing/2014/main" id="{FCC01CFC-69C1-4600-80FA-37EAF162226C}"/>
              </a:ext>
            </a:extLst>
          </p:cNvPr>
          <p:cNvSpPr txBox="1"/>
          <p:nvPr/>
        </p:nvSpPr>
        <p:spPr>
          <a:xfrm>
            <a:off x="845712" y="3552879"/>
            <a:ext cx="4925961" cy="290999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*producer(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(i = 0; i &lt;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loops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i++)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  	    // p1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 err="1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es-ES" sz="1400" dirty="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== 1)              	    // p2</a:t>
            </a:r>
            <a:endParaRPr sz="1400" dirty="0">
              <a:solidFill>
                <a:schemeClr val="dk1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empty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   // p3</a:t>
            </a:r>
            <a:endParaRPr sz="14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(i);                         	    // p4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fill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          // p5</a:t>
            </a:r>
            <a:endParaRPr sz="14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  	    // p6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4"/>
          <p:cNvSpPr txBox="1">
            <a:spLocks noGrp="1"/>
          </p:cNvSpPr>
          <p:nvPr>
            <p:ph type="title"/>
          </p:nvPr>
        </p:nvSpPr>
        <p:spPr>
          <a:xfrm>
            <a:off x="457200" y="155565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Referencias</a:t>
            </a:r>
            <a:endParaRPr dirty="0">
              <a:latin typeface="+mj-lt"/>
            </a:endParaRPr>
          </a:p>
        </p:txBody>
      </p:sp>
      <p:sp>
        <p:nvSpPr>
          <p:cNvPr id="734" name="Google Shape;734;p64"/>
          <p:cNvSpPr txBox="1">
            <a:spLocks noGrp="1"/>
          </p:cNvSpPr>
          <p:nvPr>
            <p:ph type="body" idx="1"/>
          </p:nvPr>
        </p:nvSpPr>
        <p:spPr>
          <a:xfrm>
            <a:off x="457200" y="974150"/>
            <a:ext cx="11482000" cy="565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dirty="0">
                <a:latin typeface="+mn-lt"/>
              </a:rPr>
              <a:t>Diapositivas y videos oficiales del curso</a:t>
            </a:r>
            <a:endParaRPr sz="2200" dirty="0">
              <a:latin typeface="+mn-lt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3"/>
              </a:rPr>
              <a:t>https://adit.io/posts/2013-05-15-Locks,-Actors,-And-STM-In-Pictures.html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4"/>
              </a:rPr>
              <a:t>https://link.springer.com/chapter/10.1007/978-1-4842-4398-5_5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5"/>
              </a:rPr>
              <a:t>https://preshing.com/20150316/semaphores-are-surprisingly-versatile/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6"/>
              </a:rPr>
              <a:t>https://jvns.ca/teach-tech-with-cartoons/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7"/>
              </a:rPr>
              <a:t>https://code-cartoons.com/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8"/>
              </a:rPr>
              <a:t>https://medium.com/basecs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9"/>
              </a:rPr>
              <a:t>https://xkcd.com/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0"/>
              </a:rPr>
              <a:t>https://www.qwantz.com/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1"/>
              </a:rPr>
              <a:t>https://pbfcomics.com/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2"/>
              </a:rPr>
              <a:t>http://turnoff.us/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3"/>
              </a:rPr>
              <a:t>http://turnoff.us/geek/arduino-project/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4"/>
              </a:rPr>
              <a:t>https://prepinsta.com/operating-systems/critical-section-problem/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5"/>
              </a:rPr>
              <a:t>https://github.com/capedrazab/os-20191/wiki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6"/>
              </a:rPr>
              <a:t>https://github.com/jjpulidos/Operating-Systems-UNAL-20191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7"/>
              </a:rPr>
              <a:t>https://github.com/capedrazab/os-20201/wiki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65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+mj-lt"/>
              </a:rPr>
              <a:t>Referencias</a:t>
            </a:r>
            <a:endParaRPr>
              <a:latin typeface="+mj-lt"/>
            </a:endParaRPr>
          </a:p>
        </p:txBody>
      </p:sp>
      <p:sp>
        <p:nvSpPr>
          <p:cNvPr id="740" name="Google Shape;740;p65"/>
          <p:cNvSpPr txBox="1">
            <a:spLocks noGrp="1"/>
          </p:cNvSpPr>
          <p:nvPr>
            <p:ph type="body" idx="1"/>
          </p:nvPr>
        </p:nvSpPr>
        <p:spPr>
          <a:xfrm>
            <a:off x="516194" y="885250"/>
            <a:ext cx="11423006" cy="5348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3"/>
              </a:rPr>
              <a:t>http://csl.snu.ac.kr/courses/4190.307/2020-1/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4"/>
              </a:rPr>
              <a:t>https://brendangregg.com/linuxperf.html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5"/>
              </a:rPr>
              <a:t>http://pages.cs.wisc.edu/~harter/537/slides.html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6"/>
              </a:rPr>
              <a:t>http://www.embeddedlinux.org.cn/rtconforembsys/5107final/LiB0053.html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7"/>
              </a:rPr>
              <a:t>http://odl.sysworks.biz/disk$axpdocsep012/network/dcev30/develop/appdev/Appde179.htm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8"/>
              </a:rPr>
              <a:t>https://pages.mtu.edu/~shene/NSF-3/e-Book/MONITOR/monitor-types.html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9"/>
              </a:rPr>
              <a:t>https://ocw.unican.es/course/view.php?id=240&amp;section=1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0"/>
              </a:rPr>
              <a:t>https://omscs.gatech.edu/cs-6200-introduction-operating-systems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1"/>
              </a:rPr>
              <a:t>https://ruslanspivak.com/lsbaws-part1/</a:t>
            </a:r>
            <a:r>
              <a:rPr lang="es-ES" sz="2200" dirty="0">
                <a:latin typeface="+mn-lt"/>
              </a:rPr>
              <a:t>  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2"/>
              </a:rPr>
              <a:t>https://prepinsta.com/operating-systems/threads/</a:t>
            </a:r>
            <a:r>
              <a:rPr lang="es-ES" sz="2200" dirty="0">
                <a:latin typeface="+mn-lt"/>
              </a:rPr>
              <a:t> 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3"/>
              </a:rPr>
              <a:t>http://www.it.uu.se/education/course/homepage/os/vt18/module-4/implementing-threads/</a:t>
            </a:r>
            <a:r>
              <a:rPr lang="es-ES" sz="2200" dirty="0">
                <a:latin typeface="+mn-lt"/>
              </a:rPr>
              <a:t> 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6"/>
          <p:cNvSpPr txBox="1">
            <a:spLocks noGrp="1"/>
          </p:cNvSpPr>
          <p:nvPr>
            <p:ph type="title"/>
          </p:nvPr>
        </p:nvSpPr>
        <p:spPr>
          <a:xfrm>
            <a:off x="427703" y="96038"/>
            <a:ext cx="879294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+mj-lt"/>
              </a:rPr>
              <a:t>Referencias</a:t>
            </a:r>
            <a:endParaRPr>
              <a:latin typeface="+mj-lt"/>
            </a:endParaRPr>
          </a:p>
        </p:txBody>
      </p:sp>
      <p:sp>
        <p:nvSpPr>
          <p:cNvPr id="746" name="Google Shape;746;p66"/>
          <p:cNvSpPr txBox="1">
            <a:spLocks noGrp="1"/>
          </p:cNvSpPr>
          <p:nvPr>
            <p:ph type="body" idx="1"/>
          </p:nvPr>
        </p:nvSpPr>
        <p:spPr>
          <a:xfrm>
            <a:off x="427703" y="885250"/>
            <a:ext cx="11511497" cy="5348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3"/>
              </a:rPr>
              <a:t>https://github.com/capedrazab/os-20211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4"/>
              </a:rPr>
              <a:t>https://github.com/pkgamma/cs241-coursebook-clone-fa19/wiki/Synchronization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5"/>
              </a:rPr>
              <a:t>https://github.com/tiemma/udacity-operating-systems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6"/>
              </a:rPr>
              <a:t>https://github.com/monorinam/GaTech-CS-6210-Advanced-Operating-Systems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7"/>
              </a:rPr>
              <a:t>https://github.com/stevenxchung/Introduction-to-Operating-Systems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8"/>
              </a:rPr>
              <a:t>https://github.com/stevenxchung/Introduction-to-Operating-Systems/tree/master/Lesson%2014%20-%20Synchronization%20Constructs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9"/>
              </a:rPr>
              <a:t>https://github.com/khanhnamle1994/operating-systems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0"/>
              </a:rPr>
              <a:t>https://github.com/gauti1311/SystemMonitor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1"/>
              </a:rPr>
              <a:t>https://github.com/bresilla/robond_project_2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2"/>
              </a:rPr>
              <a:t>https://github.com/Maxxquoi/Introduction-to-Operating-Systems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3"/>
              </a:rPr>
              <a:t>https://github.com/sergioarmgpl/operating-systems-usac-course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4"/>
              </a:rPr>
              <a:t>https://github.com/MrinmoiHossain/Online-Courses-Learning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5"/>
              </a:rPr>
              <a:t>https://github.com/PKUFlyingPig/MIT6.S081-2020fall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6"/>
              </a:rPr>
              <a:t>https://github.com/mishal23/os-lab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+mj-lt"/>
              </a:rPr>
              <a:t>Referencias</a:t>
            </a:r>
            <a:endParaRPr>
              <a:latin typeface="+mj-lt"/>
            </a:endParaRPr>
          </a:p>
        </p:txBody>
      </p:sp>
      <p:sp>
        <p:nvSpPr>
          <p:cNvPr id="752" name="Google Shape;752;p67"/>
          <p:cNvSpPr txBox="1">
            <a:spLocks noGrp="1"/>
          </p:cNvSpPr>
          <p:nvPr>
            <p:ph type="body" idx="1"/>
          </p:nvPr>
        </p:nvSpPr>
        <p:spPr>
          <a:xfrm>
            <a:off x="824200" y="885250"/>
            <a:ext cx="11115000" cy="5348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3"/>
              </a:rPr>
              <a:t>https://github.com/mishal23/os-simulator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4"/>
              </a:rPr>
              <a:t>https://github.com/zxc479773533/HUST-OS-Course-Design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5"/>
              </a:rPr>
              <a:t>https://github.com/mauri870/baking-pi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6"/>
              </a:rPr>
              <a:t>https://github.com/hyojeonglee/osfall2019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7"/>
              </a:rPr>
              <a:t>https://github.com/JoyeBright/OSLab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8"/>
              </a:rPr>
              <a:t>https://github.com/Matrixpecker/VE482-public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9"/>
              </a:rPr>
              <a:t>https://github.com/MrinmoiHossain/Robot-Operating-System-Udemy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0"/>
              </a:rPr>
              <a:t>https://github.com/Aniruddha-Tapas/Operating-Systems-Notes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1"/>
              </a:rPr>
              <a:t>https://github.com/Aniruddha-Tapas/Operating-Systems-Notes/blob/master/3-Threads-and-Concurrency.md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2"/>
              </a:rPr>
              <a:t>http://www.embeddedlinux.org.cn/rtconforembsys/5107final/LiB0053.html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3"/>
              </a:rPr>
              <a:t>https://levelup.gitconnected.com/producer-consumer-problem-using-condition-variable-in-c-6c4d96efcbbc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4"/>
              </a:rPr>
              <a:t>http://jakascorner.com/blog/2016/01/condition-variable.html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5"/>
              </a:rPr>
              <a:t>https://pages.mtu.edu/~shene/NSF-3/e-Book/MONITOR/monitor-types.html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6"/>
              </a:rPr>
              <a:t>https://github.com/CodeExMachina/ConditionVariable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8"/>
          <p:cNvSpPr txBox="1">
            <a:spLocks noGrp="1"/>
          </p:cNvSpPr>
          <p:nvPr>
            <p:ph type="title"/>
          </p:nvPr>
        </p:nvSpPr>
        <p:spPr>
          <a:xfrm>
            <a:off x="592185" y="149300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Referencias</a:t>
            </a:r>
            <a:endParaRPr dirty="0">
              <a:latin typeface="+mj-lt"/>
            </a:endParaRPr>
          </a:p>
        </p:txBody>
      </p:sp>
      <p:sp>
        <p:nvSpPr>
          <p:cNvPr id="758" name="Google Shape;758;p68"/>
          <p:cNvSpPr txBox="1">
            <a:spLocks noGrp="1"/>
          </p:cNvSpPr>
          <p:nvPr>
            <p:ph type="body" idx="1"/>
          </p:nvPr>
        </p:nvSpPr>
        <p:spPr>
          <a:xfrm>
            <a:off x="486697" y="885250"/>
            <a:ext cx="11452503" cy="5348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3"/>
              </a:rPr>
              <a:t>http://csl.snu.ac.kr/courses/4190.307/2020-1/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4"/>
              </a:rPr>
              <a:t>https://brendangregg.com/linuxperf.html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5"/>
              </a:rPr>
              <a:t>http://pages.cs.wisc.edu/~harter/537/slides.html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6"/>
              </a:rPr>
              <a:t>https://www.cs.cmu.edu/afs/cs/academic/class/15492-f07/www/pthreads.html</a:t>
            </a:r>
            <a:r>
              <a:rPr lang="es-ES" sz="2200" dirty="0">
                <a:latin typeface="+mn-lt"/>
              </a:rPr>
              <a:t> 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544</TotalTime>
  <Words>10949</Words>
  <Application>Microsoft Office PowerPoint</Application>
  <PresentationFormat>Panorámica</PresentationFormat>
  <Paragraphs>1988</Paragraphs>
  <Slides>71</Slides>
  <Notes>71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71</vt:i4>
      </vt:variant>
    </vt:vector>
  </HeadingPairs>
  <TitlesOfParts>
    <vt:vector size="81" baseType="lpstr">
      <vt:lpstr>Calibri</vt:lpstr>
      <vt:lpstr>Courier New</vt:lpstr>
      <vt:lpstr>Arial</vt:lpstr>
      <vt:lpstr>Calibri Light</vt:lpstr>
      <vt:lpstr>Times New Roman</vt:lpstr>
      <vt:lpstr>Roboto</vt:lpstr>
      <vt:lpstr>Roboto Slab</vt:lpstr>
      <vt:lpstr>Consolas</vt:lpstr>
      <vt:lpstr>Tema de Office</vt:lpstr>
      <vt:lpstr>1_Tema de Office</vt:lpstr>
      <vt:lpstr>Sistemas Operativos</vt:lpstr>
      <vt:lpstr>Resumen clase anterior - Locks</vt:lpstr>
      <vt:lpstr>Resumen clase anterior – Estructuras de datos con Locks</vt:lpstr>
      <vt:lpstr>Resumen clase anterior – Estructuras de datos con Locks</vt:lpstr>
      <vt:lpstr>Resumen clase anterior – Estructuras de datos con Locks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Variables de condición</vt:lpstr>
      <vt:lpstr>Variables de condición</vt:lpstr>
      <vt:lpstr>Variables de condición</vt:lpstr>
      <vt:lpstr>Variables de condición</vt:lpstr>
      <vt:lpstr>Variables de condición</vt:lpstr>
      <vt:lpstr>Implementación del join</vt:lpstr>
      <vt:lpstr>Implementación del join</vt:lpstr>
      <vt:lpstr>Implementación del join</vt:lpstr>
      <vt:lpstr>Implementación del join</vt:lpstr>
      <vt:lpstr>Implementación del join</vt:lpstr>
      <vt:lpstr>Implementación del join</vt:lpstr>
      <vt:lpstr>Reimplementación del join</vt:lpstr>
      <vt:lpstr>Reimplementación del join</vt:lpstr>
      <vt:lpstr>Reimplementación del join</vt:lpstr>
      <vt:lpstr>Reimplementación del join</vt:lpstr>
      <vt:lpstr>Reimplementación del join</vt:lpstr>
      <vt:lpstr>Reimplementación del join</vt:lpstr>
      <vt:lpstr>Reimplementación del join</vt:lpstr>
      <vt:lpstr>Reimplementación del join</vt:lpstr>
      <vt:lpstr>Reimplementación del join</vt:lpstr>
      <vt:lpstr>Resumen implementación del join</vt:lpstr>
      <vt:lpstr>Implementación – caso 1</vt:lpstr>
      <vt:lpstr>Implementación – Caso 2</vt:lpstr>
      <vt:lpstr>Implementación – Caso 3</vt:lpstr>
      <vt:lpstr>Problema del productor consumidor</vt:lpstr>
      <vt:lpstr>Problema del productor consumidor</vt:lpstr>
      <vt:lpstr>Problema del productor consumidor</vt:lpstr>
      <vt:lpstr>Problema del productor consumidor</vt:lpstr>
      <vt:lpstr>Rutinas put y get</vt:lpstr>
      <vt:lpstr>Hilos productor/consumidor</vt:lpstr>
      <vt:lpstr>Productor/consumidor: Unica CV y sentencia if </vt:lpstr>
      <vt:lpstr>Productor/consumidor: Unica CV y sentencia if </vt:lpstr>
      <vt:lpstr>Productor/consumidor: Unica CV y sentencia if </vt:lpstr>
      <vt:lpstr>Productor/consumidor: Unica CV y sentencia if </vt:lpstr>
      <vt:lpstr>Productor/consumidor: Unica CV y sentencia if </vt:lpstr>
      <vt:lpstr>Productor/consumidor: Unica CV y sentencia if </vt:lpstr>
      <vt:lpstr>Productor/consumidor: Unica CV y sentencia if </vt:lpstr>
      <vt:lpstr>Productor/consumidor: Unica CV y sentencia if </vt:lpstr>
      <vt:lpstr>Productor/consumidor: Unica CV y sentencia while</vt:lpstr>
      <vt:lpstr>Productor/consumidor: Unica CV y sentencia while</vt:lpstr>
      <vt:lpstr>Productor/consumidor: Unica CV y sentencia while</vt:lpstr>
      <vt:lpstr>Productor/consumidor: Unica CV y sentencia while</vt:lpstr>
      <vt:lpstr>Productor/consumidor: Unica CV y sentencia while</vt:lpstr>
      <vt:lpstr>Productor/consumidor: Unica CV y sentencia while</vt:lpstr>
      <vt:lpstr>Productor/consumidor: Unica CV y sentencia while</vt:lpstr>
      <vt:lpstr>Productor/consumidor: Unica CV y sentencia while</vt:lpstr>
      <vt:lpstr>Productor/consumidor: Unica CV y sentencia while</vt:lpstr>
      <vt:lpstr>Productor/consumidor – Single buffer: Usar 2 variables de condición y un while.</vt:lpstr>
      <vt:lpstr>Productor/consumidor – Solución final</vt:lpstr>
      <vt:lpstr>Productor/consumidor – Solución final</vt:lpstr>
      <vt:lpstr>Productor/consumidor – Solución final</vt:lpstr>
      <vt:lpstr>Productor/consumidor – Solución final</vt:lpstr>
      <vt:lpstr>Productor/consumidor – Solución final</vt:lpstr>
      <vt:lpstr>Productor/consumidor – Solución final</vt:lpstr>
      <vt:lpstr>Resumen: Reglas de juego</vt:lpstr>
      <vt:lpstr>Referencias</vt:lpstr>
      <vt:lpstr>Referencias</vt:lpstr>
      <vt:lpstr>Referencias</vt:lpstr>
      <vt:lpstr>Referencias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</dc:title>
  <cp:lastModifiedBy>HENRY ALBERTO ARCILA RAMIREZ</cp:lastModifiedBy>
  <cp:revision>62</cp:revision>
  <dcterms:modified xsi:type="dcterms:W3CDTF">2026-05-27T02:29:14Z</dcterms:modified>
</cp:coreProperties>
</file>